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8"/>
  </p:notesMasterIdLst>
  <p:sldIdLst>
    <p:sldId id="415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37" r:id="rId66"/>
    <p:sldId id="338" r:id="rId67"/>
    <p:sldId id="339" r:id="rId68"/>
    <p:sldId id="340" r:id="rId69"/>
    <p:sldId id="341" r:id="rId70"/>
    <p:sldId id="342" r:id="rId71"/>
    <p:sldId id="343" r:id="rId72"/>
    <p:sldId id="344" r:id="rId73"/>
    <p:sldId id="345" r:id="rId74"/>
    <p:sldId id="346" r:id="rId75"/>
    <p:sldId id="456" r:id="rId76"/>
    <p:sldId id="457" r:id="rId77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FD751F-66AC-C94A-9685-49331B13CD07}" v="18" dt="2024-12-13T17:54:32.34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/>
    <p:restoredTop sz="94648"/>
  </p:normalViewPr>
  <p:slideViewPr>
    <p:cSldViewPr>
      <p:cViewPr varScale="1">
        <p:scale>
          <a:sx n="246" d="100"/>
          <a:sy n="246" d="100"/>
        </p:scale>
        <p:origin x="22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uong Thai Nguyen" userId="598680f98d4801c4" providerId="LiveId" clId="{C9FD751F-66AC-C94A-9685-49331B13CD07}"/>
    <pc:docChg chg="custSel addSld delSld modSld">
      <pc:chgData name="Phuong Thai Nguyen" userId="598680f98d4801c4" providerId="LiveId" clId="{C9FD751F-66AC-C94A-9685-49331B13CD07}" dt="2024-12-16T07:27:40.128" v="227" actId="478"/>
      <pc:docMkLst>
        <pc:docMk/>
      </pc:docMkLst>
      <pc:sldChg chg="del">
        <pc:chgData name="Phuong Thai Nguyen" userId="598680f98d4801c4" providerId="LiveId" clId="{C9FD751F-66AC-C94A-9685-49331B13CD07}" dt="2024-12-13T17:17:46.802" v="122" actId="2696"/>
        <pc:sldMkLst>
          <pc:docMk/>
          <pc:sldMk cId="0" sldId="256"/>
        </pc:sldMkLst>
      </pc:sldChg>
      <pc:sldChg chg="del">
        <pc:chgData name="Phuong Thai Nguyen" userId="598680f98d4801c4" providerId="LiveId" clId="{C9FD751F-66AC-C94A-9685-49331B13CD07}" dt="2024-12-13T17:16:36.125" v="108" actId="2696"/>
        <pc:sldMkLst>
          <pc:docMk/>
          <pc:sldMk cId="0" sldId="257"/>
        </pc:sldMkLst>
      </pc:sldChg>
      <pc:sldChg chg="del">
        <pc:chgData name="Phuong Thai Nguyen" userId="598680f98d4801c4" providerId="LiveId" clId="{C9FD751F-66AC-C94A-9685-49331B13CD07}" dt="2024-12-13T17:16:36.130" v="109" actId="2696"/>
        <pc:sldMkLst>
          <pc:docMk/>
          <pc:sldMk cId="0" sldId="258"/>
        </pc:sldMkLst>
      </pc:sldChg>
      <pc:sldChg chg="modSp mod">
        <pc:chgData name="Phuong Thai Nguyen" userId="598680f98d4801c4" providerId="LiveId" clId="{C9FD751F-66AC-C94A-9685-49331B13CD07}" dt="2024-12-13T17:21:23.667" v="123" actId="1076"/>
        <pc:sldMkLst>
          <pc:docMk/>
          <pc:sldMk cId="0" sldId="279"/>
        </pc:sldMkLst>
        <pc:spChg chg="mod">
          <ac:chgData name="Phuong Thai Nguyen" userId="598680f98d4801c4" providerId="LiveId" clId="{C9FD751F-66AC-C94A-9685-49331B13CD07}" dt="2024-12-13T17:21:23.667" v="123" actId="1076"/>
          <ac:spMkLst>
            <pc:docMk/>
            <pc:sldMk cId="0" sldId="279"/>
            <ac:spMk id="13" creationId="{00000000-0000-0000-0000-000000000000}"/>
          </ac:spMkLst>
        </pc:spChg>
      </pc:sldChg>
      <pc:sldChg chg="modSp mod">
        <pc:chgData name="Phuong Thai Nguyen" userId="598680f98d4801c4" providerId="LiveId" clId="{C9FD751F-66AC-C94A-9685-49331B13CD07}" dt="2024-12-13T17:22:08.207" v="124" actId="1076"/>
        <pc:sldMkLst>
          <pc:docMk/>
          <pc:sldMk cId="0" sldId="281"/>
        </pc:sldMkLst>
        <pc:spChg chg="mod">
          <ac:chgData name="Phuong Thai Nguyen" userId="598680f98d4801c4" providerId="LiveId" clId="{C9FD751F-66AC-C94A-9685-49331B13CD07}" dt="2024-12-13T17:22:08.207" v="124" actId="1076"/>
          <ac:spMkLst>
            <pc:docMk/>
            <pc:sldMk cId="0" sldId="281"/>
            <ac:spMk id="13" creationId="{00000000-0000-0000-0000-000000000000}"/>
          </ac:spMkLst>
        </pc:spChg>
      </pc:sldChg>
      <pc:sldChg chg="modSp mod">
        <pc:chgData name="Phuong Thai Nguyen" userId="598680f98d4801c4" providerId="LiveId" clId="{C9FD751F-66AC-C94A-9685-49331B13CD07}" dt="2024-12-13T17:23:01.617" v="125" actId="1076"/>
        <pc:sldMkLst>
          <pc:docMk/>
          <pc:sldMk cId="0" sldId="284"/>
        </pc:sldMkLst>
        <pc:spChg chg="mod">
          <ac:chgData name="Phuong Thai Nguyen" userId="598680f98d4801c4" providerId="LiveId" clId="{C9FD751F-66AC-C94A-9685-49331B13CD07}" dt="2024-12-13T17:23:01.617" v="125" actId="1076"/>
          <ac:spMkLst>
            <pc:docMk/>
            <pc:sldMk cId="0" sldId="284"/>
            <ac:spMk id="8" creationId="{00000000-0000-0000-0000-000000000000}"/>
          </ac:spMkLst>
        </pc:spChg>
      </pc:sldChg>
      <pc:sldChg chg="del">
        <pc:chgData name="Phuong Thai Nguyen" userId="598680f98d4801c4" providerId="LiveId" clId="{C9FD751F-66AC-C94A-9685-49331B13CD07}" dt="2024-12-13T17:16:41.501" v="110" actId="2696"/>
        <pc:sldMkLst>
          <pc:docMk/>
          <pc:sldMk cId="0" sldId="286"/>
        </pc:sldMkLst>
      </pc:sldChg>
      <pc:sldChg chg="del">
        <pc:chgData name="Phuong Thai Nguyen" userId="598680f98d4801c4" providerId="LiveId" clId="{C9FD751F-66AC-C94A-9685-49331B13CD07}" dt="2024-12-13T17:16:43.451" v="111" actId="2696"/>
        <pc:sldMkLst>
          <pc:docMk/>
          <pc:sldMk cId="0" sldId="294"/>
        </pc:sldMkLst>
      </pc:sldChg>
      <pc:sldChg chg="addSp delSp modSp mod">
        <pc:chgData name="Phuong Thai Nguyen" userId="598680f98d4801c4" providerId="LiveId" clId="{C9FD751F-66AC-C94A-9685-49331B13CD07}" dt="2024-12-13T17:28:24.050" v="129" actId="1076"/>
        <pc:sldMkLst>
          <pc:docMk/>
          <pc:sldMk cId="0" sldId="299"/>
        </pc:sldMkLst>
        <pc:picChg chg="add mod">
          <ac:chgData name="Phuong Thai Nguyen" userId="598680f98d4801c4" providerId="LiveId" clId="{C9FD751F-66AC-C94A-9685-49331B13CD07}" dt="2024-12-13T17:28:24.050" v="129" actId="1076"/>
          <ac:picMkLst>
            <pc:docMk/>
            <pc:sldMk cId="0" sldId="299"/>
            <ac:picMk id="34" creationId="{9711FB72-83CF-6F27-0B18-5480CC70C6DB}"/>
          </ac:picMkLst>
        </pc:picChg>
      </pc:sldChg>
      <pc:sldChg chg="addSp delSp modSp mod">
        <pc:chgData name="Phuong Thai Nguyen" userId="598680f98d4801c4" providerId="LiveId" clId="{C9FD751F-66AC-C94A-9685-49331B13CD07}" dt="2024-12-13T17:29:02.781" v="133" actId="1076"/>
        <pc:sldMkLst>
          <pc:docMk/>
          <pc:sldMk cId="0" sldId="300"/>
        </pc:sldMkLst>
        <pc:picChg chg="add mod">
          <ac:chgData name="Phuong Thai Nguyen" userId="598680f98d4801c4" providerId="LiveId" clId="{C9FD751F-66AC-C94A-9685-49331B13CD07}" dt="2024-12-13T17:29:02.781" v="133" actId="1076"/>
          <ac:picMkLst>
            <pc:docMk/>
            <pc:sldMk cId="0" sldId="300"/>
            <ac:picMk id="29" creationId="{9BA1F882-9FD1-2921-5CAA-F074FE592924}"/>
          </ac:picMkLst>
        </pc:picChg>
      </pc:sldChg>
      <pc:sldChg chg="addSp delSp modSp mod">
        <pc:chgData name="Phuong Thai Nguyen" userId="598680f98d4801c4" providerId="LiveId" clId="{C9FD751F-66AC-C94A-9685-49331B13CD07}" dt="2024-12-13T17:29:57.848" v="137" actId="1076"/>
        <pc:sldMkLst>
          <pc:docMk/>
          <pc:sldMk cId="0" sldId="301"/>
        </pc:sldMkLst>
        <pc:picChg chg="add mod">
          <ac:chgData name="Phuong Thai Nguyen" userId="598680f98d4801c4" providerId="LiveId" clId="{C9FD751F-66AC-C94A-9685-49331B13CD07}" dt="2024-12-13T17:29:57.848" v="137" actId="1076"/>
          <ac:picMkLst>
            <pc:docMk/>
            <pc:sldMk cId="0" sldId="301"/>
            <ac:picMk id="56" creationId="{4A554F5C-CB7E-E80C-59EF-76FD5338788A}"/>
          </ac:picMkLst>
        </pc:picChg>
      </pc:sldChg>
      <pc:sldChg chg="addSp delSp modSp mod">
        <pc:chgData name="Phuong Thai Nguyen" userId="598680f98d4801c4" providerId="LiveId" clId="{C9FD751F-66AC-C94A-9685-49331B13CD07}" dt="2024-12-13T17:30:55.247" v="142" actId="1076"/>
        <pc:sldMkLst>
          <pc:docMk/>
          <pc:sldMk cId="0" sldId="302"/>
        </pc:sldMkLst>
        <pc:picChg chg="add mod">
          <ac:chgData name="Phuong Thai Nguyen" userId="598680f98d4801c4" providerId="LiveId" clId="{C9FD751F-66AC-C94A-9685-49331B13CD07}" dt="2024-12-13T17:30:55.247" v="142" actId="1076"/>
          <ac:picMkLst>
            <pc:docMk/>
            <pc:sldMk cId="0" sldId="302"/>
            <ac:picMk id="34" creationId="{3CB4C412-3F32-A562-57F0-6C9F6627241B}"/>
          </ac:picMkLst>
        </pc:picChg>
      </pc:sldChg>
      <pc:sldChg chg="addSp delSp modSp mod">
        <pc:chgData name="Phuong Thai Nguyen" userId="598680f98d4801c4" providerId="LiveId" clId="{C9FD751F-66AC-C94A-9685-49331B13CD07}" dt="2024-12-13T17:32:05.315" v="146" actId="1076"/>
        <pc:sldMkLst>
          <pc:docMk/>
          <pc:sldMk cId="0" sldId="304"/>
        </pc:sldMkLst>
        <pc:picChg chg="add mod">
          <ac:chgData name="Phuong Thai Nguyen" userId="598680f98d4801c4" providerId="LiveId" clId="{C9FD751F-66AC-C94A-9685-49331B13CD07}" dt="2024-12-13T17:32:05.315" v="146" actId="1076"/>
          <ac:picMkLst>
            <pc:docMk/>
            <pc:sldMk cId="0" sldId="304"/>
            <ac:picMk id="19" creationId="{D39DD685-3754-9F68-DBF9-AF2A5CE222F3}"/>
          </ac:picMkLst>
        </pc:picChg>
      </pc:sldChg>
      <pc:sldChg chg="addSp delSp modSp mod">
        <pc:chgData name="Phuong Thai Nguyen" userId="598680f98d4801c4" providerId="LiveId" clId="{C9FD751F-66AC-C94A-9685-49331B13CD07}" dt="2024-12-13T17:38:28.985" v="152" actId="1076"/>
        <pc:sldMkLst>
          <pc:docMk/>
          <pc:sldMk cId="0" sldId="306"/>
        </pc:sldMkLst>
        <pc:picChg chg="add mod">
          <ac:chgData name="Phuong Thai Nguyen" userId="598680f98d4801c4" providerId="LiveId" clId="{C9FD751F-66AC-C94A-9685-49331B13CD07}" dt="2024-12-13T17:38:28.985" v="152" actId="1076"/>
          <ac:picMkLst>
            <pc:docMk/>
            <pc:sldMk cId="0" sldId="306"/>
            <ac:picMk id="21" creationId="{FEA9597D-8E49-FD8A-0FEE-E48414C2B344}"/>
          </ac:picMkLst>
        </pc:picChg>
      </pc:sldChg>
      <pc:sldChg chg="addSp delSp modSp mod">
        <pc:chgData name="Phuong Thai Nguyen" userId="598680f98d4801c4" providerId="LiveId" clId="{C9FD751F-66AC-C94A-9685-49331B13CD07}" dt="2024-12-13T17:39:19.249" v="157" actId="1076"/>
        <pc:sldMkLst>
          <pc:docMk/>
          <pc:sldMk cId="0" sldId="307"/>
        </pc:sldMkLst>
        <pc:picChg chg="add mod">
          <ac:chgData name="Phuong Thai Nguyen" userId="598680f98d4801c4" providerId="LiveId" clId="{C9FD751F-66AC-C94A-9685-49331B13CD07}" dt="2024-12-13T17:39:19.249" v="157" actId="1076"/>
          <ac:picMkLst>
            <pc:docMk/>
            <pc:sldMk cId="0" sldId="307"/>
            <ac:picMk id="42" creationId="{DAF6DAF3-4F29-0002-03C3-B6358880E6C7}"/>
          </ac:picMkLst>
        </pc:picChg>
      </pc:sldChg>
      <pc:sldChg chg="addSp delSp modSp mod">
        <pc:chgData name="Phuong Thai Nguyen" userId="598680f98d4801c4" providerId="LiveId" clId="{C9FD751F-66AC-C94A-9685-49331B13CD07}" dt="2024-12-13T17:40:35.098" v="161" actId="1076"/>
        <pc:sldMkLst>
          <pc:docMk/>
          <pc:sldMk cId="0" sldId="309"/>
        </pc:sldMkLst>
        <pc:picChg chg="add mod">
          <ac:chgData name="Phuong Thai Nguyen" userId="598680f98d4801c4" providerId="LiveId" clId="{C9FD751F-66AC-C94A-9685-49331B13CD07}" dt="2024-12-13T17:40:35.098" v="161" actId="1076"/>
          <ac:picMkLst>
            <pc:docMk/>
            <pc:sldMk cId="0" sldId="309"/>
            <ac:picMk id="40" creationId="{C56A7302-DEB1-9E00-0D4F-EB8D656381A9}"/>
          </ac:picMkLst>
        </pc:picChg>
      </pc:sldChg>
      <pc:sldChg chg="addSp delSp modSp mod">
        <pc:chgData name="Phuong Thai Nguyen" userId="598680f98d4801c4" providerId="LiveId" clId="{C9FD751F-66AC-C94A-9685-49331B13CD07}" dt="2024-12-13T17:41:33.897" v="167" actId="1076"/>
        <pc:sldMkLst>
          <pc:docMk/>
          <pc:sldMk cId="0" sldId="310"/>
        </pc:sldMkLst>
        <pc:picChg chg="add mod">
          <ac:chgData name="Phuong Thai Nguyen" userId="598680f98d4801c4" providerId="LiveId" clId="{C9FD751F-66AC-C94A-9685-49331B13CD07}" dt="2024-12-13T17:41:33.897" v="167" actId="1076"/>
          <ac:picMkLst>
            <pc:docMk/>
            <pc:sldMk cId="0" sldId="310"/>
            <ac:picMk id="56" creationId="{8E16208C-F41D-08A5-ACB6-BDB97FD3613D}"/>
          </ac:picMkLst>
        </pc:picChg>
      </pc:sldChg>
      <pc:sldChg chg="addSp delSp modSp mod">
        <pc:chgData name="Phuong Thai Nguyen" userId="598680f98d4801c4" providerId="LiveId" clId="{C9FD751F-66AC-C94A-9685-49331B13CD07}" dt="2024-12-13T17:42:09.099" v="171" actId="1076"/>
        <pc:sldMkLst>
          <pc:docMk/>
          <pc:sldMk cId="0" sldId="311"/>
        </pc:sldMkLst>
        <pc:picChg chg="add mod">
          <ac:chgData name="Phuong Thai Nguyen" userId="598680f98d4801c4" providerId="LiveId" clId="{C9FD751F-66AC-C94A-9685-49331B13CD07}" dt="2024-12-13T17:42:09.099" v="171" actId="1076"/>
          <ac:picMkLst>
            <pc:docMk/>
            <pc:sldMk cId="0" sldId="311"/>
            <ac:picMk id="26" creationId="{38B02CCC-1053-A6AF-3E1A-581DD6249B30}"/>
          </ac:picMkLst>
        </pc:picChg>
      </pc:sldChg>
      <pc:sldChg chg="addSp delSp modSp mod">
        <pc:chgData name="Phuong Thai Nguyen" userId="598680f98d4801c4" providerId="LiveId" clId="{C9FD751F-66AC-C94A-9685-49331B13CD07}" dt="2024-12-13T17:42:51.757" v="175" actId="1076"/>
        <pc:sldMkLst>
          <pc:docMk/>
          <pc:sldMk cId="0" sldId="313"/>
        </pc:sldMkLst>
        <pc:picChg chg="add mod">
          <ac:chgData name="Phuong Thai Nguyen" userId="598680f98d4801c4" providerId="LiveId" clId="{C9FD751F-66AC-C94A-9685-49331B13CD07}" dt="2024-12-13T17:42:51.757" v="175" actId="1076"/>
          <ac:picMkLst>
            <pc:docMk/>
            <pc:sldMk cId="0" sldId="313"/>
            <ac:picMk id="27" creationId="{3244B3C1-56F9-4908-2C85-EDF22DC06551}"/>
          </ac:picMkLst>
        </pc:picChg>
      </pc:sldChg>
      <pc:sldChg chg="modSp mod">
        <pc:chgData name="Phuong Thai Nguyen" userId="598680f98d4801c4" providerId="LiveId" clId="{C9FD751F-66AC-C94A-9685-49331B13CD07}" dt="2024-12-13T17:44:27.314" v="176" actId="1076"/>
        <pc:sldMkLst>
          <pc:docMk/>
          <pc:sldMk cId="0" sldId="320"/>
        </pc:sldMkLst>
        <pc:spChg chg="mod">
          <ac:chgData name="Phuong Thai Nguyen" userId="598680f98d4801c4" providerId="LiveId" clId="{C9FD751F-66AC-C94A-9685-49331B13CD07}" dt="2024-12-13T17:44:27.314" v="176" actId="1076"/>
          <ac:spMkLst>
            <pc:docMk/>
            <pc:sldMk cId="0" sldId="320"/>
            <ac:spMk id="11" creationId="{00000000-0000-0000-0000-000000000000}"/>
          </ac:spMkLst>
        </pc:spChg>
      </pc:sldChg>
      <pc:sldChg chg="delSp modSp mod">
        <pc:chgData name="Phuong Thai Nguyen" userId="598680f98d4801c4" providerId="LiveId" clId="{C9FD751F-66AC-C94A-9685-49331B13CD07}" dt="2024-12-16T07:27:40.128" v="227" actId="478"/>
        <pc:sldMkLst>
          <pc:docMk/>
          <pc:sldMk cId="0" sldId="323"/>
        </pc:sldMkLst>
        <pc:spChg chg="mod">
          <ac:chgData name="Phuong Thai Nguyen" userId="598680f98d4801c4" providerId="LiveId" clId="{C9FD751F-66AC-C94A-9685-49331B13CD07}" dt="2024-12-16T07:27:38.212" v="226" actId="20577"/>
          <ac:spMkLst>
            <pc:docMk/>
            <pc:sldMk cId="0" sldId="323"/>
            <ac:spMk id="12" creationId="{00000000-0000-0000-0000-000000000000}"/>
          </ac:spMkLst>
        </pc:spChg>
        <pc:spChg chg="del">
          <ac:chgData name="Phuong Thai Nguyen" userId="598680f98d4801c4" providerId="LiveId" clId="{C9FD751F-66AC-C94A-9685-49331B13CD07}" dt="2024-12-16T07:27:40.128" v="227" actId="478"/>
          <ac:spMkLst>
            <pc:docMk/>
            <pc:sldMk cId="0" sldId="323"/>
            <ac:spMk id="13" creationId="{00000000-0000-0000-0000-000000000000}"/>
          </ac:spMkLst>
        </pc:spChg>
      </pc:sldChg>
      <pc:sldChg chg="del">
        <pc:chgData name="Phuong Thai Nguyen" userId="598680f98d4801c4" providerId="LiveId" clId="{C9FD751F-66AC-C94A-9685-49331B13CD07}" dt="2024-12-16T07:26:18.528" v="213" actId="2696"/>
        <pc:sldMkLst>
          <pc:docMk/>
          <pc:sldMk cId="0" sldId="324"/>
        </pc:sldMkLst>
      </pc:sldChg>
      <pc:sldChg chg="del">
        <pc:chgData name="Phuong Thai Nguyen" userId="598680f98d4801c4" providerId="LiveId" clId="{C9FD751F-66AC-C94A-9685-49331B13CD07}" dt="2024-12-16T07:26:20.189" v="214" actId="2696"/>
        <pc:sldMkLst>
          <pc:docMk/>
          <pc:sldMk cId="0" sldId="325"/>
        </pc:sldMkLst>
      </pc:sldChg>
      <pc:sldChg chg="del">
        <pc:chgData name="Phuong Thai Nguyen" userId="598680f98d4801c4" providerId="LiveId" clId="{C9FD751F-66AC-C94A-9685-49331B13CD07}" dt="2024-12-16T07:26:22.305" v="215" actId="2696"/>
        <pc:sldMkLst>
          <pc:docMk/>
          <pc:sldMk cId="0" sldId="326"/>
        </pc:sldMkLst>
      </pc:sldChg>
      <pc:sldChg chg="del">
        <pc:chgData name="Phuong Thai Nguyen" userId="598680f98d4801c4" providerId="LiveId" clId="{C9FD751F-66AC-C94A-9685-49331B13CD07}" dt="2024-12-16T07:26:23.836" v="216" actId="2696"/>
        <pc:sldMkLst>
          <pc:docMk/>
          <pc:sldMk cId="0" sldId="327"/>
        </pc:sldMkLst>
      </pc:sldChg>
      <pc:sldChg chg="addSp delSp modSp del mod">
        <pc:chgData name="Phuong Thai Nguyen" userId="598680f98d4801c4" providerId="LiveId" clId="{C9FD751F-66AC-C94A-9685-49331B13CD07}" dt="2024-12-16T07:26:27.540" v="217" actId="2696"/>
        <pc:sldMkLst>
          <pc:docMk/>
          <pc:sldMk cId="0" sldId="328"/>
        </pc:sldMkLst>
      </pc:sldChg>
      <pc:sldChg chg="del">
        <pc:chgData name="Phuong Thai Nguyen" userId="598680f98d4801c4" providerId="LiveId" clId="{C9FD751F-66AC-C94A-9685-49331B13CD07}" dt="2024-12-16T07:26:29.081" v="218" actId="2696"/>
        <pc:sldMkLst>
          <pc:docMk/>
          <pc:sldMk cId="0" sldId="329"/>
        </pc:sldMkLst>
      </pc:sldChg>
      <pc:sldChg chg="del">
        <pc:chgData name="Phuong Thai Nguyen" userId="598680f98d4801c4" providerId="LiveId" clId="{C9FD751F-66AC-C94A-9685-49331B13CD07}" dt="2024-12-16T07:26:56.012" v="219" actId="2696"/>
        <pc:sldMkLst>
          <pc:docMk/>
          <pc:sldMk cId="0" sldId="330"/>
        </pc:sldMkLst>
      </pc:sldChg>
      <pc:sldChg chg="del">
        <pc:chgData name="Phuong Thai Nguyen" userId="598680f98d4801c4" providerId="LiveId" clId="{C9FD751F-66AC-C94A-9685-49331B13CD07}" dt="2024-12-16T07:26:59.114" v="220" actId="2696"/>
        <pc:sldMkLst>
          <pc:docMk/>
          <pc:sldMk cId="0" sldId="331"/>
        </pc:sldMkLst>
      </pc:sldChg>
      <pc:sldChg chg="del">
        <pc:chgData name="Phuong Thai Nguyen" userId="598680f98d4801c4" providerId="LiveId" clId="{C9FD751F-66AC-C94A-9685-49331B13CD07}" dt="2024-12-16T07:27:07.851" v="221" actId="2696"/>
        <pc:sldMkLst>
          <pc:docMk/>
          <pc:sldMk cId="0" sldId="332"/>
        </pc:sldMkLst>
      </pc:sldChg>
      <pc:sldChg chg="del">
        <pc:chgData name="Phuong Thai Nguyen" userId="598680f98d4801c4" providerId="LiveId" clId="{C9FD751F-66AC-C94A-9685-49331B13CD07}" dt="2024-12-16T07:27:08.538" v="222" actId="2696"/>
        <pc:sldMkLst>
          <pc:docMk/>
          <pc:sldMk cId="0" sldId="333"/>
        </pc:sldMkLst>
      </pc:sldChg>
      <pc:sldChg chg="del">
        <pc:chgData name="Phuong Thai Nguyen" userId="598680f98d4801c4" providerId="LiveId" clId="{C9FD751F-66AC-C94A-9685-49331B13CD07}" dt="2024-12-16T07:27:09.077" v="223" actId="2696"/>
        <pc:sldMkLst>
          <pc:docMk/>
          <pc:sldMk cId="0" sldId="334"/>
        </pc:sldMkLst>
      </pc:sldChg>
      <pc:sldChg chg="addSp delSp modSp del mod">
        <pc:chgData name="Phuong Thai Nguyen" userId="598680f98d4801c4" providerId="LiveId" clId="{C9FD751F-66AC-C94A-9685-49331B13CD07}" dt="2024-12-16T07:27:09.536" v="224" actId="2696"/>
        <pc:sldMkLst>
          <pc:docMk/>
          <pc:sldMk cId="0" sldId="335"/>
        </pc:sldMkLst>
        <pc:picChg chg="add mod">
          <ac:chgData name="Phuong Thai Nguyen" userId="598680f98d4801c4" providerId="LiveId" clId="{C9FD751F-66AC-C94A-9685-49331B13CD07}" dt="2024-12-13T17:50:34.977" v="184" actId="1076"/>
          <ac:picMkLst>
            <pc:docMk/>
            <pc:sldMk cId="0" sldId="335"/>
            <ac:picMk id="22" creationId="{FF3BF776-D01D-437E-1446-F442F15DA733}"/>
          </ac:picMkLst>
        </pc:picChg>
      </pc:sldChg>
      <pc:sldChg chg="addSp delSp modSp del mod">
        <pc:chgData name="Phuong Thai Nguyen" userId="598680f98d4801c4" providerId="LiveId" clId="{C9FD751F-66AC-C94A-9685-49331B13CD07}" dt="2024-12-16T07:27:11.760" v="225" actId="2696"/>
        <pc:sldMkLst>
          <pc:docMk/>
          <pc:sldMk cId="0" sldId="336"/>
        </pc:sldMkLst>
        <pc:picChg chg="add mod">
          <ac:chgData name="Phuong Thai Nguyen" userId="598680f98d4801c4" providerId="LiveId" clId="{C9FD751F-66AC-C94A-9685-49331B13CD07}" dt="2024-12-13T17:51:18.861" v="188" actId="1076"/>
          <ac:picMkLst>
            <pc:docMk/>
            <pc:sldMk cId="0" sldId="336"/>
            <ac:picMk id="96" creationId="{E96A31E1-D58D-E963-F13E-55C32BB1DD95}"/>
          </ac:picMkLst>
        </pc:picChg>
      </pc:sldChg>
      <pc:sldChg chg="addSp delSp modSp mod">
        <pc:chgData name="Phuong Thai Nguyen" userId="598680f98d4801c4" providerId="LiveId" clId="{C9FD751F-66AC-C94A-9685-49331B13CD07}" dt="2024-12-13T17:52:54.992" v="197" actId="1076"/>
        <pc:sldMkLst>
          <pc:docMk/>
          <pc:sldMk cId="0" sldId="342"/>
        </pc:sldMkLst>
        <pc:spChg chg="mod">
          <ac:chgData name="Phuong Thai Nguyen" userId="598680f98d4801c4" providerId="LiveId" clId="{C9FD751F-66AC-C94A-9685-49331B13CD07}" dt="2024-12-13T17:52:44.354" v="194" actId="20577"/>
          <ac:spMkLst>
            <pc:docMk/>
            <pc:sldMk cId="0" sldId="342"/>
            <ac:spMk id="16" creationId="{00000000-0000-0000-0000-000000000000}"/>
          </ac:spMkLst>
        </pc:spChg>
        <pc:picChg chg="add mod">
          <ac:chgData name="Phuong Thai Nguyen" userId="598680f98d4801c4" providerId="LiveId" clId="{C9FD751F-66AC-C94A-9685-49331B13CD07}" dt="2024-12-13T17:52:54.992" v="197" actId="1076"/>
          <ac:picMkLst>
            <pc:docMk/>
            <pc:sldMk cId="0" sldId="342"/>
            <ac:picMk id="24" creationId="{ED4E9E19-92A5-79CB-6763-7733002D7F4F}"/>
          </ac:picMkLst>
        </pc:picChg>
      </pc:sldChg>
      <pc:sldChg chg="addSp delSp modSp mod">
        <pc:chgData name="Phuong Thai Nguyen" userId="598680f98d4801c4" providerId="LiveId" clId="{C9FD751F-66AC-C94A-9685-49331B13CD07}" dt="2024-12-13T17:53:39.958" v="205" actId="14100"/>
        <pc:sldMkLst>
          <pc:docMk/>
          <pc:sldMk cId="0" sldId="343"/>
        </pc:sldMkLst>
        <pc:spChg chg="mod">
          <ac:chgData name="Phuong Thai Nguyen" userId="598680f98d4801c4" providerId="LiveId" clId="{C9FD751F-66AC-C94A-9685-49331B13CD07}" dt="2024-12-13T17:53:22.549" v="201" actId="20577"/>
          <ac:spMkLst>
            <pc:docMk/>
            <pc:sldMk cId="0" sldId="343"/>
            <ac:spMk id="8" creationId="{00000000-0000-0000-0000-000000000000}"/>
          </ac:spMkLst>
        </pc:spChg>
        <pc:picChg chg="add mod">
          <ac:chgData name="Phuong Thai Nguyen" userId="598680f98d4801c4" providerId="LiveId" clId="{C9FD751F-66AC-C94A-9685-49331B13CD07}" dt="2024-12-13T17:53:39.958" v="205" actId="14100"/>
          <ac:picMkLst>
            <pc:docMk/>
            <pc:sldMk cId="0" sldId="343"/>
            <ac:picMk id="21" creationId="{07B3E0BE-E6D0-FCB5-5F20-142934CE9FAE}"/>
          </ac:picMkLst>
        </pc:picChg>
      </pc:sldChg>
      <pc:sldChg chg="addSp delSp modSp mod">
        <pc:chgData name="Phuong Thai Nguyen" userId="598680f98d4801c4" providerId="LiveId" clId="{C9FD751F-66AC-C94A-9685-49331B13CD07}" dt="2024-12-13T17:54:37.533" v="210" actId="1076"/>
        <pc:sldMkLst>
          <pc:docMk/>
          <pc:sldMk cId="0" sldId="344"/>
        </pc:sldMkLst>
        <pc:picChg chg="add mod">
          <ac:chgData name="Phuong Thai Nguyen" userId="598680f98d4801c4" providerId="LiveId" clId="{C9FD751F-66AC-C94A-9685-49331B13CD07}" dt="2024-12-13T17:54:37.533" v="210" actId="1076"/>
          <ac:picMkLst>
            <pc:docMk/>
            <pc:sldMk cId="0" sldId="344"/>
            <ac:picMk id="34" creationId="{C9705363-4ED3-3BC9-E731-511B556DDE34}"/>
          </ac:picMkLst>
        </pc:picChg>
      </pc:sldChg>
      <pc:sldChg chg="del">
        <pc:chgData name="Phuong Thai Nguyen" userId="598680f98d4801c4" providerId="LiveId" clId="{C9FD751F-66AC-C94A-9685-49331B13CD07}" dt="2024-12-13T17:16:47.894" v="112" actId="2696"/>
        <pc:sldMkLst>
          <pc:docMk/>
          <pc:sldMk cId="0" sldId="347"/>
        </pc:sldMkLst>
      </pc:sldChg>
      <pc:sldChg chg="del">
        <pc:chgData name="Phuong Thai Nguyen" userId="598680f98d4801c4" providerId="LiveId" clId="{C9FD751F-66AC-C94A-9685-49331B13CD07}" dt="2024-12-13T17:09:11.640" v="16" actId="2696"/>
        <pc:sldMkLst>
          <pc:docMk/>
          <pc:sldMk cId="0" sldId="348"/>
        </pc:sldMkLst>
      </pc:sldChg>
      <pc:sldChg chg="del">
        <pc:chgData name="Phuong Thai Nguyen" userId="598680f98d4801c4" providerId="LiveId" clId="{C9FD751F-66AC-C94A-9685-49331B13CD07}" dt="2024-12-13T17:09:11.648" v="17" actId="2696"/>
        <pc:sldMkLst>
          <pc:docMk/>
          <pc:sldMk cId="0" sldId="349"/>
        </pc:sldMkLst>
      </pc:sldChg>
      <pc:sldChg chg="del">
        <pc:chgData name="Phuong Thai Nguyen" userId="598680f98d4801c4" providerId="LiveId" clId="{C9FD751F-66AC-C94A-9685-49331B13CD07}" dt="2024-12-13T17:09:11.656" v="18" actId="2696"/>
        <pc:sldMkLst>
          <pc:docMk/>
          <pc:sldMk cId="0" sldId="350"/>
        </pc:sldMkLst>
      </pc:sldChg>
      <pc:sldChg chg="del">
        <pc:chgData name="Phuong Thai Nguyen" userId="598680f98d4801c4" providerId="LiveId" clId="{C9FD751F-66AC-C94A-9685-49331B13CD07}" dt="2024-12-13T17:09:11.660" v="19" actId="2696"/>
        <pc:sldMkLst>
          <pc:docMk/>
          <pc:sldMk cId="0" sldId="351"/>
        </pc:sldMkLst>
      </pc:sldChg>
      <pc:sldChg chg="del">
        <pc:chgData name="Phuong Thai Nguyen" userId="598680f98d4801c4" providerId="LiveId" clId="{C9FD751F-66AC-C94A-9685-49331B13CD07}" dt="2024-12-13T17:09:11.665" v="20" actId="2696"/>
        <pc:sldMkLst>
          <pc:docMk/>
          <pc:sldMk cId="0" sldId="352"/>
        </pc:sldMkLst>
      </pc:sldChg>
      <pc:sldChg chg="del">
        <pc:chgData name="Phuong Thai Nguyen" userId="598680f98d4801c4" providerId="LiveId" clId="{C9FD751F-66AC-C94A-9685-49331B13CD07}" dt="2024-12-13T17:09:11.670" v="21" actId="2696"/>
        <pc:sldMkLst>
          <pc:docMk/>
          <pc:sldMk cId="0" sldId="353"/>
        </pc:sldMkLst>
      </pc:sldChg>
      <pc:sldChg chg="del">
        <pc:chgData name="Phuong Thai Nguyen" userId="598680f98d4801c4" providerId="LiveId" clId="{C9FD751F-66AC-C94A-9685-49331B13CD07}" dt="2024-12-13T17:09:11.674" v="22" actId="2696"/>
        <pc:sldMkLst>
          <pc:docMk/>
          <pc:sldMk cId="0" sldId="354"/>
        </pc:sldMkLst>
      </pc:sldChg>
      <pc:sldChg chg="del">
        <pc:chgData name="Phuong Thai Nguyen" userId="598680f98d4801c4" providerId="LiveId" clId="{C9FD751F-66AC-C94A-9685-49331B13CD07}" dt="2024-12-13T17:09:11.678" v="23" actId="2696"/>
        <pc:sldMkLst>
          <pc:docMk/>
          <pc:sldMk cId="0" sldId="355"/>
        </pc:sldMkLst>
      </pc:sldChg>
      <pc:sldChg chg="del">
        <pc:chgData name="Phuong Thai Nguyen" userId="598680f98d4801c4" providerId="LiveId" clId="{C9FD751F-66AC-C94A-9685-49331B13CD07}" dt="2024-12-13T17:09:11.682" v="24" actId="2696"/>
        <pc:sldMkLst>
          <pc:docMk/>
          <pc:sldMk cId="0" sldId="356"/>
        </pc:sldMkLst>
      </pc:sldChg>
      <pc:sldChg chg="del">
        <pc:chgData name="Phuong Thai Nguyen" userId="598680f98d4801c4" providerId="LiveId" clId="{C9FD751F-66AC-C94A-9685-49331B13CD07}" dt="2024-12-13T17:09:11.686" v="25" actId="2696"/>
        <pc:sldMkLst>
          <pc:docMk/>
          <pc:sldMk cId="0" sldId="357"/>
        </pc:sldMkLst>
      </pc:sldChg>
      <pc:sldChg chg="del">
        <pc:chgData name="Phuong Thai Nguyen" userId="598680f98d4801c4" providerId="LiveId" clId="{C9FD751F-66AC-C94A-9685-49331B13CD07}" dt="2024-12-13T17:09:11.689" v="26" actId="2696"/>
        <pc:sldMkLst>
          <pc:docMk/>
          <pc:sldMk cId="0" sldId="358"/>
        </pc:sldMkLst>
      </pc:sldChg>
      <pc:sldChg chg="del">
        <pc:chgData name="Phuong Thai Nguyen" userId="598680f98d4801c4" providerId="LiveId" clId="{C9FD751F-66AC-C94A-9685-49331B13CD07}" dt="2024-12-13T17:09:11.693" v="27" actId="2696"/>
        <pc:sldMkLst>
          <pc:docMk/>
          <pc:sldMk cId="0" sldId="359"/>
        </pc:sldMkLst>
      </pc:sldChg>
      <pc:sldChg chg="del">
        <pc:chgData name="Phuong Thai Nguyen" userId="598680f98d4801c4" providerId="LiveId" clId="{C9FD751F-66AC-C94A-9685-49331B13CD07}" dt="2024-12-13T17:09:11.697" v="28" actId="2696"/>
        <pc:sldMkLst>
          <pc:docMk/>
          <pc:sldMk cId="0" sldId="360"/>
        </pc:sldMkLst>
      </pc:sldChg>
      <pc:sldChg chg="del">
        <pc:chgData name="Phuong Thai Nguyen" userId="598680f98d4801c4" providerId="LiveId" clId="{C9FD751F-66AC-C94A-9685-49331B13CD07}" dt="2024-12-13T17:09:11.702" v="29" actId="2696"/>
        <pc:sldMkLst>
          <pc:docMk/>
          <pc:sldMk cId="0" sldId="361"/>
        </pc:sldMkLst>
      </pc:sldChg>
      <pc:sldChg chg="del">
        <pc:chgData name="Phuong Thai Nguyen" userId="598680f98d4801c4" providerId="LiveId" clId="{C9FD751F-66AC-C94A-9685-49331B13CD07}" dt="2024-12-13T17:09:11.705" v="30" actId="2696"/>
        <pc:sldMkLst>
          <pc:docMk/>
          <pc:sldMk cId="0" sldId="362"/>
        </pc:sldMkLst>
      </pc:sldChg>
      <pc:sldChg chg="del">
        <pc:chgData name="Phuong Thai Nguyen" userId="598680f98d4801c4" providerId="LiveId" clId="{C9FD751F-66AC-C94A-9685-49331B13CD07}" dt="2024-12-13T17:09:11.709" v="31" actId="2696"/>
        <pc:sldMkLst>
          <pc:docMk/>
          <pc:sldMk cId="0" sldId="363"/>
        </pc:sldMkLst>
      </pc:sldChg>
      <pc:sldChg chg="del">
        <pc:chgData name="Phuong Thai Nguyen" userId="598680f98d4801c4" providerId="LiveId" clId="{C9FD751F-66AC-C94A-9685-49331B13CD07}" dt="2024-12-13T17:09:11.714" v="32" actId="2696"/>
        <pc:sldMkLst>
          <pc:docMk/>
          <pc:sldMk cId="0" sldId="364"/>
        </pc:sldMkLst>
      </pc:sldChg>
      <pc:sldChg chg="del">
        <pc:chgData name="Phuong Thai Nguyen" userId="598680f98d4801c4" providerId="LiveId" clId="{C9FD751F-66AC-C94A-9685-49331B13CD07}" dt="2024-12-13T17:09:11.717" v="33" actId="2696"/>
        <pc:sldMkLst>
          <pc:docMk/>
          <pc:sldMk cId="0" sldId="365"/>
        </pc:sldMkLst>
      </pc:sldChg>
      <pc:sldChg chg="del">
        <pc:chgData name="Phuong Thai Nguyen" userId="598680f98d4801c4" providerId="LiveId" clId="{C9FD751F-66AC-C94A-9685-49331B13CD07}" dt="2024-12-13T17:09:11.720" v="34" actId="2696"/>
        <pc:sldMkLst>
          <pc:docMk/>
          <pc:sldMk cId="0" sldId="366"/>
        </pc:sldMkLst>
      </pc:sldChg>
      <pc:sldChg chg="del">
        <pc:chgData name="Phuong Thai Nguyen" userId="598680f98d4801c4" providerId="LiveId" clId="{C9FD751F-66AC-C94A-9685-49331B13CD07}" dt="2024-12-13T17:09:11.723" v="35" actId="2696"/>
        <pc:sldMkLst>
          <pc:docMk/>
          <pc:sldMk cId="0" sldId="367"/>
        </pc:sldMkLst>
      </pc:sldChg>
      <pc:sldChg chg="del">
        <pc:chgData name="Phuong Thai Nguyen" userId="598680f98d4801c4" providerId="LiveId" clId="{C9FD751F-66AC-C94A-9685-49331B13CD07}" dt="2024-12-13T17:09:11.727" v="36" actId="2696"/>
        <pc:sldMkLst>
          <pc:docMk/>
          <pc:sldMk cId="0" sldId="368"/>
        </pc:sldMkLst>
      </pc:sldChg>
      <pc:sldChg chg="del">
        <pc:chgData name="Phuong Thai Nguyen" userId="598680f98d4801c4" providerId="LiveId" clId="{C9FD751F-66AC-C94A-9685-49331B13CD07}" dt="2024-12-13T17:09:11.729" v="37" actId="2696"/>
        <pc:sldMkLst>
          <pc:docMk/>
          <pc:sldMk cId="0" sldId="369"/>
        </pc:sldMkLst>
      </pc:sldChg>
      <pc:sldChg chg="del">
        <pc:chgData name="Phuong Thai Nguyen" userId="598680f98d4801c4" providerId="LiveId" clId="{C9FD751F-66AC-C94A-9685-49331B13CD07}" dt="2024-12-13T17:09:11.732" v="38" actId="2696"/>
        <pc:sldMkLst>
          <pc:docMk/>
          <pc:sldMk cId="0" sldId="370"/>
        </pc:sldMkLst>
      </pc:sldChg>
      <pc:sldChg chg="del">
        <pc:chgData name="Phuong Thai Nguyen" userId="598680f98d4801c4" providerId="LiveId" clId="{C9FD751F-66AC-C94A-9685-49331B13CD07}" dt="2024-12-13T17:09:11.735" v="39" actId="2696"/>
        <pc:sldMkLst>
          <pc:docMk/>
          <pc:sldMk cId="0" sldId="371"/>
        </pc:sldMkLst>
      </pc:sldChg>
      <pc:sldChg chg="del">
        <pc:chgData name="Phuong Thai Nguyen" userId="598680f98d4801c4" providerId="LiveId" clId="{C9FD751F-66AC-C94A-9685-49331B13CD07}" dt="2024-12-13T17:09:11.737" v="40" actId="2696"/>
        <pc:sldMkLst>
          <pc:docMk/>
          <pc:sldMk cId="0" sldId="372"/>
        </pc:sldMkLst>
      </pc:sldChg>
      <pc:sldChg chg="del">
        <pc:chgData name="Phuong Thai Nguyen" userId="598680f98d4801c4" providerId="LiveId" clId="{C9FD751F-66AC-C94A-9685-49331B13CD07}" dt="2024-12-13T17:09:11.740" v="41" actId="2696"/>
        <pc:sldMkLst>
          <pc:docMk/>
          <pc:sldMk cId="0" sldId="373"/>
        </pc:sldMkLst>
      </pc:sldChg>
      <pc:sldChg chg="del">
        <pc:chgData name="Phuong Thai Nguyen" userId="598680f98d4801c4" providerId="LiveId" clId="{C9FD751F-66AC-C94A-9685-49331B13CD07}" dt="2024-12-13T17:09:11.743" v="42" actId="2696"/>
        <pc:sldMkLst>
          <pc:docMk/>
          <pc:sldMk cId="0" sldId="374"/>
        </pc:sldMkLst>
      </pc:sldChg>
      <pc:sldChg chg="del">
        <pc:chgData name="Phuong Thai Nguyen" userId="598680f98d4801c4" providerId="LiveId" clId="{C9FD751F-66AC-C94A-9685-49331B13CD07}" dt="2024-12-13T17:09:11.746" v="43" actId="2696"/>
        <pc:sldMkLst>
          <pc:docMk/>
          <pc:sldMk cId="0" sldId="375"/>
        </pc:sldMkLst>
      </pc:sldChg>
      <pc:sldChg chg="del">
        <pc:chgData name="Phuong Thai Nguyen" userId="598680f98d4801c4" providerId="LiveId" clId="{C9FD751F-66AC-C94A-9685-49331B13CD07}" dt="2024-12-13T17:09:11.749" v="44" actId="2696"/>
        <pc:sldMkLst>
          <pc:docMk/>
          <pc:sldMk cId="0" sldId="376"/>
        </pc:sldMkLst>
      </pc:sldChg>
      <pc:sldChg chg="del">
        <pc:chgData name="Phuong Thai Nguyen" userId="598680f98d4801c4" providerId="LiveId" clId="{C9FD751F-66AC-C94A-9685-49331B13CD07}" dt="2024-12-13T17:09:11.752" v="45" actId="2696"/>
        <pc:sldMkLst>
          <pc:docMk/>
          <pc:sldMk cId="0" sldId="377"/>
        </pc:sldMkLst>
      </pc:sldChg>
      <pc:sldChg chg="del">
        <pc:chgData name="Phuong Thai Nguyen" userId="598680f98d4801c4" providerId="LiveId" clId="{C9FD751F-66AC-C94A-9685-49331B13CD07}" dt="2024-12-13T17:09:11.755" v="46" actId="2696"/>
        <pc:sldMkLst>
          <pc:docMk/>
          <pc:sldMk cId="0" sldId="378"/>
        </pc:sldMkLst>
      </pc:sldChg>
      <pc:sldChg chg="del">
        <pc:chgData name="Phuong Thai Nguyen" userId="598680f98d4801c4" providerId="LiveId" clId="{C9FD751F-66AC-C94A-9685-49331B13CD07}" dt="2024-12-13T17:09:11.758" v="47" actId="2696"/>
        <pc:sldMkLst>
          <pc:docMk/>
          <pc:sldMk cId="0" sldId="379"/>
        </pc:sldMkLst>
      </pc:sldChg>
      <pc:sldChg chg="del">
        <pc:chgData name="Phuong Thai Nguyen" userId="598680f98d4801c4" providerId="LiveId" clId="{C9FD751F-66AC-C94A-9685-49331B13CD07}" dt="2024-12-13T17:09:11.761" v="48" actId="2696"/>
        <pc:sldMkLst>
          <pc:docMk/>
          <pc:sldMk cId="0" sldId="380"/>
        </pc:sldMkLst>
      </pc:sldChg>
      <pc:sldChg chg="del">
        <pc:chgData name="Phuong Thai Nguyen" userId="598680f98d4801c4" providerId="LiveId" clId="{C9FD751F-66AC-C94A-9685-49331B13CD07}" dt="2024-12-13T17:09:11.764" v="49" actId="2696"/>
        <pc:sldMkLst>
          <pc:docMk/>
          <pc:sldMk cId="0" sldId="381"/>
        </pc:sldMkLst>
      </pc:sldChg>
      <pc:sldChg chg="del">
        <pc:chgData name="Phuong Thai Nguyen" userId="598680f98d4801c4" providerId="LiveId" clId="{C9FD751F-66AC-C94A-9685-49331B13CD07}" dt="2024-12-13T17:09:11.767" v="50" actId="2696"/>
        <pc:sldMkLst>
          <pc:docMk/>
          <pc:sldMk cId="0" sldId="382"/>
        </pc:sldMkLst>
      </pc:sldChg>
      <pc:sldChg chg="del">
        <pc:chgData name="Phuong Thai Nguyen" userId="598680f98d4801c4" providerId="LiveId" clId="{C9FD751F-66AC-C94A-9685-49331B13CD07}" dt="2024-12-13T17:09:11.771" v="51" actId="2696"/>
        <pc:sldMkLst>
          <pc:docMk/>
          <pc:sldMk cId="0" sldId="383"/>
        </pc:sldMkLst>
      </pc:sldChg>
      <pc:sldChg chg="del">
        <pc:chgData name="Phuong Thai Nguyen" userId="598680f98d4801c4" providerId="LiveId" clId="{C9FD751F-66AC-C94A-9685-49331B13CD07}" dt="2024-12-13T17:09:11.773" v="52" actId="2696"/>
        <pc:sldMkLst>
          <pc:docMk/>
          <pc:sldMk cId="0" sldId="384"/>
        </pc:sldMkLst>
      </pc:sldChg>
      <pc:sldChg chg="del">
        <pc:chgData name="Phuong Thai Nguyen" userId="598680f98d4801c4" providerId="LiveId" clId="{C9FD751F-66AC-C94A-9685-49331B13CD07}" dt="2024-12-13T17:09:11.776" v="53" actId="2696"/>
        <pc:sldMkLst>
          <pc:docMk/>
          <pc:sldMk cId="0" sldId="385"/>
        </pc:sldMkLst>
      </pc:sldChg>
      <pc:sldChg chg="del">
        <pc:chgData name="Phuong Thai Nguyen" userId="598680f98d4801c4" providerId="LiveId" clId="{C9FD751F-66AC-C94A-9685-49331B13CD07}" dt="2024-12-13T17:09:11.779" v="54" actId="2696"/>
        <pc:sldMkLst>
          <pc:docMk/>
          <pc:sldMk cId="0" sldId="386"/>
        </pc:sldMkLst>
      </pc:sldChg>
      <pc:sldChg chg="del">
        <pc:chgData name="Phuong Thai Nguyen" userId="598680f98d4801c4" providerId="LiveId" clId="{C9FD751F-66AC-C94A-9685-49331B13CD07}" dt="2024-12-13T17:09:11.781" v="55" actId="2696"/>
        <pc:sldMkLst>
          <pc:docMk/>
          <pc:sldMk cId="0" sldId="387"/>
        </pc:sldMkLst>
      </pc:sldChg>
      <pc:sldChg chg="del">
        <pc:chgData name="Phuong Thai Nguyen" userId="598680f98d4801c4" providerId="LiveId" clId="{C9FD751F-66AC-C94A-9685-49331B13CD07}" dt="2024-12-13T17:09:11.785" v="56" actId="2696"/>
        <pc:sldMkLst>
          <pc:docMk/>
          <pc:sldMk cId="0" sldId="388"/>
        </pc:sldMkLst>
      </pc:sldChg>
      <pc:sldChg chg="del">
        <pc:chgData name="Phuong Thai Nguyen" userId="598680f98d4801c4" providerId="LiveId" clId="{C9FD751F-66AC-C94A-9685-49331B13CD07}" dt="2024-12-13T17:09:11.788" v="57" actId="2696"/>
        <pc:sldMkLst>
          <pc:docMk/>
          <pc:sldMk cId="0" sldId="389"/>
        </pc:sldMkLst>
      </pc:sldChg>
      <pc:sldChg chg="del">
        <pc:chgData name="Phuong Thai Nguyen" userId="598680f98d4801c4" providerId="LiveId" clId="{C9FD751F-66AC-C94A-9685-49331B13CD07}" dt="2024-12-13T17:09:11.790" v="58" actId="2696"/>
        <pc:sldMkLst>
          <pc:docMk/>
          <pc:sldMk cId="0" sldId="390"/>
        </pc:sldMkLst>
      </pc:sldChg>
      <pc:sldChg chg="del">
        <pc:chgData name="Phuong Thai Nguyen" userId="598680f98d4801c4" providerId="LiveId" clId="{C9FD751F-66AC-C94A-9685-49331B13CD07}" dt="2024-12-13T17:09:11.793" v="59" actId="2696"/>
        <pc:sldMkLst>
          <pc:docMk/>
          <pc:sldMk cId="0" sldId="391"/>
        </pc:sldMkLst>
      </pc:sldChg>
      <pc:sldChg chg="del">
        <pc:chgData name="Phuong Thai Nguyen" userId="598680f98d4801c4" providerId="LiveId" clId="{C9FD751F-66AC-C94A-9685-49331B13CD07}" dt="2024-12-13T17:09:11.796" v="60" actId="2696"/>
        <pc:sldMkLst>
          <pc:docMk/>
          <pc:sldMk cId="0" sldId="392"/>
        </pc:sldMkLst>
      </pc:sldChg>
      <pc:sldChg chg="del">
        <pc:chgData name="Phuong Thai Nguyen" userId="598680f98d4801c4" providerId="LiveId" clId="{C9FD751F-66AC-C94A-9685-49331B13CD07}" dt="2024-12-13T17:09:11.798" v="61" actId="2696"/>
        <pc:sldMkLst>
          <pc:docMk/>
          <pc:sldMk cId="0" sldId="393"/>
        </pc:sldMkLst>
      </pc:sldChg>
      <pc:sldChg chg="del">
        <pc:chgData name="Phuong Thai Nguyen" userId="598680f98d4801c4" providerId="LiveId" clId="{C9FD751F-66AC-C94A-9685-49331B13CD07}" dt="2024-12-13T17:09:11.802" v="62" actId="2696"/>
        <pc:sldMkLst>
          <pc:docMk/>
          <pc:sldMk cId="0" sldId="394"/>
        </pc:sldMkLst>
      </pc:sldChg>
      <pc:sldChg chg="del">
        <pc:chgData name="Phuong Thai Nguyen" userId="598680f98d4801c4" providerId="LiveId" clId="{C9FD751F-66AC-C94A-9685-49331B13CD07}" dt="2024-12-13T17:09:11.805" v="63" actId="2696"/>
        <pc:sldMkLst>
          <pc:docMk/>
          <pc:sldMk cId="0" sldId="395"/>
        </pc:sldMkLst>
      </pc:sldChg>
      <pc:sldChg chg="del">
        <pc:chgData name="Phuong Thai Nguyen" userId="598680f98d4801c4" providerId="LiveId" clId="{C9FD751F-66AC-C94A-9685-49331B13CD07}" dt="2024-12-13T17:09:11.807" v="64" actId="2696"/>
        <pc:sldMkLst>
          <pc:docMk/>
          <pc:sldMk cId="0" sldId="396"/>
        </pc:sldMkLst>
      </pc:sldChg>
      <pc:sldChg chg="del">
        <pc:chgData name="Phuong Thai Nguyen" userId="598680f98d4801c4" providerId="LiveId" clId="{C9FD751F-66AC-C94A-9685-49331B13CD07}" dt="2024-12-13T17:14:07.711" v="104" actId="2696"/>
        <pc:sldMkLst>
          <pc:docMk/>
          <pc:sldMk cId="0" sldId="397"/>
        </pc:sldMkLst>
      </pc:sldChg>
      <pc:sldChg chg="del">
        <pc:chgData name="Phuong Thai Nguyen" userId="598680f98d4801c4" providerId="LiveId" clId="{C9FD751F-66AC-C94A-9685-49331B13CD07}" dt="2024-12-13T17:08:01.606" v="0" actId="2696"/>
        <pc:sldMkLst>
          <pc:docMk/>
          <pc:sldMk cId="0" sldId="398"/>
        </pc:sldMkLst>
      </pc:sldChg>
      <pc:sldChg chg="del">
        <pc:chgData name="Phuong Thai Nguyen" userId="598680f98d4801c4" providerId="LiveId" clId="{C9FD751F-66AC-C94A-9685-49331B13CD07}" dt="2024-12-13T17:08:01.614" v="1" actId="2696"/>
        <pc:sldMkLst>
          <pc:docMk/>
          <pc:sldMk cId="0" sldId="399"/>
        </pc:sldMkLst>
      </pc:sldChg>
      <pc:sldChg chg="del">
        <pc:chgData name="Phuong Thai Nguyen" userId="598680f98d4801c4" providerId="LiveId" clId="{C9FD751F-66AC-C94A-9685-49331B13CD07}" dt="2024-12-13T17:08:01.620" v="2" actId="2696"/>
        <pc:sldMkLst>
          <pc:docMk/>
          <pc:sldMk cId="0" sldId="400"/>
        </pc:sldMkLst>
      </pc:sldChg>
      <pc:sldChg chg="del">
        <pc:chgData name="Phuong Thai Nguyen" userId="598680f98d4801c4" providerId="LiveId" clId="{C9FD751F-66AC-C94A-9685-49331B13CD07}" dt="2024-12-13T17:08:01.625" v="3" actId="2696"/>
        <pc:sldMkLst>
          <pc:docMk/>
          <pc:sldMk cId="0" sldId="401"/>
        </pc:sldMkLst>
      </pc:sldChg>
      <pc:sldChg chg="del">
        <pc:chgData name="Phuong Thai Nguyen" userId="598680f98d4801c4" providerId="LiveId" clId="{C9FD751F-66AC-C94A-9685-49331B13CD07}" dt="2024-12-13T17:08:01.629" v="4" actId="2696"/>
        <pc:sldMkLst>
          <pc:docMk/>
          <pc:sldMk cId="0" sldId="402"/>
        </pc:sldMkLst>
      </pc:sldChg>
      <pc:sldChg chg="del">
        <pc:chgData name="Phuong Thai Nguyen" userId="598680f98d4801c4" providerId="LiveId" clId="{C9FD751F-66AC-C94A-9685-49331B13CD07}" dt="2024-12-13T17:08:01.633" v="5" actId="2696"/>
        <pc:sldMkLst>
          <pc:docMk/>
          <pc:sldMk cId="0" sldId="403"/>
        </pc:sldMkLst>
      </pc:sldChg>
      <pc:sldChg chg="del">
        <pc:chgData name="Phuong Thai Nguyen" userId="598680f98d4801c4" providerId="LiveId" clId="{C9FD751F-66AC-C94A-9685-49331B13CD07}" dt="2024-12-13T17:08:01.638" v="6" actId="2696"/>
        <pc:sldMkLst>
          <pc:docMk/>
          <pc:sldMk cId="0" sldId="404"/>
        </pc:sldMkLst>
      </pc:sldChg>
      <pc:sldChg chg="del">
        <pc:chgData name="Phuong Thai Nguyen" userId="598680f98d4801c4" providerId="LiveId" clId="{C9FD751F-66AC-C94A-9685-49331B13CD07}" dt="2024-12-13T17:08:01.641" v="7" actId="2696"/>
        <pc:sldMkLst>
          <pc:docMk/>
          <pc:sldMk cId="0" sldId="405"/>
        </pc:sldMkLst>
      </pc:sldChg>
      <pc:sldChg chg="del">
        <pc:chgData name="Phuong Thai Nguyen" userId="598680f98d4801c4" providerId="LiveId" clId="{C9FD751F-66AC-C94A-9685-49331B13CD07}" dt="2024-12-13T17:08:01.644" v="8" actId="2696"/>
        <pc:sldMkLst>
          <pc:docMk/>
          <pc:sldMk cId="0" sldId="406"/>
        </pc:sldMkLst>
      </pc:sldChg>
      <pc:sldChg chg="del">
        <pc:chgData name="Phuong Thai Nguyen" userId="598680f98d4801c4" providerId="LiveId" clId="{C9FD751F-66AC-C94A-9685-49331B13CD07}" dt="2024-12-13T17:08:01.647" v="9" actId="2696"/>
        <pc:sldMkLst>
          <pc:docMk/>
          <pc:sldMk cId="0" sldId="407"/>
        </pc:sldMkLst>
      </pc:sldChg>
      <pc:sldChg chg="del">
        <pc:chgData name="Phuong Thai Nguyen" userId="598680f98d4801c4" providerId="LiveId" clId="{C9FD751F-66AC-C94A-9685-49331B13CD07}" dt="2024-12-13T17:08:01.650" v="10" actId="2696"/>
        <pc:sldMkLst>
          <pc:docMk/>
          <pc:sldMk cId="0" sldId="408"/>
        </pc:sldMkLst>
      </pc:sldChg>
      <pc:sldChg chg="del">
        <pc:chgData name="Phuong Thai Nguyen" userId="598680f98d4801c4" providerId="LiveId" clId="{C9FD751F-66AC-C94A-9685-49331B13CD07}" dt="2024-12-13T17:08:01.654" v="11" actId="2696"/>
        <pc:sldMkLst>
          <pc:docMk/>
          <pc:sldMk cId="0" sldId="409"/>
        </pc:sldMkLst>
      </pc:sldChg>
      <pc:sldChg chg="del">
        <pc:chgData name="Phuong Thai Nguyen" userId="598680f98d4801c4" providerId="LiveId" clId="{C9FD751F-66AC-C94A-9685-49331B13CD07}" dt="2024-12-13T17:08:01.656" v="12" actId="2696"/>
        <pc:sldMkLst>
          <pc:docMk/>
          <pc:sldMk cId="0" sldId="410"/>
        </pc:sldMkLst>
      </pc:sldChg>
      <pc:sldChg chg="del">
        <pc:chgData name="Phuong Thai Nguyen" userId="598680f98d4801c4" providerId="LiveId" clId="{C9FD751F-66AC-C94A-9685-49331B13CD07}" dt="2024-12-13T17:08:01.659" v="13" actId="2696"/>
        <pc:sldMkLst>
          <pc:docMk/>
          <pc:sldMk cId="0" sldId="411"/>
        </pc:sldMkLst>
      </pc:sldChg>
      <pc:sldChg chg="del">
        <pc:chgData name="Phuong Thai Nguyen" userId="598680f98d4801c4" providerId="LiveId" clId="{C9FD751F-66AC-C94A-9685-49331B13CD07}" dt="2024-12-13T17:08:01.661" v="14" actId="2696"/>
        <pc:sldMkLst>
          <pc:docMk/>
          <pc:sldMk cId="0" sldId="412"/>
        </pc:sldMkLst>
      </pc:sldChg>
      <pc:sldChg chg="del">
        <pc:chgData name="Phuong Thai Nguyen" userId="598680f98d4801c4" providerId="LiveId" clId="{C9FD751F-66AC-C94A-9685-49331B13CD07}" dt="2024-12-13T17:14:07.716" v="105" actId="2696"/>
        <pc:sldMkLst>
          <pc:docMk/>
          <pc:sldMk cId="0" sldId="413"/>
        </pc:sldMkLst>
      </pc:sldChg>
      <pc:sldChg chg="del">
        <pc:chgData name="Phuong Thai Nguyen" userId="598680f98d4801c4" providerId="LiveId" clId="{C9FD751F-66AC-C94A-9685-49331B13CD07}" dt="2024-12-13T17:08:12.653" v="15" actId="2696"/>
        <pc:sldMkLst>
          <pc:docMk/>
          <pc:sldMk cId="0" sldId="414"/>
        </pc:sldMkLst>
      </pc:sldChg>
      <pc:sldChg chg="modSp add del mod">
        <pc:chgData name="Phuong Thai Nguyen" userId="598680f98d4801c4" providerId="LiveId" clId="{C9FD751F-66AC-C94A-9685-49331B13CD07}" dt="2024-12-13T17:17:42.350" v="121" actId="20577"/>
        <pc:sldMkLst>
          <pc:docMk/>
          <pc:sldMk cId="0" sldId="415"/>
        </pc:sldMkLst>
        <pc:spChg chg="mod">
          <ac:chgData name="Phuong Thai Nguyen" userId="598680f98d4801c4" providerId="LiveId" clId="{C9FD751F-66AC-C94A-9685-49331B13CD07}" dt="2024-12-13T17:17:21.342" v="114"/>
          <ac:spMkLst>
            <pc:docMk/>
            <pc:sldMk cId="0" sldId="415"/>
            <ac:spMk id="2" creationId="{00000000-0000-0000-0000-000000000000}"/>
          </ac:spMkLst>
        </pc:spChg>
        <pc:spChg chg="mod">
          <ac:chgData name="Phuong Thai Nguyen" userId="598680f98d4801c4" providerId="LiveId" clId="{C9FD751F-66AC-C94A-9685-49331B13CD07}" dt="2024-12-13T17:17:42.350" v="121" actId="20577"/>
          <ac:spMkLst>
            <pc:docMk/>
            <pc:sldMk cId="0" sldId="415"/>
            <ac:spMk id="10" creationId="{AA6230F7-0266-008B-3930-52C501376680}"/>
          </ac:spMkLst>
        </pc:spChg>
      </pc:sldChg>
      <pc:sldChg chg="del">
        <pc:chgData name="Phuong Thai Nguyen" userId="598680f98d4801c4" providerId="LiveId" clId="{C9FD751F-66AC-C94A-9685-49331B13CD07}" dt="2024-12-13T17:13:58.225" v="65" actId="2696"/>
        <pc:sldMkLst>
          <pc:docMk/>
          <pc:sldMk cId="0" sldId="416"/>
        </pc:sldMkLst>
      </pc:sldChg>
      <pc:sldChg chg="del">
        <pc:chgData name="Phuong Thai Nguyen" userId="598680f98d4801c4" providerId="LiveId" clId="{C9FD751F-66AC-C94A-9685-49331B13CD07}" dt="2024-12-13T17:13:58.232" v="66" actId="2696"/>
        <pc:sldMkLst>
          <pc:docMk/>
          <pc:sldMk cId="0" sldId="417"/>
        </pc:sldMkLst>
      </pc:sldChg>
      <pc:sldChg chg="del">
        <pc:chgData name="Phuong Thai Nguyen" userId="598680f98d4801c4" providerId="LiveId" clId="{C9FD751F-66AC-C94A-9685-49331B13CD07}" dt="2024-12-13T17:13:58.236" v="67" actId="2696"/>
        <pc:sldMkLst>
          <pc:docMk/>
          <pc:sldMk cId="0" sldId="418"/>
        </pc:sldMkLst>
      </pc:sldChg>
      <pc:sldChg chg="del">
        <pc:chgData name="Phuong Thai Nguyen" userId="598680f98d4801c4" providerId="LiveId" clId="{C9FD751F-66AC-C94A-9685-49331B13CD07}" dt="2024-12-13T17:13:58.239" v="68" actId="2696"/>
        <pc:sldMkLst>
          <pc:docMk/>
          <pc:sldMk cId="0" sldId="419"/>
        </pc:sldMkLst>
      </pc:sldChg>
      <pc:sldChg chg="del">
        <pc:chgData name="Phuong Thai Nguyen" userId="598680f98d4801c4" providerId="LiveId" clId="{C9FD751F-66AC-C94A-9685-49331B13CD07}" dt="2024-12-13T17:13:58.242" v="69" actId="2696"/>
        <pc:sldMkLst>
          <pc:docMk/>
          <pc:sldMk cId="0" sldId="420"/>
        </pc:sldMkLst>
      </pc:sldChg>
      <pc:sldChg chg="del">
        <pc:chgData name="Phuong Thai Nguyen" userId="598680f98d4801c4" providerId="LiveId" clId="{C9FD751F-66AC-C94A-9685-49331B13CD07}" dt="2024-12-13T17:13:58.246" v="70" actId="2696"/>
        <pc:sldMkLst>
          <pc:docMk/>
          <pc:sldMk cId="0" sldId="421"/>
        </pc:sldMkLst>
      </pc:sldChg>
      <pc:sldChg chg="del">
        <pc:chgData name="Phuong Thai Nguyen" userId="598680f98d4801c4" providerId="LiveId" clId="{C9FD751F-66AC-C94A-9685-49331B13CD07}" dt="2024-12-13T17:13:58.250" v="71" actId="2696"/>
        <pc:sldMkLst>
          <pc:docMk/>
          <pc:sldMk cId="0" sldId="422"/>
        </pc:sldMkLst>
      </pc:sldChg>
      <pc:sldChg chg="del">
        <pc:chgData name="Phuong Thai Nguyen" userId="598680f98d4801c4" providerId="LiveId" clId="{C9FD751F-66AC-C94A-9685-49331B13CD07}" dt="2024-12-13T17:13:58.253" v="72" actId="2696"/>
        <pc:sldMkLst>
          <pc:docMk/>
          <pc:sldMk cId="0" sldId="423"/>
        </pc:sldMkLst>
      </pc:sldChg>
      <pc:sldChg chg="del">
        <pc:chgData name="Phuong Thai Nguyen" userId="598680f98d4801c4" providerId="LiveId" clId="{C9FD751F-66AC-C94A-9685-49331B13CD07}" dt="2024-12-13T17:13:58.256" v="73" actId="2696"/>
        <pc:sldMkLst>
          <pc:docMk/>
          <pc:sldMk cId="0" sldId="424"/>
        </pc:sldMkLst>
      </pc:sldChg>
      <pc:sldChg chg="del">
        <pc:chgData name="Phuong Thai Nguyen" userId="598680f98d4801c4" providerId="LiveId" clId="{C9FD751F-66AC-C94A-9685-49331B13CD07}" dt="2024-12-13T17:13:58.260" v="74" actId="2696"/>
        <pc:sldMkLst>
          <pc:docMk/>
          <pc:sldMk cId="0" sldId="425"/>
        </pc:sldMkLst>
      </pc:sldChg>
      <pc:sldChg chg="del">
        <pc:chgData name="Phuong Thai Nguyen" userId="598680f98d4801c4" providerId="LiveId" clId="{C9FD751F-66AC-C94A-9685-49331B13CD07}" dt="2024-12-13T17:13:58.263" v="75" actId="2696"/>
        <pc:sldMkLst>
          <pc:docMk/>
          <pc:sldMk cId="0" sldId="426"/>
        </pc:sldMkLst>
      </pc:sldChg>
      <pc:sldChg chg="del">
        <pc:chgData name="Phuong Thai Nguyen" userId="598680f98d4801c4" providerId="LiveId" clId="{C9FD751F-66AC-C94A-9685-49331B13CD07}" dt="2024-12-13T17:13:58.265" v="76" actId="2696"/>
        <pc:sldMkLst>
          <pc:docMk/>
          <pc:sldMk cId="0" sldId="427"/>
        </pc:sldMkLst>
      </pc:sldChg>
      <pc:sldChg chg="del">
        <pc:chgData name="Phuong Thai Nguyen" userId="598680f98d4801c4" providerId="LiveId" clId="{C9FD751F-66AC-C94A-9685-49331B13CD07}" dt="2024-12-13T17:13:58.268" v="77" actId="2696"/>
        <pc:sldMkLst>
          <pc:docMk/>
          <pc:sldMk cId="0" sldId="428"/>
        </pc:sldMkLst>
      </pc:sldChg>
      <pc:sldChg chg="del">
        <pc:chgData name="Phuong Thai Nguyen" userId="598680f98d4801c4" providerId="LiveId" clId="{C9FD751F-66AC-C94A-9685-49331B13CD07}" dt="2024-12-13T17:13:58.270" v="78" actId="2696"/>
        <pc:sldMkLst>
          <pc:docMk/>
          <pc:sldMk cId="0" sldId="429"/>
        </pc:sldMkLst>
      </pc:sldChg>
      <pc:sldChg chg="del">
        <pc:chgData name="Phuong Thai Nguyen" userId="598680f98d4801c4" providerId="LiveId" clId="{C9FD751F-66AC-C94A-9685-49331B13CD07}" dt="2024-12-13T17:13:58.272" v="79" actId="2696"/>
        <pc:sldMkLst>
          <pc:docMk/>
          <pc:sldMk cId="0" sldId="430"/>
        </pc:sldMkLst>
      </pc:sldChg>
      <pc:sldChg chg="del">
        <pc:chgData name="Phuong Thai Nguyen" userId="598680f98d4801c4" providerId="LiveId" clId="{C9FD751F-66AC-C94A-9685-49331B13CD07}" dt="2024-12-13T17:13:58.274" v="80" actId="2696"/>
        <pc:sldMkLst>
          <pc:docMk/>
          <pc:sldMk cId="0" sldId="431"/>
        </pc:sldMkLst>
      </pc:sldChg>
      <pc:sldChg chg="del">
        <pc:chgData name="Phuong Thai Nguyen" userId="598680f98d4801c4" providerId="LiveId" clId="{C9FD751F-66AC-C94A-9685-49331B13CD07}" dt="2024-12-13T17:13:58.277" v="81" actId="2696"/>
        <pc:sldMkLst>
          <pc:docMk/>
          <pc:sldMk cId="0" sldId="432"/>
        </pc:sldMkLst>
      </pc:sldChg>
      <pc:sldChg chg="del">
        <pc:chgData name="Phuong Thai Nguyen" userId="598680f98d4801c4" providerId="LiveId" clId="{C9FD751F-66AC-C94A-9685-49331B13CD07}" dt="2024-12-13T17:13:58.278" v="82" actId="2696"/>
        <pc:sldMkLst>
          <pc:docMk/>
          <pc:sldMk cId="0" sldId="433"/>
        </pc:sldMkLst>
      </pc:sldChg>
      <pc:sldChg chg="del">
        <pc:chgData name="Phuong Thai Nguyen" userId="598680f98d4801c4" providerId="LiveId" clId="{C9FD751F-66AC-C94A-9685-49331B13CD07}" dt="2024-12-13T17:13:58.280" v="83" actId="2696"/>
        <pc:sldMkLst>
          <pc:docMk/>
          <pc:sldMk cId="0" sldId="434"/>
        </pc:sldMkLst>
      </pc:sldChg>
      <pc:sldChg chg="del">
        <pc:chgData name="Phuong Thai Nguyen" userId="598680f98d4801c4" providerId="LiveId" clId="{C9FD751F-66AC-C94A-9685-49331B13CD07}" dt="2024-12-13T17:13:58.282" v="84" actId="2696"/>
        <pc:sldMkLst>
          <pc:docMk/>
          <pc:sldMk cId="0" sldId="435"/>
        </pc:sldMkLst>
      </pc:sldChg>
      <pc:sldChg chg="del">
        <pc:chgData name="Phuong Thai Nguyen" userId="598680f98d4801c4" providerId="LiveId" clId="{C9FD751F-66AC-C94A-9685-49331B13CD07}" dt="2024-12-13T17:13:58.285" v="85" actId="2696"/>
        <pc:sldMkLst>
          <pc:docMk/>
          <pc:sldMk cId="0" sldId="436"/>
        </pc:sldMkLst>
      </pc:sldChg>
      <pc:sldChg chg="del">
        <pc:chgData name="Phuong Thai Nguyen" userId="598680f98d4801c4" providerId="LiveId" clId="{C9FD751F-66AC-C94A-9685-49331B13CD07}" dt="2024-12-13T17:13:58.286" v="86" actId="2696"/>
        <pc:sldMkLst>
          <pc:docMk/>
          <pc:sldMk cId="0" sldId="437"/>
        </pc:sldMkLst>
      </pc:sldChg>
      <pc:sldChg chg="del">
        <pc:chgData name="Phuong Thai Nguyen" userId="598680f98d4801c4" providerId="LiveId" clId="{C9FD751F-66AC-C94A-9685-49331B13CD07}" dt="2024-12-13T17:13:58.288" v="87" actId="2696"/>
        <pc:sldMkLst>
          <pc:docMk/>
          <pc:sldMk cId="0" sldId="438"/>
        </pc:sldMkLst>
      </pc:sldChg>
      <pc:sldChg chg="del">
        <pc:chgData name="Phuong Thai Nguyen" userId="598680f98d4801c4" providerId="LiveId" clId="{C9FD751F-66AC-C94A-9685-49331B13CD07}" dt="2024-12-13T17:13:58.290" v="88" actId="2696"/>
        <pc:sldMkLst>
          <pc:docMk/>
          <pc:sldMk cId="0" sldId="439"/>
        </pc:sldMkLst>
      </pc:sldChg>
      <pc:sldChg chg="del">
        <pc:chgData name="Phuong Thai Nguyen" userId="598680f98d4801c4" providerId="LiveId" clId="{C9FD751F-66AC-C94A-9685-49331B13CD07}" dt="2024-12-13T17:13:58.293" v="89" actId="2696"/>
        <pc:sldMkLst>
          <pc:docMk/>
          <pc:sldMk cId="0" sldId="440"/>
        </pc:sldMkLst>
      </pc:sldChg>
      <pc:sldChg chg="del">
        <pc:chgData name="Phuong Thai Nguyen" userId="598680f98d4801c4" providerId="LiveId" clId="{C9FD751F-66AC-C94A-9685-49331B13CD07}" dt="2024-12-13T17:13:58.294" v="90" actId="2696"/>
        <pc:sldMkLst>
          <pc:docMk/>
          <pc:sldMk cId="0" sldId="441"/>
        </pc:sldMkLst>
      </pc:sldChg>
      <pc:sldChg chg="del">
        <pc:chgData name="Phuong Thai Nguyen" userId="598680f98d4801c4" providerId="LiveId" clId="{C9FD751F-66AC-C94A-9685-49331B13CD07}" dt="2024-12-13T17:13:58.296" v="91" actId="2696"/>
        <pc:sldMkLst>
          <pc:docMk/>
          <pc:sldMk cId="0" sldId="442"/>
        </pc:sldMkLst>
      </pc:sldChg>
      <pc:sldChg chg="del">
        <pc:chgData name="Phuong Thai Nguyen" userId="598680f98d4801c4" providerId="LiveId" clId="{C9FD751F-66AC-C94A-9685-49331B13CD07}" dt="2024-12-13T17:13:58.298" v="92" actId="2696"/>
        <pc:sldMkLst>
          <pc:docMk/>
          <pc:sldMk cId="0" sldId="443"/>
        </pc:sldMkLst>
      </pc:sldChg>
      <pc:sldChg chg="del">
        <pc:chgData name="Phuong Thai Nguyen" userId="598680f98d4801c4" providerId="LiveId" clId="{C9FD751F-66AC-C94A-9685-49331B13CD07}" dt="2024-12-13T17:13:58.300" v="93" actId="2696"/>
        <pc:sldMkLst>
          <pc:docMk/>
          <pc:sldMk cId="0" sldId="444"/>
        </pc:sldMkLst>
      </pc:sldChg>
      <pc:sldChg chg="del">
        <pc:chgData name="Phuong Thai Nguyen" userId="598680f98d4801c4" providerId="LiveId" clId="{C9FD751F-66AC-C94A-9685-49331B13CD07}" dt="2024-12-13T17:13:58.303" v="94" actId="2696"/>
        <pc:sldMkLst>
          <pc:docMk/>
          <pc:sldMk cId="0" sldId="445"/>
        </pc:sldMkLst>
      </pc:sldChg>
      <pc:sldChg chg="del">
        <pc:chgData name="Phuong Thai Nguyen" userId="598680f98d4801c4" providerId="LiveId" clId="{C9FD751F-66AC-C94A-9685-49331B13CD07}" dt="2024-12-13T17:13:58.305" v="95" actId="2696"/>
        <pc:sldMkLst>
          <pc:docMk/>
          <pc:sldMk cId="0" sldId="446"/>
        </pc:sldMkLst>
      </pc:sldChg>
      <pc:sldChg chg="del">
        <pc:chgData name="Phuong Thai Nguyen" userId="598680f98d4801c4" providerId="LiveId" clId="{C9FD751F-66AC-C94A-9685-49331B13CD07}" dt="2024-12-13T17:13:58.307" v="96" actId="2696"/>
        <pc:sldMkLst>
          <pc:docMk/>
          <pc:sldMk cId="0" sldId="447"/>
        </pc:sldMkLst>
      </pc:sldChg>
      <pc:sldChg chg="del">
        <pc:chgData name="Phuong Thai Nguyen" userId="598680f98d4801c4" providerId="LiveId" clId="{C9FD751F-66AC-C94A-9685-49331B13CD07}" dt="2024-12-13T17:13:58.308" v="97" actId="2696"/>
        <pc:sldMkLst>
          <pc:docMk/>
          <pc:sldMk cId="0" sldId="448"/>
        </pc:sldMkLst>
      </pc:sldChg>
      <pc:sldChg chg="del">
        <pc:chgData name="Phuong Thai Nguyen" userId="598680f98d4801c4" providerId="LiveId" clId="{C9FD751F-66AC-C94A-9685-49331B13CD07}" dt="2024-12-13T17:13:58.311" v="98" actId="2696"/>
        <pc:sldMkLst>
          <pc:docMk/>
          <pc:sldMk cId="0" sldId="449"/>
        </pc:sldMkLst>
      </pc:sldChg>
      <pc:sldChg chg="del">
        <pc:chgData name="Phuong Thai Nguyen" userId="598680f98d4801c4" providerId="LiveId" clId="{C9FD751F-66AC-C94A-9685-49331B13CD07}" dt="2024-12-13T17:13:58.313" v="99" actId="2696"/>
        <pc:sldMkLst>
          <pc:docMk/>
          <pc:sldMk cId="0" sldId="450"/>
        </pc:sldMkLst>
      </pc:sldChg>
      <pc:sldChg chg="del">
        <pc:chgData name="Phuong Thai Nguyen" userId="598680f98d4801c4" providerId="LiveId" clId="{C9FD751F-66AC-C94A-9685-49331B13CD07}" dt="2024-12-13T17:13:58.315" v="100" actId="2696"/>
        <pc:sldMkLst>
          <pc:docMk/>
          <pc:sldMk cId="0" sldId="451"/>
        </pc:sldMkLst>
      </pc:sldChg>
      <pc:sldChg chg="del">
        <pc:chgData name="Phuong Thai Nguyen" userId="598680f98d4801c4" providerId="LiveId" clId="{C9FD751F-66AC-C94A-9685-49331B13CD07}" dt="2024-12-13T17:13:58.317" v="101" actId="2696"/>
        <pc:sldMkLst>
          <pc:docMk/>
          <pc:sldMk cId="0" sldId="452"/>
        </pc:sldMkLst>
      </pc:sldChg>
      <pc:sldChg chg="del">
        <pc:chgData name="Phuong Thai Nguyen" userId="598680f98d4801c4" providerId="LiveId" clId="{C9FD751F-66AC-C94A-9685-49331B13CD07}" dt="2024-12-13T17:13:58.319" v="102" actId="2696"/>
        <pc:sldMkLst>
          <pc:docMk/>
          <pc:sldMk cId="0" sldId="453"/>
        </pc:sldMkLst>
      </pc:sldChg>
      <pc:sldChg chg="del">
        <pc:chgData name="Phuong Thai Nguyen" userId="598680f98d4801c4" providerId="LiveId" clId="{C9FD751F-66AC-C94A-9685-49331B13CD07}" dt="2024-12-13T17:13:58.320" v="103" actId="2696"/>
        <pc:sldMkLst>
          <pc:docMk/>
          <pc:sldMk cId="0" sldId="454"/>
        </pc:sldMkLst>
      </pc:sldChg>
      <pc:sldChg chg="del">
        <pc:chgData name="Phuong Thai Nguyen" userId="598680f98d4801c4" providerId="LiveId" clId="{C9FD751F-66AC-C94A-9685-49331B13CD07}" dt="2024-12-13T17:14:07.722" v="107" actId="2696"/>
        <pc:sldMkLst>
          <pc:docMk/>
          <pc:sldMk cId="0" sldId="455"/>
        </pc:sldMkLst>
      </pc:sldChg>
      <pc:sldChg chg="delSp modSp mod">
        <pc:chgData name="Phuong Thai Nguyen" userId="598680f98d4801c4" providerId="LiveId" clId="{C9FD751F-66AC-C94A-9685-49331B13CD07}" dt="2024-12-13T17:55:22.136" v="212" actId="478"/>
        <pc:sldMkLst>
          <pc:docMk/>
          <pc:sldMk cId="0" sldId="457"/>
        </pc:sldMkLst>
        <pc:spChg chg="mod">
          <ac:chgData name="Phuong Thai Nguyen" userId="598680f98d4801c4" providerId="LiveId" clId="{C9FD751F-66AC-C94A-9685-49331B13CD07}" dt="2024-12-13T17:55:11.357" v="211" actId="20577"/>
          <ac:spMkLst>
            <pc:docMk/>
            <pc:sldMk cId="0" sldId="457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05FB1-DF17-2144-B179-543D82C5A7EB}" type="datetimeFigureOut">
              <a:t>16/12/24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3027D-34ED-004D-B6AE-87E04D15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41475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5CA31-3845-D547-B215-1D37BD9EC633}" type="slidenum">
              <a:rPr lang="en-VN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60408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28267"/>
            <a:ext cx="39808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‹#›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‹#›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‹#›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‹#›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‹#›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11150"/>
          </a:xfrm>
          <a:custGeom>
            <a:avLst/>
            <a:gdLst/>
            <a:ahLst/>
            <a:cxnLst/>
            <a:rect l="l" t="t" r="r" b="b"/>
            <a:pathLst>
              <a:path w="5760085" h="311150">
                <a:moveTo>
                  <a:pt x="5759996" y="0"/>
                </a:moveTo>
                <a:lnTo>
                  <a:pt x="0" y="0"/>
                </a:lnTo>
                <a:lnTo>
                  <a:pt x="0" y="310832"/>
                </a:lnTo>
                <a:lnTo>
                  <a:pt x="5759996" y="310832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900" y="28267"/>
            <a:ext cx="55854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4177" y="545678"/>
            <a:ext cx="5090795" cy="2167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528" y="3118867"/>
            <a:ext cx="2162175" cy="121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46863" y="3118867"/>
            <a:ext cx="406400" cy="121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‹#›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75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75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slide" Target="slide75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788" y="699909"/>
            <a:ext cx="5380990" cy="264816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488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lang="en-US" dirty="0"/>
              <a:t>Recommender</a:t>
            </a:r>
            <a:r>
              <a:rPr lang="en-US" spc="345" dirty="0"/>
              <a:t> </a:t>
            </a:r>
            <a:r>
              <a:rPr lang="en-US" spc="-10" dirty="0"/>
              <a:t>systems</a:t>
            </a:r>
            <a:endParaRPr spc="35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 dirty="0"/>
              <a:t>mining</a:t>
            </a:r>
            <a:r>
              <a:rPr spc="95" dirty="0"/>
              <a:t> </a:t>
            </a:r>
            <a:r>
              <a:rPr spc="40" dirty="0"/>
              <a:t>course</a:t>
            </a:r>
            <a:r>
              <a:rPr spc="100" dirty="0"/>
              <a:t> </a:t>
            </a:r>
            <a:r>
              <a:rPr dirty="0"/>
              <a:t>@</a:t>
            </a:r>
            <a:r>
              <a:rPr spc="95" dirty="0"/>
              <a:t> </a:t>
            </a:r>
            <a:r>
              <a:rPr spc="45" dirty="0"/>
              <a:t>Xuan–Hieu</a:t>
            </a:r>
            <a:r>
              <a:rPr spc="95" dirty="0"/>
              <a:t> </a:t>
            </a:r>
            <a:r>
              <a:rPr spc="70" dirty="0"/>
              <a:t>Phan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816610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60" dirty="0">
                <a:solidFill>
                  <a:srgbClr val="7A0000"/>
                </a:solidFill>
                <a:latin typeface="Georgia"/>
                <a:cs typeface="Georgia"/>
                <a:hlinkClick r:id="" action="ppaction://noaction"/>
              </a:rPr>
              <a:t>data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" action="ppaction://noaction"/>
              </a:rPr>
              <a:t>understanding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5770" y="3118867"/>
            <a:ext cx="351790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z="600" spc="105" dirty="0">
                <a:solidFill>
                  <a:srgbClr val="7A0000"/>
                </a:solidFill>
                <a:latin typeface="Georgia"/>
                <a:cs typeface="Georgia"/>
              </a:rPr>
              <a:t>1</a:t>
            </a:fld>
            <a:r>
              <a:rPr sz="600" spc="-25" dirty="0">
                <a:solidFill>
                  <a:srgbClr val="7A0000"/>
                </a:solidFill>
                <a:latin typeface="Georgia"/>
                <a:cs typeface="Georgia"/>
              </a:rPr>
              <a:t> </a:t>
            </a:r>
            <a:r>
              <a:rPr sz="600" spc="80" dirty="0">
                <a:solidFill>
                  <a:srgbClr val="7A0000"/>
                </a:solidFill>
                <a:latin typeface="Georgia"/>
                <a:cs typeface="Georgia"/>
              </a:rPr>
              <a:t>/</a:t>
            </a:r>
            <a:r>
              <a:rPr sz="600" spc="-25" dirty="0">
                <a:solidFill>
                  <a:srgbClr val="7A0000"/>
                </a:solidFill>
                <a:latin typeface="Georgia"/>
                <a:cs typeface="Georgia"/>
              </a:rPr>
              <a:t> </a:t>
            </a:r>
            <a:r>
              <a:rPr sz="600" spc="40" dirty="0">
                <a:solidFill>
                  <a:srgbClr val="7A0000"/>
                </a:solidFill>
                <a:latin typeface="Georgia"/>
                <a:cs typeface="Georgia"/>
              </a:rPr>
              <a:t>106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AA6230F7-0266-008B-3930-52C501376680}"/>
              </a:ext>
            </a:extLst>
          </p:cNvPr>
          <p:cNvSpPr txBox="1"/>
          <p:nvPr/>
        </p:nvSpPr>
        <p:spPr>
          <a:xfrm>
            <a:off x="1358900" y="1264093"/>
            <a:ext cx="3352800" cy="5764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vi-VN" sz="1050" spc="-50" dirty="0">
                <a:latin typeface="Georgia"/>
                <a:cs typeface="Georgia"/>
              </a:rPr>
              <a:t>Lecturer: Assoc.Prof. Nguyễn Phương Thái</a:t>
            </a:r>
          </a:p>
          <a:p>
            <a:pPr marL="12700" marR="5080" algn="ctr">
              <a:lnSpc>
                <a:spcPct val="113300"/>
              </a:lnSpc>
              <a:spcBef>
                <a:spcPts val="1095"/>
              </a:spcBef>
            </a:pPr>
            <a:r>
              <a:rPr sz="800" spc="45" dirty="0">
                <a:latin typeface="Georgia"/>
                <a:cs typeface="Georgia"/>
              </a:rPr>
              <a:t>VNU</a:t>
            </a:r>
            <a:r>
              <a:rPr sz="800" spc="75" dirty="0">
                <a:latin typeface="Georgia"/>
                <a:cs typeface="Georgia"/>
              </a:rPr>
              <a:t> </a:t>
            </a:r>
            <a:r>
              <a:rPr sz="800" spc="10" dirty="0">
                <a:latin typeface="Georgia"/>
                <a:cs typeface="Georgia"/>
              </a:rPr>
              <a:t>University</a:t>
            </a:r>
            <a:r>
              <a:rPr sz="800" spc="75" dirty="0">
                <a:latin typeface="Georgia"/>
                <a:cs typeface="Georgia"/>
              </a:rPr>
              <a:t> </a:t>
            </a:r>
            <a:r>
              <a:rPr sz="800" spc="-5" dirty="0">
                <a:latin typeface="Georgia"/>
                <a:cs typeface="Georgia"/>
              </a:rPr>
              <a:t>of</a:t>
            </a:r>
            <a:r>
              <a:rPr sz="800" spc="75" dirty="0">
                <a:latin typeface="Georgia"/>
                <a:cs typeface="Georgia"/>
              </a:rPr>
              <a:t> </a:t>
            </a:r>
            <a:r>
              <a:rPr sz="800" spc="5" dirty="0">
                <a:latin typeface="Georgia"/>
                <a:cs typeface="Georgia"/>
              </a:rPr>
              <a:t>Engineering</a:t>
            </a:r>
            <a:r>
              <a:rPr sz="800" spc="80" dirty="0">
                <a:latin typeface="Georgia"/>
                <a:cs typeface="Georgia"/>
              </a:rPr>
              <a:t> </a:t>
            </a:r>
            <a:r>
              <a:rPr sz="800" spc="5" dirty="0">
                <a:latin typeface="Georgia"/>
                <a:cs typeface="Georgia"/>
              </a:rPr>
              <a:t>and</a:t>
            </a:r>
            <a:r>
              <a:rPr sz="800" spc="80" dirty="0">
                <a:latin typeface="Georgia"/>
                <a:cs typeface="Georgia"/>
              </a:rPr>
              <a:t> </a:t>
            </a:r>
            <a:r>
              <a:rPr sz="800" spc="5" dirty="0">
                <a:latin typeface="Georgia"/>
                <a:cs typeface="Georgia"/>
              </a:rPr>
              <a:t>Technology</a:t>
            </a:r>
            <a:endParaRPr sz="12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lang="vi-VN" sz="800" spc="15" dirty="0">
                <a:latin typeface="Georgia"/>
                <a:cs typeface="Georgia"/>
              </a:rPr>
              <a:t>Slide:</a:t>
            </a:r>
            <a:r>
              <a:rPr lang="vi-VN" sz="800" i="1" spc="15" dirty="0">
                <a:latin typeface="Georgia"/>
                <a:cs typeface="Georgia"/>
              </a:rPr>
              <a:t> from Assoc.Prof. Phan Xuân Hiếu, </a:t>
            </a:r>
            <a:r>
              <a:rPr sz="800" i="1" spc="15" dirty="0">
                <a:latin typeface="Georgia"/>
                <a:cs typeface="Georgia"/>
              </a:rPr>
              <a:t>Updated:</a:t>
            </a:r>
            <a:r>
              <a:rPr sz="800" i="1" spc="165" dirty="0">
                <a:latin typeface="Georgia"/>
                <a:cs typeface="Georgia"/>
              </a:rPr>
              <a:t> </a:t>
            </a:r>
            <a:r>
              <a:rPr lang="en-VN" sz="800" i="1" spc="10" dirty="0">
                <a:latin typeface="Georgia"/>
                <a:cs typeface="Georgia"/>
              </a:rPr>
              <a:t>April 25</a:t>
            </a:r>
            <a:r>
              <a:rPr sz="800" i="1" spc="45" dirty="0">
                <a:latin typeface="Georgia"/>
                <a:cs typeface="Georgia"/>
              </a:rPr>
              <a:t>,</a:t>
            </a:r>
            <a:r>
              <a:rPr sz="800" i="1" spc="70" dirty="0">
                <a:latin typeface="Georgia"/>
                <a:cs typeface="Georgia"/>
              </a:rPr>
              <a:t> </a:t>
            </a:r>
            <a:r>
              <a:rPr sz="800" i="1" spc="-40" dirty="0">
                <a:latin typeface="Georgia"/>
                <a:cs typeface="Georgia"/>
              </a:rPr>
              <a:t>202</a:t>
            </a:r>
            <a:r>
              <a:rPr lang="vi-VN" sz="800" i="1" spc="-40" dirty="0">
                <a:latin typeface="Georgia"/>
                <a:cs typeface="Georgia"/>
              </a:rPr>
              <a:t>4</a:t>
            </a:r>
            <a:endParaRPr sz="800" i="1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What</a:t>
            </a:r>
            <a:r>
              <a:rPr spc="145" dirty="0"/>
              <a:t> </a:t>
            </a:r>
            <a:r>
              <a:rPr dirty="0"/>
              <a:t>is</a:t>
            </a:r>
            <a:r>
              <a:rPr spc="155" dirty="0"/>
              <a:t> </a:t>
            </a:r>
            <a:r>
              <a:rPr spc="55" dirty="0"/>
              <a:t>a</a:t>
            </a:r>
            <a:r>
              <a:rPr spc="145" dirty="0"/>
              <a:t> </a:t>
            </a:r>
            <a:r>
              <a:rPr dirty="0"/>
              <a:t>recommender</a:t>
            </a:r>
            <a:r>
              <a:rPr spc="155" dirty="0"/>
              <a:t> </a:t>
            </a:r>
            <a:r>
              <a:rPr spc="-10" dirty="0"/>
              <a:t>system?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" y="393649"/>
            <a:ext cx="5469890" cy="179070"/>
          </a:xfrm>
          <a:prstGeom prst="rect">
            <a:avLst/>
          </a:prstGeom>
          <a:solidFill>
            <a:srgbClr val="B2D8D8"/>
          </a:solidFill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ct val="100000"/>
              </a:lnSpc>
            </a:pPr>
            <a:r>
              <a:rPr sz="1100" spc="-25" dirty="0">
                <a:latin typeface="Georgia"/>
                <a:cs typeface="Georgia"/>
              </a:rPr>
              <a:t>Definition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from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Nvidia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" y="572198"/>
            <a:ext cx="5469890" cy="800735"/>
          </a:xfrm>
          <a:prstGeom prst="rect">
            <a:avLst/>
          </a:prstGeom>
          <a:solidFill>
            <a:srgbClr val="EBEBEB"/>
          </a:solidFill>
        </p:spPr>
        <p:txBody>
          <a:bodyPr vert="horz" wrap="square" lIns="0" tIns="29209" rIns="0" bIns="0" rtlCol="0">
            <a:spAutoFit/>
          </a:bodyPr>
          <a:lstStyle/>
          <a:p>
            <a:pPr marL="44450" marR="66675">
              <a:lnSpc>
                <a:spcPts val="1150"/>
              </a:lnSpc>
              <a:spcBef>
                <a:spcPts val="229"/>
              </a:spcBef>
            </a:pPr>
            <a:r>
              <a:rPr sz="1000" i="1" dirty="0">
                <a:latin typeface="Palatino Linotype"/>
                <a:cs typeface="Palatino Linotype"/>
              </a:rPr>
              <a:t>A</a:t>
            </a:r>
            <a:r>
              <a:rPr sz="1000" i="1" spc="25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recommendation</a:t>
            </a:r>
            <a:r>
              <a:rPr sz="1000" i="1" spc="25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system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is</a:t>
            </a:r>
            <a:r>
              <a:rPr sz="1000" i="1" spc="25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an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b="1" i="1" dirty="0">
                <a:latin typeface="Cambria"/>
                <a:cs typeface="Cambria"/>
              </a:rPr>
              <a:t>artificial</a:t>
            </a:r>
            <a:r>
              <a:rPr sz="1000" b="1" i="1" spc="365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intelligence</a:t>
            </a:r>
            <a:r>
              <a:rPr sz="1000" b="1" i="1" spc="300" dirty="0">
                <a:latin typeface="Cambria"/>
                <a:cs typeface="Cambria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algorithm,</a:t>
            </a:r>
            <a:r>
              <a:rPr sz="1000" i="1" spc="25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usually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associated</a:t>
            </a:r>
            <a:r>
              <a:rPr sz="1000" i="1" spc="250" dirty="0">
                <a:latin typeface="Palatino Linotype"/>
                <a:cs typeface="Palatino Linotype"/>
              </a:rPr>
              <a:t> </a:t>
            </a:r>
            <a:r>
              <a:rPr sz="1000" i="1" spc="-20" dirty="0">
                <a:latin typeface="Palatino Linotype"/>
                <a:cs typeface="Palatino Linotype"/>
              </a:rPr>
              <a:t>with </a:t>
            </a:r>
            <a:r>
              <a:rPr sz="1000" b="1" i="1" dirty="0">
                <a:latin typeface="Cambria"/>
                <a:cs typeface="Cambria"/>
              </a:rPr>
              <a:t>machine</a:t>
            </a:r>
            <a:r>
              <a:rPr sz="1000" b="1" i="1" spc="320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learning</a:t>
            </a:r>
            <a:r>
              <a:rPr sz="1000" i="1" dirty="0">
                <a:latin typeface="Palatino Linotype"/>
                <a:cs typeface="Palatino Linotype"/>
              </a:rPr>
              <a:t>,</a:t>
            </a:r>
            <a:r>
              <a:rPr sz="1000" i="1" spc="21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that</a:t>
            </a:r>
            <a:r>
              <a:rPr sz="1000" i="1" spc="21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uses</a:t>
            </a:r>
            <a:r>
              <a:rPr sz="1000" i="1" spc="210" dirty="0">
                <a:latin typeface="Palatino Linotype"/>
                <a:cs typeface="Palatino Linotype"/>
              </a:rPr>
              <a:t> </a:t>
            </a:r>
            <a:r>
              <a:rPr sz="1000" b="1" i="1" dirty="0">
                <a:latin typeface="Cambria"/>
                <a:cs typeface="Cambria"/>
              </a:rPr>
              <a:t>big</a:t>
            </a:r>
            <a:r>
              <a:rPr sz="1000" b="1" i="1" spc="320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data</a:t>
            </a:r>
            <a:r>
              <a:rPr sz="1000" b="1" i="1" spc="250" dirty="0">
                <a:latin typeface="Cambria"/>
                <a:cs typeface="Cambria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to</a:t>
            </a:r>
            <a:r>
              <a:rPr sz="1000" i="1" spc="21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suggest</a:t>
            </a:r>
            <a:r>
              <a:rPr sz="1000" i="1" spc="21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or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recommend</a:t>
            </a:r>
            <a:r>
              <a:rPr sz="1000" i="1" spc="204" dirty="0">
                <a:latin typeface="Palatino Linotype"/>
                <a:cs typeface="Palatino Linotype"/>
              </a:rPr>
              <a:t> </a:t>
            </a:r>
            <a:r>
              <a:rPr sz="1000" b="1" i="1" dirty="0">
                <a:latin typeface="Cambria"/>
                <a:cs typeface="Cambria"/>
              </a:rPr>
              <a:t>additional</a:t>
            </a:r>
            <a:r>
              <a:rPr sz="1000" b="1" i="1" spc="320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products</a:t>
            </a:r>
            <a:r>
              <a:rPr sz="1000" b="1" i="1" spc="254" dirty="0">
                <a:latin typeface="Cambria"/>
                <a:cs typeface="Cambria"/>
              </a:rPr>
              <a:t> </a:t>
            </a:r>
            <a:r>
              <a:rPr sz="1000" i="1" spc="-25" dirty="0">
                <a:latin typeface="Palatino Linotype"/>
                <a:cs typeface="Palatino Linotype"/>
              </a:rPr>
              <a:t>to </a:t>
            </a:r>
            <a:r>
              <a:rPr sz="1000" i="1" dirty="0">
                <a:latin typeface="Palatino Linotype"/>
                <a:cs typeface="Palatino Linotype"/>
              </a:rPr>
              <a:t>consumers.</a:t>
            </a:r>
            <a:r>
              <a:rPr sz="1000" i="1" spc="34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These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can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be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based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on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various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criteria,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including</a:t>
            </a:r>
            <a:r>
              <a:rPr sz="1000" i="1" spc="225" dirty="0">
                <a:latin typeface="Palatino Linotype"/>
                <a:cs typeface="Palatino Linotype"/>
              </a:rPr>
              <a:t> </a:t>
            </a:r>
            <a:r>
              <a:rPr sz="1000" b="1" i="1" dirty="0">
                <a:latin typeface="Cambria"/>
                <a:cs typeface="Cambria"/>
              </a:rPr>
              <a:t>past</a:t>
            </a:r>
            <a:r>
              <a:rPr sz="1000" b="1" i="1" spc="325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purchases</a:t>
            </a:r>
            <a:r>
              <a:rPr sz="1000" i="1" dirty="0">
                <a:latin typeface="Palatino Linotype"/>
                <a:cs typeface="Palatino Linotype"/>
              </a:rPr>
              <a:t>,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b="1" i="1" dirty="0">
                <a:latin typeface="Cambria"/>
                <a:cs typeface="Cambria"/>
              </a:rPr>
              <a:t>search</a:t>
            </a:r>
            <a:r>
              <a:rPr sz="1000" b="1" i="1" spc="325" dirty="0">
                <a:latin typeface="Cambria"/>
                <a:cs typeface="Cambria"/>
              </a:rPr>
              <a:t> </a:t>
            </a:r>
            <a:r>
              <a:rPr sz="1000" b="1" i="1" spc="-10" dirty="0">
                <a:latin typeface="Cambria"/>
                <a:cs typeface="Cambria"/>
              </a:rPr>
              <a:t>history</a:t>
            </a:r>
            <a:r>
              <a:rPr sz="1000" i="1" spc="-10" dirty="0">
                <a:latin typeface="Palatino Linotype"/>
                <a:cs typeface="Palatino Linotype"/>
              </a:rPr>
              <a:t>, </a:t>
            </a:r>
            <a:r>
              <a:rPr sz="1000" b="1" i="1" spc="20" dirty="0">
                <a:latin typeface="Cambria"/>
                <a:cs typeface="Cambria"/>
              </a:rPr>
              <a:t>demographic</a:t>
            </a:r>
            <a:r>
              <a:rPr sz="1000" b="1" i="1" spc="229" dirty="0">
                <a:latin typeface="Cambria"/>
                <a:cs typeface="Cambria"/>
              </a:rPr>
              <a:t> </a:t>
            </a:r>
            <a:r>
              <a:rPr sz="1000" b="1" i="1" spc="20" dirty="0">
                <a:latin typeface="Cambria"/>
                <a:cs typeface="Cambria"/>
              </a:rPr>
              <a:t>information</a:t>
            </a:r>
            <a:r>
              <a:rPr sz="1000" i="1" spc="20" dirty="0">
                <a:latin typeface="Palatino Linotype"/>
                <a:cs typeface="Palatino Linotype"/>
              </a:rPr>
              <a:t>,</a:t>
            </a:r>
            <a:r>
              <a:rPr sz="1000" i="1" spc="13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and</a:t>
            </a:r>
            <a:r>
              <a:rPr sz="1000" i="1" spc="13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other</a:t>
            </a:r>
            <a:r>
              <a:rPr sz="1000" i="1" spc="13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factors.</a:t>
            </a:r>
            <a:r>
              <a:rPr sz="1000" i="1" spc="24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Recommender</a:t>
            </a:r>
            <a:r>
              <a:rPr sz="1000" i="1" spc="13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systems</a:t>
            </a:r>
            <a:r>
              <a:rPr sz="1000" i="1" spc="13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are</a:t>
            </a:r>
            <a:r>
              <a:rPr sz="1000" i="1" spc="135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highly</a:t>
            </a:r>
            <a:r>
              <a:rPr sz="1000" i="1" spc="13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useful</a:t>
            </a:r>
            <a:r>
              <a:rPr sz="1000" i="1" spc="13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as</a:t>
            </a:r>
            <a:r>
              <a:rPr sz="1000" i="1" spc="135" dirty="0">
                <a:latin typeface="Palatino Linotype"/>
                <a:cs typeface="Palatino Linotype"/>
              </a:rPr>
              <a:t> </a:t>
            </a:r>
            <a:r>
              <a:rPr sz="1000" i="1" spc="-20" dirty="0">
                <a:latin typeface="Palatino Linotype"/>
                <a:cs typeface="Palatino Linotype"/>
              </a:rPr>
              <a:t>they </a:t>
            </a:r>
            <a:r>
              <a:rPr sz="1000" i="1" dirty="0">
                <a:latin typeface="Palatino Linotype"/>
                <a:cs typeface="Palatino Linotype"/>
              </a:rPr>
              <a:t>help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users</a:t>
            </a:r>
            <a:r>
              <a:rPr sz="1000" i="1" spc="220" dirty="0">
                <a:latin typeface="Palatino Linotype"/>
                <a:cs typeface="Palatino Linotype"/>
              </a:rPr>
              <a:t> </a:t>
            </a:r>
            <a:r>
              <a:rPr sz="1000" b="1" i="1" dirty="0">
                <a:latin typeface="Cambria"/>
                <a:cs typeface="Cambria"/>
              </a:rPr>
              <a:t>discover</a:t>
            </a:r>
            <a:r>
              <a:rPr sz="1000" b="1" i="1" spc="325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products</a:t>
            </a:r>
            <a:r>
              <a:rPr sz="1000" b="1" i="1" spc="254" dirty="0">
                <a:latin typeface="Cambria"/>
                <a:cs typeface="Cambria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and</a:t>
            </a:r>
            <a:r>
              <a:rPr sz="1000" i="1" spc="220" dirty="0">
                <a:latin typeface="Palatino Linotype"/>
                <a:cs typeface="Palatino Linotype"/>
              </a:rPr>
              <a:t> </a:t>
            </a:r>
            <a:r>
              <a:rPr sz="1000" b="1" i="1" dirty="0">
                <a:latin typeface="Cambria"/>
                <a:cs typeface="Cambria"/>
              </a:rPr>
              <a:t>services</a:t>
            </a:r>
            <a:r>
              <a:rPr sz="1000" b="1" i="1" spc="254" dirty="0">
                <a:latin typeface="Cambria"/>
                <a:cs typeface="Cambria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they</a:t>
            </a:r>
            <a:r>
              <a:rPr sz="1000" i="1" spc="22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might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otherwise</a:t>
            </a:r>
            <a:r>
              <a:rPr sz="1000" i="1" spc="22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have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not</a:t>
            </a:r>
            <a:r>
              <a:rPr sz="1000" i="1" spc="22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found</a:t>
            </a:r>
            <a:r>
              <a:rPr sz="1000" i="1" spc="22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on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their</a:t>
            </a:r>
            <a:r>
              <a:rPr sz="1000" i="1" spc="220" dirty="0">
                <a:latin typeface="Palatino Linotype"/>
                <a:cs typeface="Palatino Linotype"/>
              </a:rPr>
              <a:t> </a:t>
            </a:r>
            <a:r>
              <a:rPr sz="1000" i="1" spc="-20" dirty="0">
                <a:latin typeface="Palatino Linotype"/>
                <a:cs typeface="Palatino Linotype"/>
              </a:rPr>
              <a:t>own.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59" y="1499361"/>
            <a:ext cx="5469890" cy="205740"/>
          </a:xfrm>
          <a:prstGeom prst="rect">
            <a:avLst/>
          </a:prstGeom>
          <a:solidFill>
            <a:srgbClr val="B2D8D8"/>
          </a:solidFill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ct val="100000"/>
              </a:lnSpc>
            </a:pPr>
            <a:r>
              <a:rPr sz="1100" spc="-25" dirty="0">
                <a:latin typeface="Georgia"/>
                <a:cs typeface="Georgia"/>
              </a:rPr>
              <a:t>Definition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from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Wikipedia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059" y="1704860"/>
            <a:ext cx="5469890" cy="361950"/>
          </a:xfrm>
          <a:prstGeom prst="rect">
            <a:avLst/>
          </a:prstGeom>
          <a:solidFill>
            <a:srgbClr val="EBEBEB"/>
          </a:solidFill>
        </p:spPr>
        <p:txBody>
          <a:bodyPr vert="horz" wrap="square" lIns="0" tIns="19050" rIns="0" bIns="0" rtlCol="0">
            <a:spAutoFit/>
          </a:bodyPr>
          <a:lstStyle/>
          <a:p>
            <a:pPr marL="44450">
              <a:lnSpc>
                <a:spcPts val="1175"/>
              </a:lnSpc>
              <a:spcBef>
                <a:spcPts val="150"/>
              </a:spcBef>
            </a:pPr>
            <a:r>
              <a:rPr sz="1000" i="1" spc="10" dirty="0">
                <a:latin typeface="Palatino Linotype"/>
                <a:cs typeface="Palatino Linotype"/>
              </a:rPr>
              <a:t>A</a:t>
            </a:r>
            <a:r>
              <a:rPr sz="1000" i="1" spc="180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recommender</a:t>
            </a:r>
            <a:r>
              <a:rPr sz="1000" i="1" spc="180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system,</a:t>
            </a:r>
            <a:r>
              <a:rPr sz="1000" i="1" spc="185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or</a:t>
            </a:r>
            <a:r>
              <a:rPr sz="1000" i="1" spc="180" dirty="0">
                <a:latin typeface="Palatino Linotype"/>
                <a:cs typeface="Palatino Linotype"/>
              </a:rPr>
              <a:t> </a:t>
            </a:r>
            <a:r>
              <a:rPr sz="1000" i="1" spc="55" dirty="0">
                <a:latin typeface="Palatino Linotype"/>
                <a:cs typeface="Palatino Linotype"/>
              </a:rPr>
              <a:t>a</a:t>
            </a:r>
            <a:r>
              <a:rPr sz="1000" i="1" spc="180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recommendation</a:t>
            </a:r>
            <a:r>
              <a:rPr sz="1000" i="1" spc="185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system,</a:t>
            </a:r>
            <a:r>
              <a:rPr sz="1000" i="1" spc="180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is</a:t>
            </a:r>
            <a:r>
              <a:rPr sz="1000" i="1" spc="180" dirty="0">
                <a:latin typeface="Palatino Linotype"/>
                <a:cs typeface="Palatino Linotype"/>
              </a:rPr>
              <a:t> </a:t>
            </a:r>
            <a:r>
              <a:rPr sz="1000" i="1" spc="55" dirty="0">
                <a:latin typeface="Palatino Linotype"/>
                <a:cs typeface="Palatino Linotype"/>
              </a:rPr>
              <a:t>a</a:t>
            </a:r>
            <a:r>
              <a:rPr sz="1000" i="1" spc="185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subclass</a:t>
            </a:r>
            <a:r>
              <a:rPr sz="1000" i="1" spc="180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of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b="1" i="1" spc="10" dirty="0">
                <a:latin typeface="Cambria"/>
                <a:cs typeface="Cambria"/>
              </a:rPr>
              <a:t>information</a:t>
            </a:r>
            <a:r>
              <a:rPr sz="1000" b="1" i="1" spc="285" dirty="0">
                <a:latin typeface="Cambria"/>
                <a:cs typeface="Cambria"/>
              </a:rPr>
              <a:t> </a:t>
            </a:r>
            <a:r>
              <a:rPr sz="1000" b="1" i="1" spc="-10" dirty="0">
                <a:latin typeface="Cambria"/>
                <a:cs typeface="Cambria"/>
              </a:rPr>
              <a:t>filtering</a:t>
            </a:r>
            <a:endParaRPr sz="1000">
              <a:latin typeface="Cambria"/>
              <a:cs typeface="Cambria"/>
            </a:endParaRPr>
          </a:p>
          <a:p>
            <a:pPr marL="44450">
              <a:lnSpc>
                <a:spcPts val="1175"/>
              </a:lnSpc>
            </a:pPr>
            <a:r>
              <a:rPr sz="1000" i="1" dirty="0">
                <a:latin typeface="Palatino Linotype"/>
                <a:cs typeface="Palatino Linotype"/>
              </a:rPr>
              <a:t>system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that</a:t>
            </a:r>
            <a:r>
              <a:rPr sz="1000" i="1" spc="20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provide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b="1" i="1" dirty="0">
                <a:latin typeface="Cambria"/>
                <a:cs typeface="Cambria"/>
              </a:rPr>
              <a:t>suggestions</a:t>
            </a:r>
            <a:r>
              <a:rPr sz="1000" b="1" i="1" spc="315" dirty="0">
                <a:latin typeface="Cambria"/>
                <a:cs typeface="Cambria"/>
              </a:rPr>
              <a:t> </a:t>
            </a:r>
            <a:r>
              <a:rPr sz="1000" b="1" i="1" spc="50" dirty="0">
                <a:latin typeface="Cambria"/>
                <a:cs typeface="Cambria"/>
              </a:rPr>
              <a:t>for</a:t>
            </a:r>
            <a:r>
              <a:rPr sz="1000" b="1" i="1" spc="310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items</a:t>
            </a:r>
            <a:r>
              <a:rPr sz="1000" b="1" i="1" spc="245" dirty="0">
                <a:latin typeface="Cambria"/>
                <a:cs typeface="Cambria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that</a:t>
            </a:r>
            <a:r>
              <a:rPr sz="1000" i="1" spc="20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are</a:t>
            </a:r>
            <a:r>
              <a:rPr sz="1000" i="1" spc="20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most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b="1" i="1" dirty="0">
                <a:latin typeface="Cambria"/>
                <a:cs typeface="Cambria"/>
              </a:rPr>
              <a:t>pertinent</a:t>
            </a:r>
            <a:r>
              <a:rPr sz="1000" b="1" i="1" spc="240" dirty="0">
                <a:latin typeface="Cambria"/>
                <a:cs typeface="Cambria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to</a:t>
            </a:r>
            <a:r>
              <a:rPr sz="1000" i="1" spc="204" dirty="0">
                <a:latin typeface="Palatino Linotype"/>
                <a:cs typeface="Palatino Linotype"/>
              </a:rPr>
              <a:t> </a:t>
            </a:r>
            <a:r>
              <a:rPr sz="1000" i="1" spc="55" dirty="0">
                <a:latin typeface="Palatino Linotype"/>
                <a:cs typeface="Palatino Linotype"/>
              </a:rPr>
              <a:t>a</a:t>
            </a:r>
            <a:r>
              <a:rPr sz="1000" i="1" spc="20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particular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user.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59" y="2193226"/>
            <a:ext cx="5469890" cy="179070"/>
          </a:xfrm>
          <a:prstGeom prst="rect">
            <a:avLst/>
          </a:prstGeom>
          <a:solidFill>
            <a:srgbClr val="B2D8D8"/>
          </a:solidFill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ct val="100000"/>
              </a:lnSpc>
            </a:pPr>
            <a:r>
              <a:rPr sz="1100" spc="-25" dirty="0">
                <a:latin typeface="Georgia"/>
                <a:cs typeface="Georgia"/>
              </a:rPr>
              <a:t>Definition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from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ChatGPT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059" y="2371775"/>
            <a:ext cx="5469890" cy="654685"/>
          </a:xfrm>
          <a:prstGeom prst="rect">
            <a:avLst/>
          </a:prstGeom>
          <a:solidFill>
            <a:srgbClr val="EBEBEB"/>
          </a:solidFill>
        </p:spPr>
        <p:txBody>
          <a:bodyPr vert="horz" wrap="square" lIns="0" tIns="29209" rIns="0" bIns="0" rtlCol="0">
            <a:spAutoFit/>
          </a:bodyPr>
          <a:lstStyle/>
          <a:p>
            <a:pPr marL="44450" marR="215900" algn="just">
              <a:lnSpc>
                <a:spcPts val="1150"/>
              </a:lnSpc>
              <a:spcBef>
                <a:spcPts val="229"/>
              </a:spcBef>
            </a:pPr>
            <a:r>
              <a:rPr sz="1000" i="1" dirty="0">
                <a:latin typeface="Palatino Linotype"/>
                <a:cs typeface="Palatino Linotype"/>
              </a:rPr>
              <a:t>A</a:t>
            </a:r>
            <a:r>
              <a:rPr sz="1000" i="1" spc="18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recommender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system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is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spc="55" dirty="0">
                <a:latin typeface="Palatino Linotype"/>
                <a:cs typeface="Palatino Linotype"/>
              </a:rPr>
              <a:t>a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type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of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information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filtering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system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that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predicts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and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recommends </a:t>
            </a:r>
            <a:r>
              <a:rPr sz="1000" i="1" dirty="0">
                <a:latin typeface="Palatino Linotype"/>
                <a:cs typeface="Palatino Linotype"/>
              </a:rPr>
              <a:t>items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to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users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based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on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their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past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behavior,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preferences,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and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interests.</a:t>
            </a:r>
            <a:r>
              <a:rPr sz="1000" i="1" spc="33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It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is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commonly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used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spc="-25" dirty="0">
                <a:latin typeface="Palatino Linotype"/>
                <a:cs typeface="Palatino Linotype"/>
              </a:rPr>
              <a:t>in </a:t>
            </a:r>
            <a:r>
              <a:rPr sz="1000" i="1" dirty="0">
                <a:latin typeface="Palatino Linotype"/>
                <a:cs typeface="Palatino Linotype"/>
              </a:rPr>
              <a:t>e-commerce,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social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media,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online</a:t>
            </a:r>
            <a:r>
              <a:rPr sz="1000" i="1" spc="26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content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platforms,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and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other</a:t>
            </a:r>
            <a:r>
              <a:rPr sz="1000" i="1" spc="26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applications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where</a:t>
            </a:r>
            <a:r>
              <a:rPr sz="1000" i="1" spc="254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personalized </a:t>
            </a:r>
            <a:r>
              <a:rPr sz="1000" i="1" dirty="0">
                <a:latin typeface="Palatino Linotype"/>
                <a:cs typeface="Palatino Linotype"/>
              </a:rPr>
              <a:t>recommendations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can</a:t>
            </a:r>
            <a:r>
              <a:rPr sz="1000" i="1" spc="22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improve</a:t>
            </a:r>
            <a:r>
              <a:rPr sz="1000" i="1" spc="21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the</a:t>
            </a:r>
            <a:r>
              <a:rPr sz="1000" i="1" spc="22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user</a:t>
            </a:r>
            <a:r>
              <a:rPr sz="1000" i="1" spc="220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experience.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0" name="object 10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2</a:t>
            </a:fld>
            <a:r>
              <a:rPr spc="-5" dirty="0"/>
              <a:t> </a:t>
            </a:r>
            <a:r>
              <a:rPr spc="75" dirty="0"/>
              <a:t>/</a:t>
            </a:r>
            <a:r>
              <a:rPr spc="-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31788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80" dirty="0">
                <a:solidFill>
                  <a:srgbClr val="CC0000"/>
                </a:solidFill>
                <a:latin typeface="Times New Roman"/>
                <a:cs typeface="Times New Roman"/>
              </a:rPr>
              <a:t>What</a:t>
            </a:r>
            <a:r>
              <a:rPr sz="1400" spc="16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is</a:t>
            </a:r>
            <a:r>
              <a:rPr sz="1400" spc="1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CC0000"/>
                </a:solidFill>
                <a:latin typeface="Times New Roman"/>
                <a:cs typeface="Times New Roman"/>
              </a:rPr>
              <a:t>a</a:t>
            </a:r>
            <a:r>
              <a:rPr sz="1400" spc="16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recommender</a:t>
            </a:r>
            <a:r>
              <a:rPr sz="1400" spc="17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system?</a:t>
            </a:r>
            <a:r>
              <a:rPr sz="1400" spc="34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CC0000"/>
                </a:solidFill>
                <a:latin typeface="Times New Roman"/>
                <a:cs typeface="Times New Roman"/>
              </a:rPr>
              <a:t>(cont’d)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989" y="488505"/>
            <a:ext cx="3688079" cy="21564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27871" y="2730317"/>
            <a:ext cx="9055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latin typeface="Georgia"/>
                <a:cs typeface="Georgia"/>
              </a:rPr>
              <a:t>[source:</a:t>
            </a:r>
            <a:r>
              <a:rPr sz="900" spc="114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Internet]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6" name="object 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</a:t>
            </a:fld>
            <a:r>
              <a:rPr spc="-5" dirty="0"/>
              <a:t> </a:t>
            </a:r>
            <a:r>
              <a:rPr spc="75" dirty="0"/>
              <a:t>/</a:t>
            </a:r>
            <a:r>
              <a:rPr spc="-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Two</a:t>
            </a:r>
            <a:r>
              <a:rPr spc="225" dirty="0"/>
              <a:t> </a:t>
            </a:r>
            <a:r>
              <a:rPr dirty="0"/>
              <a:t>primary</a:t>
            </a:r>
            <a:r>
              <a:rPr spc="235" dirty="0"/>
              <a:t> </a:t>
            </a:r>
            <a:r>
              <a:rPr dirty="0"/>
              <a:t>approaches</a:t>
            </a:r>
            <a:r>
              <a:rPr spc="235" dirty="0"/>
              <a:t> </a:t>
            </a:r>
            <a:r>
              <a:rPr dirty="0"/>
              <a:t>of</a:t>
            </a:r>
            <a:r>
              <a:rPr spc="225" dirty="0"/>
              <a:t> </a:t>
            </a:r>
            <a:r>
              <a:rPr dirty="0"/>
              <a:t>recommender</a:t>
            </a:r>
            <a:r>
              <a:rPr spc="229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1344218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582445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9016" y="1201620"/>
            <a:ext cx="2684780" cy="50228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56845" indent="-144145">
              <a:lnSpc>
                <a:spcPct val="100000"/>
              </a:lnSpc>
              <a:spcBef>
                <a:spcPts val="6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35" dirty="0">
                <a:latin typeface="Georgia"/>
                <a:cs typeface="Georgia"/>
              </a:rPr>
              <a:t>Recommendation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prediction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35" dirty="0">
                <a:latin typeface="Georgia"/>
                <a:cs typeface="Georgia"/>
              </a:rPr>
              <a:t>Recommendation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ranking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7" name="object 7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</a:t>
            </a:fld>
            <a:r>
              <a:rPr spc="-5" dirty="0"/>
              <a:t> </a:t>
            </a:r>
            <a:r>
              <a:rPr spc="75" dirty="0"/>
              <a:t>/</a:t>
            </a:r>
            <a:r>
              <a:rPr spc="-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Recommendation</a:t>
            </a:r>
            <a:r>
              <a:rPr spc="245" dirty="0"/>
              <a:t> </a:t>
            </a:r>
            <a:r>
              <a:rPr dirty="0"/>
              <a:t>as</a:t>
            </a:r>
            <a:r>
              <a:rPr spc="254" dirty="0"/>
              <a:t> </a:t>
            </a:r>
            <a:r>
              <a:rPr spc="55" dirty="0"/>
              <a:t>a</a:t>
            </a:r>
            <a:r>
              <a:rPr spc="254" dirty="0"/>
              <a:t> </a:t>
            </a:r>
            <a:r>
              <a:rPr dirty="0"/>
              <a:t>prediction</a:t>
            </a:r>
            <a:r>
              <a:rPr spc="254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102919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26742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972" y="148842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68398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84903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31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pc="-10" dirty="0"/>
              <a:t>Predicting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rating</a:t>
            </a:r>
            <a:r>
              <a:rPr spc="25" dirty="0"/>
              <a:t> </a:t>
            </a:r>
            <a:r>
              <a:rPr spc="-10" dirty="0"/>
              <a:t>value</a:t>
            </a:r>
            <a:r>
              <a:rPr spc="30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45" dirty="0"/>
              <a:t>user–item</a:t>
            </a:r>
            <a:r>
              <a:rPr spc="25" dirty="0"/>
              <a:t> </a:t>
            </a:r>
            <a:r>
              <a:rPr spc="-10" dirty="0"/>
              <a:t>combination.</a:t>
            </a:r>
          </a:p>
          <a:p>
            <a:pPr marL="12700" marR="5080">
              <a:lnSpc>
                <a:spcPct val="131800"/>
              </a:lnSpc>
              <a:spcBef>
                <a:spcPts val="135"/>
              </a:spcBef>
            </a:pPr>
            <a:r>
              <a:rPr spc="-20" dirty="0"/>
              <a:t>Assuming</a:t>
            </a:r>
            <a:r>
              <a:rPr spc="45" dirty="0"/>
              <a:t> </a:t>
            </a:r>
            <a:r>
              <a:rPr dirty="0"/>
              <a:t>that</a:t>
            </a:r>
            <a:r>
              <a:rPr spc="4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i="1" dirty="0">
                <a:latin typeface="Palatino Linotype"/>
                <a:cs typeface="Palatino Linotype"/>
              </a:rPr>
              <a:t>training</a:t>
            </a:r>
            <a:r>
              <a:rPr i="1" spc="114" dirty="0">
                <a:latin typeface="Palatino Linotype"/>
                <a:cs typeface="Palatino Linotype"/>
              </a:rPr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dirty="0"/>
              <a:t>is</a:t>
            </a:r>
            <a:r>
              <a:rPr spc="45" dirty="0"/>
              <a:t> </a:t>
            </a:r>
            <a:r>
              <a:rPr spc="-20" dirty="0"/>
              <a:t>available,</a:t>
            </a:r>
            <a:r>
              <a:rPr spc="45" dirty="0"/>
              <a:t> </a:t>
            </a:r>
            <a:r>
              <a:rPr spc="-20" dirty="0"/>
              <a:t>indicating</a:t>
            </a:r>
            <a:r>
              <a:rPr spc="50" dirty="0"/>
              <a:t> </a:t>
            </a:r>
            <a:r>
              <a:rPr spc="-20" dirty="0"/>
              <a:t>user</a:t>
            </a:r>
            <a:r>
              <a:rPr spc="45" dirty="0"/>
              <a:t> </a:t>
            </a:r>
            <a:r>
              <a:rPr spc="-35" dirty="0"/>
              <a:t>preferences</a:t>
            </a:r>
            <a:r>
              <a:rPr spc="45" dirty="0"/>
              <a:t> </a:t>
            </a:r>
            <a:r>
              <a:rPr dirty="0"/>
              <a:t>for</a:t>
            </a:r>
            <a:r>
              <a:rPr spc="50" dirty="0"/>
              <a:t> </a:t>
            </a:r>
            <a:r>
              <a:rPr spc="-10" dirty="0"/>
              <a:t>items. For</a:t>
            </a:r>
            <a:r>
              <a:rPr spc="25" dirty="0"/>
              <a:t> </a:t>
            </a:r>
            <a:r>
              <a:rPr i="1" dirty="0">
                <a:latin typeface="Georgia"/>
                <a:cs typeface="Georgia"/>
              </a:rPr>
              <a:t>m</a:t>
            </a:r>
            <a:r>
              <a:rPr i="1" spc="55" dirty="0">
                <a:latin typeface="Georgia"/>
                <a:cs typeface="Georgia"/>
              </a:rPr>
              <a:t> </a:t>
            </a:r>
            <a:r>
              <a:rPr spc="-30" dirty="0"/>
              <a:t>users</a:t>
            </a:r>
            <a:r>
              <a:rPr spc="55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i="1" dirty="0">
                <a:latin typeface="Georgia"/>
                <a:cs typeface="Georgia"/>
              </a:rPr>
              <a:t>n</a:t>
            </a:r>
            <a:r>
              <a:rPr i="1" spc="50" dirty="0">
                <a:latin typeface="Georgia"/>
                <a:cs typeface="Georgia"/>
              </a:rPr>
              <a:t> </a:t>
            </a:r>
            <a:r>
              <a:rPr spc="-10" dirty="0"/>
              <a:t>items,</a:t>
            </a:r>
            <a:r>
              <a:rPr spc="55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spc="-20" dirty="0"/>
              <a:t>user</a:t>
            </a:r>
            <a:r>
              <a:rPr spc="55" dirty="0"/>
              <a:t> </a:t>
            </a:r>
            <a:r>
              <a:rPr spc="-10" dirty="0"/>
              <a:t>ratings</a:t>
            </a:r>
            <a:r>
              <a:rPr spc="55" dirty="0"/>
              <a:t> </a:t>
            </a:r>
            <a:r>
              <a:rPr dirty="0"/>
              <a:t>are</a:t>
            </a:r>
            <a:r>
              <a:rPr spc="55" dirty="0"/>
              <a:t> </a:t>
            </a:r>
            <a:r>
              <a:rPr dirty="0"/>
              <a:t>an</a:t>
            </a:r>
            <a:r>
              <a:rPr spc="55" dirty="0"/>
              <a:t> </a:t>
            </a:r>
            <a:r>
              <a:rPr i="1" dirty="0">
                <a:latin typeface="Palatino Linotype"/>
                <a:cs typeface="Palatino Linotype"/>
              </a:rPr>
              <a:t>incomplete</a:t>
            </a:r>
            <a:r>
              <a:rPr i="1" spc="114" dirty="0">
                <a:latin typeface="Palatino Linotype"/>
                <a:cs typeface="Palatino Linotype"/>
              </a:rPr>
              <a:t> </a:t>
            </a:r>
            <a:r>
              <a:rPr i="1" dirty="0">
                <a:latin typeface="Georgia"/>
                <a:cs typeface="Georgia"/>
              </a:rPr>
              <a:t>m</a:t>
            </a:r>
            <a:r>
              <a:rPr i="1" spc="-55" dirty="0">
                <a:latin typeface="Georgia"/>
                <a:cs typeface="Georgia"/>
              </a:rPr>
              <a:t> </a:t>
            </a:r>
            <a:r>
              <a:rPr i="1" spc="-50" dirty="0">
                <a:latin typeface="Meiryo UI"/>
                <a:cs typeface="Meiryo UI"/>
              </a:rPr>
              <a:t>×</a:t>
            </a:r>
            <a:r>
              <a:rPr i="1" spc="-135" dirty="0">
                <a:latin typeface="Meiryo UI"/>
                <a:cs typeface="Meiryo UI"/>
              </a:rPr>
              <a:t> </a:t>
            </a:r>
            <a:r>
              <a:rPr i="1" dirty="0">
                <a:latin typeface="Georgia"/>
                <a:cs typeface="Georgia"/>
              </a:rPr>
              <a:t>n</a:t>
            </a:r>
            <a:r>
              <a:rPr i="1" spc="55" dirty="0">
                <a:latin typeface="Georgia"/>
                <a:cs typeface="Georgia"/>
              </a:rPr>
              <a:t> </a:t>
            </a:r>
            <a:r>
              <a:rPr spc="-10" dirty="0"/>
              <a:t>matrix:</a:t>
            </a:r>
          </a:p>
          <a:p>
            <a:pPr marL="289560" marR="8255">
              <a:lnSpc>
                <a:spcPct val="108300"/>
              </a:lnSpc>
              <a:spcBef>
                <a:spcPts val="180"/>
              </a:spcBef>
            </a:pP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observed</a:t>
            </a:r>
            <a:r>
              <a:rPr sz="1000" i="1" spc="280" dirty="0">
                <a:latin typeface="Palatino Linotype"/>
                <a:cs typeface="Palatino Linotype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(existing)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values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are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used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for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training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(e.g.,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recommendation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model).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unobserved</a:t>
            </a:r>
            <a:r>
              <a:rPr sz="1000" i="1" spc="320" dirty="0">
                <a:latin typeface="Palatino Linotype"/>
                <a:cs typeface="Palatino Linotype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(missing)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will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predicted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model.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/>
              <a:t>This</a:t>
            </a:r>
            <a:r>
              <a:rPr spc="75" dirty="0"/>
              <a:t> </a:t>
            </a:r>
            <a:r>
              <a:rPr spc="-25" dirty="0"/>
              <a:t>problem</a:t>
            </a:r>
            <a:r>
              <a:rPr spc="80" dirty="0"/>
              <a:t> </a:t>
            </a:r>
            <a:r>
              <a:rPr dirty="0"/>
              <a:t>is</a:t>
            </a:r>
            <a:r>
              <a:rPr spc="80" dirty="0"/>
              <a:t> </a:t>
            </a:r>
            <a:r>
              <a:rPr dirty="0"/>
              <a:t>also</a:t>
            </a:r>
            <a:r>
              <a:rPr spc="80" dirty="0"/>
              <a:t> </a:t>
            </a:r>
            <a:r>
              <a:rPr spc="-40" dirty="0"/>
              <a:t>referred</a:t>
            </a:r>
            <a:r>
              <a:rPr spc="80" dirty="0"/>
              <a:t> </a:t>
            </a:r>
            <a:r>
              <a:rPr dirty="0"/>
              <a:t>to</a:t>
            </a:r>
            <a:r>
              <a:rPr spc="80" dirty="0"/>
              <a:t> </a:t>
            </a:r>
            <a:r>
              <a:rPr dirty="0"/>
              <a:t>as</a:t>
            </a:r>
            <a:r>
              <a:rPr spc="8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i="1" dirty="0">
                <a:latin typeface="Palatino Linotype"/>
                <a:cs typeface="Palatino Linotype"/>
              </a:rPr>
              <a:t>matrix</a:t>
            </a:r>
            <a:r>
              <a:rPr i="1" spc="95" dirty="0">
                <a:latin typeface="Palatino Linotype"/>
                <a:cs typeface="Palatino Linotype"/>
              </a:rPr>
              <a:t> </a:t>
            </a:r>
            <a:r>
              <a:rPr i="1" dirty="0">
                <a:latin typeface="Palatino Linotype"/>
                <a:cs typeface="Palatino Linotype"/>
              </a:rPr>
              <a:t>completion</a:t>
            </a:r>
            <a:r>
              <a:rPr i="1" spc="95" dirty="0">
                <a:latin typeface="Palatino Linotype"/>
                <a:cs typeface="Palatino Linotype"/>
              </a:rPr>
              <a:t> </a:t>
            </a:r>
            <a:r>
              <a:rPr i="1" spc="-10" dirty="0">
                <a:latin typeface="Palatino Linotype"/>
                <a:cs typeface="Palatino Linotype"/>
              </a:rPr>
              <a:t>problem</a:t>
            </a:r>
            <a:r>
              <a:rPr spc="-10" dirty="0"/>
              <a:t>.</a:t>
            </a:r>
          </a:p>
        </p:txBody>
      </p:sp>
      <p:sp>
        <p:nvSpPr>
          <p:cNvPr id="9" name="object 9"/>
          <p:cNvSpPr/>
          <p:nvPr/>
        </p:nvSpPr>
        <p:spPr>
          <a:xfrm>
            <a:off x="337972" y="210737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</a:t>
            </a:fld>
            <a:r>
              <a:rPr spc="-5" dirty="0"/>
              <a:t> </a:t>
            </a:r>
            <a:r>
              <a:rPr spc="75" dirty="0"/>
              <a:t>/</a:t>
            </a:r>
            <a:r>
              <a:rPr spc="-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Recommendation</a:t>
            </a:r>
            <a:r>
              <a:rPr spc="235" dirty="0"/>
              <a:t> </a:t>
            </a:r>
            <a:r>
              <a:rPr dirty="0"/>
              <a:t>as</a:t>
            </a:r>
            <a:r>
              <a:rPr spc="245" dirty="0"/>
              <a:t> </a:t>
            </a:r>
            <a:r>
              <a:rPr spc="55" dirty="0"/>
              <a:t>a</a:t>
            </a:r>
            <a:r>
              <a:rPr spc="240" dirty="0"/>
              <a:t> </a:t>
            </a:r>
            <a:r>
              <a:rPr dirty="0"/>
              <a:t>ranking</a:t>
            </a:r>
            <a:r>
              <a:rPr spc="24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78012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00112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19667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36173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4177" y="633765"/>
            <a:ext cx="5091430" cy="194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9935">
              <a:lnSpc>
                <a:spcPct val="131800"/>
              </a:lnSpc>
              <a:spcBef>
                <a:spcPts val="100"/>
              </a:spcBef>
            </a:pPr>
            <a:r>
              <a:rPr sz="1100" dirty="0">
                <a:latin typeface="Georgia"/>
                <a:cs typeface="Georgia"/>
              </a:rPr>
              <a:t>Not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necessary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predict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missing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make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recommendations. </a:t>
            </a:r>
            <a:r>
              <a:rPr sz="1100" spc="-10" dirty="0">
                <a:latin typeface="Georgia"/>
                <a:cs typeface="Georgia"/>
              </a:rPr>
              <a:t>Rather:</a:t>
            </a:r>
            <a:endParaRPr sz="1100">
              <a:latin typeface="Georgia"/>
              <a:cs typeface="Georgia"/>
            </a:endParaRPr>
          </a:p>
          <a:p>
            <a:pPr marL="289560" marR="1591945">
              <a:lnSpc>
                <a:spcPct val="108300"/>
              </a:lnSpc>
              <a:spcBef>
                <a:spcPts val="180"/>
              </a:spcBef>
            </a:pPr>
            <a:r>
              <a:rPr sz="1000" spc="10" dirty="0">
                <a:latin typeface="Times New Roman"/>
                <a:cs typeface="Times New Roman"/>
              </a:rPr>
              <a:t>Recommend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top–</a:t>
            </a:r>
            <a:r>
              <a:rPr sz="1000" i="1" spc="10" dirty="0">
                <a:latin typeface="Georgia"/>
                <a:cs typeface="Georgia"/>
              </a:rPr>
              <a:t>k</a:t>
            </a:r>
            <a:r>
              <a:rPr sz="1000" i="1" spc="210" dirty="0">
                <a:latin typeface="Georgia"/>
                <a:cs typeface="Georgia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items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for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particular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user;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or </a:t>
            </a:r>
            <a:r>
              <a:rPr sz="1000" spc="10" dirty="0">
                <a:latin typeface="Times New Roman"/>
                <a:cs typeface="Times New Roman"/>
              </a:rPr>
              <a:t>Determine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top–</a:t>
            </a:r>
            <a:r>
              <a:rPr sz="1000" i="1" spc="10" dirty="0">
                <a:latin typeface="Georgia"/>
                <a:cs typeface="Georgia"/>
              </a:rPr>
              <a:t>k</a:t>
            </a:r>
            <a:r>
              <a:rPr sz="1000" i="1" spc="220" dirty="0">
                <a:latin typeface="Georgia"/>
                <a:cs typeface="Georgia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users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target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for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particular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item.</a:t>
            </a:r>
            <a:endParaRPr sz="1000">
              <a:latin typeface="Times New Roman"/>
              <a:cs typeface="Times New Roman"/>
            </a:endParaRPr>
          </a:p>
          <a:p>
            <a:pPr marL="12700" marR="668655">
              <a:lnSpc>
                <a:spcPct val="142100"/>
              </a:lnSpc>
              <a:spcBef>
                <a:spcPts val="220"/>
              </a:spcBef>
            </a:pPr>
            <a:r>
              <a:rPr sz="1100" spc="-30" dirty="0">
                <a:latin typeface="Georgia"/>
                <a:cs typeface="Georgia"/>
              </a:rPr>
              <a:t>Determining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top–</a:t>
            </a:r>
            <a:r>
              <a:rPr sz="1100" i="1" spc="-25" dirty="0">
                <a:latin typeface="Georgia"/>
                <a:cs typeface="Georgia"/>
              </a:rPr>
              <a:t>k</a:t>
            </a:r>
            <a:r>
              <a:rPr sz="1100" i="1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common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determining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top–</a:t>
            </a:r>
            <a:r>
              <a:rPr sz="1100" i="1" spc="-25" dirty="0">
                <a:latin typeface="Georgia"/>
                <a:cs typeface="Georgia"/>
              </a:rPr>
              <a:t>k</a:t>
            </a:r>
            <a:r>
              <a:rPr sz="1100" i="1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users.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problem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also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referred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top</a:t>
            </a:r>
            <a:r>
              <a:rPr sz="1100" dirty="0">
                <a:latin typeface="Georgia"/>
                <a:cs typeface="Georgia"/>
              </a:rPr>
              <a:t>–</a:t>
            </a:r>
            <a:r>
              <a:rPr sz="1100" i="1" dirty="0">
                <a:latin typeface="Georgia"/>
                <a:cs typeface="Georgia"/>
              </a:rPr>
              <a:t>k</a:t>
            </a:r>
            <a:r>
              <a:rPr sz="1100" i="1" spc="110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recommendation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problem</a:t>
            </a:r>
            <a:r>
              <a:rPr sz="1100" spc="-1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approach,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absolute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values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predicted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important.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ts val="1150"/>
              </a:lnSpc>
              <a:spcBef>
                <a:spcPts val="73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ranking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based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predicted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values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first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approach.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However,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it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easier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natural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solve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ranking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problem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directly.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7972" y="162007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185830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209651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233474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3" name="object 13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</a:t>
            </a:fld>
            <a:r>
              <a:rPr spc="-5" dirty="0"/>
              <a:t> </a:t>
            </a:r>
            <a:r>
              <a:rPr spc="75" dirty="0"/>
              <a:t>/</a:t>
            </a:r>
            <a:r>
              <a:rPr spc="-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Goals</a:t>
            </a:r>
            <a:r>
              <a:rPr spc="175" dirty="0"/>
              <a:t> </a:t>
            </a:r>
            <a:r>
              <a:rPr dirty="0"/>
              <a:t>of</a:t>
            </a:r>
            <a:r>
              <a:rPr spc="175" dirty="0"/>
              <a:t> </a:t>
            </a:r>
            <a:r>
              <a:rPr dirty="0"/>
              <a:t>recommender</a:t>
            </a:r>
            <a:r>
              <a:rPr spc="17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2169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83522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14734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38847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76668" y="1575879"/>
          <a:ext cx="97790" cy="1195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335">
                <a:tc>
                  <a:txBody>
                    <a:bodyPr/>
                    <a:lstStyle/>
                    <a:p>
                      <a:pPr algn="ctr">
                        <a:lnSpc>
                          <a:spcPts val="795"/>
                        </a:lnSpc>
                      </a:pPr>
                      <a:r>
                        <a:rPr sz="800" spc="-50" dirty="0">
                          <a:solidFill>
                            <a:srgbClr val="FFFFFF"/>
                          </a:solidFill>
                          <a:latin typeface="Palatino Linotype"/>
                          <a:cs typeface="Palatino Linotype"/>
                        </a:rPr>
                        <a:t>1</a:t>
                      </a:r>
                      <a:endParaRPr sz="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B w="85013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solidFill>
                            <a:srgbClr val="FFFFFF"/>
                          </a:solidFill>
                          <a:latin typeface="Palatino Linotype"/>
                          <a:cs typeface="Palatino Linotype"/>
                        </a:rPr>
                        <a:t>2</a:t>
                      </a:r>
                      <a:endParaRPr sz="800">
                        <a:latin typeface="Palatino Linotype"/>
                        <a:cs typeface="Palatino Linotype"/>
                      </a:endParaRPr>
                    </a:p>
                  </a:txBody>
                  <a:tcPr marL="0" marR="0" marT="21590" marB="0">
                    <a:lnT w="85013">
                      <a:solidFill>
                        <a:srgbClr val="FFFFFF"/>
                      </a:solidFill>
                      <a:prstDash val="solid"/>
                    </a:lnT>
                    <a:lnB w="85026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solidFill>
                            <a:srgbClr val="FFFFFF"/>
                          </a:solidFill>
                          <a:latin typeface="Palatino Linotype"/>
                          <a:cs typeface="Palatino Linotype"/>
                        </a:rPr>
                        <a:t>3</a:t>
                      </a:r>
                      <a:endParaRPr sz="800">
                        <a:latin typeface="Palatino Linotype"/>
                        <a:cs typeface="Palatino Linotype"/>
                      </a:endParaRPr>
                    </a:p>
                  </a:txBody>
                  <a:tcPr marL="0" marR="0" marT="21590" marB="0">
                    <a:lnT w="85026">
                      <a:solidFill>
                        <a:srgbClr val="FFFFFF"/>
                      </a:solidFill>
                      <a:prstDash val="solid"/>
                    </a:lnT>
                    <a:lnB w="85026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solidFill>
                            <a:srgbClr val="FFFFFF"/>
                          </a:solidFill>
                          <a:latin typeface="Palatino Linotype"/>
                          <a:cs typeface="Palatino Linotype"/>
                        </a:rPr>
                        <a:t>4</a:t>
                      </a:r>
                      <a:endParaRPr sz="800">
                        <a:latin typeface="Palatino Linotype"/>
                        <a:cs typeface="Palatino Linotype"/>
                      </a:endParaRPr>
                    </a:p>
                  </a:txBody>
                  <a:tcPr marL="0" marR="0" marT="21590" marB="0">
                    <a:lnT w="85026">
                      <a:solidFill>
                        <a:srgbClr val="FFFFFF"/>
                      </a:solidFill>
                      <a:prstDash val="solid"/>
                    </a:lnT>
                    <a:lnB w="85026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solidFill>
                            <a:srgbClr val="FFFFFF"/>
                          </a:solidFill>
                          <a:latin typeface="Palatino Linotype"/>
                          <a:cs typeface="Palatino Linotype"/>
                        </a:rPr>
                        <a:t>5</a:t>
                      </a:r>
                      <a:endParaRPr sz="800">
                        <a:latin typeface="Palatino Linotype"/>
                        <a:cs typeface="Palatino Linotype"/>
                      </a:endParaRPr>
                    </a:p>
                  </a:txBody>
                  <a:tcPr marL="0" marR="0" marT="21590" marB="0">
                    <a:lnT w="85026">
                      <a:solidFill>
                        <a:srgbClr val="FFFFFF"/>
                      </a:solidFill>
                      <a:prstDash val="solid"/>
                    </a:lnT>
                    <a:lnB w="85013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solidFill>
                            <a:srgbClr val="FFFFFF"/>
                          </a:solidFill>
                          <a:latin typeface="Palatino Linotype"/>
                          <a:cs typeface="Palatino Linotype"/>
                        </a:rPr>
                        <a:t>6</a:t>
                      </a:r>
                      <a:endParaRPr sz="800">
                        <a:latin typeface="Palatino Linotype"/>
                        <a:cs typeface="Palatino Linotype"/>
                      </a:endParaRPr>
                    </a:p>
                  </a:txBody>
                  <a:tcPr marL="0" marR="0" marT="21590" marB="0">
                    <a:lnT w="85013">
                      <a:solidFill>
                        <a:srgbClr val="FFFFFF"/>
                      </a:solidFill>
                      <a:prstDash val="solid"/>
                    </a:lnT>
                    <a:lnB w="85026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335"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solidFill>
                            <a:srgbClr val="FFFFFF"/>
                          </a:solidFill>
                          <a:latin typeface="Palatino Linotype"/>
                          <a:cs typeface="Palatino Linotype"/>
                        </a:rPr>
                        <a:t>7</a:t>
                      </a:r>
                      <a:endParaRPr sz="800">
                        <a:latin typeface="Palatino Linotype"/>
                        <a:cs typeface="Palatino Linotype"/>
                      </a:endParaRPr>
                    </a:p>
                  </a:txBody>
                  <a:tcPr marL="0" marR="0" marT="21590" marB="0">
                    <a:lnT w="85026">
                      <a:solidFill>
                        <a:srgbClr val="FFFFFF"/>
                      </a:solidFill>
                      <a:prstDash val="solid"/>
                    </a:lnT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54177" y="470819"/>
            <a:ext cx="5041265" cy="232219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b="1" spc="-55" dirty="0">
                <a:latin typeface="Georgia"/>
                <a:cs typeface="Georgia"/>
              </a:rPr>
              <a:t>Business–centric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goals</a:t>
            </a:r>
            <a:r>
              <a:rPr sz="1100" spc="-35" dirty="0">
                <a:latin typeface="Georgia"/>
                <a:cs typeface="Georgia"/>
              </a:rPr>
              <a:t>: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primary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goals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recommendation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to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ts val="1019"/>
              </a:lnSpc>
              <a:spcBef>
                <a:spcPts val="605"/>
              </a:spcBef>
            </a:pPr>
            <a:r>
              <a:rPr sz="1000" dirty="0">
                <a:latin typeface="Times New Roman"/>
                <a:cs typeface="Times New Roman"/>
              </a:rPr>
              <a:t>increase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activities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(view,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watch,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like,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share,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add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cart,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etc.),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attention,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experience,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engagement;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35"/>
              </a:spcBef>
            </a:pP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finally,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increase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sale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volume,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revenue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profit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business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service.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b="1" dirty="0">
                <a:latin typeface="Georgia"/>
                <a:cs typeface="Georgia"/>
              </a:rPr>
              <a:t>The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operational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and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technical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goals</a:t>
            </a:r>
            <a:r>
              <a:rPr sz="1100" spc="-1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289560" marR="4117340">
              <a:lnSpc>
                <a:spcPct val="120100"/>
              </a:lnSpc>
              <a:spcBef>
                <a:spcPts val="180"/>
              </a:spcBef>
            </a:pPr>
            <a:r>
              <a:rPr sz="1000" spc="-10" dirty="0">
                <a:latin typeface="Times New Roman"/>
                <a:cs typeface="Times New Roman"/>
              </a:rPr>
              <a:t>Relevance Novelty Serendipity Diversity Long–tail Fairness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Other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business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domain–specific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goals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0" name="object 10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7</a:t>
            </a:fld>
            <a:r>
              <a:rPr spc="-5" dirty="0"/>
              <a:t> </a:t>
            </a:r>
            <a:r>
              <a:rPr spc="75" dirty="0"/>
              <a:t>/</a:t>
            </a:r>
            <a:r>
              <a:rPr spc="-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Goals</a:t>
            </a:r>
            <a:r>
              <a:rPr spc="190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dirty="0"/>
              <a:t>recommender</a:t>
            </a:r>
            <a:r>
              <a:rPr spc="190" dirty="0"/>
              <a:t> </a:t>
            </a:r>
            <a:r>
              <a:rPr dirty="0"/>
              <a:t>systems</a:t>
            </a:r>
            <a:r>
              <a:rPr spc="195" dirty="0"/>
              <a:t> </a:t>
            </a:r>
            <a:r>
              <a:rPr spc="-10"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622884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83939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00445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1224622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44113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60619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567" y="1826361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04287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20793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37299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0229" y="266711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9016" y="512686"/>
            <a:ext cx="5250180" cy="224726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6845" indent="-14414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b="1" spc="-35" dirty="0">
                <a:latin typeface="Georgia"/>
                <a:cs typeface="Georgia"/>
              </a:rPr>
              <a:t>Relevance</a:t>
            </a:r>
            <a:r>
              <a:rPr sz="1100" spc="-35" dirty="0">
                <a:latin typeface="Georgia"/>
                <a:cs typeface="Georgia"/>
              </a:rPr>
              <a:t>: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recommend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relevant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user:</a:t>
            </a:r>
            <a:endParaRPr sz="1100">
              <a:latin typeface="Georgia"/>
              <a:cs typeface="Georgia"/>
            </a:endParaRPr>
          </a:p>
          <a:p>
            <a:pPr marL="434340" marR="918210">
              <a:lnSpc>
                <a:spcPct val="1083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likely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consume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that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they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find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interesting</a:t>
            </a:r>
            <a:r>
              <a:rPr sz="1000" spc="-30" dirty="0">
                <a:latin typeface="Times New Roman"/>
                <a:cs typeface="Times New Roman"/>
              </a:rPr>
              <a:t>;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or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that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fit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need</a:t>
            </a:r>
            <a:r>
              <a:rPr sz="1000" b="1" spc="15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intents</a:t>
            </a:r>
            <a:r>
              <a:rPr sz="1000" b="1" spc="14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(e.g.,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purchase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intents).</a:t>
            </a:r>
            <a:endParaRPr sz="1000">
              <a:latin typeface="Times New Roman"/>
              <a:cs typeface="Times New Roman"/>
            </a:endParaRPr>
          </a:p>
          <a:p>
            <a:pPr marL="156845" indent="-144145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SzPct val="72727"/>
              <a:buFont typeface="Palatino Linotype"/>
              <a:buAutoNum type="arabicPlain" startAt="2"/>
              <a:tabLst>
                <a:tab pos="156845" algn="l"/>
              </a:tabLst>
            </a:pPr>
            <a:r>
              <a:rPr sz="1100" b="1" dirty="0">
                <a:latin typeface="Georgia"/>
                <a:cs typeface="Georgia"/>
              </a:rPr>
              <a:t>Novelty</a:t>
            </a:r>
            <a:r>
              <a:rPr sz="1100" dirty="0">
                <a:latin typeface="Georgia"/>
                <a:cs typeface="Georgia"/>
              </a:rPr>
              <a:t>: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recommend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has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not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seen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past.</a:t>
            </a:r>
            <a:endParaRPr sz="1100">
              <a:latin typeface="Georgia"/>
              <a:cs typeface="Georgia"/>
            </a:endParaRPr>
          </a:p>
          <a:p>
            <a:pPr marL="434340" marR="177165">
              <a:lnSpc>
                <a:spcPct val="1083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example,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popular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movies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preferred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genre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would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rarely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novel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user. </a:t>
            </a:r>
            <a:r>
              <a:rPr sz="1000" dirty="0">
                <a:latin typeface="Times New Roman"/>
                <a:cs typeface="Times New Roman"/>
              </a:rPr>
              <a:t>Repeated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suggestion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popular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also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lead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reduction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sales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diversity.</a:t>
            </a:r>
            <a:endParaRPr sz="1000">
              <a:latin typeface="Times New Roman"/>
              <a:cs typeface="Times New Roman"/>
            </a:endParaRPr>
          </a:p>
          <a:p>
            <a:pPr marL="156845" indent="-144145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SzPct val="72727"/>
              <a:buFont typeface="Palatino Linotype"/>
              <a:buAutoNum type="arabicPlain" startAt="3"/>
              <a:tabLst>
                <a:tab pos="156845" algn="l"/>
              </a:tabLst>
            </a:pPr>
            <a:r>
              <a:rPr sz="1100" b="1" spc="-30" dirty="0">
                <a:latin typeface="Georgia"/>
                <a:cs typeface="Georgia"/>
              </a:rPr>
              <a:t>Serendipity</a:t>
            </a:r>
            <a:r>
              <a:rPr sz="1100" spc="-30" dirty="0">
                <a:latin typeface="Georgia"/>
                <a:cs typeface="Georgia"/>
              </a:rPr>
              <a:t>: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recommended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truly</a:t>
            </a:r>
            <a:r>
              <a:rPr sz="1100" b="1" spc="65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surprising</a:t>
            </a:r>
            <a:r>
              <a:rPr sz="1100" b="1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user.</a:t>
            </a:r>
            <a:endParaRPr sz="1100">
              <a:latin typeface="Georgia"/>
              <a:cs typeface="Georgia"/>
            </a:endParaRPr>
          </a:p>
          <a:p>
            <a:pPr marL="434340">
              <a:lnSpc>
                <a:spcPct val="100000"/>
              </a:lnSpc>
              <a:spcBef>
                <a:spcPts val="275"/>
              </a:spcBef>
            </a:pPr>
            <a:r>
              <a:rPr sz="1000" dirty="0">
                <a:latin typeface="Times New Roman"/>
                <a:cs typeface="Times New Roman"/>
              </a:rPr>
              <a:t>Rather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simply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something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they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did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know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about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before.</a:t>
            </a:r>
            <a:endParaRPr sz="1000">
              <a:latin typeface="Times New Roman"/>
              <a:cs typeface="Times New Roman"/>
            </a:endParaRPr>
          </a:p>
          <a:p>
            <a:pPr marL="43434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means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something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“</a:t>
            </a:r>
            <a:r>
              <a:rPr sz="1000" i="1" dirty="0">
                <a:solidFill>
                  <a:srgbClr val="FF0000"/>
                </a:solidFill>
                <a:latin typeface="Palatino Linotype"/>
                <a:cs typeface="Palatino Linotype"/>
              </a:rPr>
              <a:t>unknown</a:t>
            </a:r>
            <a:r>
              <a:rPr sz="1000" i="1" spc="17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000" i="1" dirty="0">
                <a:solidFill>
                  <a:srgbClr val="FF0000"/>
                </a:solidFill>
                <a:latin typeface="Palatino Linotype"/>
                <a:cs typeface="Palatino Linotype"/>
              </a:rPr>
              <a:t>unknown</a:t>
            </a:r>
            <a:r>
              <a:rPr sz="1000" dirty="0">
                <a:latin typeface="Times New Roman"/>
                <a:cs typeface="Times New Roman"/>
              </a:rPr>
              <a:t>”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whereas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novelty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“</a:t>
            </a:r>
            <a:r>
              <a:rPr sz="1000" i="1" dirty="0">
                <a:solidFill>
                  <a:srgbClr val="FF0000"/>
                </a:solidFill>
                <a:latin typeface="Palatino Linotype"/>
                <a:cs typeface="Palatino Linotype"/>
              </a:rPr>
              <a:t>unknown</a:t>
            </a:r>
            <a:r>
              <a:rPr sz="1000" i="1" spc="16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Palatino Linotype"/>
                <a:cs typeface="Palatino Linotype"/>
              </a:rPr>
              <a:t>known</a:t>
            </a:r>
            <a:r>
              <a:rPr sz="1000" i="1" dirty="0">
                <a:latin typeface="Palatino Linotype"/>
                <a:cs typeface="Palatino Linotype"/>
              </a:rPr>
              <a:t>’</a:t>
            </a:r>
            <a:r>
              <a:rPr sz="1000" i="1" spc="-110" dirty="0">
                <a:latin typeface="Palatino Linotype"/>
                <a:cs typeface="Palatino Linotype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’.</a:t>
            </a:r>
            <a:endParaRPr sz="1000">
              <a:latin typeface="Times New Roman"/>
              <a:cs typeface="Times New Roman"/>
            </a:endParaRPr>
          </a:p>
          <a:p>
            <a:pPr marL="434340" marR="5080">
              <a:lnSpc>
                <a:spcPts val="1019"/>
              </a:lnSpc>
              <a:spcBef>
                <a:spcPts val="285"/>
              </a:spcBef>
            </a:pPr>
            <a:r>
              <a:rPr sz="1000" dirty="0">
                <a:latin typeface="Times New Roman"/>
                <a:cs typeface="Times New Roman"/>
              </a:rPr>
              <a:t>Serendipity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has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beneficial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side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effect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increasing</a:t>
            </a:r>
            <a:r>
              <a:rPr sz="1000" b="1" spc="150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sales</a:t>
            </a:r>
            <a:r>
              <a:rPr sz="1000" b="1" spc="145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diversity</a:t>
            </a:r>
            <a:r>
              <a:rPr sz="1000" b="1" spc="12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beginning </a:t>
            </a:r>
            <a:r>
              <a:rPr sz="1000" b="1" dirty="0">
                <a:latin typeface="Georgia"/>
                <a:cs typeface="Georgia"/>
              </a:rPr>
              <a:t>a</a:t>
            </a:r>
            <a:r>
              <a:rPr sz="1000" b="1" spc="14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new</a:t>
            </a:r>
            <a:r>
              <a:rPr sz="1000" b="1" spc="14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trend</a:t>
            </a:r>
            <a:r>
              <a:rPr sz="1000" b="1" spc="9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interest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user.</a:t>
            </a:r>
            <a:endParaRPr sz="1000">
              <a:latin typeface="Times New Roman"/>
              <a:cs typeface="Times New Roman"/>
            </a:endParaRPr>
          </a:p>
          <a:p>
            <a:pPr marL="43434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Serendipitous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recommendations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often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tend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irrelevant</a:t>
            </a:r>
            <a:r>
              <a:rPr sz="1000" b="1" spc="17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Georgia"/>
                <a:cs typeface="Georgia"/>
              </a:rPr>
              <a:t>at</a:t>
            </a:r>
            <a:r>
              <a:rPr sz="1000" b="1" spc="23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the</a:t>
            </a:r>
            <a:r>
              <a:rPr sz="1000" b="1" spc="229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beginning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6" name="object 1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5418" y="3118867"/>
            <a:ext cx="33464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50" dirty="0">
                <a:solidFill>
                  <a:srgbClr val="7A0000"/>
                </a:solidFill>
                <a:latin typeface="Georgia"/>
                <a:cs typeface="Georgia"/>
              </a:rPr>
              <a:t>10</a:t>
            </a:r>
            <a:r>
              <a:rPr sz="600" spc="-25" dirty="0">
                <a:solidFill>
                  <a:srgbClr val="7A0000"/>
                </a:solidFill>
                <a:latin typeface="Georgia"/>
                <a:cs typeface="Georgia"/>
              </a:rPr>
              <a:t> 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</a:rPr>
              <a:t>/</a:t>
            </a:r>
            <a:r>
              <a:rPr sz="600" spc="-25" dirty="0">
                <a:solidFill>
                  <a:srgbClr val="7A0000"/>
                </a:solidFill>
                <a:latin typeface="Georgia"/>
                <a:cs typeface="Georgia"/>
              </a:rPr>
              <a:t> 202</a:t>
            </a:r>
            <a:endParaRPr sz="6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Goals</a:t>
            </a:r>
            <a:r>
              <a:rPr spc="190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dirty="0"/>
              <a:t>recommender</a:t>
            </a:r>
            <a:r>
              <a:rPr spc="190" dirty="0"/>
              <a:t> </a:t>
            </a:r>
            <a:r>
              <a:rPr dirty="0"/>
              <a:t>systems</a:t>
            </a:r>
            <a:r>
              <a:rPr spc="195" dirty="0"/>
              <a:t> </a:t>
            </a:r>
            <a:r>
              <a:rPr spc="-10"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685596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216342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1747100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2277846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9016" y="614958"/>
            <a:ext cx="5234305" cy="207645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56210" marR="5080" indent="-144145">
              <a:lnSpc>
                <a:spcPts val="1150"/>
              </a:lnSpc>
              <a:spcBef>
                <a:spcPts val="270"/>
              </a:spcBef>
              <a:buClr>
                <a:srgbClr val="FFFFFF"/>
              </a:buClr>
              <a:buSzPct val="72727"/>
              <a:buFont typeface="Palatino Linotype"/>
              <a:buAutoNum type="arabicPlain" startAt="4"/>
              <a:tabLst>
                <a:tab pos="157480" algn="l"/>
              </a:tabLst>
            </a:pPr>
            <a:r>
              <a:rPr sz="1100" b="1" spc="-10" dirty="0">
                <a:latin typeface="Georgia"/>
                <a:cs typeface="Georgia"/>
              </a:rPr>
              <a:t>Diversity</a:t>
            </a:r>
            <a:r>
              <a:rPr sz="1100" spc="-10" dirty="0">
                <a:latin typeface="Georgia"/>
                <a:cs typeface="Georgia"/>
              </a:rPr>
              <a:t>: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when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recommended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very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similar</a:t>
            </a:r>
            <a:r>
              <a:rPr sz="1100" spc="-45" dirty="0">
                <a:latin typeface="Georgia"/>
                <a:cs typeface="Georgia"/>
              </a:rPr>
              <a:t>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increases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risk 	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might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not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like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any</a:t>
            </a:r>
            <a:r>
              <a:rPr sz="1100" b="1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these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items.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Diversity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help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ensure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 	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does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get</a:t>
            </a:r>
            <a:r>
              <a:rPr sz="1100" b="1" spc="6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bored</a:t>
            </a:r>
            <a:r>
              <a:rPr sz="1100" b="1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repeated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recommendation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similar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items.</a:t>
            </a:r>
            <a:endParaRPr sz="1100">
              <a:latin typeface="Georgia"/>
              <a:cs typeface="Georgia"/>
            </a:endParaRPr>
          </a:p>
          <a:p>
            <a:pPr marL="156210" marR="103505" indent="-144145" algn="just">
              <a:lnSpc>
                <a:spcPts val="1150"/>
              </a:lnSpc>
              <a:spcBef>
                <a:spcPts val="730"/>
              </a:spcBef>
              <a:buClr>
                <a:srgbClr val="FFFFFF"/>
              </a:buClr>
              <a:buSzPct val="72727"/>
              <a:buFont typeface="Palatino Linotype"/>
              <a:buAutoNum type="arabicPlain" startAt="4"/>
              <a:tabLst>
                <a:tab pos="157480" algn="l"/>
              </a:tabLst>
            </a:pPr>
            <a:r>
              <a:rPr sz="1100" b="1" spc="-30" dirty="0">
                <a:latin typeface="Georgia"/>
                <a:cs typeface="Georgia"/>
              </a:rPr>
              <a:t>Long–tail</a:t>
            </a:r>
            <a:r>
              <a:rPr sz="1100" spc="-30" dirty="0">
                <a:latin typeface="Georgia"/>
                <a:cs typeface="Georgia"/>
              </a:rPr>
              <a:t>: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recommender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normally ignore unpopular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newly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introduced 	items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having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only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few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ratings.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Leveraging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unpopular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long–tail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 	</a:t>
            </a:r>
            <a:r>
              <a:rPr sz="1100" spc="-10" dirty="0">
                <a:latin typeface="Georgia"/>
                <a:cs typeface="Georgia"/>
              </a:rPr>
              <a:t>distribution</a:t>
            </a:r>
            <a:r>
              <a:rPr sz="1100" dirty="0">
                <a:latin typeface="Georgia"/>
                <a:cs typeface="Georgia"/>
              </a:rPr>
              <a:t> is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important.</a:t>
            </a:r>
            <a:endParaRPr sz="1100">
              <a:latin typeface="Georgia"/>
              <a:cs typeface="Georgia"/>
            </a:endParaRPr>
          </a:p>
          <a:p>
            <a:pPr marL="156210" marR="39370" indent="-144145" algn="just">
              <a:lnSpc>
                <a:spcPts val="1150"/>
              </a:lnSpc>
              <a:spcBef>
                <a:spcPts val="730"/>
              </a:spcBef>
              <a:buClr>
                <a:srgbClr val="FFFFFF"/>
              </a:buClr>
              <a:buSzPct val="72727"/>
              <a:buFont typeface="Palatino Linotype"/>
              <a:buAutoNum type="arabicPlain" startAt="4"/>
              <a:tabLst>
                <a:tab pos="157480" algn="l"/>
              </a:tabLst>
            </a:pPr>
            <a:r>
              <a:rPr sz="1100" b="1" spc="-45" dirty="0">
                <a:latin typeface="Georgia"/>
                <a:cs typeface="Georgia"/>
              </a:rPr>
              <a:t>Fairness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-10" dirty="0">
                <a:latin typeface="Georgia"/>
                <a:cs typeface="Georgia"/>
              </a:rPr>
              <a:t> concept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-10" dirty="0">
                <a:latin typeface="Georgia"/>
                <a:cs typeface="Georgia"/>
              </a:rPr>
              <a:t> related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10" dirty="0">
                <a:latin typeface="Georgia"/>
                <a:cs typeface="Georgia"/>
              </a:rPr>
              <a:t> groups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users</a:t>
            </a:r>
            <a:r>
              <a:rPr sz="1100" spc="-10" dirty="0">
                <a:latin typeface="Georgia"/>
                <a:cs typeface="Georgia"/>
              </a:rPr>
              <a:t> based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race,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gender,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age,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etc. 	</a:t>
            </a:r>
            <a:r>
              <a:rPr sz="1100" dirty="0">
                <a:latin typeface="Georgia"/>
                <a:cs typeface="Georgia"/>
              </a:rPr>
              <a:t>For </a:t>
            </a:r>
            <a:r>
              <a:rPr sz="1100" spc="-10" dirty="0">
                <a:latin typeface="Georgia"/>
                <a:cs typeface="Georgia"/>
              </a:rPr>
              <a:t>example,</a:t>
            </a:r>
            <a:r>
              <a:rPr sz="1100" dirty="0">
                <a:latin typeface="Georgia"/>
                <a:cs typeface="Georgia"/>
              </a:rPr>
              <a:t> a job </a:t>
            </a:r>
            <a:r>
              <a:rPr sz="1100" spc="-45" dirty="0">
                <a:latin typeface="Georgia"/>
                <a:cs typeface="Georgia"/>
              </a:rPr>
              <a:t>recommender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should</a:t>
            </a:r>
            <a:r>
              <a:rPr sz="1100" dirty="0">
                <a:latin typeface="Georgia"/>
                <a:cs typeface="Georgia"/>
              </a:rPr>
              <a:t> have the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fairness</a:t>
            </a:r>
            <a:r>
              <a:rPr sz="1100" dirty="0">
                <a:latin typeface="Georgia"/>
                <a:cs typeface="Georgia"/>
              </a:rPr>
              <a:t> to </a:t>
            </a:r>
            <a:r>
              <a:rPr sz="1100" spc="-10" dirty="0">
                <a:latin typeface="Georgia"/>
                <a:cs typeface="Georgia"/>
              </a:rPr>
              <a:t>suggest</a:t>
            </a:r>
            <a:r>
              <a:rPr sz="1100" dirty="0">
                <a:latin typeface="Georgia"/>
                <a:cs typeface="Georgia"/>
              </a:rPr>
              <a:t> jobs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to 	</a:t>
            </a:r>
            <a:r>
              <a:rPr sz="1100" spc="-30" dirty="0">
                <a:latin typeface="Georgia"/>
                <a:cs typeface="Georgia"/>
              </a:rPr>
              <a:t>different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races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genders.</a:t>
            </a:r>
            <a:endParaRPr sz="1100">
              <a:latin typeface="Georgia"/>
              <a:cs typeface="Georgia"/>
            </a:endParaRPr>
          </a:p>
          <a:p>
            <a:pPr marL="156210" marR="121285" indent="-144145">
              <a:lnSpc>
                <a:spcPts val="1150"/>
              </a:lnSpc>
              <a:spcBef>
                <a:spcPts val="725"/>
              </a:spcBef>
              <a:buClr>
                <a:srgbClr val="FFFFFF"/>
              </a:buClr>
              <a:buSzPct val="72727"/>
              <a:buFont typeface="Palatino Linotype"/>
              <a:buAutoNum type="arabicPlain" startAt="4"/>
              <a:tabLst>
                <a:tab pos="157480" algn="l"/>
              </a:tabLst>
            </a:pPr>
            <a:r>
              <a:rPr sz="1100" b="1" dirty="0">
                <a:latin typeface="Georgia"/>
                <a:cs typeface="Georgia"/>
              </a:rPr>
              <a:t>Other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business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and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65" dirty="0">
                <a:latin typeface="Georgia"/>
                <a:cs typeface="Georgia"/>
              </a:rPr>
              <a:t>domain–specific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goals</a:t>
            </a:r>
            <a:r>
              <a:rPr sz="1100" spc="-35" dirty="0">
                <a:latin typeface="Georgia"/>
                <a:cs typeface="Georgia"/>
              </a:rPr>
              <a:t>: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depends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business 	applications.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Some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domains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require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explanation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recommended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items;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Some 	</a:t>
            </a:r>
            <a:r>
              <a:rPr sz="1100" spc="-30" dirty="0">
                <a:latin typeface="Georgia"/>
                <a:cs typeface="Georgia"/>
              </a:rPr>
              <a:t>need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direct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suggestions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while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some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indirect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recommendation.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9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spc="229" dirty="0"/>
              <a:t> </a:t>
            </a:r>
            <a:r>
              <a:rPr dirty="0"/>
              <a:t>typical</a:t>
            </a:r>
            <a:r>
              <a:rPr spc="240" dirty="0"/>
              <a:t> </a:t>
            </a:r>
            <a:r>
              <a:rPr dirty="0"/>
              <a:t>recommender</a:t>
            </a:r>
            <a:r>
              <a:rPr spc="229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8042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79397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10608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41819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78838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200192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31404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62615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4177" y="429543"/>
            <a:ext cx="5071745" cy="241871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spc="-10" dirty="0">
                <a:latin typeface="Cambria"/>
                <a:cs typeface="Cambria"/>
              </a:rPr>
              <a:t>GroupLens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system:</a:t>
            </a:r>
            <a:endParaRPr sz="1100">
              <a:latin typeface="Georgia"/>
              <a:cs typeface="Georgia"/>
            </a:endParaRPr>
          </a:p>
          <a:p>
            <a:pPr marL="289560" marR="29845">
              <a:lnSpc>
                <a:spcPts val="1019"/>
              </a:lnSpc>
              <a:spcBef>
                <a:spcPts val="605"/>
              </a:spcBef>
            </a:pPr>
            <a:r>
              <a:rPr sz="1000" spc="20" dirty="0">
                <a:latin typeface="Times New Roman"/>
                <a:cs typeface="Times New Roman"/>
              </a:rPr>
              <a:t>A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pioneering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prototype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recommender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system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(recommendation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of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Usenet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news),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later </a:t>
            </a:r>
            <a:r>
              <a:rPr sz="1000" spc="10" dirty="0">
                <a:latin typeface="Times New Roman"/>
                <a:cs typeface="Times New Roman"/>
              </a:rPr>
              <a:t>extended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book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movie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recommendation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like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BookLens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MovieLens.</a:t>
            </a:r>
            <a:endParaRPr sz="1000">
              <a:latin typeface="Times New Roman"/>
              <a:cs typeface="Times New Roman"/>
            </a:endParaRPr>
          </a:p>
          <a:p>
            <a:pPr marL="289560" marR="341630">
              <a:lnSpc>
                <a:spcPts val="1019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GroupLens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now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research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lab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at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University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Minnesota,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made </a:t>
            </a:r>
            <a:r>
              <a:rPr sz="1000" spc="10" dirty="0">
                <a:latin typeface="Times New Roman"/>
                <a:cs typeface="Times New Roman"/>
              </a:rPr>
              <a:t>pioneering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contributions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collaborative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filtering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research.</a:t>
            </a:r>
            <a:endParaRPr sz="1000">
              <a:latin typeface="Times New Roman"/>
              <a:cs typeface="Times New Roman"/>
            </a:endParaRPr>
          </a:p>
          <a:p>
            <a:pPr marL="289560" marR="319405">
              <a:lnSpc>
                <a:spcPts val="1019"/>
              </a:lnSpc>
              <a:spcBef>
                <a:spcPts val="415"/>
              </a:spcBef>
            </a:pPr>
            <a:r>
              <a:rPr sz="1000" spc="10" dirty="0">
                <a:latin typeface="Times New Roman"/>
                <a:cs typeface="Times New Roman"/>
              </a:rPr>
              <a:t>Have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released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important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datasets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this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field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like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MovieLens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with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different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sizes </a:t>
            </a:r>
            <a:r>
              <a:rPr sz="1000" spc="45" dirty="0">
                <a:latin typeface="Times New Roman"/>
                <a:cs typeface="Times New Roman"/>
              </a:rPr>
              <a:t>(</a:t>
            </a:r>
            <a:r>
              <a:rPr sz="1000" spc="45" dirty="0">
                <a:solidFill>
                  <a:srgbClr val="0000FF"/>
                </a:solidFill>
                <a:latin typeface="Cambria"/>
                <a:cs typeface="Cambria"/>
              </a:rPr>
              <a:t>https://grouplens.org/datasets/movielens</a:t>
            </a:r>
            <a:r>
              <a:rPr sz="1000" spc="45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spc="-40" dirty="0">
                <a:latin typeface="Cambria"/>
                <a:cs typeface="Cambria"/>
              </a:rPr>
              <a:t>Amazon.com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system: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ts val="1019"/>
              </a:lnSpc>
              <a:spcBef>
                <a:spcPts val="600"/>
              </a:spcBef>
            </a:pPr>
            <a:r>
              <a:rPr sz="1000" spc="10" dirty="0">
                <a:latin typeface="Times New Roman"/>
                <a:cs typeface="Times New Roman"/>
              </a:rPr>
              <a:t>One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of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pioneers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recommender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systems,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especially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e–commerce.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Starting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with </a:t>
            </a:r>
            <a:r>
              <a:rPr sz="1000" spc="10" dirty="0">
                <a:latin typeface="Times New Roman"/>
                <a:cs typeface="Times New Roman"/>
              </a:rPr>
              <a:t>book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recommendation,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later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expanded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virtually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all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forms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of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products.</a:t>
            </a:r>
            <a:endParaRPr sz="1000">
              <a:latin typeface="Times New Roman"/>
              <a:cs typeface="Times New Roman"/>
            </a:endParaRPr>
          </a:p>
          <a:p>
            <a:pPr marL="289560" marR="203200">
              <a:lnSpc>
                <a:spcPts val="1019"/>
              </a:lnSpc>
              <a:spcBef>
                <a:spcPts val="420"/>
              </a:spcBef>
            </a:pPr>
            <a:r>
              <a:rPr sz="1000" spc="10" dirty="0">
                <a:latin typeface="Times New Roman"/>
                <a:cs typeface="Times New Roman"/>
              </a:rPr>
              <a:t>Amazon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recommendations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are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based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both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implicit</a:t>
            </a:r>
            <a:r>
              <a:rPr sz="1000" i="1" spc="260" dirty="0">
                <a:latin typeface="Palatino Linotype"/>
                <a:cs typeface="Palatino Linotype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ratings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(like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browsing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buying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behaviors)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well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explicit</a:t>
            </a:r>
            <a:r>
              <a:rPr sz="1000" i="1" spc="315" dirty="0">
                <a:latin typeface="Palatino Linotype"/>
                <a:cs typeface="Palatino Linotype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(5–point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scale,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1–star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5–star).</a:t>
            </a:r>
            <a:endParaRPr sz="1000">
              <a:latin typeface="Times New Roman"/>
              <a:cs typeface="Times New Roman"/>
            </a:endParaRPr>
          </a:p>
          <a:p>
            <a:pPr marL="289560" marR="6350">
              <a:lnSpc>
                <a:spcPts val="1019"/>
              </a:lnSpc>
              <a:spcBef>
                <a:spcPts val="415"/>
              </a:spcBef>
            </a:pPr>
            <a:r>
              <a:rPr sz="1000" spc="10" dirty="0">
                <a:latin typeface="Times New Roman"/>
                <a:cs typeface="Times New Roman"/>
              </a:rPr>
              <a:t>Recommendations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are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based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on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both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(item–based)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collaborative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filtering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frequent </a:t>
            </a:r>
            <a:r>
              <a:rPr sz="1000" spc="50" dirty="0">
                <a:latin typeface="Times New Roman"/>
                <a:cs typeface="Times New Roman"/>
              </a:rPr>
              <a:t>patterns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(e.g.,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frequently</a:t>
            </a:r>
            <a:r>
              <a:rPr sz="1000" i="1" spc="13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bought</a:t>
            </a:r>
            <a:r>
              <a:rPr sz="1000" i="1" spc="13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together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bought</a:t>
            </a:r>
            <a:r>
              <a:rPr sz="1000" i="1" spc="13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this</a:t>
            </a:r>
            <a:r>
              <a:rPr sz="1000" i="1" spc="13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also</a:t>
            </a:r>
            <a:r>
              <a:rPr sz="1000" i="1" spc="13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bought</a:t>
            </a:r>
            <a:r>
              <a:rPr sz="1000" i="1" spc="13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that</a:t>
            </a:r>
            <a:r>
              <a:rPr sz="1000" i="1" spc="-150" dirty="0">
                <a:latin typeface="Palatino Linotype"/>
                <a:cs typeface="Palatino Linotype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3" name="object 13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10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spc="229" dirty="0"/>
              <a:t> </a:t>
            </a:r>
            <a:r>
              <a:rPr dirty="0"/>
              <a:t>typical</a:t>
            </a:r>
            <a:r>
              <a:rPr spc="240" dirty="0"/>
              <a:t> </a:t>
            </a:r>
            <a:r>
              <a:rPr dirty="0"/>
              <a:t>recommender</a:t>
            </a:r>
            <a:r>
              <a:rPr spc="229" dirty="0"/>
              <a:t> </a:t>
            </a:r>
            <a:r>
              <a:rPr dirty="0"/>
              <a:t>systems</a:t>
            </a:r>
            <a:r>
              <a:rPr spc="240" dirty="0"/>
              <a:t> </a:t>
            </a:r>
            <a:r>
              <a:rPr spc="-10"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0002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71356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89661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13775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35670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7331" y="155430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75190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7331" y="194951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7331" y="212181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33017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0229" y="251322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0229" y="269628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0229" y="287933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4177" y="349153"/>
            <a:ext cx="5074285" cy="262318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spc="105" dirty="0">
                <a:latin typeface="Cambria"/>
                <a:cs typeface="Cambria"/>
              </a:rPr>
              <a:t>Netflix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spc="-25" dirty="0">
                <a:latin typeface="Georgia"/>
                <a:cs typeface="Georgia"/>
              </a:rPr>
              <a:t>movie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recommender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spc="10" dirty="0">
                <a:latin typeface="Times New Roman"/>
                <a:cs typeface="Times New Roman"/>
              </a:rPr>
              <a:t>Recommendation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built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based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on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5–point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scale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ratings.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4"/>
              </a:spcBef>
            </a:pPr>
            <a:r>
              <a:rPr sz="1000" dirty="0">
                <a:latin typeface="Times New Roman"/>
                <a:cs typeface="Times New Roman"/>
              </a:rPr>
              <a:t>Providing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meaningful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explanations</a:t>
            </a:r>
            <a:r>
              <a:rPr sz="1000" i="1" spc="335" dirty="0">
                <a:latin typeface="Palatino Linotype"/>
                <a:cs typeface="Palatino Linotype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recommended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spc="105" dirty="0">
                <a:latin typeface="Cambria"/>
                <a:cs typeface="Cambria"/>
              </a:rPr>
              <a:t>Netflix</a:t>
            </a:r>
            <a:r>
              <a:rPr sz="1100" spc="260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Prize</a:t>
            </a:r>
            <a:r>
              <a:rPr sz="1100" spc="260" dirty="0">
                <a:latin typeface="Cambria"/>
                <a:cs typeface="Cambria"/>
              </a:rPr>
              <a:t> </a:t>
            </a:r>
            <a:r>
              <a:rPr sz="1100" spc="50" dirty="0">
                <a:latin typeface="Cambria"/>
                <a:cs typeface="Cambria"/>
              </a:rPr>
              <a:t>contest</a:t>
            </a:r>
            <a:r>
              <a:rPr sz="1100" spc="50" dirty="0">
                <a:latin typeface="Georgia"/>
                <a:cs typeface="Georgia"/>
              </a:rPr>
              <a:t>:</a:t>
            </a:r>
            <a:r>
              <a:rPr sz="1100" spc="17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predicting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particular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user–item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combinations.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59"/>
              </a:spcBef>
            </a:pPr>
            <a:r>
              <a:rPr sz="1000" dirty="0">
                <a:latin typeface="Times New Roman"/>
                <a:cs typeface="Times New Roman"/>
              </a:rPr>
              <a:t>Training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data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set:</a:t>
            </a:r>
            <a:r>
              <a:rPr sz="1000" spc="2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100,480,507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(480,189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17,770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movies),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including</a:t>
            </a:r>
            <a:endParaRPr sz="1000">
              <a:latin typeface="Times New Roman"/>
              <a:cs typeface="Times New Roman"/>
            </a:endParaRPr>
          </a:p>
          <a:p>
            <a:pPr marL="566420">
              <a:lnSpc>
                <a:spcPct val="100000"/>
              </a:lnSpc>
              <a:spcBef>
                <a:spcPts val="455"/>
              </a:spcBef>
            </a:pPr>
            <a:r>
              <a:rPr sz="900" dirty="0">
                <a:latin typeface="Georgia"/>
                <a:cs typeface="Georgia"/>
              </a:rPr>
              <a:t>Probe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set:</a:t>
            </a:r>
            <a:r>
              <a:rPr sz="900" spc="165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1,408,395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ratings.</a:t>
            </a:r>
            <a:endParaRPr sz="9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380"/>
              </a:spcBef>
            </a:pPr>
            <a:r>
              <a:rPr sz="1000" dirty="0">
                <a:latin typeface="Times New Roman"/>
                <a:cs typeface="Times New Roman"/>
              </a:rPr>
              <a:t>Qualifying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data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set:</a:t>
            </a:r>
            <a:r>
              <a:rPr sz="1000" spc="3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2,817,131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(hidden),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consisting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of:</a:t>
            </a:r>
            <a:endParaRPr sz="1000">
              <a:latin typeface="Times New Roman"/>
              <a:cs typeface="Times New Roman"/>
            </a:endParaRPr>
          </a:p>
          <a:p>
            <a:pPr marL="566420" marR="1182370">
              <a:lnSpc>
                <a:spcPct val="125600"/>
              </a:lnSpc>
              <a:spcBef>
                <a:spcPts val="175"/>
              </a:spcBef>
            </a:pPr>
            <a:r>
              <a:rPr sz="900" dirty="0">
                <a:latin typeface="Georgia"/>
                <a:cs typeface="Georgia"/>
              </a:rPr>
              <a:t>Quiz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set:</a:t>
            </a:r>
            <a:r>
              <a:rPr sz="900" spc="155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1,408,342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ratings;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used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calculate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leaderboard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scores. </a:t>
            </a:r>
            <a:r>
              <a:rPr sz="900" dirty="0">
                <a:latin typeface="Georgia"/>
                <a:cs typeface="Georgia"/>
              </a:rPr>
              <a:t>Test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set:</a:t>
            </a:r>
            <a:r>
              <a:rPr sz="900" spc="14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1,408,789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ratings;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used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determine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winners.</a:t>
            </a:r>
            <a:endParaRPr sz="900">
              <a:latin typeface="Georgia"/>
              <a:cs typeface="Georgia"/>
            </a:endParaRPr>
          </a:p>
          <a:p>
            <a:pPr marL="289560" marR="216535">
              <a:lnSpc>
                <a:spcPct val="120100"/>
              </a:lnSpc>
              <a:spcBef>
                <a:spcPts val="220"/>
              </a:spcBef>
            </a:pPr>
            <a:r>
              <a:rPr sz="1000" spc="50" dirty="0">
                <a:latin typeface="Times New Roman"/>
                <a:cs typeface="Times New Roman"/>
              </a:rPr>
              <a:t>Data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contain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information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about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movies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except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IDs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ratings. </a:t>
            </a:r>
            <a:r>
              <a:rPr sz="1000" spc="10" dirty="0">
                <a:latin typeface="Times New Roman"/>
                <a:cs typeface="Times New Roman"/>
              </a:rPr>
              <a:t>Submitted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predictions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are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scored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against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true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grades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RMSE.</a:t>
            </a:r>
            <a:endParaRPr sz="1000">
              <a:latin typeface="Times New Roman"/>
              <a:cs typeface="Times New Roman"/>
            </a:endParaRPr>
          </a:p>
          <a:p>
            <a:pPr marL="289560" marR="5080">
              <a:lnSpc>
                <a:spcPct val="120100"/>
              </a:lnSpc>
            </a:pP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ranking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is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based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on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improvement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over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Netflix’s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own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algorithm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ambria"/>
                <a:cs typeface="Cambria"/>
              </a:rPr>
              <a:t>Cinematch</a:t>
            </a:r>
            <a:r>
              <a:rPr sz="1000" spc="-10" dirty="0">
                <a:latin typeface="Times New Roman"/>
                <a:cs typeface="Times New Roman"/>
              </a:rPr>
              <a:t>.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grand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prize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US$1M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given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Cambria"/>
                <a:cs typeface="Cambria"/>
              </a:rPr>
              <a:t>BellKor’s</a:t>
            </a:r>
            <a:r>
              <a:rPr sz="1000" spc="434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Pragmatic</a:t>
            </a:r>
            <a:r>
              <a:rPr sz="1000" spc="440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Chaos</a:t>
            </a:r>
            <a:r>
              <a:rPr sz="1000" spc="200" dirty="0">
                <a:latin typeface="Cambria"/>
                <a:cs typeface="Cambr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team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2009.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8" name="object 18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11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spc="229" dirty="0"/>
              <a:t> </a:t>
            </a:r>
            <a:r>
              <a:rPr dirty="0"/>
              <a:t>typical</a:t>
            </a:r>
            <a:r>
              <a:rPr spc="240" dirty="0"/>
              <a:t> </a:t>
            </a:r>
            <a:r>
              <a:rPr dirty="0"/>
              <a:t>recommender</a:t>
            </a:r>
            <a:r>
              <a:rPr spc="229" dirty="0"/>
              <a:t> </a:t>
            </a:r>
            <a:r>
              <a:rPr dirty="0"/>
              <a:t>systems</a:t>
            </a:r>
            <a:r>
              <a:rPr spc="240" dirty="0"/>
              <a:t> </a:t>
            </a:r>
            <a:r>
              <a:rPr spc="-10"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81975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103329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21635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39941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64054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85408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03714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22018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40324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3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>
                <a:latin typeface="Cambria"/>
                <a:cs typeface="Cambria"/>
              </a:rPr>
              <a:t>Google</a:t>
            </a:r>
            <a:r>
              <a:rPr spc="120" dirty="0">
                <a:latin typeface="Cambria"/>
                <a:cs typeface="Cambria"/>
              </a:rPr>
              <a:t> </a:t>
            </a:r>
            <a:r>
              <a:rPr spc="-25" dirty="0"/>
              <a:t>news</a:t>
            </a:r>
            <a:r>
              <a:rPr spc="100" dirty="0"/>
              <a:t> </a:t>
            </a:r>
            <a:r>
              <a:rPr spc="-25" dirty="0"/>
              <a:t>personalization</a:t>
            </a:r>
            <a:r>
              <a:rPr spc="100" dirty="0"/>
              <a:t> </a:t>
            </a:r>
            <a:r>
              <a:rPr spc="-10" dirty="0"/>
              <a:t>system:</a:t>
            </a: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Recommend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news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history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clicks.</a:t>
            </a:r>
            <a:endParaRPr sz="1000">
              <a:latin typeface="Times New Roman"/>
              <a:cs typeface="Times New Roman"/>
            </a:endParaRPr>
          </a:p>
          <a:p>
            <a:pPr marL="289560" marR="5080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News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articles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treated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items.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clicking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news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article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positive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rating. </a:t>
            </a:r>
            <a:r>
              <a:rPr sz="1000" spc="10" dirty="0">
                <a:latin typeface="Times New Roman"/>
                <a:cs typeface="Times New Roman"/>
              </a:rPr>
              <a:t>Recommendations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are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based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collaborative</a:t>
            </a:r>
            <a:r>
              <a:rPr sz="1000" i="1" spc="185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filtering</a:t>
            </a:r>
            <a:r>
              <a:rPr sz="1000" i="1" spc="260" dirty="0">
                <a:latin typeface="Palatino Linotype"/>
                <a:cs typeface="Palatino Linotype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with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these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implicit</a:t>
            </a:r>
            <a:r>
              <a:rPr sz="1000" i="1" spc="260" dirty="0">
                <a:latin typeface="Palatino Linotype"/>
                <a:cs typeface="Palatino Linotype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ratings.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>
                <a:latin typeface="Cambria"/>
                <a:cs typeface="Cambria"/>
              </a:rPr>
              <a:t>Facebook</a:t>
            </a:r>
            <a:r>
              <a:rPr spc="50" dirty="0">
                <a:latin typeface="Cambria"/>
                <a:cs typeface="Cambria"/>
              </a:rPr>
              <a:t> </a:t>
            </a:r>
            <a:r>
              <a:rPr spc="-25" dirty="0"/>
              <a:t>friend</a:t>
            </a:r>
            <a:r>
              <a:rPr spc="35" dirty="0"/>
              <a:t> </a:t>
            </a:r>
            <a:r>
              <a:rPr spc="-10" dirty="0"/>
              <a:t>recommendations:</a:t>
            </a:r>
          </a:p>
          <a:p>
            <a:pPr marL="289560" marR="268605">
              <a:lnSpc>
                <a:spcPct val="120100"/>
              </a:lnSpc>
              <a:spcBef>
                <a:spcPts val="180"/>
              </a:spcBef>
            </a:pPr>
            <a:r>
              <a:rPr sz="1000" spc="10" dirty="0">
                <a:latin typeface="Times New Roman"/>
                <a:cs typeface="Times New Roman"/>
              </a:rPr>
              <a:t>Recommend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potential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friends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users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order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increase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social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connections.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slightly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different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goals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product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recommendation.</a:t>
            </a:r>
            <a:endParaRPr sz="1000">
              <a:latin typeface="Times New Roman"/>
              <a:cs typeface="Times New Roman"/>
            </a:endParaRPr>
          </a:p>
          <a:p>
            <a:pPr marL="289560" marR="328295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also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referred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link</a:t>
            </a:r>
            <a:r>
              <a:rPr sz="1000" i="1" spc="17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prediction</a:t>
            </a:r>
            <a:r>
              <a:rPr sz="1000" i="1" spc="229" dirty="0">
                <a:latin typeface="Palatino Linotype"/>
                <a:cs typeface="Palatino Linotype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field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social</a:t>
            </a:r>
            <a:r>
              <a:rPr sz="1000" i="1" spc="17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network</a:t>
            </a:r>
            <a:r>
              <a:rPr sz="1000" i="1" spc="170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analysis</a:t>
            </a:r>
            <a:r>
              <a:rPr sz="1000" spc="-10" dirty="0">
                <a:latin typeface="Times New Roman"/>
                <a:cs typeface="Times New Roman"/>
              </a:rPr>
              <a:t>. </a:t>
            </a:r>
            <a:r>
              <a:rPr sz="1000" spc="10" dirty="0">
                <a:latin typeface="Times New Roman"/>
                <a:cs typeface="Times New Roman"/>
              </a:rPr>
              <a:t>Recommendations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are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based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structural</a:t>
            </a:r>
            <a:r>
              <a:rPr sz="1000" i="1" spc="204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relationships</a:t>
            </a:r>
            <a:r>
              <a:rPr sz="1000" i="1" spc="285" dirty="0">
                <a:latin typeface="Palatino Linotype"/>
                <a:cs typeface="Palatino Linotype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rather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rating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data.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4" name="object 14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12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33724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Some</a:t>
            </a:r>
            <a:r>
              <a:rPr sz="1400" spc="229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typical</a:t>
            </a:r>
            <a:r>
              <a:rPr sz="1400" spc="24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recommender</a:t>
            </a:r>
            <a:r>
              <a:rPr sz="1400" spc="229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systems</a:t>
            </a:r>
            <a:r>
              <a:rPr sz="1400" spc="24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CC0000"/>
                </a:solidFill>
                <a:latin typeface="Times New Roman"/>
                <a:cs typeface="Times New Roman"/>
              </a:rPr>
              <a:t>(cont’d)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72883" y="505752"/>
          <a:ext cx="3608704" cy="238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3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1100" b="1" spc="-10" dirty="0">
                          <a:latin typeface="Georgia"/>
                          <a:cs typeface="Georgia"/>
                        </a:rPr>
                        <a:t>System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1100" b="1" spc="-10" dirty="0">
                          <a:latin typeface="Georgia"/>
                          <a:cs typeface="Georgia"/>
                        </a:rPr>
                        <a:t>Domain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895"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MovieLens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Movies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Amazon.com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E-</a:t>
                      </a:r>
                      <a:r>
                        <a:rPr sz="1100" spc="-35" dirty="0">
                          <a:latin typeface="Georgia"/>
                          <a:cs typeface="Georgia"/>
                        </a:rPr>
                        <a:t>commerce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dirty="0">
                          <a:latin typeface="Georgia"/>
                          <a:cs typeface="Georgia"/>
                        </a:rPr>
                        <a:t>(books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 other products)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Netflix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DVDs</a:t>
                      </a:r>
                      <a:r>
                        <a:rPr sz="1100" spc="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1100" spc="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20" dirty="0">
                          <a:latin typeface="Georgia"/>
                          <a:cs typeface="Georgia"/>
                        </a:rPr>
                        <a:t>Streaming</a:t>
                      </a:r>
                      <a:r>
                        <a:rPr sz="1100" spc="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videos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Google</a:t>
                      </a:r>
                      <a:r>
                        <a:rPr sz="11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20" dirty="0">
                          <a:latin typeface="Georgia"/>
                          <a:cs typeface="Georgia"/>
                        </a:rPr>
                        <a:t>News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Online </a:t>
                      </a:r>
                      <a:r>
                        <a:rPr sz="1100" spc="-20" dirty="0">
                          <a:latin typeface="Georgia"/>
                          <a:cs typeface="Georgia"/>
                        </a:rPr>
                        <a:t>news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Google</a:t>
                      </a:r>
                      <a:r>
                        <a:rPr sz="11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Search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Advertising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Facebook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35" dirty="0">
                          <a:latin typeface="Georgia"/>
                          <a:cs typeface="Georgia"/>
                        </a:rPr>
                        <a:t>Friends</a:t>
                      </a:r>
                      <a:r>
                        <a:rPr sz="1100" spc="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1100" spc="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Advertising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Pinterest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Photos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Tiktok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Short</a:t>
                      </a:r>
                      <a:r>
                        <a:rPr sz="1100" spc="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video</a:t>
                      </a:r>
                      <a:r>
                        <a:rPr sz="1100" spc="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clips</a:t>
                      </a:r>
                      <a:r>
                        <a:rPr sz="1100" spc="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25" dirty="0">
                          <a:latin typeface="Georgia"/>
                          <a:cs typeface="Georgia"/>
                        </a:rPr>
                        <a:t>(various</a:t>
                      </a:r>
                      <a:r>
                        <a:rPr sz="1100" spc="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domains)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Youtube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Videos</a:t>
                      </a:r>
                      <a:r>
                        <a:rPr sz="1100" spc="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25" dirty="0">
                          <a:latin typeface="Georgia"/>
                          <a:cs typeface="Georgia"/>
                        </a:rPr>
                        <a:t>(various</a:t>
                      </a:r>
                      <a:r>
                        <a:rPr sz="1100" spc="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domains)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Pandora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Music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Spotify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Music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Tripadvisor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Travel</a:t>
                      </a:r>
                      <a:r>
                        <a:rPr sz="1100" spc="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10" dirty="0">
                          <a:latin typeface="Georgia"/>
                          <a:cs typeface="Georgia"/>
                        </a:rPr>
                        <a:t>products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20" dirty="0">
                          <a:latin typeface="Georgia"/>
                          <a:cs typeface="Georgia"/>
                        </a:rPr>
                        <a:t>IMDb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Georgia"/>
                          <a:cs typeface="Georgia"/>
                        </a:rPr>
                        <a:t>Movies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13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Major</a:t>
            </a:r>
            <a:r>
              <a:rPr spc="265" dirty="0"/>
              <a:t> </a:t>
            </a:r>
            <a:r>
              <a:rPr dirty="0"/>
              <a:t>approaches</a:t>
            </a:r>
            <a:r>
              <a:rPr spc="275" dirty="0"/>
              <a:t> </a:t>
            </a:r>
            <a:r>
              <a:rPr spc="55" dirty="0"/>
              <a:t>to</a:t>
            </a:r>
            <a:r>
              <a:rPr spc="265" dirty="0"/>
              <a:t> </a:t>
            </a:r>
            <a:r>
              <a:rPr dirty="0"/>
              <a:t>building</a:t>
            </a:r>
            <a:r>
              <a:rPr spc="265" dirty="0"/>
              <a:t> </a:t>
            </a:r>
            <a:r>
              <a:rPr dirty="0"/>
              <a:t>recommender</a:t>
            </a:r>
            <a:r>
              <a:rPr spc="27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117461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1011044"/>
            <a:ext cx="3068320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6395">
              <a:lnSpc>
                <a:spcPct val="142100"/>
              </a:lnSpc>
              <a:spcBef>
                <a:spcPts val="100"/>
              </a:spcBef>
            </a:pPr>
            <a:r>
              <a:rPr sz="1100" spc="-10" dirty="0">
                <a:latin typeface="Georgia"/>
                <a:cs typeface="Georgia"/>
              </a:rPr>
              <a:t>Collaborative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filtering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 </a:t>
            </a:r>
            <a:r>
              <a:rPr sz="1100" spc="-35" dirty="0">
                <a:latin typeface="Georgia"/>
                <a:cs typeface="Georgia"/>
              </a:rPr>
              <a:t>Content–based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 </a:t>
            </a:r>
            <a:r>
              <a:rPr sz="1100" spc="-40" dirty="0">
                <a:latin typeface="Georgia"/>
                <a:cs typeface="Georgia"/>
              </a:rPr>
              <a:t>Knowledge–based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spc="-10" dirty="0">
                <a:latin typeface="Georgia"/>
                <a:cs typeface="Georgia"/>
              </a:rPr>
              <a:t>Hybrid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ensemble–based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141282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65105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88926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14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Collaborative</a:t>
            </a:r>
            <a:r>
              <a:rPr spc="295" dirty="0"/>
              <a:t> </a:t>
            </a:r>
            <a:r>
              <a:rPr dirty="0"/>
              <a:t>filtering</a:t>
            </a:r>
            <a:r>
              <a:rPr spc="295" dirty="0"/>
              <a:t> </a:t>
            </a:r>
            <a:r>
              <a:rPr dirty="0"/>
              <a:t>recommender</a:t>
            </a:r>
            <a:r>
              <a:rPr spc="29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48160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390002"/>
            <a:ext cx="5102225" cy="11226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164465">
              <a:lnSpc>
                <a:spcPts val="1120"/>
              </a:lnSpc>
              <a:spcBef>
                <a:spcPts val="295"/>
              </a:spcBef>
            </a:pPr>
            <a:r>
              <a:rPr sz="1100" b="1" spc="-25" dirty="0">
                <a:latin typeface="Georgia"/>
                <a:cs typeface="Georgia"/>
              </a:rPr>
              <a:t>Collaborative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filtering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1" dirty="0">
                <a:latin typeface="Georgia"/>
                <a:cs typeface="Georgia"/>
              </a:rPr>
              <a:t>CF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approach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making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predictions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about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 interests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collecting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preferences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taste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information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from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users.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ts val="1019"/>
              </a:lnSpc>
              <a:spcBef>
                <a:spcPts val="305"/>
              </a:spcBef>
            </a:pP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underlying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assumption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of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CF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that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if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person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Georgia"/>
                <a:cs typeface="Georgia"/>
              </a:rPr>
              <a:t>u</a:t>
            </a:r>
            <a:r>
              <a:rPr sz="1000" i="1" spc="140" dirty="0">
                <a:latin typeface="Georgia"/>
                <a:cs typeface="Georgia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has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same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opinion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a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person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v</a:t>
            </a:r>
            <a:r>
              <a:rPr sz="1000" i="1" spc="17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issue,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u</a:t>
            </a:r>
            <a:r>
              <a:rPr sz="1000" i="1" spc="13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likely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v</a:t>
            </a:r>
            <a:r>
              <a:rPr sz="1000" dirty="0">
                <a:latin typeface="Times New Roman"/>
                <a:cs typeface="Times New Roman"/>
              </a:rPr>
              <a:t>’s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opinion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another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issue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that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randomly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chosen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person.</a:t>
            </a:r>
            <a:endParaRPr sz="1000">
              <a:latin typeface="Times New Roman"/>
              <a:cs typeface="Times New Roman"/>
            </a:endParaRPr>
          </a:p>
          <a:p>
            <a:pPr marL="12700" marR="121285">
              <a:lnSpc>
                <a:spcPts val="1150"/>
              </a:lnSpc>
              <a:spcBef>
                <a:spcPts val="545"/>
              </a:spcBef>
            </a:pPr>
            <a:r>
              <a:rPr sz="1100" spc="-10" dirty="0">
                <a:latin typeface="Georgia"/>
                <a:cs typeface="Georgia"/>
              </a:rPr>
              <a:t>Collaborative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filtering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models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collaborative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power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ratings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provided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multiple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make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recommendations.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126621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420" y="1565231"/>
            <a:ext cx="4157144" cy="11749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27871" y="2756491"/>
            <a:ext cx="9055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latin typeface="Georgia"/>
                <a:cs typeface="Georgia"/>
              </a:rPr>
              <a:t>[source:</a:t>
            </a:r>
            <a:r>
              <a:rPr sz="900" spc="114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Internet]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15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Content–based</a:t>
            </a:r>
            <a:r>
              <a:rPr spc="400" dirty="0"/>
              <a:t> </a:t>
            </a:r>
            <a:r>
              <a:rPr dirty="0"/>
              <a:t>recommender</a:t>
            </a:r>
            <a:r>
              <a:rPr spc="40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71293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105554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23859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47974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69327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87633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05938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5819" rIns="0" bIns="0" rtlCol="0">
            <a:spAutoFit/>
          </a:bodyPr>
          <a:lstStyle/>
          <a:p>
            <a:pPr marL="12700" marR="5080">
              <a:lnSpc>
                <a:spcPct val="77000"/>
              </a:lnSpc>
              <a:spcBef>
                <a:spcPts val="395"/>
              </a:spcBef>
            </a:pPr>
            <a:r>
              <a:rPr dirty="0"/>
              <a:t>The</a:t>
            </a:r>
            <a:r>
              <a:rPr spc="35" dirty="0"/>
              <a:t> </a:t>
            </a:r>
            <a:r>
              <a:rPr spc="-20" dirty="0"/>
              <a:t>main</a:t>
            </a:r>
            <a:r>
              <a:rPr spc="35" dirty="0"/>
              <a:t> </a:t>
            </a:r>
            <a:r>
              <a:rPr dirty="0"/>
              <a:t>idea</a:t>
            </a:r>
            <a:r>
              <a:rPr spc="4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40" dirty="0"/>
              <a:t>content–based</a:t>
            </a:r>
            <a:r>
              <a:rPr spc="35" dirty="0"/>
              <a:t> </a:t>
            </a:r>
            <a:r>
              <a:rPr spc="-40" dirty="0"/>
              <a:t>recommendation</a:t>
            </a:r>
            <a:r>
              <a:rPr spc="4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spc="-20" dirty="0"/>
              <a:t>suggest</a:t>
            </a:r>
            <a:r>
              <a:rPr spc="35" dirty="0"/>
              <a:t> </a:t>
            </a:r>
            <a:r>
              <a:rPr spc="-10" dirty="0"/>
              <a:t>items</a:t>
            </a:r>
            <a:r>
              <a:rPr spc="35" dirty="0"/>
              <a:t> </a:t>
            </a:r>
            <a:r>
              <a:rPr b="1" spc="-50" dirty="0">
                <a:latin typeface="Georgia"/>
                <a:cs typeface="Georgia"/>
              </a:rPr>
              <a:t>similar</a:t>
            </a:r>
            <a:r>
              <a:rPr b="1" spc="20" dirty="0">
                <a:latin typeface="Georgia"/>
                <a:cs typeface="Georgia"/>
              </a:rPr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spc="-25" dirty="0"/>
              <a:t>the </a:t>
            </a:r>
            <a:r>
              <a:rPr spc="-10" dirty="0"/>
              <a:t>items</a:t>
            </a:r>
            <a:r>
              <a:rPr spc="55" dirty="0"/>
              <a:t> </a:t>
            </a:r>
            <a:r>
              <a:rPr dirty="0"/>
              <a:t>that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spc="-20" dirty="0"/>
              <a:t>user</a:t>
            </a:r>
            <a:r>
              <a:rPr spc="55" dirty="0"/>
              <a:t> </a:t>
            </a:r>
            <a:r>
              <a:rPr b="1" spc="-40" dirty="0">
                <a:latin typeface="Georgia"/>
                <a:cs typeface="Georgia"/>
              </a:rPr>
              <a:t>interacted</a:t>
            </a:r>
            <a:r>
              <a:rPr b="1" spc="50" dirty="0">
                <a:latin typeface="Georgia"/>
                <a:cs typeface="Georgia"/>
              </a:rPr>
              <a:t> </a:t>
            </a:r>
            <a:r>
              <a:rPr dirty="0"/>
              <a:t>with</a:t>
            </a:r>
            <a:r>
              <a:rPr spc="60" dirty="0"/>
              <a:t> </a:t>
            </a:r>
            <a:r>
              <a:rPr dirty="0"/>
              <a:t>in</a:t>
            </a:r>
            <a:r>
              <a:rPr spc="55" dirty="0"/>
              <a:t> </a:t>
            </a:r>
            <a:r>
              <a:rPr b="1" dirty="0">
                <a:latin typeface="Georgia"/>
                <a:cs typeface="Georgia"/>
              </a:rPr>
              <a:t>the</a:t>
            </a:r>
            <a:r>
              <a:rPr b="1" spc="95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past</a:t>
            </a:r>
            <a:r>
              <a:rPr dirty="0"/>
              <a:t>.</a:t>
            </a:r>
            <a:r>
              <a:rPr spc="160" dirty="0"/>
              <a:t> </a:t>
            </a:r>
            <a:r>
              <a:rPr i="1" dirty="0">
                <a:latin typeface="Palatino Linotype"/>
                <a:cs typeface="Palatino Linotype"/>
              </a:rPr>
              <a:t>Interacted</a:t>
            </a:r>
            <a:r>
              <a:rPr i="1" spc="150" dirty="0">
                <a:latin typeface="Palatino Linotype"/>
                <a:cs typeface="Palatino Linotype"/>
              </a:rPr>
              <a:t> </a:t>
            </a:r>
            <a:r>
              <a:rPr spc="-10" dirty="0"/>
              <a:t>means</a:t>
            </a:r>
          </a:p>
          <a:p>
            <a:pPr marL="289560" marR="514984">
              <a:lnSpc>
                <a:spcPct val="120100"/>
              </a:lnSpc>
              <a:spcBef>
                <a:spcPts val="180"/>
              </a:spcBef>
            </a:pPr>
            <a:r>
              <a:rPr sz="1000" spc="10" dirty="0">
                <a:latin typeface="Times New Roman"/>
                <a:cs typeface="Times New Roman"/>
              </a:rPr>
              <a:t>User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actions: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browsing,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reading,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watching,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add–to–cart,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buying,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sharing,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explicit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/>
              <a:t>The</a:t>
            </a:r>
            <a:r>
              <a:rPr spc="25" dirty="0"/>
              <a:t> </a:t>
            </a:r>
            <a:r>
              <a:rPr spc="-40" dirty="0"/>
              <a:t>recommendations</a:t>
            </a:r>
            <a:r>
              <a:rPr spc="30" dirty="0"/>
              <a:t> </a:t>
            </a:r>
            <a:r>
              <a:rPr spc="-10" dirty="0"/>
              <a:t>for</a:t>
            </a:r>
            <a:r>
              <a:rPr spc="3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particular</a:t>
            </a:r>
            <a:r>
              <a:rPr spc="30" dirty="0"/>
              <a:t> </a:t>
            </a:r>
            <a:r>
              <a:rPr spc="-20" dirty="0"/>
              <a:t>user</a:t>
            </a:r>
            <a:r>
              <a:rPr spc="30" dirty="0"/>
              <a:t> </a:t>
            </a:r>
            <a:r>
              <a:rPr dirty="0"/>
              <a:t>are</a:t>
            </a:r>
            <a:r>
              <a:rPr spc="25" dirty="0"/>
              <a:t> </a:t>
            </a:r>
            <a:r>
              <a:rPr spc="-10" dirty="0"/>
              <a:t>based</a:t>
            </a:r>
            <a:r>
              <a:rPr spc="30" dirty="0"/>
              <a:t> </a:t>
            </a:r>
            <a:r>
              <a:rPr dirty="0"/>
              <a:t>on</a:t>
            </a:r>
            <a:r>
              <a:rPr spc="3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spc="-30" dirty="0"/>
              <a:t>following</a:t>
            </a:r>
            <a:r>
              <a:rPr spc="25" dirty="0"/>
              <a:t> </a:t>
            </a:r>
            <a:r>
              <a:rPr spc="-10" dirty="0"/>
              <a:t>information:</a:t>
            </a: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descriptive</a:t>
            </a:r>
            <a:r>
              <a:rPr sz="1000" b="1" spc="155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attributes</a:t>
            </a:r>
            <a:r>
              <a:rPr sz="1000" b="1" spc="114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content</a:t>
            </a:r>
            <a:r>
              <a:rPr sz="1000" b="1" spc="10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289560" marR="255270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basic</a:t>
            </a:r>
            <a:r>
              <a:rPr sz="1000" b="1" spc="185" dirty="0">
                <a:latin typeface="Georgia"/>
                <a:cs typeface="Georgia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info</a:t>
            </a:r>
            <a:r>
              <a:rPr sz="1000" b="1" spc="13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e.g.,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demographic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info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(gender,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age,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etc.)</a:t>
            </a:r>
            <a:r>
              <a:rPr sz="1000" spc="2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if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existing.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behaviors</a:t>
            </a:r>
            <a:r>
              <a:rPr sz="1000" b="1" spc="14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past,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i.e.,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interaction</a:t>
            </a:r>
            <a:r>
              <a:rPr sz="1000" b="1" spc="195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history</a:t>
            </a:r>
            <a:r>
              <a:rPr sz="1000" b="1" spc="16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user.</a:t>
            </a:r>
            <a:endParaRPr sz="1000">
              <a:latin typeface="Times New Roman"/>
              <a:cs typeface="Times New Roman"/>
            </a:endParaRPr>
          </a:p>
          <a:p>
            <a:pPr marL="12700" marR="5715">
              <a:lnSpc>
                <a:spcPct val="142100"/>
              </a:lnSpc>
              <a:spcBef>
                <a:spcPts val="215"/>
              </a:spcBef>
            </a:pPr>
            <a:r>
              <a:rPr dirty="0"/>
              <a:t>There</a:t>
            </a:r>
            <a:r>
              <a:rPr spc="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no</a:t>
            </a:r>
            <a:r>
              <a:rPr spc="10" dirty="0"/>
              <a:t> </a:t>
            </a:r>
            <a:r>
              <a:rPr spc="-10" dirty="0"/>
              <a:t>collaboration,</a:t>
            </a:r>
            <a:r>
              <a:rPr spc="5" dirty="0"/>
              <a:t> </a:t>
            </a:r>
            <a:r>
              <a:rPr dirty="0"/>
              <a:t>i.e.,</a:t>
            </a:r>
            <a:r>
              <a:rPr spc="10" dirty="0"/>
              <a:t> </a:t>
            </a:r>
            <a:r>
              <a:rPr spc="-40" dirty="0"/>
              <a:t>recommendations</a:t>
            </a:r>
            <a:r>
              <a:rPr spc="10" dirty="0"/>
              <a:t> </a:t>
            </a:r>
            <a:r>
              <a:rPr spc="-10" dirty="0"/>
              <a:t>for</a:t>
            </a:r>
            <a:r>
              <a:rPr spc="5" dirty="0"/>
              <a:t> </a:t>
            </a:r>
            <a:r>
              <a:rPr spc="-30" dirty="0"/>
              <a:t>different</a:t>
            </a:r>
            <a:r>
              <a:rPr spc="10" dirty="0"/>
              <a:t> </a:t>
            </a:r>
            <a:r>
              <a:rPr spc="-30" dirty="0"/>
              <a:t>users</a:t>
            </a:r>
            <a:r>
              <a:rPr spc="10" dirty="0"/>
              <a:t> </a:t>
            </a:r>
            <a:r>
              <a:rPr dirty="0"/>
              <a:t>are</a:t>
            </a:r>
            <a:r>
              <a:rPr spc="5" dirty="0"/>
              <a:t> </a:t>
            </a:r>
            <a:r>
              <a:rPr spc="-25" dirty="0"/>
              <a:t>independent. </a:t>
            </a:r>
            <a:r>
              <a:rPr spc="-35" dirty="0"/>
              <a:t>Content–based</a:t>
            </a:r>
            <a:r>
              <a:rPr spc="25" dirty="0"/>
              <a:t> </a:t>
            </a:r>
            <a:r>
              <a:rPr spc="-35" dirty="0"/>
              <a:t>recommendation</a:t>
            </a:r>
            <a:r>
              <a:rPr spc="25" dirty="0"/>
              <a:t> </a:t>
            </a:r>
            <a:r>
              <a:rPr dirty="0"/>
              <a:t>has</a:t>
            </a:r>
            <a:r>
              <a:rPr spc="30" dirty="0"/>
              <a:t> </a:t>
            </a:r>
            <a:r>
              <a:rPr dirty="0"/>
              <a:t>its</a:t>
            </a:r>
            <a:r>
              <a:rPr spc="25" dirty="0"/>
              <a:t> </a:t>
            </a:r>
            <a:r>
              <a:rPr spc="-20" dirty="0"/>
              <a:t>own</a:t>
            </a:r>
            <a:r>
              <a:rPr spc="25" dirty="0"/>
              <a:t> </a:t>
            </a:r>
            <a:r>
              <a:rPr spc="-10" dirty="0"/>
              <a:t>pros</a:t>
            </a:r>
            <a:r>
              <a:rPr spc="30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20" dirty="0"/>
              <a:t>cons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35" dirty="0"/>
              <a:t>comparison</a:t>
            </a:r>
            <a:r>
              <a:rPr spc="25" dirty="0"/>
              <a:t> </a:t>
            </a:r>
            <a:r>
              <a:rPr dirty="0"/>
              <a:t>with</a:t>
            </a:r>
            <a:r>
              <a:rPr spc="25" dirty="0"/>
              <a:t> </a:t>
            </a:r>
            <a:r>
              <a:rPr spc="-25" dirty="0"/>
              <a:t>CF.</a:t>
            </a:r>
          </a:p>
        </p:txBody>
      </p:sp>
      <p:sp>
        <p:nvSpPr>
          <p:cNvPr id="11" name="object 11"/>
          <p:cNvSpPr/>
          <p:nvPr/>
        </p:nvSpPr>
        <p:spPr>
          <a:xfrm>
            <a:off x="337972" y="231772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7972" y="255595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4" name="object 14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16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33375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Content–based</a:t>
            </a:r>
            <a:r>
              <a:rPr sz="1400" spc="31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versus</a:t>
            </a:r>
            <a:r>
              <a:rPr sz="1400" spc="32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collaborative</a:t>
            </a:r>
            <a:r>
              <a:rPr sz="1400" spc="31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CC0000"/>
                </a:solidFill>
                <a:latin typeface="Times New Roman"/>
                <a:cs typeface="Times New Roman"/>
              </a:rPr>
              <a:t>filtering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915" y="551548"/>
            <a:ext cx="3210560" cy="20447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27871" y="2640083"/>
            <a:ext cx="9055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latin typeface="Georgia"/>
                <a:cs typeface="Georgia"/>
              </a:rPr>
              <a:t>[source:</a:t>
            </a:r>
            <a:r>
              <a:rPr sz="900" spc="114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Internet]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6" name="object 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17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Knowledge–based</a:t>
            </a:r>
            <a:r>
              <a:rPr spc="235" dirty="0"/>
              <a:t> </a:t>
            </a:r>
            <a:r>
              <a:rPr dirty="0"/>
              <a:t>recommender</a:t>
            </a:r>
            <a:r>
              <a:rPr spc="24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45519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79778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98084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22198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56457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74763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4177" y="363586"/>
            <a:ext cx="4932045" cy="147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90"/>
              </a:spcBef>
            </a:pPr>
            <a:r>
              <a:rPr sz="1100" spc="-40" dirty="0">
                <a:latin typeface="Georgia"/>
                <a:cs typeface="Georgia"/>
              </a:rPr>
              <a:t>Knowledge–based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systems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particularly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useful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are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1170"/>
              </a:lnSpc>
            </a:pPr>
            <a:r>
              <a:rPr sz="1100" b="1" dirty="0">
                <a:latin typeface="Georgia"/>
                <a:cs typeface="Georgia"/>
              </a:rPr>
              <a:t>not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purchased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often</a:t>
            </a:r>
            <a:r>
              <a:rPr sz="1100" spc="-30" dirty="0">
                <a:latin typeface="Georgia"/>
                <a:cs typeface="Georgia"/>
              </a:rPr>
              <a:t>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i.e.,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not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be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sufficient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recommendation.</a:t>
            </a:r>
            <a:endParaRPr sz="1100">
              <a:latin typeface="Georgia"/>
              <a:cs typeface="Georgia"/>
            </a:endParaRPr>
          </a:p>
          <a:p>
            <a:pPr marL="289560" marR="210185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Examples:</a:t>
            </a:r>
            <a:r>
              <a:rPr sz="1000" spc="34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real</a:t>
            </a:r>
            <a:r>
              <a:rPr sz="1000" i="1" spc="22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estate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automobiles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financial</a:t>
            </a:r>
            <a:r>
              <a:rPr sz="1000" i="1" spc="22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services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expensive</a:t>
            </a:r>
            <a:r>
              <a:rPr sz="1000" i="1" spc="22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luxury</a:t>
            </a:r>
            <a:r>
              <a:rPr sz="1000" i="1" spc="225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goods</a:t>
            </a:r>
            <a:r>
              <a:rPr sz="1000" spc="-10" dirty="0">
                <a:latin typeface="Times New Roman"/>
                <a:cs typeface="Times New Roman"/>
              </a:rPr>
              <a:t>.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nature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consumer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preferences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may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evolve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over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such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12700" marR="24765">
              <a:lnSpc>
                <a:spcPct val="77000"/>
              </a:lnSpc>
              <a:spcBef>
                <a:spcPts val="940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recommendations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based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basis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similarities</a:t>
            </a:r>
            <a:r>
              <a:rPr sz="1100" b="1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customer </a:t>
            </a:r>
            <a:r>
              <a:rPr sz="1100" b="1" spc="-60" dirty="0">
                <a:latin typeface="Georgia"/>
                <a:cs typeface="Georgia"/>
              </a:rPr>
              <a:t>requirements</a:t>
            </a:r>
            <a:r>
              <a:rPr sz="1100" b="1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item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descriptions,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customer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constraints</a:t>
            </a:r>
            <a:r>
              <a:rPr sz="1100" spc="-1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Knowledge-based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allow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explicitly</a:t>
            </a:r>
            <a:r>
              <a:rPr sz="1000" b="1" spc="165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specify</a:t>
            </a:r>
            <a:r>
              <a:rPr sz="1000" b="1" spc="160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what</a:t>
            </a:r>
            <a:r>
              <a:rPr sz="1000" b="1" spc="16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they</a:t>
            </a:r>
            <a:r>
              <a:rPr sz="1000" b="1" spc="16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want</a:t>
            </a:r>
            <a:r>
              <a:rPr sz="1000" spc="-10" dirty="0">
                <a:latin typeface="Times New Roman"/>
                <a:cs typeface="Times New Roman"/>
              </a:rPr>
              <a:t>.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explicit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specification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results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greater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control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of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recommendation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process.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83" y="1971712"/>
            <a:ext cx="4748783" cy="98151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2" name="object 12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18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Hybrid</a:t>
            </a:r>
            <a:r>
              <a:rPr spc="210" dirty="0"/>
              <a:t> </a:t>
            </a:r>
            <a:r>
              <a:rPr spc="50" dirty="0"/>
              <a:t>and</a:t>
            </a:r>
            <a:r>
              <a:rPr spc="215" dirty="0"/>
              <a:t> </a:t>
            </a:r>
            <a:r>
              <a:rPr dirty="0"/>
              <a:t>ensemble–based</a:t>
            </a:r>
            <a:r>
              <a:rPr spc="215" dirty="0"/>
              <a:t> </a:t>
            </a:r>
            <a:r>
              <a:rPr dirty="0"/>
              <a:t>recommender</a:t>
            </a:r>
            <a:r>
              <a:rPr spc="21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7449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78804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97110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15415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39528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60883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79188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203301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24656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42961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0229" y="261266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0229" y="279572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4177" y="423612"/>
            <a:ext cx="4839335" cy="246507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dirty="0">
                <a:latin typeface="Georgia"/>
                <a:cs typeface="Georgia"/>
              </a:rPr>
              <a:t>In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cases,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wide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variety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inputs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available: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demographic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information: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Cambria"/>
                <a:cs typeface="Cambria"/>
              </a:rPr>
              <a:t>gender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Cambria"/>
                <a:cs typeface="Cambria"/>
              </a:rPr>
              <a:t>age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Cambria"/>
                <a:cs typeface="Cambria"/>
              </a:rPr>
              <a:t>location</a:t>
            </a:r>
            <a:r>
              <a:rPr sz="1000" spc="80" dirty="0">
                <a:latin typeface="Times New Roman"/>
                <a:cs typeface="Times New Roman"/>
              </a:rPr>
              <a:t>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Cambria"/>
                <a:cs typeface="Cambria"/>
              </a:rPr>
              <a:t>prior</a:t>
            </a:r>
            <a:r>
              <a:rPr sz="1000" spc="450" dirty="0">
                <a:latin typeface="Cambria"/>
                <a:cs typeface="Cambria"/>
              </a:rPr>
              <a:t> </a:t>
            </a:r>
            <a:r>
              <a:rPr sz="1000" spc="55" dirty="0">
                <a:latin typeface="Cambria"/>
                <a:cs typeface="Cambria"/>
              </a:rPr>
              <a:t>preferences</a:t>
            </a:r>
            <a:r>
              <a:rPr sz="1000" spc="55" dirty="0">
                <a:latin typeface="Times New Roman"/>
                <a:cs typeface="Times New Roman"/>
              </a:rPr>
              <a:t>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information: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Cambria"/>
                <a:cs typeface="Cambria"/>
              </a:rPr>
              <a:t>genre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Cambria"/>
                <a:cs typeface="Cambria"/>
              </a:rPr>
              <a:t>description</a:t>
            </a:r>
            <a:r>
              <a:rPr sz="1000" spc="455" dirty="0">
                <a:latin typeface="Cambria"/>
                <a:cs typeface="Cambria"/>
              </a:rPr>
              <a:t> </a:t>
            </a:r>
            <a:r>
              <a:rPr sz="1000" spc="85" dirty="0">
                <a:latin typeface="Cambria"/>
                <a:cs typeface="Cambria"/>
              </a:rPr>
              <a:t>texts</a:t>
            </a:r>
            <a:r>
              <a:rPr sz="1000" spc="85" dirty="0">
                <a:latin typeface="Times New Roman"/>
                <a:cs typeface="Times New Roman"/>
              </a:rPr>
              <a:t>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Cambria"/>
                <a:cs typeface="Cambria"/>
              </a:rPr>
              <a:t>tags</a:t>
            </a:r>
            <a:r>
              <a:rPr sz="1000" spc="65" dirty="0">
                <a:latin typeface="Times New Roman"/>
                <a:cs typeface="Times New Roman"/>
              </a:rPr>
              <a:t>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ratings:</a:t>
            </a:r>
            <a:r>
              <a:rPr sz="1000" spc="3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implicit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explicit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ratings,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dirty="0">
                <a:latin typeface="Georgia"/>
                <a:cs typeface="Georgia"/>
              </a:rPr>
              <a:t>In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such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cases,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hybrid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approach</a:t>
            </a:r>
            <a:r>
              <a:rPr sz="1100" b="1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appropriate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leverage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types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data.</a:t>
            </a:r>
            <a:endParaRPr sz="1100">
              <a:latin typeface="Georgia"/>
              <a:cs typeface="Georgia"/>
            </a:endParaRPr>
          </a:p>
          <a:p>
            <a:pPr marL="289560" marR="1223010">
              <a:lnSpc>
                <a:spcPct val="120100"/>
              </a:lnSpc>
              <a:spcBef>
                <a:spcPts val="180"/>
              </a:spcBef>
            </a:pPr>
            <a:r>
              <a:rPr sz="1000" spc="10" dirty="0">
                <a:latin typeface="Times New Roman"/>
                <a:cs typeface="Times New Roman"/>
              </a:rPr>
              <a:t>Combining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CF,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content–based,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knowledge–based,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Taking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advantages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strong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points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those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approaches.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spc="-20" dirty="0">
                <a:latin typeface="Georgia"/>
                <a:cs typeface="Georgia"/>
              </a:rPr>
              <a:t>Several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scenarios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build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hybrid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systems:</a:t>
            </a:r>
            <a:endParaRPr sz="1100">
              <a:latin typeface="Georgia"/>
              <a:cs typeface="Georgia"/>
            </a:endParaRPr>
          </a:p>
          <a:p>
            <a:pPr marL="289560" marR="1700530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Adding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content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information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CF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system.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Adding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CF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information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content–based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system.</a:t>
            </a:r>
            <a:endParaRPr sz="1000">
              <a:latin typeface="Times New Roman"/>
              <a:cs typeface="Times New Roman"/>
            </a:endParaRPr>
          </a:p>
          <a:p>
            <a:pPr marL="289560" marR="1620520">
              <a:lnSpc>
                <a:spcPct val="120100"/>
              </a:lnSpc>
            </a:pPr>
            <a:r>
              <a:rPr sz="1000" spc="10" dirty="0">
                <a:latin typeface="Times New Roman"/>
                <a:cs typeface="Times New Roman"/>
              </a:rPr>
              <a:t>Adding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knowledge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CF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or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content–based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system.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7" name="object 17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19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Context</a:t>
            </a:r>
            <a:r>
              <a:rPr spc="220" dirty="0"/>
              <a:t> </a:t>
            </a:r>
            <a:r>
              <a:rPr spc="50" dirty="0"/>
              <a:t>and</a:t>
            </a:r>
            <a:r>
              <a:rPr spc="220" dirty="0"/>
              <a:t> </a:t>
            </a:r>
            <a:r>
              <a:rPr dirty="0"/>
              <a:t>social</a:t>
            </a:r>
            <a:r>
              <a:rPr spc="225" dirty="0"/>
              <a:t> </a:t>
            </a:r>
            <a:r>
              <a:rPr dirty="0"/>
              <a:t>factors</a:t>
            </a:r>
            <a:r>
              <a:rPr spc="229" dirty="0"/>
              <a:t> </a:t>
            </a:r>
            <a:r>
              <a:rPr dirty="0"/>
              <a:t>in</a:t>
            </a:r>
            <a:r>
              <a:rPr spc="225" dirty="0"/>
              <a:t> </a:t>
            </a:r>
            <a:r>
              <a:rPr dirty="0"/>
              <a:t>recommender</a:t>
            </a:r>
            <a:r>
              <a:rPr spc="22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2405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83760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02066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26179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47533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71646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93000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24212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248325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69679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4177" y="473168"/>
            <a:ext cx="5075555" cy="231648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b="1" dirty="0">
                <a:latin typeface="Georgia"/>
                <a:cs typeface="Georgia"/>
              </a:rPr>
              <a:t>Status</a:t>
            </a:r>
            <a:r>
              <a:rPr sz="1100" b="1" spc="2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or</a:t>
            </a:r>
            <a:r>
              <a:rPr sz="1100" b="1" spc="2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condition</a:t>
            </a:r>
            <a:r>
              <a:rPr sz="1100" b="1" spc="1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information</a:t>
            </a:r>
            <a:r>
              <a:rPr sz="1100" spc="-1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ct val="120100"/>
              </a:lnSpc>
              <a:spcBef>
                <a:spcPts val="180"/>
              </a:spcBef>
            </a:pPr>
            <a:r>
              <a:rPr sz="1000" spc="10" dirty="0">
                <a:latin typeface="Times New Roman"/>
                <a:cs typeface="Times New Roman"/>
              </a:rPr>
              <a:t>Context–ware:</a:t>
            </a:r>
            <a:r>
              <a:rPr sz="1000" spc="3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recommendations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are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also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based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on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additional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information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(if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existing).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example: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single,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just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married,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being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pregnant,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b="1" spc="-35" dirty="0">
                <a:latin typeface="Georgia"/>
                <a:cs typeface="Georgia"/>
              </a:rPr>
              <a:t>Temporal</a:t>
            </a:r>
            <a:r>
              <a:rPr sz="1100" b="1" spc="4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information</a:t>
            </a:r>
            <a:r>
              <a:rPr sz="1100" spc="-1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spc="10" dirty="0">
                <a:latin typeface="Times New Roman"/>
                <a:cs typeface="Times New Roman"/>
              </a:rPr>
              <a:t>Integrating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temporal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info:</a:t>
            </a:r>
            <a:r>
              <a:rPr sz="1000" spc="2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time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day,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seasons,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holidays,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product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life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cycle,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b="1" spc="-30" dirty="0">
                <a:latin typeface="Georgia"/>
                <a:cs typeface="Georgia"/>
              </a:rPr>
              <a:t>Location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information</a:t>
            </a:r>
            <a:r>
              <a:rPr sz="1100" spc="-1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289560" marR="516255">
              <a:lnSpc>
                <a:spcPts val="1019"/>
              </a:lnSpc>
              <a:spcBef>
                <a:spcPts val="605"/>
              </a:spcBef>
            </a:pPr>
            <a:r>
              <a:rPr sz="1000" spc="10" dirty="0">
                <a:latin typeface="Times New Roman"/>
                <a:cs typeface="Times New Roman"/>
              </a:rPr>
              <a:t>Recommendations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are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also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based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current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location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of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users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items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(if </a:t>
            </a:r>
            <a:r>
              <a:rPr sz="1000" spc="-10" dirty="0">
                <a:latin typeface="Times New Roman"/>
                <a:cs typeface="Times New Roman"/>
              </a:rPr>
              <a:t>available).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34"/>
              </a:spcBef>
            </a:pPr>
            <a:r>
              <a:rPr sz="1000" spc="20" dirty="0">
                <a:latin typeface="Times New Roman"/>
                <a:cs typeface="Times New Roman"/>
              </a:rPr>
              <a:t>Recommending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nearest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hotels,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restaurants,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b="1" spc="-20" dirty="0">
                <a:latin typeface="Georgia"/>
                <a:cs typeface="Georgia"/>
              </a:rPr>
              <a:t>Social</a:t>
            </a:r>
            <a:r>
              <a:rPr sz="1100" b="1" spc="3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information</a:t>
            </a:r>
            <a:r>
              <a:rPr sz="1100" spc="-1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spc="10" dirty="0">
                <a:latin typeface="Times New Roman"/>
                <a:cs typeface="Times New Roman"/>
              </a:rPr>
              <a:t>Recommendations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are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also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based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on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social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tags,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cues,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viral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info,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social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trending,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5" name="object 1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20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Challenges</a:t>
            </a:r>
            <a:r>
              <a:rPr spc="215" dirty="0"/>
              <a:t> </a:t>
            </a:r>
            <a:r>
              <a:rPr spc="50" dirty="0"/>
              <a:t>and</a:t>
            </a:r>
            <a:r>
              <a:rPr spc="215" dirty="0"/>
              <a:t> </a:t>
            </a:r>
            <a:r>
              <a:rPr dirty="0"/>
              <a:t>advanced</a:t>
            </a:r>
            <a:r>
              <a:rPr spc="215" dirty="0"/>
              <a:t> </a:t>
            </a:r>
            <a:r>
              <a:rPr dirty="0"/>
              <a:t>topics</a:t>
            </a:r>
            <a:r>
              <a:rPr spc="220" dirty="0"/>
              <a:t> </a:t>
            </a:r>
            <a:r>
              <a:rPr dirty="0"/>
              <a:t>in</a:t>
            </a:r>
            <a:r>
              <a:rPr spc="220" dirty="0"/>
              <a:t> </a:t>
            </a:r>
            <a:r>
              <a:rPr dirty="0"/>
              <a:t>recommender</a:t>
            </a:r>
            <a:r>
              <a:rPr spc="21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88874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725180"/>
            <a:ext cx="2962910" cy="16935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sparse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data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42100"/>
              </a:lnSpc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cold–start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problem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scalability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 </a:t>
            </a:r>
            <a:r>
              <a:rPr sz="1100" spc="-20" dirty="0">
                <a:latin typeface="Georgia"/>
                <a:cs typeface="Georgia"/>
              </a:rPr>
              <a:t>Attack–resistant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</a:t>
            </a:r>
            <a:endParaRPr sz="1100">
              <a:latin typeface="Georgia"/>
              <a:cs typeface="Georgia"/>
            </a:endParaRPr>
          </a:p>
          <a:p>
            <a:pPr marL="12700" marR="751205">
              <a:lnSpc>
                <a:spcPct val="142100"/>
              </a:lnSpc>
            </a:pPr>
            <a:r>
              <a:rPr sz="1100" dirty="0">
                <a:latin typeface="Georgia"/>
                <a:cs typeface="Georgia"/>
              </a:rPr>
              <a:t>Group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 </a:t>
            </a:r>
            <a:r>
              <a:rPr sz="1100" spc="-30" dirty="0">
                <a:latin typeface="Georgia"/>
                <a:cs typeface="Georgia"/>
              </a:rPr>
              <a:t>Multi–criteria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systems </a:t>
            </a:r>
            <a:r>
              <a:rPr sz="1100" dirty="0">
                <a:latin typeface="Georgia"/>
                <a:cs typeface="Georgia"/>
              </a:rPr>
              <a:t>Privacy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112695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36518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60340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84162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207984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231806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2" name="object 12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21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50" dirty="0"/>
              <a:t> </a:t>
            </a:r>
            <a:r>
              <a:rPr dirty="0"/>
              <a:t>sparse</a:t>
            </a:r>
            <a:r>
              <a:rPr spc="155" dirty="0"/>
              <a:t> </a:t>
            </a:r>
            <a:r>
              <a:rPr spc="70" dirty="0"/>
              <a:t>data</a:t>
            </a:r>
            <a:r>
              <a:rPr spc="15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72398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94500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15854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34160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59994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83460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04814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23119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41424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59730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xfrm>
            <a:off x="444500" y="610521"/>
            <a:ext cx="5090795" cy="216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8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10" dirty="0"/>
              <a:t> </a:t>
            </a:r>
            <a:r>
              <a:rPr spc="-25" dirty="0"/>
              <a:t>user</a:t>
            </a:r>
            <a:r>
              <a:rPr spc="10" dirty="0"/>
              <a:t> </a:t>
            </a:r>
            <a:r>
              <a:rPr spc="-25" dirty="0"/>
              <a:t>interaction</a:t>
            </a:r>
            <a:r>
              <a:rPr spc="1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rating</a:t>
            </a:r>
            <a:r>
              <a:rPr spc="15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spc="-10" dirty="0"/>
              <a:t>limited,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rating</a:t>
            </a:r>
            <a:r>
              <a:rPr spc="10" dirty="0"/>
              <a:t> </a:t>
            </a:r>
            <a:r>
              <a:rPr spc="-20" dirty="0"/>
              <a:t>matrices</a:t>
            </a:r>
            <a:r>
              <a:rPr spc="15" dirty="0"/>
              <a:t> </a:t>
            </a:r>
            <a:r>
              <a:rPr dirty="0"/>
              <a:t>may</a:t>
            </a:r>
            <a:r>
              <a:rPr spc="10" dirty="0"/>
              <a:t> </a:t>
            </a:r>
            <a:r>
              <a:rPr dirty="0"/>
              <a:t>be</a:t>
            </a:r>
            <a:r>
              <a:rPr spc="15" dirty="0"/>
              <a:t> </a:t>
            </a:r>
            <a:r>
              <a:rPr dirty="0"/>
              <a:t>very</a:t>
            </a:r>
            <a:r>
              <a:rPr spc="10" dirty="0"/>
              <a:t> </a:t>
            </a:r>
            <a:r>
              <a:rPr spc="-10" dirty="0"/>
              <a:t>sparse. </a:t>
            </a:r>
            <a:r>
              <a:rPr dirty="0"/>
              <a:t>Causing</a:t>
            </a:r>
            <a:r>
              <a:rPr spc="20" dirty="0"/>
              <a:t> </a:t>
            </a:r>
            <a:r>
              <a:rPr spc="-20" dirty="0"/>
              <a:t>difficulty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25" dirty="0"/>
              <a:t>computing</a:t>
            </a:r>
            <a:r>
              <a:rPr spc="25" dirty="0"/>
              <a:t> </a:t>
            </a:r>
            <a:r>
              <a:rPr spc="-20" dirty="0"/>
              <a:t>similarity</a:t>
            </a:r>
            <a:r>
              <a:rPr spc="25" dirty="0"/>
              <a:t> </a:t>
            </a:r>
            <a:r>
              <a:rPr spc="-30" dirty="0"/>
              <a:t>between</a:t>
            </a:r>
            <a:r>
              <a:rPr spc="25" dirty="0"/>
              <a:t> </a:t>
            </a:r>
            <a:r>
              <a:rPr spc="-30" dirty="0"/>
              <a:t>users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30" dirty="0"/>
              <a:t>between</a:t>
            </a:r>
            <a:r>
              <a:rPr spc="25" dirty="0"/>
              <a:t> </a:t>
            </a:r>
            <a:r>
              <a:rPr spc="-10" dirty="0"/>
              <a:t>items.</a:t>
            </a: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Two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very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may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same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users.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4"/>
              </a:spcBef>
            </a:pPr>
            <a:r>
              <a:rPr sz="1000" dirty="0">
                <a:latin typeface="Times New Roman"/>
                <a:cs typeface="Times New Roman"/>
              </a:rPr>
              <a:t>Two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taste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(preferences)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may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same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12700" marR="1333500">
              <a:lnSpc>
                <a:spcPct val="140000"/>
              </a:lnSpc>
              <a:spcBef>
                <a:spcPts val="245"/>
              </a:spcBef>
            </a:pPr>
            <a:r>
              <a:rPr spc="-20" dirty="0"/>
              <a:t>Sparse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dirty="0"/>
              <a:t>will</a:t>
            </a:r>
            <a:r>
              <a:rPr spc="30" dirty="0"/>
              <a:t> </a:t>
            </a:r>
            <a:r>
              <a:rPr dirty="0"/>
              <a:t>lead</a:t>
            </a:r>
            <a:r>
              <a:rPr spc="3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spc="-10" dirty="0"/>
              <a:t>low</a:t>
            </a:r>
            <a:r>
              <a:rPr spc="35" dirty="0"/>
              <a:t> </a:t>
            </a:r>
            <a:r>
              <a:rPr spc="-30" dirty="0"/>
              <a:t>coverage</a:t>
            </a:r>
            <a:r>
              <a:rPr spc="30" dirty="0"/>
              <a:t> </a:t>
            </a:r>
            <a:r>
              <a:rPr dirty="0"/>
              <a:t>(e.g.,</a:t>
            </a:r>
            <a:r>
              <a:rPr spc="35" dirty="0"/>
              <a:t> </a:t>
            </a:r>
            <a:r>
              <a:rPr spc="-25" dirty="0"/>
              <a:t>long–tail</a:t>
            </a:r>
            <a:r>
              <a:rPr spc="30" dirty="0"/>
              <a:t> </a:t>
            </a:r>
            <a:r>
              <a:rPr spc="-10" dirty="0"/>
              <a:t>items). Solutions:</a:t>
            </a:r>
          </a:p>
          <a:p>
            <a:pPr marL="289560" marR="45720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2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matrix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factorization,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topic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analysis,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dimensionality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reduction,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embeddings,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 </a:t>
            </a:r>
            <a:r>
              <a:rPr sz="1000" spc="10" dirty="0">
                <a:latin typeface="Times New Roman"/>
                <a:cs typeface="Times New Roman"/>
              </a:rPr>
              <a:t>Graph–based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methods.</a:t>
            </a:r>
            <a:endParaRPr sz="1000">
              <a:latin typeface="Times New Roman"/>
              <a:cs typeface="Times New Roman"/>
            </a:endParaRPr>
          </a:p>
          <a:p>
            <a:pPr marL="289560" marR="1808480">
              <a:lnSpc>
                <a:spcPct val="120100"/>
              </a:lnSpc>
            </a:pPr>
            <a:r>
              <a:rPr sz="1000" spc="10" dirty="0">
                <a:latin typeface="Times New Roman"/>
                <a:cs typeface="Times New Roman"/>
              </a:rPr>
              <a:t>Combining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CF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content–based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(content–boosted).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5" name="object 1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100" dirty="0"/>
              <a:t>22</a:t>
            </a:fld>
            <a:r>
              <a:rPr spc="-25" dirty="0"/>
              <a:t> </a:t>
            </a:r>
            <a:r>
              <a:rPr spc="75" dirty="0"/>
              <a:t>/</a:t>
            </a:r>
            <a:r>
              <a:rPr spc="-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250" dirty="0"/>
              <a:t> </a:t>
            </a:r>
            <a:r>
              <a:rPr dirty="0"/>
              <a:t>cold–start</a:t>
            </a:r>
            <a:r>
              <a:rPr spc="254" dirty="0"/>
              <a:t> </a:t>
            </a:r>
            <a:r>
              <a:rPr dirty="0"/>
              <a:t>problem</a:t>
            </a:r>
            <a:r>
              <a:rPr spc="250" dirty="0"/>
              <a:t> </a:t>
            </a:r>
            <a:r>
              <a:rPr dirty="0"/>
              <a:t>in</a:t>
            </a:r>
            <a:r>
              <a:rPr spc="254" dirty="0"/>
              <a:t> </a:t>
            </a:r>
            <a:r>
              <a:rPr dirty="0"/>
              <a:t>recommender</a:t>
            </a:r>
            <a:r>
              <a:rPr spc="26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3788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85143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03447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27561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48916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67220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191335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12689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30995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49299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0229" y="267605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4177" y="486998"/>
            <a:ext cx="5072380" cy="228155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new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user</a:t>
            </a:r>
            <a:r>
              <a:rPr sz="1100" b="1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any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4"/>
              </a:spcBef>
            </a:pPr>
            <a:r>
              <a:rPr sz="1000" spc="10" dirty="0">
                <a:latin typeface="Times New Roman"/>
                <a:cs typeface="Times New Roman"/>
              </a:rPr>
              <a:t>No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history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information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(interactions,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behaviors,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etc.)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new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item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been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any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users.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Even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been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seen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bought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any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time.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spc="-10" dirty="0">
                <a:latin typeface="Georgia"/>
                <a:cs typeface="Georgia"/>
              </a:rPr>
              <a:t>Solutions:</a:t>
            </a:r>
            <a:endParaRPr sz="1100">
              <a:latin typeface="Georgia"/>
              <a:cs typeface="Georgia"/>
            </a:endParaRPr>
          </a:p>
          <a:p>
            <a:pPr marL="289560" marR="102235">
              <a:lnSpc>
                <a:spcPct val="120100"/>
              </a:lnSpc>
              <a:spcBef>
                <a:spcPts val="180"/>
              </a:spcBef>
            </a:pPr>
            <a:r>
              <a:rPr sz="1000" spc="10" dirty="0">
                <a:latin typeface="Times New Roman"/>
                <a:cs typeface="Times New Roman"/>
              </a:rPr>
              <a:t>Recommending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hot</a:t>
            </a:r>
            <a:r>
              <a:rPr sz="1000" i="1" spc="270" dirty="0">
                <a:latin typeface="Palatino Linotype"/>
                <a:cs typeface="Palatino Linotype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popular</a:t>
            </a:r>
            <a:r>
              <a:rPr sz="1000" i="1" spc="290" dirty="0">
                <a:latin typeface="Palatino Linotype"/>
                <a:cs typeface="Palatino Linotype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items,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random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recommendations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at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beginning.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new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problem:</a:t>
            </a:r>
            <a:r>
              <a:rPr sz="1000" spc="3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informations.</a:t>
            </a:r>
            <a:endParaRPr sz="1000">
              <a:latin typeface="Times New Roman"/>
              <a:cs typeface="Times New Roman"/>
            </a:endParaRPr>
          </a:p>
          <a:p>
            <a:pPr marL="289560" marR="5080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new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problem: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demographic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info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(if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available). </a:t>
            </a:r>
            <a:r>
              <a:rPr sz="1000" spc="10" dirty="0">
                <a:latin typeface="Times New Roman"/>
                <a:cs typeface="Times New Roman"/>
              </a:rPr>
              <a:t>Combining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CF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content–based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different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ways.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6" name="object 1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23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200" dirty="0"/>
              <a:t> </a:t>
            </a:r>
            <a:r>
              <a:rPr dirty="0"/>
              <a:t>scalability</a:t>
            </a:r>
            <a:r>
              <a:rPr spc="220" dirty="0"/>
              <a:t> </a:t>
            </a:r>
            <a:r>
              <a:rPr dirty="0"/>
              <a:t>in</a:t>
            </a:r>
            <a:r>
              <a:rPr spc="215" dirty="0"/>
              <a:t> </a:t>
            </a:r>
            <a:r>
              <a:rPr dirty="0"/>
              <a:t>recommender</a:t>
            </a:r>
            <a:r>
              <a:rPr spc="21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71133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94599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15953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34259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52565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78399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200499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21855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40159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58465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0876" y="568695"/>
            <a:ext cx="4272280" cy="2125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660">
              <a:lnSpc>
                <a:spcPct val="140000"/>
              </a:lnSpc>
              <a:spcBef>
                <a:spcPts val="100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matrices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normally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very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large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75" dirty="0">
                <a:latin typeface="Georgia"/>
                <a:cs typeface="Georgia"/>
              </a:rPr>
              <a:t>(</a:t>
            </a:r>
            <a:r>
              <a:rPr sz="1100" spc="75" dirty="0">
                <a:latin typeface="Cambria"/>
                <a:cs typeface="Cambria"/>
              </a:rPr>
              <a:t>millions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i="1" dirty="0">
                <a:latin typeface="Meiryo UI"/>
                <a:cs typeface="Meiryo UI"/>
              </a:rPr>
              <a:t>×</a:t>
            </a:r>
            <a:r>
              <a:rPr sz="1100" i="1" spc="-70" dirty="0">
                <a:latin typeface="Meiryo UI"/>
                <a:cs typeface="Meiryo UI"/>
              </a:rPr>
              <a:t> </a:t>
            </a:r>
            <a:r>
              <a:rPr sz="1100" spc="55" dirty="0">
                <a:latin typeface="Cambria"/>
                <a:cs typeface="Cambria"/>
              </a:rPr>
              <a:t>millions</a:t>
            </a:r>
            <a:r>
              <a:rPr sz="1100" spc="55" dirty="0">
                <a:latin typeface="Georgia"/>
                <a:cs typeface="Georgia"/>
              </a:rPr>
              <a:t>). </a:t>
            </a:r>
            <a:r>
              <a:rPr sz="1100" spc="-10" dirty="0">
                <a:latin typeface="Georgia"/>
                <a:cs typeface="Georgia"/>
              </a:rPr>
              <a:t>Computation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very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large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matrices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very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time–consuming:</a:t>
            </a:r>
            <a:endParaRPr sz="1100">
              <a:latin typeface="Georgia"/>
              <a:cs typeface="Georgia"/>
            </a:endParaRPr>
          </a:p>
          <a:p>
            <a:pPr marL="289560" marR="752475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 </a:t>
            </a:r>
            <a:r>
              <a:rPr sz="1000" dirty="0">
                <a:latin typeface="Times New Roman"/>
                <a:cs typeface="Times New Roman"/>
              </a:rPr>
              <a:t>Finding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k</a:t>
            </a:r>
            <a:r>
              <a:rPr sz="1000" i="1" spc="24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nearest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neighbors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k</a:t>
            </a:r>
            <a:r>
              <a:rPr sz="1000" i="1" spc="25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most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users).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12700" marR="624840">
              <a:lnSpc>
                <a:spcPct val="131800"/>
              </a:lnSpc>
              <a:spcBef>
                <a:spcPts val="355"/>
              </a:spcBef>
            </a:pPr>
            <a:r>
              <a:rPr sz="1100" spc="-35" dirty="0">
                <a:latin typeface="Georgia"/>
                <a:cs typeface="Georgia"/>
              </a:rPr>
              <a:t>Recommendations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normally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real–time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near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real–time. </a:t>
            </a:r>
            <a:r>
              <a:rPr sz="1100" spc="-10" dirty="0">
                <a:latin typeface="Georgia"/>
                <a:cs typeface="Georgia"/>
              </a:rPr>
              <a:t>Solutions: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Dimensionality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reduction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PCA,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SVD,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289560" marR="5080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Item–based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CF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normally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faster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stable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user–based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25" dirty="0">
                <a:latin typeface="Times New Roman"/>
                <a:cs typeface="Times New Roman"/>
              </a:rPr>
              <a:t>CF. </a:t>
            </a:r>
            <a:r>
              <a:rPr sz="1000" dirty="0">
                <a:latin typeface="Times New Roman"/>
                <a:cs typeface="Times New Roman"/>
              </a:rPr>
              <a:t>Building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model–based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(usually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large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training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time).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5" name="object 1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24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Attack–resistant</a:t>
            </a:r>
            <a:r>
              <a:rPr spc="350" dirty="0"/>
              <a:t> </a:t>
            </a:r>
            <a:r>
              <a:rPr spc="10" dirty="0"/>
              <a:t>recommender</a:t>
            </a:r>
            <a:r>
              <a:rPr spc="35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111009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33109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54465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72769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4177" y="963737"/>
            <a:ext cx="4986655" cy="112268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dirty="0">
                <a:latin typeface="Georgia"/>
                <a:cs typeface="Georgia"/>
              </a:rPr>
              <a:t>This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normally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happens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platform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having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different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competitors.</a:t>
            </a:r>
            <a:endParaRPr sz="1100">
              <a:latin typeface="Georgia"/>
              <a:cs typeface="Georgia"/>
            </a:endParaRPr>
          </a:p>
          <a:p>
            <a:pPr marL="289560" marR="5080" indent="-277495">
              <a:lnSpc>
                <a:spcPct val="126000"/>
              </a:lnSpc>
              <a:spcBef>
                <a:spcPts val="80"/>
              </a:spcBef>
            </a:pPr>
            <a:r>
              <a:rPr sz="1100" spc="-10" dirty="0">
                <a:latin typeface="Georgia"/>
                <a:cs typeface="Georgia"/>
              </a:rPr>
              <a:t>Example: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e–commerce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market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platform: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some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sellers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would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submit </a:t>
            </a:r>
            <a:r>
              <a:rPr sz="1000" b="1" spc="-30" dirty="0">
                <a:latin typeface="Georgia"/>
                <a:cs typeface="Georgia"/>
              </a:rPr>
              <a:t>inflated</a:t>
            </a:r>
            <a:r>
              <a:rPr sz="1000" b="1" spc="26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ratings</a:t>
            </a:r>
            <a:r>
              <a:rPr sz="1000" b="1" spc="204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own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products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manipulate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recommendation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ranking.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biased</a:t>
            </a:r>
            <a:r>
              <a:rPr sz="1000" b="1" spc="12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negative</a:t>
            </a:r>
            <a:r>
              <a:rPr sz="1000" b="1" spc="170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reviews</a:t>
            </a:r>
            <a:r>
              <a:rPr sz="1000" b="1" spc="130" dirty="0">
                <a:latin typeface="Georgia"/>
                <a:cs typeface="Georgia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products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competitors.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100" spc="-35" dirty="0">
                <a:latin typeface="Georgia"/>
                <a:cs typeface="Georgia"/>
              </a:rPr>
              <a:t>Numerous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sophisticated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strategies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developed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attacking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recommender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systems.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7972" y="198603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0" name="object 10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25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Group</a:t>
            </a:r>
            <a:r>
              <a:rPr spc="310" dirty="0"/>
              <a:t> </a:t>
            </a:r>
            <a:r>
              <a:rPr dirty="0"/>
              <a:t>recommender</a:t>
            </a:r>
            <a:r>
              <a:rPr spc="31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94157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16259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37613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5591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74224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4177" y="795208"/>
            <a:ext cx="5014595" cy="154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13864">
              <a:lnSpc>
                <a:spcPct val="131800"/>
              </a:lnSpc>
              <a:spcBef>
                <a:spcPts val="100"/>
              </a:spcBef>
            </a:pPr>
            <a:r>
              <a:rPr sz="1100" spc="-35" dirty="0">
                <a:latin typeface="Georgia"/>
                <a:cs typeface="Georgia"/>
              </a:rPr>
              <a:t>Recommendation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group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rather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single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user. </a:t>
            </a:r>
            <a:r>
              <a:rPr sz="1100" spc="-10" dirty="0">
                <a:latin typeface="Georgia"/>
                <a:cs typeface="Georgia"/>
              </a:rPr>
              <a:t>Examples:</a:t>
            </a:r>
            <a:endParaRPr sz="1100">
              <a:latin typeface="Georgia"/>
              <a:cs typeface="Georgia"/>
            </a:endParaRPr>
          </a:p>
          <a:p>
            <a:pPr marL="289560" marR="2463800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family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watching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movies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television.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group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friends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going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restaurant. </a:t>
            </a:r>
            <a:r>
              <a:rPr sz="1000" spc="10" dirty="0">
                <a:latin typeface="Times New Roman"/>
                <a:cs typeface="Times New Roman"/>
              </a:rPr>
              <a:t>Travel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recommendation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family.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100" spc="-35" dirty="0">
                <a:latin typeface="Georgia"/>
                <a:cs typeface="Georgia"/>
              </a:rPr>
              <a:t>Recommendation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group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complicated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single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user.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spc="-20" dirty="0">
                <a:latin typeface="Georgia"/>
                <a:cs typeface="Georgia"/>
              </a:rPr>
              <a:t>Simple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combination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taste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preferences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individuals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really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effective.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7972" y="200059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223880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2" name="object 12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26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Multi–criteria</a:t>
            </a:r>
            <a:r>
              <a:rPr spc="375" dirty="0"/>
              <a:t> </a:t>
            </a:r>
            <a:r>
              <a:rPr dirty="0"/>
              <a:t>recommender</a:t>
            </a:r>
            <a:r>
              <a:rPr spc="37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94157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16259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37613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5591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74224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444500" y="538480"/>
            <a:ext cx="5090795" cy="2167890"/>
          </a:xfrm>
          <a:prstGeom prst="rect">
            <a:avLst/>
          </a:prstGeom>
        </p:spPr>
        <p:txBody>
          <a:bodyPr vert="horz" wrap="square" lIns="0" tIns="262229" rIns="0" bIns="0" rtlCol="0">
            <a:spAutoFit/>
          </a:bodyPr>
          <a:lstStyle/>
          <a:p>
            <a:pPr marL="12700" marR="2075814">
              <a:lnSpc>
                <a:spcPct val="131800"/>
              </a:lnSpc>
              <a:spcBef>
                <a:spcPts val="100"/>
              </a:spcBef>
            </a:pPr>
            <a:r>
              <a:rPr spc="-10" dirty="0"/>
              <a:t>Items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25" dirty="0"/>
              <a:t>several</a:t>
            </a:r>
            <a:r>
              <a:rPr spc="10" dirty="0"/>
              <a:t> </a:t>
            </a:r>
            <a:r>
              <a:rPr spc="-35" dirty="0"/>
              <a:t>domains</a:t>
            </a:r>
            <a:r>
              <a:rPr spc="10" dirty="0"/>
              <a:t> </a:t>
            </a:r>
            <a:r>
              <a:rPr spc="-10" dirty="0"/>
              <a:t>have</a:t>
            </a:r>
            <a:r>
              <a:rPr spc="15" dirty="0"/>
              <a:t> </a:t>
            </a:r>
            <a:r>
              <a:rPr spc="-30" dirty="0"/>
              <a:t>different</a:t>
            </a:r>
            <a:r>
              <a:rPr spc="10" dirty="0"/>
              <a:t> </a:t>
            </a:r>
            <a:r>
              <a:rPr spc="-10" dirty="0"/>
              <a:t>aspects. Examples:</a:t>
            </a:r>
          </a:p>
          <a:p>
            <a:pPr marL="289560" marR="146685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Hotel: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room,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Cambria"/>
                <a:cs typeface="Cambria"/>
              </a:rPr>
              <a:t>view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Cambria"/>
                <a:cs typeface="Cambria"/>
              </a:rPr>
              <a:t>breakfast</a:t>
            </a:r>
            <a:r>
              <a:rPr sz="1000" spc="65" dirty="0">
                <a:latin typeface="Times New Roman"/>
                <a:cs typeface="Times New Roman"/>
              </a:rPr>
              <a:t>,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90" dirty="0">
                <a:latin typeface="Cambria"/>
                <a:cs typeface="Cambria"/>
              </a:rPr>
              <a:t>wifi</a:t>
            </a:r>
            <a:r>
              <a:rPr sz="1000" spc="90" dirty="0">
                <a:latin typeface="Times New Roman"/>
                <a:cs typeface="Times New Roman"/>
              </a:rPr>
              <a:t>,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Cambria"/>
                <a:cs typeface="Cambria"/>
              </a:rPr>
              <a:t>reception</a:t>
            </a:r>
            <a:r>
              <a:rPr sz="1000" spc="55" dirty="0">
                <a:latin typeface="Times New Roman"/>
                <a:cs typeface="Times New Roman"/>
              </a:rPr>
              <a:t>,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Cambria"/>
                <a:cs typeface="Cambria"/>
              </a:rPr>
              <a:t>close</a:t>
            </a:r>
            <a:r>
              <a:rPr sz="1000" spc="315" dirty="0">
                <a:latin typeface="Cambria"/>
                <a:cs typeface="Cambria"/>
              </a:rPr>
              <a:t> </a:t>
            </a:r>
            <a:r>
              <a:rPr sz="1000" spc="85" dirty="0">
                <a:latin typeface="Cambria"/>
                <a:cs typeface="Cambria"/>
              </a:rPr>
              <a:t>to</a:t>
            </a:r>
            <a:r>
              <a:rPr sz="1000" spc="320" dirty="0">
                <a:latin typeface="Cambria"/>
                <a:cs typeface="Cambria"/>
              </a:rPr>
              <a:t> </a:t>
            </a:r>
            <a:r>
              <a:rPr sz="1000" spc="60" dirty="0">
                <a:latin typeface="Cambria"/>
                <a:cs typeface="Cambria"/>
              </a:rPr>
              <a:t>the</a:t>
            </a:r>
            <a:r>
              <a:rPr sz="1000" spc="315" dirty="0">
                <a:latin typeface="Cambria"/>
                <a:cs typeface="Cambria"/>
              </a:rPr>
              <a:t> </a:t>
            </a:r>
            <a:r>
              <a:rPr sz="1000" spc="-50" dirty="0">
                <a:latin typeface="Cambria"/>
                <a:cs typeface="Cambria"/>
              </a:rPr>
              <a:t>down</a:t>
            </a:r>
            <a:r>
              <a:rPr sz="1000" spc="320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town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 </a:t>
            </a:r>
            <a:r>
              <a:rPr sz="1000" dirty="0">
                <a:latin typeface="Times New Roman"/>
                <a:cs typeface="Times New Roman"/>
              </a:rPr>
              <a:t>Movie: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Cambria"/>
                <a:cs typeface="Cambria"/>
              </a:rPr>
              <a:t>screenplay</a:t>
            </a:r>
            <a:r>
              <a:rPr sz="1000" spc="50" dirty="0">
                <a:latin typeface="Times New Roman"/>
                <a:cs typeface="Times New Roman"/>
              </a:rPr>
              <a:t>,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Cambria"/>
                <a:cs typeface="Cambria"/>
              </a:rPr>
              <a:t>acting</a:t>
            </a:r>
            <a:r>
              <a:rPr sz="1000" spc="70" dirty="0">
                <a:latin typeface="Times New Roman"/>
                <a:cs typeface="Times New Roman"/>
              </a:rPr>
              <a:t>,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Cambria"/>
                <a:cs typeface="Cambria"/>
              </a:rPr>
              <a:t>graphics</a:t>
            </a:r>
            <a:r>
              <a:rPr sz="1000" spc="55" dirty="0">
                <a:latin typeface="Times New Roman"/>
                <a:cs typeface="Times New Roman"/>
              </a:rPr>
              <a:t>,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Cambria"/>
                <a:cs typeface="Cambria"/>
              </a:rPr>
              <a:t>music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Smartphone: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Cambria"/>
                <a:cs typeface="Cambria"/>
              </a:rPr>
              <a:t>brand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Cambria"/>
                <a:cs typeface="Cambria"/>
              </a:rPr>
              <a:t>display</a:t>
            </a:r>
            <a:r>
              <a:rPr sz="1000" spc="70" dirty="0">
                <a:latin typeface="Times New Roman"/>
                <a:cs typeface="Times New Roman"/>
              </a:rPr>
              <a:t>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Cambria"/>
                <a:cs typeface="Cambria"/>
              </a:rPr>
              <a:t>battery</a:t>
            </a:r>
            <a:r>
              <a:rPr sz="1000" spc="60" dirty="0">
                <a:latin typeface="Times New Roman"/>
                <a:cs typeface="Times New Roman"/>
              </a:rPr>
              <a:t>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114" dirty="0">
                <a:latin typeface="Cambria"/>
                <a:cs typeface="Cambria"/>
              </a:rPr>
              <a:t>stability</a:t>
            </a:r>
            <a:r>
              <a:rPr sz="1000" spc="114" dirty="0">
                <a:latin typeface="Times New Roman"/>
                <a:cs typeface="Times New Roman"/>
              </a:rPr>
              <a:t>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Cambria"/>
                <a:cs typeface="Cambria"/>
              </a:rPr>
              <a:t>software</a:t>
            </a:r>
            <a:r>
              <a:rPr sz="1000" spc="459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and</a:t>
            </a:r>
            <a:r>
              <a:rPr sz="1000" spc="455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apps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42100"/>
              </a:lnSpc>
              <a:spcBef>
                <a:spcPts val="220"/>
              </a:spcBef>
            </a:pPr>
            <a:r>
              <a:rPr dirty="0"/>
              <a:t>Two</a:t>
            </a:r>
            <a:r>
              <a:rPr spc="10" dirty="0"/>
              <a:t> </a:t>
            </a:r>
            <a:r>
              <a:rPr spc="-30" dirty="0"/>
              <a:t>users</a:t>
            </a:r>
            <a:r>
              <a:rPr spc="15" dirty="0"/>
              <a:t> </a:t>
            </a:r>
            <a:r>
              <a:rPr spc="-10" dirty="0"/>
              <a:t>having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5" dirty="0"/>
              <a:t>same</a:t>
            </a:r>
            <a:r>
              <a:rPr spc="15" dirty="0"/>
              <a:t> </a:t>
            </a:r>
            <a:r>
              <a:rPr dirty="0"/>
              <a:t>rating</a:t>
            </a:r>
            <a:r>
              <a:rPr spc="15" dirty="0"/>
              <a:t> </a:t>
            </a:r>
            <a:r>
              <a:rPr spc="-25" dirty="0"/>
              <a:t>score</a:t>
            </a:r>
            <a:r>
              <a:rPr spc="15" dirty="0"/>
              <a:t> </a:t>
            </a:r>
            <a:r>
              <a:rPr dirty="0"/>
              <a:t>may</a:t>
            </a:r>
            <a:r>
              <a:rPr spc="15" dirty="0"/>
              <a:t> </a:t>
            </a:r>
            <a:r>
              <a:rPr dirty="0"/>
              <a:t>not</a:t>
            </a:r>
            <a:r>
              <a:rPr spc="10" dirty="0"/>
              <a:t> </a:t>
            </a:r>
            <a:r>
              <a:rPr spc="-10" dirty="0"/>
              <a:t>have</a:t>
            </a:r>
            <a:r>
              <a:rPr spc="15" dirty="0"/>
              <a:t> </a:t>
            </a:r>
            <a:r>
              <a:rPr spc="-30" dirty="0"/>
              <a:t>similar</a:t>
            </a:r>
            <a:r>
              <a:rPr spc="15" dirty="0"/>
              <a:t> </a:t>
            </a:r>
            <a:r>
              <a:rPr dirty="0"/>
              <a:t>taste</a:t>
            </a:r>
            <a:r>
              <a:rPr spc="15" dirty="0"/>
              <a:t> </a:t>
            </a:r>
            <a:r>
              <a:rPr dirty="0"/>
              <a:t>or</a:t>
            </a:r>
            <a:r>
              <a:rPr spc="15" dirty="0"/>
              <a:t> </a:t>
            </a:r>
            <a:r>
              <a:rPr spc="-25" dirty="0"/>
              <a:t>preferences. </a:t>
            </a:r>
            <a:r>
              <a:rPr spc="-30" dirty="0"/>
              <a:t>Multi–criteria</a:t>
            </a:r>
            <a:r>
              <a:rPr spc="20" dirty="0"/>
              <a:t> </a:t>
            </a:r>
            <a:r>
              <a:rPr spc="-10" dirty="0"/>
              <a:t>systems</a:t>
            </a:r>
            <a:r>
              <a:rPr spc="25" dirty="0"/>
              <a:t> </a:t>
            </a:r>
            <a:r>
              <a:rPr spc="-10" dirty="0"/>
              <a:t>help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spc="-10" dirty="0"/>
              <a:t>rank</a:t>
            </a:r>
            <a:r>
              <a:rPr spc="20" dirty="0"/>
              <a:t> </a:t>
            </a:r>
            <a:r>
              <a:rPr spc="-10" dirty="0"/>
              <a:t>items</a:t>
            </a:r>
            <a:r>
              <a:rPr spc="25" dirty="0"/>
              <a:t> </a:t>
            </a:r>
            <a:r>
              <a:rPr spc="-20" dirty="0"/>
              <a:t>when</a:t>
            </a:r>
            <a:r>
              <a:rPr spc="25" dirty="0"/>
              <a:t> </a:t>
            </a:r>
            <a:r>
              <a:rPr spc="-35" dirty="0"/>
              <a:t>considering</a:t>
            </a:r>
            <a:r>
              <a:rPr spc="25" dirty="0"/>
              <a:t> </a:t>
            </a:r>
            <a:r>
              <a:rPr spc="-20" dirty="0"/>
              <a:t>multiple</a:t>
            </a:r>
            <a:r>
              <a:rPr spc="25" dirty="0"/>
              <a:t> </a:t>
            </a:r>
            <a:r>
              <a:rPr spc="-10" dirty="0"/>
              <a:t>aspects.</a:t>
            </a:r>
          </a:p>
        </p:txBody>
      </p:sp>
      <p:sp>
        <p:nvSpPr>
          <p:cNvPr id="9" name="object 9"/>
          <p:cNvSpPr/>
          <p:nvPr/>
        </p:nvSpPr>
        <p:spPr>
          <a:xfrm>
            <a:off x="337972" y="200059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223880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2" name="object 12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27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Privacy</a:t>
            </a:r>
            <a:r>
              <a:rPr spc="265" dirty="0"/>
              <a:t> </a:t>
            </a:r>
            <a:r>
              <a:rPr dirty="0"/>
              <a:t>in</a:t>
            </a:r>
            <a:r>
              <a:rPr spc="260" dirty="0"/>
              <a:t> </a:t>
            </a:r>
            <a:r>
              <a:rPr dirty="0"/>
              <a:t>recommender</a:t>
            </a:r>
            <a:r>
              <a:rPr spc="26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75822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12551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46810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65116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8342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201726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4177" y="666621"/>
            <a:ext cx="5128895" cy="194754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270"/>
              </a:spcBef>
            </a:pPr>
            <a:r>
              <a:rPr sz="1100" spc="-45" dirty="0">
                <a:latin typeface="Georgia"/>
                <a:cs typeface="Georgia"/>
              </a:rPr>
              <a:t>Recommender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systems</a:t>
            </a:r>
            <a:r>
              <a:rPr sz="1100" dirty="0">
                <a:latin typeface="Georgia"/>
                <a:cs typeface="Georgia"/>
              </a:rPr>
              <a:t> are </a:t>
            </a:r>
            <a:r>
              <a:rPr sz="1100" spc="-10" dirty="0">
                <a:latin typeface="Georgia"/>
                <a:cs typeface="Georgia"/>
              </a:rPr>
              <a:t>based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heavily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 </a:t>
            </a:r>
            <a:r>
              <a:rPr sz="1100" spc="-30" dirty="0">
                <a:latin typeface="Georgia"/>
                <a:cs typeface="Georgia"/>
              </a:rPr>
              <a:t>feedback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from</a:t>
            </a:r>
            <a:r>
              <a:rPr sz="1100" dirty="0">
                <a:latin typeface="Georgia"/>
                <a:cs typeface="Georgia"/>
              </a:rPr>
              <a:t> the </a:t>
            </a:r>
            <a:r>
              <a:rPr sz="1100" spc="-25" dirty="0">
                <a:latin typeface="Georgia"/>
                <a:cs typeface="Georgia"/>
              </a:rPr>
              <a:t>users,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which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might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be </a:t>
            </a:r>
            <a:r>
              <a:rPr sz="1100" spc="-10" dirty="0">
                <a:latin typeface="Georgia"/>
                <a:cs typeface="Georgia"/>
              </a:rPr>
              <a:t>implicit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 </a:t>
            </a:r>
            <a:r>
              <a:rPr sz="1100" spc="-10" dirty="0">
                <a:latin typeface="Georgia"/>
                <a:cs typeface="Georgia"/>
              </a:rPr>
              <a:t>explicit.</a:t>
            </a:r>
            <a:endParaRPr sz="1100">
              <a:latin typeface="Georgia"/>
              <a:cs typeface="Georgia"/>
            </a:endParaRPr>
          </a:p>
          <a:p>
            <a:pPr marL="12700" marR="167640">
              <a:lnSpc>
                <a:spcPct val="77000"/>
              </a:lnSpc>
              <a:spcBef>
                <a:spcPts val="715"/>
              </a:spcBef>
            </a:pPr>
            <a:r>
              <a:rPr sz="1100" dirty="0">
                <a:latin typeface="Georgia"/>
                <a:cs typeface="Georgia"/>
              </a:rPr>
              <a:t>This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feedback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contains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significant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information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about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interests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user.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For </a:t>
            </a:r>
            <a:r>
              <a:rPr sz="1100" spc="-10" dirty="0">
                <a:latin typeface="Georgia"/>
                <a:cs typeface="Georgia"/>
              </a:rPr>
              <a:t>examples:</a:t>
            </a:r>
            <a:endParaRPr sz="1100">
              <a:latin typeface="Georgia"/>
              <a:cs typeface="Georgia"/>
            </a:endParaRPr>
          </a:p>
          <a:p>
            <a:pPr marL="289560" marR="3670300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Personal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perferences, </a:t>
            </a:r>
            <a:r>
              <a:rPr sz="1000" dirty="0">
                <a:latin typeface="Times New Roman"/>
                <a:cs typeface="Times New Roman"/>
              </a:rPr>
              <a:t>Sexual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orientations, </a:t>
            </a:r>
            <a:r>
              <a:rPr sz="1000" dirty="0">
                <a:latin typeface="Times New Roman"/>
                <a:cs typeface="Times New Roman"/>
              </a:rPr>
              <a:t>Political</a:t>
            </a:r>
            <a:r>
              <a:rPr sz="1000" spc="2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opinions,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12700" marR="638810">
              <a:lnSpc>
                <a:spcPct val="142100"/>
              </a:lnSpc>
              <a:spcBef>
                <a:spcPts val="220"/>
              </a:spcBef>
            </a:pPr>
            <a:r>
              <a:rPr sz="1100" spc="-10" dirty="0">
                <a:latin typeface="Georgia"/>
                <a:cs typeface="Georgia"/>
              </a:rPr>
              <a:t>Such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information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highly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sensitive,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which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leads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privacy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concerns. </a:t>
            </a:r>
            <a:r>
              <a:rPr sz="1100" dirty="0">
                <a:latin typeface="Georgia"/>
                <a:cs typeface="Georgia"/>
              </a:rPr>
              <a:t>Privacy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preserving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recommendation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really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important.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7972" y="227561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251383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3" name="object 13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28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Types</a:t>
            </a:r>
            <a:r>
              <a:rPr spc="215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dirty="0"/>
              <a:t>collaborative</a:t>
            </a:r>
            <a:r>
              <a:rPr spc="210" dirty="0"/>
              <a:t> </a:t>
            </a:r>
            <a:r>
              <a:rPr spc="-10" dirty="0"/>
              <a:t>filtering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1306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98471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16777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4177" y="421460"/>
            <a:ext cx="5109210" cy="25349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ct val="77000"/>
              </a:lnSpc>
              <a:spcBef>
                <a:spcPts val="395"/>
              </a:spcBef>
            </a:pPr>
            <a:r>
              <a:rPr sz="1100" b="1" spc="-50" dirty="0">
                <a:latin typeface="Georgia"/>
                <a:cs typeface="Georgia"/>
              </a:rPr>
              <a:t>Memory–based</a:t>
            </a:r>
            <a:r>
              <a:rPr sz="1100" b="1" spc="75" dirty="0">
                <a:latin typeface="Georgia"/>
                <a:cs typeface="Georgia"/>
              </a:rPr>
              <a:t> CF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methods</a:t>
            </a:r>
            <a:r>
              <a:rPr sz="1100" spc="-30" dirty="0">
                <a:latin typeface="Georgia"/>
                <a:cs typeface="Georgia"/>
              </a:rPr>
              <a:t>:</a:t>
            </a:r>
            <a:r>
              <a:rPr sz="1100" spc="1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also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known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neighborhood–based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b="1" spc="50" dirty="0">
                <a:latin typeface="Georgia"/>
                <a:cs typeface="Georgia"/>
              </a:rPr>
              <a:t>CF</a:t>
            </a:r>
            <a:r>
              <a:rPr sz="1100" spc="50" dirty="0">
                <a:latin typeface="Georgia"/>
                <a:cs typeface="Georgia"/>
              </a:rPr>
              <a:t>.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user–item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combinations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predicted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basis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their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neighborhoods. </a:t>
            </a:r>
            <a:r>
              <a:rPr sz="1100" dirty="0">
                <a:latin typeface="Georgia"/>
                <a:cs typeface="Georgia"/>
              </a:rPr>
              <a:t>These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neighborhoods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defined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following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ways: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b="1" spc="-50" dirty="0">
                <a:latin typeface="Georgia"/>
                <a:cs typeface="Georgia"/>
              </a:rPr>
              <a:t>User–based</a:t>
            </a:r>
            <a:r>
              <a:rPr sz="1000" b="1" spc="260" dirty="0">
                <a:latin typeface="Georgia"/>
                <a:cs typeface="Georgia"/>
              </a:rPr>
              <a:t> </a:t>
            </a:r>
            <a:r>
              <a:rPr sz="1000" b="1" spc="50" dirty="0">
                <a:latin typeface="Georgia"/>
                <a:cs typeface="Georgia"/>
              </a:rPr>
              <a:t>CF</a:t>
            </a:r>
            <a:r>
              <a:rPr sz="1000" spc="50" dirty="0">
                <a:latin typeface="Times New Roman"/>
                <a:cs typeface="Times New Roman"/>
              </a:rPr>
              <a:t>: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recommendations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users.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sz="1000" b="1" spc="-40" dirty="0">
                <a:latin typeface="Georgia"/>
                <a:cs typeface="Georgia"/>
              </a:rPr>
              <a:t>Item–based</a:t>
            </a:r>
            <a:r>
              <a:rPr sz="1000" b="1" spc="254" dirty="0">
                <a:latin typeface="Georgia"/>
                <a:cs typeface="Georgia"/>
              </a:rPr>
              <a:t> </a:t>
            </a:r>
            <a:r>
              <a:rPr sz="1000" b="1" spc="50" dirty="0">
                <a:latin typeface="Georgia"/>
                <a:cs typeface="Georgia"/>
              </a:rPr>
              <a:t>CF</a:t>
            </a:r>
            <a:r>
              <a:rPr sz="1000" spc="50" dirty="0">
                <a:latin typeface="Times New Roman"/>
                <a:cs typeface="Times New Roman"/>
              </a:rPr>
              <a:t>: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recommendations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635"/>
              </a:spcBef>
              <a:buChar char="–"/>
              <a:tabLst>
                <a:tab pos="126364" algn="l"/>
              </a:tabLst>
            </a:pPr>
            <a:r>
              <a:rPr sz="1100" spc="-45" dirty="0">
                <a:latin typeface="Georgia"/>
                <a:cs typeface="Georgia"/>
              </a:rPr>
              <a:t>Memory–based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methods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easy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implement.</a:t>
            </a:r>
            <a:endParaRPr sz="1100">
              <a:latin typeface="Georgia"/>
              <a:cs typeface="Georgia"/>
            </a:endParaRPr>
          </a:p>
          <a:p>
            <a:pPr marL="126364" indent="-113664">
              <a:lnSpc>
                <a:spcPct val="100000"/>
              </a:lnSpc>
              <a:spcBef>
                <a:spcPts val="409"/>
              </a:spcBef>
              <a:buChar char="–"/>
              <a:tabLst>
                <a:tab pos="126364" algn="l"/>
              </a:tabLst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resulting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recommendations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often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easy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explain.</a:t>
            </a:r>
            <a:endParaRPr sz="1100">
              <a:latin typeface="Georgia"/>
              <a:cs typeface="Georgia"/>
            </a:endParaRPr>
          </a:p>
          <a:p>
            <a:pPr marL="126364" indent="-113664">
              <a:lnSpc>
                <a:spcPct val="100000"/>
              </a:lnSpc>
              <a:spcBef>
                <a:spcPts val="415"/>
              </a:spcBef>
              <a:buChar char="–"/>
              <a:tabLst>
                <a:tab pos="126364" algn="l"/>
              </a:tabLst>
            </a:pPr>
            <a:r>
              <a:rPr sz="1100" spc="-40" dirty="0">
                <a:latin typeface="Georgia"/>
                <a:cs typeface="Georgia"/>
              </a:rPr>
              <a:t>However,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work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very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well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sparse</a:t>
            </a:r>
            <a:r>
              <a:rPr sz="1100" i="1" spc="10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matrices.</a:t>
            </a:r>
            <a:endParaRPr sz="1100">
              <a:latin typeface="Georgia"/>
              <a:cs typeface="Georgia"/>
            </a:endParaRPr>
          </a:p>
          <a:p>
            <a:pPr marL="12700" marR="15240">
              <a:lnSpc>
                <a:spcPts val="1150"/>
              </a:lnSpc>
              <a:spcBef>
                <a:spcPts val="1019"/>
              </a:spcBef>
            </a:pPr>
            <a:r>
              <a:rPr sz="1100" b="1" spc="-45" dirty="0">
                <a:latin typeface="Georgia"/>
                <a:cs typeface="Georgia"/>
              </a:rPr>
              <a:t>Model–based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spc="75" dirty="0">
                <a:latin typeface="Georgia"/>
                <a:cs typeface="Georgia"/>
              </a:rPr>
              <a:t>CF</a:t>
            </a:r>
            <a:r>
              <a:rPr sz="1100" b="1" spc="6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methods</a:t>
            </a:r>
            <a:r>
              <a:rPr sz="1100" spc="-30" dirty="0">
                <a:latin typeface="Georgia"/>
                <a:cs typeface="Georgia"/>
              </a:rPr>
              <a:t>: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machine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learning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data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mining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methods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used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context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predictive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Georgia"/>
                <a:cs typeface="Georgia"/>
              </a:rPr>
              <a:t>models.</a:t>
            </a:r>
            <a:r>
              <a:rPr sz="1100" spc="1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Typical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model–based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methods: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decision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trees, </a:t>
            </a:r>
            <a:r>
              <a:rPr sz="1100" spc="-20" dirty="0">
                <a:latin typeface="Georgia"/>
                <a:cs typeface="Georgia"/>
              </a:rPr>
              <a:t>Bayesian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methods,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latent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factor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models.</a:t>
            </a:r>
            <a:endParaRPr sz="1100">
              <a:latin typeface="Georgia"/>
              <a:cs typeface="Georgia"/>
            </a:endParaRPr>
          </a:p>
          <a:p>
            <a:pPr marL="126364" indent="-113664">
              <a:lnSpc>
                <a:spcPct val="100000"/>
              </a:lnSpc>
              <a:spcBef>
                <a:spcPts val="409"/>
              </a:spcBef>
              <a:buChar char="–"/>
              <a:tabLst>
                <a:tab pos="126364" algn="l"/>
              </a:tabLst>
            </a:pPr>
            <a:r>
              <a:rPr sz="1100" spc="-20" dirty="0">
                <a:latin typeface="Georgia"/>
                <a:cs typeface="Georgia"/>
              </a:rPr>
              <a:t>Models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parameterized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optimized;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complicated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implement.</a:t>
            </a:r>
            <a:endParaRPr sz="1100">
              <a:latin typeface="Georgia"/>
              <a:cs typeface="Georgia"/>
            </a:endParaRPr>
          </a:p>
          <a:p>
            <a:pPr marL="126364" indent="-113664">
              <a:lnSpc>
                <a:spcPct val="100000"/>
              </a:lnSpc>
              <a:spcBef>
                <a:spcPts val="409"/>
              </a:spcBef>
              <a:buChar char="–"/>
              <a:tabLst>
                <a:tab pos="126364" algn="l"/>
              </a:tabLst>
            </a:pPr>
            <a:r>
              <a:rPr sz="1100" spc="-30" dirty="0">
                <a:latin typeface="Georgia"/>
                <a:cs typeface="Georgia"/>
              </a:rPr>
              <a:t>Handling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sparse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matrices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better.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7972" y="212279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29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Types</a:t>
            </a:r>
            <a:r>
              <a:rPr spc="165" dirty="0"/>
              <a:t> </a:t>
            </a:r>
            <a:r>
              <a:rPr dirty="0"/>
              <a:t>of</a:t>
            </a:r>
            <a:r>
              <a:rPr spc="155" dirty="0"/>
              <a:t> </a:t>
            </a:r>
            <a:r>
              <a:rPr dirty="0"/>
              <a:t>user</a:t>
            </a:r>
            <a:r>
              <a:rPr spc="160" dirty="0"/>
              <a:t> </a:t>
            </a:r>
            <a:r>
              <a:rPr spc="-10" dirty="0"/>
              <a:t>ratings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9172" y="510019"/>
            <a:ext cx="1466850" cy="10063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4177" y="1553814"/>
            <a:ext cx="4736465" cy="1389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570" algn="ctr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Georgia"/>
                <a:cs typeface="Georgia"/>
              </a:rPr>
              <a:t>source:</a:t>
            </a:r>
            <a:r>
              <a:rPr sz="900" spc="13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from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book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  <a:hlinkClick r:id="rId3" action="ppaction://hlinksldjump"/>
              </a:rPr>
              <a:t>[8]</a:t>
            </a:r>
            <a:endParaRPr sz="900">
              <a:latin typeface="Georgia"/>
              <a:cs typeface="Georgia"/>
            </a:endParaRPr>
          </a:p>
          <a:p>
            <a:pPr marL="12700" marR="5080">
              <a:lnSpc>
                <a:spcPct val="142100"/>
              </a:lnSpc>
              <a:spcBef>
                <a:spcPts val="285"/>
              </a:spcBef>
            </a:pPr>
            <a:r>
              <a:rPr sz="1100" dirty="0">
                <a:latin typeface="Georgia"/>
                <a:cs typeface="Georgia"/>
              </a:rPr>
              <a:t>Unary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rating: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spc="105" dirty="0">
                <a:latin typeface="Georgia"/>
                <a:cs typeface="Georgia"/>
              </a:rPr>
              <a:t>{</a:t>
            </a:r>
            <a:r>
              <a:rPr sz="1100" spc="105" dirty="0">
                <a:latin typeface="Cambria"/>
                <a:cs typeface="Cambria"/>
              </a:rPr>
              <a:t>like</a:t>
            </a:r>
            <a:r>
              <a:rPr sz="1100" spc="105" dirty="0">
                <a:latin typeface="Georgia"/>
                <a:cs typeface="Georgia"/>
              </a:rPr>
              <a:t>}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(e.g.,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Facebook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like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button;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express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dislike) </a:t>
            </a:r>
            <a:r>
              <a:rPr sz="1100" dirty="0">
                <a:latin typeface="Georgia"/>
                <a:cs typeface="Georgia"/>
              </a:rPr>
              <a:t>Binary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rating: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spc="95" dirty="0">
                <a:latin typeface="Georgia"/>
                <a:cs typeface="Georgia"/>
              </a:rPr>
              <a:t>{</a:t>
            </a:r>
            <a:r>
              <a:rPr sz="1100" spc="95" dirty="0">
                <a:latin typeface="Cambria"/>
                <a:cs typeface="Cambria"/>
              </a:rPr>
              <a:t>like</a:t>
            </a:r>
            <a:r>
              <a:rPr sz="1100" spc="95" dirty="0">
                <a:latin typeface="Georgia"/>
                <a:cs typeface="Georgia"/>
              </a:rPr>
              <a:t>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95" dirty="0">
                <a:latin typeface="Cambria"/>
                <a:cs typeface="Cambria"/>
              </a:rPr>
              <a:t>dislike</a:t>
            </a:r>
            <a:r>
              <a:rPr sz="1100" spc="95" dirty="0">
                <a:latin typeface="Georgia"/>
                <a:cs typeface="Georgia"/>
              </a:rPr>
              <a:t>}</a:t>
            </a:r>
            <a:endParaRPr sz="1100">
              <a:latin typeface="Georgia"/>
              <a:cs typeface="Georgia"/>
            </a:endParaRPr>
          </a:p>
          <a:p>
            <a:pPr marL="12700" marR="885190">
              <a:lnSpc>
                <a:spcPct val="142100"/>
              </a:lnSpc>
            </a:pPr>
            <a:r>
              <a:rPr sz="1100" spc="-35" dirty="0">
                <a:latin typeface="Georgia"/>
                <a:cs typeface="Georgia"/>
              </a:rPr>
              <a:t>5–point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scale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(discrete):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i="1" spc="-50" dirty="0">
                <a:latin typeface="Meiryo UI"/>
                <a:cs typeface="Meiryo UI"/>
              </a:rPr>
              <a:t>{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i="1" spc="-5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3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4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5</a:t>
            </a:r>
            <a:r>
              <a:rPr sz="1100" i="1" spc="-50" dirty="0">
                <a:latin typeface="Meiryo UI"/>
                <a:cs typeface="Meiryo UI"/>
              </a:rPr>
              <a:t>}</a:t>
            </a:r>
            <a:r>
              <a:rPr sz="1100" i="1" spc="-45" dirty="0">
                <a:latin typeface="Meiryo UI"/>
                <a:cs typeface="Meiryo UI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i="1" spc="-55" dirty="0">
                <a:latin typeface="Meiryo UI"/>
                <a:cs typeface="Meiryo UI"/>
              </a:rPr>
              <a:t>{−</a:t>
            </a:r>
            <a:r>
              <a:rPr sz="1100" spc="-55" dirty="0">
                <a:latin typeface="Times New Roman"/>
                <a:cs typeface="Times New Roman"/>
              </a:rPr>
              <a:t>2</a:t>
            </a:r>
            <a:r>
              <a:rPr sz="1100" i="1" spc="-55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Meiryo UI"/>
                <a:cs typeface="Meiryo UI"/>
              </a:rPr>
              <a:t>−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i="1" spc="-25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</a:t>
            </a:r>
            <a:r>
              <a:rPr sz="1100" i="1" spc="-25" dirty="0">
                <a:latin typeface="Meiryo UI"/>
                <a:cs typeface="Meiryo UI"/>
              </a:rPr>
              <a:t>}</a:t>
            </a:r>
            <a:r>
              <a:rPr sz="1100" spc="-25" dirty="0">
                <a:latin typeface="Georgia"/>
                <a:cs typeface="Georgia"/>
              </a:rPr>
              <a:t>. </a:t>
            </a:r>
            <a:r>
              <a:rPr sz="1100" spc="-175" dirty="0">
                <a:latin typeface="Georgia"/>
                <a:cs typeface="Georgia"/>
              </a:rPr>
              <a:t>–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Some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other </a:t>
            </a:r>
            <a:r>
              <a:rPr sz="1100" spc="-20" dirty="0">
                <a:latin typeface="Georgia"/>
                <a:cs typeface="Georgia"/>
              </a:rPr>
              <a:t>options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7–point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10–point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scale.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spc="-25" dirty="0">
                <a:latin typeface="Georgia"/>
                <a:cs typeface="Georgia"/>
              </a:rPr>
              <a:t>Continuous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values: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e.g.,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real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value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Times New Roman"/>
                <a:cs typeface="Times New Roman"/>
              </a:rPr>
              <a:t>[</a:t>
            </a:r>
            <a:r>
              <a:rPr sz="1100" i="1" spc="-30" dirty="0">
                <a:latin typeface="Meiryo UI"/>
                <a:cs typeface="Meiryo UI"/>
              </a:rPr>
              <a:t>−</a:t>
            </a:r>
            <a:r>
              <a:rPr sz="1100" spc="-30" dirty="0">
                <a:latin typeface="Times New Roman"/>
                <a:cs typeface="Times New Roman"/>
              </a:rPr>
              <a:t>10</a:t>
            </a:r>
            <a:r>
              <a:rPr sz="1100" i="1" spc="-3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10]</a:t>
            </a:r>
            <a:r>
              <a:rPr sz="1100" spc="-2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189014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212836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236658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284302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0" name="object 10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30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Explicit</a:t>
            </a:r>
            <a:r>
              <a:rPr spc="270" dirty="0"/>
              <a:t> </a:t>
            </a:r>
            <a:r>
              <a:rPr dirty="0"/>
              <a:t>ratings</a:t>
            </a:r>
            <a:r>
              <a:rPr spc="280" dirty="0"/>
              <a:t> </a:t>
            </a:r>
            <a:r>
              <a:rPr dirty="0"/>
              <a:t>versus</a:t>
            </a:r>
            <a:r>
              <a:rPr spc="280" dirty="0"/>
              <a:t> </a:t>
            </a:r>
            <a:r>
              <a:rPr dirty="0"/>
              <a:t>implicit</a:t>
            </a:r>
            <a:r>
              <a:rPr spc="270" dirty="0"/>
              <a:t> </a:t>
            </a:r>
            <a:r>
              <a:rPr spc="-10" dirty="0"/>
              <a:t>ratings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105468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42195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63550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94760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1688" rIns="0" bIns="0" rtlCol="0">
            <a:spAutoFit/>
          </a:bodyPr>
          <a:lstStyle/>
          <a:p>
            <a:pPr marL="12700" marR="13335">
              <a:lnSpc>
                <a:spcPts val="1150"/>
              </a:lnSpc>
              <a:spcBef>
                <a:spcPts val="270"/>
              </a:spcBef>
            </a:pPr>
            <a:r>
              <a:rPr b="1" dirty="0">
                <a:latin typeface="Georgia"/>
                <a:cs typeface="Georgia"/>
              </a:rPr>
              <a:t>Explicit</a:t>
            </a:r>
            <a:r>
              <a:rPr b="1" spc="35" dirty="0">
                <a:latin typeface="Georgia"/>
                <a:cs typeface="Georgia"/>
              </a:rPr>
              <a:t> </a:t>
            </a:r>
            <a:r>
              <a:rPr b="1" spc="-30" dirty="0">
                <a:latin typeface="Georgia"/>
                <a:cs typeface="Georgia"/>
              </a:rPr>
              <a:t>ratings</a:t>
            </a:r>
            <a:r>
              <a:rPr spc="-30" dirty="0"/>
              <a:t>:</a:t>
            </a:r>
            <a:r>
              <a:rPr spc="95" dirty="0"/>
              <a:t> </a:t>
            </a:r>
            <a:r>
              <a:rPr spc="-30" dirty="0"/>
              <a:t>users</a:t>
            </a:r>
            <a:r>
              <a:rPr spc="5" dirty="0"/>
              <a:t> </a:t>
            </a:r>
            <a:r>
              <a:rPr dirty="0"/>
              <a:t>rate</a:t>
            </a:r>
            <a:r>
              <a:rPr spc="10" dirty="0"/>
              <a:t> </a:t>
            </a:r>
            <a:r>
              <a:rPr spc="-10" dirty="0"/>
              <a:t>items</a:t>
            </a:r>
            <a:r>
              <a:rPr spc="5" dirty="0"/>
              <a:t> </a:t>
            </a:r>
            <a:r>
              <a:rPr spc="-10" dirty="0"/>
              <a:t>explicitly</a:t>
            </a:r>
            <a:r>
              <a:rPr spc="10" dirty="0"/>
              <a:t> </a:t>
            </a:r>
            <a:r>
              <a:rPr spc="-20" dirty="0"/>
              <a:t>using</a:t>
            </a:r>
            <a:r>
              <a:rPr spc="5" dirty="0"/>
              <a:t> </a:t>
            </a:r>
            <a:r>
              <a:rPr dirty="0"/>
              <a:t>rating</a:t>
            </a:r>
            <a:r>
              <a:rPr spc="10" dirty="0"/>
              <a:t> </a:t>
            </a:r>
            <a:r>
              <a:rPr spc="-10" dirty="0"/>
              <a:t>scale</a:t>
            </a:r>
            <a:r>
              <a:rPr spc="10" dirty="0"/>
              <a:t> </a:t>
            </a:r>
            <a:r>
              <a:rPr spc="-10" dirty="0"/>
              <a:t>like</a:t>
            </a:r>
            <a:r>
              <a:rPr spc="5" dirty="0"/>
              <a:t> </a:t>
            </a:r>
            <a:r>
              <a:rPr spc="-20" dirty="0"/>
              <a:t>unary,</a:t>
            </a:r>
            <a:r>
              <a:rPr spc="10" dirty="0"/>
              <a:t> </a:t>
            </a:r>
            <a:r>
              <a:rPr spc="-10" dirty="0"/>
              <a:t>binary, </a:t>
            </a:r>
            <a:r>
              <a:rPr spc="-35" dirty="0"/>
              <a:t>5–point</a:t>
            </a:r>
            <a:r>
              <a:rPr spc="10" dirty="0"/>
              <a:t> </a:t>
            </a:r>
            <a:r>
              <a:rPr spc="-10" dirty="0"/>
              <a:t>scale,</a:t>
            </a:r>
            <a:r>
              <a:rPr spc="10" dirty="0"/>
              <a:t> </a:t>
            </a:r>
            <a:r>
              <a:rPr spc="-20" dirty="0"/>
              <a:t>etc.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b="1" spc="-25" dirty="0">
                <a:latin typeface="Georgia"/>
                <a:cs typeface="Georgia"/>
              </a:rPr>
              <a:t>Implicit</a:t>
            </a:r>
            <a:r>
              <a:rPr b="1" spc="35" dirty="0">
                <a:latin typeface="Georgia"/>
                <a:cs typeface="Georgia"/>
              </a:rPr>
              <a:t> </a:t>
            </a:r>
            <a:r>
              <a:rPr b="1" spc="-30" dirty="0">
                <a:latin typeface="Georgia"/>
                <a:cs typeface="Georgia"/>
              </a:rPr>
              <a:t>ratings</a:t>
            </a:r>
            <a:r>
              <a:rPr spc="-30" dirty="0"/>
              <a:t>:</a:t>
            </a:r>
            <a:r>
              <a:rPr spc="100" dirty="0"/>
              <a:t> </a:t>
            </a:r>
            <a:r>
              <a:rPr spc="-30" dirty="0"/>
              <a:t>users</a:t>
            </a:r>
            <a:r>
              <a:rPr spc="15" dirty="0"/>
              <a:t> </a:t>
            </a:r>
            <a:r>
              <a:rPr dirty="0"/>
              <a:t>do</a:t>
            </a:r>
            <a:r>
              <a:rPr spc="10" dirty="0"/>
              <a:t> </a:t>
            </a:r>
            <a:r>
              <a:rPr dirty="0"/>
              <a:t>not</a:t>
            </a:r>
            <a:r>
              <a:rPr spc="10" dirty="0"/>
              <a:t> </a:t>
            </a:r>
            <a:r>
              <a:rPr dirty="0"/>
              <a:t>really</a:t>
            </a:r>
            <a:r>
              <a:rPr spc="10" dirty="0"/>
              <a:t> </a:t>
            </a:r>
            <a:r>
              <a:rPr dirty="0"/>
              <a:t>rate</a:t>
            </a:r>
            <a:r>
              <a:rPr spc="15" dirty="0"/>
              <a:t> </a:t>
            </a:r>
            <a:r>
              <a:rPr spc="-10" dirty="0"/>
              <a:t>items</a:t>
            </a:r>
            <a:r>
              <a:rPr spc="10" dirty="0"/>
              <a:t> </a:t>
            </a:r>
            <a:r>
              <a:rPr spc="-10" dirty="0"/>
              <a:t>explicitly.</a:t>
            </a:r>
          </a:p>
          <a:p>
            <a:pPr marL="289560" marR="5080">
              <a:lnSpc>
                <a:spcPts val="1019"/>
              </a:lnSpc>
              <a:spcBef>
                <a:spcPts val="60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inferred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actions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like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browsing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reading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watching</a:t>
            </a:r>
            <a:r>
              <a:rPr sz="1000" spc="-10" dirty="0">
                <a:latin typeface="Times New Roman"/>
                <a:cs typeface="Times New Roman"/>
              </a:rPr>
              <a:t>, </a:t>
            </a:r>
            <a:r>
              <a:rPr sz="1000" i="1" dirty="0">
                <a:latin typeface="Palatino Linotype"/>
                <a:cs typeface="Palatino Linotype"/>
              </a:rPr>
              <a:t>add–to–cart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buying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sharing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289560" marR="164465">
              <a:lnSpc>
                <a:spcPts val="1019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types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actions,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e.g.,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buying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higher </a:t>
            </a:r>
            <a:r>
              <a:rPr sz="1000" dirty="0">
                <a:latin typeface="Times New Roman"/>
                <a:cs typeface="Times New Roman"/>
              </a:rPr>
              <a:t>weight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just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browsing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it.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31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Rating</a:t>
            </a:r>
            <a:r>
              <a:rPr spc="370" dirty="0"/>
              <a:t> </a:t>
            </a:r>
            <a:r>
              <a:rPr spc="-10" dirty="0"/>
              <a:t>matrices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3294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87116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972" y="110661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32015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5032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68626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86932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212766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234867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54421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0229" y="270927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0677" y="469364"/>
            <a:ext cx="4616450" cy="233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238760">
              <a:lnSpc>
                <a:spcPct val="142100"/>
              </a:lnSpc>
              <a:spcBef>
                <a:spcPts val="100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spc="50" dirty="0">
                <a:latin typeface="Georgia"/>
                <a:cs typeface="Georgia"/>
              </a:rPr>
              <a:t>I</a:t>
            </a:r>
            <a:r>
              <a:rPr sz="1100" i="1" spc="1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e.g.,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products,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movies,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etc. </a:t>
            </a:r>
            <a:r>
              <a:rPr sz="1100" dirty="0">
                <a:latin typeface="Georgia"/>
                <a:cs typeface="Georgia"/>
              </a:rPr>
              <a:t>Let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1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m</a:t>
            </a:r>
            <a:r>
              <a:rPr sz="1100" i="1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system.</a:t>
            </a:r>
            <a:endParaRPr sz="110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535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R</a:t>
            </a:r>
            <a:r>
              <a:rPr sz="1100" i="1" spc="25" dirty="0">
                <a:latin typeface="Georgia"/>
                <a:cs typeface="Georgia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Meiryo UI"/>
                <a:cs typeface="Meiryo UI"/>
              </a:rPr>
              <a:t>{</a:t>
            </a:r>
            <a:r>
              <a:rPr sz="1100" i="1" dirty="0">
                <a:latin typeface="Georgia"/>
                <a:cs typeface="Georgia"/>
              </a:rPr>
              <a:t>r</a:t>
            </a:r>
            <a:r>
              <a:rPr sz="1200" i="1" baseline="-10416" dirty="0">
                <a:latin typeface="Georgia"/>
                <a:cs typeface="Georgia"/>
              </a:rPr>
              <a:t>ui</a:t>
            </a:r>
            <a:r>
              <a:rPr sz="1100" i="1" dirty="0">
                <a:latin typeface="Meiryo UI"/>
                <a:cs typeface="Meiryo UI"/>
              </a:rPr>
              <a:t>}</a:t>
            </a:r>
            <a:r>
              <a:rPr sz="1200" i="1" baseline="-10416" dirty="0">
                <a:latin typeface="Georgia"/>
                <a:cs typeface="Georgia"/>
              </a:rPr>
              <a:t>m</a:t>
            </a:r>
            <a:r>
              <a:rPr sz="1200" i="1" baseline="-10416" dirty="0">
                <a:latin typeface="Meiryo UI"/>
                <a:cs typeface="Meiryo UI"/>
              </a:rPr>
              <a:t>×</a:t>
            </a:r>
            <a:r>
              <a:rPr sz="1200" i="1" baseline="-10416" dirty="0">
                <a:latin typeface="Georgia"/>
                <a:cs typeface="Georgia"/>
              </a:rPr>
              <a:t>n</a:t>
            </a:r>
            <a:r>
              <a:rPr sz="1200" i="1" spc="270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user–item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matrix.</a:t>
            </a:r>
            <a:endParaRPr sz="1100">
              <a:latin typeface="Georgia"/>
              <a:cs typeface="Georgia"/>
            </a:endParaRPr>
          </a:p>
          <a:p>
            <a:pPr marL="353060" marR="451484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Where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r</a:t>
            </a:r>
            <a:r>
              <a:rPr sz="1050" i="1" baseline="-11904" dirty="0">
                <a:latin typeface="Georgia"/>
                <a:cs typeface="Georgia"/>
              </a:rPr>
              <a:t>ui</a:t>
            </a:r>
            <a:r>
              <a:rPr sz="1050" i="1" spc="367" baseline="-11904" dirty="0">
                <a:latin typeface="Georgia"/>
                <a:cs typeface="Georgia"/>
              </a:rPr>
              <a:t> </a:t>
            </a:r>
            <a:r>
              <a:rPr sz="1000" i="1" spc="-150" dirty="0">
                <a:latin typeface="Meiryo UI"/>
                <a:cs typeface="Meiryo UI"/>
              </a:rPr>
              <a:t>∈</a:t>
            </a:r>
            <a:r>
              <a:rPr sz="1000" i="1" spc="5" dirty="0">
                <a:latin typeface="Meiryo UI"/>
                <a:cs typeface="Meiryo UI"/>
              </a:rPr>
              <a:t> </a:t>
            </a:r>
            <a:r>
              <a:rPr sz="1000" dirty="0">
                <a:latin typeface="Arial"/>
                <a:cs typeface="Arial"/>
              </a:rPr>
              <a:t>R</a:t>
            </a:r>
            <a:r>
              <a:rPr sz="1000" spc="135" dirty="0">
                <a:latin typeface="Arial"/>
                <a:cs typeface="Arial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i</a:t>
            </a:r>
            <a:r>
              <a:rPr sz="1000" i="1" spc="17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given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i="1" spc="-25" dirty="0">
                <a:latin typeface="Georgia"/>
                <a:cs typeface="Georgia"/>
              </a:rPr>
              <a:t>u</a:t>
            </a:r>
            <a:r>
              <a:rPr sz="1000" spc="-25" dirty="0">
                <a:latin typeface="Times New Roman"/>
                <a:cs typeface="Times New Roman"/>
              </a:rPr>
              <a:t>. </a:t>
            </a:r>
            <a:r>
              <a:rPr sz="1000" spc="10" dirty="0">
                <a:latin typeface="Times New Roman"/>
                <a:cs typeface="Times New Roman"/>
              </a:rPr>
              <a:t>Normally,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only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small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fraction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of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ratings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are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specified</a:t>
            </a:r>
            <a:r>
              <a:rPr sz="1000" i="1" spc="235" dirty="0">
                <a:latin typeface="Palatino Linotype"/>
                <a:cs typeface="Palatino Linotype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(or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observed</a:t>
            </a:r>
            <a:r>
              <a:rPr sz="1000" i="1" spc="-140" dirty="0">
                <a:latin typeface="Palatino Linotype"/>
                <a:cs typeface="Palatino Linotype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). </a:t>
            </a:r>
            <a:r>
              <a:rPr sz="1000" dirty="0">
                <a:latin typeface="Times New Roman"/>
                <a:cs typeface="Times New Roman"/>
              </a:rPr>
              <a:t>Most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missing</a:t>
            </a:r>
            <a:r>
              <a:rPr sz="1000" i="1" spc="275" dirty="0">
                <a:latin typeface="Palatino Linotype"/>
                <a:cs typeface="Palatino Linotype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(i.e.,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unspecified</a:t>
            </a:r>
            <a:r>
              <a:rPr sz="1000" i="1" spc="295" dirty="0">
                <a:latin typeface="Palatino Linotype"/>
                <a:cs typeface="Palatino Linotype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unobserved</a:t>
            </a:r>
            <a:r>
              <a:rPr sz="1000" i="1" spc="-125" dirty="0">
                <a:latin typeface="Palatino Linotype"/>
                <a:cs typeface="Palatino Linotype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  <a:p>
            <a:pPr marL="3530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Thus,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i="1" spc="55" dirty="0">
                <a:latin typeface="Georgia"/>
                <a:cs typeface="Georgia"/>
              </a:rPr>
              <a:t>R</a:t>
            </a:r>
            <a:r>
              <a:rPr sz="1000" i="1" spc="18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normally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very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sparse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76200" marR="17780">
              <a:lnSpc>
                <a:spcPct val="131800"/>
              </a:lnSpc>
              <a:spcBef>
                <a:spcPts val="35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matrix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also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called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user–item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matrix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utility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matrix.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types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matrix:</a:t>
            </a:r>
            <a:endParaRPr sz="1100">
              <a:latin typeface="Georgia"/>
              <a:cs typeface="Georgia"/>
            </a:endParaRPr>
          </a:p>
          <a:p>
            <a:pPr marL="353060" marR="93345">
              <a:lnSpc>
                <a:spcPct val="1083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Explicit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matrix: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values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given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explicitly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users. </a:t>
            </a:r>
            <a:r>
              <a:rPr sz="1000" dirty="0">
                <a:latin typeface="Times New Roman"/>
                <a:cs typeface="Times New Roman"/>
              </a:rPr>
              <a:t>Implicit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matrix:</a:t>
            </a:r>
            <a:r>
              <a:rPr sz="1000" spc="3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values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inferred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actions.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6" name="object 1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32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31908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Examples</a:t>
            </a:r>
            <a:r>
              <a:rPr sz="1400" spc="27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of</a:t>
            </a:r>
            <a:r>
              <a:rPr sz="1400" spc="26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user–item</a:t>
            </a:r>
            <a:r>
              <a:rPr sz="1400" spc="26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rating</a:t>
            </a:r>
            <a:r>
              <a:rPr sz="1400" spc="26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matrices</a:t>
            </a:r>
            <a:r>
              <a:rPr sz="1400" spc="27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CC0000"/>
                </a:solidFill>
                <a:latin typeface="Times New Roman"/>
                <a:cs typeface="Times New Roman"/>
                <a:hlinkClick r:id="rId2" action="ppaction://hlinksldjump"/>
              </a:rPr>
              <a:t>[8]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6040" y="600316"/>
            <a:ext cx="3387979" cy="218738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33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85" dirty="0"/>
              <a:t> </a:t>
            </a:r>
            <a:r>
              <a:rPr dirty="0"/>
              <a:t>long–tail</a:t>
            </a:r>
            <a:r>
              <a:rPr spc="195" dirty="0"/>
              <a:t> </a:t>
            </a:r>
            <a:r>
              <a:rPr dirty="0"/>
              <a:t>of</a:t>
            </a:r>
            <a:r>
              <a:rPr spc="185" dirty="0"/>
              <a:t> </a:t>
            </a:r>
            <a:r>
              <a:rPr dirty="0"/>
              <a:t>rating</a:t>
            </a:r>
            <a:r>
              <a:rPr spc="195" dirty="0"/>
              <a:t> </a:t>
            </a:r>
            <a:r>
              <a:rPr spc="-10" dirty="0"/>
              <a:t>frequencies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5693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87793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09148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27453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4575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64064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188178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09532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27837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4177" y="510575"/>
            <a:ext cx="5099050" cy="225552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dirty="0">
                <a:latin typeface="Georgia"/>
                <a:cs typeface="Georgia"/>
              </a:rPr>
              <a:t>Only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small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fraction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frequently.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popular</a:t>
            </a:r>
            <a:r>
              <a:rPr sz="1100" i="1" spc="125" dirty="0">
                <a:latin typeface="Palatino Linotype"/>
                <a:cs typeface="Palatino Linotype"/>
              </a:rPr>
              <a:t> </a:t>
            </a:r>
            <a:r>
              <a:rPr sz="1100" spc="-10" dirty="0">
                <a:latin typeface="Georgia"/>
                <a:cs typeface="Georgia"/>
              </a:rPr>
              <a:t>items.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majority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rarely,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leading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highly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skewed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distribution.</a:t>
            </a:r>
            <a:endParaRPr sz="1100">
              <a:latin typeface="Georgia"/>
              <a:cs typeface="Georgia"/>
            </a:endParaRPr>
          </a:p>
          <a:p>
            <a:pPr marL="289560" marR="445134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High–frequency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tend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relatively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competitive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little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profit. </a:t>
            </a:r>
            <a:r>
              <a:rPr sz="1000" dirty="0">
                <a:latin typeface="Times New Roman"/>
                <a:cs typeface="Times New Roman"/>
              </a:rPr>
              <a:t>Lower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frequency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normally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larger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profit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margins.</a:t>
            </a:r>
            <a:endParaRPr sz="1000">
              <a:latin typeface="Times New Roman"/>
              <a:cs typeface="Times New Roman"/>
            </a:endParaRPr>
          </a:p>
          <a:p>
            <a:pPr marL="289560" marR="331470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Advantageous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merchant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recommend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lower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frequency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Amazon.com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analysis:</a:t>
            </a:r>
            <a:r>
              <a:rPr sz="10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make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most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profit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selling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long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tail.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dirty="0">
                <a:latin typeface="Georgia"/>
                <a:cs typeface="Georgia"/>
              </a:rPr>
              <a:t>In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fact,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recommendation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algorithms: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Tend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suggest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popular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rather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infrequent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289560" marR="103505">
              <a:lnSpc>
                <a:spcPts val="1019"/>
              </a:lnSpc>
              <a:spcBef>
                <a:spcPts val="425"/>
              </a:spcBef>
            </a:pPr>
            <a:r>
              <a:rPr sz="1000" dirty="0">
                <a:latin typeface="Times New Roman"/>
                <a:cs typeface="Times New Roman"/>
              </a:rPr>
              <a:t>Having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negative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impact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diversity,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may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often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become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bored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receiving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same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set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of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recommendations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of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popular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100" spc="-20" dirty="0">
                <a:latin typeface="Georgia"/>
                <a:cs typeface="Georgia"/>
              </a:rPr>
              <a:t>Need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consider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long–tail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problem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when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designing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recommendation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algorithms.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7972" y="266578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5" name="object 1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34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32931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CC0000"/>
                </a:solidFill>
                <a:latin typeface="Times New Roman"/>
                <a:cs typeface="Times New Roman"/>
              </a:rPr>
              <a:t>The</a:t>
            </a:r>
            <a:r>
              <a:rPr sz="1400" spc="1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long–tail</a:t>
            </a:r>
            <a:r>
              <a:rPr sz="1400" spc="1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of</a:t>
            </a:r>
            <a:r>
              <a:rPr sz="1400" spc="1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rating</a:t>
            </a:r>
            <a:r>
              <a:rPr sz="1400" spc="1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frequencies</a:t>
            </a:r>
            <a:r>
              <a:rPr sz="1400" spc="1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CC0000"/>
                </a:solidFill>
                <a:latin typeface="Times New Roman"/>
                <a:cs typeface="Times New Roman"/>
              </a:rPr>
              <a:t>(cont’d)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532" y="508076"/>
            <a:ext cx="2733040" cy="21376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17470" y="2712867"/>
            <a:ext cx="15259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Georgia"/>
                <a:cs typeface="Georgia"/>
              </a:rPr>
              <a:t>source:</a:t>
            </a:r>
            <a:r>
              <a:rPr sz="900" spc="1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from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textbook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30" dirty="0">
                <a:latin typeface="Georgia"/>
                <a:cs typeface="Georgia"/>
                <a:hlinkClick r:id="rId3" action="ppaction://hlinksldjump"/>
              </a:rPr>
              <a:t>[8]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6" name="object 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35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Neighborhood–based</a:t>
            </a:r>
            <a:r>
              <a:rPr spc="370" dirty="0"/>
              <a:t> </a:t>
            </a:r>
            <a:r>
              <a:rPr dirty="0"/>
              <a:t>collaborative</a:t>
            </a:r>
            <a:r>
              <a:rPr spc="370" dirty="0"/>
              <a:t> </a:t>
            </a:r>
            <a:r>
              <a:rPr spc="-10" dirty="0"/>
              <a:t>filtering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1153642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39186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1630083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1868297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9016" y="1011044"/>
            <a:ext cx="3394075" cy="9785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56845" indent="-144145">
              <a:lnSpc>
                <a:spcPct val="100000"/>
              </a:lnSpc>
              <a:spcBef>
                <a:spcPts val="6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10" dirty="0">
                <a:latin typeface="Georgia"/>
                <a:cs typeface="Georgia"/>
              </a:rPr>
              <a:t>Predicting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10" dirty="0">
                <a:latin typeface="Georgia"/>
                <a:cs typeface="Georgia"/>
              </a:rPr>
              <a:t>Clustering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35" dirty="0">
                <a:latin typeface="Georgia"/>
                <a:cs typeface="Georgia"/>
              </a:rPr>
              <a:t>Dimensionality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reduction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neighborhood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dirty="0">
                <a:latin typeface="Georgia"/>
                <a:cs typeface="Georgia"/>
              </a:rPr>
              <a:t>Graph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models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36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Neighborhood–based</a:t>
            </a:r>
            <a:r>
              <a:rPr spc="275" dirty="0"/>
              <a:t> </a:t>
            </a:r>
            <a:r>
              <a:rPr spc="75" dirty="0"/>
              <a:t>CF</a:t>
            </a:r>
            <a:r>
              <a:rPr spc="280" dirty="0"/>
              <a:t> </a:t>
            </a:r>
            <a:r>
              <a:rPr dirty="0"/>
              <a:t>recommender</a:t>
            </a:r>
            <a:r>
              <a:rPr spc="28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1153642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39186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1630083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1868297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9016" y="1011044"/>
            <a:ext cx="3886835" cy="9785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56845" indent="-144145">
              <a:lnSpc>
                <a:spcPct val="100000"/>
              </a:lnSpc>
              <a:spcBef>
                <a:spcPts val="6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b="1" spc="-10" dirty="0">
                <a:solidFill>
                  <a:srgbClr val="0000FF"/>
                </a:solidFill>
                <a:latin typeface="Georgia"/>
                <a:cs typeface="Georgia"/>
              </a:rPr>
              <a:t>Predicting</a:t>
            </a:r>
            <a:r>
              <a:rPr sz="1100" b="1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30" dirty="0">
                <a:solidFill>
                  <a:srgbClr val="0000FF"/>
                </a:solidFill>
                <a:latin typeface="Georgia"/>
                <a:cs typeface="Georgia"/>
              </a:rPr>
              <a:t>ratings</a:t>
            </a:r>
            <a:r>
              <a:rPr sz="1100" b="1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dirty="0">
                <a:solidFill>
                  <a:srgbClr val="0000FF"/>
                </a:solidFill>
                <a:latin typeface="Georgia"/>
                <a:cs typeface="Georgia"/>
              </a:rPr>
              <a:t>with</a:t>
            </a:r>
            <a:r>
              <a:rPr sz="1100" b="1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60" dirty="0">
                <a:solidFill>
                  <a:srgbClr val="0000FF"/>
                </a:solidFill>
                <a:latin typeface="Georgia"/>
                <a:cs typeface="Georgia"/>
              </a:rPr>
              <a:t>neighborhood–based</a:t>
            </a:r>
            <a:r>
              <a:rPr sz="1100" b="1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10" dirty="0">
                <a:latin typeface="Georgia"/>
                <a:cs typeface="Georgia"/>
              </a:rPr>
              <a:t>Clustering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35" dirty="0">
                <a:latin typeface="Georgia"/>
                <a:cs typeface="Georgia"/>
              </a:rPr>
              <a:t>Dimensionality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reduction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neighborhood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dirty="0">
                <a:latin typeface="Georgia"/>
                <a:cs typeface="Georgia"/>
              </a:rPr>
              <a:t>Graph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models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37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Predicting</a:t>
            </a:r>
            <a:r>
              <a:rPr spc="375" dirty="0"/>
              <a:t> </a:t>
            </a:r>
            <a:r>
              <a:rPr dirty="0"/>
              <a:t>ratings</a:t>
            </a:r>
            <a:r>
              <a:rPr spc="385" dirty="0"/>
              <a:t> </a:t>
            </a:r>
            <a:r>
              <a:rPr dirty="0"/>
              <a:t>with</a:t>
            </a:r>
            <a:r>
              <a:rPr spc="380" dirty="0"/>
              <a:t> </a:t>
            </a:r>
            <a:r>
              <a:rPr dirty="0"/>
              <a:t>neighborhood–based</a:t>
            </a:r>
            <a:r>
              <a:rPr spc="38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70883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92238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10543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39978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65680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87034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31151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4177" y="557953"/>
            <a:ext cx="5128895" cy="210439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idea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methods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make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recommendations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based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on: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user–user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similarity,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or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4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item–item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computed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matrix.</a:t>
            </a:r>
            <a:endParaRPr sz="1000">
              <a:latin typeface="Times New Roman"/>
              <a:cs typeface="Times New Roman"/>
            </a:endParaRPr>
          </a:p>
          <a:p>
            <a:pPr marL="12700" marR="678180">
              <a:lnSpc>
                <a:spcPct val="153300"/>
              </a:lnSpc>
              <a:spcBef>
                <a:spcPts val="355"/>
              </a:spcBef>
            </a:pPr>
            <a:r>
              <a:rPr sz="1100" b="1" spc="-40" dirty="0">
                <a:latin typeface="Georgia"/>
                <a:cs typeface="Georgia"/>
              </a:rPr>
              <a:t>Neighborhood</a:t>
            </a:r>
            <a:r>
              <a:rPr sz="1100" b="1" spc="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implies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determining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either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similar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similar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items.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basic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principles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models:</a:t>
            </a:r>
            <a:endParaRPr sz="1100">
              <a:latin typeface="Georgia"/>
              <a:cs typeface="Georgia"/>
            </a:endParaRPr>
          </a:p>
          <a:p>
            <a:pPr marL="289560" marR="16510">
              <a:lnSpc>
                <a:spcPts val="1019"/>
              </a:lnSpc>
              <a:spcBef>
                <a:spcPts val="605"/>
              </a:spcBef>
            </a:pPr>
            <a:r>
              <a:rPr sz="1000" b="1" spc="-45" dirty="0">
                <a:latin typeface="Georgia"/>
                <a:cs typeface="Georgia"/>
              </a:rPr>
              <a:t>User–based</a:t>
            </a:r>
            <a:r>
              <a:rPr sz="1000" spc="-45" dirty="0">
                <a:latin typeface="Times New Roman"/>
                <a:cs typeface="Times New Roman"/>
              </a:rPr>
              <a:t>: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same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item.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Therefore,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if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Cambria"/>
                <a:cs typeface="Cambria"/>
              </a:rPr>
              <a:t>Alice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ambria"/>
                <a:cs typeface="Cambria"/>
              </a:rPr>
              <a:t>Bob</a:t>
            </a:r>
            <a:r>
              <a:rPr sz="1000" spc="190" dirty="0">
                <a:latin typeface="Cambria"/>
                <a:cs typeface="Cambr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movies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way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past,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then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Cambria"/>
                <a:cs typeface="Cambria"/>
              </a:rPr>
              <a:t>Alice</a:t>
            </a:r>
            <a:r>
              <a:rPr sz="1000" spc="50" dirty="0">
                <a:latin typeface="Times New Roman"/>
                <a:cs typeface="Times New Roman"/>
              </a:rPr>
              <a:t>’s </a:t>
            </a:r>
            <a:r>
              <a:rPr sz="1000" dirty="0">
                <a:latin typeface="Times New Roman"/>
                <a:cs typeface="Times New Roman"/>
              </a:rPr>
              <a:t>observed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i="1" spc="55" dirty="0">
                <a:latin typeface="Times New Roman"/>
                <a:cs typeface="Times New Roman"/>
              </a:rPr>
              <a:t>Terminator</a:t>
            </a:r>
            <a:r>
              <a:rPr sz="1000" i="1" spc="409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predict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Cambria"/>
                <a:cs typeface="Cambria"/>
              </a:rPr>
              <a:t>Bob</a:t>
            </a:r>
            <a:r>
              <a:rPr sz="1000" spc="-25" dirty="0">
                <a:latin typeface="Times New Roman"/>
                <a:cs typeface="Times New Roman"/>
              </a:rPr>
              <a:t>’s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unobserved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movie.</a:t>
            </a:r>
            <a:endParaRPr sz="1000">
              <a:latin typeface="Times New Roman"/>
              <a:cs typeface="Times New Roman"/>
            </a:endParaRPr>
          </a:p>
          <a:p>
            <a:pPr marL="289560" marR="5080">
              <a:lnSpc>
                <a:spcPts val="1019"/>
              </a:lnSpc>
              <a:spcBef>
                <a:spcPts val="409"/>
              </a:spcBef>
            </a:pPr>
            <a:r>
              <a:rPr sz="1000" b="1" spc="-35" dirty="0">
                <a:latin typeface="Georgia"/>
                <a:cs typeface="Georgia"/>
              </a:rPr>
              <a:t>Item–based</a:t>
            </a:r>
            <a:r>
              <a:rPr sz="1000" spc="-35" dirty="0">
                <a:latin typeface="Times New Roman"/>
                <a:cs typeface="Times New Roman"/>
              </a:rPr>
              <a:t>:</a:t>
            </a:r>
            <a:r>
              <a:rPr sz="1000" spc="2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way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same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user.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Therefore, </a:t>
            </a:r>
            <a:r>
              <a:rPr sz="1000" spc="-25" dirty="0">
                <a:latin typeface="Cambria"/>
                <a:cs typeface="Cambria"/>
              </a:rPr>
              <a:t>Bob</a:t>
            </a:r>
            <a:r>
              <a:rPr sz="1000" spc="-25" dirty="0">
                <a:latin typeface="Times New Roman"/>
                <a:cs typeface="Times New Roman"/>
              </a:rPr>
              <a:t>’s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science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fiction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movies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like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i="1" spc="90" dirty="0">
                <a:latin typeface="Times New Roman"/>
                <a:cs typeface="Times New Roman"/>
              </a:rPr>
              <a:t>Alien</a:t>
            </a:r>
            <a:r>
              <a:rPr sz="1000" i="1" spc="3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i="1" spc="60" dirty="0">
                <a:latin typeface="Times New Roman"/>
                <a:cs typeface="Times New Roman"/>
              </a:rPr>
              <a:t>Predator</a:t>
            </a:r>
            <a:r>
              <a:rPr sz="1000" i="1" spc="3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to </a:t>
            </a:r>
            <a:r>
              <a:rPr sz="1000" dirty="0">
                <a:latin typeface="Times New Roman"/>
                <a:cs typeface="Times New Roman"/>
              </a:rPr>
              <a:t>predict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his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i="1" spc="45" dirty="0">
                <a:latin typeface="Times New Roman"/>
                <a:cs typeface="Times New Roman"/>
              </a:rPr>
              <a:t>Terminator</a:t>
            </a:r>
            <a:r>
              <a:rPr sz="1000" spc="45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2" name="object 12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38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User–based</a:t>
            </a:r>
            <a:r>
              <a:rPr spc="270" dirty="0"/>
              <a:t> </a:t>
            </a:r>
            <a:r>
              <a:rPr dirty="0"/>
              <a:t>neighborhood</a:t>
            </a:r>
            <a:r>
              <a:rPr spc="27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8941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92764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972" y="131212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53313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74668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92973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11278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8777" y="525841"/>
            <a:ext cx="5140960" cy="218376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5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u,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v</a:t>
            </a:r>
            <a:r>
              <a:rPr sz="1100" i="1" spc="15" dirty="0">
                <a:latin typeface="Georgia"/>
                <a:cs typeface="Georgia"/>
              </a:rPr>
              <a:t> </a:t>
            </a:r>
            <a:r>
              <a:rPr sz="1100" i="1" spc="-175" dirty="0">
                <a:latin typeface="Meiryo UI"/>
                <a:cs typeface="Meiryo UI"/>
              </a:rPr>
              <a:t>∈</a:t>
            </a:r>
            <a:r>
              <a:rPr sz="1100" i="1" spc="-75" dirty="0">
                <a:latin typeface="Meiryo UI"/>
                <a:cs typeface="Meiryo UI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1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users,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i.e.,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corresponding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rows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matrix.</a:t>
            </a:r>
            <a:endParaRPr sz="1100">
              <a:latin typeface="Georgia"/>
              <a:cs typeface="Georgia"/>
            </a:endParaRPr>
          </a:p>
          <a:p>
            <a:pPr marL="38100" marR="56515">
              <a:lnSpc>
                <a:spcPts val="1150"/>
              </a:lnSpc>
              <a:spcBef>
                <a:spcPts val="735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200" i="1" baseline="-10416" dirty="0">
                <a:latin typeface="Georgia"/>
                <a:cs typeface="Georgia"/>
              </a:rPr>
              <a:t>u</a:t>
            </a:r>
            <a:r>
              <a:rPr sz="1200" i="1" spc="209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200" i="1" baseline="-10416" dirty="0">
                <a:latin typeface="Georgia"/>
                <a:cs typeface="Georgia"/>
              </a:rPr>
              <a:t>v</a:t>
            </a:r>
            <a:r>
              <a:rPr sz="1200" i="1" spc="240" baseline="-10416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denote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item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indices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(columns)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which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been </a:t>
            </a:r>
            <a:r>
              <a:rPr sz="1100" spc="-35" dirty="0">
                <a:latin typeface="Georgia"/>
                <a:cs typeface="Georgia"/>
              </a:rPr>
              <a:t>specified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v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respectively.</a:t>
            </a:r>
            <a:endParaRPr sz="1100">
              <a:latin typeface="Georgia"/>
              <a:cs typeface="Georgia"/>
            </a:endParaRPr>
          </a:p>
          <a:p>
            <a:pPr marL="38100" marR="821690">
              <a:lnSpc>
                <a:spcPct val="131800"/>
              </a:lnSpc>
              <a:spcBef>
                <a:spcPts val="130"/>
              </a:spcBef>
            </a:pPr>
            <a:r>
              <a:rPr sz="1100" dirty="0">
                <a:latin typeface="Georgia"/>
                <a:cs typeface="Georgia"/>
              </a:rPr>
              <a:t>Then,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200" i="1" baseline="-10416" dirty="0">
                <a:latin typeface="Georgia"/>
                <a:cs typeface="Georgia"/>
              </a:rPr>
              <a:t>u</a:t>
            </a:r>
            <a:r>
              <a:rPr sz="1200" i="1" spc="89" baseline="-10416" dirty="0">
                <a:latin typeface="Georgia"/>
                <a:cs typeface="Georgia"/>
              </a:rPr>
              <a:t> </a:t>
            </a:r>
            <a:r>
              <a:rPr sz="1100" i="1" spc="-175" dirty="0">
                <a:latin typeface="Meiryo UI"/>
                <a:cs typeface="Meiryo UI"/>
              </a:rPr>
              <a:t>∩</a:t>
            </a:r>
            <a:r>
              <a:rPr sz="1100" i="1" spc="-135" dirty="0">
                <a:latin typeface="Meiryo UI"/>
                <a:cs typeface="Meiryo UI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200" i="1" baseline="-10416" dirty="0">
                <a:latin typeface="Georgia"/>
                <a:cs typeface="Georgia"/>
              </a:rPr>
              <a:t>v</a:t>
            </a:r>
            <a:r>
              <a:rPr sz="1200" i="1" spc="277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item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indices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rated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v</a:t>
            </a:r>
            <a:r>
              <a:rPr sz="1100" spc="-25" dirty="0">
                <a:latin typeface="Georgia"/>
                <a:cs typeface="Georgia"/>
              </a:rPr>
              <a:t>. </a:t>
            </a:r>
            <a:r>
              <a:rPr sz="1100" spc="-10" dirty="0">
                <a:latin typeface="Georgia"/>
                <a:cs typeface="Georgia"/>
              </a:rPr>
              <a:t>Example: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420"/>
              </a:spcBef>
            </a:pPr>
            <a:r>
              <a:rPr sz="1000" i="1" spc="55" dirty="0">
                <a:latin typeface="Georgia"/>
                <a:cs typeface="Georgia"/>
              </a:rPr>
              <a:t>I</a:t>
            </a:r>
            <a:r>
              <a:rPr sz="1050" i="1" spc="82" baseline="-11904" dirty="0">
                <a:latin typeface="Georgia"/>
                <a:cs typeface="Georgia"/>
              </a:rPr>
              <a:t>u</a:t>
            </a:r>
            <a:r>
              <a:rPr sz="1050" i="1" spc="375" baseline="-11904" dirty="0">
                <a:latin typeface="Georgia"/>
                <a:cs typeface="Georgia"/>
              </a:rPr>
              <a:t> </a:t>
            </a:r>
            <a:r>
              <a:rPr sz="1000" spc="204" dirty="0">
                <a:latin typeface="Times New Roman"/>
                <a:cs typeface="Times New Roman"/>
              </a:rPr>
              <a:t>=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i="1" spc="-45" dirty="0">
                <a:latin typeface="Meiryo UI"/>
                <a:cs typeface="Meiryo UI"/>
              </a:rPr>
              <a:t>{</a:t>
            </a:r>
            <a:r>
              <a:rPr sz="1000" spc="-45" dirty="0">
                <a:latin typeface="Times New Roman"/>
                <a:cs typeface="Times New Roman"/>
              </a:rPr>
              <a:t>1</a:t>
            </a:r>
            <a:r>
              <a:rPr sz="1000" i="1" spc="-45" dirty="0">
                <a:latin typeface="Georgia"/>
                <a:cs typeface="Georgia"/>
              </a:rPr>
              <a:t>,</a:t>
            </a:r>
            <a:r>
              <a:rPr sz="1000" i="1" spc="-30" dirty="0">
                <a:latin typeface="Georgia"/>
                <a:cs typeface="Georgia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3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30" dirty="0">
                <a:latin typeface="Georgia"/>
                <a:cs typeface="Georgia"/>
              </a:rPr>
              <a:t> </a:t>
            </a:r>
            <a:r>
              <a:rPr sz="1000" spc="-35" dirty="0">
                <a:latin typeface="Times New Roman"/>
                <a:cs typeface="Times New Roman"/>
              </a:rPr>
              <a:t>5</a:t>
            </a:r>
            <a:r>
              <a:rPr sz="1000" i="1" spc="-35" dirty="0">
                <a:latin typeface="Meiryo UI"/>
                <a:cs typeface="Meiryo UI"/>
              </a:rPr>
              <a:t>}</a:t>
            </a:r>
            <a:r>
              <a:rPr sz="1000" i="1" spc="85" dirty="0">
                <a:latin typeface="Meiryo UI"/>
                <a:cs typeface="Meiryo UI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means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u</a:t>
            </a:r>
            <a:r>
              <a:rPr sz="1000" i="1" spc="18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only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first,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third,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fifth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314960">
              <a:lnSpc>
                <a:spcPct val="100000"/>
              </a:lnSpc>
              <a:spcBef>
                <a:spcPts val="240"/>
              </a:spcBef>
            </a:pPr>
            <a:r>
              <a:rPr sz="1000" i="1" dirty="0">
                <a:latin typeface="Georgia"/>
                <a:cs typeface="Georgia"/>
              </a:rPr>
              <a:t>I</a:t>
            </a:r>
            <a:r>
              <a:rPr sz="1050" i="1" baseline="-11904" dirty="0">
                <a:latin typeface="Georgia"/>
                <a:cs typeface="Georgia"/>
              </a:rPr>
              <a:t>v</a:t>
            </a:r>
            <a:r>
              <a:rPr sz="1050" i="1" spc="419" baseline="-11904" dirty="0">
                <a:latin typeface="Georgia"/>
                <a:cs typeface="Georgia"/>
              </a:rPr>
              <a:t> </a:t>
            </a:r>
            <a:r>
              <a:rPr sz="1000" spc="204" dirty="0">
                <a:latin typeface="Times New Roman"/>
                <a:cs typeface="Times New Roman"/>
              </a:rPr>
              <a:t>=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i="1" spc="-45" dirty="0">
                <a:latin typeface="Meiryo UI"/>
                <a:cs typeface="Meiryo UI"/>
              </a:rPr>
              <a:t>{</a:t>
            </a:r>
            <a:r>
              <a:rPr sz="1000" spc="-45" dirty="0">
                <a:latin typeface="Times New Roman"/>
                <a:cs typeface="Times New Roman"/>
              </a:rPr>
              <a:t>1</a:t>
            </a:r>
            <a:r>
              <a:rPr sz="1000" i="1" spc="-45" dirty="0">
                <a:latin typeface="Georgia"/>
                <a:cs typeface="Georgia"/>
              </a:rPr>
              <a:t>,</a:t>
            </a:r>
            <a:r>
              <a:rPr sz="1000" i="1" spc="-30" dirty="0">
                <a:latin typeface="Georgia"/>
                <a:cs typeface="Georgia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2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30" dirty="0">
                <a:latin typeface="Georgia"/>
                <a:cs typeface="Georgia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3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35" dirty="0">
                <a:latin typeface="Georgia"/>
                <a:cs typeface="Georgia"/>
              </a:rPr>
              <a:t> </a:t>
            </a:r>
            <a:r>
              <a:rPr sz="1000" spc="-35" dirty="0">
                <a:latin typeface="Times New Roman"/>
                <a:cs typeface="Times New Roman"/>
              </a:rPr>
              <a:t>4</a:t>
            </a:r>
            <a:r>
              <a:rPr sz="1000" i="1" spc="-35" dirty="0">
                <a:latin typeface="Meiryo UI"/>
                <a:cs typeface="Meiryo UI"/>
              </a:rPr>
              <a:t>}</a:t>
            </a:r>
            <a:r>
              <a:rPr sz="1000" i="1" spc="80" dirty="0">
                <a:latin typeface="Meiryo UI"/>
                <a:cs typeface="Meiryo UI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means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v</a:t>
            </a:r>
            <a:r>
              <a:rPr sz="1000" i="1" spc="21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only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the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first,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second,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third,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fourth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314960">
              <a:lnSpc>
                <a:spcPct val="100000"/>
              </a:lnSpc>
              <a:spcBef>
                <a:spcPts val="244"/>
              </a:spcBef>
            </a:pPr>
            <a:r>
              <a:rPr sz="1000" i="1" spc="55" dirty="0">
                <a:latin typeface="Georgia"/>
                <a:cs typeface="Georgia"/>
              </a:rPr>
              <a:t>I</a:t>
            </a:r>
            <a:r>
              <a:rPr sz="1050" i="1" spc="82" baseline="-11904" dirty="0">
                <a:latin typeface="Georgia"/>
                <a:cs typeface="Georgia"/>
              </a:rPr>
              <a:t>u</a:t>
            </a:r>
            <a:r>
              <a:rPr sz="1050" i="1" spc="240" baseline="-11904" dirty="0">
                <a:latin typeface="Georgia"/>
                <a:cs typeface="Georgia"/>
              </a:rPr>
              <a:t> </a:t>
            </a:r>
            <a:r>
              <a:rPr sz="1000" i="1" spc="-150" dirty="0">
                <a:latin typeface="Meiryo UI"/>
                <a:cs typeface="Meiryo UI"/>
              </a:rPr>
              <a:t>∩</a:t>
            </a:r>
            <a:r>
              <a:rPr sz="1000" i="1" spc="-75" dirty="0">
                <a:latin typeface="Meiryo UI"/>
                <a:cs typeface="Meiryo UI"/>
              </a:rPr>
              <a:t> </a:t>
            </a:r>
            <a:r>
              <a:rPr sz="1000" i="1" dirty="0">
                <a:latin typeface="Georgia"/>
                <a:cs typeface="Georgia"/>
              </a:rPr>
              <a:t>I</a:t>
            </a:r>
            <a:r>
              <a:rPr sz="1050" i="1" baseline="-11904" dirty="0">
                <a:latin typeface="Georgia"/>
                <a:cs typeface="Georgia"/>
              </a:rPr>
              <a:t>v</a:t>
            </a:r>
            <a:r>
              <a:rPr sz="1050" i="1" spc="382" baseline="-11904" dirty="0">
                <a:latin typeface="Georgia"/>
                <a:cs typeface="Georgia"/>
              </a:rPr>
              <a:t> </a:t>
            </a:r>
            <a:r>
              <a:rPr sz="1000" spc="204" dirty="0">
                <a:latin typeface="Times New Roman"/>
                <a:cs typeface="Times New Roman"/>
              </a:rPr>
              <a:t>=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i="1" spc="-45" dirty="0">
                <a:latin typeface="Meiryo UI"/>
                <a:cs typeface="Meiryo UI"/>
              </a:rPr>
              <a:t>{</a:t>
            </a:r>
            <a:r>
              <a:rPr sz="1000" spc="-45" dirty="0">
                <a:latin typeface="Times New Roman"/>
                <a:cs typeface="Times New Roman"/>
              </a:rPr>
              <a:t>1</a:t>
            </a:r>
            <a:r>
              <a:rPr sz="1000" i="1" spc="-45" dirty="0">
                <a:latin typeface="Georgia"/>
                <a:cs typeface="Georgia"/>
              </a:rPr>
              <a:t>, </a:t>
            </a:r>
            <a:r>
              <a:rPr sz="1000" spc="-35" dirty="0">
                <a:latin typeface="Times New Roman"/>
                <a:cs typeface="Times New Roman"/>
              </a:rPr>
              <a:t>3</a:t>
            </a:r>
            <a:r>
              <a:rPr sz="1000" i="1" spc="-35" dirty="0">
                <a:latin typeface="Meiryo UI"/>
                <a:cs typeface="Meiryo UI"/>
              </a:rPr>
              <a:t>}</a:t>
            </a:r>
            <a:r>
              <a:rPr sz="1000" i="1" spc="60" dirty="0">
                <a:latin typeface="Meiryo UI"/>
                <a:cs typeface="Meiryo UI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means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3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were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commonly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both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u</a:t>
            </a:r>
            <a:r>
              <a:rPr sz="1000" i="1" spc="15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i="1" spc="-25" dirty="0">
                <a:latin typeface="Georgia"/>
                <a:cs typeface="Georgia"/>
              </a:rPr>
              <a:t>v</a:t>
            </a:r>
            <a:r>
              <a:rPr sz="1000" spc="-25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38100" marR="30480">
              <a:lnSpc>
                <a:spcPct val="142100"/>
              </a:lnSpc>
              <a:spcBef>
                <a:spcPts val="215"/>
              </a:spcBef>
            </a:pPr>
            <a:r>
              <a:rPr sz="1100" dirty="0">
                <a:latin typeface="Georgia"/>
                <a:cs typeface="Georgia"/>
              </a:rPr>
              <a:t>It 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quite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common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200" i="1" baseline="-10416" dirty="0">
                <a:latin typeface="Georgia"/>
                <a:cs typeface="Georgia"/>
              </a:rPr>
              <a:t>u</a:t>
            </a:r>
            <a:r>
              <a:rPr sz="1200" i="1" spc="97" baseline="-10416" dirty="0">
                <a:latin typeface="Georgia"/>
                <a:cs typeface="Georgia"/>
              </a:rPr>
              <a:t> </a:t>
            </a:r>
            <a:r>
              <a:rPr sz="1100" i="1" spc="-175" dirty="0">
                <a:latin typeface="Meiryo UI"/>
                <a:cs typeface="Meiryo UI"/>
              </a:rPr>
              <a:t>∩</a:t>
            </a:r>
            <a:r>
              <a:rPr sz="1100" i="1" spc="-135" dirty="0">
                <a:latin typeface="Meiryo UI"/>
                <a:cs typeface="Meiryo UI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200" i="1" baseline="-10416" dirty="0">
                <a:latin typeface="Georgia"/>
                <a:cs typeface="Georgia"/>
              </a:rPr>
              <a:t>v</a:t>
            </a:r>
            <a:r>
              <a:rPr sz="1200" i="1" spc="217" baseline="-10416" dirty="0">
                <a:latin typeface="Georgia"/>
                <a:cs typeface="Georgia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i="1" spc="-350" dirty="0">
                <a:latin typeface="Meiryo UI"/>
                <a:cs typeface="Meiryo UI"/>
              </a:rPr>
              <a:t>∅</a:t>
            </a:r>
            <a:r>
              <a:rPr sz="1100" i="1" spc="-15" dirty="0">
                <a:latin typeface="Meiryo UI"/>
                <a:cs typeface="Meiryo UI"/>
              </a:rPr>
              <a:t> </a:t>
            </a:r>
            <a:r>
              <a:rPr sz="1100" spc="-20" dirty="0">
                <a:latin typeface="Georgia"/>
                <a:cs typeface="Georgia"/>
              </a:rPr>
              <a:t>because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matrices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generally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sparse. </a:t>
            </a:r>
            <a:r>
              <a:rPr sz="1100" spc="-35" dirty="0">
                <a:latin typeface="Georgia"/>
                <a:cs typeface="Georgia"/>
              </a:rPr>
              <a:t>How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similarity</a:t>
            </a:r>
            <a:r>
              <a:rPr sz="1100" b="1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(in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terms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taste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preferences)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between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v</a:t>
            </a:r>
            <a:r>
              <a:rPr sz="1100" spc="-25" dirty="0">
                <a:latin typeface="Georgia"/>
                <a:cs typeface="Georgia"/>
              </a:rPr>
              <a:t>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7972" y="237112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7972" y="260935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4" name="object 14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39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Computing</a:t>
            </a:r>
            <a:r>
              <a:rPr spc="285" dirty="0"/>
              <a:t> </a:t>
            </a:r>
            <a:r>
              <a:rPr dirty="0"/>
              <a:t>user–user</a:t>
            </a:r>
            <a:r>
              <a:rPr spc="285" dirty="0"/>
              <a:t> </a:t>
            </a:r>
            <a:r>
              <a:rPr dirty="0"/>
              <a:t>similarity</a:t>
            </a:r>
            <a:r>
              <a:rPr spc="295" dirty="0"/>
              <a:t> </a:t>
            </a:r>
            <a:r>
              <a:rPr dirty="0"/>
              <a:t>using</a:t>
            </a:r>
            <a:r>
              <a:rPr spc="285" dirty="0"/>
              <a:t> </a:t>
            </a:r>
            <a:r>
              <a:rPr spc="-10" dirty="0"/>
              <a:t>cosine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3779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546187"/>
            <a:ext cx="4182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cosine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similarity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v</a:t>
            </a:r>
            <a:r>
              <a:rPr sz="1100" i="1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defined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follows: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1459" y="1203730"/>
            <a:ext cx="2019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(1)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8777" y="1761944"/>
            <a:ext cx="5179695" cy="103314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5"/>
              </a:spcBef>
            </a:pPr>
            <a:r>
              <a:rPr sz="1100" spc="-25" dirty="0">
                <a:latin typeface="Georgia"/>
                <a:cs typeface="Georgia"/>
              </a:rPr>
              <a:t>where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r</a:t>
            </a:r>
            <a:r>
              <a:rPr sz="1200" i="1" baseline="-13888" dirty="0">
                <a:latin typeface="Georgia"/>
                <a:cs typeface="Georgia"/>
              </a:rPr>
              <a:t>uk</a:t>
            </a:r>
            <a:r>
              <a:rPr sz="1200" i="1" spc="240" baseline="-13888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r</a:t>
            </a:r>
            <a:r>
              <a:rPr sz="1200" i="1" baseline="-13888" dirty="0">
                <a:latin typeface="Georgia"/>
                <a:cs typeface="Georgia"/>
              </a:rPr>
              <a:t>vk</a:t>
            </a:r>
            <a:r>
              <a:rPr sz="1200" i="1" spc="240" baseline="-13888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values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v</a:t>
            </a:r>
            <a:r>
              <a:rPr sz="1100" i="1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k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respectively.</a:t>
            </a:r>
            <a:endParaRPr sz="1100">
              <a:latin typeface="Georgia"/>
              <a:cs typeface="Georgia"/>
            </a:endParaRPr>
          </a:p>
          <a:p>
            <a:pPr marL="38100" marR="30480">
              <a:lnSpc>
                <a:spcPts val="1150"/>
              </a:lnSpc>
              <a:spcBef>
                <a:spcPts val="735"/>
              </a:spcBef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different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different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scales</a:t>
            </a:r>
            <a:r>
              <a:rPr sz="1100" b="1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ratings?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example,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one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 </a:t>
            </a:r>
            <a:r>
              <a:rPr sz="1100" spc="-10" dirty="0">
                <a:latin typeface="Georgia"/>
                <a:cs typeface="Georgia"/>
              </a:rPr>
              <a:t>might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biased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toward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liking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most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items,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whereas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another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might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biased toward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not</a:t>
            </a:r>
            <a:r>
              <a:rPr sz="1100" b="1" spc="3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liking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most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items.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550"/>
              </a:spcBef>
            </a:pPr>
            <a:r>
              <a:rPr sz="1100" spc="-25" dirty="0">
                <a:latin typeface="Georgia"/>
                <a:cs typeface="Georgia"/>
              </a:rPr>
              <a:t>Pearson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correlation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one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deal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different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scales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7972" y="216374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972" y="269449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29" name="object 2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40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711FB72-83CF-6F27-0B18-5480CC70C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425" y="972448"/>
            <a:ext cx="2518410" cy="68088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Computing</a:t>
            </a:r>
            <a:r>
              <a:rPr spc="285" dirty="0"/>
              <a:t> </a:t>
            </a:r>
            <a:r>
              <a:rPr dirty="0"/>
              <a:t>user–user</a:t>
            </a:r>
            <a:r>
              <a:rPr spc="285" dirty="0"/>
              <a:t> </a:t>
            </a:r>
            <a:r>
              <a:rPr dirty="0"/>
              <a:t>similarity</a:t>
            </a:r>
            <a:r>
              <a:rPr spc="295" dirty="0"/>
              <a:t> </a:t>
            </a:r>
            <a:r>
              <a:rPr dirty="0"/>
              <a:t>using</a:t>
            </a:r>
            <a:r>
              <a:rPr spc="290" dirty="0"/>
              <a:t> </a:t>
            </a:r>
            <a:r>
              <a:rPr dirty="0"/>
              <a:t>Pearson</a:t>
            </a:r>
            <a:r>
              <a:rPr spc="285" dirty="0"/>
              <a:t> </a:t>
            </a:r>
            <a:r>
              <a:rPr spc="-10" dirty="0"/>
              <a:t>correlation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4177" y="758798"/>
            <a:ext cx="50139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Pearson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correlation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coefficient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v</a:t>
            </a:r>
            <a:r>
              <a:rPr sz="1100" i="1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defined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follows: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1459" y="1416353"/>
            <a:ext cx="2019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(2)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8777" y="1973768"/>
            <a:ext cx="4741545" cy="50228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5"/>
              </a:spcBef>
            </a:pPr>
            <a:r>
              <a:rPr sz="1100" spc="-25" dirty="0">
                <a:latin typeface="Georgia"/>
                <a:cs typeface="Georgia"/>
              </a:rPr>
              <a:t>where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µ</a:t>
            </a:r>
            <a:r>
              <a:rPr sz="1200" i="1" baseline="-10416" dirty="0">
                <a:latin typeface="Georgia"/>
                <a:cs typeface="Georgia"/>
              </a:rPr>
              <a:t>u</a:t>
            </a:r>
            <a:r>
              <a:rPr sz="1200" i="1" spc="232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µ</a:t>
            </a:r>
            <a:r>
              <a:rPr sz="1200" i="1" baseline="-10416" dirty="0">
                <a:latin typeface="Georgia"/>
                <a:cs typeface="Georgia"/>
              </a:rPr>
              <a:t>v</a:t>
            </a:r>
            <a:r>
              <a:rPr sz="1200" i="1" spc="262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values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v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respectively.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555"/>
              </a:spcBef>
            </a:pPr>
            <a:r>
              <a:rPr sz="1100" i="1" dirty="0">
                <a:latin typeface="Georgia"/>
                <a:cs typeface="Georgia"/>
              </a:rPr>
              <a:t>r</a:t>
            </a:r>
            <a:r>
              <a:rPr sz="1200" i="1" baseline="-13888" dirty="0">
                <a:latin typeface="Georgia"/>
                <a:cs typeface="Georgia"/>
              </a:rPr>
              <a:t>uk</a:t>
            </a:r>
            <a:r>
              <a:rPr sz="1200" i="1" spc="232" baseline="-13888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r</a:t>
            </a:r>
            <a:r>
              <a:rPr sz="1200" i="1" baseline="-13888" dirty="0">
                <a:latin typeface="Georgia"/>
                <a:cs typeface="Georgia"/>
              </a:rPr>
              <a:t>vk</a:t>
            </a:r>
            <a:r>
              <a:rPr sz="1200" i="1" spc="240" baseline="-13888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values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v</a:t>
            </a:r>
            <a:r>
              <a:rPr sz="1100" i="1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k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respectively.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24" name="object 24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41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A1F882-9FD1-2921-5CAA-F074FE592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55" y="1145798"/>
            <a:ext cx="3712299" cy="73288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Computing</a:t>
            </a:r>
            <a:r>
              <a:rPr spc="295" dirty="0"/>
              <a:t> </a:t>
            </a:r>
            <a:r>
              <a:rPr dirty="0"/>
              <a:t>user–user</a:t>
            </a:r>
            <a:r>
              <a:rPr spc="295" dirty="0"/>
              <a:t> </a:t>
            </a:r>
            <a:r>
              <a:rPr dirty="0"/>
              <a:t>similarity</a:t>
            </a:r>
            <a:r>
              <a:rPr spc="300" dirty="0"/>
              <a:t> </a:t>
            </a:r>
            <a:r>
              <a:rPr dirty="0"/>
              <a:t>using</a:t>
            </a:r>
            <a:r>
              <a:rPr spc="295" dirty="0"/>
              <a:t> </a:t>
            </a:r>
            <a:r>
              <a:rPr dirty="0"/>
              <a:t>Pearson</a:t>
            </a:r>
            <a:r>
              <a:rPr spc="295" dirty="0"/>
              <a:t> </a:t>
            </a:r>
            <a:r>
              <a:rPr dirty="0"/>
              <a:t>correlation</a:t>
            </a:r>
            <a:r>
              <a:rPr spc="305" dirty="0"/>
              <a:t> </a:t>
            </a:r>
            <a:r>
              <a:rPr spc="-10"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48275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8777" y="391145"/>
            <a:ext cx="2675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ways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µ</a:t>
            </a:r>
            <a:r>
              <a:rPr sz="1200" i="1" baseline="-10416" dirty="0">
                <a:latin typeface="Georgia"/>
                <a:cs typeface="Georgia"/>
              </a:rPr>
              <a:t>u</a:t>
            </a:r>
            <a:r>
              <a:rPr sz="1200" i="1" spc="217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µ</a:t>
            </a:r>
            <a:r>
              <a:rPr sz="1200" i="1" baseline="-10416" dirty="0">
                <a:latin typeface="Georgia"/>
                <a:cs typeface="Georgia"/>
              </a:rPr>
              <a:t>v</a:t>
            </a:r>
            <a:r>
              <a:rPr sz="1200" i="1" spc="-172" baseline="-10416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8550" y="550061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HGMaruGothicMPRO"/>
                <a:cs typeface="HGMaruGothicMPRO"/>
              </a:rPr>
              <a:t> </a:t>
            </a:r>
            <a:endParaRPr sz="1100">
              <a:latin typeface="HGMaruGothicMPRO"/>
              <a:cs typeface="HGMaruGothicMPR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6609" y="550073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HGMaruGothicMPRO"/>
                <a:cs typeface="HGMaruGothicMPRO"/>
              </a:rPr>
              <a:t> </a:t>
            </a:r>
            <a:endParaRPr sz="1100">
              <a:latin typeface="HGMaruGothicMPRO"/>
              <a:cs typeface="HGMaruGothicMPR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81459" y="761630"/>
            <a:ext cx="2019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4177" y="1137779"/>
            <a:ext cx="1866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Georgia"/>
                <a:cs typeface="Georgia"/>
              </a:rPr>
              <a:t>or: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81459" y="1508263"/>
            <a:ext cx="2019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(4)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37972" y="201180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16077" y="1848241"/>
            <a:ext cx="4795520" cy="50228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55"/>
              </a:spcBef>
            </a:pPr>
            <a:r>
              <a:rPr sz="1100" dirty="0">
                <a:latin typeface="Georgia"/>
                <a:cs typeface="Georgia"/>
              </a:rPr>
              <a:t>It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hard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argue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which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better.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55"/>
              </a:spcBef>
            </a:pPr>
            <a:r>
              <a:rPr sz="1100" dirty="0">
                <a:latin typeface="Georgia"/>
                <a:cs typeface="Georgia"/>
              </a:rPr>
              <a:t>In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extreme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cases,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Meiryo UI"/>
                <a:cs typeface="Meiryo UI"/>
              </a:rPr>
              <a:t>|</a:t>
            </a:r>
            <a:r>
              <a:rPr sz="1100" i="1" spc="-10" dirty="0">
                <a:latin typeface="Georgia"/>
                <a:cs typeface="Georgia"/>
              </a:rPr>
              <a:t>I</a:t>
            </a:r>
            <a:r>
              <a:rPr sz="1200" i="1" spc="-15" baseline="-10416" dirty="0">
                <a:latin typeface="Georgia"/>
                <a:cs typeface="Georgia"/>
              </a:rPr>
              <a:t>u</a:t>
            </a:r>
            <a:r>
              <a:rPr sz="1200" i="1" spc="67" baseline="-10416" dirty="0">
                <a:latin typeface="Georgia"/>
                <a:cs typeface="Georgia"/>
              </a:rPr>
              <a:t> </a:t>
            </a:r>
            <a:r>
              <a:rPr sz="1100" i="1" spc="-175" dirty="0">
                <a:latin typeface="Meiryo UI"/>
                <a:cs typeface="Meiryo UI"/>
              </a:rPr>
              <a:t>∩</a:t>
            </a:r>
            <a:r>
              <a:rPr sz="1100" i="1" spc="-135" dirty="0">
                <a:latin typeface="Meiryo UI"/>
                <a:cs typeface="Meiryo UI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I</a:t>
            </a:r>
            <a:r>
              <a:rPr sz="1200" i="1" spc="-52" baseline="-10416" dirty="0">
                <a:latin typeface="Georgia"/>
                <a:cs typeface="Georgia"/>
              </a:rPr>
              <a:t>v</a:t>
            </a:r>
            <a:r>
              <a:rPr sz="1100" i="1" spc="-35" dirty="0">
                <a:latin typeface="Meiryo UI"/>
                <a:cs typeface="Meiryo UI"/>
              </a:rPr>
              <a:t>|</a:t>
            </a:r>
            <a:r>
              <a:rPr sz="1100" i="1" spc="-70" dirty="0">
                <a:latin typeface="Meiryo UI"/>
                <a:cs typeface="Meiryo UI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(only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one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common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item),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first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37972" y="225002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28777" y="2304680"/>
            <a:ext cx="4939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Georgia"/>
                <a:cs typeface="Georgia"/>
              </a:rPr>
              <a:t>usable.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Even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Meiryo UI"/>
                <a:cs typeface="Meiryo UI"/>
              </a:rPr>
              <a:t>|</a:t>
            </a:r>
            <a:r>
              <a:rPr sz="1100" i="1" spc="-10" dirty="0">
                <a:latin typeface="Georgia"/>
                <a:cs typeface="Georgia"/>
              </a:rPr>
              <a:t>I</a:t>
            </a:r>
            <a:r>
              <a:rPr sz="1200" i="1" spc="-15" baseline="-10416" dirty="0">
                <a:latin typeface="Georgia"/>
                <a:cs typeface="Georgia"/>
              </a:rPr>
              <a:t>u</a:t>
            </a:r>
            <a:r>
              <a:rPr sz="1200" i="1" spc="67" baseline="-10416" dirty="0">
                <a:latin typeface="Georgia"/>
                <a:cs typeface="Georgia"/>
              </a:rPr>
              <a:t> </a:t>
            </a:r>
            <a:r>
              <a:rPr sz="1100" i="1" spc="-175" dirty="0">
                <a:latin typeface="Meiryo UI"/>
                <a:cs typeface="Meiryo UI"/>
              </a:rPr>
              <a:t>∩</a:t>
            </a:r>
            <a:r>
              <a:rPr sz="1100" i="1" spc="-135" dirty="0">
                <a:latin typeface="Meiryo UI"/>
                <a:cs typeface="Meiryo UI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I</a:t>
            </a:r>
            <a:r>
              <a:rPr sz="1200" i="1" spc="-52" baseline="-10416" dirty="0">
                <a:latin typeface="Georgia"/>
                <a:cs typeface="Georgia"/>
              </a:rPr>
              <a:t>v</a:t>
            </a:r>
            <a:r>
              <a:rPr sz="1100" i="1" spc="-35" dirty="0">
                <a:latin typeface="Meiryo UI"/>
                <a:cs typeface="Meiryo UI"/>
              </a:rPr>
              <a:t>|</a:t>
            </a:r>
            <a:r>
              <a:rPr sz="1100" i="1" spc="-70" dirty="0">
                <a:latin typeface="Meiryo UI"/>
                <a:cs typeface="Meiryo UI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those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values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one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v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are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28777" y="2378987"/>
            <a:ext cx="4901565" cy="6483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5"/>
              </a:spcBef>
            </a:pPr>
            <a:r>
              <a:rPr sz="1100" spc="-20" dirty="0">
                <a:latin typeface="Georgia"/>
                <a:cs typeface="Georgia"/>
              </a:rPr>
              <a:t>identical,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similarity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will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also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zero.</a:t>
            </a:r>
            <a:endParaRPr sz="1100">
              <a:latin typeface="Georgia"/>
              <a:cs typeface="Georgia"/>
            </a:endParaRPr>
          </a:p>
          <a:p>
            <a:pPr marL="38100" marR="30480">
              <a:lnSpc>
                <a:spcPts val="1150"/>
              </a:lnSpc>
              <a:spcBef>
                <a:spcPts val="73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second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more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efficient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computation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(computed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once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user). </a:t>
            </a:r>
            <a:r>
              <a:rPr sz="1100" spc="-40" dirty="0">
                <a:latin typeface="Georgia"/>
                <a:cs typeface="Georgia"/>
              </a:rPr>
              <a:t>However,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implementations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µ</a:t>
            </a:r>
            <a:r>
              <a:rPr sz="1200" i="1" baseline="-10416" dirty="0">
                <a:latin typeface="Georgia"/>
                <a:cs typeface="Georgia"/>
              </a:rPr>
              <a:t>u</a:t>
            </a:r>
            <a:r>
              <a:rPr sz="1200" i="1" spc="247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µ</a:t>
            </a:r>
            <a:r>
              <a:rPr sz="1200" i="1" baseline="-10416" dirty="0">
                <a:latin typeface="Georgia"/>
                <a:cs typeface="Georgia"/>
              </a:rPr>
              <a:t>v</a:t>
            </a:r>
            <a:r>
              <a:rPr sz="1200" i="1" spc="277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pairwise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fashion.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37972" y="278076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5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1" name="object 5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42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4A554F5C-CB7E-E80C-59EF-76FD53387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646212"/>
            <a:ext cx="2784703" cy="121480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Prediction</a:t>
            </a:r>
            <a:r>
              <a:rPr spc="265" dirty="0"/>
              <a:t> </a:t>
            </a:r>
            <a:r>
              <a:rPr dirty="0"/>
              <a:t>function:</a:t>
            </a:r>
            <a:r>
              <a:rPr spc="480" dirty="0"/>
              <a:t> </a:t>
            </a:r>
            <a:r>
              <a:rPr dirty="0"/>
              <a:t>predicting</a:t>
            </a:r>
            <a:r>
              <a:rPr spc="270" dirty="0"/>
              <a:t> </a:t>
            </a:r>
            <a:r>
              <a:rPr dirty="0"/>
              <a:t>user</a:t>
            </a:r>
            <a:r>
              <a:rPr spc="265" dirty="0"/>
              <a:t> </a:t>
            </a:r>
            <a:r>
              <a:rPr dirty="0"/>
              <a:t>ratings</a:t>
            </a:r>
            <a:r>
              <a:rPr spc="275" dirty="0"/>
              <a:t> </a:t>
            </a:r>
            <a:r>
              <a:rPr dirty="0"/>
              <a:t>using</a:t>
            </a:r>
            <a:r>
              <a:rPr spc="270" dirty="0"/>
              <a:t> </a:t>
            </a:r>
            <a:r>
              <a:rPr dirty="0"/>
              <a:t>weighted</a:t>
            </a:r>
            <a:r>
              <a:rPr spc="270" dirty="0"/>
              <a:t> </a:t>
            </a:r>
            <a:r>
              <a:rPr spc="-10" dirty="0"/>
              <a:t>average</a:t>
            </a:r>
          </a:p>
        </p:txBody>
      </p:sp>
      <p:grpSp>
        <p:nvGrpSpPr>
          <p:cNvPr id="28" name="object 2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29" name="object 2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43</a:t>
            </a:fld>
            <a:r>
              <a:rPr spc="20" dirty="0"/>
              <a:t> </a:t>
            </a:r>
            <a:r>
              <a:rPr spc="75" dirty="0"/>
              <a:t>/</a:t>
            </a:r>
            <a:r>
              <a:rPr spc="20" dirty="0"/>
              <a:t> </a:t>
            </a:r>
            <a:r>
              <a:rPr spc="-25" dirty="0"/>
              <a:t>202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CB4C412-3F32-A562-57F0-6C9F66272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389736"/>
            <a:ext cx="5187536" cy="257279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10" dirty="0"/>
              <a:t> </a:t>
            </a:r>
            <a:r>
              <a:rPr dirty="0"/>
              <a:t>of</a:t>
            </a:r>
            <a:r>
              <a:rPr spc="215" dirty="0"/>
              <a:t> </a:t>
            </a:r>
            <a:r>
              <a:rPr dirty="0"/>
              <a:t>predicting</a:t>
            </a:r>
            <a:r>
              <a:rPr spc="215" dirty="0"/>
              <a:t> </a:t>
            </a:r>
            <a:r>
              <a:rPr dirty="0"/>
              <a:t>user</a:t>
            </a:r>
            <a:r>
              <a:rPr spc="215" dirty="0"/>
              <a:t> </a:t>
            </a:r>
            <a:r>
              <a:rPr dirty="0"/>
              <a:t>ratings</a:t>
            </a:r>
            <a:r>
              <a:rPr spc="220" dirty="0"/>
              <a:t> </a:t>
            </a:r>
            <a:r>
              <a:rPr dirty="0"/>
              <a:t>using</a:t>
            </a:r>
            <a:r>
              <a:rPr spc="220" dirty="0"/>
              <a:t> </a:t>
            </a:r>
            <a:r>
              <a:rPr dirty="0"/>
              <a:t>weighted</a:t>
            </a:r>
            <a:r>
              <a:rPr spc="215" dirty="0"/>
              <a:t> </a:t>
            </a:r>
            <a:r>
              <a:rPr spc="-10" dirty="0"/>
              <a:t>average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944" y="588467"/>
            <a:ext cx="3954906" cy="10400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4177" y="1659275"/>
            <a:ext cx="5016500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55575" algn="ctr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Georgia"/>
                <a:cs typeface="Georgia"/>
              </a:rPr>
              <a:t>source:</a:t>
            </a:r>
            <a:r>
              <a:rPr sz="900" spc="1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from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textbook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  <a:hlinkClick r:id="rId3" action="ppaction://hlinksldjump"/>
              </a:rPr>
              <a:t>[8]</a:t>
            </a:r>
            <a:endParaRPr sz="900">
              <a:latin typeface="Georgia"/>
              <a:cs typeface="Georgia"/>
            </a:endParaRPr>
          </a:p>
          <a:p>
            <a:pPr marL="12700" marR="748665">
              <a:lnSpc>
                <a:spcPct val="142100"/>
              </a:lnSpc>
              <a:spcBef>
                <a:spcPts val="85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table</a:t>
            </a:r>
            <a:r>
              <a:rPr sz="1100" spc="-30" dirty="0">
                <a:latin typeface="Georgia"/>
                <a:cs typeface="Georgia"/>
              </a:rPr>
              <a:t> shows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five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spc="-70" dirty="0">
                <a:latin typeface="Meiryo UI"/>
                <a:cs typeface="Meiryo UI"/>
              </a:rPr>
              <a:t>{</a:t>
            </a:r>
            <a:r>
              <a:rPr sz="1100" spc="-70" dirty="0">
                <a:latin typeface="Times New Roman"/>
                <a:cs typeface="Times New Roman"/>
              </a:rPr>
              <a:t>1</a:t>
            </a:r>
            <a:r>
              <a:rPr sz="1100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5</a:t>
            </a:r>
            <a:r>
              <a:rPr sz="1100" i="1" spc="-50" dirty="0">
                <a:latin typeface="Meiryo UI"/>
                <a:cs typeface="Meiryo UI"/>
              </a:rPr>
              <a:t>}</a:t>
            </a:r>
            <a:r>
              <a:rPr sz="1100" i="1" spc="-45" dirty="0">
                <a:latin typeface="Meiryo UI"/>
                <a:cs typeface="Meiryo UI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six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spc="-70" dirty="0">
                <a:latin typeface="Meiryo UI"/>
                <a:cs typeface="Meiryo UI"/>
              </a:rPr>
              <a:t>{</a:t>
            </a:r>
            <a:r>
              <a:rPr sz="1100" spc="-70" dirty="0">
                <a:latin typeface="Times New Roman"/>
                <a:cs typeface="Times New Roman"/>
              </a:rPr>
              <a:t>1</a:t>
            </a:r>
            <a:r>
              <a:rPr sz="1100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6</a:t>
            </a:r>
            <a:r>
              <a:rPr sz="1100" i="1" spc="-25" dirty="0">
                <a:latin typeface="Meiryo UI"/>
                <a:cs typeface="Meiryo UI"/>
              </a:rPr>
              <a:t>}</a:t>
            </a:r>
            <a:r>
              <a:rPr sz="1100" spc="-25" dirty="0">
                <a:latin typeface="Georgia"/>
                <a:cs typeface="Georgia"/>
              </a:rPr>
              <a:t>. </a:t>
            </a:r>
            <a:r>
              <a:rPr sz="1100" dirty="0">
                <a:latin typeface="Georgia"/>
                <a:cs typeface="Georgia"/>
              </a:rPr>
              <a:t>Each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drawn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from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range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spc="-70" dirty="0">
                <a:latin typeface="Meiryo UI"/>
                <a:cs typeface="Meiryo UI"/>
              </a:rPr>
              <a:t>{</a:t>
            </a:r>
            <a:r>
              <a:rPr sz="1100" spc="-70" dirty="0">
                <a:latin typeface="Times New Roman"/>
                <a:cs typeface="Times New Roman"/>
              </a:rPr>
              <a:t>1</a:t>
            </a:r>
            <a:r>
              <a:rPr sz="1100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7</a:t>
            </a:r>
            <a:r>
              <a:rPr sz="1100" i="1" spc="-25" dirty="0">
                <a:latin typeface="Meiryo UI"/>
                <a:cs typeface="Meiryo UI"/>
              </a:rPr>
              <a:t>}</a:t>
            </a:r>
            <a:r>
              <a:rPr sz="1100" spc="-2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spc="-25" dirty="0">
                <a:latin typeface="Georgia"/>
                <a:cs typeface="Georgia"/>
              </a:rPr>
              <a:t>Consider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current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target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index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-15" dirty="0">
                <a:latin typeface="Georgia"/>
                <a:cs typeface="Georgia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spc="-25" dirty="0">
                <a:latin typeface="Times New Roman"/>
                <a:cs typeface="Times New Roman"/>
              </a:rPr>
              <a:t> 3</a:t>
            </a:r>
            <a:r>
              <a:rPr sz="1100" spc="-2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spc="-55" dirty="0">
                <a:latin typeface="Georgia"/>
                <a:cs typeface="Georgia"/>
              </a:rPr>
              <a:t>User–user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similarity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other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Cosine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Pearson.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206761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230582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254405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278226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0" name="object 10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44</a:t>
            </a:fld>
            <a:r>
              <a:rPr spc="20" dirty="0"/>
              <a:t> </a:t>
            </a:r>
            <a:r>
              <a:rPr spc="75" dirty="0"/>
              <a:t>/</a:t>
            </a:r>
            <a:r>
              <a:rPr spc="20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04" dirty="0"/>
              <a:t> </a:t>
            </a:r>
            <a:r>
              <a:rPr dirty="0"/>
              <a:t>of</a:t>
            </a:r>
            <a:r>
              <a:rPr spc="204" dirty="0"/>
              <a:t> </a:t>
            </a:r>
            <a:r>
              <a:rPr dirty="0"/>
              <a:t>predicting</a:t>
            </a:r>
            <a:r>
              <a:rPr spc="204" dirty="0"/>
              <a:t> </a:t>
            </a:r>
            <a:r>
              <a:rPr dirty="0"/>
              <a:t>user</a:t>
            </a:r>
            <a:r>
              <a:rPr spc="204" dirty="0"/>
              <a:t> </a:t>
            </a:r>
            <a:r>
              <a:rPr dirty="0"/>
              <a:t>ratings</a:t>
            </a:r>
            <a:r>
              <a:rPr spc="215" dirty="0"/>
              <a:t> </a:t>
            </a:r>
            <a:r>
              <a:rPr dirty="0"/>
              <a:t>using</a:t>
            </a:r>
            <a:r>
              <a:rPr spc="210" dirty="0"/>
              <a:t> </a:t>
            </a:r>
            <a:r>
              <a:rPr dirty="0"/>
              <a:t>weighted</a:t>
            </a:r>
            <a:r>
              <a:rPr spc="204" dirty="0"/>
              <a:t> </a:t>
            </a:r>
            <a:r>
              <a:rPr dirty="0"/>
              <a:t>average</a:t>
            </a:r>
            <a:r>
              <a:rPr spc="210" dirty="0"/>
              <a:t> </a:t>
            </a:r>
            <a:r>
              <a:rPr spc="-10" dirty="0"/>
              <a:t>(cont’d)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4" name="object 14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45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9DD685-3754-9F68-DBF9-AF2A5CE22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48651"/>
            <a:ext cx="5369667" cy="246807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04" dirty="0"/>
              <a:t> </a:t>
            </a:r>
            <a:r>
              <a:rPr dirty="0"/>
              <a:t>of</a:t>
            </a:r>
            <a:r>
              <a:rPr spc="204" dirty="0"/>
              <a:t> </a:t>
            </a:r>
            <a:r>
              <a:rPr dirty="0"/>
              <a:t>predicting</a:t>
            </a:r>
            <a:r>
              <a:rPr spc="204" dirty="0"/>
              <a:t> </a:t>
            </a:r>
            <a:r>
              <a:rPr dirty="0"/>
              <a:t>user</a:t>
            </a:r>
            <a:r>
              <a:rPr spc="204" dirty="0"/>
              <a:t> </a:t>
            </a:r>
            <a:r>
              <a:rPr dirty="0"/>
              <a:t>ratings</a:t>
            </a:r>
            <a:r>
              <a:rPr spc="215" dirty="0"/>
              <a:t> </a:t>
            </a:r>
            <a:r>
              <a:rPr dirty="0"/>
              <a:t>using</a:t>
            </a:r>
            <a:r>
              <a:rPr spc="210" dirty="0"/>
              <a:t> </a:t>
            </a:r>
            <a:r>
              <a:rPr dirty="0"/>
              <a:t>weighted</a:t>
            </a:r>
            <a:r>
              <a:rPr spc="204" dirty="0"/>
              <a:t> </a:t>
            </a:r>
            <a:r>
              <a:rPr dirty="0"/>
              <a:t>average</a:t>
            </a:r>
            <a:r>
              <a:rPr spc="210" dirty="0"/>
              <a:t> </a:t>
            </a:r>
            <a:r>
              <a:rPr spc="-10"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0639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8777" y="342834"/>
            <a:ext cx="5028565" cy="6483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5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k</a:t>
            </a:r>
            <a:r>
              <a:rPr sz="1100" i="1" spc="85" dirty="0">
                <a:latin typeface="Georgia"/>
                <a:cs typeface="Georgia"/>
              </a:rPr>
              <a:t> </a:t>
            </a:r>
            <a:r>
              <a:rPr sz="1100" spc="125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2.</a:t>
            </a:r>
            <a:r>
              <a:rPr sz="1100" spc="1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top–</a:t>
            </a:r>
            <a:r>
              <a:rPr sz="1100" spc="-25" dirty="0">
                <a:latin typeface="Times New Roman"/>
                <a:cs typeface="Times New Roman"/>
              </a:rPr>
              <a:t>2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Georgia"/>
                <a:cs typeface="Georgia"/>
              </a:rPr>
              <a:t>closest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Georgia"/>
                <a:cs typeface="Georgia"/>
              </a:rPr>
              <a:t>according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measures.</a:t>
            </a:r>
            <a:endParaRPr sz="1100">
              <a:latin typeface="Georgia"/>
              <a:cs typeface="Georgia"/>
            </a:endParaRPr>
          </a:p>
          <a:p>
            <a:pPr marL="38100" marR="30480">
              <a:lnSpc>
                <a:spcPts val="1150"/>
              </a:lnSpc>
              <a:spcBef>
                <a:spcPts val="735"/>
              </a:spcBef>
            </a:pPr>
            <a:r>
              <a:rPr sz="1100" spc="-10" dirty="0">
                <a:latin typeface="Georgia"/>
                <a:cs typeface="Georgia"/>
              </a:rPr>
              <a:t>Using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Pearson–weighted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average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raw</a:t>
            </a:r>
            <a:r>
              <a:rPr sz="1100" i="1" spc="135" dirty="0">
                <a:latin typeface="Palatino Linotype"/>
                <a:cs typeface="Palatino Linotype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predict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missing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values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i="1" spc="-55" dirty="0">
                <a:latin typeface="Georgia"/>
                <a:cs typeface="Georgia"/>
              </a:rPr>
              <a:t>r</a:t>
            </a:r>
            <a:r>
              <a:rPr sz="1100" spc="-55" dirty="0">
                <a:latin typeface="Times New Roman"/>
                <a:cs typeface="Times New Roman"/>
              </a:rPr>
              <a:t>ˆ</a:t>
            </a:r>
            <a:r>
              <a:rPr sz="1200" spc="-82" baseline="-10416" dirty="0">
                <a:latin typeface="Georgia"/>
                <a:cs typeface="Georgia"/>
              </a:rPr>
              <a:t>31</a:t>
            </a:r>
            <a:r>
              <a:rPr sz="1200" spc="187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i="1" spc="-80" dirty="0">
                <a:latin typeface="Georgia"/>
                <a:cs typeface="Georgia"/>
              </a:rPr>
              <a:t>r</a:t>
            </a:r>
            <a:r>
              <a:rPr sz="1100" spc="-80" dirty="0">
                <a:latin typeface="Times New Roman"/>
                <a:cs typeface="Times New Roman"/>
              </a:rPr>
              <a:t>ˆ</a:t>
            </a:r>
            <a:r>
              <a:rPr sz="1200" spc="-120" baseline="-10416" dirty="0">
                <a:latin typeface="Georgia"/>
                <a:cs typeface="Georgia"/>
              </a:rPr>
              <a:t>36</a:t>
            </a:r>
            <a:r>
              <a:rPr sz="1200" spc="187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follows: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74461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87524" y="1199310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Georgia"/>
                <a:cs typeface="Georgia"/>
              </a:rPr>
              <a:t>31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014" y="1141207"/>
            <a:ext cx="347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7329" algn="l"/>
              </a:tabLst>
            </a:pPr>
            <a:r>
              <a:rPr sz="1100" i="1" spc="-25" dirty="0">
                <a:latin typeface="Georgia"/>
                <a:cs typeface="Georgia"/>
              </a:rPr>
              <a:t>r</a:t>
            </a:r>
            <a:r>
              <a:rPr sz="1100" spc="-25" dirty="0">
                <a:latin typeface="Times New Roman"/>
                <a:cs typeface="Times New Roman"/>
              </a:rPr>
              <a:t>ˆ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165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1303" y="1024976"/>
            <a:ext cx="116459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i="1" u="sng" spc="-9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·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894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2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+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i="1" u="sng" spc="-9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·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100" i="1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939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Times New Roman"/>
                <a:cs typeface="Times New Roman"/>
              </a:rPr>
              <a:t>894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+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Times New Roman"/>
                <a:cs typeface="Times New Roman"/>
              </a:rPr>
              <a:t>939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4125" y="1141207"/>
            <a:ext cx="418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Meiryo UI"/>
                <a:cs typeface="Meiryo UI"/>
              </a:rPr>
              <a:t>≈</a:t>
            </a:r>
            <a:r>
              <a:rPr sz="1100" i="1" spc="-65" dirty="0">
                <a:latin typeface="Meiryo UI"/>
                <a:cs typeface="Meiryo UI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imes New Roman"/>
                <a:cs typeface="Times New Roman"/>
              </a:rPr>
              <a:t>6</a:t>
            </a:r>
            <a:r>
              <a:rPr sz="1100" i="1" spc="-20" dirty="0">
                <a:solidFill>
                  <a:srgbClr val="0000FF"/>
                </a:solidFill>
                <a:latin typeface="Georgia"/>
                <a:cs typeface="Georgia"/>
              </a:rPr>
              <a:t>.</a:t>
            </a:r>
            <a:r>
              <a:rPr sz="1100" spc="-20" dirty="0">
                <a:solidFill>
                  <a:srgbClr val="0000FF"/>
                </a:solidFill>
                <a:latin typeface="Times New Roman"/>
                <a:cs typeface="Times New Roman"/>
              </a:rPr>
              <a:t>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22157" y="1623477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Georgia"/>
                <a:cs typeface="Georgia"/>
              </a:rPr>
              <a:t>36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05277" y="1660409"/>
            <a:ext cx="826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Times New Roman"/>
                <a:cs typeface="Times New Roman"/>
              </a:rPr>
              <a:t>894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+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Times New Roman"/>
                <a:cs typeface="Times New Roman"/>
              </a:rPr>
              <a:t>939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9660" y="1471649"/>
            <a:ext cx="191833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030"/>
              </a:lnSpc>
              <a:spcBef>
                <a:spcPts val="9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i="1" u="sng" spc="-9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·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894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2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+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i="1" u="sng" spc="-9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·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100" i="1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939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ts val="1030"/>
              </a:lnSpc>
              <a:tabLst>
                <a:tab pos="214629" algn="l"/>
                <a:tab pos="1568450" algn="l"/>
              </a:tabLst>
            </a:pPr>
            <a:r>
              <a:rPr sz="1100" i="1" spc="-25" dirty="0">
                <a:latin typeface="Georgia"/>
                <a:cs typeface="Georgia"/>
              </a:rPr>
              <a:t>r</a:t>
            </a:r>
            <a:r>
              <a:rPr sz="1100" spc="-25" dirty="0">
                <a:latin typeface="Times New Roman"/>
                <a:cs typeface="Times New Roman"/>
              </a:rPr>
              <a:t>ˆ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165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r>
              <a:rPr sz="1100" i="1" spc="-25" dirty="0">
                <a:solidFill>
                  <a:srgbClr val="0000FF"/>
                </a:solidFill>
                <a:latin typeface="Georgia"/>
                <a:cs typeface="Georgia"/>
              </a:rPr>
              <a:t>.</a:t>
            </a:r>
            <a:r>
              <a:rPr sz="1100" spc="-25" dirty="0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7972" y="204583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4177" y="1954223"/>
            <a:ext cx="3594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corresponding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predictions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mean–centered</a:t>
            </a:r>
            <a:r>
              <a:rPr sz="1100" i="1" spc="220" dirty="0">
                <a:latin typeface="Palatino Linotype"/>
                <a:cs typeface="Palatino Linotype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60461" y="2354261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Georgia"/>
                <a:cs typeface="Georgia"/>
              </a:rPr>
              <a:t>31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7964" y="2296158"/>
            <a:ext cx="594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7329" algn="l"/>
              </a:tabLst>
            </a:pPr>
            <a:r>
              <a:rPr sz="1100" i="1" spc="-25" dirty="0">
                <a:latin typeface="Georgia"/>
                <a:cs typeface="Georgia"/>
              </a:rPr>
              <a:t>r</a:t>
            </a:r>
            <a:r>
              <a:rPr sz="1100" spc="-25" dirty="0">
                <a:latin typeface="Times New Roman"/>
                <a:cs typeface="Times New Roman"/>
              </a:rPr>
              <a:t>ˆ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165" dirty="0">
                <a:latin typeface="Times New Roman"/>
                <a:cs typeface="Times New Roman"/>
              </a:rPr>
              <a:t>+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12860" y="2202432"/>
            <a:ext cx="1380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r>
              <a:rPr sz="1100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i="1" u="sng" spc="-9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·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894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2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+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i="1" u="sng" spc="-9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·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100" i="1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939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89948" y="2391192"/>
            <a:ext cx="826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Times New Roman"/>
                <a:cs typeface="Times New Roman"/>
              </a:rPr>
              <a:t>894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+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Times New Roman"/>
                <a:cs typeface="Times New Roman"/>
              </a:rPr>
              <a:t>939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21188" y="2296158"/>
            <a:ext cx="418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Meiryo UI"/>
                <a:cs typeface="Meiryo UI"/>
              </a:rPr>
              <a:t>≈</a:t>
            </a:r>
            <a:r>
              <a:rPr sz="1100" i="1" spc="-65" dirty="0">
                <a:latin typeface="Meiryo UI"/>
                <a:cs typeface="Meiryo UI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100" i="1" spc="-20" dirty="0">
                <a:solidFill>
                  <a:srgbClr val="0000FF"/>
                </a:solidFill>
                <a:latin typeface="Georgia"/>
                <a:cs typeface="Georgia"/>
              </a:rPr>
              <a:t>.</a:t>
            </a:r>
            <a:r>
              <a:rPr sz="1100" spc="-20" dirty="0">
                <a:solidFill>
                  <a:srgbClr val="0000FF"/>
                </a:solidFill>
                <a:latin typeface="Times New Roman"/>
                <a:cs typeface="Times New Roman"/>
              </a:rPr>
              <a:t>35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06587" y="2778428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Georgia"/>
                <a:cs typeface="Georgia"/>
              </a:rPr>
              <a:t>36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44078" y="2720326"/>
            <a:ext cx="594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7329" algn="l"/>
              </a:tabLst>
            </a:pPr>
            <a:r>
              <a:rPr sz="1100" i="1" spc="-25" dirty="0">
                <a:latin typeface="Georgia"/>
                <a:cs typeface="Georgia"/>
              </a:rPr>
              <a:t>r</a:t>
            </a:r>
            <a:r>
              <a:rPr sz="1100" spc="-25" dirty="0">
                <a:latin typeface="Times New Roman"/>
                <a:cs typeface="Times New Roman"/>
              </a:rPr>
              <a:t>ˆ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165" dirty="0">
                <a:latin typeface="Times New Roman"/>
                <a:cs typeface="Times New Roman"/>
              </a:rPr>
              <a:t>+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58974" y="2626599"/>
            <a:ext cx="1488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−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i="1" u="sng" spc="-9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·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894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−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i="1" u="sng" spc="-9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·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100" i="1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939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89948" y="2815360"/>
            <a:ext cx="826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Times New Roman"/>
                <a:cs typeface="Times New Roman"/>
              </a:rPr>
              <a:t>894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+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Times New Roman"/>
                <a:cs typeface="Times New Roman"/>
              </a:rPr>
              <a:t>939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75061" y="2720326"/>
            <a:ext cx="418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Meiryo UI"/>
                <a:cs typeface="Meiryo UI"/>
              </a:rPr>
              <a:t>≈</a:t>
            </a:r>
            <a:r>
              <a:rPr sz="1100" i="1" spc="-65" dirty="0">
                <a:latin typeface="Meiryo UI"/>
                <a:cs typeface="Meiryo UI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1100" i="1" spc="-20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sz="1100" spc="-20" dirty="0">
                <a:solidFill>
                  <a:srgbClr val="FF0000"/>
                </a:solidFill>
                <a:latin typeface="Times New Roman"/>
                <a:cs typeface="Times New Roman"/>
              </a:rPr>
              <a:t>86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26" name="object 2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46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Discounted</a:t>
            </a:r>
            <a:r>
              <a:rPr spc="254" dirty="0"/>
              <a:t> </a:t>
            </a:r>
            <a:r>
              <a:rPr dirty="0"/>
              <a:t>similarity</a:t>
            </a:r>
            <a:r>
              <a:rPr spc="260" dirty="0"/>
              <a:t> </a:t>
            </a:r>
            <a:r>
              <a:rPr dirty="0"/>
              <a:t>between</a:t>
            </a:r>
            <a:r>
              <a:rPr spc="250" dirty="0"/>
              <a:t> </a:t>
            </a:r>
            <a:r>
              <a:rPr spc="-10" dirty="0"/>
              <a:t>users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72847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8777" y="636865"/>
            <a:ext cx="5093970" cy="110744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8100" marR="30480">
              <a:lnSpc>
                <a:spcPts val="1150"/>
              </a:lnSpc>
              <a:spcBef>
                <a:spcPts val="270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reliability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similarity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Sim</a:t>
            </a:r>
            <a:r>
              <a:rPr sz="1100" spc="-20" dirty="0">
                <a:latin typeface="Times New Roman"/>
                <a:cs typeface="Times New Roman"/>
              </a:rPr>
              <a:t>(</a:t>
            </a:r>
            <a:r>
              <a:rPr sz="1100" i="1" spc="-20" dirty="0">
                <a:latin typeface="Georgia"/>
                <a:cs typeface="Georgia"/>
              </a:rPr>
              <a:t>u,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v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often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affected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number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common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Meiryo UI"/>
                <a:cs typeface="Meiryo UI"/>
              </a:rPr>
              <a:t>|</a:t>
            </a:r>
            <a:r>
              <a:rPr sz="1100" i="1" spc="-10" dirty="0">
                <a:latin typeface="Georgia"/>
                <a:cs typeface="Georgia"/>
              </a:rPr>
              <a:t>I</a:t>
            </a:r>
            <a:r>
              <a:rPr sz="1200" i="1" spc="-15" baseline="-10416" dirty="0">
                <a:latin typeface="Georgia"/>
                <a:cs typeface="Georgia"/>
              </a:rPr>
              <a:t>u</a:t>
            </a:r>
            <a:r>
              <a:rPr sz="1200" i="1" spc="60" baseline="-10416" dirty="0">
                <a:latin typeface="Georgia"/>
                <a:cs typeface="Georgia"/>
              </a:rPr>
              <a:t> </a:t>
            </a:r>
            <a:r>
              <a:rPr sz="1100" i="1" spc="-175" dirty="0">
                <a:latin typeface="Meiryo UI"/>
                <a:cs typeface="Meiryo UI"/>
              </a:rPr>
              <a:t>∩</a:t>
            </a:r>
            <a:r>
              <a:rPr sz="1100" i="1" spc="-135" dirty="0">
                <a:latin typeface="Meiryo UI"/>
                <a:cs typeface="Meiryo UI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I</a:t>
            </a:r>
            <a:r>
              <a:rPr sz="1200" i="1" spc="-15" baseline="-10416" dirty="0">
                <a:latin typeface="Georgia"/>
                <a:cs typeface="Georgia"/>
              </a:rPr>
              <a:t>v</a:t>
            </a:r>
            <a:r>
              <a:rPr sz="1100" i="1" spc="-10" dirty="0">
                <a:latin typeface="Meiryo UI"/>
                <a:cs typeface="Meiryo UI"/>
              </a:rPr>
              <a:t>|</a:t>
            </a:r>
            <a:r>
              <a:rPr sz="1100" i="1" spc="-80" dirty="0">
                <a:latin typeface="Meiryo UI"/>
                <a:cs typeface="Meiryo UI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v</a:t>
            </a:r>
            <a:r>
              <a:rPr sz="1100" spc="-2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ts val="1235"/>
              </a:lnSpc>
              <a:spcBef>
                <a:spcPts val="545"/>
              </a:spcBef>
            </a:pPr>
            <a:r>
              <a:rPr sz="1100" dirty="0">
                <a:latin typeface="Georgia"/>
                <a:cs typeface="Georgia"/>
              </a:rPr>
              <a:t>When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number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common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too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small</a:t>
            </a:r>
            <a:r>
              <a:rPr sz="1100" spc="-35" dirty="0">
                <a:latin typeface="Georgia"/>
                <a:cs typeface="Georgia"/>
              </a:rPr>
              <a:t>,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to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ts val="1235"/>
              </a:lnSpc>
            </a:pPr>
            <a:r>
              <a:rPr sz="1100" b="1" spc="-60" dirty="0">
                <a:latin typeface="Georgia"/>
                <a:cs typeface="Georgia"/>
              </a:rPr>
              <a:t>de–emphasize</a:t>
            </a:r>
            <a:r>
              <a:rPr sz="1100" b="1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importance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pair.</a:t>
            </a:r>
            <a:endParaRPr sz="1100">
              <a:latin typeface="Georgia"/>
              <a:cs typeface="Georgia"/>
            </a:endParaRPr>
          </a:p>
          <a:p>
            <a:pPr marL="38100" marR="112395">
              <a:lnSpc>
                <a:spcPts val="1150"/>
              </a:lnSpc>
              <a:spcBef>
                <a:spcPts val="740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β</a:t>
            </a:r>
            <a:r>
              <a:rPr sz="1100" i="1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minimum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threshold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number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common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discounted </a:t>
            </a:r>
            <a:r>
              <a:rPr sz="1100" spc="-20" dirty="0">
                <a:latin typeface="Georgia"/>
                <a:cs typeface="Georgia"/>
              </a:rPr>
              <a:t>similarity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defined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follows: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111296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49744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81459" y="1908656"/>
            <a:ext cx="2019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(7)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7972" y="240450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4177" y="2312897"/>
            <a:ext cx="5120005" cy="33845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270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discounted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similarity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process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determining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group </a:t>
            </a:r>
            <a:r>
              <a:rPr sz="1100" dirty="0">
                <a:latin typeface="Georgia"/>
                <a:cs typeface="Georgia"/>
              </a:rPr>
              <a:t>(i.e.,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top–</a:t>
            </a:r>
            <a:r>
              <a:rPr sz="1100" i="1" spc="-25" dirty="0">
                <a:latin typeface="Georgia"/>
                <a:cs typeface="Georgia"/>
              </a:rPr>
              <a:t>k</a:t>
            </a:r>
            <a:r>
              <a:rPr sz="1100" i="1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closest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users)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computing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prediction.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6" name="object 1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47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EA9597D-8E49-FD8A-0FEE-E48414C2B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30" y="1837153"/>
            <a:ext cx="3308655" cy="42561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Variants</a:t>
            </a:r>
            <a:r>
              <a:rPr spc="195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spc="55" dirty="0"/>
              <a:t>the</a:t>
            </a:r>
            <a:r>
              <a:rPr spc="190" dirty="0"/>
              <a:t> </a:t>
            </a:r>
            <a:r>
              <a:rPr dirty="0"/>
              <a:t>prediction</a:t>
            </a:r>
            <a:r>
              <a:rPr spc="190" dirty="0"/>
              <a:t> </a:t>
            </a:r>
            <a:r>
              <a:rPr spc="-10" dirty="0"/>
              <a:t>function</a:t>
            </a:r>
          </a:p>
        </p:txBody>
      </p:sp>
      <p:grpSp>
        <p:nvGrpSpPr>
          <p:cNvPr id="36" name="object 36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37" name="object 37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48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AF6DAF3-4F29-0002-03C3-B6358880E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8972"/>
            <a:ext cx="5092700" cy="247098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Finding</a:t>
            </a:r>
            <a:r>
              <a:rPr spc="195" dirty="0"/>
              <a:t> </a:t>
            </a:r>
            <a:r>
              <a:rPr dirty="0"/>
              <a:t>top–</a:t>
            </a:r>
            <a:r>
              <a:rPr i="1" dirty="0">
                <a:latin typeface="Times New Roman"/>
                <a:cs typeface="Times New Roman"/>
              </a:rPr>
              <a:t>k</a:t>
            </a:r>
            <a:r>
              <a:rPr i="1" spc="260" dirty="0">
                <a:latin typeface="Times New Roman"/>
                <a:cs typeface="Times New Roman"/>
              </a:rPr>
              <a:t> </a:t>
            </a:r>
            <a:r>
              <a:rPr dirty="0"/>
              <a:t>closest</a:t>
            </a:r>
            <a:r>
              <a:rPr spc="200" dirty="0"/>
              <a:t> </a:t>
            </a:r>
            <a:r>
              <a:rPr dirty="0"/>
              <a:t>users</a:t>
            </a:r>
            <a:r>
              <a:rPr spc="204" dirty="0"/>
              <a:t> </a:t>
            </a:r>
            <a:r>
              <a:rPr dirty="0"/>
              <a:t>(i.e.,</a:t>
            </a:r>
            <a:r>
              <a:rPr spc="210" dirty="0"/>
              <a:t> </a:t>
            </a:r>
            <a:r>
              <a:rPr dirty="0"/>
              <a:t>filtering</a:t>
            </a:r>
            <a:r>
              <a:rPr spc="195" dirty="0"/>
              <a:t> </a:t>
            </a:r>
            <a:r>
              <a:rPr spc="55" dirty="0"/>
              <a:t>the</a:t>
            </a:r>
            <a:r>
              <a:rPr spc="200" dirty="0"/>
              <a:t> </a:t>
            </a:r>
            <a:r>
              <a:rPr dirty="0"/>
              <a:t>peer</a:t>
            </a:r>
            <a:r>
              <a:rPr spc="200" dirty="0"/>
              <a:t> </a:t>
            </a:r>
            <a:r>
              <a:rPr spc="-10" dirty="0"/>
              <a:t>group)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81356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8777" y="721955"/>
            <a:ext cx="4346575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Georgia"/>
                <a:cs typeface="Georgia"/>
              </a:rPr>
              <a:t>Amplifying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similarity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between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users:</a:t>
            </a:r>
            <a:endParaRPr sz="1100">
              <a:latin typeface="Georgia"/>
              <a:cs typeface="Georgia"/>
            </a:endParaRPr>
          </a:p>
          <a:p>
            <a:pPr marL="1786889">
              <a:lnSpc>
                <a:spcPct val="100000"/>
              </a:lnSpc>
              <a:spcBef>
                <a:spcPts val="985"/>
              </a:spcBef>
            </a:pPr>
            <a:r>
              <a:rPr sz="1100" spc="-20" dirty="0">
                <a:latin typeface="Georgia"/>
                <a:cs typeface="Georgia"/>
              </a:rPr>
              <a:t>Sim</a:t>
            </a:r>
            <a:r>
              <a:rPr sz="1100" spc="-20" dirty="0">
                <a:latin typeface="Times New Roman"/>
                <a:cs typeface="Times New Roman"/>
              </a:rPr>
              <a:t>(</a:t>
            </a:r>
            <a:r>
              <a:rPr sz="1100" i="1" spc="-20" dirty="0">
                <a:latin typeface="Georgia"/>
                <a:cs typeface="Georgia"/>
              </a:rPr>
              <a:t>u,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v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Georgia"/>
                <a:cs typeface="Georgia"/>
              </a:rPr>
              <a:t>Pearson</a:t>
            </a:r>
            <a:r>
              <a:rPr sz="1100" spc="-20" dirty="0">
                <a:latin typeface="Times New Roman"/>
                <a:cs typeface="Times New Roman"/>
              </a:rPr>
              <a:t>(</a:t>
            </a:r>
            <a:r>
              <a:rPr sz="1100" i="1" spc="-20" dirty="0">
                <a:latin typeface="Georgia"/>
                <a:cs typeface="Georgia"/>
              </a:rPr>
              <a:t>u,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v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r>
              <a:rPr sz="1200" i="1" spc="-37" baseline="31250" dirty="0">
                <a:latin typeface="Georgia"/>
                <a:cs typeface="Georgia"/>
              </a:rPr>
              <a:t>α</a:t>
            </a:r>
            <a:endParaRPr sz="1200" baseline="3125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200"/>
              </a:spcBef>
            </a:pPr>
            <a:r>
              <a:rPr sz="1100" spc="-10" dirty="0">
                <a:latin typeface="Georgia"/>
                <a:cs typeface="Georgia"/>
              </a:rPr>
              <a:t>Choosing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α</a:t>
            </a:r>
            <a:r>
              <a:rPr sz="1100" i="1" spc="-10" dirty="0">
                <a:latin typeface="Georgia"/>
                <a:cs typeface="Georgia"/>
              </a:rPr>
              <a:t> </a:t>
            </a:r>
            <a:r>
              <a:rPr sz="1100" i="1" spc="125" dirty="0">
                <a:latin typeface="Georgia"/>
                <a:cs typeface="Georgia"/>
              </a:rPr>
              <a:t>&gt;</a:t>
            </a:r>
            <a:r>
              <a:rPr sz="1100" i="1" spc="-10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want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amplify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importance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similarity.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12587" y="1014487"/>
            <a:ext cx="270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(11)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7972" y="164755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99016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217321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4177" y="1555951"/>
            <a:ext cx="5129530" cy="9683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ct val="77000"/>
              </a:lnSpc>
              <a:spcBef>
                <a:spcPts val="395"/>
              </a:spcBef>
            </a:pPr>
            <a:r>
              <a:rPr sz="1100" spc="-10" dirty="0">
                <a:latin typeface="Georgia"/>
                <a:cs typeface="Georgia"/>
              </a:rPr>
              <a:t>We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should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remove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weakly</a:t>
            </a:r>
            <a:r>
              <a:rPr sz="1100" i="1" spc="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negatively</a:t>
            </a:r>
            <a:r>
              <a:rPr sz="1100" i="1" spc="85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Georgia"/>
                <a:cs typeface="Georgia"/>
              </a:rPr>
              <a:t>correlated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active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user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100" i="1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from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top–</a:t>
            </a:r>
            <a:r>
              <a:rPr sz="1100" i="1" spc="-10" dirty="0">
                <a:latin typeface="Georgia"/>
                <a:cs typeface="Georgia"/>
              </a:rPr>
              <a:t>k</a:t>
            </a:r>
            <a:r>
              <a:rPr sz="1100" spc="-1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Weakly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correlated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might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add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error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prediction.</a:t>
            </a:r>
            <a:endParaRPr sz="1000">
              <a:latin typeface="Times New Roman"/>
              <a:cs typeface="Times New Roman"/>
            </a:endParaRPr>
          </a:p>
          <a:p>
            <a:pPr marL="289560" marR="124460">
              <a:lnSpc>
                <a:spcPts val="1019"/>
              </a:lnSpc>
              <a:spcBef>
                <a:spcPts val="425"/>
              </a:spcBef>
            </a:pPr>
            <a:r>
              <a:rPr sz="1000" dirty="0">
                <a:latin typeface="Times New Roman"/>
                <a:cs typeface="Times New Roman"/>
              </a:rPr>
              <a:t>Negatively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correlated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often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much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predictive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terms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spc="10" dirty="0">
                <a:latin typeface="Times New Roman"/>
                <a:cs typeface="Times New Roman"/>
              </a:rPr>
              <a:t>potential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inversion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of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ratings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(although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prediction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function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technically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allows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weak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negative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ratings).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49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Impact</a:t>
            </a:r>
            <a:r>
              <a:rPr spc="80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spc="55" dirty="0"/>
              <a:t>the</a:t>
            </a:r>
            <a:r>
              <a:rPr spc="85" dirty="0"/>
              <a:t> </a:t>
            </a:r>
            <a:r>
              <a:rPr dirty="0"/>
              <a:t>long</a:t>
            </a:r>
            <a:r>
              <a:rPr spc="85" dirty="0"/>
              <a:t> </a:t>
            </a:r>
            <a:r>
              <a:rPr spc="-20" dirty="0"/>
              <a:t>tail</a:t>
            </a:r>
          </a:p>
        </p:txBody>
      </p:sp>
      <p:grpSp>
        <p:nvGrpSpPr>
          <p:cNvPr id="34" name="object 3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35" name="object 3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50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56A7302-DEB1-9E00-0D4F-EB8D65638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53" y="389819"/>
            <a:ext cx="5321300" cy="256333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Item–based</a:t>
            </a:r>
            <a:r>
              <a:rPr spc="365" dirty="0"/>
              <a:t> </a:t>
            </a:r>
            <a:r>
              <a:rPr dirty="0"/>
              <a:t>neighborhood</a:t>
            </a:r>
            <a:r>
              <a:rPr spc="37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0713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72067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90373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6077" y="356265"/>
            <a:ext cx="5180330" cy="143700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55"/>
              </a:spcBef>
            </a:pPr>
            <a:r>
              <a:rPr sz="1100" b="1" spc="-10" dirty="0">
                <a:latin typeface="Georgia"/>
                <a:cs typeface="Georgia"/>
              </a:rPr>
              <a:t>Peer</a:t>
            </a:r>
            <a:r>
              <a:rPr sz="1100" b="1" spc="60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groups</a:t>
            </a:r>
            <a:r>
              <a:rPr sz="1100" b="1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constructed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terms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items</a:t>
            </a:r>
            <a:r>
              <a:rPr sz="1100" i="1" spc="95" dirty="0">
                <a:latin typeface="Palatino Linotype"/>
                <a:cs typeface="Palatino Linotype"/>
              </a:rPr>
              <a:t> </a:t>
            </a:r>
            <a:r>
              <a:rPr sz="1100" spc="-10" dirty="0">
                <a:latin typeface="Georgia"/>
                <a:cs typeface="Georgia"/>
              </a:rPr>
              <a:t>rather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users</a:t>
            </a:r>
            <a:r>
              <a:rPr sz="1100" spc="-1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327660" marR="210820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Similarities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need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computed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(or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columns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matrix). </a:t>
            </a:r>
            <a:r>
              <a:rPr sz="1000" dirty="0">
                <a:latin typeface="Times New Roman"/>
                <a:cs typeface="Times New Roman"/>
              </a:rPr>
              <a:t>Before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similarities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columns,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each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row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mean–centered.</a:t>
            </a:r>
            <a:endParaRPr sz="1000">
              <a:latin typeface="Times New Roman"/>
              <a:cs typeface="Times New Roman"/>
            </a:endParaRPr>
          </a:p>
          <a:p>
            <a:pPr marL="50800" marR="186690">
              <a:lnSpc>
                <a:spcPts val="1150"/>
              </a:lnSpc>
              <a:spcBef>
                <a:spcPts val="955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200" i="1" baseline="-10416" dirty="0">
                <a:latin typeface="Georgia"/>
                <a:cs typeface="Georgia"/>
              </a:rPr>
              <a:t>i</a:t>
            </a:r>
            <a:r>
              <a:rPr sz="1200" i="1" spc="217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indices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specified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for </a:t>
            </a:r>
            <a:r>
              <a:rPr sz="1100" dirty="0">
                <a:latin typeface="Georgia"/>
                <a:cs typeface="Georgia"/>
              </a:rPr>
              <a:t>item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example,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third,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fourth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r>
              <a:rPr sz="1100" spc="50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200" i="1" baseline="-10416" dirty="0">
                <a:latin typeface="Georgia"/>
                <a:cs typeface="Georgia"/>
              </a:rPr>
              <a:t>i</a:t>
            </a:r>
            <a:r>
              <a:rPr sz="1200" i="1" spc="44" baseline="-10416" dirty="0">
                <a:latin typeface="Georgia"/>
                <a:cs typeface="Georgia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Meiryo UI"/>
                <a:cs typeface="Meiryo UI"/>
              </a:rPr>
              <a:t>{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i="1" spc="-5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3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</a:t>
            </a:r>
            <a:r>
              <a:rPr sz="1100" i="1" dirty="0">
                <a:latin typeface="Meiryo UI"/>
                <a:cs typeface="Meiryo UI"/>
              </a:rPr>
              <a:t>}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200" i="1" baseline="-10416" dirty="0">
                <a:latin typeface="Georgia"/>
                <a:cs typeface="Georgia"/>
              </a:rPr>
              <a:t>i</a:t>
            </a:r>
            <a:r>
              <a:rPr sz="1200" i="1" spc="75" baseline="-10416" dirty="0">
                <a:latin typeface="Georgia"/>
                <a:cs typeface="Georgia"/>
              </a:rPr>
              <a:t> </a:t>
            </a:r>
            <a:r>
              <a:rPr sz="1100" i="1" spc="-175" dirty="0">
                <a:latin typeface="Meiryo UI"/>
                <a:cs typeface="Meiryo UI"/>
              </a:rPr>
              <a:t>∩</a:t>
            </a:r>
            <a:r>
              <a:rPr sz="1100" i="1" spc="-135" dirty="0">
                <a:latin typeface="Meiryo UI"/>
                <a:cs typeface="Meiryo UI"/>
              </a:rPr>
              <a:t> </a:t>
            </a:r>
            <a:r>
              <a:rPr sz="1100" i="1" dirty="0">
                <a:latin typeface="Georgia"/>
                <a:cs typeface="Georgia"/>
              </a:rPr>
              <a:t>U</a:t>
            </a:r>
            <a:r>
              <a:rPr sz="1200" i="1" baseline="-10416" dirty="0">
                <a:latin typeface="Georgia"/>
                <a:cs typeface="Georgia"/>
              </a:rPr>
              <a:t>j</a:t>
            </a:r>
            <a:r>
              <a:rPr sz="1200" i="1" spc="284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indices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rated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100" i="1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Georgia"/>
                <a:cs typeface="Georgia"/>
              </a:rPr>
              <a:t>j</a:t>
            </a:r>
            <a:r>
              <a:rPr sz="1100" spc="6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50"/>
              </a:spcBef>
            </a:pPr>
            <a:r>
              <a:rPr sz="1100" dirty="0">
                <a:latin typeface="Georgia"/>
                <a:cs typeface="Georgia"/>
              </a:rPr>
              <a:t>To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similarity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100" i="1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i="1" spc="90" dirty="0">
                <a:latin typeface="Georgia"/>
                <a:cs typeface="Georgia"/>
              </a:rPr>
              <a:t>j</a:t>
            </a:r>
            <a:r>
              <a:rPr sz="1100" spc="90" dirty="0">
                <a:latin typeface="Georgia"/>
                <a:cs typeface="Georgia"/>
              </a:rPr>
              <a:t>,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adjusted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cosine</a:t>
            </a:r>
            <a:r>
              <a:rPr sz="1100" b="1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defined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as: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7972" y="116207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69282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03398" y="1755316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HGMaruGothicMPRO"/>
                <a:cs typeface="HGMaruGothicMPRO"/>
              </a:rPr>
              <a:t> </a:t>
            </a:r>
            <a:endParaRPr sz="1100">
              <a:latin typeface="HGMaruGothicMPRO"/>
              <a:cs typeface="HGMaruGothicMPR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1" name="object 5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51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E16208C-F41D-08A5-ACB6-BDB97FD36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34" y="1899137"/>
            <a:ext cx="4747108" cy="107042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Item–item</a:t>
            </a:r>
            <a:r>
              <a:rPr spc="315" dirty="0"/>
              <a:t> </a:t>
            </a:r>
            <a:r>
              <a:rPr dirty="0"/>
              <a:t>based</a:t>
            </a:r>
            <a:r>
              <a:rPr spc="315" dirty="0"/>
              <a:t> </a:t>
            </a:r>
            <a:r>
              <a:rPr dirty="0"/>
              <a:t>prediction</a:t>
            </a:r>
            <a:r>
              <a:rPr spc="320" dirty="0"/>
              <a:t> </a:t>
            </a:r>
            <a:r>
              <a:rPr spc="-10" dirty="0"/>
              <a:t>function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21" name="object 2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52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8B02CCC-1053-A6AF-3E1A-581DD6249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54" y="555004"/>
            <a:ext cx="5321300" cy="218944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54571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Row–normalized</a:t>
            </a:r>
            <a:r>
              <a:rPr sz="1400" spc="2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rating</a:t>
            </a:r>
            <a:r>
              <a:rPr sz="1400" spc="2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CC0000"/>
                </a:solidFill>
                <a:latin typeface="Times New Roman"/>
                <a:cs typeface="Times New Roman"/>
              </a:rPr>
              <a:t>matrix</a:t>
            </a:r>
            <a:r>
              <a:rPr sz="1400" spc="29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for</a:t>
            </a:r>
            <a:r>
              <a:rPr sz="1400" spc="2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item–item</a:t>
            </a:r>
            <a:r>
              <a:rPr sz="1400" spc="2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similarity</a:t>
            </a:r>
            <a:r>
              <a:rPr sz="1400" spc="29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computation</a:t>
            </a:r>
            <a:r>
              <a:rPr sz="1400" spc="2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CC0000"/>
                </a:solidFill>
                <a:latin typeface="Times New Roman"/>
                <a:cs typeface="Times New Roman"/>
                <a:hlinkClick r:id="rId2" action="ppaction://hlinksldjump"/>
              </a:rPr>
              <a:t>[8]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9586" y="467334"/>
            <a:ext cx="3434524" cy="9031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9136" y="1544967"/>
            <a:ext cx="3021711" cy="141236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6" name="object 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5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5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53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dirty="0"/>
              <a:t>item–item</a:t>
            </a:r>
            <a:r>
              <a:rPr spc="254" dirty="0"/>
              <a:t> </a:t>
            </a:r>
            <a:r>
              <a:rPr dirty="0"/>
              <a:t>based</a:t>
            </a:r>
            <a:r>
              <a:rPr spc="254" dirty="0"/>
              <a:t> </a:t>
            </a:r>
            <a:r>
              <a:rPr dirty="0"/>
              <a:t>prediction</a:t>
            </a:r>
            <a:r>
              <a:rPr spc="250" dirty="0"/>
              <a:t> </a:t>
            </a:r>
            <a:r>
              <a:rPr dirty="0"/>
              <a:t>for</a:t>
            </a:r>
            <a:r>
              <a:rPr spc="245" dirty="0"/>
              <a:t> </a:t>
            </a:r>
            <a:r>
              <a:rPr dirty="0"/>
              <a:t>rating</a:t>
            </a:r>
            <a:r>
              <a:rPr spc="250" dirty="0"/>
              <a:t> </a:t>
            </a:r>
            <a:r>
              <a:rPr spc="-10" dirty="0"/>
              <a:t>values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22" name="object 22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54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244B3C1-56F9-4908-2C85-EDF22DC0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69533"/>
            <a:ext cx="5106568" cy="244986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Efficient</a:t>
            </a:r>
            <a:r>
              <a:rPr spc="220" dirty="0"/>
              <a:t> </a:t>
            </a:r>
            <a:r>
              <a:rPr spc="10" dirty="0"/>
              <a:t>implementation</a:t>
            </a:r>
            <a:r>
              <a:rPr spc="210" dirty="0"/>
              <a:t> </a:t>
            </a:r>
            <a:r>
              <a:rPr spc="50" dirty="0"/>
              <a:t>and</a:t>
            </a:r>
            <a:r>
              <a:rPr spc="215" dirty="0"/>
              <a:t> </a:t>
            </a:r>
            <a:r>
              <a:rPr spc="10" dirty="0"/>
              <a:t>computational</a:t>
            </a:r>
            <a:r>
              <a:rPr spc="220" dirty="0"/>
              <a:t> </a:t>
            </a:r>
            <a:r>
              <a:rPr spc="-10" dirty="0"/>
              <a:t>complexity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2776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74876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96231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27441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4177" y="381404"/>
            <a:ext cx="512953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9730">
              <a:lnSpc>
                <a:spcPct val="131800"/>
              </a:lnSpc>
              <a:spcBef>
                <a:spcPts val="100"/>
              </a:spcBef>
            </a:pPr>
            <a:r>
              <a:rPr sz="1100" dirty="0">
                <a:latin typeface="Georgia"/>
                <a:cs typeface="Georgia"/>
              </a:rPr>
              <a:t>Store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intermediate</a:t>
            </a:r>
            <a:r>
              <a:rPr sz="1100" b="1" spc="4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computations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efficient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ranking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recommendations.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recommendation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process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divided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into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offline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phase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online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phase:</a:t>
            </a:r>
            <a:endParaRPr sz="1100">
              <a:latin typeface="Georgia"/>
              <a:cs typeface="Georgia"/>
            </a:endParaRPr>
          </a:p>
          <a:p>
            <a:pPr marL="289560" marR="5715">
              <a:lnSpc>
                <a:spcPts val="1019"/>
              </a:lnSpc>
              <a:spcBef>
                <a:spcPts val="605"/>
              </a:spcBef>
            </a:pPr>
            <a:r>
              <a:rPr sz="1000" b="1" spc="-25" dirty="0">
                <a:latin typeface="Georgia"/>
                <a:cs typeface="Georgia"/>
              </a:rPr>
              <a:t>Offline</a:t>
            </a:r>
            <a:r>
              <a:rPr sz="1000" spc="-25" dirty="0">
                <a:latin typeface="Times New Roman"/>
                <a:cs typeface="Times New Roman"/>
              </a:rPr>
              <a:t>:</a:t>
            </a:r>
            <a:r>
              <a:rPr sz="1000" spc="3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b="1" dirty="0">
                <a:latin typeface="Georgia"/>
                <a:cs typeface="Georgia"/>
              </a:rPr>
              <a:t>a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user–user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(item–item)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groups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(of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user/item)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are </a:t>
            </a:r>
            <a:r>
              <a:rPr sz="1000" dirty="0">
                <a:latin typeface="Times New Roman"/>
                <a:cs typeface="Times New Roman"/>
              </a:rPr>
              <a:t>computed;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b="1" dirty="0">
                <a:latin typeface="Georgia"/>
                <a:cs typeface="Georgia"/>
              </a:rPr>
              <a:t>b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each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(or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item),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relevant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group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prestored.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35"/>
              </a:spcBef>
            </a:pPr>
            <a:r>
              <a:rPr sz="1000" b="1" spc="-10" dirty="0">
                <a:latin typeface="Georgia"/>
                <a:cs typeface="Georgia"/>
              </a:rPr>
              <a:t>Online</a:t>
            </a:r>
            <a:r>
              <a:rPr sz="1000" spc="-10" dirty="0">
                <a:latin typeface="Times New Roman"/>
                <a:cs typeface="Times New Roman"/>
              </a:rPr>
              <a:t>:</a:t>
            </a:r>
            <a:r>
              <a:rPr sz="10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those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prestored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groups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make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prediction.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7972" y="153026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8777" y="1438654"/>
            <a:ext cx="50342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200" i="1" baseline="27777" dirty="0">
                <a:latin typeface="Meiryo UI"/>
                <a:cs typeface="Meiryo UI"/>
              </a:rPr>
              <a:t>′</a:t>
            </a:r>
            <a:r>
              <a:rPr sz="1200" i="1" spc="120" baseline="27777" dirty="0">
                <a:latin typeface="Meiryo UI"/>
                <a:cs typeface="Meiryo UI"/>
              </a:rPr>
              <a:t> </a:t>
            </a:r>
            <a:r>
              <a:rPr sz="1100" spc="180" dirty="0">
                <a:latin typeface="Georgia"/>
                <a:cs typeface="Georgia"/>
              </a:rPr>
              <a:t>(</a:t>
            </a:r>
            <a:r>
              <a:rPr sz="1100" i="1" spc="180" dirty="0">
                <a:latin typeface="Meiryo UI"/>
                <a:cs typeface="Meiryo UI"/>
              </a:rPr>
              <a:t>≪</a:t>
            </a:r>
            <a:r>
              <a:rPr sz="1100" i="1" spc="-95" dirty="0">
                <a:latin typeface="Meiryo UI"/>
                <a:cs typeface="Meiryo UI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maximum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number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specified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(row);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m</a:t>
            </a:r>
            <a:r>
              <a:rPr sz="1200" i="1" spc="-37" baseline="27777" dirty="0">
                <a:latin typeface="Meiryo UI"/>
                <a:cs typeface="Meiryo UI"/>
              </a:rPr>
              <a:t>′</a:t>
            </a:r>
            <a:endParaRPr sz="1200" baseline="27777">
              <a:latin typeface="Meiryo UI"/>
              <a:cs typeface="Meiryo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0229" y="190831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0913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27441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0229" y="245747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0229" y="265874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0229" y="286002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28777" y="1515943"/>
            <a:ext cx="5124450" cy="143700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0"/>
              </a:spcBef>
            </a:pPr>
            <a:r>
              <a:rPr sz="1100" spc="180" dirty="0">
                <a:latin typeface="Georgia"/>
                <a:cs typeface="Georgia"/>
              </a:rPr>
              <a:t>(</a:t>
            </a:r>
            <a:r>
              <a:rPr sz="1100" i="1" spc="180" dirty="0">
                <a:latin typeface="Meiryo UI"/>
                <a:cs typeface="Meiryo UI"/>
              </a:rPr>
              <a:t>≪</a:t>
            </a:r>
            <a:r>
              <a:rPr sz="1100" i="1" spc="-95" dirty="0">
                <a:latin typeface="Meiryo UI"/>
                <a:cs typeface="Meiryo UI"/>
              </a:rPr>
              <a:t> </a:t>
            </a:r>
            <a:r>
              <a:rPr sz="1100" i="1" dirty="0">
                <a:latin typeface="Georgia"/>
                <a:cs typeface="Georgia"/>
              </a:rPr>
              <a:t>m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maximum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number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specified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item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(column).</a:t>
            </a:r>
            <a:endParaRPr sz="1100">
              <a:latin typeface="Georgia"/>
              <a:cs typeface="Georgia"/>
            </a:endParaRPr>
          </a:p>
          <a:p>
            <a:pPr marL="314960" marR="30480" algn="just">
              <a:lnSpc>
                <a:spcPct val="120100"/>
              </a:lnSpc>
              <a:spcBef>
                <a:spcPts val="285"/>
              </a:spcBef>
            </a:pPr>
            <a:r>
              <a:rPr sz="1000" i="1" dirty="0">
                <a:latin typeface="Georgia"/>
                <a:cs typeface="Georgia"/>
              </a:rPr>
              <a:t>n</a:t>
            </a:r>
            <a:r>
              <a:rPr sz="1050" i="1" baseline="27777" dirty="0">
                <a:latin typeface="Meiryo UI"/>
                <a:cs typeface="Meiryo UI"/>
              </a:rPr>
              <a:t>′</a:t>
            </a:r>
            <a:r>
              <a:rPr sz="1050" i="1" spc="412" baseline="27777" dirty="0">
                <a:latin typeface="Meiryo UI"/>
                <a:cs typeface="Meiryo UI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maximum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running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pair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users. 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50" i="1" baseline="27777" dirty="0">
                <a:latin typeface="Meiryo UI"/>
                <a:cs typeface="Meiryo UI"/>
              </a:rPr>
              <a:t>′</a:t>
            </a:r>
            <a:r>
              <a:rPr sz="1050" i="1" spc="375" baseline="27777" dirty="0">
                <a:latin typeface="Meiryo UI"/>
                <a:cs typeface="Meiryo UI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maximum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running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pair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 </a:t>
            </a:r>
            <a:r>
              <a:rPr sz="1000" dirty="0">
                <a:latin typeface="Times New Roman"/>
                <a:cs typeface="Times New Roman"/>
              </a:rPr>
              <a:t>Identifying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group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active/target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(user–based):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O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00" i="1" spc="50" dirty="0">
                <a:latin typeface="Georgia"/>
                <a:cs typeface="Georgia"/>
              </a:rPr>
              <a:t> </a:t>
            </a:r>
            <a:r>
              <a:rPr sz="1000" i="1" spc="-85" dirty="0">
                <a:latin typeface="Meiryo UI"/>
                <a:cs typeface="Meiryo UI"/>
              </a:rPr>
              <a:t>·</a:t>
            </a:r>
            <a:r>
              <a:rPr sz="1000" i="1" spc="-50" dirty="0">
                <a:latin typeface="Meiryo UI"/>
                <a:cs typeface="Meiryo UI"/>
              </a:rPr>
              <a:t> </a:t>
            </a:r>
            <a:r>
              <a:rPr sz="1000" i="1" spc="-20" dirty="0">
                <a:latin typeface="Georgia"/>
                <a:cs typeface="Georgia"/>
              </a:rPr>
              <a:t>n</a:t>
            </a:r>
            <a:r>
              <a:rPr sz="1050" i="1" spc="-30" baseline="27777" dirty="0">
                <a:latin typeface="Meiryo UI"/>
                <a:cs typeface="Meiryo UI"/>
              </a:rPr>
              <a:t>′</a:t>
            </a:r>
            <a:r>
              <a:rPr sz="1000" spc="-20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  <a:p>
            <a:pPr marL="3149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Identifying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group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active/target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(item–based):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O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n</a:t>
            </a:r>
            <a:r>
              <a:rPr sz="1000" i="1" spc="60" dirty="0">
                <a:latin typeface="Georgia"/>
                <a:cs typeface="Georgia"/>
              </a:rPr>
              <a:t> </a:t>
            </a:r>
            <a:r>
              <a:rPr sz="1000" i="1" spc="-85" dirty="0">
                <a:latin typeface="Meiryo UI"/>
                <a:cs typeface="Meiryo UI"/>
              </a:rPr>
              <a:t>·</a:t>
            </a:r>
            <a:r>
              <a:rPr sz="1000" i="1" spc="-35" dirty="0">
                <a:latin typeface="Meiryo UI"/>
                <a:cs typeface="Meiryo UI"/>
              </a:rPr>
              <a:t> </a:t>
            </a:r>
            <a:r>
              <a:rPr sz="1000" i="1" spc="-20" dirty="0">
                <a:latin typeface="Georgia"/>
                <a:cs typeface="Georgia"/>
              </a:rPr>
              <a:t>m</a:t>
            </a:r>
            <a:r>
              <a:rPr sz="1050" i="1" spc="-30" baseline="27777" dirty="0">
                <a:latin typeface="Meiryo UI"/>
                <a:cs typeface="Meiryo UI"/>
              </a:rPr>
              <a:t>′</a:t>
            </a:r>
            <a:r>
              <a:rPr sz="1000" spc="-20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  <a:p>
            <a:pPr marL="314960" marR="1846580">
              <a:lnSpc>
                <a:spcPct val="132100"/>
              </a:lnSpc>
            </a:pP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groups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all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O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50" baseline="27777" dirty="0">
                <a:latin typeface="Tahoma"/>
                <a:cs typeface="Tahoma"/>
              </a:rPr>
              <a:t>2</a:t>
            </a:r>
            <a:r>
              <a:rPr sz="1050" spc="195" baseline="27777" dirty="0">
                <a:latin typeface="Tahoma"/>
                <a:cs typeface="Tahoma"/>
              </a:rPr>
              <a:t> </a:t>
            </a:r>
            <a:r>
              <a:rPr sz="1000" i="1" spc="-85" dirty="0">
                <a:latin typeface="Meiryo UI"/>
                <a:cs typeface="Meiryo UI"/>
              </a:rPr>
              <a:t>·</a:t>
            </a:r>
            <a:r>
              <a:rPr sz="1000" i="1" spc="-55" dirty="0">
                <a:latin typeface="Meiryo UI"/>
                <a:cs typeface="Meiryo UI"/>
              </a:rPr>
              <a:t> </a:t>
            </a:r>
            <a:r>
              <a:rPr sz="1000" i="1" spc="-20" dirty="0">
                <a:latin typeface="Georgia"/>
                <a:cs typeface="Georgia"/>
              </a:rPr>
              <a:t>n</a:t>
            </a:r>
            <a:r>
              <a:rPr sz="1050" i="1" spc="-30" baseline="27777" dirty="0">
                <a:latin typeface="Meiryo UI"/>
                <a:cs typeface="Meiryo UI"/>
              </a:rPr>
              <a:t>′</a:t>
            </a:r>
            <a:r>
              <a:rPr sz="1000" spc="-20" dirty="0">
                <a:latin typeface="Times New Roman"/>
                <a:cs typeface="Times New Roman"/>
              </a:rPr>
              <a:t>).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groups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all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O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n</a:t>
            </a:r>
            <a:r>
              <a:rPr sz="1050" baseline="27777" dirty="0">
                <a:latin typeface="Tahoma"/>
                <a:cs typeface="Tahoma"/>
              </a:rPr>
              <a:t>2</a:t>
            </a:r>
            <a:r>
              <a:rPr sz="1050" spc="209" baseline="27777" dirty="0">
                <a:latin typeface="Tahoma"/>
                <a:cs typeface="Tahoma"/>
              </a:rPr>
              <a:t> </a:t>
            </a:r>
            <a:r>
              <a:rPr sz="1000" i="1" spc="-85" dirty="0">
                <a:latin typeface="Meiryo UI"/>
                <a:cs typeface="Meiryo UI"/>
              </a:rPr>
              <a:t>·</a:t>
            </a:r>
            <a:r>
              <a:rPr sz="1000" i="1" spc="-55" dirty="0">
                <a:latin typeface="Meiryo UI"/>
                <a:cs typeface="Meiryo UI"/>
              </a:rPr>
              <a:t> </a:t>
            </a:r>
            <a:r>
              <a:rPr sz="1000" i="1" spc="-20" dirty="0">
                <a:latin typeface="Georgia"/>
                <a:cs typeface="Georgia"/>
              </a:rPr>
              <a:t>m</a:t>
            </a:r>
            <a:r>
              <a:rPr sz="1050" i="1" spc="-30" baseline="27777" dirty="0">
                <a:latin typeface="Meiryo UI"/>
                <a:cs typeface="Meiryo UI"/>
              </a:rPr>
              <a:t>′</a:t>
            </a:r>
            <a:r>
              <a:rPr sz="1000" spc="-20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8" name="object 18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55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Efficient</a:t>
            </a:r>
            <a:r>
              <a:rPr spc="204" dirty="0"/>
              <a:t> </a:t>
            </a:r>
            <a:r>
              <a:rPr spc="10" dirty="0"/>
              <a:t>implementation</a:t>
            </a:r>
            <a:r>
              <a:rPr spc="200" dirty="0"/>
              <a:t> </a:t>
            </a:r>
            <a:r>
              <a:rPr spc="50" dirty="0"/>
              <a:t>and</a:t>
            </a:r>
            <a:r>
              <a:rPr spc="200" dirty="0"/>
              <a:t> </a:t>
            </a:r>
            <a:r>
              <a:rPr spc="10" dirty="0"/>
              <a:t>computational</a:t>
            </a:r>
            <a:r>
              <a:rPr spc="204" dirty="0"/>
              <a:t> </a:t>
            </a:r>
            <a:r>
              <a:rPr spc="10" dirty="0"/>
              <a:t>complexity</a:t>
            </a:r>
            <a:r>
              <a:rPr spc="204" dirty="0"/>
              <a:t> </a:t>
            </a:r>
            <a:r>
              <a:rPr spc="-10"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8280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93756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972" y="117577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39679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61033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79339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97643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8777" y="502689"/>
            <a:ext cx="5173345" cy="221678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283210" algn="just">
              <a:lnSpc>
                <a:spcPct val="147000"/>
              </a:lnSpc>
              <a:spcBef>
                <a:spcPts val="165"/>
              </a:spcBef>
            </a:pPr>
            <a:r>
              <a:rPr sz="1100" dirty="0">
                <a:latin typeface="Georgia"/>
                <a:cs typeface="Georgia"/>
              </a:rPr>
              <a:t>Space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complexity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store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pairs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20" dirty="0">
                <a:latin typeface="Georgia"/>
                <a:cs typeface="Georgia"/>
              </a:rPr>
              <a:t> similarities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between </a:t>
            </a:r>
            <a:r>
              <a:rPr sz="1100" dirty="0">
                <a:latin typeface="Georgia"/>
                <a:cs typeface="Georgia"/>
              </a:rPr>
              <a:t>pairs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users: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O</a:t>
            </a:r>
            <a:r>
              <a:rPr sz="1100" spc="-10" dirty="0">
                <a:latin typeface="Times New Roman"/>
                <a:cs typeface="Times New Roman"/>
              </a:rPr>
              <a:t>(</a:t>
            </a:r>
            <a:r>
              <a:rPr sz="1100" i="1" spc="-10" dirty="0">
                <a:latin typeface="Georgia"/>
                <a:cs typeface="Georgia"/>
              </a:rPr>
              <a:t>m</a:t>
            </a:r>
            <a:r>
              <a:rPr sz="1200" spc="-15" baseline="27777" dirty="0">
                <a:latin typeface="Georgia"/>
                <a:cs typeface="Georgia"/>
              </a:rPr>
              <a:t>2</a:t>
            </a:r>
            <a:r>
              <a:rPr sz="1100" spc="-10" dirty="0">
                <a:latin typeface="Times New Roman"/>
                <a:cs typeface="Times New Roman"/>
              </a:rPr>
              <a:t>)</a:t>
            </a:r>
            <a:r>
              <a:rPr sz="1100" spc="-10" dirty="0">
                <a:latin typeface="Georgia"/>
                <a:cs typeface="Georgia"/>
              </a:rPr>
              <a:t>. </a:t>
            </a:r>
            <a:r>
              <a:rPr sz="1100" dirty="0">
                <a:latin typeface="Georgia"/>
                <a:cs typeface="Georgia"/>
              </a:rPr>
              <a:t>Space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complexity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store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pairs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similarities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between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pairs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items: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O</a:t>
            </a:r>
            <a:r>
              <a:rPr sz="1100" spc="-10" dirty="0">
                <a:latin typeface="Times New Roman"/>
                <a:cs typeface="Times New Roman"/>
              </a:rPr>
              <a:t>(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200" spc="-15" baseline="27777" dirty="0">
                <a:latin typeface="Georgia"/>
                <a:cs typeface="Georgia"/>
              </a:rPr>
              <a:t>2</a:t>
            </a:r>
            <a:r>
              <a:rPr sz="1100" spc="-10" dirty="0">
                <a:latin typeface="Times New Roman"/>
                <a:cs typeface="Times New Roman"/>
              </a:rPr>
              <a:t>)</a:t>
            </a:r>
            <a:r>
              <a:rPr sz="1100" spc="-10" dirty="0">
                <a:latin typeface="Georgia"/>
                <a:cs typeface="Georgia"/>
              </a:rPr>
              <a:t>. </a:t>
            </a:r>
            <a:r>
              <a:rPr sz="1100" spc="-20" dirty="0">
                <a:latin typeface="Georgia"/>
                <a:cs typeface="Georgia"/>
              </a:rPr>
              <a:t>Normally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m</a:t>
            </a:r>
            <a:r>
              <a:rPr sz="1100" i="1" spc="-10" dirty="0">
                <a:latin typeface="Georgia"/>
                <a:cs typeface="Georgia"/>
              </a:rPr>
              <a:t> </a:t>
            </a:r>
            <a:r>
              <a:rPr sz="1100" i="1" spc="125" dirty="0">
                <a:latin typeface="Georgia"/>
                <a:cs typeface="Georgia"/>
              </a:rPr>
              <a:t>&gt;</a:t>
            </a:r>
            <a:r>
              <a:rPr sz="1100" i="1" spc="-1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user–based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methods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space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item–based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ones.</a:t>
            </a:r>
            <a:endParaRPr sz="1100">
              <a:latin typeface="Georgia"/>
              <a:cs typeface="Georgia"/>
            </a:endParaRPr>
          </a:p>
          <a:p>
            <a:pPr marL="38100" algn="just">
              <a:lnSpc>
                <a:spcPct val="100000"/>
              </a:lnSpc>
              <a:spcBef>
                <a:spcPts val="420"/>
              </a:spcBef>
            </a:pPr>
            <a:r>
              <a:rPr sz="1100" b="1" spc="-30" dirty="0">
                <a:latin typeface="Georgia"/>
                <a:cs typeface="Georgia"/>
              </a:rPr>
              <a:t>Online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phase</a:t>
            </a:r>
            <a:r>
              <a:rPr sz="1100" spc="-1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Let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k</a:t>
            </a:r>
            <a:r>
              <a:rPr sz="1000" i="1" spc="19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size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user/item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neighborhood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prediction.</a:t>
            </a:r>
            <a:endParaRPr sz="1000">
              <a:latin typeface="Times New Roman"/>
              <a:cs typeface="Times New Roman"/>
            </a:endParaRPr>
          </a:p>
          <a:p>
            <a:pPr marL="314960" marR="210820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complexity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rank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all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target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user: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O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k</a:t>
            </a:r>
            <a:r>
              <a:rPr sz="1000" i="1" spc="85" dirty="0">
                <a:latin typeface="Georgia"/>
                <a:cs typeface="Georgia"/>
              </a:rPr>
              <a:t> </a:t>
            </a:r>
            <a:r>
              <a:rPr sz="1000" i="1" spc="-85" dirty="0">
                <a:latin typeface="Meiryo UI"/>
                <a:cs typeface="Meiryo UI"/>
              </a:rPr>
              <a:t>·</a:t>
            </a:r>
            <a:r>
              <a:rPr sz="1000" i="1" spc="-60" dirty="0">
                <a:latin typeface="Meiryo UI"/>
                <a:cs typeface="Meiryo UI"/>
              </a:rPr>
              <a:t> </a:t>
            </a:r>
            <a:r>
              <a:rPr sz="1000" i="1" dirty="0">
                <a:latin typeface="Georgia"/>
                <a:cs typeface="Georgia"/>
              </a:rPr>
              <a:t>n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(user–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item–based). 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complexity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rank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all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specific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item: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O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k</a:t>
            </a:r>
            <a:r>
              <a:rPr sz="1000" i="1" spc="70" dirty="0">
                <a:latin typeface="Georgia"/>
                <a:cs typeface="Georgia"/>
              </a:rPr>
              <a:t> </a:t>
            </a:r>
            <a:r>
              <a:rPr sz="1000" i="1" spc="-85" dirty="0">
                <a:latin typeface="Meiryo UI"/>
                <a:cs typeface="Meiryo UI"/>
              </a:rPr>
              <a:t>·</a:t>
            </a:r>
            <a:r>
              <a:rPr sz="1000" i="1" spc="-70" dirty="0">
                <a:latin typeface="Meiryo UI"/>
                <a:cs typeface="Meiryo UI"/>
              </a:rPr>
              <a:t> </a:t>
            </a:r>
            <a:r>
              <a:rPr sz="1000" i="1" spc="-25" dirty="0">
                <a:latin typeface="Georgia"/>
                <a:cs typeface="Georgia"/>
              </a:rPr>
              <a:t>m</a:t>
            </a:r>
            <a:r>
              <a:rPr sz="1000" spc="-25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  <a:p>
            <a:pPr marL="38100" algn="just">
              <a:lnSpc>
                <a:spcPct val="100000"/>
              </a:lnSpc>
              <a:spcBef>
                <a:spcPts val="775"/>
              </a:spcBef>
            </a:pPr>
            <a:r>
              <a:rPr sz="1100" dirty="0">
                <a:latin typeface="Georgia"/>
                <a:cs typeface="Georgia"/>
              </a:rPr>
              <a:t>Time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complexity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offline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phase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much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larger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online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phase.</a:t>
            </a:r>
            <a:endParaRPr sz="1100">
              <a:latin typeface="Georgia"/>
              <a:cs typeface="Georgia"/>
            </a:endParaRPr>
          </a:p>
          <a:p>
            <a:pPr marL="38100" marR="30480" algn="just">
              <a:lnSpc>
                <a:spcPts val="1150"/>
              </a:lnSpc>
              <a:spcBef>
                <a:spcPts val="740"/>
              </a:spcBef>
            </a:pPr>
            <a:r>
              <a:rPr sz="1100" dirty="0">
                <a:latin typeface="Georgia"/>
                <a:cs typeface="Georgia"/>
              </a:rPr>
              <a:t>In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real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implementation,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various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pre–computing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caching</a:t>
            </a:r>
            <a:r>
              <a:rPr sz="1100" b="1" spc="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techniques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should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be </a:t>
            </a:r>
            <a:r>
              <a:rPr sz="1100" spc="-20" dirty="0">
                <a:latin typeface="Georgia"/>
                <a:cs typeface="Georgia"/>
              </a:rPr>
              <a:t>used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accelerate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phase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phase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Georgia"/>
                <a:cs typeface="Georgia"/>
              </a:rPr>
              <a:t>(need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near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real–time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recommendation).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7972" y="223478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7972" y="247300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4" name="object 14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56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Comparing</a:t>
            </a:r>
            <a:r>
              <a:rPr spc="240" dirty="0"/>
              <a:t> </a:t>
            </a:r>
            <a:r>
              <a:rPr dirty="0"/>
              <a:t>user–based</a:t>
            </a:r>
            <a:r>
              <a:rPr spc="240" dirty="0"/>
              <a:t> </a:t>
            </a:r>
            <a:r>
              <a:rPr spc="50" dirty="0"/>
              <a:t>and</a:t>
            </a:r>
            <a:r>
              <a:rPr spc="245" dirty="0"/>
              <a:t> </a:t>
            </a:r>
            <a:r>
              <a:rPr dirty="0"/>
              <a:t>item–based</a:t>
            </a:r>
            <a:r>
              <a:rPr spc="24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44481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65209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83515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06062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26790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49338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70065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192613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13340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70363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4177" y="300802"/>
            <a:ext cx="5128895" cy="275399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spc="-40" dirty="0">
                <a:latin typeface="Georgia"/>
                <a:cs typeface="Georgia"/>
              </a:rPr>
              <a:t>Item–based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methods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often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provide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more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relevant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recommendations.</a:t>
            </a:r>
            <a:endParaRPr sz="1100">
              <a:latin typeface="Georgia"/>
              <a:cs typeface="Georgia"/>
            </a:endParaRPr>
          </a:p>
          <a:p>
            <a:pPr marL="289560" marR="135255">
              <a:lnSpc>
                <a:spcPct val="120100"/>
              </a:lnSpc>
              <a:spcBef>
                <a:spcPts val="130"/>
              </a:spcBef>
            </a:pPr>
            <a:r>
              <a:rPr sz="1000" dirty="0">
                <a:latin typeface="Times New Roman"/>
                <a:cs typeface="Times New Roman"/>
              </a:rPr>
              <a:t>Because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user’s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own</a:t>
            </a:r>
            <a:r>
              <a:rPr sz="1000" b="1" spc="14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directly</a:t>
            </a:r>
            <a:r>
              <a:rPr sz="1000" b="1" spc="165" dirty="0">
                <a:latin typeface="Georgia"/>
                <a:cs typeface="Georgia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perform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recommendation. </a:t>
            </a:r>
            <a:r>
              <a:rPr sz="1000" spc="20" dirty="0">
                <a:latin typeface="Times New Roman"/>
                <a:cs typeface="Times New Roman"/>
              </a:rPr>
              <a:t>User–based: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ratings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are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extrapolated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from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other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users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(may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have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different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interests).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-45" dirty="0">
                <a:latin typeface="Georgia"/>
                <a:cs typeface="Georgia"/>
              </a:rPr>
              <a:t>User–based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methods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may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provide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more</a:t>
            </a:r>
            <a:r>
              <a:rPr sz="1100" b="1" spc="4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diverse</a:t>
            </a:r>
            <a:r>
              <a:rPr sz="1100" b="1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novel</a:t>
            </a:r>
            <a:r>
              <a:rPr sz="1100" b="1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recommendations.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370"/>
              </a:spcBef>
            </a:pPr>
            <a:r>
              <a:rPr sz="1000" dirty="0">
                <a:latin typeface="Times New Roman"/>
                <a:cs typeface="Times New Roman"/>
              </a:rPr>
              <a:t>Novelty,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diversity,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serendipity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mean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surprising,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interesting,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discovery.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100" spc="-40" dirty="0">
                <a:latin typeface="Georgia"/>
                <a:cs typeface="Georgia"/>
              </a:rPr>
              <a:t>Item–based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methods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provide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concrete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reasons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recommendations,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e.g.: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370"/>
              </a:spcBef>
            </a:pPr>
            <a:r>
              <a:rPr sz="1000" dirty="0">
                <a:latin typeface="Cambria"/>
                <a:cs typeface="Cambria"/>
              </a:rPr>
              <a:t>Because</a:t>
            </a:r>
            <a:r>
              <a:rPr sz="1000" spc="315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you</a:t>
            </a:r>
            <a:r>
              <a:rPr sz="1000" spc="315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watched</a:t>
            </a:r>
            <a:r>
              <a:rPr sz="1000" spc="315" dirty="0">
                <a:latin typeface="Cambria"/>
                <a:cs typeface="Cambria"/>
              </a:rPr>
              <a:t> </a:t>
            </a:r>
            <a:r>
              <a:rPr sz="1000" spc="80" dirty="0">
                <a:latin typeface="Cambria"/>
                <a:cs typeface="Cambria"/>
              </a:rPr>
              <a:t>“Secrets</a:t>
            </a:r>
            <a:r>
              <a:rPr sz="1000" spc="320" dirty="0">
                <a:latin typeface="Cambria"/>
                <a:cs typeface="Cambria"/>
              </a:rPr>
              <a:t> </a:t>
            </a:r>
            <a:r>
              <a:rPr sz="1000" spc="100" dirty="0">
                <a:latin typeface="Cambria"/>
                <a:cs typeface="Cambria"/>
              </a:rPr>
              <a:t>of</a:t>
            </a:r>
            <a:r>
              <a:rPr sz="1000" spc="315" dirty="0">
                <a:latin typeface="Cambria"/>
                <a:cs typeface="Cambria"/>
              </a:rPr>
              <a:t> </a:t>
            </a:r>
            <a:r>
              <a:rPr sz="1000" spc="60" dirty="0">
                <a:latin typeface="Cambria"/>
                <a:cs typeface="Cambria"/>
              </a:rPr>
              <a:t>the</a:t>
            </a:r>
            <a:r>
              <a:rPr sz="1000" spc="315" dirty="0">
                <a:latin typeface="Cambria"/>
                <a:cs typeface="Cambria"/>
              </a:rPr>
              <a:t> </a:t>
            </a:r>
            <a:r>
              <a:rPr sz="1000" spc="50" dirty="0">
                <a:latin typeface="Cambria"/>
                <a:cs typeface="Cambria"/>
              </a:rPr>
              <a:t>Wings”,</a:t>
            </a:r>
            <a:r>
              <a:rPr sz="1000" spc="315" dirty="0">
                <a:latin typeface="Cambria"/>
                <a:cs typeface="Cambria"/>
              </a:rPr>
              <a:t> </a:t>
            </a:r>
            <a:r>
              <a:rPr sz="1000" spc="60" dirty="0">
                <a:latin typeface="Cambria"/>
                <a:cs typeface="Cambria"/>
              </a:rPr>
              <a:t>the</a:t>
            </a:r>
            <a:r>
              <a:rPr sz="1000" spc="320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recommendations</a:t>
            </a:r>
            <a:r>
              <a:rPr sz="1000" spc="315" dirty="0">
                <a:latin typeface="Cambria"/>
                <a:cs typeface="Cambria"/>
              </a:rPr>
              <a:t> </a:t>
            </a:r>
            <a:r>
              <a:rPr sz="1000" spc="55" dirty="0">
                <a:latin typeface="Cambria"/>
                <a:cs typeface="Cambria"/>
              </a:rPr>
              <a:t>are</a:t>
            </a:r>
            <a:r>
              <a:rPr sz="1000" spc="120" dirty="0">
                <a:latin typeface="Cambria"/>
                <a:cs typeface="Cambria"/>
              </a:rPr>
              <a:t> </a:t>
            </a:r>
            <a:r>
              <a:rPr sz="1000" i="1" dirty="0">
                <a:latin typeface="Georgia"/>
                <a:cs typeface="Georgia"/>
              </a:rPr>
              <a:t>.</a:t>
            </a:r>
            <a:r>
              <a:rPr sz="1000" i="1" spc="-70" dirty="0">
                <a:latin typeface="Georgia"/>
                <a:cs typeface="Georgia"/>
              </a:rPr>
              <a:t> </a:t>
            </a:r>
            <a:r>
              <a:rPr sz="1000" i="1" dirty="0">
                <a:latin typeface="Georgia"/>
                <a:cs typeface="Georgia"/>
              </a:rPr>
              <a:t>.</a:t>
            </a:r>
            <a:r>
              <a:rPr sz="1000" i="1" spc="-70" dirty="0">
                <a:latin typeface="Georgia"/>
                <a:cs typeface="Georgia"/>
              </a:rPr>
              <a:t> </a:t>
            </a:r>
            <a:r>
              <a:rPr sz="1000" i="1" spc="-5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-40" dirty="0">
                <a:latin typeface="Georgia"/>
                <a:cs typeface="Georgia"/>
              </a:rPr>
              <a:t>Item–based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methods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more</a:t>
            </a:r>
            <a:r>
              <a:rPr sz="1100" b="1" spc="6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stable</a:t>
            </a:r>
            <a:r>
              <a:rPr sz="1100" b="1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changes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because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ts val="1019"/>
              </a:lnSpc>
              <a:spcBef>
                <a:spcPts val="55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generally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much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larger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items:</a:t>
            </a:r>
            <a:r>
              <a:rPr sz="1000" spc="2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two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may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very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small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mutually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while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two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likely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a</a:t>
            </a:r>
            <a:r>
              <a:rPr sz="1000" dirty="0">
                <a:latin typeface="Times New Roman"/>
                <a:cs typeface="Times New Roman"/>
              </a:rPr>
              <a:t> large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co–rating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them.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Thus,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user–based,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adding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few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can </a:t>
            </a:r>
            <a:r>
              <a:rPr sz="1000" dirty="0">
                <a:latin typeface="Times New Roman"/>
                <a:cs typeface="Times New Roman"/>
              </a:rPr>
              <a:t>change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significantly.</a:t>
            </a:r>
            <a:endParaRPr sz="1000">
              <a:latin typeface="Times New Roman"/>
              <a:cs typeface="Times New Roman"/>
            </a:endParaRPr>
          </a:p>
          <a:p>
            <a:pPr marL="289560" marR="187960">
              <a:lnSpc>
                <a:spcPts val="1019"/>
              </a:lnSpc>
              <a:spcBef>
                <a:spcPts val="409"/>
              </a:spcBef>
            </a:pPr>
            <a:r>
              <a:rPr sz="1000" dirty="0">
                <a:latin typeface="Times New Roman"/>
                <a:cs typeface="Times New Roman"/>
              </a:rPr>
              <a:t>New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likely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added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frequently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new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items.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Thus,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stable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those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users.</a:t>
            </a:r>
            <a:r>
              <a:rPr sz="1000" spc="3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also </a:t>
            </a:r>
            <a:r>
              <a:rPr sz="1000" spc="20" dirty="0">
                <a:latin typeface="Times New Roman"/>
                <a:cs typeface="Times New Roman"/>
              </a:rPr>
              <a:t>leads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less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re–computation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frequency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for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item–based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methods.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5" name="object 1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57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Pros</a:t>
            </a:r>
            <a:r>
              <a:rPr spc="195" dirty="0"/>
              <a:t> </a:t>
            </a:r>
            <a:r>
              <a:rPr spc="50" dirty="0"/>
              <a:t>and</a:t>
            </a:r>
            <a:r>
              <a:rPr spc="190" dirty="0"/>
              <a:t> </a:t>
            </a:r>
            <a:r>
              <a:rPr dirty="0"/>
              <a:t>cons</a:t>
            </a:r>
            <a:r>
              <a:rPr spc="200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dirty="0"/>
              <a:t>neighborhood–based</a:t>
            </a:r>
            <a:r>
              <a:rPr spc="19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89297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110652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28957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47262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65568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89682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11035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29341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68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b="1" spc="-10" dirty="0">
                <a:latin typeface="Georgia"/>
                <a:cs typeface="Georgia"/>
              </a:rPr>
              <a:t>Strengths</a:t>
            </a:r>
            <a:r>
              <a:rPr spc="-10" dirty="0"/>
              <a:t>:</a:t>
            </a: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Simplicity:</a:t>
            </a:r>
            <a:r>
              <a:rPr sz="1000" spc="3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easy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implement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debug.</a:t>
            </a:r>
            <a:endParaRPr sz="1000">
              <a:latin typeface="Times New Roman"/>
              <a:cs typeface="Times New Roman"/>
            </a:endParaRPr>
          </a:p>
          <a:p>
            <a:pPr marL="289560" marR="447040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intuitive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approach: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easy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justify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why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specific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recommended. </a:t>
            </a:r>
            <a:r>
              <a:rPr sz="1000" dirty="0">
                <a:latin typeface="Times New Roman"/>
                <a:cs typeface="Times New Roman"/>
              </a:rPr>
              <a:t>Relatively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stable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addition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new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items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users.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4"/>
              </a:spcBef>
            </a:pPr>
            <a:r>
              <a:rPr sz="1000" dirty="0">
                <a:latin typeface="Times New Roman"/>
                <a:cs typeface="Times New Roman"/>
              </a:rPr>
              <a:t>Incremental:</a:t>
            </a:r>
            <a:r>
              <a:rPr sz="1000" spc="3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easy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expand.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b="1" spc="-10" dirty="0">
                <a:latin typeface="Georgia"/>
                <a:cs typeface="Georgia"/>
              </a:rPr>
              <a:t>Weaknesses</a:t>
            </a:r>
            <a:r>
              <a:rPr spc="-10" dirty="0"/>
              <a:t>:</a:t>
            </a:r>
          </a:p>
          <a:p>
            <a:pPr marL="289560" marR="5080">
              <a:lnSpc>
                <a:spcPct val="120100"/>
              </a:lnSpc>
              <a:spcBef>
                <a:spcPts val="175"/>
              </a:spcBef>
            </a:pPr>
            <a:r>
              <a:rPr sz="1000" dirty="0">
                <a:latin typeface="Times New Roman"/>
                <a:cs typeface="Times New Roman"/>
              </a:rPr>
              <a:t>Computation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expensive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large–scale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settings,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especially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offline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phase. </a:t>
            </a:r>
            <a:r>
              <a:rPr sz="1000" dirty="0">
                <a:latin typeface="Times New Roman"/>
                <a:cs typeface="Times New Roman"/>
              </a:rPr>
              <a:t>Likely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low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coverage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due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data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sparsity.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3" name="object 13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58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Neighborhood–based</a:t>
            </a:r>
            <a:r>
              <a:rPr spc="275" dirty="0"/>
              <a:t> </a:t>
            </a:r>
            <a:r>
              <a:rPr spc="75" dirty="0"/>
              <a:t>CF</a:t>
            </a:r>
            <a:r>
              <a:rPr spc="280" dirty="0"/>
              <a:t> </a:t>
            </a:r>
            <a:r>
              <a:rPr dirty="0"/>
              <a:t>recommender</a:t>
            </a:r>
            <a:r>
              <a:rPr spc="28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1153642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39186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1630083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1868297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9016" y="1011044"/>
            <a:ext cx="3394075" cy="9785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56845" indent="-144145">
              <a:lnSpc>
                <a:spcPct val="100000"/>
              </a:lnSpc>
              <a:spcBef>
                <a:spcPts val="6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10" dirty="0">
                <a:latin typeface="Georgia"/>
                <a:cs typeface="Georgia"/>
              </a:rPr>
              <a:t>Predicting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b="1" spc="-25" dirty="0">
                <a:solidFill>
                  <a:srgbClr val="0000FF"/>
                </a:solidFill>
                <a:latin typeface="Georgia"/>
                <a:cs typeface="Georgia"/>
              </a:rPr>
              <a:t>Clustering</a:t>
            </a:r>
            <a:r>
              <a:rPr sz="1100" b="1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Georgia"/>
                <a:cs typeface="Georgia"/>
              </a:rPr>
              <a:t>and</a:t>
            </a:r>
            <a:r>
              <a:rPr sz="1100" b="1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60" dirty="0">
                <a:solidFill>
                  <a:srgbClr val="0000FF"/>
                </a:solidFill>
                <a:latin typeface="Georgia"/>
                <a:cs typeface="Georgia"/>
              </a:rPr>
              <a:t>neighborhood–based</a:t>
            </a:r>
            <a:r>
              <a:rPr sz="1100" b="1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35" dirty="0">
                <a:latin typeface="Georgia"/>
                <a:cs typeface="Georgia"/>
              </a:rPr>
              <a:t>Dimensionality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reduction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neighborhood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dirty="0">
                <a:latin typeface="Georgia"/>
                <a:cs typeface="Georgia"/>
              </a:rPr>
              <a:t>Graph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models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59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Clustering</a:t>
            </a:r>
            <a:r>
              <a:rPr spc="300" dirty="0"/>
              <a:t> </a:t>
            </a:r>
            <a:r>
              <a:rPr spc="50" dirty="0"/>
              <a:t>and</a:t>
            </a:r>
            <a:r>
              <a:rPr spc="300" dirty="0"/>
              <a:t> </a:t>
            </a:r>
            <a:r>
              <a:rPr dirty="0"/>
              <a:t>neighborhood–based</a:t>
            </a:r>
            <a:r>
              <a:rPr spc="30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47875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70581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90708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14821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36175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54481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72787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191091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215206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36560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0229" y="254866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0229" y="273170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0229" y="291476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90677" y="313070"/>
            <a:ext cx="5189220" cy="26943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675"/>
              </a:spcBef>
            </a:pPr>
            <a:r>
              <a:rPr sz="1100" spc="-10" dirty="0">
                <a:latin typeface="Georgia"/>
                <a:cs typeface="Georgia"/>
              </a:rPr>
              <a:t>Main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problem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neighborhood–based: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huge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complexity</a:t>
            </a:r>
            <a:r>
              <a:rPr sz="1100" b="1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offline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phase:</a:t>
            </a:r>
            <a:endParaRPr sz="1100">
              <a:latin typeface="Georgia"/>
              <a:cs typeface="Georgia"/>
            </a:endParaRPr>
          </a:p>
          <a:p>
            <a:pPr marL="353060" marR="555625">
              <a:lnSpc>
                <a:spcPct val="132100"/>
              </a:lnSpc>
              <a:spcBef>
                <a:spcPts val="140"/>
              </a:spcBef>
            </a:pPr>
            <a:r>
              <a:rPr sz="1000" i="1" dirty="0">
                <a:latin typeface="Georgia"/>
                <a:cs typeface="Georgia"/>
              </a:rPr>
              <a:t>O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50" baseline="27777" dirty="0">
                <a:latin typeface="Tahoma"/>
                <a:cs typeface="Tahoma"/>
              </a:rPr>
              <a:t>2</a:t>
            </a:r>
            <a:r>
              <a:rPr sz="1050" spc="135" baseline="27777" dirty="0">
                <a:latin typeface="Tahoma"/>
                <a:cs typeface="Tahoma"/>
              </a:rPr>
              <a:t> </a:t>
            </a:r>
            <a:r>
              <a:rPr sz="1000" i="1" spc="-85" dirty="0">
                <a:latin typeface="Meiryo UI"/>
                <a:cs typeface="Meiryo UI"/>
              </a:rPr>
              <a:t>·</a:t>
            </a:r>
            <a:r>
              <a:rPr sz="1000" i="1" spc="-90" dirty="0">
                <a:latin typeface="Meiryo UI"/>
                <a:cs typeface="Meiryo UI"/>
              </a:rPr>
              <a:t> </a:t>
            </a:r>
            <a:r>
              <a:rPr sz="1000" i="1" spc="50" dirty="0">
                <a:latin typeface="Georgia"/>
                <a:cs typeface="Georgia"/>
              </a:rPr>
              <a:t>n</a:t>
            </a:r>
            <a:r>
              <a:rPr sz="1050" i="1" spc="75" baseline="27777" dirty="0">
                <a:latin typeface="Meiryo UI"/>
                <a:cs typeface="Meiryo UI"/>
              </a:rPr>
              <a:t>′</a:t>
            </a:r>
            <a:r>
              <a:rPr sz="1000" spc="50" dirty="0">
                <a:latin typeface="Times New Roman"/>
                <a:cs typeface="Times New Roman"/>
              </a:rPr>
              <a:t>)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impractical</a:t>
            </a:r>
            <a:r>
              <a:rPr sz="1000" b="1" spc="12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if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00" i="1" spc="14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few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hundred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million. </a:t>
            </a:r>
            <a:r>
              <a:rPr sz="1000" dirty="0">
                <a:latin typeface="Times New Roman"/>
                <a:cs typeface="Times New Roman"/>
              </a:rPr>
              <a:t>E.g.: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00" i="1" spc="65" dirty="0">
                <a:latin typeface="Georgia"/>
                <a:cs typeface="Georgia"/>
              </a:rPr>
              <a:t> </a:t>
            </a:r>
            <a:r>
              <a:rPr sz="1000" spc="204" dirty="0">
                <a:latin typeface="Times New Roman"/>
                <a:cs typeface="Times New Roman"/>
              </a:rPr>
              <a:t>=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10</a:t>
            </a:r>
            <a:r>
              <a:rPr sz="1050" baseline="27777" dirty="0">
                <a:latin typeface="Tahoma"/>
                <a:cs typeface="Tahoma"/>
              </a:rPr>
              <a:t>8</a:t>
            </a:r>
            <a:r>
              <a:rPr sz="1050" spc="307" baseline="27777" dirty="0">
                <a:latin typeface="Tahoma"/>
                <a:cs typeface="Tahom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n</a:t>
            </a:r>
            <a:r>
              <a:rPr sz="1050" i="1" baseline="27777" dirty="0">
                <a:latin typeface="Meiryo UI"/>
                <a:cs typeface="Meiryo UI"/>
              </a:rPr>
              <a:t>′</a:t>
            </a:r>
            <a:r>
              <a:rPr sz="1050" i="1" spc="179" baseline="27777" dirty="0">
                <a:latin typeface="Meiryo UI"/>
                <a:cs typeface="Meiryo UI"/>
              </a:rPr>
              <a:t> </a:t>
            </a:r>
            <a:r>
              <a:rPr sz="1000" spc="204" dirty="0">
                <a:latin typeface="Times New Roman"/>
                <a:cs typeface="Times New Roman"/>
              </a:rPr>
              <a:t>=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100,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O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50" baseline="27777" dirty="0">
                <a:latin typeface="Tahoma"/>
                <a:cs typeface="Tahoma"/>
              </a:rPr>
              <a:t>2</a:t>
            </a:r>
            <a:r>
              <a:rPr sz="1050" spc="120" baseline="27777" dirty="0">
                <a:latin typeface="Tahoma"/>
                <a:cs typeface="Tahoma"/>
              </a:rPr>
              <a:t> </a:t>
            </a:r>
            <a:r>
              <a:rPr sz="1000" i="1" spc="-85" dirty="0">
                <a:latin typeface="Meiryo UI"/>
                <a:cs typeface="Meiryo UI"/>
              </a:rPr>
              <a:t>·</a:t>
            </a:r>
            <a:r>
              <a:rPr sz="1000" i="1" spc="-95" dirty="0">
                <a:latin typeface="Meiryo UI"/>
                <a:cs typeface="Meiryo UI"/>
              </a:rPr>
              <a:t> </a:t>
            </a:r>
            <a:r>
              <a:rPr sz="1000" i="1" spc="50" dirty="0">
                <a:latin typeface="Georgia"/>
                <a:cs typeface="Georgia"/>
              </a:rPr>
              <a:t>n</a:t>
            </a:r>
            <a:r>
              <a:rPr sz="1050" i="1" spc="75" baseline="27777" dirty="0">
                <a:latin typeface="Meiryo UI"/>
                <a:cs typeface="Meiryo UI"/>
              </a:rPr>
              <a:t>′</a:t>
            </a:r>
            <a:r>
              <a:rPr sz="1000" spc="50" dirty="0">
                <a:latin typeface="Times New Roman"/>
                <a:cs typeface="Times New Roman"/>
              </a:rPr>
              <a:t>)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spc="204" dirty="0">
                <a:latin typeface="Times New Roman"/>
                <a:cs typeface="Times New Roman"/>
              </a:rPr>
              <a:t>=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Georgia"/>
                <a:cs typeface="Georgia"/>
              </a:rPr>
              <a:t>O</a:t>
            </a:r>
            <a:r>
              <a:rPr sz="1000" spc="-10" dirty="0">
                <a:latin typeface="Times New Roman"/>
                <a:cs typeface="Times New Roman"/>
              </a:rPr>
              <a:t>(10</a:t>
            </a:r>
            <a:r>
              <a:rPr sz="1050" spc="-15" baseline="27777" dirty="0">
                <a:latin typeface="Tahoma"/>
                <a:cs typeface="Tahoma"/>
              </a:rPr>
              <a:t>18</a:t>
            </a:r>
            <a:r>
              <a:rPr sz="1000" spc="-10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640"/>
              </a:spcBef>
            </a:pPr>
            <a:r>
              <a:rPr sz="1100" b="1" spc="-20" dirty="0">
                <a:latin typeface="Georgia"/>
                <a:cs typeface="Georgia"/>
              </a:rPr>
              <a:t>Idea</a:t>
            </a:r>
            <a:r>
              <a:rPr sz="1100" spc="-20" dirty="0">
                <a:latin typeface="Georgia"/>
                <a:cs typeface="Georgia"/>
              </a:rPr>
              <a:t>: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replacing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offline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neighborhood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computation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offline</a:t>
            </a:r>
            <a:r>
              <a:rPr sz="1100" b="1" spc="6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clustering</a:t>
            </a:r>
            <a:r>
              <a:rPr sz="1100" spc="-1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353060" marR="403225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Problem:</a:t>
            </a:r>
            <a:r>
              <a:rPr sz="1000" spc="3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offline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nearest–neighbor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phase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creates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large</a:t>
            </a:r>
            <a:r>
              <a:rPr sz="1000" b="1" spc="18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groups. </a:t>
            </a:r>
            <a:r>
              <a:rPr sz="1000" dirty="0">
                <a:latin typeface="Times New Roman"/>
                <a:cs typeface="Times New Roman"/>
              </a:rPr>
              <a:t>Solution:</a:t>
            </a:r>
            <a:r>
              <a:rPr sz="10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clustering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process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creates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b="1" spc="-45" dirty="0">
                <a:latin typeface="Georgia"/>
                <a:cs typeface="Georgia"/>
              </a:rPr>
              <a:t>smaller</a:t>
            </a:r>
            <a:r>
              <a:rPr sz="1000" b="1" spc="17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groups.</a:t>
            </a:r>
            <a:endParaRPr sz="1000">
              <a:latin typeface="Times New Roman"/>
              <a:cs typeface="Times New Roman"/>
            </a:endParaRPr>
          </a:p>
          <a:p>
            <a:pPr marL="3530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Clustering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much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efficient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O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50" baseline="27777" dirty="0">
                <a:latin typeface="Tahoma"/>
                <a:cs typeface="Tahoma"/>
              </a:rPr>
              <a:t>2</a:t>
            </a:r>
            <a:r>
              <a:rPr sz="1050" spc="172" baseline="27777" dirty="0">
                <a:latin typeface="Tahoma"/>
                <a:cs typeface="Tahoma"/>
              </a:rPr>
              <a:t> </a:t>
            </a:r>
            <a:r>
              <a:rPr sz="1000" i="1" spc="-85" dirty="0">
                <a:latin typeface="Meiryo UI"/>
                <a:cs typeface="Meiryo UI"/>
              </a:rPr>
              <a:t>·</a:t>
            </a:r>
            <a:r>
              <a:rPr sz="1000" i="1" spc="-65" dirty="0">
                <a:latin typeface="Meiryo UI"/>
                <a:cs typeface="Meiryo UI"/>
              </a:rPr>
              <a:t> </a:t>
            </a:r>
            <a:r>
              <a:rPr sz="1000" i="1" spc="-20" dirty="0">
                <a:latin typeface="Georgia"/>
                <a:cs typeface="Georgia"/>
              </a:rPr>
              <a:t>n</a:t>
            </a:r>
            <a:r>
              <a:rPr sz="1050" i="1" spc="-30" baseline="27777" dirty="0">
                <a:latin typeface="Meiryo UI"/>
                <a:cs typeface="Meiryo UI"/>
              </a:rPr>
              <a:t>′</a:t>
            </a:r>
            <a:r>
              <a:rPr sz="1000" spc="-20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  <a:p>
            <a:pPr marL="3530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After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clustering:</a:t>
            </a:r>
            <a:r>
              <a:rPr sz="1000" spc="2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top–</a:t>
            </a:r>
            <a:r>
              <a:rPr sz="1000" i="1" dirty="0">
                <a:latin typeface="Georgia"/>
                <a:cs typeface="Georgia"/>
              </a:rPr>
              <a:t>k</a:t>
            </a:r>
            <a:r>
              <a:rPr sz="1000" i="1" spc="19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closest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within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same</a:t>
            </a:r>
            <a:r>
              <a:rPr sz="1000" b="1" spc="204" dirty="0">
                <a:latin typeface="Georgia"/>
                <a:cs typeface="Georgia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cluster</a:t>
            </a:r>
            <a:r>
              <a:rPr sz="1000" b="1" spc="16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prediction.</a:t>
            </a:r>
            <a:endParaRPr sz="1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640"/>
              </a:spcBef>
            </a:pPr>
            <a:r>
              <a:rPr sz="1100" dirty="0">
                <a:latin typeface="Georgia"/>
                <a:cs typeface="Georgia"/>
              </a:rPr>
              <a:t>Pros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cons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combining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clustering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neighborhood–based:</a:t>
            </a:r>
            <a:endParaRPr sz="1100">
              <a:latin typeface="Georgia"/>
              <a:cs typeface="Georgia"/>
            </a:endParaRPr>
          </a:p>
          <a:p>
            <a:pPr marL="353060" marR="110489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Cluster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size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much</a:t>
            </a:r>
            <a:r>
              <a:rPr sz="1000" b="1" spc="165" dirty="0">
                <a:latin typeface="Georgia"/>
                <a:cs typeface="Georgia"/>
              </a:rPr>
              <a:t> </a:t>
            </a:r>
            <a:r>
              <a:rPr sz="1000" b="1" spc="-45" dirty="0">
                <a:latin typeface="Georgia"/>
                <a:cs typeface="Georgia"/>
              </a:rPr>
              <a:t>smaller</a:t>
            </a:r>
            <a:r>
              <a:rPr sz="1000" b="1" spc="120" dirty="0">
                <a:latin typeface="Georgia"/>
                <a:cs typeface="Georgia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00" i="1" spc="13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(or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n</a:t>
            </a:r>
            <a:r>
              <a:rPr sz="1000" dirty="0">
                <a:latin typeface="Times New Roman"/>
                <a:cs typeface="Times New Roman"/>
              </a:rPr>
              <a:t>),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finding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top–</a:t>
            </a:r>
            <a:r>
              <a:rPr sz="1000" i="1" dirty="0">
                <a:latin typeface="Georgia"/>
                <a:cs typeface="Georgia"/>
              </a:rPr>
              <a:t>k</a:t>
            </a:r>
            <a:r>
              <a:rPr sz="1000" i="1" spc="16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closest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peers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efficient</a:t>
            </a:r>
            <a:r>
              <a:rPr sz="1000" spc="-10" dirty="0">
                <a:latin typeface="Times New Roman"/>
                <a:cs typeface="Times New Roman"/>
              </a:rPr>
              <a:t>. </a:t>
            </a:r>
            <a:r>
              <a:rPr sz="1000" dirty="0">
                <a:latin typeface="Times New Roman"/>
                <a:cs typeface="Times New Roman"/>
              </a:rPr>
              <a:t>Some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loss</a:t>
            </a:r>
            <a:r>
              <a:rPr sz="1000" b="1" spc="13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accuracy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due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locality</a:t>
            </a:r>
            <a:r>
              <a:rPr sz="1000" b="1" spc="14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(i.e.,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only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searching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peers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within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cluster).</a:t>
            </a:r>
            <a:endParaRPr sz="1000">
              <a:latin typeface="Times New Roman"/>
              <a:cs typeface="Times New Roman"/>
            </a:endParaRPr>
          </a:p>
          <a:p>
            <a:pPr marL="353060" marR="17780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Clusters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b="1" spc="-45" dirty="0">
                <a:latin typeface="Georgia"/>
                <a:cs typeface="Georgia"/>
              </a:rPr>
              <a:t>fine–grained</a:t>
            </a:r>
            <a:r>
              <a:rPr sz="1000" spc="-45" dirty="0">
                <a:latin typeface="Times New Roman"/>
                <a:cs typeface="Times New Roman"/>
              </a:rPr>
              <a:t>,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efficiency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improves,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but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accuracy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reduced.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many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cases,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very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large</a:t>
            </a:r>
            <a:r>
              <a:rPr sz="1000" b="1" spc="14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gains</a:t>
            </a:r>
            <a:r>
              <a:rPr sz="1000" b="1" spc="10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efficiency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only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Georgia"/>
                <a:cs typeface="Georgia"/>
              </a:rPr>
              <a:t>pay</a:t>
            </a:r>
            <a:r>
              <a:rPr sz="1000" b="1" spc="140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a</a:t>
            </a:r>
            <a:r>
              <a:rPr sz="1000" b="1" spc="145" dirty="0">
                <a:latin typeface="Georgia"/>
                <a:cs typeface="Georgia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small</a:t>
            </a:r>
            <a:r>
              <a:rPr sz="1000" b="1" spc="9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reduction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accuracy.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8" name="object 18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60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Clustering</a:t>
            </a:r>
            <a:r>
              <a:rPr spc="235" dirty="0"/>
              <a:t> </a:t>
            </a:r>
            <a:r>
              <a:rPr dirty="0"/>
              <a:t>on</a:t>
            </a:r>
            <a:r>
              <a:rPr spc="235" dirty="0"/>
              <a:t> </a:t>
            </a:r>
            <a:r>
              <a:rPr spc="55" dirty="0"/>
              <a:t>the</a:t>
            </a:r>
            <a:r>
              <a:rPr spc="235" dirty="0"/>
              <a:t> </a:t>
            </a:r>
            <a:r>
              <a:rPr dirty="0"/>
              <a:t>rating</a:t>
            </a:r>
            <a:r>
              <a:rPr spc="235" dirty="0"/>
              <a:t> </a:t>
            </a:r>
            <a:r>
              <a:rPr spc="40" dirty="0"/>
              <a:t>matrix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73193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94547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972" y="118661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40014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58320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76626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9493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26142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444500" y="610521"/>
            <a:ext cx="5090795" cy="216789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pc="-10" dirty="0"/>
              <a:t>Challenge:</a:t>
            </a:r>
            <a:r>
              <a:rPr spc="9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rating</a:t>
            </a:r>
            <a:r>
              <a:rPr spc="10" dirty="0"/>
              <a:t> </a:t>
            </a:r>
            <a:r>
              <a:rPr dirty="0"/>
              <a:t>matrix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b="1" spc="-10" dirty="0">
                <a:latin typeface="Georgia"/>
                <a:cs typeface="Georgia"/>
              </a:rPr>
              <a:t>incomplete</a:t>
            </a:r>
            <a:r>
              <a:rPr spc="-10" dirty="0"/>
              <a:t>.</a:t>
            </a: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spc="10" dirty="0">
                <a:latin typeface="Times New Roman"/>
                <a:cs typeface="Times New Roman"/>
              </a:rPr>
              <a:t>Clustering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methods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need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adapted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work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with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massively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incomplete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data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sets.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pc="-10" dirty="0"/>
              <a:t>Clustering</a:t>
            </a:r>
            <a:r>
              <a:rPr spc="20" dirty="0"/>
              <a:t> </a:t>
            </a:r>
            <a:r>
              <a:rPr spc="-25" dirty="0"/>
              <a:t>methods</a:t>
            </a:r>
            <a:r>
              <a:rPr spc="25" dirty="0"/>
              <a:t> </a:t>
            </a:r>
            <a:r>
              <a:rPr spc="-20" dirty="0"/>
              <a:t>like</a:t>
            </a:r>
            <a:r>
              <a:rPr spc="20" dirty="0"/>
              <a:t> </a:t>
            </a:r>
            <a:r>
              <a:rPr i="1" spc="-60" dirty="0">
                <a:latin typeface="Georgia"/>
                <a:cs typeface="Georgia"/>
              </a:rPr>
              <a:t>k</a:t>
            </a:r>
            <a:r>
              <a:rPr b="1" spc="-60" dirty="0">
                <a:latin typeface="Georgia"/>
                <a:cs typeface="Georgia"/>
              </a:rPr>
              <a:t>–means</a:t>
            </a:r>
            <a:r>
              <a:rPr b="1" spc="10" dirty="0">
                <a:latin typeface="Georgia"/>
                <a:cs typeface="Georgia"/>
              </a:rPr>
              <a:t> </a:t>
            </a:r>
            <a:r>
              <a:rPr dirty="0"/>
              <a:t>can</a:t>
            </a:r>
            <a:r>
              <a:rPr spc="25" dirty="0"/>
              <a:t> </a:t>
            </a:r>
            <a:r>
              <a:rPr dirty="0"/>
              <a:t>be</a:t>
            </a:r>
            <a:r>
              <a:rPr spc="20" dirty="0"/>
              <a:t> </a:t>
            </a:r>
            <a:r>
              <a:rPr spc="-10" dirty="0"/>
              <a:t>easily</a:t>
            </a:r>
            <a:r>
              <a:rPr spc="25" dirty="0"/>
              <a:t> </a:t>
            </a:r>
            <a:r>
              <a:rPr dirty="0"/>
              <a:t>adapted</a:t>
            </a:r>
            <a:r>
              <a:rPr spc="25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spc="-30" dirty="0"/>
              <a:t>incomplete</a:t>
            </a:r>
            <a:r>
              <a:rPr spc="25" dirty="0"/>
              <a:t> </a:t>
            </a:r>
            <a:r>
              <a:rPr spc="-10" dirty="0"/>
              <a:t>data.</a:t>
            </a: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Problem: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00" i="1" spc="55" dirty="0">
                <a:latin typeface="Georgia"/>
                <a:cs typeface="Georgia"/>
              </a:rPr>
              <a:t> </a:t>
            </a:r>
            <a:r>
              <a:rPr sz="1000" i="1" spc="-40" dirty="0">
                <a:latin typeface="Meiryo UI"/>
                <a:cs typeface="Meiryo UI"/>
              </a:rPr>
              <a:t>×</a:t>
            </a:r>
            <a:r>
              <a:rPr sz="1000" i="1" spc="-45" dirty="0">
                <a:latin typeface="Meiryo UI"/>
                <a:cs typeface="Meiryo UI"/>
              </a:rPr>
              <a:t> </a:t>
            </a:r>
            <a:r>
              <a:rPr sz="1000" i="1" dirty="0">
                <a:latin typeface="Georgia"/>
                <a:cs typeface="Georgia"/>
              </a:rPr>
              <a:t>n</a:t>
            </a:r>
            <a:r>
              <a:rPr sz="1000" i="1" spc="204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matrix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incomplete.</a:t>
            </a:r>
            <a:endParaRPr sz="1000">
              <a:latin typeface="Times New Roman"/>
              <a:cs typeface="Times New Roman"/>
            </a:endParaRPr>
          </a:p>
          <a:p>
            <a:pPr marL="289560" marR="295275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Computation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mean</a:t>
            </a:r>
            <a:r>
              <a:rPr sz="1000" b="1" spc="16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distance</a:t>
            </a:r>
            <a:r>
              <a:rPr sz="1000" b="1" spc="215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values</a:t>
            </a:r>
            <a:r>
              <a:rPr sz="1000" b="1" spc="16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becomes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undefined</a:t>
            </a:r>
            <a:r>
              <a:rPr sz="1000" spc="-10" dirty="0">
                <a:latin typeface="Times New Roman"/>
                <a:cs typeface="Times New Roman"/>
              </a:rPr>
              <a:t>. </a:t>
            </a:r>
            <a:r>
              <a:rPr sz="1000" dirty="0">
                <a:latin typeface="Times New Roman"/>
                <a:cs typeface="Times New Roman"/>
              </a:rPr>
              <a:t>Solution: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means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only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observed</a:t>
            </a:r>
            <a:r>
              <a:rPr sz="1000" b="1" spc="225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values</a:t>
            </a:r>
            <a:r>
              <a:rPr sz="1000" b="1" spc="17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within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cluster.</a:t>
            </a:r>
            <a:endParaRPr sz="1000">
              <a:latin typeface="Times New Roman"/>
              <a:cs typeface="Times New Roman"/>
            </a:endParaRPr>
          </a:p>
          <a:p>
            <a:pPr marL="289560" marR="50165">
              <a:lnSpc>
                <a:spcPts val="1019"/>
              </a:lnSpc>
              <a:spcBef>
                <a:spcPts val="42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distance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computed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only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subset</a:t>
            </a:r>
            <a:r>
              <a:rPr sz="1000" b="1" spc="204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of</a:t>
            </a:r>
            <a:r>
              <a:rPr sz="1000" b="1" spc="204" dirty="0">
                <a:latin typeface="Georgia"/>
                <a:cs typeface="Georgia"/>
              </a:rPr>
              <a:t> </a:t>
            </a:r>
            <a:r>
              <a:rPr sz="1000" b="1" spc="-45" dirty="0">
                <a:latin typeface="Georgia"/>
                <a:cs typeface="Georgia"/>
              </a:rPr>
              <a:t>dimensions</a:t>
            </a:r>
            <a:r>
              <a:rPr sz="1000" spc="-45" dirty="0">
                <a:latin typeface="Times New Roman"/>
                <a:cs typeface="Times New Roman"/>
              </a:rPr>
              <a:t>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are </a:t>
            </a:r>
            <a:r>
              <a:rPr sz="1000" dirty="0">
                <a:latin typeface="Times New Roman"/>
                <a:cs typeface="Times New Roman"/>
              </a:rPr>
              <a:t>specified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both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data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point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cluster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representative.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35"/>
              </a:spcBef>
            </a:pPr>
            <a:r>
              <a:rPr sz="1000" b="1" spc="-20" dirty="0">
                <a:latin typeface="Georgia"/>
                <a:cs typeface="Georgia"/>
              </a:rPr>
              <a:t>Manhattan</a:t>
            </a:r>
            <a:r>
              <a:rPr sz="1000" b="1" spc="14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distance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more</a:t>
            </a:r>
            <a:r>
              <a:rPr sz="1000" b="1" spc="195" dirty="0">
                <a:latin typeface="Georgia"/>
                <a:cs typeface="Georgia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appropriate</a:t>
            </a:r>
            <a:r>
              <a:rPr sz="1000" b="1" spc="145" dirty="0">
                <a:latin typeface="Georgia"/>
                <a:cs typeface="Georgia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than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Euclidean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other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distances.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pc="-10" dirty="0"/>
              <a:t>Clustering</a:t>
            </a:r>
            <a:r>
              <a:rPr spc="15" dirty="0"/>
              <a:t> </a:t>
            </a:r>
            <a:r>
              <a:rPr dirty="0"/>
              <a:t>can</a:t>
            </a:r>
            <a:r>
              <a:rPr spc="20" dirty="0"/>
              <a:t> </a:t>
            </a:r>
            <a:r>
              <a:rPr dirty="0"/>
              <a:t>be</a:t>
            </a:r>
            <a:r>
              <a:rPr spc="20" dirty="0"/>
              <a:t> </a:t>
            </a:r>
            <a:r>
              <a:rPr spc="-35" dirty="0"/>
              <a:t>performed</a:t>
            </a:r>
            <a:r>
              <a:rPr spc="15" dirty="0"/>
              <a:t> </a:t>
            </a:r>
            <a:r>
              <a:rPr dirty="0"/>
              <a:t>for</a:t>
            </a:r>
            <a:r>
              <a:rPr spc="20" dirty="0"/>
              <a:t> </a:t>
            </a:r>
            <a:r>
              <a:rPr dirty="0"/>
              <a:t>both</a:t>
            </a:r>
            <a:r>
              <a:rPr spc="15" dirty="0"/>
              <a:t> </a:t>
            </a:r>
            <a:r>
              <a:rPr b="1" spc="-55" dirty="0">
                <a:latin typeface="Georgia"/>
                <a:cs typeface="Georgia"/>
              </a:rPr>
              <a:t>users</a:t>
            </a:r>
            <a:r>
              <a:rPr b="1" spc="5" dirty="0">
                <a:latin typeface="Georgia"/>
                <a:cs typeface="Georgia"/>
              </a:rPr>
              <a:t> </a:t>
            </a:r>
            <a:r>
              <a:rPr spc="-20" dirty="0"/>
              <a:t>(rows)</a:t>
            </a:r>
            <a:r>
              <a:rPr spc="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b="1" spc="-30" dirty="0">
                <a:latin typeface="Georgia"/>
                <a:cs typeface="Georgia"/>
              </a:rPr>
              <a:t>items</a:t>
            </a:r>
            <a:r>
              <a:rPr b="1" spc="5" dirty="0">
                <a:latin typeface="Georgia"/>
                <a:cs typeface="Georgia"/>
              </a:rPr>
              <a:t> </a:t>
            </a:r>
            <a:r>
              <a:rPr spc="-10" dirty="0"/>
              <a:t>(columns).</a:t>
            </a:r>
          </a:p>
        </p:txBody>
      </p:sp>
      <p:sp>
        <p:nvSpPr>
          <p:cNvPr id="12" name="object 12"/>
          <p:cNvSpPr/>
          <p:nvPr/>
        </p:nvSpPr>
        <p:spPr>
          <a:xfrm>
            <a:off x="337972" y="251976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4" name="object 14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61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Neighborhood–based</a:t>
            </a:r>
            <a:r>
              <a:rPr spc="275" dirty="0"/>
              <a:t> </a:t>
            </a:r>
            <a:r>
              <a:rPr spc="75" dirty="0"/>
              <a:t>CF</a:t>
            </a:r>
            <a:r>
              <a:rPr spc="280" dirty="0"/>
              <a:t> </a:t>
            </a:r>
            <a:r>
              <a:rPr dirty="0"/>
              <a:t>recommender</a:t>
            </a:r>
            <a:r>
              <a:rPr spc="28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1153642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39186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1630083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1868297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9016" y="1011044"/>
            <a:ext cx="3860800" cy="9785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56845" indent="-144145">
              <a:lnSpc>
                <a:spcPct val="100000"/>
              </a:lnSpc>
              <a:spcBef>
                <a:spcPts val="6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10" dirty="0">
                <a:latin typeface="Georgia"/>
                <a:cs typeface="Georgia"/>
              </a:rPr>
              <a:t>Predicting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10" dirty="0">
                <a:latin typeface="Georgia"/>
                <a:cs typeface="Georgia"/>
              </a:rPr>
              <a:t>Clustering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b="1" spc="-35" dirty="0">
                <a:solidFill>
                  <a:srgbClr val="0000FF"/>
                </a:solidFill>
                <a:latin typeface="Georgia"/>
                <a:cs typeface="Georgia"/>
              </a:rPr>
              <a:t>Dimensionality</a:t>
            </a:r>
            <a:r>
              <a:rPr sz="1100" b="1" spc="5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40" dirty="0">
                <a:solidFill>
                  <a:srgbClr val="0000FF"/>
                </a:solidFill>
                <a:latin typeface="Georgia"/>
                <a:cs typeface="Georgia"/>
              </a:rPr>
              <a:t>reduction</a:t>
            </a:r>
            <a:r>
              <a:rPr sz="1100" b="1" spc="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Georgia"/>
                <a:cs typeface="Georgia"/>
              </a:rPr>
              <a:t>and</a:t>
            </a:r>
            <a:r>
              <a:rPr sz="1100" b="1" spc="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50" dirty="0">
                <a:solidFill>
                  <a:srgbClr val="0000FF"/>
                </a:solidFill>
                <a:latin typeface="Georgia"/>
                <a:cs typeface="Georgia"/>
              </a:rPr>
              <a:t>neighborhood</a:t>
            </a:r>
            <a:r>
              <a:rPr sz="1100" b="1" spc="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dirty="0">
                <a:latin typeface="Georgia"/>
                <a:cs typeface="Georgia"/>
              </a:rPr>
              <a:t>Graph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models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62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Dimensionality</a:t>
            </a:r>
            <a:r>
              <a:rPr spc="310" dirty="0"/>
              <a:t> </a:t>
            </a:r>
            <a:r>
              <a:rPr dirty="0"/>
              <a:t>reduction</a:t>
            </a:r>
            <a:r>
              <a:rPr spc="310" dirty="0"/>
              <a:t> </a:t>
            </a:r>
            <a:r>
              <a:rPr spc="50" dirty="0"/>
              <a:t>and</a:t>
            </a:r>
            <a:r>
              <a:rPr spc="305" dirty="0"/>
              <a:t> </a:t>
            </a:r>
            <a:r>
              <a:rPr dirty="0"/>
              <a:t>neighborhood</a:t>
            </a:r>
            <a:r>
              <a:rPr spc="31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0786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8214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00445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18751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37057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61170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82524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13735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250755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72108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4177" y="456975"/>
            <a:ext cx="4981575" cy="235712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b="1" spc="-35" dirty="0">
                <a:latin typeface="Georgia"/>
                <a:cs typeface="Georgia"/>
              </a:rPr>
              <a:t>Dimensionality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reduction</a:t>
            </a:r>
            <a:r>
              <a:rPr sz="1100" b="1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1" dirty="0">
                <a:latin typeface="Georgia"/>
                <a:cs typeface="Georgia"/>
              </a:rPr>
              <a:t>DR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improve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quality</a:t>
            </a:r>
            <a:r>
              <a:rPr sz="1100" b="1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efficiency</a:t>
            </a:r>
            <a:r>
              <a:rPr sz="1100" spc="-1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DR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dense</a:t>
            </a:r>
            <a:r>
              <a:rPr sz="1000" b="1" spc="195" dirty="0">
                <a:latin typeface="Georgia"/>
                <a:cs typeface="Georgia"/>
              </a:rPr>
              <a:t> </a:t>
            </a:r>
            <a:r>
              <a:rPr sz="1000" b="1" spc="-55" dirty="0">
                <a:latin typeface="Georgia"/>
                <a:cs typeface="Georgia"/>
              </a:rPr>
              <a:t>low–dimensional</a:t>
            </a:r>
            <a:r>
              <a:rPr sz="1000" b="1" spc="13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representation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terms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latent</a:t>
            </a:r>
            <a:r>
              <a:rPr sz="1000" b="1" spc="19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factors</a:t>
            </a:r>
            <a:r>
              <a:rPr sz="1000" spc="-10" dirty="0">
                <a:latin typeface="Times New Roman"/>
                <a:cs typeface="Times New Roman"/>
              </a:rPr>
              <a:t>.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dense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low–dimensional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vectors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easier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efficient. </a:t>
            </a:r>
            <a:r>
              <a:rPr sz="1000" dirty="0">
                <a:latin typeface="Times New Roman"/>
                <a:cs typeface="Times New Roman"/>
              </a:rPr>
              <a:t>Thus,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able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find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more</a:t>
            </a:r>
            <a:r>
              <a:rPr sz="1000" b="1" spc="165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relevant</a:t>
            </a:r>
            <a:r>
              <a:rPr sz="1000" b="1" spc="11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neighbors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less</a:t>
            </a:r>
            <a:r>
              <a:rPr sz="1000" b="1" spc="16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time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There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two</a:t>
            </a:r>
            <a:r>
              <a:rPr sz="1000" b="1" spc="185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ways</a:t>
            </a:r>
            <a:r>
              <a:rPr sz="1000" b="1" spc="13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applying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DR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recommender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systems.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b="1" dirty="0">
                <a:latin typeface="Georgia"/>
                <a:cs typeface="Georgia"/>
              </a:rPr>
              <a:t>First</a:t>
            </a:r>
            <a:r>
              <a:rPr sz="1100" b="1" spc="3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way</a:t>
            </a:r>
            <a:r>
              <a:rPr sz="1100" dirty="0">
                <a:latin typeface="Georgia"/>
                <a:cs typeface="Georgia"/>
              </a:rPr>
              <a:t>: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applied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either</a:t>
            </a:r>
            <a:r>
              <a:rPr sz="1100" b="1" spc="-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(row–wise)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(column–wise):</a:t>
            </a:r>
            <a:endParaRPr sz="1100">
              <a:latin typeface="Georgia"/>
              <a:cs typeface="Georgia"/>
            </a:endParaRPr>
          </a:p>
          <a:p>
            <a:pPr marL="289560" marR="78740">
              <a:lnSpc>
                <a:spcPts val="1019"/>
              </a:lnSpc>
              <a:spcBef>
                <a:spcPts val="605"/>
              </a:spcBef>
            </a:pP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reduced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representation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will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either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b="1" spc="-55" dirty="0">
                <a:latin typeface="Georgia"/>
                <a:cs typeface="Georgia"/>
              </a:rPr>
              <a:t>compress</a:t>
            </a:r>
            <a:r>
              <a:rPr sz="1000" b="1" spc="21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dimensionality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user </a:t>
            </a:r>
            <a:r>
              <a:rPr sz="1000" dirty="0">
                <a:latin typeface="Times New Roman"/>
                <a:cs typeface="Times New Roman"/>
              </a:rPr>
              <a:t>dimensionality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into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latent</a:t>
            </a:r>
            <a:r>
              <a:rPr sz="1000" b="1" spc="22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factors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89560" marR="275590">
              <a:lnSpc>
                <a:spcPts val="1019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reduced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representation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alleviate</a:t>
            </a:r>
            <a:r>
              <a:rPr sz="1000" b="1" spc="19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sparsity</a:t>
            </a:r>
            <a:r>
              <a:rPr sz="1000" b="1" spc="21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problem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for </a:t>
            </a:r>
            <a:r>
              <a:rPr sz="1000" spc="10" dirty="0">
                <a:latin typeface="Times New Roman"/>
                <a:cs typeface="Times New Roman"/>
              </a:rPr>
              <a:t>neighborhood–based</a:t>
            </a:r>
            <a:r>
              <a:rPr sz="1000" spc="3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models.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b="1" spc="-35" dirty="0">
                <a:latin typeface="Georgia"/>
                <a:cs typeface="Georgia"/>
              </a:rPr>
              <a:t>Second</a:t>
            </a:r>
            <a:r>
              <a:rPr sz="1100" b="1" spc="3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way</a:t>
            </a:r>
            <a:r>
              <a:rPr sz="1100" dirty="0">
                <a:latin typeface="Georgia"/>
                <a:cs typeface="Georgia"/>
              </a:rPr>
              <a:t>: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applied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both</a:t>
            </a:r>
            <a:r>
              <a:rPr sz="1100" b="1" spc="-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simultaneously</a:t>
            </a:r>
            <a:r>
              <a:rPr sz="1100" spc="-1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belongs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b="1" spc="-55" dirty="0">
                <a:latin typeface="Georgia"/>
                <a:cs typeface="Georgia"/>
              </a:rPr>
              <a:t>model–based</a:t>
            </a:r>
            <a:r>
              <a:rPr sz="1000" b="1" spc="165" dirty="0">
                <a:latin typeface="Georgia"/>
                <a:cs typeface="Georgia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CF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approach.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Will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discussed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later.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5" name="object 1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63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Dimensionality</a:t>
            </a:r>
            <a:r>
              <a:rPr spc="295" dirty="0"/>
              <a:t> </a:t>
            </a:r>
            <a:r>
              <a:rPr dirty="0"/>
              <a:t>reduction</a:t>
            </a:r>
            <a:r>
              <a:rPr spc="290" dirty="0"/>
              <a:t> </a:t>
            </a:r>
            <a:r>
              <a:rPr dirty="0"/>
              <a:t>for</a:t>
            </a:r>
            <a:r>
              <a:rPr spc="295" dirty="0"/>
              <a:t> </a:t>
            </a:r>
            <a:r>
              <a:rPr dirty="0"/>
              <a:t>user–based</a:t>
            </a:r>
            <a:r>
              <a:rPr spc="290" dirty="0"/>
              <a:t> </a:t>
            </a:r>
            <a:r>
              <a:rPr dirty="0"/>
              <a:t>collaborative</a:t>
            </a:r>
            <a:r>
              <a:rPr spc="290" dirty="0"/>
              <a:t> </a:t>
            </a:r>
            <a:r>
              <a:rPr spc="-10" dirty="0"/>
              <a:t>filtering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7256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101516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19821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38126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56432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80545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01900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20205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3851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6077" y="580960"/>
            <a:ext cx="5137150" cy="18830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ts val="1170"/>
              </a:lnSpc>
              <a:spcBef>
                <a:spcPts val="90"/>
              </a:spcBef>
            </a:pPr>
            <a:r>
              <a:rPr sz="1100" spc="-10" dirty="0">
                <a:latin typeface="Georgia"/>
                <a:cs typeface="Georgia"/>
              </a:rPr>
              <a:t>Idea: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transform</a:t>
            </a:r>
            <a:r>
              <a:rPr sz="1100" b="1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m</a:t>
            </a:r>
            <a:r>
              <a:rPr sz="1100" i="1" spc="-55" dirty="0">
                <a:latin typeface="Georgia"/>
                <a:cs typeface="Georgia"/>
              </a:rPr>
              <a:t> </a:t>
            </a:r>
            <a:r>
              <a:rPr sz="1100" i="1" spc="-50" dirty="0">
                <a:latin typeface="Meiryo UI"/>
                <a:cs typeface="Meiryo UI"/>
              </a:rPr>
              <a:t>×</a:t>
            </a:r>
            <a:r>
              <a:rPr sz="1100" i="1" spc="-135" dirty="0">
                <a:latin typeface="Meiryo UI"/>
                <a:cs typeface="Meiryo UI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matrix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R</a:t>
            </a:r>
            <a:r>
              <a:rPr sz="1100" i="1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into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1" spc="-65" dirty="0">
                <a:latin typeface="Georgia"/>
                <a:cs typeface="Georgia"/>
              </a:rPr>
              <a:t>lower–dimensional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space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ts val="1170"/>
              </a:lnSpc>
            </a:pPr>
            <a:r>
              <a:rPr sz="1100" spc="-20" dirty="0">
                <a:latin typeface="Georgia"/>
                <a:cs typeface="Georgia"/>
              </a:rPr>
              <a:t>using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dimensionality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reduction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techniques.</a:t>
            </a:r>
            <a:endParaRPr sz="1100">
              <a:latin typeface="Georgia"/>
              <a:cs typeface="Georgia"/>
            </a:endParaRPr>
          </a:p>
          <a:p>
            <a:pPr marL="3276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resulting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matrix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i="1" spc="55" dirty="0">
                <a:latin typeface="Georgia"/>
                <a:cs typeface="Georgia"/>
              </a:rPr>
              <a:t>R</a:t>
            </a:r>
            <a:r>
              <a:rPr sz="1050" i="1" spc="82" baseline="27777" dirty="0">
                <a:latin typeface="Meiryo UI"/>
                <a:cs typeface="Meiryo UI"/>
              </a:rPr>
              <a:t>′</a:t>
            </a:r>
            <a:r>
              <a:rPr sz="1050" i="1" spc="300" baseline="27777" dirty="0">
                <a:latin typeface="Meiryo UI"/>
                <a:cs typeface="Meiryo UI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size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m</a:t>
            </a:r>
            <a:r>
              <a:rPr sz="1000" i="1" spc="15" dirty="0">
                <a:latin typeface="Georgia"/>
                <a:cs typeface="Georgia"/>
              </a:rPr>
              <a:t> </a:t>
            </a:r>
            <a:r>
              <a:rPr sz="1000" i="1" spc="-40" dirty="0">
                <a:latin typeface="Meiryo UI"/>
                <a:cs typeface="Meiryo UI"/>
              </a:rPr>
              <a:t>×</a:t>
            </a:r>
            <a:r>
              <a:rPr sz="1000" i="1" spc="-85" dirty="0">
                <a:latin typeface="Meiryo UI"/>
                <a:cs typeface="Meiryo UI"/>
              </a:rPr>
              <a:t> </a:t>
            </a:r>
            <a:r>
              <a:rPr sz="1000" i="1" dirty="0">
                <a:latin typeface="Georgia"/>
                <a:cs typeface="Georgia"/>
              </a:rPr>
              <a:t>d</a:t>
            </a:r>
            <a:r>
              <a:rPr sz="1000" i="1" spc="14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where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d</a:t>
            </a:r>
            <a:r>
              <a:rPr sz="1000" i="1" spc="80" dirty="0">
                <a:latin typeface="Georgia"/>
                <a:cs typeface="Georgia"/>
              </a:rPr>
              <a:t> </a:t>
            </a:r>
            <a:r>
              <a:rPr sz="1000" i="1" spc="330" dirty="0">
                <a:latin typeface="Meiryo UI"/>
                <a:cs typeface="Meiryo UI"/>
              </a:rPr>
              <a:t>≪</a:t>
            </a:r>
            <a:r>
              <a:rPr sz="1000" i="1" spc="-20" dirty="0">
                <a:latin typeface="Meiryo UI"/>
                <a:cs typeface="Meiryo UI"/>
              </a:rPr>
              <a:t> </a:t>
            </a:r>
            <a:r>
              <a:rPr sz="1000" i="1" spc="-25" dirty="0">
                <a:latin typeface="Georgia"/>
                <a:cs typeface="Georgia"/>
              </a:rPr>
              <a:t>n</a:t>
            </a:r>
            <a:r>
              <a:rPr sz="1000" spc="-25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327660" marR="30480">
              <a:lnSpc>
                <a:spcPct val="120100"/>
              </a:lnSpc>
            </a:pPr>
            <a:r>
              <a:rPr sz="1000" spc="10" dirty="0">
                <a:latin typeface="Times New Roman"/>
                <a:cs typeface="Times New Roman"/>
              </a:rPr>
              <a:t>Each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Georgia"/>
                <a:cs typeface="Georgia"/>
              </a:rPr>
              <a:t>n</a:t>
            </a:r>
            <a:r>
              <a:rPr sz="1000" spc="10" dirty="0">
                <a:latin typeface="Times New Roman"/>
                <a:cs typeface="Times New Roman"/>
              </a:rPr>
              <a:t>–dimensional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rating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vector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of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user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is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transformed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into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Georgia"/>
                <a:cs typeface="Georgia"/>
              </a:rPr>
              <a:t>d</a:t>
            </a:r>
            <a:r>
              <a:rPr sz="1000" spc="10" dirty="0">
                <a:latin typeface="Times New Roman"/>
                <a:cs typeface="Times New Roman"/>
              </a:rPr>
              <a:t>–dimensional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vector. </a:t>
            </a:r>
            <a:r>
              <a:rPr sz="1000" dirty="0">
                <a:latin typeface="Times New Roman"/>
                <a:cs typeface="Times New Roman"/>
              </a:rPr>
              <a:t>Unlike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original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vectors,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d</a:t>
            </a:r>
            <a:r>
              <a:rPr sz="1000" dirty="0">
                <a:latin typeface="Times New Roman"/>
                <a:cs typeface="Times New Roman"/>
              </a:rPr>
              <a:t>–dimensional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vectors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dense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3276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d</a:t>
            </a:r>
            <a:r>
              <a:rPr sz="1000" dirty="0">
                <a:latin typeface="Times New Roman"/>
                <a:cs typeface="Times New Roman"/>
              </a:rPr>
              <a:t>–dimensional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vectors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accurate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efficient.</a:t>
            </a:r>
            <a:endParaRPr sz="1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40"/>
              </a:spcBef>
            </a:pPr>
            <a:r>
              <a:rPr sz="1100" dirty="0">
                <a:latin typeface="Georgia"/>
                <a:cs typeface="Georgia"/>
              </a:rPr>
              <a:t>Typical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dimensionality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reduction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techniques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are:</a:t>
            </a:r>
            <a:endParaRPr sz="1100">
              <a:latin typeface="Georgia"/>
              <a:cs typeface="Georgia"/>
            </a:endParaRPr>
          </a:p>
          <a:p>
            <a:pPr marL="327660" marR="2729230" algn="just">
              <a:lnSpc>
                <a:spcPct val="1201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Principal</a:t>
            </a:r>
            <a:r>
              <a:rPr sz="10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component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analysis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(PCA), </a:t>
            </a:r>
            <a:r>
              <a:rPr sz="1000" dirty="0">
                <a:latin typeface="Times New Roman"/>
                <a:cs typeface="Times New Roman"/>
              </a:rPr>
              <a:t>Singular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decomposition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(SVD),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5" name="object 1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64</a:t>
            </a:fld>
            <a:r>
              <a:rPr dirty="0"/>
              <a:t> </a:t>
            </a:r>
            <a:r>
              <a:rPr spc="75" dirty="0"/>
              <a:t>/</a:t>
            </a:r>
            <a:r>
              <a:rPr spc="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Neighborhood–based</a:t>
            </a:r>
            <a:r>
              <a:rPr spc="275" dirty="0"/>
              <a:t> </a:t>
            </a:r>
            <a:r>
              <a:rPr spc="75" dirty="0"/>
              <a:t>CF</a:t>
            </a:r>
            <a:r>
              <a:rPr spc="280" dirty="0"/>
              <a:t> </a:t>
            </a:r>
            <a:r>
              <a:rPr dirty="0"/>
              <a:t>recommender</a:t>
            </a:r>
            <a:r>
              <a:rPr spc="28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1153642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39186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1630083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1868297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9016" y="1011044"/>
            <a:ext cx="3498215" cy="9785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56845" indent="-144145">
              <a:lnSpc>
                <a:spcPct val="100000"/>
              </a:lnSpc>
              <a:spcBef>
                <a:spcPts val="6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10" dirty="0">
                <a:latin typeface="Georgia"/>
                <a:cs typeface="Georgia"/>
              </a:rPr>
              <a:t>Predicting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10" dirty="0">
                <a:latin typeface="Georgia"/>
                <a:cs typeface="Georgia"/>
              </a:rPr>
              <a:t>Clustering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spc="-35" dirty="0">
                <a:latin typeface="Georgia"/>
                <a:cs typeface="Georgia"/>
              </a:rPr>
              <a:t>Dimensionality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reduction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neighborhood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  <a:p>
            <a:pPr marL="156845" indent="-144145">
              <a:lnSpc>
                <a:spcPct val="100000"/>
              </a:lnSpc>
              <a:spcBef>
                <a:spcPts val="555"/>
              </a:spcBef>
              <a:buClr>
                <a:srgbClr val="FFFFFF"/>
              </a:buClr>
              <a:buSzPct val="72727"/>
              <a:buFont typeface="Palatino Linotype"/>
              <a:buAutoNum type="arabicPlain"/>
              <a:tabLst>
                <a:tab pos="156845" algn="l"/>
              </a:tabLst>
            </a:pPr>
            <a:r>
              <a:rPr sz="1100" b="1" dirty="0">
                <a:solidFill>
                  <a:srgbClr val="0000FF"/>
                </a:solidFill>
                <a:latin typeface="Georgia"/>
                <a:cs typeface="Georgia"/>
              </a:rPr>
              <a:t>Graph</a:t>
            </a:r>
            <a:r>
              <a:rPr sz="1100" b="1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40" dirty="0">
                <a:solidFill>
                  <a:srgbClr val="0000FF"/>
                </a:solidFill>
                <a:latin typeface="Georgia"/>
                <a:cs typeface="Georgia"/>
              </a:rPr>
              <a:t>models</a:t>
            </a:r>
            <a:r>
              <a:rPr sz="11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30" dirty="0">
                <a:solidFill>
                  <a:srgbClr val="0000FF"/>
                </a:solidFill>
                <a:latin typeface="Georgia"/>
                <a:cs typeface="Georgia"/>
              </a:rPr>
              <a:t>for</a:t>
            </a:r>
            <a:r>
              <a:rPr sz="1100" b="1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60" dirty="0">
                <a:solidFill>
                  <a:srgbClr val="0000FF"/>
                </a:solidFill>
                <a:latin typeface="Georgia"/>
                <a:cs typeface="Georgia"/>
              </a:rPr>
              <a:t>neighborhood–based</a:t>
            </a:r>
            <a:r>
              <a:rPr sz="11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Georgia"/>
                <a:cs typeface="Georgia"/>
              </a:rPr>
              <a:t>methods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65</a:t>
            </a:fld>
            <a:r>
              <a:rPr spc="25" dirty="0"/>
              <a:t> </a:t>
            </a:r>
            <a:r>
              <a:rPr spc="75" dirty="0"/>
              <a:t>/</a:t>
            </a:r>
            <a:r>
              <a:rPr spc="2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Graph</a:t>
            </a:r>
            <a:r>
              <a:rPr spc="200" dirty="0"/>
              <a:t> </a:t>
            </a:r>
            <a:r>
              <a:rPr dirty="0"/>
              <a:t>models</a:t>
            </a:r>
            <a:r>
              <a:rPr spc="210" dirty="0"/>
              <a:t> </a:t>
            </a:r>
            <a:r>
              <a:rPr dirty="0"/>
              <a:t>for</a:t>
            </a:r>
            <a:r>
              <a:rPr spc="204" dirty="0"/>
              <a:t> </a:t>
            </a:r>
            <a:r>
              <a:rPr dirty="0"/>
              <a:t>neighborhood–based</a:t>
            </a:r>
            <a:r>
              <a:rPr spc="204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91951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15773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972" y="137875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59228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77534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1863" rIns="0" bIns="0" rtlCol="0">
            <a:spAutoFit/>
          </a:bodyPr>
          <a:lstStyle/>
          <a:p>
            <a:pPr marL="12700" marR="5080">
              <a:lnSpc>
                <a:spcPct val="137000"/>
              </a:lnSpc>
              <a:spcBef>
                <a:spcPts val="170"/>
              </a:spcBef>
            </a:pPr>
            <a:r>
              <a:rPr dirty="0"/>
              <a:t>The</a:t>
            </a:r>
            <a:r>
              <a:rPr spc="30" dirty="0"/>
              <a:t> </a:t>
            </a:r>
            <a:r>
              <a:rPr spc="-10" dirty="0"/>
              <a:t>sparsity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30" dirty="0"/>
              <a:t>observed</a:t>
            </a:r>
            <a:r>
              <a:rPr spc="30" dirty="0"/>
              <a:t> </a:t>
            </a:r>
            <a:r>
              <a:rPr spc="-10" dirty="0"/>
              <a:t>ratings</a:t>
            </a:r>
            <a:r>
              <a:rPr spc="35" dirty="0"/>
              <a:t> </a:t>
            </a:r>
            <a:r>
              <a:rPr spc="-30" dirty="0"/>
              <a:t>causes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major</a:t>
            </a:r>
            <a:r>
              <a:rPr spc="30" dirty="0"/>
              <a:t> </a:t>
            </a:r>
            <a:r>
              <a:rPr spc="-25" dirty="0"/>
              <a:t>problem</a:t>
            </a:r>
            <a:r>
              <a:rPr spc="3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20" dirty="0"/>
              <a:t>similarity</a:t>
            </a:r>
            <a:r>
              <a:rPr spc="35" dirty="0"/>
              <a:t> </a:t>
            </a:r>
            <a:r>
              <a:rPr spc="-10" dirty="0"/>
              <a:t>computation. </a:t>
            </a:r>
            <a:r>
              <a:rPr spc="-30" dirty="0"/>
              <a:t>Graph–based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dirty="0"/>
              <a:t>an</a:t>
            </a:r>
            <a:r>
              <a:rPr spc="25" dirty="0"/>
              <a:t> </a:t>
            </a:r>
            <a:r>
              <a:rPr spc="-20" dirty="0"/>
              <a:t>approach</a:t>
            </a:r>
            <a:r>
              <a:rPr spc="3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spc="-30" dirty="0"/>
              <a:t>define</a:t>
            </a:r>
            <a:r>
              <a:rPr spc="30" dirty="0"/>
              <a:t> </a:t>
            </a:r>
            <a:r>
              <a:rPr spc="-10" dirty="0"/>
              <a:t>similarity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40" dirty="0"/>
              <a:t>neighborhood–based</a:t>
            </a:r>
            <a:r>
              <a:rPr spc="25" dirty="0"/>
              <a:t> </a:t>
            </a:r>
            <a:r>
              <a:rPr spc="-10" dirty="0"/>
              <a:t>methods. </a:t>
            </a:r>
            <a:r>
              <a:rPr dirty="0"/>
              <a:t>The</a:t>
            </a:r>
            <a:r>
              <a:rPr spc="10" dirty="0"/>
              <a:t> </a:t>
            </a:r>
            <a:r>
              <a:rPr spc="-25" dirty="0"/>
              <a:t>general</a:t>
            </a:r>
            <a:r>
              <a:rPr spc="15" dirty="0"/>
              <a:t> </a:t>
            </a:r>
            <a:r>
              <a:rPr dirty="0"/>
              <a:t>idea</a:t>
            </a:r>
            <a:r>
              <a:rPr spc="15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use</a:t>
            </a:r>
            <a:r>
              <a:rPr spc="1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b="1" spc="-25" dirty="0">
                <a:latin typeface="Georgia"/>
                <a:cs typeface="Georgia"/>
              </a:rPr>
              <a:t>structural</a:t>
            </a:r>
            <a:r>
              <a:rPr b="1" spc="45" dirty="0">
                <a:latin typeface="Georgia"/>
                <a:cs typeface="Georgia"/>
              </a:rPr>
              <a:t> </a:t>
            </a:r>
            <a:r>
              <a:rPr b="1" spc="-10" dirty="0">
                <a:latin typeface="Georgia"/>
                <a:cs typeface="Georgia"/>
              </a:rPr>
              <a:t>transitivity</a:t>
            </a:r>
            <a:r>
              <a:rPr b="1" spc="5" dirty="0">
                <a:latin typeface="Georgia"/>
                <a:cs typeface="Georgia"/>
              </a:rPr>
              <a:t> </a:t>
            </a:r>
            <a:r>
              <a:rPr dirty="0"/>
              <a:t>on</a:t>
            </a:r>
            <a:r>
              <a:rPr spc="15" dirty="0"/>
              <a:t> </a:t>
            </a:r>
            <a:r>
              <a:rPr spc="-10" dirty="0"/>
              <a:t>graphs</a:t>
            </a:r>
            <a:r>
              <a:rPr spc="15" dirty="0"/>
              <a:t> </a:t>
            </a:r>
            <a:r>
              <a:rPr spc="-25" dirty="0"/>
              <a:t>to:</a:t>
            </a:r>
          </a:p>
          <a:p>
            <a:pPr marL="289560" marR="1026794">
              <a:lnSpc>
                <a:spcPct val="120100"/>
              </a:lnSpc>
              <a:spcBef>
                <a:spcPts val="175"/>
              </a:spcBef>
            </a:pPr>
            <a:r>
              <a:rPr sz="1000" spc="10" dirty="0">
                <a:latin typeface="Times New Roman"/>
                <a:cs typeface="Times New Roman"/>
              </a:rPr>
              <a:t>infer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estimate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relationships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among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users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and/or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items,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ranking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recommendations.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/>
              <a:t>Graphs</a:t>
            </a:r>
            <a:r>
              <a:rPr spc="10" dirty="0"/>
              <a:t> </a:t>
            </a:r>
            <a:r>
              <a:rPr dirty="0"/>
              <a:t>can</a:t>
            </a:r>
            <a:r>
              <a:rPr spc="15" dirty="0"/>
              <a:t> </a:t>
            </a:r>
            <a:r>
              <a:rPr dirty="0"/>
              <a:t>be</a:t>
            </a:r>
            <a:r>
              <a:rPr spc="15" dirty="0"/>
              <a:t> </a:t>
            </a:r>
            <a:r>
              <a:rPr spc="-20" dirty="0"/>
              <a:t>constructed</a:t>
            </a:r>
            <a:r>
              <a:rPr spc="15" dirty="0"/>
              <a:t> </a:t>
            </a:r>
            <a:r>
              <a:rPr dirty="0"/>
              <a:t>on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b="1" spc="-45" dirty="0">
                <a:latin typeface="Georgia"/>
                <a:cs typeface="Georgia"/>
              </a:rPr>
              <a:t>users</a:t>
            </a:r>
            <a:r>
              <a:rPr spc="-45" dirty="0"/>
              <a:t>,</a:t>
            </a:r>
            <a:r>
              <a:rPr spc="15" dirty="0"/>
              <a:t> </a:t>
            </a:r>
            <a:r>
              <a:rPr dirty="0"/>
              <a:t>on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b="1" spc="-25" dirty="0">
                <a:latin typeface="Georgia"/>
                <a:cs typeface="Georgia"/>
              </a:rPr>
              <a:t>items</a:t>
            </a:r>
            <a:r>
              <a:rPr spc="-25" dirty="0"/>
              <a:t>,</a:t>
            </a:r>
            <a:r>
              <a:rPr spc="15" dirty="0"/>
              <a:t> </a:t>
            </a:r>
            <a:r>
              <a:rPr dirty="0"/>
              <a:t>or</a:t>
            </a:r>
            <a:r>
              <a:rPr spc="15" dirty="0"/>
              <a:t> </a:t>
            </a:r>
            <a:r>
              <a:rPr dirty="0"/>
              <a:t>on</a:t>
            </a:r>
            <a:r>
              <a:rPr spc="15" dirty="0"/>
              <a:t> </a:t>
            </a:r>
            <a:r>
              <a:rPr b="1" spc="-10" dirty="0">
                <a:latin typeface="Georgia"/>
                <a:cs typeface="Georgia"/>
              </a:rPr>
              <a:t>both</a:t>
            </a:r>
            <a:r>
              <a:rPr spc="-10" dirty="0"/>
              <a:t>.</a:t>
            </a: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pc="70" dirty="0"/>
              <a:t>A</a:t>
            </a:r>
            <a:r>
              <a:rPr spc="10" dirty="0"/>
              <a:t> </a:t>
            </a:r>
            <a:r>
              <a:rPr b="1" spc="-20" dirty="0">
                <a:latin typeface="Georgia"/>
                <a:cs typeface="Georgia"/>
              </a:rPr>
              <a:t>variety</a:t>
            </a:r>
            <a:r>
              <a:rPr b="1" spc="10" dirty="0">
                <a:latin typeface="Georgia"/>
                <a:cs typeface="Georgia"/>
              </a:rPr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20" dirty="0"/>
              <a:t>algorithms</a:t>
            </a:r>
            <a:r>
              <a:rPr spc="10" dirty="0"/>
              <a:t> </a:t>
            </a:r>
            <a:r>
              <a:rPr dirty="0"/>
              <a:t>on</a:t>
            </a:r>
            <a:r>
              <a:rPr spc="15" dirty="0"/>
              <a:t> </a:t>
            </a:r>
            <a:r>
              <a:rPr spc="-10" dirty="0"/>
              <a:t>graphs,</a:t>
            </a:r>
            <a:r>
              <a:rPr spc="10" dirty="0"/>
              <a:t> </a:t>
            </a:r>
            <a:r>
              <a:rPr dirty="0"/>
              <a:t>e.g.,</a:t>
            </a:r>
            <a:r>
              <a:rPr spc="10" dirty="0"/>
              <a:t> </a:t>
            </a:r>
            <a:r>
              <a:rPr b="1" spc="-55" dirty="0">
                <a:latin typeface="Georgia"/>
                <a:cs typeface="Georgia"/>
              </a:rPr>
              <a:t>random</a:t>
            </a:r>
            <a:r>
              <a:rPr b="1" spc="40" dirty="0">
                <a:latin typeface="Georgia"/>
                <a:cs typeface="Georgia"/>
              </a:rPr>
              <a:t> </a:t>
            </a:r>
            <a:r>
              <a:rPr b="1" spc="-30" dirty="0">
                <a:latin typeface="Georgia"/>
                <a:cs typeface="Georgia"/>
              </a:rPr>
              <a:t>walk</a:t>
            </a:r>
            <a:r>
              <a:rPr b="1" dirty="0">
                <a:latin typeface="Georgia"/>
                <a:cs typeface="Georgia"/>
              </a:rPr>
              <a:t> </a:t>
            </a:r>
            <a:r>
              <a:rPr dirty="0"/>
              <a:t>or</a:t>
            </a:r>
            <a:r>
              <a:rPr spc="15" dirty="0"/>
              <a:t> </a:t>
            </a:r>
            <a:r>
              <a:rPr b="1" spc="-30" dirty="0">
                <a:latin typeface="Georgia"/>
                <a:cs typeface="Georgia"/>
              </a:rPr>
              <a:t>shortest</a:t>
            </a:r>
            <a:r>
              <a:rPr b="1" spc="4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path</a:t>
            </a:r>
            <a:r>
              <a:rPr dirty="0"/>
              <a:t>,</a:t>
            </a:r>
            <a:r>
              <a:rPr spc="10" dirty="0"/>
              <a:t> </a:t>
            </a:r>
            <a:r>
              <a:rPr spc="-20" dirty="0"/>
              <a:t>etc.</a:t>
            </a:r>
          </a:p>
        </p:txBody>
      </p:sp>
      <p:sp>
        <p:nvSpPr>
          <p:cNvPr id="9" name="object 9"/>
          <p:cNvSpPr/>
          <p:nvPr/>
        </p:nvSpPr>
        <p:spPr>
          <a:xfrm>
            <a:off x="337972" y="203368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227190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2" name="object 12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66</a:t>
            </a:fld>
            <a:r>
              <a:rPr spc="25" dirty="0"/>
              <a:t> </a:t>
            </a:r>
            <a:r>
              <a:rPr spc="75" dirty="0"/>
              <a:t>/</a:t>
            </a:r>
            <a:r>
              <a:rPr spc="2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User–item</a:t>
            </a:r>
            <a:r>
              <a:rPr spc="235" dirty="0"/>
              <a:t> </a:t>
            </a:r>
            <a:r>
              <a:rPr spc="-10" dirty="0"/>
              <a:t>graphs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9491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90845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09151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27455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45761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64067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188180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22440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40746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59052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/>
              <a:t>The</a:t>
            </a:r>
            <a:r>
              <a:rPr spc="35" dirty="0"/>
              <a:t> </a:t>
            </a:r>
            <a:r>
              <a:rPr spc="-45" dirty="0"/>
              <a:t>user–item</a:t>
            </a:r>
            <a:r>
              <a:rPr spc="70" dirty="0"/>
              <a:t> </a:t>
            </a:r>
            <a:r>
              <a:rPr spc="-10" dirty="0"/>
              <a:t>graph</a:t>
            </a:r>
            <a:r>
              <a:rPr spc="65" dirty="0"/>
              <a:t> </a:t>
            </a:r>
            <a:r>
              <a:rPr dirty="0"/>
              <a:t>is</a:t>
            </a:r>
            <a:r>
              <a:rPr spc="70" dirty="0"/>
              <a:t> </a:t>
            </a:r>
            <a:r>
              <a:rPr dirty="0"/>
              <a:t>an</a:t>
            </a:r>
            <a:r>
              <a:rPr spc="65" dirty="0"/>
              <a:t> </a:t>
            </a:r>
            <a:r>
              <a:rPr b="1" spc="-45" dirty="0">
                <a:latin typeface="Georgia"/>
                <a:cs typeface="Georgia"/>
              </a:rPr>
              <a:t>undirected</a:t>
            </a:r>
            <a:r>
              <a:rPr b="1" spc="50" dirty="0">
                <a:latin typeface="Georgia"/>
                <a:cs typeface="Georgia"/>
              </a:rPr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b="1" spc="-20" dirty="0">
                <a:latin typeface="Georgia"/>
                <a:cs typeface="Georgia"/>
              </a:rPr>
              <a:t>bipartite</a:t>
            </a:r>
            <a:r>
              <a:rPr b="1" spc="55" dirty="0">
                <a:latin typeface="Georgia"/>
                <a:cs typeface="Georgia"/>
              </a:rPr>
              <a:t> </a:t>
            </a:r>
            <a:r>
              <a:rPr spc="-10" dirty="0"/>
              <a:t>graph:</a:t>
            </a:r>
            <a:r>
              <a:rPr spc="175" dirty="0"/>
              <a:t> </a:t>
            </a:r>
            <a:r>
              <a:rPr b="1" spc="70" dirty="0">
                <a:latin typeface="Palatino Linotype"/>
                <a:cs typeface="Palatino Linotype"/>
              </a:rPr>
              <a:t>G</a:t>
            </a:r>
            <a:r>
              <a:rPr b="1" dirty="0">
                <a:latin typeface="Palatino Linotype"/>
                <a:cs typeface="Palatino Linotype"/>
              </a:rPr>
              <a:t> </a:t>
            </a:r>
            <a:r>
              <a:rPr spc="215" dirty="0">
                <a:latin typeface="Times New Roman"/>
                <a:cs typeface="Times New Roman"/>
              </a:rPr>
              <a:t>=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i="1" dirty="0">
                <a:latin typeface="Georgia"/>
                <a:cs typeface="Georgia"/>
              </a:rPr>
              <a:t>N</a:t>
            </a:r>
            <a:r>
              <a:rPr sz="1200" i="1" baseline="-10416" dirty="0">
                <a:latin typeface="Georgia"/>
                <a:cs typeface="Georgia"/>
              </a:rPr>
              <a:t>u</a:t>
            </a:r>
            <a:r>
              <a:rPr sz="1200" i="1" spc="104" baseline="-10416" dirty="0">
                <a:latin typeface="Georgia"/>
                <a:cs typeface="Georgia"/>
              </a:rPr>
              <a:t> </a:t>
            </a:r>
            <a:r>
              <a:rPr sz="1100" i="1" spc="-175" dirty="0">
                <a:latin typeface="Meiryo UI"/>
                <a:cs typeface="Meiryo UI"/>
              </a:rPr>
              <a:t>∪</a:t>
            </a:r>
            <a:r>
              <a:rPr sz="1100" i="1" spc="-135" dirty="0">
                <a:latin typeface="Meiryo UI"/>
                <a:cs typeface="Meiryo UI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200" i="1" baseline="-10416" dirty="0">
                <a:latin typeface="Georgia"/>
                <a:cs typeface="Georgia"/>
              </a:rPr>
              <a:t>i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A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r>
              <a:rPr sz="1100" spc="-25" dirty="0"/>
              <a:t>.</a:t>
            </a:r>
            <a:endParaRPr sz="11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i="1" dirty="0">
                <a:latin typeface="Georgia"/>
                <a:cs typeface="Georgia"/>
              </a:rPr>
              <a:t>N</a:t>
            </a:r>
            <a:r>
              <a:rPr sz="1050" i="1" baseline="-11904" dirty="0">
                <a:latin typeface="Georgia"/>
                <a:cs typeface="Georgia"/>
              </a:rPr>
              <a:t>u</a:t>
            </a:r>
            <a:r>
              <a:rPr sz="1050" i="1" spc="487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nodes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representing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users.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4"/>
              </a:spcBef>
            </a:pPr>
            <a:r>
              <a:rPr sz="1000" i="1" dirty="0">
                <a:latin typeface="Georgia"/>
                <a:cs typeface="Georgia"/>
              </a:rPr>
              <a:t>N</a:t>
            </a:r>
            <a:r>
              <a:rPr sz="1050" i="1" baseline="-11904" dirty="0">
                <a:latin typeface="Georgia"/>
                <a:cs typeface="Georgia"/>
              </a:rPr>
              <a:t>i</a:t>
            </a:r>
            <a:r>
              <a:rPr sz="1050" i="1" spc="487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nodes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representing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All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edges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graph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exist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only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289560" marR="125095">
              <a:lnSpc>
                <a:spcPct val="120100"/>
              </a:lnSpc>
            </a:pPr>
            <a:r>
              <a:rPr sz="1000" spc="10" dirty="0">
                <a:latin typeface="Times New Roman"/>
                <a:cs typeface="Times New Roman"/>
              </a:rPr>
              <a:t>An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undirected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edge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exists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i="1" spc="65" dirty="0">
                <a:latin typeface="Georgia"/>
                <a:cs typeface="Georgia"/>
              </a:rPr>
              <a:t>A</a:t>
            </a:r>
            <a:r>
              <a:rPr sz="1000" i="1" spc="150" dirty="0">
                <a:latin typeface="Georgia"/>
                <a:cs typeface="Georgia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between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user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Georgia"/>
                <a:cs typeface="Georgia"/>
              </a:rPr>
              <a:t>i</a:t>
            </a:r>
            <a:r>
              <a:rPr sz="1000" i="1" spc="150" dirty="0">
                <a:latin typeface="Georgia"/>
                <a:cs typeface="Georgia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item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i="1" spc="120" dirty="0">
                <a:latin typeface="Georgia"/>
                <a:cs typeface="Georgia"/>
              </a:rPr>
              <a:t>j</a:t>
            </a:r>
            <a:r>
              <a:rPr sz="1000" i="1" spc="21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iff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user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Georgia"/>
                <a:cs typeface="Georgia"/>
              </a:rPr>
              <a:t>i</a:t>
            </a:r>
            <a:r>
              <a:rPr sz="1000" i="1" spc="150" dirty="0">
                <a:latin typeface="Georgia"/>
                <a:cs typeface="Georgia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has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rated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item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i="1" spc="75" dirty="0">
                <a:latin typeface="Georgia"/>
                <a:cs typeface="Georgia"/>
              </a:rPr>
              <a:t>j</a:t>
            </a:r>
            <a:r>
              <a:rPr sz="1000" spc="75" dirty="0">
                <a:latin typeface="Times New Roman"/>
                <a:cs typeface="Times New Roman"/>
              </a:rPr>
              <a:t>. </a:t>
            </a:r>
            <a:r>
              <a:rPr sz="1000" dirty="0">
                <a:latin typeface="Times New Roman"/>
                <a:cs typeface="Times New Roman"/>
              </a:rPr>
              <a:t>Therefore,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i="1" spc="-95" dirty="0">
                <a:latin typeface="Meiryo UI"/>
                <a:cs typeface="Meiryo UI"/>
              </a:rPr>
              <a:t>|</a:t>
            </a:r>
            <a:r>
              <a:rPr sz="1000" i="1" spc="-95" dirty="0">
                <a:latin typeface="Georgia"/>
                <a:cs typeface="Georgia"/>
              </a:rPr>
              <a:t>A</a:t>
            </a:r>
            <a:r>
              <a:rPr sz="1000" i="1" spc="-95" dirty="0">
                <a:latin typeface="Meiryo UI"/>
                <a:cs typeface="Meiryo UI"/>
              </a:rPr>
              <a:t>|</a:t>
            </a:r>
            <a:r>
              <a:rPr sz="1000" i="1" spc="25" dirty="0">
                <a:latin typeface="Meiryo UI"/>
                <a:cs typeface="Meiryo UI"/>
              </a:rPr>
              <a:t> </a:t>
            </a:r>
            <a:r>
              <a:rPr sz="1000" spc="204" dirty="0">
                <a:latin typeface="Times New Roman"/>
                <a:cs typeface="Times New Roman"/>
              </a:rPr>
              <a:t>=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observed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entries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matrix.</a:t>
            </a:r>
            <a:endParaRPr sz="1000">
              <a:latin typeface="Times New Roman"/>
              <a:cs typeface="Times New Roman"/>
            </a:endParaRPr>
          </a:p>
          <a:p>
            <a:pPr marL="12700" marR="248920">
              <a:lnSpc>
                <a:spcPct val="77000"/>
              </a:lnSpc>
              <a:spcBef>
                <a:spcPts val="945"/>
              </a:spcBef>
            </a:pPr>
            <a:r>
              <a:rPr b="1" spc="-20" dirty="0">
                <a:latin typeface="Georgia"/>
                <a:cs typeface="Georgia"/>
              </a:rPr>
              <a:t>Advantage</a:t>
            </a:r>
            <a:r>
              <a:rPr spc="-20" dirty="0"/>
              <a:t>:</a:t>
            </a:r>
            <a:r>
              <a:rPr spc="105" dirty="0"/>
              <a:t> </a:t>
            </a:r>
            <a:r>
              <a:rPr dirty="0"/>
              <a:t>two</a:t>
            </a:r>
            <a:r>
              <a:rPr spc="20" dirty="0"/>
              <a:t> </a:t>
            </a:r>
            <a:r>
              <a:rPr spc="-30" dirty="0"/>
              <a:t>users</a:t>
            </a:r>
            <a:r>
              <a:rPr spc="15" dirty="0"/>
              <a:t> </a:t>
            </a:r>
            <a:r>
              <a:rPr dirty="0"/>
              <a:t>do</a:t>
            </a:r>
            <a:r>
              <a:rPr spc="20" dirty="0"/>
              <a:t> </a:t>
            </a:r>
            <a:r>
              <a:rPr dirty="0"/>
              <a:t>not</a:t>
            </a:r>
            <a:r>
              <a:rPr spc="20" dirty="0"/>
              <a:t> </a:t>
            </a:r>
            <a:r>
              <a:rPr spc="-30" dirty="0"/>
              <a:t>need</a:t>
            </a:r>
            <a:r>
              <a:rPr spc="15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spc="-10" dirty="0"/>
              <a:t>have</a:t>
            </a:r>
            <a:r>
              <a:rPr spc="20" dirty="0"/>
              <a:t> </a:t>
            </a:r>
            <a:r>
              <a:rPr dirty="0"/>
              <a:t>rated</a:t>
            </a:r>
            <a:r>
              <a:rPr spc="15" dirty="0"/>
              <a:t> </a:t>
            </a:r>
            <a:r>
              <a:rPr spc="-10" dirty="0"/>
              <a:t>many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5" dirty="0"/>
              <a:t>same</a:t>
            </a:r>
            <a:r>
              <a:rPr spc="20" dirty="0"/>
              <a:t> </a:t>
            </a:r>
            <a:r>
              <a:rPr spc="-10" dirty="0"/>
              <a:t>items</a:t>
            </a:r>
            <a:r>
              <a:rPr spc="15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spc="-25" dirty="0"/>
              <a:t>be </a:t>
            </a:r>
            <a:r>
              <a:rPr spc="-40" dirty="0"/>
              <a:t>considered</a:t>
            </a:r>
            <a:r>
              <a:rPr spc="20" dirty="0"/>
              <a:t> </a:t>
            </a:r>
            <a:r>
              <a:rPr spc="-30" dirty="0"/>
              <a:t>neighbors</a:t>
            </a:r>
            <a:r>
              <a:rPr spc="25" dirty="0"/>
              <a:t> </a:t>
            </a:r>
            <a:r>
              <a:rPr dirty="0"/>
              <a:t>as</a:t>
            </a:r>
            <a:r>
              <a:rPr spc="20" dirty="0"/>
              <a:t> </a:t>
            </a:r>
            <a:r>
              <a:rPr spc="-10" dirty="0"/>
              <a:t>long</a:t>
            </a:r>
            <a:r>
              <a:rPr spc="25" dirty="0"/>
              <a:t> </a:t>
            </a:r>
            <a:r>
              <a:rPr dirty="0"/>
              <a:t>as</a:t>
            </a:r>
            <a:r>
              <a:rPr spc="20" dirty="0"/>
              <a:t> </a:t>
            </a:r>
            <a:r>
              <a:rPr spc="-10" dirty="0"/>
              <a:t>many</a:t>
            </a:r>
            <a:r>
              <a:rPr spc="25" dirty="0"/>
              <a:t> </a:t>
            </a:r>
            <a:r>
              <a:rPr spc="-10" dirty="0"/>
              <a:t>short</a:t>
            </a:r>
            <a:r>
              <a:rPr spc="20" dirty="0"/>
              <a:t> </a:t>
            </a:r>
            <a:r>
              <a:rPr dirty="0"/>
              <a:t>paths</a:t>
            </a:r>
            <a:r>
              <a:rPr spc="25" dirty="0"/>
              <a:t> </a:t>
            </a:r>
            <a:r>
              <a:rPr dirty="0"/>
              <a:t>exist</a:t>
            </a:r>
            <a:r>
              <a:rPr spc="20" dirty="0"/>
              <a:t> </a:t>
            </a:r>
            <a:r>
              <a:rPr spc="-30" dirty="0"/>
              <a:t>between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two</a:t>
            </a:r>
            <a:r>
              <a:rPr spc="20" dirty="0"/>
              <a:t> </a:t>
            </a:r>
            <a:r>
              <a:rPr spc="-10" dirty="0"/>
              <a:t>users.</a:t>
            </a: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Neighborhoods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defined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via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indirect</a:t>
            </a:r>
            <a:r>
              <a:rPr sz="1000" b="1" spc="18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connectivity</a:t>
            </a:r>
            <a:r>
              <a:rPr sz="1000" b="1" spc="15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nodes.</a:t>
            </a:r>
            <a:endParaRPr sz="1000">
              <a:latin typeface="Times New Roman"/>
              <a:cs typeface="Times New Roman"/>
            </a:endParaRPr>
          </a:p>
          <a:p>
            <a:pPr marL="289560" marR="30480">
              <a:lnSpc>
                <a:spcPct val="120100"/>
              </a:lnSpc>
            </a:pP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course,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direct</a:t>
            </a:r>
            <a:r>
              <a:rPr sz="1000" b="1" spc="80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shorter</a:t>
            </a:r>
            <a:r>
              <a:rPr sz="1000" b="1" spc="80" dirty="0">
                <a:latin typeface="Georgia"/>
                <a:cs typeface="Georgia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paths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stronger</a:t>
            </a:r>
            <a:r>
              <a:rPr sz="1000" b="1" spc="7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weights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when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similarity. </a:t>
            </a:r>
            <a:r>
              <a:rPr sz="1000" dirty="0">
                <a:latin typeface="Times New Roman"/>
                <a:cs typeface="Times New Roman"/>
              </a:rPr>
              <a:t>Different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ways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defining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neighborhoods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graphs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deal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sparse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data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problem.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5" name="object 1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67</a:t>
            </a:fld>
            <a:r>
              <a:rPr spc="25" dirty="0"/>
              <a:t> </a:t>
            </a:r>
            <a:r>
              <a:rPr spc="75" dirty="0"/>
              <a:t>/</a:t>
            </a:r>
            <a:r>
              <a:rPr spc="2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20116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User–item</a:t>
            </a:r>
            <a:r>
              <a:rPr sz="1400" spc="26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graphs</a:t>
            </a:r>
            <a:r>
              <a:rPr sz="1400" spc="26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CC0000"/>
                </a:solidFill>
                <a:latin typeface="Times New Roman"/>
                <a:cs typeface="Times New Roman"/>
              </a:rPr>
              <a:t>(cont’d)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853" y="476161"/>
            <a:ext cx="3576002" cy="22002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17470" y="2744325"/>
            <a:ext cx="15259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Georgia"/>
                <a:cs typeface="Georgia"/>
              </a:rPr>
              <a:t>source:</a:t>
            </a:r>
            <a:r>
              <a:rPr sz="900" spc="1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from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textbook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30" dirty="0">
                <a:latin typeface="Georgia"/>
                <a:cs typeface="Georgia"/>
                <a:hlinkClick r:id="rId3" action="ppaction://hlinksldjump"/>
              </a:rPr>
              <a:t>[8]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6" name="object 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68</a:t>
            </a:fld>
            <a:r>
              <a:rPr spc="25" dirty="0"/>
              <a:t> </a:t>
            </a:r>
            <a:r>
              <a:rPr spc="75" dirty="0"/>
              <a:t>/</a:t>
            </a:r>
            <a:r>
              <a:rPr spc="2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Defining</a:t>
            </a:r>
            <a:r>
              <a:rPr spc="240" dirty="0"/>
              <a:t> </a:t>
            </a:r>
            <a:r>
              <a:rPr dirty="0"/>
              <a:t>neighborhoods</a:t>
            </a:r>
            <a:r>
              <a:rPr spc="250" dirty="0"/>
              <a:t> </a:t>
            </a:r>
            <a:r>
              <a:rPr dirty="0"/>
              <a:t>with</a:t>
            </a:r>
            <a:r>
              <a:rPr spc="240" dirty="0"/>
              <a:t> </a:t>
            </a:r>
            <a:r>
              <a:rPr dirty="0"/>
              <a:t>random</a:t>
            </a:r>
            <a:r>
              <a:rPr spc="245" dirty="0"/>
              <a:t> </a:t>
            </a:r>
            <a:r>
              <a:rPr spc="-10" dirty="0"/>
              <a:t>walks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5314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02041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23397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41701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6000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97026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18380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49591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67897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4177" y="561541"/>
            <a:ext cx="5128895" cy="221043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268605">
              <a:lnSpc>
                <a:spcPts val="1150"/>
              </a:lnSpc>
              <a:spcBef>
                <a:spcPts val="270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neighborhood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defined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encountered frequently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random</a:t>
            </a:r>
            <a:r>
              <a:rPr sz="1100" b="1" spc="7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walk</a:t>
            </a:r>
            <a:r>
              <a:rPr sz="1100" b="1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starting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user.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spc="-35" dirty="0">
                <a:latin typeface="Georgia"/>
                <a:cs typeface="Georgia"/>
              </a:rPr>
              <a:t>How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expected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frequency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such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random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walks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measured?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personalized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PageRank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SimRank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methods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244"/>
              </a:spcBef>
            </a:pP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determine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k</a:t>
            </a:r>
            <a:r>
              <a:rPr sz="1000" i="1" spc="204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most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given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user-based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CF,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or</a:t>
            </a:r>
            <a:endParaRPr sz="1000">
              <a:latin typeface="Times New Roman"/>
              <a:cs typeface="Times New Roman"/>
            </a:endParaRPr>
          </a:p>
          <a:p>
            <a:pPr marL="289560" marR="5080">
              <a:lnSpc>
                <a:spcPts val="1019"/>
              </a:lnSpc>
              <a:spcBef>
                <a:spcPts val="425"/>
              </a:spcBef>
            </a:pP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determine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the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Georgia"/>
                <a:cs typeface="Georgia"/>
              </a:rPr>
              <a:t>k</a:t>
            </a:r>
            <a:r>
              <a:rPr sz="1000" i="1" spc="175" dirty="0">
                <a:latin typeface="Georgia"/>
                <a:cs typeface="Georgia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most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similar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items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given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item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by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starting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the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random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walk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at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a</a:t>
            </a:r>
            <a:r>
              <a:rPr sz="1000" dirty="0">
                <a:latin typeface="Times New Roman"/>
                <a:cs typeface="Times New Roman"/>
              </a:rPr>
              <a:t> given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dirty="0">
                <a:latin typeface="Georgia"/>
                <a:cs typeface="Georgia"/>
              </a:rPr>
              <a:t>Why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approach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effective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sparse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matrices?</a:t>
            </a:r>
            <a:endParaRPr sz="1100">
              <a:latin typeface="Georgia"/>
              <a:cs typeface="Georgia"/>
            </a:endParaRPr>
          </a:p>
          <a:p>
            <a:pPr marL="289560" marR="159385">
              <a:lnSpc>
                <a:spcPts val="1019"/>
              </a:lnSpc>
              <a:spcBef>
                <a:spcPts val="605"/>
              </a:spcBef>
            </a:pPr>
            <a:r>
              <a:rPr sz="1000" dirty="0">
                <a:latin typeface="Times New Roman"/>
                <a:cs typeface="Times New Roman"/>
              </a:rPr>
              <a:t>When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Pearson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correlation:</a:t>
            </a:r>
            <a:r>
              <a:rPr sz="1000" spc="3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two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need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connected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directly</a:t>
            </a:r>
            <a:r>
              <a:rPr sz="1000" b="1" spc="200" dirty="0">
                <a:latin typeface="Georgia"/>
                <a:cs typeface="Georgia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a</a:t>
            </a:r>
            <a:r>
              <a:rPr sz="1000" dirty="0">
                <a:latin typeface="Times New Roman"/>
                <a:cs typeface="Times New Roman"/>
              </a:rPr>
              <a:t> set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common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items.</a:t>
            </a:r>
            <a:endParaRPr sz="1000">
              <a:latin typeface="Times New Roman"/>
              <a:cs typeface="Times New Roman"/>
            </a:endParaRPr>
          </a:p>
          <a:p>
            <a:pPr marL="289560" marR="138430">
              <a:lnSpc>
                <a:spcPts val="1440"/>
              </a:lnSpc>
              <a:spcBef>
                <a:spcPts val="80"/>
              </a:spcBef>
            </a:pP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sparse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user–item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graphs,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such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direct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connectivity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may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exist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many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nodes.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random–walk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method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also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considers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indirect</a:t>
            </a:r>
            <a:r>
              <a:rPr sz="1000" b="1" spc="18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connectivity</a:t>
            </a:r>
            <a:r>
              <a:rPr sz="1000" b="1" spc="150" dirty="0">
                <a:latin typeface="Georgia"/>
                <a:cs typeface="Georgia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overcome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sparsity.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4" name="object 14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69</a:t>
            </a:fld>
            <a:r>
              <a:rPr spc="25" dirty="0"/>
              <a:t> </a:t>
            </a:r>
            <a:r>
              <a:rPr spc="75" dirty="0"/>
              <a:t>/</a:t>
            </a:r>
            <a:r>
              <a:rPr spc="2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Defining</a:t>
            </a:r>
            <a:r>
              <a:rPr spc="170" dirty="0"/>
              <a:t> </a:t>
            </a:r>
            <a:r>
              <a:rPr dirty="0"/>
              <a:t>neighborhoods</a:t>
            </a:r>
            <a:r>
              <a:rPr spc="175" dirty="0"/>
              <a:t> </a:t>
            </a:r>
            <a:r>
              <a:rPr dirty="0"/>
              <a:t>with</a:t>
            </a:r>
            <a:r>
              <a:rPr spc="175" dirty="0"/>
              <a:t> </a:t>
            </a:r>
            <a:r>
              <a:rPr spc="55" dirty="0"/>
              <a:t>the</a:t>
            </a:r>
            <a:r>
              <a:rPr spc="170" dirty="0"/>
              <a:t> </a:t>
            </a:r>
            <a:r>
              <a:rPr spc="50" dirty="0"/>
              <a:t>Katz</a:t>
            </a:r>
            <a:r>
              <a:rPr spc="170" dirty="0"/>
              <a:t> </a:t>
            </a:r>
            <a:r>
              <a:rPr spc="-10" dirty="0"/>
              <a:t>measure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5714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393570"/>
            <a:ext cx="4841240" cy="112458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dirty="0">
                <a:latin typeface="Georgia"/>
                <a:cs typeface="Georgia"/>
              </a:rPr>
              <a:t>Based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weighted</a:t>
            </a:r>
            <a:r>
              <a:rPr sz="1100" b="1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number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walks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pair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nodes.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42100"/>
              </a:lnSpc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weight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each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walk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(0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1)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which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decreasing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length.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weighted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number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walks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pair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nodes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Katz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measure</a:t>
            </a:r>
            <a:r>
              <a:rPr sz="1100" spc="-1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12700" marR="66675">
              <a:lnSpc>
                <a:spcPts val="1150"/>
              </a:lnSpc>
              <a:spcBef>
                <a:spcPts val="735"/>
              </a:spcBef>
            </a:pPr>
            <a:r>
              <a:rPr sz="1100" b="1" spc="-35" dirty="0">
                <a:latin typeface="Georgia"/>
                <a:cs typeface="Georgia"/>
              </a:rPr>
              <a:t>Intuition</a:t>
            </a:r>
            <a:r>
              <a:rPr sz="1100" spc="-35" dirty="0">
                <a:latin typeface="Georgia"/>
                <a:cs typeface="Georgia"/>
              </a:rPr>
              <a:t>: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users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belong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same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neighborhood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based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walk–based connectivity,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propensity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link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formed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them.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79537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03358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27181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69856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8777" y="1606955"/>
            <a:ext cx="5151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Georgia"/>
                <a:cs typeface="Georgia"/>
              </a:rPr>
              <a:t>Katz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measure</a:t>
            </a:r>
            <a:r>
              <a:rPr sz="1100" spc="-50" dirty="0">
                <a:latin typeface="Georgia"/>
                <a:cs typeface="Georgia"/>
              </a:rPr>
              <a:t>:</a:t>
            </a:r>
            <a:r>
              <a:rPr sz="1100" spc="1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200" baseline="38194" dirty="0">
                <a:latin typeface="Georgia"/>
                <a:cs typeface="Georgia"/>
              </a:rPr>
              <a:t>(</a:t>
            </a:r>
            <a:r>
              <a:rPr sz="1200" i="1" baseline="38194" dirty="0">
                <a:latin typeface="Georgia"/>
                <a:cs typeface="Georgia"/>
              </a:rPr>
              <a:t>t</a:t>
            </a:r>
            <a:r>
              <a:rPr sz="1200" baseline="38194" dirty="0">
                <a:latin typeface="Georgia"/>
                <a:cs typeface="Georgia"/>
              </a:rPr>
              <a:t>)</a:t>
            </a:r>
            <a:r>
              <a:rPr sz="1200" spc="240" baseline="38194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number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walks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length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t</a:t>
            </a:r>
            <a:r>
              <a:rPr sz="1100" i="1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nodes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100" i="1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Georgia"/>
                <a:cs typeface="Georgia"/>
              </a:rPr>
              <a:t>j</a:t>
            </a:r>
            <a:r>
              <a:rPr sz="1100" spc="6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4177" y="1685644"/>
            <a:ext cx="4866005" cy="283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6365">
              <a:lnSpc>
                <a:spcPts val="835"/>
              </a:lnSpc>
              <a:spcBef>
                <a:spcPts val="95"/>
              </a:spcBef>
            </a:pPr>
            <a:r>
              <a:rPr sz="800" i="1" spc="50" dirty="0">
                <a:latin typeface="Georgia"/>
                <a:cs typeface="Georgia"/>
              </a:rPr>
              <a:t>ij</a:t>
            </a:r>
            <a:endParaRPr sz="8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</a:pPr>
            <a:r>
              <a:rPr sz="1100" dirty="0">
                <a:latin typeface="Georgia"/>
                <a:cs typeface="Georgia"/>
              </a:rPr>
              <a:t>Then,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user–defined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parameter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β</a:t>
            </a:r>
            <a:r>
              <a:rPr sz="1100" i="1" spc="65" dirty="0">
                <a:latin typeface="Georgia"/>
                <a:cs typeface="Georgia"/>
              </a:rPr>
              <a:t> </a:t>
            </a:r>
            <a:r>
              <a:rPr sz="1100" i="1" spc="125" dirty="0">
                <a:latin typeface="Georgia"/>
                <a:cs typeface="Georgia"/>
              </a:rPr>
              <a:t>&lt;</a:t>
            </a:r>
            <a:r>
              <a:rPr sz="1100" i="1" spc="10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Katz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measure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i</a:t>
            </a:r>
            <a:r>
              <a:rPr sz="1100" i="1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20" dirty="0">
                <a:latin typeface="Georgia"/>
                <a:cs typeface="Georgia"/>
              </a:rPr>
              <a:t>j</a:t>
            </a:r>
            <a:r>
              <a:rPr sz="1100" i="1" spc="114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is: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4177" y="2332239"/>
            <a:ext cx="5043170" cy="591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190" algn="ctr">
              <a:lnSpc>
                <a:spcPct val="100000"/>
              </a:lnSpc>
              <a:spcBef>
                <a:spcPts val="95"/>
              </a:spcBef>
            </a:pP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800">
              <a:latin typeface="Georgia"/>
              <a:cs typeface="Georgia"/>
            </a:endParaRPr>
          </a:p>
          <a:p>
            <a:pPr marL="12700" marR="5080">
              <a:lnSpc>
                <a:spcPts val="1150"/>
              </a:lnSpc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value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β</a:t>
            </a:r>
            <a:r>
              <a:rPr sz="1100" i="1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discount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factor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de–emphasizes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walks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longer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lengths.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For </a:t>
            </a:r>
            <a:r>
              <a:rPr sz="1100" spc="-10" dirty="0">
                <a:latin typeface="Georgia"/>
                <a:cs typeface="Georgia"/>
              </a:rPr>
              <a:t>small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enough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values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β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infinite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summation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Equation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  <a:hlinkClick r:id="rId2" action="ppaction://hlinksldjump"/>
              </a:rPr>
              <a:t>(26)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will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converge.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12587" y="2130385"/>
            <a:ext cx="270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Georgia"/>
                <a:cs typeface="Georgia"/>
              </a:rPr>
              <a:t>(26)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9" name="object 1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70</a:t>
            </a:fld>
            <a:r>
              <a:rPr spc="25" dirty="0"/>
              <a:t> </a:t>
            </a:r>
            <a:r>
              <a:rPr spc="75" dirty="0"/>
              <a:t>/</a:t>
            </a:r>
            <a:r>
              <a:rPr spc="25" dirty="0"/>
              <a:t> </a:t>
            </a:r>
            <a:r>
              <a:rPr spc="-25" dirty="0"/>
              <a:t>202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D4E9E19-92A5-79CB-6763-7733002D7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9831" y="2062781"/>
            <a:ext cx="1746250" cy="54604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Defining</a:t>
            </a:r>
            <a:r>
              <a:rPr spc="180" dirty="0"/>
              <a:t> </a:t>
            </a:r>
            <a:r>
              <a:rPr dirty="0"/>
              <a:t>neighborhoods</a:t>
            </a:r>
            <a:r>
              <a:rPr spc="190" dirty="0"/>
              <a:t> </a:t>
            </a:r>
            <a:r>
              <a:rPr dirty="0"/>
              <a:t>with</a:t>
            </a:r>
            <a:r>
              <a:rPr spc="185" dirty="0"/>
              <a:t> </a:t>
            </a:r>
            <a:r>
              <a:rPr spc="55" dirty="0"/>
              <a:t>the</a:t>
            </a:r>
            <a:r>
              <a:rPr spc="185" dirty="0"/>
              <a:t> </a:t>
            </a:r>
            <a:r>
              <a:rPr spc="50" dirty="0"/>
              <a:t>Katz</a:t>
            </a:r>
            <a:r>
              <a:rPr spc="185" dirty="0"/>
              <a:t> </a:t>
            </a:r>
            <a:r>
              <a:rPr dirty="0"/>
              <a:t>measure</a:t>
            </a:r>
            <a:r>
              <a:rPr spc="190" dirty="0"/>
              <a:t> </a:t>
            </a:r>
            <a:r>
              <a:rPr spc="-10"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5802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494446"/>
            <a:ext cx="4798695" cy="6483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60" dirty="0">
                <a:latin typeface="Georgia"/>
                <a:cs typeface="Georgia"/>
              </a:rPr>
              <a:t>K</a:t>
            </a:r>
            <a:r>
              <a:rPr sz="1100" i="1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m</a:t>
            </a:r>
            <a:r>
              <a:rPr sz="1100" i="1" spc="-45" dirty="0">
                <a:latin typeface="Georgia"/>
                <a:cs typeface="Georgia"/>
              </a:rPr>
              <a:t> </a:t>
            </a:r>
            <a:r>
              <a:rPr sz="1100" i="1" spc="-50" dirty="0">
                <a:latin typeface="Meiryo UI"/>
                <a:cs typeface="Meiryo UI"/>
              </a:rPr>
              <a:t>×</a:t>
            </a:r>
            <a:r>
              <a:rPr sz="1100" i="1" spc="-135" dirty="0">
                <a:latin typeface="Meiryo UI"/>
                <a:cs typeface="Meiryo UI"/>
              </a:rPr>
              <a:t> </a:t>
            </a:r>
            <a:r>
              <a:rPr sz="1100" i="1" dirty="0">
                <a:latin typeface="Georgia"/>
                <a:cs typeface="Georgia"/>
              </a:rPr>
              <a:t>m</a:t>
            </a:r>
            <a:r>
              <a:rPr sz="1100" i="1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matrix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Katz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coefficients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between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pairs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users.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ts val="1150"/>
              </a:lnSpc>
              <a:spcBef>
                <a:spcPts val="735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i="1" spc="70" dirty="0">
                <a:latin typeface="Georgia"/>
                <a:cs typeface="Georgia"/>
              </a:rPr>
              <a:t>A</a:t>
            </a:r>
            <a:r>
              <a:rPr sz="1100" i="1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symmetric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adjacency</a:t>
            </a:r>
            <a:r>
              <a:rPr sz="1100" b="1" spc="6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matrix</a:t>
            </a:r>
            <a:r>
              <a:rPr sz="1100" b="1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undirected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network,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 pairwise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Katz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coefficient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matrix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i="1" spc="160" dirty="0">
                <a:latin typeface="Georgia"/>
                <a:cs typeface="Georgia"/>
              </a:rPr>
              <a:t>K</a:t>
            </a:r>
            <a:r>
              <a:rPr sz="1100" i="1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computed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follows: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89625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4177" y="1543975"/>
            <a:ext cx="4963795" cy="12612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62660" algn="ctr">
              <a:lnSpc>
                <a:spcPct val="100000"/>
              </a:lnSpc>
              <a:spcBef>
                <a:spcPts val="95"/>
              </a:spcBef>
            </a:pP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800">
              <a:latin typeface="Georgia"/>
              <a:cs typeface="Georgia"/>
            </a:endParaRPr>
          </a:p>
          <a:p>
            <a:pPr marL="12700" marR="241935">
              <a:lnSpc>
                <a:spcPts val="1150"/>
              </a:lnSpc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value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β</a:t>
            </a:r>
            <a:r>
              <a:rPr sz="1100" i="1" spc="8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should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always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selected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smaller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inverse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 </a:t>
            </a:r>
            <a:r>
              <a:rPr sz="1100" spc="-10" dirty="0">
                <a:latin typeface="Georgia"/>
                <a:cs typeface="Georgia"/>
              </a:rPr>
              <a:t>largest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eigenvalue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70" dirty="0">
                <a:latin typeface="Georgia"/>
                <a:cs typeface="Georgia"/>
              </a:rPr>
              <a:t>A</a:t>
            </a:r>
            <a:r>
              <a:rPr sz="1100" i="1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ensure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convergence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infinite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summation.</a:t>
            </a:r>
            <a:endParaRPr sz="1100">
              <a:latin typeface="Georgia"/>
              <a:cs typeface="Georgia"/>
            </a:endParaRPr>
          </a:p>
          <a:p>
            <a:pPr marL="12700" marR="158750">
              <a:lnSpc>
                <a:spcPts val="1150"/>
              </a:lnSpc>
              <a:spcBef>
                <a:spcPts val="725"/>
              </a:spcBef>
            </a:pPr>
            <a:r>
              <a:rPr sz="1100" i="1" spc="70" dirty="0">
                <a:latin typeface="Georgia"/>
                <a:cs typeface="Georgia"/>
              </a:rPr>
              <a:t>A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replaced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weight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matrix</a:t>
            </a:r>
            <a:r>
              <a:rPr sz="1100" b="1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graph.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weight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 edges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user–item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graph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corresponding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rating</a:t>
            </a:r>
            <a:r>
              <a:rPr sz="1100" spc="-1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100" spc="-20" dirty="0">
                <a:latin typeface="Georgia"/>
                <a:cs typeface="Georgia"/>
              </a:rPr>
              <a:t>Should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apply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threshold</a:t>
            </a:r>
            <a:r>
              <a:rPr sz="1100" b="1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maximum</a:t>
            </a:r>
            <a:r>
              <a:rPr sz="1100" b="1" spc="3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path</a:t>
            </a:r>
            <a:r>
              <a:rPr sz="1100" b="1" spc="40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length</a:t>
            </a:r>
            <a:r>
              <a:rPr sz="1100" b="1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less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computation.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12587" y="1340445"/>
            <a:ext cx="270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(27)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7972" y="189517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7972" y="227965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7972" y="266414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6" name="object 1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71</a:t>
            </a:fld>
            <a:r>
              <a:rPr spc="25" dirty="0"/>
              <a:t> </a:t>
            </a:r>
            <a:r>
              <a:rPr spc="75" dirty="0"/>
              <a:t>/</a:t>
            </a:r>
            <a:r>
              <a:rPr spc="25" dirty="0"/>
              <a:t> </a:t>
            </a:r>
            <a:r>
              <a:rPr spc="-25" dirty="0"/>
              <a:t>202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B3E0BE-E6D0-FCB5-5F20-142934CE9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118" y="1197231"/>
            <a:ext cx="2289782" cy="54721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Item–item</a:t>
            </a:r>
            <a:r>
              <a:rPr spc="405" dirty="0"/>
              <a:t> </a:t>
            </a:r>
            <a:r>
              <a:rPr spc="-10" dirty="0"/>
              <a:t>graphs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2636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76182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97535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15841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35615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61643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82996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202772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21076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3377" y="365554"/>
            <a:ext cx="5229860" cy="193802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Georgia"/>
                <a:cs typeface="Georgia"/>
              </a:rPr>
              <a:t>An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item–item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graph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called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correlation</a:t>
            </a:r>
            <a:r>
              <a:rPr sz="1100" i="1" spc="10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graph</a:t>
            </a:r>
            <a:r>
              <a:rPr sz="1100" spc="-1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535"/>
              </a:spcBef>
            </a:pPr>
            <a:r>
              <a:rPr sz="1100" dirty="0">
                <a:latin typeface="Georgia"/>
                <a:cs typeface="Georgia"/>
              </a:rPr>
              <a:t>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item–item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graph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weighted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directed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network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i="1" spc="55" dirty="0">
                <a:latin typeface="Georgia"/>
                <a:cs typeface="Georgia"/>
              </a:rPr>
              <a:t>G</a:t>
            </a:r>
            <a:r>
              <a:rPr sz="1100" i="1" spc="5" dirty="0">
                <a:latin typeface="Georgia"/>
                <a:cs typeface="Georgia"/>
              </a:rPr>
              <a:t> </a:t>
            </a:r>
            <a:r>
              <a:rPr sz="1100" spc="215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i="1" dirty="0">
                <a:latin typeface="Georgia"/>
                <a:cs typeface="Georgia"/>
              </a:rPr>
              <a:t>N,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A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r>
              <a:rPr sz="1100" spc="-2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34036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Times New Roman"/>
                <a:cs typeface="Times New Roman"/>
              </a:rPr>
              <a:t>Each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node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N</a:t>
            </a:r>
            <a:r>
              <a:rPr sz="1000" i="1" spc="27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item.</a:t>
            </a:r>
            <a:endParaRPr sz="1000">
              <a:latin typeface="Times New Roman"/>
              <a:cs typeface="Times New Roman"/>
            </a:endParaRPr>
          </a:p>
          <a:p>
            <a:pPr marL="340360">
              <a:lnSpc>
                <a:spcPct val="100000"/>
              </a:lnSpc>
              <a:spcBef>
                <a:spcPts val="240"/>
              </a:spcBef>
            </a:pPr>
            <a:r>
              <a:rPr sz="1000" spc="10" dirty="0">
                <a:latin typeface="Times New Roman"/>
                <a:cs typeface="Times New Roman"/>
              </a:rPr>
              <a:t>Each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edge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(</a:t>
            </a:r>
            <a:r>
              <a:rPr sz="1000" i="1" spc="10" dirty="0">
                <a:latin typeface="Georgia"/>
                <a:cs typeface="Georgia"/>
              </a:rPr>
              <a:t>i,</a:t>
            </a:r>
            <a:r>
              <a:rPr sz="1000" i="1" spc="-45" dirty="0">
                <a:latin typeface="Georgia"/>
                <a:cs typeface="Georgia"/>
              </a:rPr>
              <a:t> </a:t>
            </a:r>
            <a:r>
              <a:rPr sz="1000" i="1" spc="110" dirty="0">
                <a:latin typeface="Georgia"/>
                <a:cs typeface="Georgia"/>
              </a:rPr>
              <a:t>j</a:t>
            </a:r>
            <a:r>
              <a:rPr sz="1000" spc="110" dirty="0">
                <a:latin typeface="Times New Roman"/>
                <a:cs typeface="Times New Roman"/>
              </a:rPr>
              <a:t>)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spc="65" dirty="0">
                <a:latin typeface="Georgia"/>
                <a:cs typeface="Georgia"/>
              </a:rPr>
              <a:t>A</a:t>
            </a:r>
            <a:r>
              <a:rPr sz="1000" i="1" spc="140" dirty="0">
                <a:latin typeface="Georgia"/>
                <a:cs typeface="Georgia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relationship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between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items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Georgia"/>
                <a:cs typeface="Georgia"/>
              </a:rPr>
              <a:t>i</a:t>
            </a:r>
            <a:r>
              <a:rPr sz="1000" i="1" spc="135" dirty="0">
                <a:latin typeface="Georgia"/>
                <a:cs typeface="Georgia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spc="85" dirty="0">
                <a:latin typeface="Georgia"/>
                <a:cs typeface="Georgia"/>
              </a:rPr>
              <a:t>j</a:t>
            </a:r>
            <a:r>
              <a:rPr sz="1000" spc="85" dirty="0">
                <a:latin typeface="Times New Roman"/>
                <a:cs typeface="Times New Roman"/>
              </a:rPr>
              <a:t>;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having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weight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spc="10" dirty="0">
                <a:latin typeface="Georgia"/>
                <a:cs typeface="Georgia"/>
              </a:rPr>
              <a:t>w</a:t>
            </a:r>
            <a:r>
              <a:rPr sz="1050" i="1" spc="15" baseline="-11904" dirty="0">
                <a:latin typeface="Georgia"/>
                <a:cs typeface="Georgia"/>
              </a:rPr>
              <a:t>ij</a:t>
            </a:r>
            <a:r>
              <a:rPr sz="1050" i="1" spc="-89" baseline="-11904" dirty="0">
                <a:latin typeface="Georgia"/>
                <a:cs typeface="Georgia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340360">
              <a:lnSpc>
                <a:spcPct val="100000"/>
              </a:lnSpc>
              <a:spcBef>
                <a:spcPts val="355"/>
              </a:spcBef>
            </a:pPr>
            <a:r>
              <a:rPr sz="1000" dirty="0">
                <a:latin typeface="Times New Roman"/>
                <a:cs typeface="Times New Roman"/>
              </a:rPr>
              <a:t>If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i</a:t>
            </a:r>
            <a:r>
              <a:rPr sz="1000" i="1" spc="16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i="1" spc="120" dirty="0">
                <a:latin typeface="Georgia"/>
                <a:cs typeface="Georgia"/>
              </a:rPr>
              <a:t>j</a:t>
            </a:r>
            <a:r>
              <a:rPr sz="1000" i="1" spc="22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at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least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common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both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edges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Georgia"/>
                <a:cs typeface="Georgia"/>
              </a:rPr>
              <a:t>i,</a:t>
            </a:r>
            <a:r>
              <a:rPr sz="1000" i="1" spc="-40" dirty="0">
                <a:latin typeface="Georgia"/>
                <a:cs typeface="Georgia"/>
              </a:rPr>
              <a:t> </a:t>
            </a:r>
            <a:r>
              <a:rPr sz="1000" i="1" spc="110" dirty="0">
                <a:latin typeface="Georgia"/>
                <a:cs typeface="Georgia"/>
              </a:rPr>
              <a:t>j</a:t>
            </a:r>
            <a:r>
              <a:rPr sz="1000" spc="110" dirty="0">
                <a:latin typeface="Times New Roman"/>
                <a:cs typeface="Times New Roman"/>
              </a:rPr>
              <a:t>)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(</a:t>
            </a:r>
            <a:r>
              <a:rPr sz="1000" i="1" spc="55" dirty="0">
                <a:latin typeface="Georgia"/>
                <a:cs typeface="Georgia"/>
              </a:rPr>
              <a:t>j,</a:t>
            </a:r>
            <a:r>
              <a:rPr sz="1000" i="1" spc="-40" dirty="0">
                <a:latin typeface="Georgia"/>
                <a:cs typeface="Georgia"/>
              </a:rPr>
              <a:t> </a:t>
            </a:r>
            <a:r>
              <a:rPr sz="1000" i="1" dirty="0">
                <a:latin typeface="Georgia"/>
                <a:cs typeface="Georgia"/>
              </a:rPr>
              <a:t>i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exist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i="1" spc="-25" dirty="0">
                <a:latin typeface="Georgia"/>
                <a:cs typeface="Georgia"/>
              </a:rPr>
              <a:t>G</a:t>
            </a:r>
            <a:r>
              <a:rPr sz="1000" spc="-25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795"/>
              </a:spcBef>
            </a:pPr>
            <a:r>
              <a:rPr sz="1100" spc="-10" dirty="0">
                <a:latin typeface="Georgia"/>
                <a:cs typeface="Georgia"/>
              </a:rPr>
              <a:t>Computing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weight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w</a:t>
            </a:r>
            <a:r>
              <a:rPr sz="1200" i="1" baseline="-10416" dirty="0">
                <a:latin typeface="Georgia"/>
                <a:cs typeface="Georgia"/>
              </a:rPr>
              <a:t>ij</a:t>
            </a:r>
            <a:r>
              <a:rPr sz="1200" i="1" spc="315" baseline="-10416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edge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i="1" dirty="0">
                <a:latin typeface="Georgia"/>
                <a:cs typeface="Georgia"/>
              </a:rPr>
              <a:t>i,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35" dirty="0">
                <a:latin typeface="Georgia"/>
                <a:cs typeface="Georgia"/>
              </a:rPr>
              <a:t>j</a:t>
            </a:r>
            <a:r>
              <a:rPr sz="1100" spc="35" dirty="0">
                <a:latin typeface="Times New Roman"/>
                <a:cs typeface="Times New Roman"/>
              </a:rPr>
              <a:t>)</a:t>
            </a:r>
            <a:r>
              <a:rPr sz="1100" spc="3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340360" marR="350520">
              <a:lnSpc>
                <a:spcPct val="129800"/>
              </a:lnSpc>
              <a:spcBef>
                <a:spcPts val="60"/>
              </a:spcBef>
            </a:pPr>
            <a:r>
              <a:rPr sz="1000" dirty="0">
                <a:latin typeface="Times New Roman"/>
                <a:cs typeface="Times New Roman"/>
              </a:rPr>
              <a:t>Let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U</a:t>
            </a:r>
            <a:r>
              <a:rPr sz="1050" i="1" baseline="-11904" dirty="0">
                <a:latin typeface="Georgia"/>
                <a:cs typeface="Georgia"/>
              </a:rPr>
              <a:t>i</a:t>
            </a:r>
            <a:r>
              <a:rPr sz="1050" i="1" spc="472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U</a:t>
            </a:r>
            <a:r>
              <a:rPr sz="1050" i="1" baseline="-11904" dirty="0">
                <a:latin typeface="Georgia"/>
                <a:cs typeface="Georgia"/>
              </a:rPr>
              <a:t>j</a:t>
            </a:r>
            <a:r>
              <a:rPr sz="1050" i="1" spc="562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sets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rated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i</a:t>
            </a:r>
            <a:r>
              <a:rPr sz="1000" i="1" spc="17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i="1" spc="100" dirty="0">
                <a:latin typeface="Georgia"/>
                <a:cs typeface="Georgia"/>
              </a:rPr>
              <a:t>j</a:t>
            </a:r>
            <a:r>
              <a:rPr sz="1000" spc="100" dirty="0">
                <a:latin typeface="Times New Roman"/>
                <a:cs typeface="Times New Roman"/>
              </a:rPr>
              <a:t>,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respectively. </a:t>
            </a:r>
            <a:r>
              <a:rPr sz="1000" dirty="0">
                <a:latin typeface="Times New Roman"/>
                <a:cs typeface="Times New Roman"/>
              </a:rPr>
              <a:t>Initialize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w</a:t>
            </a:r>
            <a:r>
              <a:rPr sz="1050" i="1" baseline="-11904" dirty="0">
                <a:latin typeface="Georgia"/>
                <a:cs typeface="Georgia"/>
              </a:rPr>
              <a:t>ij</a:t>
            </a:r>
            <a:r>
              <a:rPr sz="1050" i="1" spc="427" baseline="-11904" dirty="0">
                <a:latin typeface="Georgia"/>
                <a:cs typeface="Georgia"/>
              </a:rPr>
              <a:t> </a:t>
            </a:r>
            <a:r>
              <a:rPr sz="1000" spc="204" dirty="0">
                <a:latin typeface="Times New Roman"/>
                <a:cs typeface="Times New Roman"/>
              </a:rPr>
              <a:t>=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i="1" spc="-35" dirty="0">
                <a:latin typeface="Meiryo UI"/>
                <a:cs typeface="Meiryo UI"/>
              </a:rPr>
              <a:t>|</a:t>
            </a:r>
            <a:r>
              <a:rPr sz="1000" i="1" spc="-35" dirty="0">
                <a:latin typeface="Georgia"/>
                <a:cs typeface="Georgia"/>
              </a:rPr>
              <a:t>U</a:t>
            </a:r>
            <a:r>
              <a:rPr sz="1050" i="1" spc="-52" baseline="-11904" dirty="0">
                <a:latin typeface="Georgia"/>
                <a:cs typeface="Georgia"/>
              </a:rPr>
              <a:t>i</a:t>
            </a:r>
            <a:r>
              <a:rPr sz="1050" i="1" spc="254" baseline="-11904" dirty="0">
                <a:latin typeface="Georgia"/>
                <a:cs typeface="Georgia"/>
              </a:rPr>
              <a:t> </a:t>
            </a:r>
            <a:r>
              <a:rPr sz="1000" i="1" spc="-150" dirty="0">
                <a:latin typeface="Meiryo UI"/>
                <a:cs typeface="Meiryo UI"/>
              </a:rPr>
              <a:t>∩</a:t>
            </a:r>
            <a:r>
              <a:rPr sz="1000" i="1" spc="-70" dirty="0">
                <a:latin typeface="Meiryo UI"/>
                <a:cs typeface="Meiryo UI"/>
              </a:rPr>
              <a:t> </a:t>
            </a:r>
            <a:r>
              <a:rPr sz="1000" i="1" dirty="0">
                <a:latin typeface="Georgia"/>
                <a:cs typeface="Georgia"/>
              </a:rPr>
              <a:t>U</a:t>
            </a:r>
            <a:r>
              <a:rPr sz="1050" i="1" baseline="-11904" dirty="0">
                <a:latin typeface="Georgia"/>
                <a:cs typeface="Georgia"/>
              </a:rPr>
              <a:t>j</a:t>
            </a:r>
            <a:r>
              <a:rPr sz="1000" i="1" dirty="0">
                <a:latin typeface="Meiryo UI"/>
                <a:cs typeface="Meiryo UI"/>
              </a:rPr>
              <a:t>|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At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point,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w</a:t>
            </a:r>
            <a:r>
              <a:rPr sz="1050" i="1" baseline="-11904" dirty="0">
                <a:latin typeface="Georgia"/>
                <a:cs typeface="Georgia"/>
              </a:rPr>
              <a:t>ij</a:t>
            </a:r>
            <a:r>
              <a:rPr sz="1050" i="1" spc="427" baseline="-11904" dirty="0">
                <a:latin typeface="Georgia"/>
                <a:cs typeface="Georgia"/>
              </a:rPr>
              <a:t> </a:t>
            </a:r>
            <a:r>
              <a:rPr sz="1000" spc="204" dirty="0">
                <a:latin typeface="Times New Roman"/>
                <a:cs typeface="Times New Roman"/>
              </a:rPr>
              <a:t>=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Georgia"/>
                <a:cs typeface="Georgia"/>
              </a:rPr>
              <a:t>w</a:t>
            </a:r>
            <a:r>
              <a:rPr sz="1050" i="1" baseline="-11904" dirty="0">
                <a:latin typeface="Georgia"/>
                <a:cs typeface="Georgia"/>
              </a:rPr>
              <a:t>ji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i.e.,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symmetric.</a:t>
            </a:r>
            <a:endParaRPr sz="1000">
              <a:latin typeface="Times New Roman"/>
              <a:cs typeface="Times New Roman"/>
            </a:endParaRPr>
          </a:p>
          <a:p>
            <a:pPr marL="340360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Weight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normalization: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sum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weights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outgoing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edges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node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equal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1.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32628" y="2407785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imes New Roman"/>
                <a:cs typeface="Times New Roman"/>
              </a:rPr>
              <a:t>(28)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20229" y="286914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1266" y="2784378"/>
            <a:ext cx="4038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Now,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weights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edges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i="1" spc="55" dirty="0">
                <a:latin typeface="Georgia"/>
                <a:cs typeface="Georgia"/>
              </a:rPr>
              <a:t>G</a:t>
            </a:r>
            <a:r>
              <a:rPr sz="1000" i="1" spc="145" dirty="0">
                <a:latin typeface="Georgia"/>
                <a:cs typeface="Georgia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correspond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random–walk</a:t>
            </a:r>
            <a:r>
              <a:rPr sz="1000" i="1" spc="165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probabilities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29" name="object 2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72</a:t>
            </a:fld>
            <a:r>
              <a:rPr spc="25" dirty="0"/>
              <a:t> </a:t>
            </a:r>
            <a:r>
              <a:rPr spc="75" dirty="0"/>
              <a:t>/</a:t>
            </a:r>
            <a:r>
              <a:rPr spc="25" dirty="0"/>
              <a:t> </a:t>
            </a:r>
            <a:r>
              <a:rPr spc="-25" dirty="0"/>
              <a:t>202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9705363-4ED3-3BC9-E731-511B556DD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849" y="2334542"/>
            <a:ext cx="2959100" cy="46861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24358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Example</a:t>
            </a:r>
            <a:r>
              <a:rPr sz="1400" spc="24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of</a:t>
            </a:r>
            <a:r>
              <a:rPr sz="1400" spc="24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item–item</a:t>
            </a:r>
            <a:r>
              <a:rPr sz="1400" spc="25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CC0000"/>
                </a:solidFill>
                <a:latin typeface="Times New Roman"/>
                <a:cs typeface="Times New Roman"/>
              </a:rPr>
              <a:t>graph</a:t>
            </a:r>
            <a:r>
              <a:rPr sz="1400" spc="24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CC0000"/>
                </a:solidFill>
                <a:latin typeface="Times New Roman"/>
                <a:cs typeface="Times New Roman"/>
                <a:hlinkClick r:id="rId2" action="ppaction://hlinksldjump"/>
              </a:rPr>
              <a:t>[8]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4297" y="480186"/>
            <a:ext cx="2636805" cy="246126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73</a:t>
            </a:fld>
            <a:r>
              <a:rPr spc="25" dirty="0"/>
              <a:t> </a:t>
            </a:r>
            <a:r>
              <a:rPr spc="75" dirty="0"/>
              <a:t>/</a:t>
            </a:r>
            <a:r>
              <a:rPr spc="2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Item–item</a:t>
            </a:r>
            <a:r>
              <a:rPr spc="340" dirty="0"/>
              <a:t> </a:t>
            </a:r>
            <a:r>
              <a:rPr dirty="0"/>
              <a:t>graphs</a:t>
            </a:r>
            <a:r>
              <a:rPr spc="355" dirty="0"/>
              <a:t> </a:t>
            </a:r>
            <a:r>
              <a:rPr spc="-10"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117461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1011044"/>
            <a:ext cx="5068570" cy="9785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5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weights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normalized</a:t>
            </a:r>
            <a:r>
              <a:rPr sz="1100" i="1" spc="140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Georgia"/>
                <a:cs typeface="Georgia"/>
              </a:rPr>
              <a:t>correlation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graph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not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symmetric</a:t>
            </a:r>
            <a:r>
              <a:rPr sz="1100" spc="-1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12700" marR="5080" algn="just">
              <a:lnSpc>
                <a:spcPct val="142100"/>
              </a:lnSpc>
            </a:pPr>
            <a:r>
              <a:rPr sz="1100" spc="-20" dirty="0">
                <a:latin typeface="Georgia"/>
                <a:cs typeface="Georgia"/>
              </a:rPr>
              <a:t>Weights</a:t>
            </a:r>
            <a:r>
              <a:rPr sz="1100" dirty="0">
                <a:latin typeface="Georgia"/>
                <a:cs typeface="Georgia"/>
              </a:rPr>
              <a:t> can be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defined</a:t>
            </a:r>
            <a:r>
              <a:rPr sz="1100" dirty="0">
                <a:latin typeface="Georgia"/>
                <a:cs typeface="Georgia"/>
              </a:rPr>
              <a:t> by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using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cosine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between</a:t>
            </a:r>
            <a:r>
              <a:rPr sz="1100" dirty="0">
                <a:latin typeface="Georgia"/>
                <a:cs typeface="Georgia"/>
              </a:rPr>
              <a:t> the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 </a:t>
            </a:r>
            <a:r>
              <a:rPr sz="1100" spc="-10" dirty="0">
                <a:latin typeface="Georgia"/>
                <a:cs typeface="Georgia"/>
              </a:rPr>
              <a:t>vectors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 the two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items. </a:t>
            </a:r>
            <a:r>
              <a:rPr sz="1100" spc="-40" dirty="0">
                <a:latin typeface="Georgia"/>
                <a:cs typeface="Georgia"/>
              </a:rPr>
              <a:t>Random–walk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methods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determine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neighborhood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given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item.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graph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used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item–based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collaborative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filtering.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141282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65105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88926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74</a:t>
            </a:fld>
            <a:r>
              <a:rPr spc="25" dirty="0"/>
              <a:t> </a:t>
            </a:r>
            <a:r>
              <a:rPr spc="75" dirty="0"/>
              <a:t>/</a:t>
            </a:r>
            <a:r>
              <a:rPr spc="25"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5973" y="514107"/>
            <a:ext cx="5160645" cy="23590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25425" marR="8890" indent="-213360">
              <a:lnSpc>
                <a:spcPts val="1150"/>
              </a:lnSpc>
              <a:spcBef>
                <a:spcPts val="270"/>
              </a:spcBef>
              <a:buFont typeface="Georgia"/>
              <a:buAutoNum type="arabicPlain"/>
              <a:tabLst>
                <a:tab pos="227329" algn="l"/>
              </a:tabLst>
            </a:pPr>
            <a:r>
              <a:rPr sz="1100" dirty="0">
                <a:latin typeface="Georgia"/>
                <a:cs typeface="Georgia"/>
              </a:rPr>
              <a:t>J.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Han,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M.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Kamber,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J.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Pei.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Data</a:t>
            </a:r>
            <a:r>
              <a:rPr sz="1100" i="1" spc="10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Mining:</a:t>
            </a:r>
            <a:r>
              <a:rPr sz="1100" i="1" spc="21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Concepts</a:t>
            </a:r>
            <a:r>
              <a:rPr sz="1100" i="1" spc="10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and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Techniques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Morgan 	</a:t>
            </a:r>
            <a:r>
              <a:rPr sz="1100" spc="-20" dirty="0">
                <a:latin typeface="Georgia"/>
                <a:cs typeface="Georgia"/>
              </a:rPr>
              <a:t>Kaufmann,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Elsevier,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2012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[</a:t>
            </a:r>
            <a:r>
              <a:rPr sz="1100" spc="-10" dirty="0">
                <a:solidFill>
                  <a:srgbClr val="FF0000"/>
                </a:solidFill>
                <a:latin typeface="Georgia"/>
                <a:cs typeface="Georgia"/>
              </a:rPr>
              <a:t>Book1</a:t>
            </a:r>
            <a:r>
              <a:rPr sz="1100" spc="-10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6060" indent="-213360">
              <a:lnSpc>
                <a:spcPct val="100000"/>
              </a:lnSpc>
              <a:spcBef>
                <a:spcPts val="120"/>
              </a:spcBef>
              <a:buFont typeface="Georgia"/>
              <a:buAutoNum type="arabicPlain"/>
              <a:tabLst>
                <a:tab pos="226060" algn="l"/>
              </a:tabLst>
            </a:pPr>
            <a:r>
              <a:rPr sz="1100" dirty="0">
                <a:latin typeface="Georgia"/>
                <a:cs typeface="Georgia"/>
              </a:rPr>
              <a:t>C.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Aggarwal.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Data</a:t>
            </a:r>
            <a:r>
              <a:rPr sz="1100" i="1" spc="10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Mining:</a:t>
            </a:r>
            <a:r>
              <a:rPr sz="1100" i="1" spc="204" dirty="0">
                <a:latin typeface="Palatino Linotype"/>
                <a:cs typeface="Palatino Linotype"/>
              </a:rPr>
              <a:t> </a:t>
            </a:r>
            <a:r>
              <a:rPr sz="1100" i="1" spc="55" dirty="0">
                <a:latin typeface="Palatino Linotype"/>
                <a:cs typeface="Palatino Linotype"/>
              </a:rPr>
              <a:t>The</a:t>
            </a:r>
            <a:r>
              <a:rPr sz="1100" i="1" spc="10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Textbook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Springer,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2015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[</a:t>
            </a:r>
            <a:r>
              <a:rPr sz="1100" spc="-10" dirty="0">
                <a:solidFill>
                  <a:srgbClr val="FF0000"/>
                </a:solidFill>
                <a:latin typeface="Georgia"/>
                <a:cs typeface="Georgia"/>
              </a:rPr>
              <a:t>Book2</a:t>
            </a:r>
            <a:r>
              <a:rPr sz="1100" spc="-10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5425" marR="354330" indent="-213360">
              <a:lnSpc>
                <a:spcPts val="1150"/>
              </a:lnSpc>
              <a:spcBef>
                <a:spcPts val="310"/>
              </a:spcBef>
              <a:buAutoNum type="arabicPlain"/>
              <a:tabLst>
                <a:tab pos="227329" algn="l"/>
              </a:tabLst>
            </a:pPr>
            <a:r>
              <a:rPr sz="1100" dirty="0">
                <a:latin typeface="Georgia"/>
                <a:cs typeface="Georgia"/>
              </a:rPr>
              <a:t>J.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Leskovec,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A.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Rajaraman,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J.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D.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Ullman.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Mining</a:t>
            </a:r>
            <a:r>
              <a:rPr sz="1100" i="1" spc="9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of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Massive</a:t>
            </a:r>
            <a:r>
              <a:rPr sz="1100" i="1" spc="95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Datasets</a:t>
            </a:r>
            <a:r>
              <a:rPr sz="1100" spc="-10" dirty="0">
                <a:latin typeface="Georgia"/>
                <a:cs typeface="Georgia"/>
              </a:rPr>
              <a:t>. 	</a:t>
            </a:r>
            <a:r>
              <a:rPr sz="1100" spc="-20" dirty="0">
                <a:latin typeface="Georgia"/>
                <a:cs typeface="Georgia"/>
              </a:rPr>
              <a:t>Cambridge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University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Press,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2014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[</a:t>
            </a:r>
            <a:r>
              <a:rPr sz="1100" spc="-10" dirty="0">
                <a:solidFill>
                  <a:srgbClr val="FF0000"/>
                </a:solidFill>
                <a:latin typeface="Georgia"/>
                <a:cs typeface="Georgia"/>
              </a:rPr>
              <a:t>Book3</a:t>
            </a:r>
            <a:r>
              <a:rPr sz="1100" spc="-10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5425" marR="5080" indent="-213360">
              <a:lnSpc>
                <a:spcPts val="1150"/>
              </a:lnSpc>
              <a:spcBef>
                <a:spcPts val="305"/>
              </a:spcBef>
              <a:buAutoNum type="arabicPlain"/>
              <a:tabLst>
                <a:tab pos="227329" algn="l"/>
              </a:tabLst>
            </a:pPr>
            <a:r>
              <a:rPr sz="1100" dirty="0">
                <a:latin typeface="Georgia"/>
                <a:cs typeface="Georgia"/>
              </a:rPr>
              <a:t>M.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J.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Zaki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W.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M.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Jr.</a:t>
            </a:r>
            <a:r>
              <a:rPr sz="1100" spc="220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Data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Mining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and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Analysis:</a:t>
            </a:r>
            <a:r>
              <a:rPr sz="1100" i="1" spc="23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Fundamental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Concepts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-25" dirty="0">
                <a:latin typeface="Palatino Linotype"/>
                <a:cs typeface="Palatino Linotype"/>
              </a:rPr>
              <a:t>and 	</a:t>
            </a:r>
            <a:r>
              <a:rPr sz="1100" i="1" dirty="0">
                <a:latin typeface="Palatino Linotype"/>
                <a:cs typeface="Palatino Linotype"/>
              </a:rPr>
              <a:t>Algorithms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Cambridge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University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Press,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2013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[</a:t>
            </a:r>
            <a:r>
              <a:rPr sz="1100" spc="-10" dirty="0">
                <a:solidFill>
                  <a:srgbClr val="FF0000"/>
                </a:solidFill>
                <a:latin typeface="Georgia"/>
                <a:cs typeface="Georgia"/>
              </a:rPr>
              <a:t>Book4</a:t>
            </a:r>
            <a:r>
              <a:rPr sz="1100" spc="-10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5425" marR="53975" indent="-213360">
              <a:lnSpc>
                <a:spcPts val="1150"/>
              </a:lnSpc>
              <a:spcBef>
                <a:spcPts val="300"/>
              </a:spcBef>
              <a:buAutoNum type="arabicPlain"/>
              <a:tabLst>
                <a:tab pos="227329" algn="l"/>
              </a:tabLst>
            </a:pPr>
            <a:r>
              <a:rPr sz="1100" dirty="0">
                <a:latin typeface="Georgia"/>
                <a:cs typeface="Georgia"/>
              </a:rPr>
              <a:t>D.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Easley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J.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Kleinberg.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Networks,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Crowds,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and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Markets:</a:t>
            </a:r>
            <a:r>
              <a:rPr sz="1100" i="1" spc="229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Reasoning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About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a 	</a:t>
            </a:r>
            <a:r>
              <a:rPr sz="1100" i="1" spc="-10" dirty="0">
                <a:latin typeface="Palatino Linotype"/>
                <a:cs typeface="Palatino Linotype"/>
              </a:rPr>
              <a:t>Highly</a:t>
            </a:r>
            <a:r>
              <a:rPr sz="1100" i="1" spc="7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Connected</a:t>
            </a:r>
            <a:r>
              <a:rPr sz="1100" i="1" spc="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World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Cambridge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University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Press,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2010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[</a:t>
            </a:r>
            <a:r>
              <a:rPr sz="1100" spc="-10" dirty="0">
                <a:solidFill>
                  <a:srgbClr val="FF0000"/>
                </a:solidFill>
                <a:latin typeface="Georgia"/>
                <a:cs typeface="Georgia"/>
              </a:rPr>
              <a:t>Book5</a:t>
            </a:r>
            <a:r>
              <a:rPr sz="1100" spc="-10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5425" marR="34925" indent="-213360">
              <a:lnSpc>
                <a:spcPts val="1150"/>
              </a:lnSpc>
              <a:spcBef>
                <a:spcPts val="305"/>
              </a:spcBef>
              <a:buAutoNum type="arabicPlain"/>
              <a:tabLst>
                <a:tab pos="227329" algn="l"/>
              </a:tabLst>
            </a:pPr>
            <a:r>
              <a:rPr sz="1100" dirty="0">
                <a:latin typeface="Georgia"/>
                <a:cs typeface="Georgia"/>
              </a:rPr>
              <a:t>J.</a:t>
            </a:r>
            <a:r>
              <a:rPr sz="1100" spc="1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VanderPlas.</a:t>
            </a:r>
            <a:r>
              <a:rPr sz="1100" spc="280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Python</a:t>
            </a:r>
            <a:r>
              <a:rPr sz="1100" i="1" spc="17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Data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Science</a:t>
            </a:r>
            <a:r>
              <a:rPr sz="1100" i="1" spc="17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Handbook:</a:t>
            </a:r>
            <a:r>
              <a:rPr sz="1100" i="1" spc="30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Essential</a:t>
            </a:r>
            <a:r>
              <a:rPr sz="1100" i="1" spc="17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Tools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for</a:t>
            </a:r>
            <a:r>
              <a:rPr sz="1100" i="1" spc="17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Working</a:t>
            </a:r>
            <a:r>
              <a:rPr sz="1100" i="1" spc="170" dirty="0">
                <a:latin typeface="Palatino Linotype"/>
                <a:cs typeface="Palatino Linotype"/>
              </a:rPr>
              <a:t> </a:t>
            </a:r>
            <a:r>
              <a:rPr sz="1100" i="1" spc="-20" dirty="0">
                <a:latin typeface="Palatino Linotype"/>
                <a:cs typeface="Palatino Linotype"/>
              </a:rPr>
              <a:t>with 	</a:t>
            </a:r>
            <a:r>
              <a:rPr sz="1100" i="1" dirty="0">
                <a:latin typeface="Palatino Linotype"/>
                <a:cs typeface="Palatino Linotype"/>
              </a:rPr>
              <a:t>Data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17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O’Reilly,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2017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[</a:t>
            </a:r>
            <a:r>
              <a:rPr sz="1100" spc="-10" dirty="0">
                <a:solidFill>
                  <a:srgbClr val="FF0000"/>
                </a:solidFill>
                <a:latin typeface="Georgia"/>
                <a:cs typeface="Georgia"/>
              </a:rPr>
              <a:t>Book6</a:t>
            </a:r>
            <a:r>
              <a:rPr sz="1100" spc="-10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5425" marR="20320" indent="-213360">
              <a:lnSpc>
                <a:spcPts val="1150"/>
              </a:lnSpc>
              <a:spcBef>
                <a:spcPts val="300"/>
              </a:spcBef>
              <a:buAutoNum type="arabicPlain"/>
              <a:tabLst>
                <a:tab pos="227329" algn="l"/>
              </a:tabLst>
            </a:pPr>
            <a:r>
              <a:rPr sz="1100" dirty="0">
                <a:latin typeface="Georgia"/>
                <a:cs typeface="Georgia"/>
              </a:rPr>
              <a:t>J.</a:t>
            </a:r>
            <a:r>
              <a:rPr sz="1100" spc="1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Grus.</a:t>
            </a:r>
            <a:r>
              <a:rPr sz="1100" spc="285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Data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Science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from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Scratch:</a:t>
            </a:r>
            <a:r>
              <a:rPr sz="1100" i="1" spc="30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First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Principles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with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Python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2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O’Reilly,</a:t>
            </a:r>
            <a:r>
              <a:rPr sz="1100" spc="1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2015 	</a:t>
            </a:r>
            <a:r>
              <a:rPr sz="1100" spc="-10" dirty="0">
                <a:latin typeface="Georgia"/>
                <a:cs typeface="Georgia"/>
              </a:rPr>
              <a:t>[</a:t>
            </a:r>
            <a:r>
              <a:rPr sz="1100" spc="-10" dirty="0">
                <a:solidFill>
                  <a:srgbClr val="FF0000"/>
                </a:solidFill>
                <a:latin typeface="Georgia"/>
                <a:cs typeface="Georgia"/>
              </a:rPr>
              <a:t>Book7</a:t>
            </a:r>
            <a:r>
              <a:rPr sz="1100" spc="-10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6060" indent="-213360">
              <a:lnSpc>
                <a:spcPct val="100000"/>
              </a:lnSpc>
              <a:spcBef>
                <a:spcPts val="125"/>
              </a:spcBef>
              <a:buAutoNum type="arabicPlain"/>
              <a:tabLst>
                <a:tab pos="226060" algn="l"/>
              </a:tabLst>
            </a:pPr>
            <a:r>
              <a:rPr sz="1100" dirty="0">
                <a:latin typeface="Georgia"/>
                <a:cs typeface="Georgia"/>
              </a:rPr>
              <a:t>C.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Aggarwal.</a:t>
            </a:r>
            <a:r>
              <a:rPr sz="1100" spc="250" dirty="0">
                <a:latin typeface="Georgia"/>
                <a:cs typeface="Georgi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Recommender</a:t>
            </a:r>
            <a:r>
              <a:rPr sz="1100" i="1" spc="14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Systems:</a:t>
            </a:r>
            <a:r>
              <a:rPr sz="1100" i="1" spc="260" dirty="0">
                <a:latin typeface="Palatino Linotype"/>
                <a:cs typeface="Palatino Linotype"/>
              </a:rPr>
              <a:t> </a:t>
            </a:r>
            <a:r>
              <a:rPr sz="1100" i="1" spc="55" dirty="0">
                <a:latin typeface="Palatino Linotype"/>
                <a:cs typeface="Palatino Linotype"/>
              </a:rPr>
              <a:t>The</a:t>
            </a:r>
            <a:r>
              <a:rPr sz="1100" i="1" spc="14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Textbook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2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Springer,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2016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[</a:t>
            </a:r>
            <a:r>
              <a:rPr sz="1100" spc="-10" dirty="0">
                <a:solidFill>
                  <a:srgbClr val="FF0000"/>
                </a:solidFill>
                <a:latin typeface="Georgia"/>
                <a:cs typeface="Georgia"/>
              </a:rPr>
              <a:t>Book8</a:t>
            </a:r>
            <a:r>
              <a:rPr sz="1100" spc="-10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75</a:t>
            </a:fld>
            <a:r>
              <a:rPr dirty="0"/>
              <a:t> </a:t>
            </a:r>
            <a:r>
              <a:rPr spc="75" dirty="0"/>
              <a:t>/</a:t>
            </a:r>
            <a:r>
              <a:rPr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43822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62048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972" y="79918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96942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7458" y="1134490"/>
            <a:ext cx="0" cy="715010"/>
          </a:xfrm>
          <a:custGeom>
            <a:avLst/>
            <a:gdLst/>
            <a:ahLst/>
            <a:cxnLst/>
            <a:rect l="l" t="t" r="r" b="b"/>
            <a:pathLst>
              <a:path h="715010">
                <a:moveTo>
                  <a:pt x="0" y="0"/>
                </a:moveTo>
                <a:lnTo>
                  <a:pt x="0" y="714692"/>
                </a:lnTo>
              </a:path>
            </a:pathLst>
          </a:custGeom>
          <a:ln w="54457">
            <a:solidFill>
              <a:srgbClr val="3333B2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4177" y="330616"/>
            <a:ext cx="5056505" cy="1720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139">
              <a:lnSpc>
                <a:spcPct val="108700"/>
              </a:lnSpc>
              <a:spcBef>
                <a:spcPts val="100"/>
              </a:spcBef>
            </a:pPr>
            <a:r>
              <a:rPr sz="1100" spc="-35" dirty="0">
                <a:latin typeface="Georgia"/>
                <a:cs typeface="Georgia"/>
              </a:rPr>
              <a:t>Recommendation: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prediction/ranking,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goals,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approaches,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challenges,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applications.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matrices,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rating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scales,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explicit/implicit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ratings,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sparsity,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long–tail,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etc.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Georgia"/>
                <a:cs typeface="Georgia"/>
              </a:rPr>
              <a:t>Neighborhood–based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CF:</a:t>
            </a:r>
            <a:endParaRPr sz="1100">
              <a:latin typeface="Georgia"/>
              <a:cs typeface="Georgia"/>
            </a:endParaRPr>
          </a:p>
          <a:p>
            <a:pPr marL="289560" marR="179705">
              <a:lnSpc>
                <a:spcPts val="1300"/>
              </a:lnSpc>
              <a:spcBef>
                <a:spcPts val="35"/>
              </a:spcBef>
            </a:pPr>
            <a:r>
              <a:rPr sz="1000" spc="20" dirty="0">
                <a:latin typeface="Times New Roman"/>
                <a:cs typeface="Times New Roman"/>
              </a:rPr>
              <a:t>Rating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prediction: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user–based,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item–based,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target/active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user,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peer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groups,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 </a:t>
            </a:r>
            <a:r>
              <a:rPr sz="1000" dirty="0">
                <a:latin typeface="Times New Roman"/>
                <a:cs typeface="Times New Roman"/>
              </a:rPr>
              <a:t>Pearson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correlation,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adjust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cosine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user–user,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item–item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similarity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computation. </a:t>
            </a:r>
            <a:r>
              <a:rPr sz="1000" spc="10" dirty="0">
                <a:latin typeface="Times New Roman"/>
                <a:cs typeface="Times New Roman"/>
              </a:rPr>
              <a:t>User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bias,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rating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normalization,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mean–centering,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40"/>
              </a:spcBef>
            </a:pPr>
            <a:r>
              <a:rPr sz="1000" spc="10" dirty="0">
                <a:latin typeface="Times New Roman"/>
                <a:cs typeface="Times New Roman"/>
              </a:rPr>
              <a:t>Clustering–based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neighborhood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spc="40" dirty="0">
                <a:latin typeface="Times New Roman"/>
                <a:cs typeface="Times New Roman"/>
              </a:rPr>
              <a:t>CF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sz="1000" spc="10" dirty="0">
                <a:latin typeface="Times New Roman"/>
                <a:cs typeface="Times New Roman"/>
              </a:rPr>
              <a:t>Dimensionality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reduction:</a:t>
            </a:r>
            <a:r>
              <a:rPr sz="1000" spc="33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SVD,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Compact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SVD,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Truncated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SVD,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sz="1000" spc="50" dirty="0">
                <a:latin typeface="Times New Roman"/>
                <a:cs typeface="Times New Roman"/>
              </a:rPr>
              <a:t>Graph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models:</a:t>
            </a:r>
            <a:r>
              <a:rPr sz="1000" spc="3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structural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transitivity,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random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walk,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user–item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item–item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graphs.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7" name="object 17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175" dirty="0"/>
              <a:t> </a:t>
            </a:r>
            <a:r>
              <a:rPr spc="20" dirty="0"/>
              <a:t>analysis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80" dirty="0"/>
              <a:t> </a:t>
            </a:r>
            <a:r>
              <a:rPr spc="50" dirty="0"/>
              <a:t>mining</a:t>
            </a:r>
            <a:r>
              <a:rPr spc="180" dirty="0"/>
              <a:t> </a:t>
            </a:r>
            <a:r>
              <a:rPr spc="20" dirty="0"/>
              <a:t>course</a:t>
            </a:r>
            <a:r>
              <a:rPr spc="175" dirty="0"/>
              <a:t> </a:t>
            </a:r>
            <a:r>
              <a:rPr spc="20" dirty="0"/>
              <a:t>@</a:t>
            </a:r>
            <a:r>
              <a:rPr spc="180" dirty="0"/>
              <a:t> </a:t>
            </a:r>
            <a:r>
              <a:rPr spc="20" dirty="0"/>
              <a:t>Xuan–Hieu</a:t>
            </a:r>
            <a:r>
              <a:rPr spc="180" dirty="0"/>
              <a:t> </a:t>
            </a:r>
            <a:r>
              <a:rPr spc="45" dirty="0"/>
              <a:t>Phan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975305" y="3118867"/>
            <a:ext cx="91122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3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recommender</a:t>
            </a:r>
            <a:r>
              <a:rPr sz="600" spc="29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systems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/>
              <a:t>76</a:t>
            </a:fld>
            <a:r>
              <a:rPr dirty="0"/>
              <a:t> </a:t>
            </a:r>
            <a:r>
              <a:rPr spc="75" dirty="0"/>
              <a:t>/</a:t>
            </a:r>
            <a:r>
              <a:rPr dirty="0"/>
              <a:t> </a:t>
            </a:r>
            <a:r>
              <a:rPr spc="-25" dirty="0"/>
              <a:t>202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8491</Words>
  <Application>Microsoft Macintosh PowerPoint</Application>
  <PresentationFormat>Custom</PresentationFormat>
  <Paragraphs>734</Paragraphs>
  <Slides>76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6" baseType="lpstr">
      <vt:lpstr>HGMaruGothicMPRO</vt:lpstr>
      <vt:lpstr>Meiryo UI</vt:lpstr>
      <vt:lpstr>Aptos</vt:lpstr>
      <vt:lpstr>Arial</vt:lpstr>
      <vt:lpstr>Cambria</vt:lpstr>
      <vt:lpstr>Georgia</vt:lpstr>
      <vt:lpstr>Palatino Linotype</vt:lpstr>
      <vt:lpstr>Tahoma</vt:lpstr>
      <vt:lpstr>Times New Roman</vt:lpstr>
      <vt:lpstr>Office Theme</vt:lpstr>
      <vt:lpstr>Recommender systems</vt:lpstr>
      <vt:lpstr>What is a recommender system?</vt:lpstr>
      <vt:lpstr>PowerPoint Presentation</vt:lpstr>
      <vt:lpstr>Two primary approaches of recommender systems</vt:lpstr>
      <vt:lpstr>Recommendation as a prediction problem</vt:lpstr>
      <vt:lpstr>Recommendation as a ranking problem</vt:lpstr>
      <vt:lpstr>Goals of recommender systems</vt:lpstr>
      <vt:lpstr>Goals of recommender systems (cont’d)</vt:lpstr>
      <vt:lpstr>Goals of recommender systems (cont’d)</vt:lpstr>
      <vt:lpstr>Some typical recommender systems</vt:lpstr>
      <vt:lpstr>Some typical recommender systems (cont’d)</vt:lpstr>
      <vt:lpstr>Some typical recommender systems (cont’d)</vt:lpstr>
      <vt:lpstr>PowerPoint Presentation</vt:lpstr>
      <vt:lpstr>Major approaches to building recommender systems</vt:lpstr>
      <vt:lpstr>Collaborative filtering recommender systems</vt:lpstr>
      <vt:lpstr>Content–based recommender systems</vt:lpstr>
      <vt:lpstr>PowerPoint Presentation</vt:lpstr>
      <vt:lpstr>Knowledge–based recommender systems</vt:lpstr>
      <vt:lpstr>Hybrid and ensemble–based recommender systems</vt:lpstr>
      <vt:lpstr>Context and social factors in recommender systems</vt:lpstr>
      <vt:lpstr>Challenges and advanced topics in recommender systems</vt:lpstr>
      <vt:lpstr>The sparse data problem</vt:lpstr>
      <vt:lpstr>The cold–start problem in recommender systems</vt:lpstr>
      <vt:lpstr>The scalability in recommender systems</vt:lpstr>
      <vt:lpstr>Attack–resistant recommender systems</vt:lpstr>
      <vt:lpstr>Group recommender systems</vt:lpstr>
      <vt:lpstr>Multi–criteria recommender systems</vt:lpstr>
      <vt:lpstr>Privacy in recommender systems</vt:lpstr>
      <vt:lpstr>Types of collaborative filtering</vt:lpstr>
      <vt:lpstr>Types of user ratings</vt:lpstr>
      <vt:lpstr>Explicit ratings versus implicit ratings</vt:lpstr>
      <vt:lpstr>Rating matrices</vt:lpstr>
      <vt:lpstr>PowerPoint Presentation</vt:lpstr>
      <vt:lpstr>The long–tail of rating frequencies</vt:lpstr>
      <vt:lpstr>PowerPoint Presentation</vt:lpstr>
      <vt:lpstr>Neighborhood–based collaborative filtering</vt:lpstr>
      <vt:lpstr>Neighborhood–based CF recommender systems</vt:lpstr>
      <vt:lpstr>Predicting ratings with neighborhood–based methods</vt:lpstr>
      <vt:lpstr>User–based neighborhood methods</vt:lpstr>
      <vt:lpstr>Computing user–user similarity using cosine</vt:lpstr>
      <vt:lpstr>Computing user–user similarity using Pearson correlation</vt:lpstr>
      <vt:lpstr>Computing user–user similarity using Pearson correlation (cont’d)</vt:lpstr>
      <vt:lpstr>Prediction function: predicting user ratings using weighted average</vt:lpstr>
      <vt:lpstr>Example of predicting user ratings using weighted average</vt:lpstr>
      <vt:lpstr>Example of predicting user ratings using weighted average (cont’d)</vt:lpstr>
      <vt:lpstr>Example of predicting user ratings using weighted average (cont’d)</vt:lpstr>
      <vt:lpstr>Discounted similarity between users</vt:lpstr>
      <vt:lpstr>Variants of the prediction function</vt:lpstr>
      <vt:lpstr>Finding top–k closest users (i.e., filtering the peer group)</vt:lpstr>
      <vt:lpstr>Impact of the long tail</vt:lpstr>
      <vt:lpstr>Item–based neighborhood methods</vt:lpstr>
      <vt:lpstr>Item–item based prediction function</vt:lpstr>
      <vt:lpstr>PowerPoint Presentation</vt:lpstr>
      <vt:lpstr>Example of item–item based prediction for rating values</vt:lpstr>
      <vt:lpstr>Efficient implementation and computational complexity</vt:lpstr>
      <vt:lpstr>Efficient implementation and computational complexity (cont’d)</vt:lpstr>
      <vt:lpstr>Comparing user–based and item–based methods</vt:lpstr>
      <vt:lpstr>Pros and cons of neighborhood–based methods</vt:lpstr>
      <vt:lpstr>Neighborhood–based CF recommender systems</vt:lpstr>
      <vt:lpstr>Clustering and neighborhood–based methods</vt:lpstr>
      <vt:lpstr>Clustering on the rating matrix</vt:lpstr>
      <vt:lpstr>Neighborhood–based CF recommender systems</vt:lpstr>
      <vt:lpstr>Dimensionality reduction and neighborhood methods</vt:lpstr>
      <vt:lpstr>Dimensionality reduction for user–based collaborative filtering</vt:lpstr>
      <vt:lpstr>Neighborhood–based CF recommender systems</vt:lpstr>
      <vt:lpstr>Graph models for neighborhood–based methods</vt:lpstr>
      <vt:lpstr>User–item graphs</vt:lpstr>
      <vt:lpstr>PowerPoint Presentation</vt:lpstr>
      <vt:lpstr>Defining neighborhoods with random walks</vt:lpstr>
      <vt:lpstr>Defining neighborhoods with the Katz measure</vt:lpstr>
      <vt:lpstr>Defining neighborhoods with the Katz measure (cont’d)</vt:lpstr>
      <vt:lpstr>Item–item graphs</vt:lpstr>
      <vt:lpstr>PowerPoint Presentation</vt:lpstr>
      <vt:lpstr>Item–item graphs (cont’d)</vt:lpstr>
      <vt:lpstr>References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Recommender systems</dc:title>
  <dc:creator>Xuan–Hieu Phan</dc:creator>
  <cp:lastModifiedBy>Phuong Thai Nguyen</cp:lastModifiedBy>
  <cp:revision>1</cp:revision>
  <dcterms:created xsi:type="dcterms:W3CDTF">2024-12-13T16:52:23Z</dcterms:created>
  <dcterms:modified xsi:type="dcterms:W3CDTF">2024-12-16T07:27:48Z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2024-12-13T00:00:00Z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
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415" r:id="rId2"/>
    <p:sldId id="41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89" r:id="rId75"/>
    <p:sldId id="390" r:id="rId76"/>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5"/>
    <p:restoredTop sz="82887"/>
  </p:normalViewPr>
  <p:slideViewPr>
    <p:cSldViewPr>
      <p:cViewPr varScale="1">
        <p:scale>
          <a:sx n="214" d="100"/>
          <a:sy n="214" d="100"/>
        </p:scale>
        <p:origin x="800" y="168"/>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498725" cy="161925"/>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265488" y="0"/>
            <a:ext cx="2498725" cy="161925"/>
          </a:xfrm>
          <a:prstGeom prst="rect">
            <a:avLst/>
          </a:prstGeom>
        </p:spPr>
        <p:txBody>
          <a:bodyPr vert="horz" lIns="91440" tIns="45720" rIns="91440" bIns="45720" rtlCol="0"/>
          <a:lstStyle>
            <a:lvl1pPr algn="r">
              <a:defRPr sz="1200"/>
            </a:lvl1pPr>
          </a:lstStyle>
          <a:p>
            <a:fld id="{187F5465-A5D7-CA49-9CD3-012DD4B96434}" type="datetimeFigureOut">
              <a:t>20/10/24</a:t>
            </a:fld>
            <a:endParaRPr lang="en-VN"/>
          </a:p>
        </p:txBody>
      </p:sp>
      <p:sp>
        <p:nvSpPr>
          <p:cNvPr id="4" name="Slide Image Placeholder 3"/>
          <p:cNvSpPr>
            <a:spLocks noGrp="1" noRot="1" noChangeAspect="1"/>
          </p:cNvSpPr>
          <p:nvPr>
            <p:ph type="sldImg" idx="2"/>
          </p:nvPr>
        </p:nvSpPr>
        <p:spPr>
          <a:xfrm>
            <a:off x="1911350" y="406400"/>
            <a:ext cx="1943100" cy="1093788"/>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576263" y="1562100"/>
            <a:ext cx="4613275" cy="12779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3082925"/>
            <a:ext cx="2498725" cy="161925"/>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265488" y="3082925"/>
            <a:ext cx="2498725" cy="161925"/>
          </a:xfrm>
          <a:prstGeom prst="rect">
            <a:avLst/>
          </a:prstGeom>
        </p:spPr>
        <p:txBody>
          <a:bodyPr vert="horz" lIns="91440" tIns="45720" rIns="91440" bIns="45720" rtlCol="0" anchor="b"/>
          <a:lstStyle>
            <a:lvl1pPr algn="r">
              <a:defRPr sz="1200"/>
            </a:lvl1pPr>
          </a:lstStyle>
          <a:p>
            <a:fld id="{6A992695-74BA-2D4F-952D-F2591C0B381E}" type="slidenum">
              <a:t>‹#›</a:t>
            </a:fld>
            <a:endParaRPr lang="en-VN"/>
          </a:p>
        </p:txBody>
      </p:sp>
    </p:spTree>
    <p:extLst>
      <p:ext uri="{BB962C8B-B14F-4D97-AF65-F5344CB8AC3E}">
        <p14:creationId xmlns:p14="http://schemas.microsoft.com/office/powerpoint/2010/main" val="893042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Hiểu dữ liệu là bước quan trọng trong mô hình CRISP-DM (tổng 6 bước). </a:t>
            </a:r>
          </a:p>
        </p:txBody>
      </p:sp>
      <p:sp>
        <p:nvSpPr>
          <p:cNvPr id="4" name="Slide Number Placeholder 3"/>
          <p:cNvSpPr>
            <a:spLocks noGrp="1"/>
          </p:cNvSpPr>
          <p:nvPr>
            <p:ph type="sldNum" sz="quarter" idx="5"/>
          </p:nvPr>
        </p:nvSpPr>
        <p:spPr/>
        <p:txBody>
          <a:bodyPr/>
          <a:lstStyle/>
          <a:p>
            <a:fld id="{3185CA31-3845-D547-B215-1D37BD9EC633}" type="slidenum">
              <a:rPr lang="en-VN"/>
              <a:t>1</a:t>
            </a:fld>
            <a:endParaRPr lang="en-VN"/>
          </a:p>
        </p:txBody>
      </p:sp>
    </p:spTree>
    <p:extLst>
      <p:ext uri="{BB962C8B-B14F-4D97-AF65-F5344CB8AC3E}">
        <p14:creationId xmlns:p14="http://schemas.microsoft.com/office/powerpoint/2010/main" val="3060408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Trích tài liệu [3]</a:t>
            </a:r>
          </a:p>
        </p:txBody>
      </p:sp>
      <p:sp>
        <p:nvSpPr>
          <p:cNvPr id="4" name="Slide Number Placeholder 3"/>
          <p:cNvSpPr>
            <a:spLocks noGrp="1"/>
          </p:cNvSpPr>
          <p:nvPr>
            <p:ph type="sldNum" sz="quarter" idx="5"/>
          </p:nvPr>
        </p:nvSpPr>
        <p:spPr/>
        <p:txBody>
          <a:bodyPr/>
          <a:lstStyle/>
          <a:p>
            <a:fld id="{6A992695-74BA-2D4F-952D-F2591C0B381E}" type="slidenum">
              <a:rPr lang="en-VN"/>
              <a:t>8</a:t>
            </a:fld>
            <a:endParaRPr lang="en-VN"/>
          </a:p>
        </p:txBody>
      </p:sp>
    </p:spTree>
    <p:extLst>
      <p:ext uri="{BB962C8B-B14F-4D97-AF65-F5344CB8AC3E}">
        <p14:creationId xmlns:p14="http://schemas.microsoft.com/office/powerpoint/2010/main" val="838388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Tại sao lại gọi f là joint pmf? Nó là joint của các biến nào?</a:t>
            </a:r>
          </a:p>
          <a:p>
            <a:r>
              <a:rPr lang="en-VN"/>
              <a:t>Tại sao mẫu số lại là n? -&gt; n điểm thuộc tối đa n cell. </a:t>
            </a:r>
          </a:p>
          <a:p>
            <a:endParaRPr lang="en-VN"/>
          </a:p>
          <a:p>
            <a:endParaRPr lang="en-VN"/>
          </a:p>
          <a:p>
            <a:endParaRPr lang="en-VN"/>
          </a:p>
          <a:p>
            <a:endParaRPr lang="en-VN"/>
          </a:p>
          <a:p>
            <a:endParaRPr lang="en-VN"/>
          </a:p>
        </p:txBody>
      </p:sp>
      <p:sp>
        <p:nvSpPr>
          <p:cNvPr id="4" name="Slide Number Placeholder 3"/>
          <p:cNvSpPr>
            <a:spLocks noGrp="1"/>
          </p:cNvSpPr>
          <p:nvPr>
            <p:ph type="sldNum" sz="quarter" idx="5"/>
          </p:nvPr>
        </p:nvSpPr>
        <p:spPr/>
        <p:txBody>
          <a:bodyPr/>
          <a:lstStyle/>
          <a:p>
            <a:fld id="{6A992695-74BA-2D4F-952D-F2591C0B381E}" type="slidenum">
              <a:rPr lang="en-VN"/>
              <a:t>24</a:t>
            </a:fld>
            <a:endParaRPr lang="en-VN"/>
          </a:p>
        </p:txBody>
      </p:sp>
    </p:spTree>
    <p:extLst>
      <p:ext uri="{BB962C8B-B14F-4D97-AF65-F5344CB8AC3E}">
        <p14:creationId xmlns:p14="http://schemas.microsoft.com/office/powerpoint/2010/main" val="2217197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6A992695-74BA-2D4F-952D-F2591C0B381E}" type="slidenum">
              <a:rPr lang="en-VN"/>
              <a:t>25</a:t>
            </a:fld>
            <a:endParaRPr lang="en-VN"/>
          </a:p>
        </p:txBody>
      </p:sp>
    </p:spTree>
    <p:extLst>
      <p:ext uri="{BB962C8B-B14F-4D97-AF65-F5344CB8AC3E}">
        <p14:creationId xmlns:p14="http://schemas.microsoft.com/office/powerpoint/2010/main" val="1263609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Giải thích tại sao lại chia cho logm (định lý về giá trị cực đại của entropy). </a:t>
            </a:r>
          </a:p>
        </p:txBody>
      </p:sp>
      <p:sp>
        <p:nvSpPr>
          <p:cNvPr id="4" name="Slide Number Placeholder 3"/>
          <p:cNvSpPr>
            <a:spLocks noGrp="1"/>
          </p:cNvSpPr>
          <p:nvPr>
            <p:ph type="sldNum" sz="quarter" idx="5"/>
          </p:nvPr>
        </p:nvSpPr>
        <p:spPr/>
        <p:txBody>
          <a:bodyPr/>
          <a:lstStyle/>
          <a:p>
            <a:fld id="{6A992695-74BA-2D4F-952D-F2591C0B381E}" type="slidenum">
              <a:rPr lang="en-VN"/>
              <a:t>29</a:t>
            </a:fld>
            <a:endParaRPr lang="en-VN"/>
          </a:p>
        </p:txBody>
      </p:sp>
    </p:spTree>
    <p:extLst>
      <p:ext uri="{BB962C8B-B14F-4D97-AF65-F5344CB8AC3E}">
        <p14:creationId xmlns:p14="http://schemas.microsoft.com/office/powerpoint/2010/main" val="725854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vi-VN"/>
              <a:t>Hopkins statistic cũng là một phương pháp thống kê dùng để đánh giá xu hướng phân cụm (cluster tendency) của một tập dữ liệu. Nó giúp xác định liệu dữ liệu có khả năng hình thành các cụm hay không, trước khi áp dụng các thuật toán phân cụm như K-means hoặc K-medoids.</a:t>
            </a:r>
          </a:p>
          <a:p>
            <a:pPr marL="171450" indent="-171450">
              <a:buFontTx/>
              <a:buChar char="-"/>
            </a:pPr>
            <a:r>
              <a:rPr lang="vi-VN"/>
              <a:t>Ý tưởng chính của Hopkins statistic: Mục tiêu chính là kiểm tra xem liệu dữ liệu có được phân bố ngẫu nhiên trong không gian hay có xu hướng tập trung thành các cụm. Chỉ số này so sánh sự phân bố của các điểm trong tập dữ liệu với sự phân bố ngẫu nhiên của các điểm giả định.</a:t>
            </a:r>
          </a:p>
          <a:p>
            <a:pPr marL="171450" indent="-171450">
              <a:buFontTx/>
              <a:buChar char="-"/>
            </a:pPr>
            <a:r>
              <a:rPr lang="vi-VN" b="0" i="0" u="none" strike="noStrike">
                <a:solidFill>
                  <a:srgbClr val="202124"/>
                </a:solidFill>
                <a:effectLst/>
                <a:latin typeface="Roboto" panose="02000000000000000000" pitchFamily="2" charset="0"/>
              </a:rPr>
              <a:t>Các bước thực hiện:</a:t>
            </a:r>
            <a:br>
              <a:rPr lang="vi-VN"/>
            </a:br>
            <a:r>
              <a:rPr lang="vi-VN"/>
              <a:t>+ </a:t>
            </a:r>
            <a:r>
              <a:rPr lang="vi-VN" b="0" i="0" u="none" strike="noStrike">
                <a:solidFill>
                  <a:srgbClr val="202124"/>
                </a:solidFill>
                <a:effectLst/>
                <a:latin typeface="Roboto" panose="02000000000000000000" pitchFamily="2" charset="0"/>
              </a:rPr>
              <a:t>Chọn ngẫu nhiên một số điểm từ dữ liệu thật: Giả sử tập dữ liệu có n điểm, ta chọn ngẫu nhiên một số h điểm từ tập này.</a:t>
            </a:r>
            <a:br>
              <a:rPr lang="vi-VN"/>
            </a:br>
            <a:r>
              <a:rPr lang="vi-VN"/>
              <a:t>+ </a:t>
            </a:r>
            <a:r>
              <a:rPr lang="vi-VN" b="0" i="0" u="none" strike="noStrike">
                <a:solidFill>
                  <a:srgbClr val="202124"/>
                </a:solidFill>
                <a:effectLst/>
                <a:latin typeface="Roboto" panose="02000000000000000000" pitchFamily="2" charset="0"/>
              </a:rPr>
              <a:t>Sinh ngẫu nhiên các điểm giả định: Với mỗi điểm đã chọn từ dữ liệu thật, sinh ra một điểm giả định (random point) trong không gian dữ liệu bằng cách chọn ngẫu nhiên từ không gian dữ liệu đã cho (khoảng bao phủ của dữ liệu).</a:t>
            </a:r>
            <a:br>
              <a:rPr lang="vi-VN"/>
            </a:br>
            <a:r>
              <a:rPr lang="vi-VN"/>
              <a:t>+ </a:t>
            </a:r>
            <a:r>
              <a:rPr lang="vi-VN" b="0" i="0" u="none" strike="noStrike">
                <a:solidFill>
                  <a:srgbClr val="202124"/>
                </a:solidFill>
                <a:effectLst/>
                <a:latin typeface="Roboto" panose="02000000000000000000" pitchFamily="2" charset="0"/>
              </a:rPr>
              <a:t>Tính khoảng cách gần nhất: Đối với mỗi điểm trong tập dữ liệu đã chọn, tính khoảng cách của nó tới điểm gần nhất trong toàn bộ tập dữ liệu thật (không tính chính nó). Tương tự, tính khoảng cách từ các điểm giả định đến điểm gần nhất trong tập dữ liệu thật.</a:t>
            </a:r>
            <a:endParaRPr lang="en-VN"/>
          </a:p>
        </p:txBody>
      </p:sp>
      <p:sp>
        <p:nvSpPr>
          <p:cNvPr id="4" name="Slide Number Placeholder 3"/>
          <p:cNvSpPr>
            <a:spLocks noGrp="1"/>
          </p:cNvSpPr>
          <p:nvPr>
            <p:ph type="sldNum" sz="quarter" idx="5"/>
          </p:nvPr>
        </p:nvSpPr>
        <p:spPr/>
        <p:txBody>
          <a:bodyPr/>
          <a:lstStyle/>
          <a:p>
            <a:fld id="{6A992695-74BA-2D4F-952D-F2591C0B381E}" type="slidenum">
              <a:rPr lang="en-VN"/>
              <a:t>33</a:t>
            </a:fld>
            <a:endParaRPr lang="en-VN"/>
          </a:p>
        </p:txBody>
      </p:sp>
    </p:spTree>
    <p:extLst>
      <p:ext uri="{BB962C8B-B14F-4D97-AF65-F5344CB8AC3E}">
        <p14:creationId xmlns:p14="http://schemas.microsoft.com/office/powerpoint/2010/main" val="3422666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vi-VN" b="0" i="0" u="none" strike="noStrike">
                <a:solidFill>
                  <a:srgbClr val="202124"/>
                </a:solidFill>
                <a:effectLst/>
                <a:latin typeface="Roboto" panose="02000000000000000000" pitchFamily="2" charset="0"/>
              </a:rPr>
              <a:t>Các bước thực hiện (tiếp):</a:t>
            </a:r>
          </a:p>
          <a:p>
            <a:pPr marL="171450" indent="-171450">
              <a:buFontTx/>
              <a:buChar char="-"/>
            </a:pPr>
            <a:r>
              <a:rPr lang="vi-VN"/>
              <a:t>+ Tính Hopkins statistic: Chỉ số Hopkins được tính dựa trên tỷ lệ giữa tổng các khoảng cách của điểm giả định so với tổng các khoảng cách của điểm thật.</a:t>
            </a:r>
          </a:p>
          <a:p>
            <a:pPr marL="171450" indent="-171450">
              <a:buFontTx/>
              <a:buChar char="-"/>
            </a:pPr>
            <a:endParaRPr lang="en-VN"/>
          </a:p>
        </p:txBody>
      </p:sp>
      <p:sp>
        <p:nvSpPr>
          <p:cNvPr id="4" name="Slide Number Placeholder 3"/>
          <p:cNvSpPr>
            <a:spLocks noGrp="1"/>
          </p:cNvSpPr>
          <p:nvPr>
            <p:ph type="sldNum" sz="quarter" idx="5"/>
          </p:nvPr>
        </p:nvSpPr>
        <p:spPr/>
        <p:txBody>
          <a:bodyPr/>
          <a:lstStyle/>
          <a:p>
            <a:fld id="{6A992695-74BA-2D4F-952D-F2591C0B381E}" type="slidenum">
              <a:rPr lang="en-VN"/>
              <a:t>34</a:t>
            </a:fld>
            <a:endParaRPr lang="en-VN"/>
          </a:p>
        </p:txBody>
      </p:sp>
    </p:spTree>
    <p:extLst>
      <p:ext uri="{BB962C8B-B14F-4D97-AF65-F5344CB8AC3E}">
        <p14:creationId xmlns:p14="http://schemas.microsoft.com/office/powerpoint/2010/main" val="3830672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6A992695-74BA-2D4F-952D-F2591C0B381E}" type="slidenum">
              <a:rPr lang="en-VN"/>
              <a:t>47</a:t>
            </a:fld>
            <a:endParaRPr lang="en-VN"/>
          </a:p>
        </p:txBody>
      </p:sp>
    </p:spTree>
    <p:extLst>
      <p:ext uri="{BB962C8B-B14F-4D97-AF65-F5344CB8AC3E}">
        <p14:creationId xmlns:p14="http://schemas.microsoft.com/office/powerpoint/2010/main" val="1435277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6A992695-74BA-2D4F-952D-F2591C0B381E}" type="slidenum">
              <a:rPr lang="en-VN"/>
              <a:t>63</a:t>
            </a:fld>
            <a:endParaRPr lang="en-VN"/>
          </a:p>
        </p:txBody>
      </p:sp>
    </p:spTree>
    <p:extLst>
      <p:ext uri="{BB962C8B-B14F-4D97-AF65-F5344CB8AC3E}">
        <p14:creationId xmlns:p14="http://schemas.microsoft.com/office/powerpoint/2010/main" val="922329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Xem ví dụ ở slide sau để rõ cách làm. </a:t>
            </a:r>
          </a:p>
        </p:txBody>
      </p:sp>
      <p:sp>
        <p:nvSpPr>
          <p:cNvPr id="4" name="Slide Number Placeholder 3"/>
          <p:cNvSpPr>
            <a:spLocks noGrp="1"/>
          </p:cNvSpPr>
          <p:nvPr>
            <p:ph type="sldNum" sz="quarter" idx="5"/>
          </p:nvPr>
        </p:nvSpPr>
        <p:spPr/>
        <p:txBody>
          <a:bodyPr/>
          <a:lstStyle/>
          <a:p>
            <a:fld id="{6A992695-74BA-2D4F-952D-F2591C0B381E}" type="slidenum">
              <a:rPr lang="en-VN"/>
              <a:t>64</a:t>
            </a:fld>
            <a:endParaRPr lang="en-VN"/>
          </a:p>
        </p:txBody>
      </p:sp>
    </p:spTree>
    <p:extLst>
      <p:ext uri="{BB962C8B-B14F-4D97-AF65-F5344CB8AC3E}">
        <p14:creationId xmlns:p14="http://schemas.microsoft.com/office/powerpoint/2010/main" val="2278750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Đ</a:t>
            </a:r>
            <a:r>
              <a:rPr lang="en-US"/>
              <a:t>i</a:t>
            </a:r>
            <a:r>
              <a:rPr lang="en-VN"/>
              <a:t>ểm đầu tiên được chọn khác nhau thì khả năng các điểm sau cũng khác. </a:t>
            </a:r>
          </a:p>
        </p:txBody>
      </p:sp>
      <p:sp>
        <p:nvSpPr>
          <p:cNvPr id="4" name="Slide Number Placeholder 3"/>
          <p:cNvSpPr>
            <a:spLocks noGrp="1"/>
          </p:cNvSpPr>
          <p:nvPr>
            <p:ph type="sldNum" sz="quarter" idx="5"/>
          </p:nvPr>
        </p:nvSpPr>
        <p:spPr/>
        <p:txBody>
          <a:bodyPr/>
          <a:lstStyle/>
          <a:p>
            <a:fld id="{6A992695-74BA-2D4F-952D-F2591C0B381E}" type="slidenum">
              <a:rPr lang="en-VN"/>
              <a:t>66</a:t>
            </a:fld>
            <a:endParaRPr lang="en-VN"/>
          </a:p>
        </p:txBody>
      </p:sp>
    </p:spTree>
    <p:extLst>
      <p:ext uri="{BB962C8B-B14F-4D97-AF65-F5344CB8AC3E}">
        <p14:creationId xmlns:p14="http://schemas.microsoft.com/office/powerpoint/2010/main" val="3100470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6A992695-74BA-2D4F-952D-F2591C0B381E}" type="slidenum">
              <a:rPr lang="en-VN"/>
              <a:t>68</a:t>
            </a:fld>
            <a:endParaRPr lang="en-VN"/>
          </a:p>
        </p:txBody>
      </p:sp>
    </p:spTree>
    <p:extLst>
      <p:ext uri="{BB962C8B-B14F-4D97-AF65-F5344CB8AC3E}">
        <p14:creationId xmlns:p14="http://schemas.microsoft.com/office/powerpoint/2010/main" val="26472176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Nhận xét: Việc xác định đối tượng đại diện mới cần nhiều tính toán hơn so với k-means. </a:t>
            </a:r>
          </a:p>
        </p:txBody>
      </p:sp>
      <p:sp>
        <p:nvSpPr>
          <p:cNvPr id="4" name="Slide Number Placeholder 3"/>
          <p:cNvSpPr>
            <a:spLocks noGrp="1"/>
          </p:cNvSpPr>
          <p:nvPr>
            <p:ph type="sldNum" sz="quarter" idx="5"/>
          </p:nvPr>
        </p:nvSpPr>
        <p:spPr/>
        <p:txBody>
          <a:bodyPr/>
          <a:lstStyle/>
          <a:p>
            <a:fld id="{6A992695-74BA-2D4F-952D-F2591C0B381E}" type="slidenum">
              <a:rPr lang="en-VN"/>
              <a:t>70</a:t>
            </a:fld>
            <a:endParaRPr lang="en-VN"/>
          </a:p>
        </p:txBody>
      </p:sp>
    </p:spTree>
    <p:extLst>
      <p:ext uri="{BB962C8B-B14F-4D97-AF65-F5344CB8AC3E}">
        <p14:creationId xmlns:p14="http://schemas.microsoft.com/office/powerpoint/2010/main" val="16944584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Hỏi SV: Tại sao k-medoids lại được xem là robust hơn k-means? (theo nghĩa hoạt động tốt với dữ liệu nhiễu và có phần tử ngoại lai)</a:t>
            </a:r>
          </a:p>
        </p:txBody>
      </p:sp>
      <p:sp>
        <p:nvSpPr>
          <p:cNvPr id="4" name="Slide Number Placeholder 3"/>
          <p:cNvSpPr>
            <a:spLocks noGrp="1"/>
          </p:cNvSpPr>
          <p:nvPr>
            <p:ph type="sldNum" sz="quarter" idx="5"/>
          </p:nvPr>
        </p:nvSpPr>
        <p:spPr/>
        <p:txBody>
          <a:bodyPr/>
          <a:lstStyle/>
          <a:p>
            <a:fld id="{6A992695-74BA-2D4F-952D-F2591C0B381E}" type="slidenum">
              <a:rPr lang="en-VN"/>
              <a:t>71</a:t>
            </a:fld>
            <a:endParaRPr lang="en-VN"/>
          </a:p>
        </p:txBody>
      </p:sp>
    </p:spTree>
    <p:extLst>
      <p:ext uri="{BB962C8B-B14F-4D97-AF65-F5344CB8AC3E}">
        <p14:creationId xmlns:p14="http://schemas.microsoft.com/office/powerpoint/2010/main" val="4135264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K-medians cũng đc coi là robust hơn k-means (outliers). </a:t>
            </a:r>
          </a:p>
          <a:p>
            <a:r>
              <a:rPr lang="vi-VN"/>
              <a:t>Về tính toán:</a:t>
            </a:r>
          </a:p>
          <a:p>
            <a:pPr marL="171450" indent="-171450">
              <a:buFontTx/>
              <a:buChar char="-"/>
            </a:pPr>
            <a:r>
              <a:rPr lang="vi-VN"/>
              <a:t>K-medoids: Tính toán phức tạp hơn vì phải chọn một điểm thực sự trong tập dữ liệu làm đại diện cho mỗi cụm, và cần đánh giá tất cả các điểm để tìm medoid.</a:t>
            </a:r>
          </a:p>
          <a:p>
            <a:pPr marL="171450" indent="-171450">
              <a:buFontTx/>
              <a:buChar char="-"/>
            </a:pPr>
            <a:r>
              <a:rPr lang="vi-VN"/>
              <a:t>K-medians: Tính toán trung vị đơn giản hơn (so với việc tìm medoid) vì trung vị chỉ là một giá trị thống kê của tập dữ liệu, không phải là điểm dữ liệu thực.</a:t>
            </a:r>
          </a:p>
          <a:p>
            <a:pPr marL="171450" indent="-171450">
              <a:buFontTx/>
              <a:buChar char="-"/>
            </a:pPr>
            <a:endParaRPr lang="vi-VN"/>
          </a:p>
          <a:p>
            <a:pPr marL="171450" indent="-171450">
              <a:buFontTx/>
              <a:buChar char="-"/>
            </a:pPr>
            <a:endParaRPr lang="en-VN"/>
          </a:p>
        </p:txBody>
      </p:sp>
      <p:sp>
        <p:nvSpPr>
          <p:cNvPr id="4" name="Slide Number Placeholder 3"/>
          <p:cNvSpPr>
            <a:spLocks noGrp="1"/>
          </p:cNvSpPr>
          <p:nvPr>
            <p:ph type="sldNum" sz="quarter" idx="5"/>
          </p:nvPr>
        </p:nvSpPr>
        <p:spPr/>
        <p:txBody>
          <a:bodyPr/>
          <a:lstStyle/>
          <a:p>
            <a:fld id="{6A992695-74BA-2D4F-952D-F2591C0B381E}" type="slidenum">
              <a:rPr lang="en-VN"/>
              <a:t>72</a:t>
            </a:fld>
            <a:endParaRPr lang="en-VN"/>
          </a:p>
        </p:txBody>
      </p:sp>
    </p:spTree>
    <p:extLst>
      <p:ext uri="{BB962C8B-B14F-4D97-AF65-F5344CB8AC3E}">
        <p14:creationId xmlns:p14="http://schemas.microsoft.com/office/powerpoint/2010/main" val="3447239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5300" y="28267"/>
            <a:ext cx="3288665" cy="244475"/>
          </a:xfrm>
          <a:prstGeom prst="rect">
            <a:avLst/>
          </a:prstGeom>
        </p:spPr>
        <p:txBody>
          <a:bodyPr wrap="square" lIns="0" tIns="0" rIns="0" bIns="0">
            <a:spAutoFit/>
          </a:bodyPr>
          <a:lstStyle>
            <a:lvl1pPr>
              <a:defRPr sz="1400" b="0" i="0">
                <a:solidFill>
                  <a:srgbClr val="CC0000"/>
                </a:solidFill>
                <a:latin typeface="Times New Roman"/>
                <a:cs typeface="Times New Roman"/>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chemeClr val="tx1"/>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CC0000"/>
                </a:solidFill>
                <a:latin typeface="Georgia"/>
                <a:cs typeface="Georgia"/>
              </a:defRPr>
            </a:lvl1p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10/20/24</a:t>
            </a:fld>
            <a:endParaRPr lang="en-US"/>
          </a:p>
        </p:txBody>
      </p:sp>
      <p:sp>
        <p:nvSpPr>
          <p:cNvPr id="6" name="Holder 6"/>
          <p:cNvSpPr>
            <a:spLocks noGrp="1"/>
          </p:cNvSpPr>
          <p:nvPr>
            <p:ph type="sldNum" sz="quarter" idx="7"/>
          </p:nvPr>
        </p:nvSpPr>
        <p:spPr/>
        <p:txBody>
          <a:bodyPr lIns="0" tIns="0" rIns="0" bIns="0"/>
          <a:lstStyle>
            <a:lvl1pPr>
              <a:defRPr sz="600" b="0" i="0">
                <a:solidFill>
                  <a:srgbClr val="7A0000"/>
                </a:solidFill>
                <a:latin typeface="Georgia"/>
                <a:cs typeface="Georgia"/>
              </a:defRPr>
            </a:lvl1pPr>
          </a:lstStyle>
          <a:p>
            <a:pPr marL="84455">
              <a:lnSpc>
                <a:spcPct val="100000"/>
              </a:lnSpc>
              <a:spcBef>
                <a:spcPts val="65"/>
              </a:spcBef>
            </a:pPr>
            <a:fld id="{81D60167-4931-47E6-BA6A-407CBD079E47}" type="slidenum">
              <a:rPr spc="100" dirty="0"/>
              <a:t>‹#›</a:t>
            </a:fld>
            <a:r>
              <a:rPr spc="-25" dirty="0"/>
              <a:t> </a:t>
            </a:r>
            <a:r>
              <a:rPr spc="75" dirty="0"/>
              <a:t>/</a:t>
            </a:r>
            <a:r>
              <a:rPr spc="-20" dirty="0"/>
              <a:t> </a:t>
            </a:r>
            <a:r>
              <a:rPr spc="35" dirty="0"/>
              <a:t>135</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defRPr sz="600" b="0" i="0">
                <a:solidFill>
                  <a:srgbClr val="CC0000"/>
                </a:solidFill>
                <a:latin typeface="Georgia"/>
                <a:cs typeface="Georgia"/>
              </a:defRPr>
            </a:lvl1p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10/20/24</a:t>
            </a:fld>
            <a:endParaRPr lang="en-US"/>
          </a:p>
        </p:txBody>
      </p:sp>
      <p:sp>
        <p:nvSpPr>
          <p:cNvPr id="6" name="Holder 6"/>
          <p:cNvSpPr>
            <a:spLocks noGrp="1"/>
          </p:cNvSpPr>
          <p:nvPr>
            <p:ph type="sldNum" sz="quarter" idx="7"/>
          </p:nvPr>
        </p:nvSpPr>
        <p:spPr/>
        <p:txBody>
          <a:bodyPr lIns="0" tIns="0" rIns="0" bIns="0"/>
          <a:lstStyle>
            <a:lvl1pPr>
              <a:defRPr sz="600" b="0" i="0">
                <a:solidFill>
                  <a:srgbClr val="7A0000"/>
                </a:solidFill>
                <a:latin typeface="Georgia"/>
                <a:cs typeface="Georgia"/>
              </a:defRPr>
            </a:lvl1pPr>
          </a:lstStyle>
          <a:p>
            <a:pPr marL="84455">
              <a:lnSpc>
                <a:spcPct val="100000"/>
              </a:lnSpc>
              <a:spcBef>
                <a:spcPts val="65"/>
              </a:spcBef>
            </a:pPr>
            <a:fld id="{81D60167-4931-47E6-BA6A-407CBD079E47}" type="slidenum">
              <a:rPr spc="100" dirty="0"/>
              <a:t>‹#›</a:t>
            </a:fld>
            <a:r>
              <a:rPr spc="-25" dirty="0"/>
              <a:t> </a:t>
            </a:r>
            <a:r>
              <a:rPr spc="75" dirty="0"/>
              <a:t>/</a:t>
            </a:r>
            <a:r>
              <a:rPr spc="-20" dirty="0"/>
              <a:t> </a:t>
            </a:r>
            <a:r>
              <a:rPr spc="35" dirty="0"/>
              <a:t>135</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imes New Roman"/>
                <a:cs typeface="Times New Roman"/>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rgbClr val="CC0000"/>
                </a:solidFill>
                <a:latin typeface="Georgia"/>
                <a:cs typeface="Georgia"/>
              </a:defRPr>
            </a:lvl1p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10/20/24</a:t>
            </a:fld>
            <a:endParaRPr lang="en-US"/>
          </a:p>
        </p:txBody>
      </p:sp>
      <p:sp>
        <p:nvSpPr>
          <p:cNvPr id="7" name="Holder 7"/>
          <p:cNvSpPr>
            <a:spLocks noGrp="1"/>
          </p:cNvSpPr>
          <p:nvPr>
            <p:ph type="sldNum" sz="quarter" idx="7"/>
          </p:nvPr>
        </p:nvSpPr>
        <p:spPr/>
        <p:txBody>
          <a:bodyPr lIns="0" tIns="0" rIns="0" bIns="0"/>
          <a:lstStyle>
            <a:lvl1pPr>
              <a:defRPr sz="600" b="0" i="0">
                <a:solidFill>
                  <a:srgbClr val="7A0000"/>
                </a:solidFill>
                <a:latin typeface="Georgia"/>
                <a:cs typeface="Georgia"/>
              </a:defRPr>
            </a:lvl1pPr>
          </a:lstStyle>
          <a:p>
            <a:pPr marL="84455">
              <a:lnSpc>
                <a:spcPct val="100000"/>
              </a:lnSpc>
              <a:spcBef>
                <a:spcPts val="65"/>
              </a:spcBef>
            </a:pPr>
            <a:fld id="{81D60167-4931-47E6-BA6A-407CBD079E47}" type="slidenum">
              <a:rPr spc="100" dirty="0"/>
              <a:t>‹#›</a:t>
            </a:fld>
            <a:r>
              <a:rPr spc="-25" dirty="0"/>
              <a:t> </a:t>
            </a:r>
            <a:r>
              <a:rPr spc="75" dirty="0"/>
              <a:t>/</a:t>
            </a:r>
            <a:r>
              <a:rPr spc="-20" dirty="0"/>
              <a:t> </a:t>
            </a:r>
            <a:r>
              <a:rPr spc="35" dirty="0"/>
              <a:t>135</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CC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600" b="0" i="0">
                <a:solidFill>
                  <a:srgbClr val="CC0000"/>
                </a:solidFill>
                <a:latin typeface="Georgia"/>
                <a:cs typeface="Georgia"/>
              </a:defRPr>
            </a:lvl1p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10/20/24</a:t>
            </a:fld>
            <a:endParaRPr lang="en-US"/>
          </a:p>
        </p:txBody>
      </p:sp>
      <p:sp>
        <p:nvSpPr>
          <p:cNvPr id="5" name="Holder 5"/>
          <p:cNvSpPr>
            <a:spLocks noGrp="1"/>
          </p:cNvSpPr>
          <p:nvPr>
            <p:ph type="sldNum" sz="quarter" idx="7"/>
          </p:nvPr>
        </p:nvSpPr>
        <p:spPr/>
        <p:txBody>
          <a:bodyPr lIns="0" tIns="0" rIns="0" bIns="0"/>
          <a:lstStyle>
            <a:lvl1pPr>
              <a:defRPr sz="600" b="0" i="0">
                <a:solidFill>
                  <a:srgbClr val="7A0000"/>
                </a:solidFill>
                <a:latin typeface="Georgia"/>
                <a:cs typeface="Georgia"/>
              </a:defRPr>
            </a:lvl1pPr>
          </a:lstStyle>
          <a:p>
            <a:pPr marL="84455">
              <a:lnSpc>
                <a:spcPct val="100000"/>
              </a:lnSpc>
              <a:spcBef>
                <a:spcPts val="65"/>
              </a:spcBef>
            </a:pPr>
            <a:fld id="{81D60167-4931-47E6-BA6A-407CBD079E47}" type="slidenum">
              <a:rPr spc="100" dirty="0"/>
              <a:t>‹#›</a:t>
            </a:fld>
            <a:r>
              <a:rPr spc="-25" dirty="0"/>
              <a:t> </a:t>
            </a:r>
            <a:r>
              <a:rPr spc="75" dirty="0"/>
              <a:t>/</a:t>
            </a:r>
            <a:r>
              <a:rPr spc="-20" dirty="0"/>
              <a:t> </a:t>
            </a:r>
            <a:r>
              <a:rPr spc="35" dirty="0"/>
              <a:t>135</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rgbClr val="CC0000"/>
                </a:solidFill>
                <a:latin typeface="Georgia"/>
                <a:cs typeface="Georgia"/>
              </a:defRPr>
            </a:lvl1p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10/20/24</a:t>
            </a:fld>
            <a:endParaRPr lang="en-US"/>
          </a:p>
        </p:txBody>
      </p:sp>
      <p:sp>
        <p:nvSpPr>
          <p:cNvPr id="4" name="Holder 4"/>
          <p:cNvSpPr>
            <a:spLocks noGrp="1"/>
          </p:cNvSpPr>
          <p:nvPr>
            <p:ph type="sldNum" sz="quarter" idx="7"/>
          </p:nvPr>
        </p:nvSpPr>
        <p:spPr/>
        <p:txBody>
          <a:bodyPr lIns="0" tIns="0" rIns="0" bIns="0"/>
          <a:lstStyle>
            <a:lvl1pPr>
              <a:defRPr sz="600" b="0" i="0">
                <a:solidFill>
                  <a:srgbClr val="7A0000"/>
                </a:solidFill>
                <a:latin typeface="Georgia"/>
                <a:cs typeface="Georgia"/>
              </a:defRPr>
            </a:lvl1pPr>
          </a:lstStyle>
          <a:p>
            <a:pPr marL="84455">
              <a:lnSpc>
                <a:spcPct val="100000"/>
              </a:lnSpc>
              <a:spcBef>
                <a:spcPts val="65"/>
              </a:spcBef>
            </a:pPr>
            <a:fld id="{81D60167-4931-47E6-BA6A-407CBD079E47}" type="slidenum">
              <a:rPr spc="100" dirty="0"/>
              <a:t>‹#›</a:t>
            </a:fld>
            <a:r>
              <a:rPr spc="-25" dirty="0"/>
              <a:t> </a:t>
            </a:r>
            <a:r>
              <a:rPr spc="75" dirty="0"/>
              <a:t>/</a:t>
            </a:r>
            <a:r>
              <a:rPr spc="-20" dirty="0"/>
              <a:t> </a:t>
            </a:r>
            <a:r>
              <a:rPr spc="35" dirty="0"/>
              <a:t>135</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760085" cy="311150"/>
          </a:xfrm>
          <a:custGeom>
            <a:avLst/>
            <a:gdLst/>
            <a:ahLst/>
            <a:cxnLst/>
            <a:rect l="l" t="t" r="r" b="b"/>
            <a:pathLst>
              <a:path w="5760085" h="311150">
                <a:moveTo>
                  <a:pt x="5759996" y="0"/>
                </a:moveTo>
                <a:lnTo>
                  <a:pt x="0" y="0"/>
                </a:lnTo>
                <a:lnTo>
                  <a:pt x="0" y="310832"/>
                </a:lnTo>
                <a:lnTo>
                  <a:pt x="5759996" y="310832"/>
                </a:lnTo>
                <a:lnTo>
                  <a:pt x="5759996" y="0"/>
                </a:lnTo>
                <a:close/>
              </a:path>
            </a:pathLst>
          </a:custGeom>
          <a:solidFill>
            <a:srgbClr val="F2F2F2"/>
          </a:solidFill>
        </p:spPr>
        <p:txBody>
          <a:bodyPr wrap="square" lIns="0" tIns="0" rIns="0" bIns="0" rtlCol="0"/>
          <a:lstStyle/>
          <a:p>
            <a:endParaRPr/>
          </a:p>
        </p:txBody>
      </p:sp>
      <p:sp>
        <p:nvSpPr>
          <p:cNvPr id="2" name="Holder 2"/>
          <p:cNvSpPr>
            <a:spLocks noGrp="1"/>
          </p:cNvSpPr>
          <p:nvPr>
            <p:ph type="title"/>
          </p:nvPr>
        </p:nvSpPr>
        <p:spPr>
          <a:xfrm>
            <a:off x="69900" y="28267"/>
            <a:ext cx="5509895" cy="244475"/>
          </a:xfrm>
          <a:prstGeom prst="rect">
            <a:avLst/>
          </a:prstGeom>
        </p:spPr>
        <p:txBody>
          <a:bodyPr wrap="square" lIns="0" tIns="0" rIns="0" bIns="0">
            <a:spAutoFit/>
          </a:bodyPr>
          <a:lstStyle>
            <a:lvl1pPr>
              <a:defRPr sz="1400" b="0" i="0">
                <a:solidFill>
                  <a:srgbClr val="CC0000"/>
                </a:solidFill>
                <a:latin typeface="Times New Roman"/>
                <a:cs typeface="Times New Roman"/>
              </a:defRPr>
            </a:lvl1pPr>
          </a:lstStyle>
          <a:p>
            <a:endParaRPr/>
          </a:p>
        </p:txBody>
      </p:sp>
      <p:sp>
        <p:nvSpPr>
          <p:cNvPr id="3" name="Holder 3"/>
          <p:cNvSpPr>
            <a:spLocks noGrp="1"/>
          </p:cNvSpPr>
          <p:nvPr>
            <p:ph type="body" idx="1"/>
          </p:nvPr>
        </p:nvSpPr>
        <p:spPr>
          <a:xfrm>
            <a:off x="454177" y="608952"/>
            <a:ext cx="5127625" cy="2031364"/>
          </a:xfrm>
          <a:prstGeom prst="rect">
            <a:avLst/>
          </a:prstGeom>
        </p:spPr>
        <p:txBody>
          <a:bodyPr wrap="square" lIns="0" tIns="0" rIns="0" bIns="0">
            <a:spAutoFit/>
          </a:bodyPr>
          <a:lstStyle>
            <a:lvl1pPr>
              <a:defRPr sz="1100" b="0" i="0">
                <a:solidFill>
                  <a:schemeClr val="tx1"/>
                </a:solidFill>
                <a:latin typeface="Georgia"/>
                <a:cs typeface="Georgia"/>
              </a:defRPr>
            </a:lvl1pPr>
          </a:lstStyle>
          <a:p>
            <a:endParaRPr/>
          </a:p>
        </p:txBody>
      </p:sp>
      <p:sp>
        <p:nvSpPr>
          <p:cNvPr id="4" name="Holder 4"/>
          <p:cNvSpPr>
            <a:spLocks noGrp="1"/>
          </p:cNvSpPr>
          <p:nvPr>
            <p:ph type="ftr" sz="quarter" idx="5"/>
          </p:nvPr>
        </p:nvSpPr>
        <p:spPr>
          <a:xfrm>
            <a:off x="622528" y="3118867"/>
            <a:ext cx="2162810" cy="121919"/>
          </a:xfrm>
          <a:prstGeom prst="rect">
            <a:avLst/>
          </a:prstGeom>
        </p:spPr>
        <p:txBody>
          <a:bodyPr wrap="square" lIns="0" tIns="0" rIns="0" bIns="0">
            <a:spAutoFit/>
          </a:bodyPr>
          <a:lstStyle>
            <a:lvl1pPr>
              <a:defRPr sz="600" b="0" i="0">
                <a:solidFill>
                  <a:srgbClr val="CC0000"/>
                </a:solidFill>
                <a:latin typeface="Georgia"/>
                <a:cs typeface="Georgia"/>
              </a:defRPr>
            </a:lvl1p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10/20/24</a:t>
            </a:fld>
            <a:endParaRPr lang="en-US"/>
          </a:p>
        </p:txBody>
      </p:sp>
      <p:sp>
        <p:nvSpPr>
          <p:cNvPr id="6" name="Holder 6"/>
          <p:cNvSpPr>
            <a:spLocks noGrp="1"/>
          </p:cNvSpPr>
          <p:nvPr>
            <p:ph type="sldNum" sz="quarter" idx="7"/>
          </p:nvPr>
        </p:nvSpPr>
        <p:spPr>
          <a:xfrm>
            <a:off x="4407968" y="3118867"/>
            <a:ext cx="406400" cy="121919"/>
          </a:xfrm>
          <a:prstGeom prst="rect">
            <a:avLst/>
          </a:prstGeom>
        </p:spPr>
        <p:txBody>
          <a:bodyPr wrap="square" lIns="0" tIns="0" rIns="0" bIns="0">
            <a:spAutoFit/>
          </a:bodyPr>
          <a:lstStyle>
            <a:lvl1pPr>
              <a:defRPr sz="600" b="0" i="0">
                <a:solidFill>
                  <a:srgbClr val="7A0000"/>
                </a:solidFill>
                <a:latin typeface="Georgia"/>
                <a:cs typeface="Georgia"/>
              </a:defRPr>
            </a:lvl1pPr>
          </a:lstStyle>
          <a:p>
            <a:pPr marL="84455">
              <a:lnSpc>
                <a:spcPct val="100000"/>
              </a:lnSpc>
              <a:spcBef>
                <a:spcPts val="65"/>
              </a:spcBef>
            </a:pPr>
            <a:fld id="{81D60167-4931-47E6-BA6A-407CBD079E47}" type="slidenum">
              <a:rPr spc="100" dirty="0"/>
              <a:t>‹#›</a:t>
            </a:fld>
            <a:r>
              <a:rPr spc="-25" dirty="0"/>
              <a:t> </a:t>
            </a:r>
            <a:r>
              <a:rPr spc="75" dirty="0"/>
              <a:t>/</a:t>
            </a:r>
            <a:r>
              <a:rPr spc="-20" dirty="0"/>
              <a:t> </a:t>
            </a:r>
            <a:r>
              <a:rPr spc="35" dirty="0"/>
              <a:t>135</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53.xml"/><Relationship Id="rId4" Type="http://schemas.openxmlformats.org/officeDocument/2006/relationships/slide" Target="slide38.xml"/></Relationships>
</file>

<file path=ppt/slides/_rels/slide4.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53.xml"/><Relationship Id="rId4" Type="http://schemas.openxmlformats.org/officeDocument/2006/relationships/slide" Target="slide38.xml"/></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7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8.xml.rels><?xml version="1.0" encoding="UTF-8" standalone="yes"?>
<Relationships xmlns="http://schemas.openxmlformats.org/package/2006/relationships"><Relationship Id="rId3" Type="http://schemas.openxmlformats.org/officeDocument/2006/relationships/slide" Target="slide74.xml"/><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slide" Target="slide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53.xml"/><Relationship Id="rId4" Type="http://schemas.openxmlformats.org/officeDocument/2006/relationships/slide" Target="slide38.xml"/></Relationships>
</file>

<file path=ppt/slides/_rels/slide2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slide" Target="slide1.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74.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slide" Target="slide74.xml"/><Relationship Id="rId1" Type="http://schemas.openxmlformats.org/officeDocument/2006/relationships/slideLayout" Target="../slideLayouts/slideLayout5.xml"/><Relationship Id="rId6" Type="http://schemas.openxmlformats.org/officeDocument/2006/relationships/slide" Target="slide1.xml"/><Relationship Id="rId5" Type="http://schemas.openxmlformats.org/officeDocument/2006/relationships/image" Target="../media/image13.png"/><Relationship Id="rId4" Type="http://schemas.openxmlformats.org/officeDocument/2006/relationships/image" Target="../media/image12.jp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slide" Target="slide1.xml"/><Relationship Id="rId5" Type="http://schemas.openxmlformats.org/officeDocument/2006/relationships/image" Target="../media/image18.jpg"/><Relationship Id="rId4" Type="http://schemas.openxmlformats.org/officeDocument/2006/relationships/image" Target="../media/image17.jpg"/></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 Target="slide74.xml"/><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slide" Target="slide1.xml"/></Relationships>
</file>

<file path=ppt/slides/_rels/slide3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0.jp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32.jp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53.xml"/><Relationship Id="rId4" Type="http://schemas.openxmlformats.org/officeDocument/2006/relationships/slide" Target="slide38.xml"/></Relationships>
</file>

<file path=ppt/slides/_rels/slide3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slide" Target="slide74.xml"/><Relationship Id="rId1" Type="http://schemas.openxmlformats.org/officeDocument/2006/relationships/slideLayout" Target="../slideLayouts/slideLayout2.xml"/><Relationship Id="rId5" Type="http://schemas.openxmlformats.org/officeDocument/2006/relationships/slide" Target="slide1.xml"/><Relationship Id="rId4" Type="http://schemas.openxmlformats.org/officeDocument/2006/relationships/image" Target="../media/image36.png"/></Relationships>
</file>

<file path=ppt/slides/_rels/slide4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slide" Target="slide74.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2.xml"/><Relationship Id="rId4" Type="http://schemas.openxmlformats.org/officeDocument/2006/relationships/slide" Target="slide1.xml"/></Relationships>
</file>

<file path=ppt/slides/_rels/slide4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2.jp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3.jp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53.xml"/><Relationship Id="rId4" Type="http://schemas.openxmlformats.org/officeDocument/2006/relationships/slide" Target="slide38.xml"/></Relationships>
</file>

<file path=ppt/slides/_rels/slide5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9.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slide" Target="slide74.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60.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6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slide" Target="slide1.xml"/></Relationships>
</file>

<file path=ppt/slides/_rels/slide7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73.xml.rels><?xml version="1.0" encoding="UTF-8" standalone="yes"?>
<Relationships xmlns="http://schemas.openxmlformats.org/package/2006/relationships"><Relationship Id="rId3" Type="http://schemas.openxmlformats.org/officeDocument/2006/relationships/slide" Target="slide21.xml"/><Relationship Id="rId7" Type="http://schemas.openxmlformats.org/officeDocument/2006/relationships/slide" Target="slide1.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53.xml"/><Relationship Id="rId4" Type="http://schemas.openxmlformats.org/officeDocument/2006/relationships/slide" Target="slide38.xml"/></Relationships>
</file>

<file path=ppt/slides/_rels/slide74.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9788" y="699909"/>
            <a:ext cx="5380990" cy="264816"/>
          </a:xfrm>
          <a:prstGeom prst="rect">
            <a:avLst/>
          </a:prstGeom>
          <a:solidFill>
            <a:srgbClr val="D8D8D8"/>
          </a:solidFill>
        </p:spPr>
        <p:txBody>
          <a:bodyPr vert="horz" wrap="square" lIns="0" tIns="48895" rIns="0" bIns="0" rtlCol="0">
            <a:spAutoFit/>
          </a:bodyPr>
          <a:lstStyle/>
          <a:p>
            <a:pPr algn="ctr">
              <a:lnSpc>
                <a:spcPct val="100000"/>
              </a:lnSpc>
              <a:spcBef>
                <a:spcPts val="385"/>
              </a:spcBef>
            </a:pPr>
            <a:r>
              <a:rPr lang="en-US" spc="60" dirty="0"/>
              <a:t>Data</a:t>
            </a:r>
            <a:r>
              <a:rPr lang="en-US" spc="155" dirty="0"/>
              <a:t> </a:t>
            </a:r>
            <a:r>
              <a:rPr lang="en-US" dirty="0"/>
              <a:t>clustering</a:t>
            </a:r>
            <a:endParaRPr spc="35" dirty="0"/>
          </a:p>
        </p:txBody>
      </p:sp>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8F8F8"/>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8D8D8"/>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95" dirty="0"/>
              <a:t> </a:t>
            </a:r>
            <a:r>
              <a:rPr spc="50" dirty="0"/>
              <a:t>analysis</a:t>
            </a:r>
            <a:r>
              <a:rPr spc="95" dirty="0"/>
              <a:t> </a:t>
            </a:r>
            <a:r>
              <a:rPr spc="55" dirty="0"/>
              <a:t>and</a:t>
            </a:r>
            <a:r>
              <a:rPr spc="95" dirty="0"/>
              <a:t> </a:t>
            </a:r>
            <a:r>
              <a:rPr spc="45" dirty="0"/>
              <a:t>mining</a:t>
            </a:r>
            <a:r>
              <a:rPr spc="95" dirty="0"/>
              <a:t> </a:t>
            </a:r>
            <a:r>
              <a:rPr spc="40" dirty="0"/>
              <a:t>course</a:t>
            </a:r>
            <a:r>
              <a:rPr spc="100" dirty="0"/>
              <a:t> </a:t>
            </a:r>
            <a:r>
              <a:rPr dirty="0"/>
              <a:t>@</a:t>
            </a:r>
            <a:r>
              <a:rPr spc="95" dirty="0"/>
              <a:t> </a:t>
            </a:r>
            <a:r>
              <a:rPr spc="45" dirty="0"/>
              <a:t>Xuan–Hieu</a:t>
            </a:r>
            <a:r>
              <a:rPr spc="95" dirty="0"/>
              <a:t> </a:t>
            </a:r>
            <a:r>
              <a:rPr spc="70" dirty="0"/>
              <a:t>Phan</a:t>
            </a:r>
          </a:p>
        </p:txBody>
      </p:sp>
      <p:sp>
        <p:nvSpPr>
          <p:cNvPr id="8" name="object 8"/>
          <p:cNvSpPr txBox="1"/>
          <p:nvPr/>
        </p:nvSpPr>
        <p:spPr>
          <a:xfrm>
            <a:off x="2975305" y="3118867"/>
            <a:ext cx="816610"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 action="ppaction://noaction"/>
              </a:rPr>
              <a:t>data </a:t>
            </a:r>
            <a:r>
              <a:rPr sz="600" spc="45" dirty="0">
                <a:solidFill>
                  <a:srgbClr val="7A0000"/>
                </a:solidFill>
                <a:latin typeface="Georgia"/>
                <a:cs typeface="Georgia"/>
                <a:hlinkClick r:id="" action="ppaction://noaction"/>
              </a:rPr>
              <a:t>understanding</a:t>
            </a:r>
            <a:endParaRPr sz="600">
              <a:latin typeface="Georgia"/>
              <a:cs typeface="Georgia"/>
            </a:endParaRPr>
          </a:p>
        </p:txBody>
      </p:sp>
      <p:sp>
        <p:nvSpPr>
          <p:cNvPr id="9" name="object 9"/>
          <p:cNvSpPr txBox="1"/>
          <p:nvPr/>
        </p:nvSpPr>
        <p:spPr>
          <a:xfrm>
            <a:off x="4545770" y="3118867"/>
            <a:ext cx="351790" cy="121920"/>
          </a:xfrm>
          <a:prstGeom prst="rect">
            <a:avLst/>
          </a:prstGeom>
        </p:spPr>
        <p:txBody>
          <a:bodyPr vert="horz" wrap="square" lIns="0" tIns="8255" rIns="0" bIns="0" rtlCol="0">
            <a:spAutoFit/>
          </a:bodyPr>
          <a:lstStyle/>
          <a:p>
            <a:pPr marL="38100">
              <a:lnSpc>
                <a:spcPct val="100000"/>
              </a:lnSpc>
              <a:spcBef>
                <a:spcPts val="65"/>
              </a:spcBef>
            </a:pPr>
            <a:fld id="{81D60167-4931-47E6-BA6A-407CBD079E47}" type="slidenum">
              <a:rPr sz="600" spc="105" dirty="0">
                <a:solidFill>
                  <a:srgbClr val="7A0000"/>
                </a:solidFill>
                <a:latin typeface="Georgia"/>
                <a:cs typeface="Georgia"/>
              </a:rPr>
              <a:t>1</a:t>
            </a:fld>
            <a:r>
              <a:rPr sz="600" spc="-25" dirty="0">
                <a:solidFill>
                  <a:srgbClr val="7A0000"/>
                </a:solidFill>
                <a:latin typeface="Georgia"/>
                <a:cs typeface="Georgia"/>
              </a:rPr>
              <a:t> </a:t>
            </a:r>
            <a:r>
              <a:rPr sz="600" spc="80" dirty="0">
                <a:solidFill>
                  <a:srgbClr val="7A0000"/>
                </a:solidFill>
                <a:latin typeface="Georgia"/>
                <a:cs typeface="Georgia"/>
              </a:rPr>
              <a:t>/</a:t>
            </a:r>
            <a:r>
              <a:rPr sz="600" spc="-25" dirty="0">
                <a:solidFill>
                  <a:srgbClr val="7A0000"/>
                </a:solidFill>
                <a:latin typeface="Georgia"/>
                <a:cs typeface="Georgia"/>
              </a:rPr>
              <a:t> </a:t>
            </a:r>
            <a:r>
              <a:rPr sz="600" spc="40" dirty="0">
                <a:solidFill>
                  <a:srgbClr val="7A0000"/>
                </a:solidFill>
                <a:latin typeface="Georgia"/>
                <a:cs typeface="Georgia"/>
              </a:rPr>
              <a:t>106</a:t>
            </a:r>
            <a:endParaRPr sz="600">
              <a:latin typeface="Georgia"/>
              <a:cs typeface="Georgia"/>
            </a:endParaRPr>
          </a:p>
        </p:txBody>
      </p:sp>
      <p:sp>
        <p:nvSpPr>
          <p:cNvPr id="10" name="object 3">
            <a:extLst>
              <a:ext uri="{FF2B5EF4-FFF2-40B4-BE49-F238E27FC236}">
                <a16:creationId xmlns:a16="http://schemas.microsoft.com/office/drawing/2014/main" id="{AA6230F7-0266-008B-3930-52C501376680}"/>
              </a:ext>
            </a:extLst>
          </p:cNvPr>
          <p:cNvSpPr txBox="1"/>
          <p:nvPr/>
        </p:nvSpPr>
        <p:spPr>
          <a:xfrm>
            <a:off x="1358900" y="1264093"/>
            <a:ext cx="3352800" cy="576440"/>
          </a:xfrm>
          <a:prstGeom prst="rect">
            <a:avLst/>
          </a:prstGeom>
        </p:spPr>
        <p:txBody>
          <a:bodyPr vert="horz" wrap="square" lIns="0" tIns="11430" rIns="0" bIns="0" rtlCol="0">
            <a:spAutoFit/>
          </a:bodyPr>
          <a:lstStyle/>
          <a:p>
            <a:pPr algn="ctr">
              <a:lnSpc>
                <a:spcPct val="100000"/>
              </a:lnSpc>
              <a:spcBef>
                <a:spcPts val="90"/>
              </a:spcBef>
            </a:pPr>
            <a:r>
              <a:rPr lang="vi-VN" sz="1050" spc="-50" dirty="0">
                <a:latin typeface="Georgia"/>
                <a:cs typeface="Georgia"/>
              </a:rPr>
              <a:t>Lecturer: Assoc.Prof. Nguyễn Phương Thái</a:t>
            </a:r>
          </a:p>
          <a:p>
            <a:pPr marL="12700" marR="5080" algn="ctr">
              <a:lnSpc>
                <a:spcPct val="113300"/>
              </a:lnSpc>
              <a:spcBef>
                <a:spcPts val="1095"/>
              </a:spcBef>
            </a:pPr>
            <a:r>
              <a:rPr sz="800" spc="45" dirty="0">
                <a:latin typeface="Georgia"/>
                <a:cs typeface="Georgia"/>
              </a:rPr>
              <a:t>VNU</a:t>
            </a:r>
            <a:r>
              <a:rPr sz="800" spc="75" dirty="0">
                <a:latin typeface="Georgia"/>
                <a:cs typeface="Georgia"/>
              </a:rPr>
              <a:t> </a:t>
            </a:r>
            <a:r>
              <a:rPr sz="800" spc="10" dirty="0">
                <a:latin typeface="Georgia"/>
                <a:cs typeface="Georgia"/>
              </a:rPr>
              <a:t>University</a:t>
            </a:r>
            <a:r>
              <a:rPr sz="800" spc="75" dirty="0">
                <a:latin typeface="Georgia"/>
                <a:cs typeface="Georgia"/>
              </a:rPr>
              <a:t> </a:t>
            </a:r>
            <a:r>
              <a:rPr sz="800" spc="-5" dirty="0">
                <a:latin typeface="Georgia"/>
                <a:cs typeface="Georgia"/>
              </a:rPr>
              <a:t>of</a:t>
            </a:r>
            <a:r>
              <a:rPr sz="800" spc="75" dirty="0">
                <a:latin typeface="Georgia"/>
                <a:cs typeface="Georgia"/>
              </a:rPr>
              <a:t> </a:t>
            </a:r>
            <a:r>
              <a:rPr sz="800" spc="5" dirty="0">
                <a:latin typeface="Georgia"/>
                <a:cs typeface="Georgia"/>
              </a:rPr>
              <a:t>Engineering</a:t>
            </a:r>
            <a:r>
              <a:rPr sz="800" spc="80" dirty="0">
                <a:latin typeface="Georgia"/>
                <a:cs typeface="Georgia"/>
              </a:rPr>
              <a:t> </a:t>
            </a:r>
            <a:r>
              <a:rPr sz="800" spc="5" dirty="0">
                <a:latin typeface="Georgia"/>
                <a:cs typeface="Georgia"/>
              </a:rPr>
              <a:t>and</a:t>
            </a:r>
            <a:r>
              <a:rPr sz="800" spc="80" dirty="0">
                <a:latin typeface="Georgia"/>
                <a:cs typeface="Georgia"/>
              </a:rPr>
              <a:t> </a:t>
            </a:r>
            <a:r>
              <a:rPr sz="800" spc="5" dirty="0">
                <a:latin typeface="Georgia"/>
                <a:cs typeface="Georgia"/>
              </a:rPr>
              <a:t>Technology</a:t>
            </a:r>
            <a:endParaRPr sz="1250">
              <a:latin typeface="Georgia"/>
              <a:cs typeface="Georgia"/>
            </a:endParaRPr>
          </a:p>
          <a:p>
            <a:pPr algn="ctr">
              <a:lnSpc>
                <a:spcPct val="100000"/>
              </a:lnSpc>
            </a:pPr>
            <a:r>
              <a:rPr lang="vi-VN" sz="800" spc="15" dirty="0">
                <a:latin typeface="Georgia"/>
                <a:cs typeface="Georgia"/>
              </a:rPr>
              <a:t>Slide:</a:t>
            </a:r>
            <a:r>
              <a:rPr lang="vi-VN" sz="800" i="1" spc="15" dirty="0">
                <a:latin typeface="Georgia"/>
                <a:cs typeface="Georgia"/>
              </a:rPr>
              <a:t> from Assoc.Prof. Phan Xuân Hiếu, </a:t>
            </a:r>
            <a:r>
              <a:rPr sz="800" i="1" spc="15" dirty="0">
                <a:latin typeface="Georgia"/>
                <a:cs typeface="Georgia"/>
              </a:rPr>
              <a:t>Updated:</a:t>
            </a:r>
            <a:r>
              <a:rPr sz="800" i="1" spc="165" dirty="0">
                <a:latin typeface="Georgia"/>
                <a:cs typeface="Georgia"/>
              </a:rPr>
              <a:t> </a:t>
            </a:r>
            <a:r>
              <a:rPr lang="en-VN" sz="800" i="1" spc="10" dirty="0">
                <a:latin typeface="Georgia"/>
                <a:cs typeface="Georgia"/>
              </a:rPr>
              <a:t>September 05</a:t>
            </a:r>
            <a:r>
              <a:rPr sz="800" i="1" spc="45" dirty="0">
                <a:latin typeface="Georgia"/>
                <a:cs typeface="Georgia"/>
              </a:rPr>
              <a:t>,</a:t>
            </a:r>
            <a:r>
              <a:rPr sz="800" i="1" spc="70" dirty="0">
                <a:latin typeface="Georgia"/>
                <a:cs typeface="Georgia"/>
              </a:rPr>
              <a:t> </a:t>
            </a:r>
            <a:r>
              <a:rPr sz="800" i="1" spc="-40" dirty="0">
                <a:latin typeface="Georgia"/>
                <a:cs typeface="Georgia"/>
              </a:rPr>
              <a:t>202</a:t>
            </a:r>
            <a:r>
              <a:rPr lang="vi-VN" sz="800" i="1" spc="-40" dirty="0">
                <a:latin typeface="Georgia"/>
                <a:cs typeface="Georgia"/>
              </a:rPr>
              <a:t>3</a:t>
            </a:r>
            <a:endParaRPr sz="800" i="1">
              <a:latin typeface="Georgia"/>
              <a:cs typeface="Georgia"/>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C549E-2514-911E-3907-DBFBFDEDA740}"/>
              </a:ext>
            </a:extLst>
          </p:cNvPr>
          <p:cNvSpPr>
            <a:spLocks noGrp="1"/>
          </p:cNvSpPr>
          <p:nvPr>
            <p:ph type="title"/>
          </p:nvPr>
        </p:nvSpPr>
        <p:spPr>
          <a:xfrm>
            <a:off x="95300" y="28267"/>
            <a:ext cx="5575198" cy="215444"/>
          </a:xfrm>
        </p:spPr>
        <p:txBody>
          <a:bodyPr/>
          <a:lstStyle/>
          <a:p>
            <a:r>
              <a:rPr lang="en-VN"/>
              <a:t>Expected lesson learning outcomes (LLOs)</a:t>
            </a:r>
          </a:p>
        </p:txBody>
      </p:sp>
      <p:sp>
        <p:nvSpPr>
          <p:cNvPr id="3" name="Text Placeholder 2">
            <a:extLst>
              <a:ext uri="{FF2B5EF4-FFF2-40B4-BE49-F238E27FC236}">
                <a16:creationId xmlns:a16="http://schemas.microsoft.com/office/drawing/2014/main" id="{D02B73E2-8D3E-7AA6-D034-69B786138272}"/>
              </a:ext>
            </a:extLst>
          </p:cNvPr>
          <p:cNvSpPr>
            <a:spLocks noGrp="1"/>
          </p:cNvSpPr>
          <p:nvPr>
            <p:ph type="body" idx="1"/>
          </p:nvPr>
        </p:nvSpPr>
        <p:spPr>
          <a:xfrm>
            <a:off x="419582" y="806639"/>
            <a:ext cx="4926634" cy="677108"/>
          </a:xfrm>
        </p:spPr>
        <p:txBody>
          <a:bodyPr/>
          <a:lstStyle/>
          <a:p>
            <a:r>
              <a:rPr lang="en-VN" b="1"/>
              <a:t>LLO1.</a:t>
            </a:r>
            <a:r>
              <a:rPr lang="en-VN"/>
              <a:t> Trình bày được các phương pháp phân cụm cơ bản</a:t>
            </a:r>
          </a:p>
          <a:p>
            <a:r>
              <a:rPr lang="en-VN" b="1"/>
              <a:t>LLO2.</a:t>
            </a:r>
            <a:r>
              <a:rPr lang="en-VN"/>
              <a:t> Giải thích được ưu nhược điểm của từng phương pháp phân cụm</a:t>
            </a:r>
          </a:p>
          <a:p>
            <a:r>
              <a:rPr lang="en-VN" b="1"/>
              <a:t>LLO3.</a:t>
            </a:r>
            <a:r>
              <a:rPr lang="en-VN"/>
              <a:t> Áp dụng được các phương pháp này để khai phá và phân tích dữ liệu </a:t>
            </a:r>
          </a:p>
          <a:p>
            <a:endParaRPr lang="en-VN"/>
          </a:p>
        </p:txBody>
      </p:sp>
    </p:spTree>
    <p:extLst>
      <p:ext uri="{BB962C8B-B14F-4D97-AF65-F5344CB8AC3E}">
        <p14:creationId xmlns:p14="http://schemas.microsoft.com/office/powerpoint/2010/main" val="3458108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Outline</a:t>
            </a:r>
          </a:p>
        </p:txBody>
      </p:sp>
      <p:sp>
        <p:nvSpPr>
          <p:cNvPr id="3" name="object 3"/>
          <p:cNvSpPr/>
          <p:nvPr/>
        </p:nvSpPr>
        <p:spPr>
          <a:xfrm>
            <a:off x="171615" y="515531"/>
            <a:ext cx="122555" cy="122555"/>
          </a:xfrm>
          <a:custGeom>
            <a:avLst/>
            <a:gdLst/>
            <a:ahLst/>
            <a:cxnLst/>
            <a:rect l="l" t="t" r="r" b="b"/>
            <a:pathLst>
              <a:path w="122554" h="122554">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4" name="object 4"/>
          <p:cNvSpPr/>
          <p:nvPr/>
        </p:nvSpPr>
        <p:spPr>
          <a:xfrm>
            <a:off x="171615" y="819784"/>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5" name="object 5"/>
          <p:cNvSpPr/>
          <p:nvPr/>
        </p:nvSpPr>
        <p:spPr>
          <a:xfrm>
            <a:off x="171615" y="1124038"/>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6" name="object 6"/>
          <p:cNvSpPr/>
          <p:nvPr/>
        </p:nvSpPr>
        <p:spPr>
          <a:xfrm>
            <a:off x="171615" y="1428280"/>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7" name="object 7"/>
          <p:cNvSpPr/>
          <p:nvPr/>
        </p:nvSpPr>
        <p:spPr>
          <a:xfrm>
            <a:off x="171615" y="1732533"/>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8" name="object 8"/>
          <p:cNvSpPr/>
          <p:nvPr/>
        </p:nvSpPr>
        <p:spPr>
          <a:xfrm>
            <a:off x="171615" y="2036787"/>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9" name="object 9"/>
          <p:cNvSpPr/>
          <p:nvPr/>
        </p:nvSpPr>
        <p:spPr>
          <a:xfrm>
            <a:off x="171615" y="2341041"/>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10" name="object 10"/>
          <p:cNvSpPr/>
          <p:nvPr/>
        </p:nvSpPr>
        <p:spPr>
          <a:xfrm>
            <a:off x="171615" y="2645282"/>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11" name="object 11"/>
          <p:cNvSpPr txBox="1"/>
          <p:nvPr/>
        </p:nvSpPr>
        <p:spPr>
          <a:xfrm>
            <a:off x="188556" y="465047"/>
            <a:ext cx="2435225" cy="2321560"/>
          </a:xfrm>
          <a:prstGeom prst="rect">
            <a:avLst/>
          </a:prstGeom>
        </p:spPr>
        <p:txBody>
          <a:bodyPr vert="horz" wrap="square" lIns="0" tIns="11430" rIns="0" bIns="0" rtlCol="0">
            <a:spAutoFit/>
          </a:bodyPr>
          <a:lstStyle/>
          <a:p>
            <a:pPr marL="178435" indent="-165735">
              <a:lnSpc>
                <a:spcPct val="100000"/>
              </a:lnSpc>
              <a:spcBef>
                <a:spcPts val="90"/>
              </a:spcBef>
              <a:buClr>
                <a:srgbClr val="FFFFFF"/>
              </a:buClr>
              <a:buSzPct val="90909"/>
              <a:buAutoNum type="arabicPlain"/>
              <a:tabLst>
                <a:tab pos="178435" algn="l"/>
              </a:tabLst>
            </a:pPr>
            <a:r>
              <a:rPr sz="1100" dirty="0">
                <a:latin typeface="Georgia"/>
                <a:cs typeface="Georgia"/>
                <a:hlinkClick r:id="rId2" action="ppaction://hlinksldjump"/>
              </a:rPr>
              <a:t>Data</a:t>
            </a:r>
            <a:r>
              <a:rPr sz="1100" spc="90" dirty="0">
                <a:latin typeface="Georgia"/>
                <a:cs typeface="Georgia"/>
                <a:hlinkClick r:id="rId2" action="ppaction://hlinksldjump"/>
              </a:rPr>
              <a:t> </a:t>
            </a:r>
            <a:r>
              <a:rPr sz="1100" spc="-25" dirty="0">
                <a:latin typeface="Georgia"/>
                <a:cs typeface="Georgia"/>
                <a:hlinkClick r:id="rId2" action="ppaction://hlinksldjump"/>
              </a:rPr>
              <a:t>clustering</a:t>
            </a:r>
            <a:r>
              <a:rPr sz="1100" spc="90" dirty="0">
                <a:latin typeface="Georgia"/>
                <a:cs typeface="Georgia"/>
                <a:hlinkClick r:id="rId2" action="ppaction://hlinksldjump"/>
              </a:rPr>
              <a:t> </a:t>
            </a:r>
            <a:r>
              <a:rPr sz="1100" spc="-10" dirty="0">
                <a:latin typeface="Georgia"/>
                <a:cs typeface="Georgia"/>
                <a:hlinkClick r:id="rId2" action="ppaction://hlinksldjump"/>
              </a:rPr>
              <a:t>concepts</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dirty="0">
                <a:latin typeface="Georgia"/>
                <a:cs typeface="Georgia"/>
                <a:hlinkClick r:id="rId3" action="ppaction://hlinksldjump"/>
              </a:rPr>
              <a:t>Data</a:t>
            </a:r>
            <a:r>
              <a:rPr sz="1100" spc="60" dirty="0">
                <a:latin typeface="Georgia"/>
                <a:cs typeface="Georgia"/>
                <a:hlinkClick r:id="rId3" action="ppaction://hlinksldjump"/>
              </a:rPr>
              <a:t> </a:t>
            </a:r>
            <a:r>
              <a:rPr sz="1100" spc="-30" dirty="0">
                <a:latin typeface="Georgia"/>
                <a:cs typeface="Georgia"/>
                <a:hlinkClick r:id="rId3" action="ppaction://hlinksldjump"/>
              </a:rPr>
              <a:t>understanding</a:t>
            </a:r>
            <a:r>
              <a:rPr sz="1100" spc="65" dirty="0">
                <a:latin typeface="Georgia"/>
                <a:cs typeface="Georgia"/>
                <a:hlinkClick r:id="rId3" action="ppaction://hlinksldjump"/>
              </a:rPr>
              <a:t> </a:t>
            </a:r>
            <a:r>
              <a:rPr sz="1100" spc="-25" dirty="0">
                <a:latin typeface="Georgia"/>
                <a:cs typeface="Georgia"/>
                <a:hlinkClick r:id="rId3" action="ppaction://hlinksldjump"/>
              </a:rPr>
              <a:t>before</a:t>
            </a:r>
            <a:r>
              <a:rPr sz="1100" spc="60" dirty="0">
                <a:latin typeface="Georgia"/>
                <a:cs typeface="Georgia"/>
                <a:hlinkClick r:id="rId3" action="ppaction://hlinksldjump"/>
              </a:rPr>
              <a:t> </a:t>
            </a:r>
            <a:r>
              <a:rPr sz="1100" spc="-10" dirty="0">
                <a:latin typeface="Georgia"/>
                <a:cs typeface="Georgia"/>
                <a:hlinkClick r:id="rId3"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0" dirty="0">
                <a:latin typeface="Georgia"/>
                <a:cs typeface="Georgia"/>
                <a:hlinkClick r:id="rId4" action="ppaction://hlinksldjump"/>
              </a:rPr>
              <a:t>Hierarchical</a:t>
            </a:r>
            <a:r>
              <a:rPr sz="1100" spc="30" dirty="0">
                <a:latin typeface="Georgia"/>
                <a:cs typeface="Georgia"/>
                <a:hlinkClick r:id="rId4" action="ppaction://hlinksldjump"/>
              </a:rPr>
              <a:t> </a:t>
            </a:r>
            <a:r>
              <a:rPr sz="1100" spc="-10" dirty="0">
                <a:latin typeface="Georgia"/>
                <a:cs typeface="Georgia"/>
                <a:hlinkClick r:id="rId4"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latin typeface="Georgia"/>
                <a:cs typeface="Georgia"/>
                <a:hlinkClick r:id="rId5" action="ppaction://hlinksldjump"/>
              </a:rPr>
              <a:t>Partitioning</a:t>
            </a:r>
            <a:r>
              <a:rPr sz="1100" spc="20" dirty="0">
                <a:latin typeface="Georgia"/>
                <a:cs typeface="Georgia"/>
                <a:hlinkClick r:id="rId5" action="ppaction://hlinksldjump"/>
              </a:rPr>
              <a:t> </a:t>
            </a:r>
            <a:r>
              <a:rPr sz="1100" spc="-10" dirty="0">
                <a:latin typeface="Georgia"/>
                <a:cs typeface="Georgia"/>
                <a:hlinkClick r:id="rId5"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latin typeface="Georgia"/>
                <a:cs typeface="Georgia"/>
                <a:hlinkClick r:id="rId6" action="ppaction://hlinksldjump"/>
              </a:rPr>
              <a:t>Distribution–based</a:t>
            </a:r>
            <a:r>
              <a:rPr sz="1100" spc="145" dirty="0">
                <a:latin typeface="Georgia"/>
                <a:cs typeface="Georgia"/>
                <a:hlinkClick r:id="rId6" action="ppaction://hlinksldjump"/>
              </a:rPr>
              <a:t> </a:t>
            </a:r>
            <a:r>
              <a:rPr sz="1100" spc="-10" dirty="0">
                <a:latin typeface="Georgia"/>
                <a:cs typeface="Georgia"/>
                <a:hlinkClick r:id="rId6" action="ppaction://hlinksldjump"/>
              </a:rPr>
              <a:t>clustering</a:t>
            </a:r>
            <a:endParaRPr sz="1100">
              <a:latin typeface="Georgia"/>
              <a:cs typeface="Georgia"/>
            </a:endParaRPr>
          </a:p>
          <a:p>
            <a:pPr marL="178435" indent="-165735">
              <a:lnSpc>
                <a:spcPct val="100000"/>
              </a:lnSpc>
              <a:spcBef>
                <a:spcPts val="1080"/>
              </a:spcBef>
              <a:buClr>
                <a:srgbClr val="FFFFFF"/>
              </a:buClr>
              <a:buSzPct val="90909"/>
              <a:buAutoNum type="arabicPlain"/>
              <a:tabLst>
                <a:tab pos="178435" algn="l"/>
              </a:tabLst>
            </a:pPr>
            <a:r>
              <a:rPr sz="1100" spc="-35" dirty="0">
                <a:latin typeface="Georgia"/>
                <a:cs typeface="Georgia"/>
                <a:hlinkClick r:id="" action="ppaction://noaction"/>
              </a:rPr>
              <a:t>Density–based</a:t>
            </a:r>
            <a:r>
              <a:rPr sz="1100" spc="70" dirty="0">
                <a:latin typeface="Georgia"/>
                <a:cs typeface="Georgia"/>
                <a:hlinkClick r:id="" action="ppaction://noaction"/>
              </a:rPr>
              <a:t> </a:t>
            </a:r>
            <a:r>
              <a:rPr sz="1100" spc="-10" dirty="0">
                <a:latin typeface="Georgia"/>
                <a:cs typeface="Georgia"/>
                <a:hlinkClick r:id="" action="ppaction://noaction"/>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latin typeface="Georgia"/>
                <a:cs typeface="Georgia"/>
                <a:hlinkClick r:id="" action="ppaction://noaction"/>
              </a:rPr>
              <a:t>Clustering</a:t>
            </a:r>
            <a:r>
              <a:rPr sz="1100" spc="20" dirty="0">
                <a:latin typeface="Georgia"/>
                <a:cs typeface="Georgia"/>
                <a:hlinkClick r:id="" action="ppaction://noaction"/>
              </a:rPr>
              <a:t> </a:t>
            </a:r>
            <a:r>
              <a:rPr sz="1100" spc="-20" dirty="0">
                <a:latin typeface="Georgia"/>
                <a:cs typeface="Georgia"/>
                <a:hlinkClick r:id="" action="ppaction://noaction"/>
              </a:rPr>
              <a:t>validation</a:t>
            </a:r>
            <a:r>
              <a:rPr sz="1100" spc="25" dirty="0">
                <a:latin typeface="Georgia"/>
                <a:cs typeface="Georgia"/>
                <a:hlinkClick r:id="" action="ppaction://noaction"/>
              </a:rPr>
              <a:t> </a:t>
            </a:r>
            <a:r>
              <a:rPr sz="1100" dirty="0">
                <a:latin typeface="Georgia"/>
                <a:cs typeface="Georgia"/>
                <a:hlinkClick r:id="" action="ppaction://noaction"/>
              </a:rPr>
              <a:t>and</a:t>
            </a:r>
            <a:r>
              <a:rPr sz="1100" spc="20" dirty="0">
                <a:latin typeface="Georgia"/>
                <a:cs typeface="Georgia"/>
                <a:hlinkClick r:id="" action="ppaction://noaction"/>
              </a:rPr>
              <a:t> </a:t>
            </a:r>
            <a:r>
              <a:rPr sz="1100" spc="-10" dirty="0">
                <a:latin typeface="Georgia"/>
                <a:cs typeface="Georgia"/>
                <a:hlinkClick r:id="" action="ppaction://noaction"/>
              </a:rPr>
              <a:t>evaluation</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latin typeface="Georgia"/>
                <a:cs typeface="Georgia"/>
                <a:hlinkClick r:id="" action="ppaction://noaction"/>
              </a:rPr>
              <a:t>References</a:t>
            </a:r>
            <a:r>
              <a:rPr sz="1100" spc="25" dirty="0">
                <a:latin typeface="Georgia"/>
                <a:cs typeface="Georgia"/>
                <a:hlinkClick r:id="" action="ppaction://noaction"/>
              </a:rPr>
              <a:t> </a:t>
            </a:r>
            <a:r>
              <a:rPr sz="1100" dirty="0">
                <a:latin typeface="Georgia"/>
                <a:cs typeface="Georgia"/>
                <a:hlinkClick r:id="" action="ppaction://noaction"/>
              </a:rPr>
              <a:t>and</a:t>
            </a:r>
            <a:r>
              <a:rPr sz="1100" spc="25" dirty="0">
                <a:latin typeface="Georgia"/>
                <a:cs typeface="Georgia"/>
                <a:hlinkClick r:id="" action="ppaction://noaction"/>
              </a:rPr>
              <a:t> </a:t>
            </a:r>
            <a:r>
              <a:rPr sz="1100" spc="-10" dirty="0">
                <a:latin typeface="Georgia"/>
                <a:cs typeface="Georgia"/>
                <a:hlinkClick r:id="" action="ppaction://noaction"/>
              </a:rPr>
              <a:t>Summary</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7" action="ppaction://hlinksldjump"/>
              </a:rPr>
              <a:t>data</a:t>
            </a:r>
            <a:r>
              <a:rPr sz="600" spc="110" dirty="0">
                <a:solidFill>
                  <a:srgbClr val="7A0000"/>
                </a:solidFill>
                <a:latin typeface="Georgia"/>
                <a:cs typeface="Georgia"/>
                <a:hlinkClick r:id="rId7" action="ppaction://hlinksldjump"/>
              </a:rPr>
              <a:t> </a:t>
            </a:r>
            <a:r>
              <a:rPr sz="600" spc="-10" dirty="0">
                <a:solidFill>
                  <a:srgbClr val="7A0000"/>
                </a:solidFill>
                <a:latin typeface="Georgia"/>
                <a:cs typeface="Georgia"/>
                <a:hlinkClick r:id="rId7"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spc="100" dirty="0"/>
              <a:t>3</a:t>
            </a:fld>
            <a:r>
              <a:rPr spc="-25" dirty="0"/>
              <a:t> </a:t>
            </a:r>
            <a:r>
              <a:rPr spc="75" dirty="0"/>
              <a:t>/</a:t>
            </a:r>
            <a:r>
              <a:rPr spc="-20" dirty="0"/>
              <a:t> </a:t>
            </a:r>
            <a:r>
              <a:rPr spc="35" dirty="0"/>
              <a:t>135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Outline</a:t>
            </a:r>
          </a:p>
        </p:txBody>
      </p:sp>
      <p:sp>
        <p:nvSpPr>
          <p:cNvPr id="3" name="object 3"/>
          <p:cNvSpPr/>
          <p:nvPr/>
        </p:nvSpPr>
        <p:spPr>
          <a:xfrm>
            <a:off x="171615" y="515531"/>
            <a:ext cx="122555" cy="122555"/>
          </a:xfrm>
          <a:custGeom>
            <a:avLst/>
            <a:gdLst/>
            <a:ahLst/>
            <a:cxnLst/>
            <a:rect l="l" t="t" r="r" b="b"/>
            <a:pathLst>
              <a:path w="122554" h="122554">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4" name="object 4"/>
          <p:cNvSpPr/>
          <p:nvPr/>
        </p:nvSpPr>
        <p:spPr>
          <a:xfrm>
            <a:off x="171615" y="819784"/>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5" name="object 5"/>
          <p:cNvSpPr/>
          <p:nvPr/>
        </p:nvSpPr>
        <p:spPr>
          <a:xfrm>
            <a:off x="171615" y="1124038"/>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6" name="object 6"/>
          <p:cNvSpPr/>
          <p:nvPr/>
        </p:nvSpPr>
        <p:spPr>
          <a:xfrm>
            <a:off x="171615" y="1428280"/>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7" name="object 7"/>
          <p:cNvSpPr/>
          <p:nvPr/>
        </p:nvSpPr>
        <p:spPr>
          <a:xfrm>
            <a:off x="171615" y="1732533"/>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8" name="object 8"/>
          <p:cNvSpPr/>
          <p:nvPr/>
        </p:nvSpPr>
        <p:spPr>
          <a:xfrm>
            <a:off x="171615" y="2036787"/>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9" name="object 9"/>
          <p:cNvSpPr/>
          <p:nvPr/>
        </p:nvSpPr>
        <p:spPr>
          <a:xfrm>
            <a:off x="171615" y="2341041"/>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0" name="object 10"/>
          <p:cNvSpPr/>
          <p:nvPr/>
        </p:nvSpPr>
        <p:spPr>
          <a:xfrm>
            <a:off x="171615" y="2645282"/>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1" name="object 11"/>
          <p:cNvSpPr txBox="1"/>
          <p:nvPr/>
        </p:nvSpPr>
        <p:spPr>
          <a:xfrm>
            <a:off x="188556" y="465047"/>
            <a:ext cx="2435225" cy="2321560"/>
          </a:xfrm>
          <a:prstGeom prst="rect">
            <a:avLst/>
          </a:prstGeom>
        </p:spPr>
        <p:txBody>
          <a:bodyPr vert="horz" wrap="square" lIns="0" tIns="11430" rIns="0" bIns="0" rtlCol="0">
            <a:spAutoFit/>
          </a:bodyPr>
          <a:lstStyle/>
          <a:p>
            <a:pPr marL="178435" indent="-165735">
              <a:lnSpc>
                <a:spcPct val="100000"/>
              </a:lnSpc>
              <a:spcBef>
                <a:spcPts val="90"/>
              </a:spcBef>
              <a:buClr>
                <a:srgbClr val="FFFFFF"/>
              </a:buClr>
              <a:buSzPct val="90909"/>
              <a:buAutoNum type="arabicPlain"/>
              <a:tabLst>
                <a:tab pos="178435" algn="l"/>
              </a:tabLst>
            </a:pPr>
            <a:r>
              <a:rPr sz="1100" dirty="0">
                <a:latin typeface="Georgia"/>
                <a:cs typeface="Georgia"/>
                <a:hlinkClick r:id="rId2" action="ppaction://hlinksldjump"/>
              </a:rPr>
              <a:t>Data</a:t>
            </a:r>
            <a:r>
              <a:rPr sz="1100" spc="90" dirty="0">
                <a:latin typeface="Georgia"/>
                <a:cs typeface="Georgia"/>
                <a:hlinkClick r:id="rId2" action="ppaction://hlinksldjump"/>
              </a:rPr>
              <a:t> </a:t>
            </a:r>
            <a:r>
              <a:rPr sz="1100" spc="-25" dirty="0">
                <a:latin typeface="Georgia"/>
                <a:cs typeface="Georgia"/>
                <a:hlinkClick r:id="rId2" action="ppaction://hlinksldjump"/>
              </a:rPr>
              <a:t>clustering</a:t>
            </a:r>
            <a:r>
              <a:rPr sz="1100" spc="90" dirty="0">
                <a:latin typeface="Georgia"/>
                <a:cs typeface="Georgia"/>
                <a:hlinkClick r:id="rId2" action="ppaction://hlinksldjump"/>
              </a:rPr>
              <a:t> </a:t>
            </a:r>
            <a:r>
              <a:rPr sz="1100" spc="-10" dirty="0">
                <a:latin typeface="Georgia"/>
                <a:cs typeface="Georgia"/>
                <a:hlinkClick r:id="rId2" action="ppaction://hlinksldjump"/>
              </a:rPr>
              <a:t>concepts</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dirty="0">
                <a:solidFill>
                  <a:srgbClr val="CCCCCC"/>
                </a:solidFill>
                <a:latin typeface="Georgia"/>
                <a:cs typeface="Georgia"/>
                <a:hlinkClick r:id="rId3" action="ppaction://hlinksldjump"/>
              </a:rPr>
              <a:t>Data</a:t>
            </a:r>
            <a:r>
              <a:rPr sz="1100" spc="60" dirty="0">
                <a:solidFill>
                  <a:srgbClr val="CCCCCC"/>
                </a:solidFill>
                <a:latin typeface="Georgia"/>
                <a:cs typeface="Georgia"/>
                <a:hlinkClick r:id="rId3" action="ppaction://hlinksldjump"/>
              </a:rPr>
              <a:t> </a:t>
            </a:r>
            <a:r>
              <a:rPr sz="1100" spc="-30" dirty="0">
                <a:solidFill>
                  <a:srgbClr val="CCCCCC"/>
                </a:solidFill>
                <a:latin typeface="Georgia"/>
                <a:cs typeface="Georgia"/>
                <a:hlinkClick r:id="rId3" action="ppaction://hlinksldjump"/>
              </a:rPr>
              <a:t>understanding</a:t>
            </a:r>
            <a:r>
              <a:rPr sz="1100" spc="65" dirty="0">
                <a:solidFill>
                  <a:srgbClr val="CCCCCC"/>
                </a:solidFill>
                <a:latin typeface="Georgia"/>
                <a:cs typeface="Georgia"/>
                <a:hlinkClick r:id="rId3" action="ppaction://hlinksldjump"/>
              </a:rPr>
              <a:t> </a:t>
            </a:r>
            <a:r>
              <a:rPr sz="1100" spc="-25" dirty="0">
                <a:solidFill>
                  <a:srgbClr val="CCCCCC"/>
                </a:solidFill>
                <a:latin typeface="Georgia"/>
                <a:cs typeface="Georgia"/>
                <a:hlinkClick r:id="rId3" action="ppaction://hlinksldjump"/>
              </a:rPr>
              <a:t>before</a:t>
            </a:r>
            <a:r>
              <a:rPr sz="1100" spc="60" dirty="0">
                <a:solidFill>
                  <a:srgbClr val="CCCCCC"/>
                </a:solidFill>
                <a:latin typeface="Georgia"/>
                <a:cs typeface="Georgia"/>
                <a:hlinkClick r:id="rId3" action="ppaction://hlinksldjump"/>
              </a:rPr>
              <a:t> </a:t>
            </a:r>
            <a:r>
              <a:rPr sz="1100" spc="-10" dirty="0">
                <a:solidFill>
                  <a:srgbClr val="CCCCCC"/>
                </a:solidFill>
                <a:latin typeface="Georgia"/>
                <a:cs typeface="Georgia"/>
                <a:hlinkClick r:id="rId3"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0" dirty="0">
                <a:solidFill>
                  <a:srgbClr val="CCCCCC"/>
                </a:solidFill>
                <a:latin typeface="Georgia"/>
                <a:cs typeface="Georgia"/>
                <a:hlinkClick r:id="rId4" action="ppaction://hlinksldjump"/>
              </a:rPr>
              <a:t>Hierarchical</a:t>
            </a:r>
            <a:r>
              <a:rPr sz="1100" spc="30" dirty="0">
                <a:solidFill>
                  <a:srgbClr val="CCCCCC"/>
                </a:solidFill>
                <a:latin typeface="Georgia"/>
                <a:cs typeface="Georgia"/>
                <a:hlinkClick r:id="rId4" action="ppaction://hlinksldjump"/>
              </a:rPr>
              <a:t> </a:t>
            </a:r>
            <a:r>
              <a:rPr sz="1100" spc="-10" dirty="0">
                <a:solidFill>
                  <a:srgbClr val="CCCCCC"/>
                </a:solidFill>
                <a:latin typeface="Georgia"/>
                <a:cs typeface="Georgia"/>
                <a:hlinkClick r:id="rId4"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rId5" action="ppaction://hlinksldjump"/>
              </a:rPr>
              <a:t>Partitioning</a:t>
            </a:r>
            <a:r>
              <a:rPr sz="1100" spc="20" dirty="0">
                <a:solidFill>
                  <a:srgbClr val="CCCCCC"/>
                </a:solidFill>
                <a:latin typeface="Georgia"/>
                <a:cs typeface="Georgia"/>
                <a:hlinkClick r:id="rId5" action="ppaction://hlinksldjump"/>
              </a:rPr>
              <a:t> </a:t>
            </a:r>
            <a:r>
              <a:rPr sz="1100" spc="-10" dirty="0">
                <a:solidFill>
                  <a:srgbClr val="CCCCCC"/>
                </a:solidFill>
                <a:latin typeface="Georgia"/>
                <a:cs typeface="Georgia"/>
                <a:hlinkClick r:id="rId5"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rId6" action="ppaction://hlinksldjump"/>
              </a:rPr>
              <a:t>Distribution–based</a:t>
            </a:r>
            <a:r>
              <a:rPr sz="1100" spc="145" dirty="0">
                <a:solidFill>
                  <a:srgbClr val="CCCCCC"/>
                </a:solidFill>
                <a:latin typeface="Georgia"/>
                <a:cs typeface="Georgia"/>
                <a:hlinkClick r:id="rId6" action="ppaction://hlinksldjump"/>
              </a:rPr>
              <a:t> </a:t>
            </a:r>
            <a:r>
              <a:rPr sz="1100" spc="-10" dirty="0">
                <a:solidFill>
                  <a:srgbClr val="CCCCCC"/>
                </a:solidFill>
                <a:latin typeface="Georgia"/>
                <a:cs typeface="Georgia"/>
                <a:hlinkClick r:id="rId6" action="ppaction://hlinksldjump"/>
              </a:rPr>
              <a:t>clustering</a:t>
            </a:r>
            <a:endParaRPr sz="1100">
              <a:latin typeface="Georgia"/>
              <a:cs typeface="Georgia"/>
            </a:endParaRPr>
          </a:p>
          <a:p>
            <a:pPr marL="178435" indent="-165735">
              <a:lnSpc>
                <a:spcPct val="100000"/>
              </a:lnSpc>
              <a:spcBef>
                <a:spcPts val="1080"/>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Density–based</a:t>
            </a:r>
            <a:r>
              <a:rPr sz="1100" spc="7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 action="ppaction://noaction"/>
              </a:rPr>
              <a:t>Clustering</a:t>
            </a:r>
            <a:r>
              <a:rPr sz="1100" spc="20" dirty="0">
                <a:solidFill>
                  <a:srgbClr val="CCCCCC"/>
                </a:solidFill>
                <a:latin typeface="Georgia"/>
                <a:cs typeface="Georgia"/>
                <a:hlinkClick r:id="" action="ppaction://noaction"/>
              </a:rPr>
              <a:t> </a:t>
            </a:r>
            <a:r>
              <a:rPr sz="1100" spc="-20" dirty="0">
                <a:solidFill>
                  <a:srgbClr val="CCCCCC"/>
                </a:solidFill>
                <a:latin typeface="Georgia"/>
                <a:cs typeface="Georgia"/>
                <a:hlinkClick r:id="" action="ppaction://noaction"/>
              </a:rPr>
              <a:t>validation</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evaluation</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References</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5"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Summary</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7" action="ppaction://hlinksldjump"/>
              </a:rPr>
              <a:t>data</a:t>
            </a:r>
            <a:r>
              <a:rPr sz="600" spc="110" dirty="0">
                <a:solidFill>
                  <a:srgbClr val="7A0000"/>
                </a:solidFill>
                <a:latin typeface="Georgia"/>
                <a:cs typeface="Georgia"/>
                <a:hlinkClick r:id="rId7" action="ppaction://hlinksldjump"/>
              </a:rPr>
              <a:t> </a:t>
            </a:r>
            <a:r>
              <a:rPr sz="600" spc="-10" dirty="0">
                <a:solidFill>
                  <a:srgbClr val="7A0000"/>
                </a:solidFill>
                <a:latin typeface="Georgia"/>
                <a:cs typeface="Georgia"/>
                <a:hlinkClick r:id="rId7"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dirty="0"/>
              <a:t>4</a:t>
            </a:fld>
            <a:r>
              <a:rPr spc="-5" dirty="0"/>
              <a:t> </a:t>
            </a:r>
            <a:r>
              <a:rPr spc="75" dirty="0"/>
              <a:t>/</a:t>
            </a:r>
            <a:r>
              <a:rPr spc="-5" dirty="0"/>
              <a:t> </a:t>
            </a:r>
            <a:r>
              <a:rPr spc="35" dirty="0"/>
              <a:t>135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75" dirty="0"/>
              <a:t>What</a:t>
            </a:r>
            <a:r>
              <a:rPr spc="95" dirty="0"/>
              <a:t> </a:t>
            </a:r>
            <a:r>
              <a:rPr dirty="0"/>
              <a:t>is</a:t>
            </a:r>
            <a:r>
              <a:rPr spc="105" dirty="0"/>
              <a:t> </a:t>
            </a:r>
            <a:r>
              <a:rPr spc="70" dirty="0"/>
              <a:t>data</a:t>
            </a:r>
            <a:r>
              <a:rPr spc="95" dirty="0"/>
              <a:t> </a:t>
            </a:r>
            <a:r>
              <a:rPr spc="-10" dirty="0"/>
              <a:t>clustering?</a:t>
            </a:r>
          </a:p>
        </p:txBody>
      </p:sp>
      <p:sp>
        <p:nvSpPr>
          <p:cNvPr id="3" name="object 3"/>
          <p:cNvSpPr txBox="1"/>
          <p:nvPr/>
        </p:nvSpPr>
        <p:spPr>
          <a:xfrm>
            <a:off x="145059" y="424713"/>
            <a:ext cx="5469890" cy="222250"/>
          </a:xfrm>
          <a:prstGeom prst="rect">
            <a:avLst/>
          </a:prstGeom>
          <a:solidFill>
            <a:srgbClr val="B3D9D9"/>
          </a:solidFill>
        </p:spPr>
        <p:txBody>
          <a:bodyPr vert="horz" wrap="square" lIns="0" tIns="8890" rIns="0" bIns="0" rtlCol="0">
            <a:spAutoFit/>
          </a:bodyPr>
          <a:lstStyle/>
          <a:p>
            <a:pPr marL="44450">
              <a:lnSpc>
                <a:spcPct val="100000"/>
              </a:lnSpc>
              <a:spcBef>
                <a:spcPts val="70"/>
              </a:spcBef>
            </a:pPr>
            <a:r>
              <a:rPr sz="1100" spc="-25" dirty="0">
                <a:latin typeface="Georgia"/>
                <a:cs typeface="Georgia"/>
              </a:rPr>
              <a:t>Definition</a:t>
            </a:r>
            <a:r>
              <a:rPr sz="1100" spc="40" dirty="0">
                <a:latin typeface="Georgia"/>
                <a:cs typeface="Georgia"/>
              </a:rPr>
              <a:t> </a:t>
            </a:r>
            <a:r>
              <a:rPr sz="1100" spc="-25" dirty="0">
                <a:latin typeface="Georgia"/>
                <a:cs typeface="Georgia"/>
              </a:rPr>
              <a:t>from</a:t>
            </a:r>
            <a:r>
              <a:rPr sz="1100" spc="40" dirty="0">
                <a:latin typeface="Georgia"/>
                <a:cs typeface="Georgia"/>
              </a:rPr>
              <a:t> </a:t>
            </a:r>
            <a:r>
              <a:rPr sz="1100" dirty="0">
                <a:latin typeface="Georgia"/>
                <a:cs typeface="Georgia"/>
              </a:rPr>
              <a:t>Data</a:t>
            </a:r>
            <a:r>
              <a:rPr sz="1100" spc="40" dirty="0">
                <a:latin typeface="Georgia"/>
                <a:cs typeface="Georgia"/>
              </a:rPr>
              <a:t> </a:t>
            </a:r>
            <a:r>
              <a:rPr sz="1100" spc="-25" dirty="0">
                <a:latin typeface="Georgia"/>
                <a:cs typeface="Georgia"/>
              </a:rPr>
              <a:t>Mining:</a:t>
            </a:r>
            <a:r>
              <a:rPr sz="1100" spc="140" dirty="0">
                <a:latin typeface="Georgia"/>
                <a:cs typeface="Georgia"/>
              </a:rPr>
              <a:t> </a:t>
            </a:r>
            <a:r>
              <a:rPr sz="1100" spc="-10" dirty="0">
                <a:latin typeface="Georgia"/>
                <a:cs typeface="Georgia"/>
              </a:rPr>
              <a:t>Concepts</a:t>
            </a:r>
            <a:r>
              <a:rPr sz="1100" spc="40" dirty="0">
                <a:latin typeface="Georgia"/>
                <a:cs typeface="Georgia"/>
              </a:rPr>
              <a:t> </a:t>
            </a:r>
            <a:r>
              <a:rPr sz="1100" dirty="0">
                <a:latin typeface="Georgia"/>
                <a:cs typeface="Georgia"/>
              </a:rPr>
              <a:t>and</a:t>
            </a:r>
            <a:r>
              <a:rPr sz="1100" spc="45" dirty="0">
                <a:latin typeface="Georgia"/>
                <a:cs typeface="Georgia"/>
              </a:rPr>
              <a:t> </a:t>
            </a:r>
            <a:r>
              <a:rPr sz="1100" spc="-35" dirty="0">
                <a:latin typeface="Georgia"/>
                <a:cs typeface="Georgia"/>
              </a:rPr>
              <a:t>Techniques,</a:t>
            </a:r>
            <a:r>
              <a:rPr sz="1100" spc="40" dirty="0">
                <a:latin typeface="Georgia"/>
                <a:cs typeface="Georgia"/>
              </a:rPr>
              <a:t> </a:t>
            </a:r>
            <a:r>
              <a:rPr sz="1100" dirty="0">
                <a:latin typeface="Georgia"/>
                <a:cs typeface="Georgia"/>
              </a:rPr>
              <a:t>J.</a:t>
            </a:r>
            <a:r>
              <a:rPr sz="1100" spc="40" dirty="0">
                <a:latin typeface="Georgia"/>
                <a:cs typeface="Georgia"/>
              </a:rPr>
              <a:t> </a:t>
            </a:r>
            <a:r>
              <a:rPr sz="1100" spc="-10" dirty="0">
                <a:latin typeface="Georgia"/>
                <a:cs typeface="Georgia"/>
              </a:rPr>
              <a:t>Han</a:t>
            </a:r>
            <a:r>
              <a:rPr sz="1100" spc="40" dirty="0">
                <a:latin typeface="Georgia"/>
                <a:cs typeface="Georgia"/>
              </a:rPr>
              <a:t> </a:t>
            </a:r>
            <a:r>
              <a:rPr sz="1100" dirty="0">
                <a:latin typeface="Georgia"/>
                <a:cs typeface="Georgia"/>
              </a:rPr>
              <a:t>et</a:t>
            </a:r>
            <a:r>
              <a:rPr sz="1100" spc="45" dirty="0">
                <a:latin typeface="Georgia"/>
                <a:cs typeface="Georgia"/>
              </a:rPr>
              <a:t> </a:t>
            </a:r>
            <a:r>
              <a:rPr sz="1100" dirty="0">
                <a:latin typeface="Georgia"/>
                <a:cs typeface="Georgia"/>
              </a:rPr>
              <a:t>al.</a:t>
            </a:r>
            <a:r>
              <a:rPr sz="1100" spc="135" dirty="0">
                <a:latin typeface="Georgia"/>
                <a:cs typeface="Georgia"/>
              </a:rPr>
              <a:t> </a:t>
            </a:r>
            <a:r>
              <a:rPr sz="1100" spc="-25" dirty="0">
                <a:latin typeface="Georgia"/>
                <a:cs typeface="Georgia"/>
              </a:rPr>
              <a:t>[</a:t>
            </a:r>
            <a:r>
              <a:rPr sz="1100" spc="-25" dirty="0">
                <a:latin typeface="Georgia"/>
                <a:cs typeface="Georgia"/>
                <a:hlinkClick r:id="rId2" action="ppaction://hlinksldjump"/>
              </a:rPr>
              <a:t>1</a:t>
            </a:r>
            <a:r>
              <a:rPr sz="1100" spc="-25" dirty="0">
                <a:latin typeface="Georgia"/>
                <a:cs typeface="Georgia"/>
              </a:rPr>
              <a:t>]</a:t>
            </a:r>
            <a:endParaRPr sz="1100">
              <a:latin typeface="Georgia"/>
              <a:cs typeface="Georgia"/>
            </a:endParaRPr>
          </a:p>
        </p:txBody>
      </p:sp>
      <p:sp>
        <p:nvSpPr>
          <p:cNvPr id="4" name="object 4"/>
          <p:cNvSpPr txBox="1"/>
          <p:nvPr/>
        </p:nvSpPr>
        <p:spPr>
          <a:xfrm>
            <a:off x="145059" y="646353"/>
            <a:ext cx="5469890" cy="508634"/>
          </a:xfrm>
          <a:prstGeom prst="rect">
            <a:avLst/>
          </a:prstGeom>
          <a:solidFill>
            <a:srgbClr val="ECECEC"/>
          </a:solidFill>
        </p:spPr>
        <p:txBody>
          <a:bodyPr vert="horz" wrap="square" lIns="0" tIns="29209" rIns="0" bIns="0" rtlCol="0">
            <a:spAutoFit/>
          </a:bodyPr>
          <a:lstStyle/>
          <a:p>
            <a:pPr marL="44450" marR="74295">
              <a:lnSpc>
                <a:spcPts val="1150"/>
              </a:lnSpc>
              <a:spcBef>
                <a:spcPts val="229"/>
              </a:spcBef>
            </a:pPr>
            <a:r>
              <a:rPr sz="1000" b="1" i="1" spc="-10" dirty="0">
                <a:latin typeface="Georgia"/>
                <a:cs typeface="Georgia"/>
              </a:rPr>
              <a:t>Cluster</a:t>
            </a:r>
            <a:r>
              <a:rPr sz="1000" b="1" i="1" spc="180" dirty="0">
                <a:latin typeface="Georgia"/>
                <a:cs typeface="Georgia"/>
              </a:rPr>
              <a:t> </a:t>
            </a:r>
            <a:r>
              <a:rPr sz="1000" b="1" i="1" spc="-50" dirty="0">
                <a:latin typeface="Georgia"/>
                <a:cs typeface="Georgia"/>
              </a:rPr>
              <a:t>analysis</a:t>
            </a:r>
            <a:r>
              <a:rPr sz="1000" b="1" i="1" spc="125" dirty="0">
                <a:latin typeface="Georgia"/>
                <a:cs typeface="Georgia"/>
              </a:rPr>
              <a:t> </a:t>
            </a:r>
            <a:r>
              <a:rPr sz="1000" i="1" dirty="0">
                <a:latin typeface="Times New Roman"/>
                <a:cs typeface="Times New Roman"/>
              </a:rPr>
              <a:t>or</a:t>
            </a:r>
            <a:r>
              <a:rPr sz="1000" i="1" spc="135" dirty="0">
                <a:latin typeface="Times New Roman"/>
                <a:cs typeface="Times New Roman"/>
              </a:rPr>
              <a:t> </a:t>
            </a:r>
            <a:r>
              <a:rPr sz="1000" i="1" dirty="0">
                <a:latin typeface="Times New Roman"/>
                <a:cs typeface="Times New Roman"/>
              </a:rPr>
              <a:t>simply</a:t>
            </a:r>
            <a:r>
              <a:rPr sz="1000" i="1" spc="135" dirty="0">
                <a:latin typeface="Times New Roman"/>
                <a:cs typeface="Times New Roman"/>
              </a:rPr>
              <a:t> </a:t>
            </a:r>
            <a:r>
              <a:rPr sz="1000" b="1" i="1" spc="-40" dirty="0">
                <a:latin typeface="Georgia"/>
                <a:cs typeface="Georgia"/>
              </a:rPr>
              <a:t>clustering</a:t>
            </a:r>
            <a:r>
              <a:rPr sz="1000" b="1" i="1" spc="125" dirty="0">
                <a:latin typeface="Georgia"/>
                <a:cs typeface="Georgia"/>
              </a:rPr>
              <a:t> </a:t>
            </a:r>
            <a:r>
              <a:rPr sz="1000" i="1" dirty="0">
                <a:latin typeface="Times New Roman"/>
                <a:cs typeface="Times New Roman"/>
              </a:rPr>
              <a:t>is</a:t>
            </a:r>
            <a:r>
              <a:rPr sz="1000" i="1" spc="135" dirty="0">
                <a:latin typeface="Times New Roman"/>
                <a:cs typeface="Times New Roman"/>
              </a:rPr>
              <a:t> </a:t>
            </a:r>
            <a:r>
              <a:rPr sz="1000" i="1" dirty="0">
                <a:latin typeface="Times New Roman"/>
                <a:cs typeface="Times New Roman"/>
              </a:rPr>
              <a:t>the</a:t>
            </a:r>
            <a:r>
              <a:rPr sz="1000" i="1" spc="130" dirty="0">
                <a:latin typeface="Times New Roman"/>
                <a:cs typeface="Times New Roman"/>
              </a:rPr>
              <a:t> </a:t>
            </a:r>
            <a:r>
              <a:rPr sz="1000" i="1" dirty="0">
                <a:latin typeface="Times New Roman"/>
                <a:cs typeface="Times New Roman"/>
              </a:rPr>
              <a:t>process</a:t>
            </a:r>
            <a:r>
              <a:rPr sz="1000" i="1" spc="135" dirty="0">
                <a:latin typeface="Times New Roman"/>
                <a:cs typeface="Times New Roman"/>
              </a:rPr>
              <a:t> </a:t>
            </a:r>
            <a:r>
              <a:rPr sz="1000" i="1" dirty="0">
                <a:latin typeface="Times New Roman"/>
                <a:cs typeface="Times New Roman"/>
              </a:rPr>
              <a:t>of</a:t>
            </a:r>
            <a:r>
              <a:rPr sz="1000" i="1" spc="135" dirty="0">
                <a:latin typeface="Times New Roman"/>
                <a:cs typeface="Times New Roman"/>
              </a:rPr>
              <a:t> </a:t>
            </a:r>
            <a:r>
              <a:rPr sz="1000" i="1" dirty="0">
                <a:latin typeface="Times New Roman"/>
                <a:cs typeface="Times New Roman"/>
              </a:rPr>
              <a:t>partitioning</a:t>
            </a:r>
            <a:r>
              <a:rPr sz="1000" i="1" spc="130" dirty="0">
                <a:latin typeface="Times New Roman"/>
                <a:cs typeface="Times New Roman"/>
              </a:rPr>
              <a:t> </a:t>
            </a:r>
            <a:r>
              <a:rPr sz="1000" i="1" dirty="0">
                <a:latin typeface="Times New Roman"/>
                <a:cs typeface="Times New Roman"/>
              </a:rPr>
              <a:t>a</a:t>
            </a:r>
            <a:r>
              <a:rPr sz="1000" i="1" spc="135" dirty="0">
                <a:latin typeface="Times New Roman"/>
                <a:cs typeface="Times New Roman"/>
              </a:rPr>
              <a:t> </a:t>
            </a:r>
            <a:r>
              <a:rPr sz="1000" i="1" dirty="0">
                <a:latin typeface="Times New Roman"/>
                <a:cs typeface="Times New Roman"/>
              </a:rPr>
              <a:t>set</a:t>
            </a:r>
            <a:r>
              <a:rPr sz="1000" i="1" spc="135" dirty="0">
                <a:latin typeface="Times New Roman"/>
                <a:cs typeface="Times New Roman"/>
              </a:rPr>
              <a:t> </a:t>
            </a:r>
            <a:r>
              <a:rPr sz="1000" i="1" dirty="0">
                <a:latin typeface="Times New Roman"/>
                <a:cs typeface="Times New Roman"/>
              </a:rPr>
              <a:t>of</a:t>
            </a:r>
            <a:r>
              <a:rPr sz="1000" i="1" spc="130" dirty="0">
                <a:latin typeface="Times New Roman"/>
                <a:cs typeface="Times New Roman"/>
              </a:rPr>
              <a:t> </a:t>
            </a:r>
            <a:r>
              <a:rPr sz="1000" i="1" dirty="0">
                <a:latin typeface="Times New Roman"/>
                <a:cs typeface="Times New Roman"/>
              </a:rPr>
              <a:t>data</a:t>
            </a:r>
            <a:r>
              <a:rPr sz="1000" i="1" spc="135" dirty="0">
                <a:latin typeface="Times New Roman"/>
                <a:cs typeface="Times New Roman"/>
              </a:rPr>
              <a:t> </a:t>
            </a:r>
            <a:r>
              <a:rPr sz="1000" i="1" dirty="0">
                <a:latin typeface="Times New Roman"/>
                <a:cs typeface="Times New Roman"/>
              </a:rPr>
              <a:t>objects</a:t>
            </a:r>
            <a:r>
              <a:rPr sz="1000" i="1" spc="130" dirty="0">
                <a:latin typeface="Times New Roman"/>
                <a:cs typeface="Times New Roman"/>
              </a:rPr>
              <a:t> </a:t>
            </a:r>
            <a:r>
              <a:rPr sz="1000" i="1" spc="-25" dirty="0">
                <a:latin typeface="Times New Roman"/>
                <a:cs typeface="Times New Roman"/>
              </a:rPr>
              <a:t>(or </a:t>
            </a:r>
            <a:r>
              <a:rPr sz="1000" i="1" dirty="0">
                <a:latin typeface="Times New Roman"/>
                <a:cs typeface="Times New Roman"/>
              </a:rPr>
              <a:t>observations)</a:t>
            </a:r>
            <a:r>
              <a:rPr sz="1000" i="1" spc="170" dirty="0">
                <a:latin typeface="Times New Roman"/>
                <a:cs typeface="Times New Roman"/>
              </a:rPr>
              <a:t> </a:t>
            </a:r>
            <a:r>
              <a:rPr sz="1000" i="1" dirty="0">
                <a:latin typeface="Times New Roman"/>
                <a:cs typeface="Times New Roman"/>
              </a:rPr>
              <a:t>into</a:t>
            </a:r>
            <a:r>
              <a:rPr sz="1000" i="1" spc="170" dirty="0">
                <a:latin typeface="Times New Roman"/>
                <a:cs typeface="Times New Roman"/>
              </a:rPr>
              <a:t> </a:t>
            </a:r>
            <a:r>
              <a:rPr sz="1000" i="1" dirty="0">
                <a:latin typeface="Times New Roman"/>
                <a:cs typeface="Times New Roman"/>
              </a:rPr>
              <a:t>subsets.</a:t>
            </a:r>
            <a:r>
              <a:rPr sz="1000" i="1" spc="295" dirty="0">
                <a:latin typeface="Times New Roman"/>
                <a:cs typeface="Times New Roman"/>
              </a:rPr>
              <a:t> </a:t>
            </a:r>
            <a:r>
              <a:rPr sz="1000" i="1" dirty="0">
                <a:latin typeface="Times New Roman"/>
                <a:cs typeface="Times New Roman"/>
              </a:rPr>
              <a:t>Each</a:t>
            </a:r>
            <a:r>
              <a:rPr sz="1000" i="1" spc="170" dirty="0">
                <a:latin typeface="Times New Roman"/>
                <a:cs typeface="Times New Roman"/>
              </a:rPr>
              <a:t> </a:t>
            </a:r>
            <a:r>
              <a:rPr sz="1000" i="1" dirty="0">
                <a:latin typeface="Times New Roman"/>
                <a:cs typeface="Times New Roman"/>
              </a:rPr>
              <a:t>subset</a:t>
            </a:r>
            <a:r>
              <a:rPr sz="1000" i="1" spc="175" dirty="0">
                <a:latin typeface="Times New Roman"/>
                <a:cs typeface="Times New Roman"/>
              </a:rPr>
              <a:t> </a:t>
            </a:r>
            <a:r>
              <a:rPr sz="1000" i="1" dirty="0">
                <a:latin typeface="Times New Roman"/>
                <a:cs typeface="Times New Roman"/>
              </a:rPr>
              <a:t>is</a:t>
            </a:r>
            <a:r>
              <a:rPr sz="1000" i="1" spc="170" dirty="0">
                <a:latin typeface="Times New Roman"/>
                <a:cs typeface="Times New Roman"/>
              </a:rPr>
              <a:t> </a:t>
            </a:r>
            <a:r>
              <a:rPr sz="1000" i="1" dirty="0">
                <a:latin typeface="Times New Roman"/>
                <a:cs typeface="Times New Roman"/>
              </a:rPr>
              <a:t>a</a:t>
            </a:r>
            <a:r>
              <a:rPr sz="1000" i="1" spc="170" dirty="0">
                <a:latin typeface="Times New Roman"/>
                <a:cs typeface="Times New Roman"/>
              </a:rPr>
              <a:t> </a:t>
            </a:r>
            <a:r>
              <a:rPr sz="1000" b="1" i="1" spc="-20" dirty="0">
                <a:latin typeface="Georgia"/>
                <a:cs typeface="Georgia"/>
              </a:rPr>
              <a:t>cluster</a:t>
            </a:r>
            <a:r>
              <a:rPr sz="1000" i="1" spc="-20" dirty="0">
                <a:latin typeface="Times New Roman"/>
                <a:cs typeface="Times New Roman"/>
              </a:rPr>
              <a:t>,</a:t>
            </a:r>
            <a:r>
              <a:rPr sz="1000" i="1" spc="175" dirty="0">
                <a:latin typeface="Times New Roman"/>
                <a:cs typeface="Times New Roman"/>
              </a:rPr>
              <a:t> </a:t>
            </a:r>
            <a:r>
              <a:rPr sz="1000" i="1" dirty="0">
                <a:latin typeface="Times New Roman"/>
                <a:cs typeface="Times New Roman"/>
              </a:rPr>
              <a:t>such</a:t>
            </a:r>
            <a:r>
              <a:rPr sz="1000" i="1" spc="170" dirty="0">
                <a:latin typeface="Times New Roman"/>
                <a:cs typeface="Times New Roman"/>
              </a:rPr>
              <a:t> </a:t>
            </a:r>
            <a:r>
              <a:rPr sz="1000" i="1" dirty="0">
                <a:latin typeface="Times New Roman"/>
                <a:cs typeface="Times New Roman"/>
              </a:rPr>
              <a:t>that</a:t>
            </a:r>
            <a:r>
              <a:rPr sz="1000" i="1" spc="175" dirty="0">
                <a:latin typeface="Times New Roman"/>
                <a:cs typeface="Times New Roman"/>
              </a:rPr>
              <a:t> </a:t>
            </a:r>
            <a:r>
              <a:rPr sz="1000" i="1" dirty="0">
                <a:latin typeface="Times New Roman"/>
                <a:cs typeface="Times New Roman"/>
              </a:rPr>
              <a:t>objects</a:t>
            </a:r>
            <a:r>
              <a:rPr sz="1000" i="1" spc="170" dirty="0">
                <a:latin typeface="Times New Roman"/>
                <a:cs typeface="Times New Roman"/>
              </a:rPr>
              <a:t> </a:t>
            </a:r>
            <a:r>
              <a:rPr sz="1000" i="1" dirty="0">
                <a:latin typeface="Times New Roman"/>
                <a:cs typeface="Times New Roman"/>
              </a:rPr>
              <a:t>in</a:t>
            </a:r>
            <a:r>
              <a:rPr sz="1000" i="1" spc="175" dirty="0">
                <a:latin typeface="Times New Roman"/>
                <a:cs typeface="Times New Roman"/>
              </a:rPr>
              <a:t> </a:t>
            </a:r>
            <a:r>
              <a:rPr sz="1000" i="1" dirty="0">
                <a:latin typeface="Times New Roman"/>
                <a:cs typeface="Times New Roman"/>
              </a:rPr>
              <a:t>a</a:t>
            </a:r>
            <a:r>
              <a:rPr sz="1000" i="1" spc="170" dirty="0">
                <a:latin typeface="Times New Roman"/>
                <a:cs typeface="Times New Roman"/>
              </a:rPr>
              <a:t> </a:t>
            </a:r>
            <a:r>
              <a:rPr sz="1000" i="1" dirty="0">
                <a:latin typeface="Times New Roman"/>
                <a:cs typeface="Times New Roman"/>
              </a:rPr>
              <a:t>cluster</a:t>
            </a:r>
            <a:r>
              <a:rPr sz="1000" i="1" spc="175" dirty="0">
                <a:latin typeface="Times New Roman"/>
                <a:cs typeface="Times New Roman"/>
              </a:rPr>
              <a:t> </a:t>
            </a:r>
            <a:r>
              <a:rPr sz="1000" i="1" dirty="0">
                <a:latin typeface="Times New Roman"/>
                <a:cs typeface="Times New Roman"/>
              </a:rPr>
              <a:t>are</a:t>
            </a:r>
            <a:r>
              <a:rPr sz="1000" i="1" spc="170" dirty="0">
                <a:latin typeface="Times New Roman"/>
                <a:cs typeface="Times New Roman"/>
              </a:rPr>
              <a:t> </a:t>
            </a:r>
            <a:r>
              <a:rPr sz="1000" i="1" dirty="0">
                <a:latin typeface="Times New Roman"/>
                <a:cs typeface="Times New Roman"/>
              </a:rPr>
              <a:t>similar</a:t>
            </a:r>
            <a:r>
              <a:rPr sz="1000" i="1" spc="175" dirty="0">
                <a:latin typeface="Times New Roman"/>
                <a:cs typeface="Times New Roman"/>
              </a:rPr>
              <a:t> </a:t>
            </a:r>
            <a:r>
              <a:rPr sz="1000" i="1" spc="-25" dirty="0">
                <a:latin typeface="Times New Roman"/>
                <a:cs typeface="Times New Roman"/>
              </a:rPr>
              <a:t>to </a:t>
            </a:r>
            <a:r>
              <a:rPr sz="1000" i="1" dirty="0">
                <a:latin typeface="Times New Roman"/>
                <a:cs typeface="Times New Roman"/>
              </a:rPr>
              <a:t>one</a:t>
            </a:r>
            <a:r>
              <a:rPr sz="1000" i="1" spc="204" dirty="0">
                <a:latin typeface="Times New Roman"/>
                <a:cs typeface="Times New Roman"/>
              </a:rPr>
              <a:t> </a:t>
            </a:r>
            <a:r>
              <a:rPr sz="1000" i="1" dirty="0">
                <a:latin typeface="Times New Roman"/>
                <a:cs typeface="Times New Roman"/>
              </a:rPr>
              <a:t>another,</a:t>
            </a:r>
            <a:r>
              <a:rPr sz="1000" i="1" spc="204" dirty="0">
                <a:latin typeface="Times New Roman"/>
                <a:cs typeface="Times New Roman"/>
              </a:rPr>
              <a:t> </a:t>
            </a:r>
            <a:r>
              <a:rPr sz="1000" i="1" dirty="0">
                <a:latin typeface="Times New Roman"/>
                <a:cs typeface="Times New Roman"/>
              </a:rPr>
              <a:t>yet</a:t>
            </a:r>
            <a:r>
              <a:rPr sz="1000" i="1" spc="204" dirty="0">
                <a:latin typeface="Times New Roman"/>
                <a:cs typeface="Times New Roman"/>
              </a:rPr>
              <a:t> </a:t>
            </a:r>
            <a:r>
              <a:rPr sz="1000" i="1" dirty="0">
                <a:latin typeface="Times New Roman"/>
                <a:cs typeface="Times New Roman"/>
              </a:rPr>
              <a:t>dissimilar</a:t>
            </a:r>
            <a:r>
              <a:rPr sz="1000" i="1" spc="204" dirty="0">
                <a:latin typeface="Times New Roman"/>
                <a:cs typeface="Times New Roman"/>
              </a:rPr>
              <a:t> </a:t>
            </a:r>
            <a:r>
              <a:rPr sz="1000" i="1" dirty="0">
                <a:latin typeface="Times New Roman"/>
                <a:cs typeface="Times New Roman"/>
              </a:rPr>
              <a:t>to</a:t>
            </a:r>
            <a:r>
              <a:rPr sz="1000" i="1" spc="204" dirty="0">
                <a:latin typeface="Times New Roman"/>
                <a:cs typeface="Times New Roman"/>
              </a:rPr>
              <a:t> </a:t>
            </a:r>
            <a:r>
              <a:rPr sz="1000" i="1" dirty="0">
                <a:latin typeface="Times New Roman"/>
                <a:cs typeface="Times New Roman"/>
              </a:rPr>
              <a:t>objects</a:t>
            </a:r>
            <a:r>
              <a:rPr sz="1000" i="1" spc="210" dirty="0">
                <a:latin typeface="Times New Roman"/>
                <a:cs typeface="Times New Roman"/>
              </a:rPr>
              <a:t> </a:t>
            </a:r>
            <a:r>
              <a:rPr sz="1000" i="1" dirty="0">
                <a:latin typeface="Times New Roman"/>
                <a:cs typeface="Times New Roman"/>
              </a:rPr>
              <a:t>in</a:t>
            </a:r>
            <a:r>
              <a:rPr sz="1000" i="1" spc="204" dirty="0">
                <a:latin typeface="Times New Roman"/>
                <a:cs typeface="Times New Roman"/>
              </a:rPr>
              <a:t> </a:t>
            </a:r>
            <a:r>
              <a:rPr sz="1000" i="1" dirty="0">
                <a:latin typeface="Times New Roman"/>
                <a:cs typeface="Times New Roman"/>
              </a:rPr>
              <a:t>other</a:t>
            </a:r>
            <a:r>
              <a:rPr sz="1000" i="1" spc="204" dirty="0">
                <a:latin typeface="Times New Roman"/>
                <a:cs typeface="Times New Roman"/>
              </a:rPr>
              <a:t> </a:t>
            </a:r>
            <a:r>
              <a:rPr sz="1000" i="1" spc="-10" dirty="0">
                <a:latin typeface="Times New Roman"/>
                <a:cs typeface="Times New Roman"/>
              </a:rPr>
              <a:t>clusters.</a:t>
            </a:r>
            <a:endParaRPr sz="1000">
              <a:latin typeface="Times New Roman"/>
              <a:cs typeface="Times New Roman"/>
            </a:endParaRPr>
          </a:p>
        </p:txBody>
      </p:sp>
      <p:sp>
        <p:nvSpPr>
          <p:cNvPr id="5" name="object 5"/>
          <p:cNvSpPr txBox="1"/>
          <p:nvPr/>
        </p:nvSpPr>
        <p:spPr>
          <a:xfrm>
            <a:off x="145059" y="1280998"/>
            <a:ext cx="5469890" cy="222250"/>
          </a:xfrm>
          <a:prstGeom prst="rect">
            <a:avLst/>
          </a:prstGeom>
          <a:solidFill>
            <a:srgbClr val="B3D9D9"/>
          </a:solidFill>
        </p:spPr>
        <p:txBody>
          <a:bodyPr vert="horz" wrap="square" lIns="0" tIns="8890" rIns="0" bIns="0" rtlCol="0">
            <a:spAutoFit/>
          </a:bodyPr>
          <a:lstStyle/>
          <a:p>
            <a:pPr marL="44450">
              <a:lnSpc>
                <a:spcPct val="100000"/>
              </a:lnSpc>
              <a:spcBef>
                <a:spcPts val="70"/>
              </a:spcBef>
            </a:pPr>
            <a:r>
              <a:rPr sz="1100" spc="-25" dirty="0">
                <a:latin typeface="Georgia"/>
                <a:cs typeface="Georgia"/>
              </a:rPr>
              <a:t>Definition</a:t>
            </a:r>
            <a:r>
              <a:rPr sz="1100" spc="30" dirty="0">
                <a:latin typeface="Georgia"/>
                <a:cs typeface="Georgia"/>
              </a:rPr>
              <a:t> </a:t>
            </a:r>
            <a:r>
              <a:rPr sz="1100" spc="-25" dirty="0">
                <a:latin typeface="Georgia"/>
                <a:cs typeface="Georgia"/>
              </a:rPr>
              <a:t>from</a:t>
            </a:r>
            <a:r>
              <a:rPr sz="1100" spc="35" dirty="0">
                <a:latin typeface="Georgia"/>
                <a:cs typeface="Georgia"/>
              </a:rPr>
              <a:t> </a:t>
            </a:r>
            <a:r>
              <a:rPr sz="1100" spc="-25" dirty="0">
                <a:latin typeface="Georgia"/>
                <a:cs typeface="Georgia"/>
              </a:rPr>
              <a:t>Mining</a:t>
            </a:r>
            <a:r>
              <a:rPr sz="1100" spc="35" dirty="0">
                <a:latin typeface="Georgia"/>
                <a:cs typeface="Georgia"/>
              </a:rPr>
              <a:t> </a:t>
            </a:r>
            <a:r>
              <a:rPr sz="1100" dirty="0">
                <a:latin typeface="Georgia"/>
                <a:cs typeface="Georgia"/>
              </a:rPr>
              <a:t>of</a:t>
            </a:r>
            <a:r>
              <a:rPr sz="1100" spc="35" dirty="0">
                <a:latin typeface="Georgia"/>
                <a:cs typeface="Georgia"/>
              </a:rPr>
              <a:t> </a:t>
            </a:r>
            <a:r>
              <a:rPr sz="1100" spc="-25" dirty="0">
                <a:latin typeface="Georgia"/>
                <a:cs typeface="Georgia"/>
              </a:rPr>
              <a:t>Massive</a:t>
            </a:r>
            <a:r>
              <a:rPr sz="1100" spc="35" dirty="0">
                <a:latin typeface="Georgia"/>
                <a:cs typeface="Georgia"/>
              </a:rPr>
              <a:t> </a:t>
            </a:r>
            <a:r>
              <a:rPr sz="1100" dirty="0">
                <a:latin typeface="Georgia"/>
                <a:cs typeface="Georgia"/>
              </a:rPr>
              <a:t>Datasets,</a:t>
            </a:r>
            <a:r>
              <a:rPr sz="1100" spc="35" dirty="0">
                <a:latin typeface="Georgia"/>
                <a:cs typeface="Georgia"/>
              </a:rPr>
              <a:t> </a:t>
            </a:r>
            <a:r>
              <a:rPr sz="1100" dirty="0">
                <a:latin typeface="Georgia"/>
                <a:cs typeface="Georgia"/>
              </a:rPr>
              <a:t>J.</a:t>
            </a:r>
            <a:r>
              <a:rPr sz="1100" spc="35" dirty="0">
                <a:latin typeface="Georgia"/>
                <a:cs typeface="Georgia"/>
              </a:rPr>
              <a:t> </a:t>
            </a:r>
            <a:r>
              <a:rPr sz="1100" spc="-30" dirty="0">
                <a:latin typeface="Georgia"/>
                <a:cs typeface="Georgia"/>
              </a:rPr>
              <a:t>Leskovec</a:t>
            </a:r>
            <a:r>
              <a:rPr sz="1100" spc="35" dirty="0">
                <a:latin typeface="Georgia"/>
                <a:cs typeface="Georgia"/>
              </a:rPr>
              <a:t> </a:t>
            </a:r>
            <a:r>
              <a:rPr sz="1100" dirty="0">
                <a:latin typeface="Georgia"/>
                <a:cs typeface="Georgia"/>
              </a:rPr>
              <a:t>et</a:t>
            </a:r>
            <a:r>
              <a:rPr sz="1100" spc="35" dirty="0">
                <a:latin typeface="Georgia"/>
                <a:cs typeface="Georgia"/>
              </a:rPr>
              <a:t> </a:t>
            </a:r>
            <a:r>
              <a:rPr sz="1100" dirty="0">
                <a:latin typeface="Georgia"/>
                <a:cs typeface="Georgia"/>
              </a:rPr>
              <a:t>al.</a:t>
            </a:r>
            <a:r>
              <a:rPr sz="1100" spc="130" dirty="0">
                <a:latin typeface="Georgia"/>
                <a:cs typeface="Georgia"/>
              </a:rPr>
              <a:t> </a:t>
            </a:r>
            <a:r>
              <a:rPr sz="1100" spc="-25" dirty="0">
                <a:latin typeface="Georgia"/>
                <a:cs typeface="Georgia"/>
              </a:rPr>
              <a:t>[</a:t>
            </a:r>
            <a:r>
              <a:rPr sz="1100" spc="-25" dirty="0">
                <a:latin typeface="Georgia"/>
                <a:cs typeface="Georgia"/>
                <a:hlinkClick r:id="rId2" action="ppaction://hlinksldjump"/>
              </a:rPr>
              <a:t>3</a:t>
            </a:r>
            <a:r>
              <a:rPr sz="1100" spc="-25" dirty="0">
                <a:latin typeface="Georgia"/>
                <a:cs typeface="Georgia"/>
              </a:rPr>
              <a:t>]</a:t>
            </a:r>
            <a:endParaRPr sz="1100">
              <a:latin typeface="Georgia"/>
              <a:cs typeface="Georgia"/>
            </a:endParaRPr>
          </a:p>
        </p:txBody>
      </p:sp>
      <p:sp>
        <p:nvSpPr>
          <p:cNvPr id="6" name="object 6"/>
          <p:cNvSpPr txBox="1"/>
          <p:nvPr/>
        </p:nvSpPr>
        <p:spPr>
          <a:xfrm>
            <a:off x="145059" y="1502638"/>
            <a:ext cx="5469890" cy="629920"/>
          </a:xfrm>
          <a:prstGeom prst="rect">
            <a:avLst/>
          </a:prstGeom>
          <a:solidFill>
            <a:srgbClr val="ECECEC"/>
          </a:solidFill>
        </p:spPr>
        <p:txBody>
          <a:bodyPr vert="horz" wrap="square" lIns="0" tIns="29209" rIns="0" bIns="0" rtlCol="0">
            <a:spAutoFit/>
          </a:bodyPr>
          <a:lstStyle/>
          <a:p>
            <a:pPr marL="44450" marR="86995">
              <a:lnSpc>
                <a:spcPts val="1150"/>
              </a:lnSpc>
              <a:spcBef>
                <a:spcPts val="229"/>
              </a:spcBef>
            </a:pPr>
            <a:r>
              <a:rPr sz="1000" i="1" dirty="0">
                <a:latin typeface="Times New Roman"/>
                <a:cs typeface="Times New Roman"/>
              </a:rPr>
              <a:t>Clustering</a:t>
            </a:r>
            <a:r>
              <a:rPr sz="1000" i="1" spc="155" dirty="0">
                <a:latin typeface="Times New Roman"/>
                <a:cs typeface="Times New Roman"/>
              </a:rPr>
              <a:t> </a:t>
            </a:r>
            <a:r>
              <a:rPr sz="1000" i="1" dirty="0">
                <a:latin typeface="Times New Roman"/>
                <a:cs typeface="Times New Roman"/>
              </a:rPr>
              <a:t>is</a:t>
            </a:r>
            <a:r>
              <a:rPr sz="1000" i="1" spc="160" dirty="0">
                <a:latin typeface="Times New Roman"/>
                <a:cs typeface="Times New Roman"/>
              </a:rPr>
              <a:t> </a:t>
            </a:r>
            <a:r>
              <a:rPr sz="1000" i="1" dirty="0">
                <a:latin typeface="Times New Roman"/>
                <a:cs typeface="Times New Roman"/>
              </a:rPr>
              <a:t>the</a:t>
            </a:r>
            <a:r>
              <a:rPr sz="1000" i="1" spc="155" dirty="0">
                <a:latin typeface="Times New Roman"/>
                <a:cs typeface="Times New Roman"/>
              </a:rPr>
              <a:t> </a:t>
            </a:r>
            <a:r>
              <a:rPr sz="1000" i="1" dirty="0">
                <a:latin typeface="Times New Roman"/>
                <a:cs typeface="Times New Roman"/>
              </a:rPr>
              <a:t>process</a:t>
            </a:r>
            <a:r>
              <a:rPr sz="1000" i="1" spc="160" dirty="0">
                <a:latin typeface="Times New Roman"/>
                <a:cs typeface="Times New Roman"/>
              </a:rPr>
              <a:t> </a:t>
            </a:r>
            <a:r>
              <a:rPr sz="1000" i="1" dirty="0">
                <a:latin typeface="Times New Roman"/>
                <a:cs typeface="Times New Roman"/>
              </a:rPr>
              <a:t>of</a:t>
            </a:r>
            <a:r>
              <a:rPr sz="1000" i="1" spc="155" dirty="0">
                <a:latin typeface="Times New Roman"/>
                <a:cs typeface="Times New Roman"/>
              </a:rPr>
              <a:t> </a:t>
            </a:r>
            <a:r>
              <a:rPr sz="1000" i="1" dirty="0">
                <a:latin typeface="Times New Roman"/>
                <a:cs typeface="Times New Roman"/>
              </a:rPr>
              <a:t>examining</a:t>
            </a:r>
            <a:r>
              <a:rPr sz="1000" i="1" spc="160" dirty="0">
                <a:latin typeface="Times New Roman"/>
                <a:cs typeface="Times New Roman"/>
              </a:rPr>
              <a:t> </a:t>
            </a:r>
            <a:r>
              <a:rPr sz="1000" i="1" dirty="0">
                <a:latin typeface="Times New Roman"/>
                <a:cs typeface="Times New Roman"/>
              </a:rPr>
              <a:t>a</a:t>
            </a:r>
            <a:r>
              <a:rPr sz="1000" i="1" spc="160" dirty="0">
                <a:latin typeface="Times New Roman"/>
                <a:cs typeface="Times New Roman"/>
              </a:rPr>
              <a:t> </a:t>
            </a:r>
            <a:r>
              <a:rPr sz="1000" i="1" dirty="0">
                <a:latin typeface="Times New Roman"/>
                <a:cs typeface="Times New Roman"/>
              </a:rPr>
              <a:t>collection</a:t>
            </a:r>
            <a:r>
              <a:rPr sz="1000" i="1" spc="155" dirty="0">
                <a:latin typeface="Times New Roman"/>
                <a:cs typeface="Times New Roman"/>
              </a:rPr>
              <a:t> </a:t>
            </a:r>
            <a:r>
              <a:rPr sz="1000" i="1" dirty="0">
                <a:latin typeface="Times New Roman"/>
                <a:cs typeface="Times New Roman"/>
              </a:rPr>
              <a:t>of</a:t>
            </a:r>
            <a:r>
              <a:rPr sz="1000" i="1" spc="160" dirty="0">
                <a:latin typeface="Times New Roman"/>
                <a:cs typeface="Times New Roman"/>
              </a:rPr>
              <a:t> </a:t>
            </a:r>
            <a:r>
              <a:rPr sz="1000" b="1" i="1" spc="-30" dirty="0">
                <a:latin typeface="Georgia"/>
                <a:cs typeface="Georgia"/>
              </a:rPr>
              <a:t>points</a:t>
            </a:r>
            <a:r>
              <a:rPr sz="1000" i="1" spc="-30" dirty="0">
                <a:latin typeface="Times New Roman"/>
                <a:cs typeface="Times New Roman"/>
              </a:rPr>
              <a:t>,</a:t>
            </a:r>
            <a:r>
              <a:rPr sz="1000" i="1" spc="155" dirty="0">
                <a:latin typeface="Times New Roman"/>
                <a:cs typeface="Times New Roman"/>
              </a:rPr>
              <a:t> </a:t>
            </a:r>
            <a:r>
              <a:rPr sz="1000" i="1" dirty="0">
                <a:latin typeface="Times New Roman"/>
                <a:cs typeface="Times New Roman"/>
              </a:rPr>
              <a:t>and</a:t>
            </a:r>
            <a:r>
              <a:rPr sz="1000" i="1" spc="160" dirty="0">
                <a:latin typeface="Times New Roman"/>
                <a:cs typeface="Times New Roman"/>
              </a:rPr>
              <a:t> </a:t>
            </a:r>
            <a:r>
              <a:rPr sz="1000" i="1" dirty="0">
                <a:latin typeface="Times New Roman"/>
                <a:cs typeface="Times New Roman"/>
              </a:rPr>
              <a:t>grouping</a:t>
            </a:r>
            <a:r>
              <a:rPr sz="1000" i="1" spc="155" dirty="0">
                <a:latin typeface="Times New Roman"/>
                <a:cs typeface="Times New Roman"/>
              </a:rPr>
              <a:t> </a:t>
            </a:r>
            <a:r>
              <a:rPr sz="1000" i="1" dirty="0">
                <a:latin typeface="Times New Roman"/>
                <a:cs typeface="Times New Roman"/>
              </a:rPr>
              <a:t>the</a:t>
            </a:r>
            <a:r>
              <a:rPr sz="1000" i="1" spc="160" dirty="0">
                <a:latin typeface="Times New Roman"/>
                <a:cs typeface="Times New Roman"/>
              </a:rPr>
              <a:t> </a:t>
            </a:r>
            <a:r>
              <a:rPr sz="1000" i="1" dirty="0">
                <a:latin typeface="Times New Roman"/>
                <a:cs typeface="Times New Roman"/>
              </a:rPr>
              <a:t>points</a:t>
            </a:r>
            <a:r>
              <a:rPr sz="1000" i="1" spc="160" dirty="0">
                <a:latin typeface="Times New Roman"/>
                <a:cs typeface="Times New Roman"/>
              </a:rPr>
              <a:t> </a:t>
            </a:r>
            <a:r>
              <a:rPr sz="1000" i="1" spc="-20" dirty="0">
                <a:latin typeface="Times New Roman"/>
                <a:cs typeface="Times New Roman"/>
              </a:rPr>
              <a:t>into </a:t>
            </a:r>
            <a:r>
              <a:rPr sz="1000" b="1" i="1" spc="-30" dirty="0">
                <a:latin typeface="Georgia"/>
                <a:cs typeface="Georgia"/>
              </a:rPr>
              <a:t>clusters</a:t>
            </a:r>
            <a:r>
              <a:rPr sz="1000" b="1" i="1" spc="145" dirty="0">
                <a:latin typeface="Georgia"/>
                <a:cs typeface="Georgia"/>
              </a:rPr>
              <a:t> </a:t>
            </a:r>
            <a:r>
              <a:rPr sz="1000" i="1" dirty="0">
                <a:latin typeface="Times New Roman"/>
                <a:cs typeface="Times New Roman"/>
              </a:rPr>
              <a:t>according</a:t>
            </a:r>
            <a:r>
              <a:rPr sz="1000" i="1" spc="155" dirty="0">
                <a:latin typeface="Times New Roman"/>
                <a:cs typeface="Times New Roman"/>
              </a:rPr>
              <a:t> </a:t>
            </a:r>
            <a:r>
              <a:rPr sz="1000" i="1" dirty="0">
                <a:latin typeface="Times New Roman"/>
                <a:cs typeface="Times New Roman"/>
              </a:rPr>
              <a:t>to</a:t>
            </a:r>
            <a:r>
              <a:rPr sz="1000" i="1" spc="150" dirty="0">
                <a:latin typeface="Times New Roman"/>
                <a:cs typeface="Times New Roman"/>
              </a:rPr>
              <a:t> </a:t>
            </a:r>
            <a:r>
              <a:rPr sz="1000" i="1" dirty="0">
                <a:latin typeface="Times New Roman"/>
                <a:cs typeface="Times New Roman"/>
              </a:rPr>
              <a:t>some</a:t>
            </a:r>
            <a:r>
              <a:rPr sz="1000" i="1" spc="155" dirty="0">
                <a:latin typeface="Times New Roman"/>
                <a:cs typeface="Times New Roman"/>
              </a:rPr>
              <a:t> </a:t>
            </a:r>
            <a:r>
              <a:rPr sz="1000" i="1" dirty="0">
                <a:latin typeface="Times New Roman"/>
                <a:cs typeface="Times New Roman"/>
              </a:rPr>
              <a:t>distance</a:t>
            </a:r>
            <a:r>
              <a:rPr sz="1000" i="1" spc="155" dirty="0">
                <a:latin typeface="Times New Roman"/>
                <a:cs typeface="Times New Roman"/>
              </a:rPr>
              <a:t> </a:t>
            </a:r>
            <a:r>
              <a:rPr sz="1000" i="1" dirty="0">
                <a:latin typeface="Times New Roman"/>
                <a:cs typeface="Times New Roman"/>
              </a:rPr>
              <a:t>measure.</a:t>
            </a:r>
            <a:r>
              <a:rPr sz="1000" i="1" spc="265" dirty="0">
                <a:latin typeface="Times New Roman"/>
                <a:cs typeface="Times New Roman"/>
              </a:rPr>
              <a:t> </a:t>
            </a:r>
            <a:r>
              <a:rPr sz="1000" i="1" spc="55" dirty="0">
                <a:latin typeface="Times New Roman"/>
                <a:cs typeface="Times New Roman"/>
              </a:rPr>
              <a:t>The</a:t>
            </a:r>
            <a:r>
              <a:rPr sz="1000" i="1" spc="155" dirty="0">
                <a:latin typeface="Times New Roman"/>
                <a:cs typeface="Times New Roman"/>
              </a:rPr>
              <a:t> </a:t>
            </a:r>
            <a:r>
              <a:rPr sz="1000" i="1" dirty="0">
                <a:latin typeface="Times New Roman"/>
                <a:cs typeface="Times New Roman"/>
              </a:rPr>
              <a:t>goal</a:t>
            </a:r>
            <a:r>
              <a:rPr sz="1000" i="1" spc="150" dirty="0">
                <a:latin typeface="Times New Roman"/>
                <a:cs typeface="Times New Roman"/>
              </a:rPr>
              <a:t> </a:t>
            </a:r>
            <a:r>
              <a:rPr sz="1000" i="1" dirty="0">
                <a:latin typeface="Times New Roman"/>
                <a:cs typeface="Times New Roman"/>
              </a:rPr>
              <a:t>is</a:t>
            </a:r>
            <a:r>
              <a:rPr sz="1000" i="1" spc="155" dirty="0">
                <a:latin typeface="Times New Roman"/>
                <a:cs typeface="Times New Roman"/>
              </a:rPr>
              <a:t> </a:t>
            </a:r>
            <a:r>
              <a:rPr sz="1000" i="1" dirty="0">
                <a:latin typeface="Times New Roman"/>
                <a:cs typeface="Times New Roman"/>
              </a:rPr>
              <a:t>that</a:t>
            </a:r>
            <a:r>
              <a:rPr sz="1000" i="1" spc="150" dirty="0">
                <a:latin typeface="Times New Roman"/>
                <a:cs typeface="Times New Roman"/>
              </a:rPr>
              <a:t> </a:t>
            </a:r>
            <a:r>
              <a:rPr sz="1000" i="1" dirty="0">
                <a:latin typeface="Times New Roman"/>
                <a:cs typeface="Times New Roman"/>
              </a:rPr>
              <a:t>points</a:t>
            </a:r>
            <a:r>
              <a:rPr sz="1000" i="1" spc="155" dirty="0">
                <a:latin typeface="Times New Roman"/>
                <a:cs typeface="Times New Roman"/>
              </a:rPr>
              <a:t> </a:t>
            </a:r>
            <a:r>
              <a:rPr sz="1000" i="1" dirty="0">
                <a:latin typeface="Times New Roman"/>
                <a:cs typeface="Times New Roman"/>
              </a:rPr>
              <a:t>in</a:t>
            </a:r>
            <a:r>
              <a:rPr sz="1000" i="1" spc="155" dirty="0">
                <a:latin typeface="Times New Roman"/>
                <a:cs typeface="Times New Roman"/>
              </a:rPr>
              <a:t> </a:t>
            </a:r>
            <a:r>
              <a:rPr sz="1000" i="1" dirty="0">
                <a:latin typeface="Times New Roman"/>
                <a:cs typeface="Times New Roman"/>
              </a:rPr>
              <a:t>the</a:t>
            </a:r>
            <a:r>
              <a:rPr sz="1000" i="1" spc="150" dirty="0">
                <a:latin typeface="Times New Roman"/>
                <a:cs typeface="Times New Roman"/>
              </a:rPr>
              <a:t> </a:t>
            </a:r>
            <a:r>
              <a:rPr sz="1000" i="1" dirty="0">
                <a:latin typeface="Times New Roman"/>
                <a:cs typeface="Times New Roman"/>
              </a:rPr>
              <a:t>same</a:t>
            </a:r>
            <a:r>
              <a:rPr sz="1000" i="1" spc="155" dirty="0">
                <a:latin typeface="Times New Roman"/>
                <a:cs typeface="Times New Roman"/>
              </a:rPr>
              <a:t> </a:t>
            </a:r>
            <a:r>
              <a:rPr sz="1000" i="1" dirty="0">
                <a:latin typeface="Times New Roman"/>
                <a:cs typeface="Times New Roman"/>
              </a:rPr>
              <a:t>cluster</a:t>
            </a:r>
            <a:r>
              <a:rPr sz="1000" i="1" spc="155" dirty="0">
                <a:latin typeface="Times New Roman"/>
                <a:cs typeface="Times New Roman"/>
              </a:rPr>
              <a:t> </a:t>
            </a:r>
            <a:r>
              <a:rPr sz="1000" i="1" dirty="0">
                <a:latin typeface="Times New Roman"/>
                <a:cs typeface="Times New Roman"/>
              </a:rPr>
              <a:t>have</a:t>
            </a:r>
            <a:r>
              <a:rPr sz="1000" i="1" spc="150" dirty="0">
                <a:latin typeface="Times New Roman"/>
                <a:cs typeface="Times New Roman"/>
              </a:rPr>
              <a:t> </a:t>
            </a:r>
            <a:r>
              <a:rPr sz="1000" i="1" spc="-50" dirty="0">
                <a:latin typeface="Times New Roman"/>
                <a:cs typeface="Times New Roman"/>
              </a:rPr>
              <a:t>a</a:t>
            </a:r>
            <a:r>
              <a:rPr sz="1000" i="1" dirty="0">
                <a:latin typeface="Times New Roman"/>
                <a:cs typeface="Times New Roman"/>
              </a:rPr>
              <a:t> small</a:t>
            </a:r>
            <a:r>
              <a:rPr sz="1000" i="1" spc="185" dirty="0">
                <a:latin typeface="Times New Roman"/>
                <a:cs typeface="Times New Roman"/>
              </a:rPr>
              <a:t> </a:t>
            </a:r>
            <a:r>
              <a:rPr sz="1000" i="1" dirty="0">
                <a:latin typeface="Times New Roman"/>
                <a:cs typeface="Times New Roman"/>
              </a:rPr>
              <a:t>distance</a:t>
            </a:r>
            <a:r>
              <a:rPr sz="1000" i="1" spc="185" dirty="0">
                <a:latin typeface="Times New Roman"/>
                <a:cs typeface="Times New Roman"/>
              </a:rPr>
              <a:t> </a:t>
            </a:r>
            <a:r>
              <a:rPr sz="1000" i="1" dirty="0">
                <a:latin typeface="Times New Roman"/>
                <a:cs typeface="Times New Roman"/>
              </a:rPr>
              <a:t>from</a:t>
            </a:r>
            <a:r>
              <a:rPr sz="1000" i="1" spc="190" dirty="0">
                <a:latin typeface="Times New Roman"/>
                <a:cs typeface="Times New Roman"/>
              </a:rPr>
              <a:t> </a:t>
            </a:r>
            <a:r>
              <a:rPr sz="1000" i="1" dirty="0">
                <a:latin typeface="Times New Roman"/>
                <a:cs typeface="Times New Roman"/>
              </a:rPr>
              <a:t>one</a:t>
            </a:r>
            <a:r>
              <a:rPr sz="1000" i="1" spc="185" dirty="0">
                <a:latin typeface="Times New Roman"/>
                <a:cs typeface="Times New Roman"/>
              </a:rPr>
              <a:t> </a:t>
            </a:r>
            <a:r>
              <a:rPr sz="1000" i="1" dirty="0">
                <a:latin typeface="Times New Roman"/>
                <a:cs typeface="Times New Roman"/>
              </a:rPr>
              <a:t>another,</a:t>
            </a:r>
            <a:r>
              <a:rPr sz="1000" i="1" spc="185" dirty="0">
                <a:latin typeface="Times New Roman"/>
                <a:cs typeface="Times New Roman"/>
              </a:rPr>
              <a:t> </a:t>
            </a:r>
            <a:r>
              <a:rPr sz="1000" i="1" dirty="0">
                <a:latin typeface="Times New Roman"/>
                <a:cs typeface="Times New Roman"/>
              </a:rPr>
              <a:t>while</a:t>
            </a:r>
            <a:r>
              <a:rPr sz="1000" i="1" spc="190" dirty="0">
                <a:latin typeface="Times New Roman"/>
                <a:cs typeface="Times New Roman"/>
              </a:rPr>
              <a:t> </a:t>
            </a:r>
            <a:r>
              <a:rPr sz="1000" i="1" dirty="0">
                <a:latin typeface="Times New Roman"/>
                <a:cs typeface="Times New Roman"/>
              </a:rPr>
              <a:t>points</a:t>
            </a:r>
            <a:r>
              <a:rPr sz="1000" i="1" spc="185" dirty="0">
                <a:latin typeface="Times New Roman"/>
                <a:cs typeface="Times New Roman"/>
              </a:rPr>
              <a:t> </a:t>
            </a:r>
            <a:r>
              <a:rPr sz="1000" i="1" dirty="0">
                <a:latin typeface="Times New Roman"/>
                <a:cs typeface="Times New Roman"/>
              </a:rPr>
              <a:t>in</a:t>
            </a:r>
            <a:r>
              <a:rPr sz="1000" i="1" spc="185" dirty="0">
                <a:latin typeface="Times New Roman"/>
                <a:cs typeface="Times New Roman"/>
              </a:rPr>
              <a:t> </a:t>
            </a:r>
            <a:r>
              <a:rPr sz="1000" i="1" dirty="0">
                <a:latin typeface="Times New Roman"/>
                <a:cs typeface="Times New Roman"/>
              </a:rPr>
              <a:t>di</a:t>
            </a:r>
            <a:r>
              <a:rPr sz="1000" i="1" dirty="0">
                <a:latin typeface="Arial"/>
                <a:cs typeface="Arial"/>
              </a:rPr>
              <a:t>fl</a:t>
            </a:r>
            <a:r>
              <a:rPr sz="1000" i="1" dirty="0">
                <a:latin typeface="Times New Roman"/>
                <a:cs typeface="Times New Roman"/>
              </a:rPr>
              <a:t>erent</a:t>
            </a:r>
            <a:r>
              <a:rPr sz="1000" i="1" spc="190" dirty="0">
                <a:latin typeface="Times New Roman"/>
                <a:cs typeface="Times New Roman"/>
              </a:rPr>
              <a:t> </a:t>
            </a:r>
            <a:r>
              <a:rPr sz="1000" i="1" dirty="0">
                <a:latin typeface="Times New Roman"/>
                <a:cs typeface="Times New Roman"/>
              </a:rPr>
              <a:t>clusters</a:t>
            </a:r>
            <a:r>
              <a:rPr sz="1000" i="1" spc="185" dirty="0">
                <a:latin typeface="Times New Roman"/>
                <a:cs typeface="Times New Roman"/>
              </a:rPr>
              <a:t> </a:t>
            </a:r>
            <a:r>
              <a:rPr sz="1000" i="1" dirty="0">
                <a:latin typeface="Times New Roman"/>
                <a:cs typeface="Times New Roman"/>
              </a:rPr>
              <a:t>are</a:t>
            </a:r>
            <a:r>
              <a:rPr sz="1000" i="1" spc="190" dirty="0">
                <a:latin typeface="Times New Roman"/>
                <a:cs typeface="Times New Roman"/>
              </a:rPr>
              <a:t> </a:t>
            </a:r>
            <a:r>
              <a:rPr sz="1000" i="1" dirty="0">
                <a:latin typeface="Times New Roman"/>
                <a:cs typeface="Times New Roman"/>
              </a:rPr>
              <a:t>at</a:t>
            </a:r>
            <a:r>
              <a:rPr sz="1000" i="1" spc="185" dirty="0">
                <a:latin typeface="Times New Roman"/>
                <a:cs typeface="Times New Roman"/>
              </a:rPr>
              <a:t> </a:t>
            </a:r>
            <a:r>
              <a:rPr sz="1000" i="1" dirty="0">
                <a:latin typeface="Times New Roman"/>
                <a:cs typeface="Times New Roman"/>
              </a:rPr>
              <a:t>a</a:t>
            </a:r>
            <a:r>
              <a:rPr sz="1000" i="1" spc="185" dirty="0">
                <a:latin typeface="Times New Roman"/>
                <a:cs typeface="Times New Roman"/>
              </a:rPr>
              <a:t> </a:t>
            </a:r>
            <a:r>
              <a:rPr sz="1000" i="1" dirty="0">
                <a:latin typeface="Times New Roman"/>
                <a:cs typeface="Times New Roman"/>
              </a:rPr>
              <a:t>large</a:t>
            </a:r>
            <a:r>
              <a:rPr sz="1000" i="1" spc="190" dirty="0">
                <a:latin typeface="Times New Roman"/>
                <a:cs typeface="Times New Roman"/>
              </a:rPr>
              <a:t> </a:t>
            </a:r>
            <a:r>
              <a:rPr sz="1000" i="1" dirty="0">
                <a:latin typeface="Times New Roman"/>
                <a:cs typeface="Times New Roman"/>
              </a:rPr>
              <a:t>distance</a:t>
            </a:r>
            <a:r>
              <a:rPr sz="1000" i="1" spc="185" dirty="0">
                <a:latin typeface="Times New Roman"/>
                <a:cs typeface="Times New Roman"/>
              </a:rPr>
              <a:t> </a:t>
            </a:r>
            <a:r>
              <a:rPr sz="1000" i="1" spc="-20" dirty="0">
                <a:latin typeface="Times New Roman"/>
                <a:cs typeface="Times New Roman"/>
              </a:rPr>
              <a:t>from</a:t>
            </a:r>
            <a:r>
              <a:rPr sz="1000" i="1" spc="500" dirty="0">
                <a:latin typeface="Times New Roman"/>
                <a:cs typeface="Times New Roman"/>
              </a:rPr>
              <a:t> </a:t>
            </a:r>
            <a:r>
              <a:rPr sz="1000" i="1" dirty="0">
                <a:latin typeface="Times New Roman"/>
                <a:cs typeface="Times New Roman"/>
              </a:rPr>
              <a:t>one</a:t>
            </a:r>
            <a:r>
              <a:rPr sz="1000" i="1" spc="165" dirty="0">
                <a:latin typeface="Times New Roman"/>
                <a:cs typeface="Times New Roman"/>
              </a:rPr>
              <a:t> </a:t>
            </a:r>
            <a:r>
              <a:rPr sz="1000" i="1" spc="-10" dirty="0">
                <a:latin typeface="Times New Roman"/>
                <a:cs typeface="Times New Roman"/>
              </a:rPr>
              <a:t>another.</a:t>
            </a:r>
            <a:endParaRPr sz="1000">
              <a:latin typeface="Times New Roman"/>
              <a:cs typeface="Times New Roman"/>
            </a:endParaRPr>
          </a:p>
        </p:txBody>
      </p:sp>
      <p:sp>
        <p:nvSpPr>
          <p:cNvPr id="7" name="object 7"/>
          <p:cNvSpPr txBox="1"/>
          <p:nvPr/>
        </p:nvSpPr>
        <p:spPr>
          <a:xfrm>
            <a:off x="145059" y="2258948"/>
            <a:ext cx="5469890" cy="205740"/>
          </a:xfrm>
          <a:prstGeom prst="rect">
            <a:avLst/>
          </a:prstGeom>
          <a:solidFill>
            <a:srgbClr val="B3D9D9"/>
          </a:solidFill>
        </p:spPr>
        <p:txBody>
          <a:bodyPr vert="horz" wrap="square" lIns="0" tIns="0" rIns="0" bIns="0" rtlCol="0">
            <a:spAutoFit/>
          </a:bodyPr>
          <a:lstStyle/>
          <a:p>
            <a:pPr marL="44450">
              <a:lnSpc>
                <a:spcPct val="100000"/>
              </a:lnSpc>
            </a:pPr>
            <a:r>
              <a:rPr sz="1100" spc="-25" dirty="0">
                <a:latin typeface="Georgia"/>
                <a:cs typeface="Georgia"/>
              </a:rPr>
              <a:t>Definition</a:t>
            </a:r>
            <a:r>
              <a:rPr sz="1100" spc="15" dirty="0">
                <a:latin typeface="Georgia"/>
                <a:cs typeface="Georgia"/>
              </a:rPr>
              <a:t> </a:t>
            </a:r>
            <a:r>
              <a:rPr sz="1100" spc="-25" dirty="0">
                <a:latin typeface="Georgia"/>
                <a:cs typeface="Georgia"/>
              </a:rPr>
              <a:t>from</a:t>
            </a:r>
            <a:r>
              <a:rPr sz="1100" spc="15" dirty="0">
                <a:latin typeface="Georgia"/>
                <a:cs typeface="Georgia"/>
              </a:rPr>
              <a:t> </a:t>
            </a:r>
            <a:r>
              <a:rPr sz="1100" spc="-10" dirty="0">
                <a:latin typeface="Georgia"/>
                <a:cs typeface="Georgia"/>
              </a:rPr>
              <a:t>Wikipedia</a:t>
            </a:r>
            <a:endParaRPr sz="1100">
              <a:latin typeface="Georgia"/>
              <a:cs typeface="Georgia"/>
            </a:endParaRPr>
          </a:p>
        </p:txBody>
      </p:sp>
      <p:sp>
        <p:nvSpPr>
          <p:cNvPr id="8" name="object 8"/>
          <p:cNvSpPr txBox="1"/>
          <p:nvPr/>
        </p:nvSpPr>
        <p:spPr>
          <a:xfrm>
            <a:off x="145059" y="2464422"/>
            <a:ext cx="5469890" cy="515620"/>
          </a:xfrm>
          <a:prstGeom prst="rect">
            <a:avLst/>
          </a:prstGeom>
          <a:solidFill>
            <a:srgbClr val="ECECEC"/>
          </a:solidFill>
        </p:spPr>
        <p:txBody>
          <a:bodyPr vert="horz" wrap="square" lIns="0" tIns="29209" rIns="0" bIns="0" rtlCol="0">
            <a:spAutoFit/>
          </a:bodyPr>
          <a:lstStyle/>
          <a:p>
            <a:pPr marL="44450" marR="51435">
              <a:lnSpc>
                <a:spcPts val="1150"/>
              </a:lnSpc>
              <a:spcBef>
                <a:spcPts val="229"/>
              </a:spcBef>
            </a:pPr>
            <a:r>
              <a:rPr sz="1000" b="1" i="1" spc="-10" dirty="0">
                <a:latin typeface="Georgia"/>
                <a:cs typeface="Georgia"/>
              </a:rPr>
              <a:t>Cluster</a:t>
            </a:r>
            <a:r>
              <a:rPr sz="1000" b="1" i="1" spc="170" dirty="0">
                <a:latin typeface="Georgia"/>
                <a:cs typeface="Georgia"/>
              </a:rPr>
              <a:t> </a:t>
            </a:r>
            <a:r>
              <a:rPr sz="1000" b="1" i="1" spc="-50" dirty="0">
                <a:latin typeface="Georgia"/>
                <a:cs typeface="Georgia"/>
              </a:rPr>
              <a:t>analysis</a:t>
            </a:r>
            <a:r>
              <a:rPr sz="1000" b="1" i="1" spc="114" dirty="0">
                <a:latin typeface="Georgia"/>
                <a:cs typeface="Georgia"/>
              </a:rPr>
              <a:t> </a:t>
            </a:r>
            <a:r>
              <a:rPr sz="1000" i="1" dirty="0">
                <a:latin typeface="Times New Roman"/>
                <a:cs typeface="Times New Roman"/>
              </a:rPr>
              <a:t>or</a:t>
            </a:r>
            <a:r>
              <a:rPr sz="1000" i="1" spc="125" dirty="0">
                <a:latin typeface="Times New Roman"/>
                <a:cs typeface="Times New Roman"/>
              </a:rPr>
              <a:t> </a:t>
            </a:r>
            <a:r>
              <a:rPr sz="1000" b="1" i="1" spc="-40" dirty="0">
                <a:latin typeface="Georgia"/>
                <a:cs typeface="Georgia"/>
              </a:rPr>
              <a:t>clustering</a:t>
            </a:r>
            <a:r>
              <a:rPr sz="1000" b="1" i="1" spc="120" dirty="0">
                <a:latin typeface="Georgia"/>
                <a:cs typeface="Georgia"/>
              </a:rPr>
              <a:t> </a:t>
            </a:r>
            <a:r>
              <a:rPr sz="1000" i="1" dirty="0">
                <a:latin typeface="Times New Roman"/>
                <a:cs typeface="Times New Roman"/>
              </a:rPr>
              <a:t>is</a:t>
            </a:r>
            <a:r>
              <a:rPr sz="1000" i="1" spc="120" dirty="0">
                <a:latin typeface="Times New Roman"/>
                <a:cs typeface="Times New Roman"/>
              </a:rPr>
              <a:t> </a:t>
            </a:r>
            <a:r>
              <a:rPr sz="1000" i="1" dirty="0">
                <a:latin typeface="Times New Roman"/>
                <a:cs typeface="Times New Roman"/>
              </a:rPr>
              <a:t>the</a:t>
            </a:r>
            <a:r>
              <a:rPr sz="1000" i="1" spc="125" dirty="0">
                <a:latin typeface="Times New Roman"/>
                <a:cs typeface="Times New Roman"/>
              </a:rPr>
              <a:t> </a:t>
            </a:r>
            <a:r>
              <a:rPr sz="1000" i="1" dirty="0">
                <a:latin typeface="Times New Roman"/>
                <a:cs typeface="Times New Roman"/>
              </a:rPr>
              <a:t>task</a:t>
            </a:r>
            <a:r>
              <a:rPr sz="1000" i="1" spc="125" dirty="0">
                <a:latin typeface="Times New Roman"/>
                <a:cs typeface="Times New Roman"/>
              </a:rPr>
              <a:t> </a:t>
            </a:r>
            <a:r>
              <a:rPr sz="1000" i="1" dirty="0">
                <a:latin typeface="Times New Roman"/>
                <a:cs typeface="Times New Roman"/>
              </a:rPr>
              <a:t>of</a:t>
            </a:r>
            <a:r>
              <a:rPr sz="1000" i="1" spc="120" dirty="0">
                <a:latin typeface="Times New Roman"/>
                <a:cs typeface="Times New Roman"/>
              </a:rPr>
              <a:t> </a:t>
            </a:r>
            <a:r>
              <a:rPr sz="1000" i="1" dirty="0">
                <a:latin typeface="Times New Roman"/>
                <a:cs typeface="Times New Roman"/>
              </a:rPr>
              <a:t>grouping</a:t>
            </a:r>
            <a:r>
              <a:rPr sz="1000" i="1" spc="125" dirty="0">
                <a:latin typeface="Times New Roman"/>
                <a:cs typeface="Times New Roman"/>
              </a:rPr>
              <a:t> </a:t>
            </a:r>
            <a:r>
              <a:rPr sz="1000" i="1" dirty="0">
                <a:latin typeface="Times New Roman"/>
                <a:cs typeface="Times New Roman"/>
              </a:rPr>
              <a:t>a</a:t>
            </a:r>
            <a:r>
              <a:rPr sz="1000" i="1" spc="125" dirty="0">
                <a:latin typeface="Times New Roman"/>
                <a:cs typeface="Times New Roman"/>
              </a:rPr>
              <a:t> </a:t>
            </a:r>
            <a:r>
              <a:rPr sz="1000" i="1" dirty="0">
                <a:latin typeface="Times New Roman"/>
                <a:cs typeface="Times New Roman"/>
              </a:rPr>
              <a:t>set</a:t>
            </a:r>
            <a:r>
              <a:rPr sz="1000" i="1" spc="120" dirty="0">
                <a:latin typeface="Times New Roman"/>
                <a:cs typeface="Times New Roman"/>
              </a:rPr>
              <a:t> </a:t>
            </a:r>
            <a:r>
              <a:rPr sz="1000" i="1" dirty="0">
                <a:latin typeface="Times New Roman"/>
                <a:cs typeface="Times New Roman"/>
              </a:rPr>
              <a:t>of</a:t>
            </a:r>
            <a:r>
              <a:rPr sz="1000" i="1" spc="125" dirty="0">
                <a:latin typeface="Times New Roman"/>
                <a:cs typeface="Times New Roman"/>
              </a:rPr>
              <a:t> </a:t>
            </a:r>
            <a:r>
              <a:rPr sz="1000" i="1" dirty="0">
                <a:latin typeface="Times New Roman"/>
                <a:cs typeface="Times New Roman"/>
              </a:rPr>
              <a:t>objects</a:t>
            </a:r>
            <a:r>
              <a:rPr sz="1000" i="1" spc="125" dirty="0">
                <a:latin typeface="Times New Roman"/>
                <a:cs typeface="Times New Roman"/>
              </a:rPr>
              <a:t> </a:t>
            </a:r>
            <a:r>
              <a:rPr sz="1000" i="1" dirty="0">
                <a:latin typeface="Times New Roman"/>
                <a:cs typeface="Times New Roman"/>
              </a:rPr>
              <a:t>in</a:t>
            </a:r>
            <a:r>
              <a:rPr sz="1000" i="1" spc="120" dirty="0">
                <a:latin typeface="Times New Roman"/>
                <a:cs typeface="Times New Roman"/>
              </a:rPr>
              <a:t> </a:t>
            </a:r>
            <a:r>
              <a:rPr sz="1000" i="1" dirty="0">
                <a:latin typeface="Times New Roman"/>
                <a:cs typeface="Times New Roman"/>
              </a:rPr>
              <a:t>such</a:t>
            </a:r>
            <a:r>
              <a:rPr sz="1000" i="1" spc="125" dirty="0">
                <a:latin typeface="Times New Roman"/>
                <a:cs typeface="Times New Roman"/>
              </a:rPr>
              <a:t> </a:t>
            </a:r>
            <a:r>
              <a:rPr sz="1000" i="1" dirty="0">
                <a:latin typeface="Times New Roman"/>
                <a:cs typeface="Times New Roman"/>
              </a:rPr>
              <a:t>a</a:t>
            </a:r>
            <a:r>
              <a:rPr sz="1000" i="1" spc="125" dirty="0">
                <a:latin typeface="Times New Roman"/>
                <a:cs typeface="Times New Roman"/>
              </a:rPr>
              <a:t> </a:t>
            </a:r>
            <a:r>
              <a:rPr sz="1000" i="1" dirty="0">
                <a:latin typeface="Times New Roman"/>
                <a:cs typeface="Times New Roman"/>
              </a:rPr>
              <a:t>way</a:t>
            </a:r>
            <a:r>
              <a:rPr sz="1000" i="1" spc="125" dirty="0">
                <a:latin typeface="Times New Roman"/>
                <a:cs typeface="Times New Roman"/>
              </a:rPr>
              <a:t> </a:t>
            </a:r>
            <a:r>
              <a:rPr sz="1000" i="1" spc="-20" dirty="0">
                <a:latin typeface="Times New Roman"/>
                <a:cs typeface="Times New Roman"/>
              </a:rPr>
              <a:t>that</a:t>
            </a:r>
            <a:r>
              <a:rPr sz="1000" i="1" spc="500" dirty="0">
                <a:latin typeface="Times New Roman"/>
                <a:cs typeface="Times New Roman"/>
              </a:rPr>
              <a:t> </a:t>
            </a:r>
            <a:r>
              <a:rPr sz="1000" i="1" dirty="0">
                <a:latin typeface="Times New Roman"/>
                <a:cs typeface="Times New Roman"/>
              </a:rPr>
              <a:t>objects</a:t>
            </a:r>
            <a:r>
              <a:rPr sz="1000" i="1" spc="155" dirty="0">
                <a:latin typeface="Times New Roman"/>
                <a:cs typeface="Times New Roman"/>
              </a:rPr>
              <a:t> </a:t>
            </a:r>
            <a:r>
              <a:rPr sz="1000" i="1" dirty="0">
                <a:latin typeface="Times New Roman"/>
                <a:cs typeface="Times New Roman"/>
              </a:rPr>
              <a:t>in</a:t>
            </a:r>
            <a:r>
              <a:rPr sz="1000" i="1" spc="155" dirty="0">
                <a:latin typeface="Times New Roman"/>
                <a:cs typeface="Times New Roman"/>
              </a:rPr>
              <a:t> </a:t>
            </a:r>
            <a:r>
              <a:rPr sz="1000" i="1" dirty="0">
                <a:latin typeface="Times New Roman"/>
                <a:cs typeface="Times New Roman"/>
              </a:rPr>
              <a:t>the</a:t>
            </a:r>
            <a:r>
              <a:rPr sz="1000" i="1" spc="160" dirty="0">
                <a:latin typeface="Times New Roman"/>
                <a:cs typeface="Times New Roman"/>
              </a:rPr>
              <a:t> </a:t>
            </a:r>
            <a:r>
              <a:rPr sz="1000" i="1" dirty="0">
                <a:latin typeface="Times New Roman"/>
                <a:cs typeface="Times New Roman"/>
              </a:rPr>
              <a:t>same</a:t>
            </a:r>
            <a:r>
              <a:rPr sz="1000" i="1" spc="155" dirty="0">
                <a:latin typeface="Times New Roman"/>
                <a:cs typeface="Times New Roman"/>
              </a:rPr>
              <a:t> </a:t>
            </a:r>
            <a:r>
              <a:rPr sz="1000" i="1" dirty="0">
                <a:latin typeface="Times New Roman"/>
                <a:cs typeface="Times New Roman"/>
              </a:rPr>
              <a:t>group</a:t>
            </a:r>
            <a:r>
              <a:rPr sz="1000" i="1" spc="155" dirty="0">
                <a:latin typeface="Times New Roman"/>
                <a:cs typeface="Times New Roman"/>
              </a:rPr>
              <a:t> </a:t>
            </a:r>
            <a:r>
              <a:rPr sz="1000" i="1" dirty="0">
                <a:latin typeface="Times New Roman"/>
                <a:cs typeface="Times New Roman"/>
              </a:rPr>
              <a:t>(called</a:t>
            </a:r>
            <a:r>
              <a:rPr sz="1000" i="1" spc="160" dirty="0">
                <a:latin typeface="Times New Roman"/>
                <a:cs typeface="Times New Roman"/>
              </a:rPr>
              <a:t> </a:t>
            </a:r>
            <a:r>
              <a:rPr sz="1000" i="1" dirty="0">
                <a:latin typeface="Times New Roman"/>
                <a:cs typeface="Times New Roman"/>
              </a:rPr>
              <a:t>a</a:t>
            </a:r>
            <a:r>
              <a:rPr sz="1000" i="1" spc="155" dirty="0">
                <a:latin typeface="Times New Roman"/>
                <a:cs typeface="Times New Roman"/>
              </a:rPr>
              <a:t> </a:t>
            </a:r>
            <a:r>
              <a:rPr sz="1000" b="1" i="1" spc="-20" dirty="0">
                <a:latin typeface="Georgia"/>
                <a:cs typeface="Georgia"/>
              </a:rPr>
              <a:t>cluster</a:t>
            </a:r>
            <a:r>
              <a:rPr sz="1000" i="1" spc="-20" dirty="0">
                <a:latin typeface="Times New Roman"/>
                <a:cs typeface="Times New Roman"/>
              </a:rPr>
              <a:t>)</a:t>
            </a:r>
            <a:r>
              <a:rPr sz="1000" i="1" spc="160" dirty="0">
                <a:latin typeface="Times New Roman"/>
                <a:cs typeface="Times New Roman"/>
              </a:rPr>
              <a:t> </a:t>
            </a:r>
            <a:r>
              <a:rPr sz="1000" i="1" dirty="0">
                <a:latin typeface="Times New Roman"/>
                <a:cs typeface="Times New Roman"/>
              </a:rPr>
              <a:t>are</a:t>
            </a:r>
            <a:r>
              <a:rPr sz="1000" i="1" spc="155" dirty="0">
                <a:latin typeface="Times New Roman"/>
                <a:cs typeface="Times New Roman"/>
              </a:rPr>
              <a:t> </a:t>
            </a:r>
            <a:r>
              <a:rPr sz="1000" i="1" dirty="0">
                <a:latin typeface="Times New Roman"/>
                <a:cs typeface="Times New Roman"/>
              </a:rPr>
              <a:t>more</a:t>
            </a:r>
            <a:r>
              <a:rPr sz="1000" i="1" spc="155" dirty="0">
                <a:latin typeface="Times New Roman"/>
                <a:cs typeface="Times New Roman"/>
              </a:rPr>
              <a:t> </a:t>
            </a:r>
            <a:r>
              <a:rPr sz="1000" i="1" dirty="0">
                <a:latin typeface="Times New Roman"/>
                <a:cs typeface="Times New Roman"/>
              </a:rPr>
              <a:t>similar</a:t>
            </a:r>
            <a:r>
              <a:rPr sz="1000" i="1" spc="160" dirty="0">
                <a:latin typeface="Times New Roman"/>
                <a:cs typeface="Times New Roman"/>
              </a:rPr>
              <a:t> </a:t>
            </a:r>
            <a:r>
              <a:rPr sz="1000" i="1" dirty="0">
                <a:latin typeface="Times New Roman"/>
                <a:cs typeface="Times New Roman"/>
              </a:rPr>
              <a:t>(in</a:t>
            </a:r>
            <a:r>
              <a:rPr sz="1000" i="1" spc="155" dirty="0">
                <a:latin typeface="Times New Roman"/>
                <a:cs typeface="Times New Roman"/>
              </a:rPr>
              <a:t> </a:t>
            </a:r>
            <a:r>
              <a:rPr sz="1000" i="1" dirty="0">
                <a:latin typeface="Times New Roman"/>
                <a:cs typeface="Times New Roman"/>
              </a:rPr>
              <a:t>some</a:t>
            </a:r>
            <a:r>
              <a:rPr sz="1000" i="1" spc="155" dirty="0">
                <a:latin typeface="Times New Roman"/>
                <a:cs typeface="Times New Roman"/>
              </a:rPr>
              <a:t> </a:t>
            </a:r>
            <a:r>
              <a:rPr sz="1000" i="1" dirty="0">
                <a:latin typeface="Times New Roman"/>
                <a:cs typeface="Times New Roman"/>
              </a:rPr>
              <a:t>sense)</a:t>
            </a:r>
            <a:r>
              <a:rPr sz="1000" i="1" spc="160" dirty="0">
                <a:latin typeface="Times New Roman"/>
                <a:cs typeface="Times New Roman"/>
              </a:rPr>
              <a:t> </a:t>
            </a:r>
            <a:r>
              <a:rPr sz="1000" i="1" dirty="0">
                <a:latin typeface="Times New Roman"/>
                <a:cs typeface="Times New Roman"/>
              </a:rPr>
              <a:t>to</a:t>
            </a:r>
            <a:r>
              <a:rPr sz="1000" i="1" spc="155" dirty="0">
                <a:latin typeface="Times New Roman"/>
                <a:cs typeface="Times New Roman"/>
              </a:rPr>
              <a:t> </a:t>
            </a:r>
            <a:r>
              <a:rPr sz="1000" i="1" dirty="0">
                <a:latin typeface="Times New Roman"/>
                <a:cs typeface="Times New Roman"/>
              </a:rPr>
              <a:t>each</a:t>
            </a:r>
            <a:r>
              <a:rPr sz="1000" i="1" spc="160" dirty="0">
                <a:latin typeface="Times New Roman"/>
                <a:cs typeface="Times New Roman"/>
              </a:rPr>
              <a:t> </a:t>
            </a:r>
            <a:r>
              <a:rPr sz="1000" i="1" dirty="0">
                <a:latin typeface="Times New Roman"/>
                <a:cs typeface="Times New Roman"/>
              </a:rPr>
              <a:t>other</a:t>
            </a:r>
            <a:r>
              <a:rPr sz="1000" i="1" spc="155" dirty="0">
                <a:latin typeface="Times New Roman"/>
                <a:cs typeface="Times New Roman"/>
              </a:rPr>
              <a:t> </a:t>
            </a:r>
            <a:r>
              <a:rPr sz="1000" i="1" spc="-20" dirty="0">
                <a:latin typeface="Times New Roman"/>
                <a:cs typeface="Times New Roman"/>
              </a:rPr>
              <a:t>than </a:t>
            </a:r>
            <a:r>
              <a:rPr sz="1000" i="1" dirty="0">
                <a:latin typeface="Times New Roman"/>
                <a:cs typeface="Times New Roman"/>
              </a:rPr>
              <a:t>to</a:t>
            </a:r>
            <a:r>
              <a:rPr sz="1000" i="1" spc="165" dirty="0">
                <a:latin typeface="Times New Roman"/>
                <a:cs typeface="Times New Roman"/>
              </a:rPr>
              <a:t> </a:t>
            </a:r>
            <a:r>
              <a:rPr sz="1000" i="1" dirty="0">
                <a:latin typeface="Times New Roman"/>
                <a:cs typeface="Times New Roman"/>
              </a:rPr>
              <a:t>those</a:t>
            </a:r>
            <a:r>
              <a:rPr sz="1000" i="1" spc="165" dirty="0">
                <a:latin typeface="Times New Roman"/>
                <a:cs typeface="Times New Roman"/>
              </a:rPr>
              <a:t> </a:t>
            </a:r>
            <a:r>
              <a:rPr sz="1000" i="1" dirty="0">
                <a:latin typeface="Times New Roman"/>
                <a:cs typeface="Times New Roman"/>
              </a:rPr>
              <a:t>in</a:t>
            </a:r>
            <a:r>
              <a:rPr sz="1000" i="1" spc="165" dirty="0">
                <a:latin typeface="Times New Roman"/>
                <a:cs typeface="Times New Roman"/>
              </a:rPr>
              <a:t> </a:t>
            </a:r>
            <a:r>
              <a:rPr sz="1000" i="1" dirty="0">
                <a:latin typeface="Times New Roman"/>
                <a:cs typeface="Times New Roman"/>
              </a:rPr>
              <a:t>other</a:t>
            </a:r>
            <a:r>
              <a:rPr sz="1000" i="1" spc="170" dirty="0">
                <a:latin typeface="Times New Roman"/>
                <a:cs typeface="Times New Roman"/>
              </a:rPr>
              <a:t> </a:t>
            </a:r>
            <a:r>
              <a:rPr sz="1000" i="1" dirty="0">
                <a:latin typeface="Times New Roman"/>
                <a:cs typeface="Times New Roman"/>
              </a:rPr>
              <a:t>groups</a:t>
            </a:r>
            <a:r>
              <a:rPr sz="1000" i="1" spc="165" dirty="0">
                <a:latin typeface="Times New Roman"/>
                <a:cs typeface="Times New Roman"/>
              </a:rPr>
              <a:t> </a:t>
            </a:r>
            <a:r>
              <a:rPr sz="1000" i="1" spc="-10" dirty="0">
                <a:latin typeface="Times New Roman"/>
                <a:cs typeface="Times New Roman"/>
              </a:rPr>
              <a:t>(clusters).</a:t>
            </a:r>
            <a:endParaRPr sz="1000">
              <a:latin typeface="Times New Roman"/>
              <a:cs typeface="Times New Roman"/>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dirty="0"/>
              <a:t>5</a:t>
            </a:fld>
            <a:r>
              <a:rPr spc="-5" dirty="0"/>
              <a:t> </a:t>
            </a:r>
            <a:r>
              <a:rPr spc="75" dirty="0"/>
              <a:t>/</a:t>
            </a:r>
            <a:r>
              <a:rPr spc="-5" dirty="0"/>
              <a:t> </a:t>
            </a:r>
            <a:r>
              <a:rPr spc="35" dirty="0"/>
              <a:t>135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65" dirty="0"/>
              <a:t>Data</a:t>
            </a:r>
            <a:r>
              <a:rPr spc="210" dirty="0"/>
              <a:t> </a:t>
            </a:r>
            <a:r>
              <a:rPr dirty="0"/>
              <a:t>clustering</a:t>
            </a:r>
            <a:r>
              <a:rPr spc="210" dirty="0"/>
              <a:t> </a:t>
            </a:r>
            <a:r>
              <a:rPr spc="-10" dirty="0"/>
              <a:t>(cont’d)</a:t>
            </a:r>
          </a:p>
        </p:txBody>
      </p:sp>
      <p:sp>
        <p:nvSpPr>
          <p:cNvPr id="3" name="object 3"/>
          <p:cNvSpPr/>
          <p:nvPr/>
        </p:nvSpPr>
        <p:spPr>
          <a:xfrm>
            <a:off x="337972" y="753109"/>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991336"/>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337972" y="135860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620229" y="1572158"/>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7" name="object 7"/>
          <p:cNvSpPr/>
          <p:nvPr/>
        </p:nvSpPr>
        <p:spPr>
          <a:xfrm>
            <a:off x="620229" y="1755203"/>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8" name="object 8"/>
          <p:cNvSpPr/>
          <p:nvPr/>
        </p:nvSpPr>
        <p:spPr>
          <a:xfrm>
            <a:off x="337972" y="199633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p:nvPr/>
        </p:nvSpPr>
        <p:spPr>
          <a:xfrm>
            <a:off x="620229" y="2155888"/>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0" name="object 10"/>
          <p:cNvSpPr/>
          <p:nvPr/>
        </p:nvSpPr>
        <p:spPr>
          <a:xfrm>
            <a:off x="620229" y="2338946"/>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1" name="object 11"/>
          <p:cNvSpPr/>
          <p:nvPr/>
        </p:nvSpPr>
        <p:spPr>
          <a:xfrm>
            <a:off x="620229" y="2521991"/>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2" name="object 12"/>
          <p:cNvSpPr txBox="1">
            <a:spLocks noGrp="1"/>
          </p:cNvSpPr>
          <p:nvPr>
            <p:ph type="body" idx="1"/>
          </p:nvPr>
        </p:nvSpPr>
        <p:spPr>
          <a:prstGeom prst="rect">
            <a:avLst/>
          </a:prstGeom>
        </p:spPr>
        <p:txBody>
          <a:bodyPr vert="horz" wrap="square" lIns="0" tIns="12700" rIns="0" bIns="0" rtlCol="0">
            <a:spAutoFit/>
          </a:bodyPr>
          <a:lstStyle/>
          <a:p>
            <a:pPr marL="12700" marR="5080">
              <a:lnSpc>
                <a:spcPct val="142100"/>
              </a:lnSpc>
              <a:spcBef>
                <a:spcPts val="100"/>
              </a:spcBef>
            </a:pPr>
            <a:r>
              <a:rPr dirty="0"/>
              <a:t>Data</a:t>
            </a:r>
            <a:r>
              <a:rPr spc="45" dirty="0"/>
              <a:t> </a:t>
            </a:r>
            <a:r>
              <a:rPr spc="-20" dirty="0"/>
              <a:t>clustering</a:t>
            </a:r>
            <a:r>
              <a:rPr spc="50" dirty="0"/>
              <a:t> </a:t>
            </a:r>
            <a:r>
              <a:rPr dirty="0"/>
              <a:t>is</a:t>
            </a:r>
            <a:r>
              <a:rPr spc="45" dirty="0"/>
              <a:t> </a:t>
            </a:r>
            <a:r>
              <a:rPr dirty="0"/>
              <a:t>also</a:t>
            </a:r>
            <a:r>
              <a:rPr spc="50" dirty="0"/>
              <a:t> </a:t>
            </a:r>
            <a:r>
              <a:rPr spc="-10" dirty="0"/>
              <a:t>called</a:t>
            </a:r>
            <a:r>
              <a:rPr spc="50" dirty="0"/>
              <a:t> </a:t>
            </a:r>
            <a:r>
              <a:rPr i="1" dirty="0">
                <a:latin typeface="Palatino Linotype"/>
                <a:cs typeface="Palatino Linotype"/>
              </a:rPr>
              <a:t>unsupervised</a:t>
            </a:r>
            <a:r>
              <a:rPr i="1" spc="60" dirty="0">
                <a:latin typeface="Palatino Linotype"/>
                <a:cs typeface="Palatino Linotype"/>
              </a:rPr>
              <a:t> </a:t>
            </a:r>
            <a:r>
              <a:rPr i="1" dirty="0">
                <a:latin typeface="Palatino Linotype"/>
                <a:cs typeface="Palatino Linotype"/>
              </a:rPr>
              <a:t>learning</a:t>
            </a:r>
            <a:r>
              <a:rPr i="1" spc="120" dirty="0">
                <a:latin typeface="Palatino Linotype"/>
                <a:cs typeface="Palatino Linotype"/>
              </a:rPr>
              <a:t> </a:t>
            </a:r>
            <a:r>
              <a:rPr dirty="0"/>
              <a:t>or</a:t>
            </a:r>
            <a:r>
              <a:rPr spc="45" dirty="0"/>
              <a:t> </a:t>
            </a:r>
            <a:r>
              <a:rPr i="1" dirty="0">
                <a:latin typeface="Palatino Linotype"/>
                <a:cs typeface="Palatino Linotype"/>
              </a:rPr>
              <a:t>unsupervised</a:t>
            </a:r>
            <a:r>
              <a:rPr i="1" spc="60" dirty="0">
                <a:latin typeface="Palatino Linotype"/>
                <a:cs typeface="Palatino Linotype"/>
              </a:rPr>
              <a:t> </a:t>
            </a:r>
            <a:r>
              <a:rPr i="1" spc="-10" dirty="0">
                <a:latin typeface="Palatino Linotype"/>
                <a:cs typeface="Palatino Linotype"/>
              </a:rPr>
              <a:t>classification</a:t>
            </a:r>
            <a:r>
              <a:rPr spc="-10" dirty="0"/>
              <a:t>. </a:t>
            </a:r>
            <a:r>
              <a:rPr spc="-20" dirty="0"/>
              <a:t>Classification</a:t>
            </a:r>
            <a:r>
              <a:rPr spc="70" dirty="0"/>
              <a:t> </a:t>
            </a:r>
            <a:r>
              <a:rPr spc="-25" dirty="0"/>
              <a:t>(supervised</a:t>
            </a:r>
            <a:r>
              <a:rPr spc="75" dirty="0"/>
              <a:t> </a:t>
            </a:r>
            <a:r>
              <a:rPr spc="-20" dirty="0"/>
              <a:t>learning)</a:t>
            </a:r>
            <a:r>
              <a:rPr spc="70" dirty="0"/>
              <a:t> </a:t>
            </a:r>
            <a:r>
              <a:rPr dirty="0"/>
              <a:t>is</a:t>
            </a:r>
            <a:r>
              <a:rPr spc="75" dirty="0"/>
              <a:t> </a:t>
            </a:r>
            <a:r>
              <a:rPr i="1" dirty="0">
                <a:latin typeface="Palatino Linotype"/>
                <a:cs typeface="Palatino Linotype"/>
              </a:rPr>
              <a:t>learning</a:t>
            </a:r>
            <a:r>
              <a:rPr i="1" spc="85" dirty="0">
                <a:latin typeface="Palatino Linotype"/>
                <a:cs typeface="Palatino Linotype"/>
              </a:rPr>
              <a:t> </a:t>
            </a:r>
            <a:r>
              <a:rPr i="1" dirty="0">
                <a:latin typeface="Palatino Linotype"/>
                <a:cs typeface="Palatino Linotype"/>
              </a:rPr>
              <a:t>by</a:t>
            </a:r>
            <a:r>
              <a:rPr i="1" spc="85" dirty="0">
                <a:latin typeface="Palatino Linotype"/>
                <a:cs typeface="Palatino Linotype"/>
              </a:rPr>
              <a:t> </a:t>
            </a:r>
            <a:r>
              <a:rPr i="1" dirty="0">
                <a:latin typeface="Palatino Linotype"/>
                <a:cs typeface="Palatino Linotype"/>
              </a:rPr>
              <a:t>examples</a:t>
            </a:r>
            <a:r>
              <a:rPr i="1" spc="145" dirty="0">
                <a:latin typeface="Palatino Linotype"/>
                <a:cs typeface="Palatino Linotype"/>
              </a:rPr>
              <a:t> </a:t>
            </a:r>
            <a:r>
              <a:rPr spc="-30" dirty="0"/>
              <a:t>whereas</a:t>
            </a:r>
            <a:r>
              <a:rPr spc="70" dirty="0"/>
              <a:t> </a:t>
            </a:r>
            <a:r>
              <a:rPr spc="-20" dirty="0"/>
              <a:t>clustering</a:t>
            </a:r>
            <a:r>
              <a:rPr spc="75" dirty="0"/>
              <a:t> </a:t>
            </a:r>
            <a:r>
              <a:rPr spc="-25" dirty="0"/>
              <a:t>is</a:t>
            </a:r>
          </a:p>
          <a:p>
            <a:pPr marL="12700">
              <a:lnSpc>
                <a:spcPts val="1150"/>
              </a:lnSpc>
            </a:pPr>
            <a:r>
              <a:rPr i="1" dirty="0">
                <a:latin typeface="Palatino Linotype"/>
                <a:cs typeface="Palatino Linotype"/>
              </a:rPr>
              <a:t>learning</a:t>
            </a:r>
            <a:r>
              <a:rPr i="1" spc="100" dirty="0">
                <a:latin typeface="Palatino Linotype"/>
                <a:cs typeface="Palatino Linotype"/>
              </a:rPr>
              <a:t> </a:t>
            </a:r>
            <a:r>
              <a:rPr i="1" dirty="0">
                <a:latin typeface="Palatino Linotype"/>
                <a:cs typeface="Palatino Linotype"/>
              </a:rPr>
              <a:t>by</a:t>
            </a:r>
            <a:r>
              <a:rPr i="1" spc="105" dirty="0">
                <a:latin typeface="Palatino Linotype"/>
                <a:cs typeface="Palatino Linotype"/>
              </a:rPr>
              <a:t> </a:t>
            </a:r>
            <a:r>
              <a:rPr i="1" spc="-10" dirty="0">
                <a:latin typeface="Palatino Linotype"/>
                <a:cs typeface="Palatino Linotype"/>
              </a:rPr>
              <a:t>observation</a:t>
            </a:r>
            <a:r>
              <a:rPr spc="-10" dirty="0"/>
              <a:t>.</a:t>
            </a:r>
          </a:p>
          <a:p>
            <a:pPr marL="12700">
              <a:lnSpc>
                <a:spcPct val="100000"/>
              </a:lnSpc>
              <a:spcBef>
                <a:spcPts val="420"/>
              </a:spcBef>
            </a:pPr>
            <a:r>
              <a:rPr dirty="0"/>
              <a:t>Two</a:t>
            </a:r>
            <a:r>
              <a:rPr spc="10" dirty="0"/>
              <a:t> </a:t>
            </a:r>
            <a:r>
              <a:rPr spc="-20" dirty="0"/>
              <a:t>main</a:t>
            </a:r>
            <a:r>
              <a:rPr spc="10" dirty="0"/>
              <a:t> </a:t>
            </a:r>
            <a:r>
              <a:rPr dirty="0"/>
              <a:t>types</a:t>
            </a:r>
            <a:r>
              <a:rPr spc="15" dirty="0"/>
              <a:t> </a:t>
            </a:r>
            <a:r>
              <a:rPr dirty="0"/>
              <a:t>of</a:t>
            </a:r>
            <a:r>
              <a:rPr spc="10" dirty="0"/>
              <a:t> </a:t>
            </a:r>
            <a:r>
              <a:rPr spc="-10" dirty="0"/>
              <a:t>clustering:</a:t>
            </a:r>
          </a:p>
          <a:p>
            <a:pPr marL="289560">
              <a:lnSpc>
                <a:spcPct val="100000"/>
              </a:lnSpc>
              <a:spcBef>
                <a:spcPts val="420"/>
              </a:spcBef>
            </a:pPr>
            <a:r>
              <a:rPr sz="1000" spc="-10" dirty="0"/>
              <a:t>Hard</a:t>
            </a:r>
            <a:r>
              <a:rPr sz="1000" spc="15" dirty="0"/>
              <a:t> </a:t>
            </a:r>
            <a:r>
              <a:rPr sz="1000" spc="-10" dirty="0"/>
              <a:t>clustering:</a:t>
            </a:r>
            <a:r>
              <a:rPr sz="1000" spc="100" dirty="0"/>
              <a:t> </a:t>
            </a:r>
            <a:r>
              <a:rPr sz="1000" spc="-10" dirty="0"/>
              <a:t>each</a:t>
            </a:r>
            <a:r>
              <a:rPr sz="1000" spc="15" dirty="0"/>
              <a:t> </a:t>
            </a:r>
            <a:r>
              <a:rPr sz="1000" dirty="0"/>
              <a:t>data</a:t>
            </a:r>
            <a:r>
              <a:rPr sz="1000" spc="20" dirty="0"/>
              <a:t> </a:t>
            </a:r>
            <a:r>
              <a:rPr sz="1000" dirty="0"/>
              <a:t>point</a:t>
            </a:r>
            <a:r>
              <a:rPr sz="1000" spc="15" dirty="0"/>
              <a:t> </a:t>
            </a:r>
            <a:r>
              <a:rPr sz="1000" spc="-20" dirty="0"/>
              <a:t>belongs</a:t>
            </a:r>
            <a:r>
              <a:rPr sz="1000" spc="20" dirty="0"/>
              <a:t> </a:t>
            </a:r>
            <a:r>
              <a:rPr sz="1000" dirty="0"/>
              <a:t>to</a:t>
            </a:r>
            <a:r>
              <a:rPr sz="1000" spc="15" dirty="0"/>
              <a:t> </a:t>
            </a:r>
            <a:r>
              <a:rPr sz="1000" dirty="0"/>
              <a:t>only</a:t>
            </a:r>
            <a:r>
              <a:rPr sz="1000" spc="20" dirty="0"/>
              <a:t> </a:t>
            </a:r>
            <a:r>
              <a:rPr sz="1000" spc="-10" dirty="0"/>
              <a:t>one</a:t>
            </a:r>
            <a:r>
              <a:rPr sz="1000" spc="20" dirty="0"/>
              <a:t> </a:t>
            </a:r>
            <a:r>
              <a:rPr sz="1000" spc="-10" dirty="0"/>
              <a:t>cluster.</a:t>
            </a:r>
            <a:endParaRPr sz="1000"/>
          </a:p>
          <a:p>
            <a:pPr marL="289560">
              <a:lnSpc>
                <a:spcPct val="100000"/>
              </a:lnSpc>
              <a:spcBef>
                <a:spcPts val="244"/>
              </a:spcBef>
            </a:pPr>
            <a:r>
              <a:rPr sz="1000" dirty="0"/>
              <a:t>Soft</a:t>
            </a:r>
            <a:r>
              <a:rPr sz="1000" spc="20" dirty="0"/>
              <a:t> </a:t>
            </a:r>
            <a:r>
              <a:rPr sz="1000" spc="-20" dirty="0"/>
              <a:t>clustering:</a:t>
            </a:r>
            <a:r>
              <a:rPr sz="1000" spc="110" dirty="0"/>
              <a:t> </a:t>
            </a:r>
            <a:r>
              <a:rPr sz="1000" spc="-10" dirty="0"/>
              <a:t>each</a:t>
            </a:r>
            <a:r>
              <a:rPr sz="1000" spc="25" dirty="0"/>
              <a:t> </a:t>
            </a:r>
            <a:r>
              <a:rPr sz="1000" dirty="0"/>
              <a:t>data</a:t>
            </a:r>
            <a:r>
              <a:rPr sz="1000" spc="30" dirty="0"/>
              <a:t> </a:t>
            </a:r>
            <a:r>
              <a:rPr sz="1000" dirty="0"/>
              <a:t>point</a:t>
            </a:r>
            <a:r>
              <a:rPr sz="1000" spc="20" dirty="0"/>
              <a:t> </a:t>
            </a:r>
            <a:r>
              <a:rPr sz="1000" dirty="0"/>
              <a:t>can</a:t>
            </a:r>
            <a:r>
              <a:rPr sz="1000" spc="25" dirty="0"/>
              <a:t> </a:t>
            </a:r>
            <a:r>
              <a:rPr sz="1000" spc="-10" dirty="0"/>
              <a:t>belong</a:t>
            </a:r>
            <a:r>
              <a:rPr sz="1000" spc="30" dirty="0"/>
              <a:t> </a:t>
            </a:r>
            <a:r>
              <a:rPr sz="1000" dirty="0"/>
              <a:t>to</a:t>
            </a:r>
            <a:r>
              <a:rPr sz="1000" spc="25" dirty="0"/>
              <a:t> </a:t>
            </a:r>
            <a:r>
              <a:rPr sz="1000" spc="-10" dirty="0"/>
              <a:t>one</a:t>
            </a:r>
            <a:r>
              <a:rPr sz="1000" spc="25" dirty="0"/>
              <a:t> </a:t>
            </a:r>
            <a:r>
              <a:rPr sz="1000" dirty="0"/>
              <a:t>or</a:t>
            </a:r>
            <a:r>
              <a:rPr sz="1000" spc="25" dirty="0"/>
              <a:t> </a:t>
            </a:r>
            <a:r>
              <a:rPr sz="1000" spc="-20" dirty="0"/>
              <a:t>more</a:t>
            </a:r>
            <a:r>
              <a:rPr sz="1000" spc="25" dirty="0"/>
              <a:t> </a:t>
            </a:r>
            <a:r>
              <a:rPr sz="1000" spc="-10" dirty="0"/>
              <a:t>clusters.</a:t>
            </a:r>
            <a:endParaRPr sz="1000"/>
          </a:p>
          <a:p>
            <a:pPr marL="12700">
              <a:lnSpc>
                <a:spcPts val="1320"/>
              </a:lnSpc>
              <a:spcBef>
                <a:spcPts val="635"/>
              </a:spcBef>
            </a:pPr>
            <a:r>
              <a:rPr spc="-25" dirty="0"/>
              <a:t>Some</a:t>
            </a:r>
            <a:r>
              <a:rPr spc="-5" dirty="0"/>
              <a:t> </a:t>
            </a:r>
            <a:r>
              <a:rPr spc="-10" dirty="0"/>
              <a:t>characteristics:</a:t>
            </a:r>
          </a:p>
          <a:p>
            <a:pPr marL="289560">
              <a:lnSpc>
                <a:spcPts val="1200"/>
              </a:lnSpc>
            </a:pPr>
            <a:r>
              <a:rPr sz="1000" dirty="0"/>
              <a:t>The</a:t>
            </a:r>
            <a:r>
              <a:rPr sz="1000" spc="25" dirty="0"/>
              <a:t> </a:t>
            </a:r>
            <a:r>
              <a:rPr sz="1000" spc="-25" dirty="0"/>
              <a:t>number</a:t>
            </a:r>
            <a:r>
              <a:rPr sz="1000" spc="30" dirty="0"/>
              <a:t> </a:t>
            </a:r>
            <a:r>
              <a:rPr sz="1000" dirty="0"/>
              <a:t>of</a:t>
            </a:r>
            <a:r>
              <a:rPr sz="1000" spc="30" dirty="0"/>
              <a:t> </a:t>
            </a:r>
            <a:r>
              <a:rPr sz="1000" spc="-10" dirty="0"/>
              <a:t>clusters</a:t>
            </a:r>
            <a:r>
              <a:rPr sz="1000" spc="25" dirty="0"/>
              <a:t> </a:t>
            </a:r>
            <a:r>
              <a:rPr sz="1000" dirty="0"/>
              <a:t>of</a:t>
            </a:r>
            <a:r>
              <a:rPr sz="1000" spc="30" dirty="0"/>
              <a:t> </a:t>
            </a:r>
            <a:r>
              <a:rPr sz="1000" dirty="0"/>
              <a:t>a</a:t>
            </a:r>
            <a:r>
              <a:rPr sz="1000" spc="30" dirty="0"/>
              <a:t> </a:t>
            </a:r>
            <a:r>
              <a:rPr sz="1000" dirty="0"/>
              <a:t>dataset</a:t>
            </a:r>
            <a:r>
              <a:rPr sz="1000" spc="25" dirty="0"/>
              <a:t> </a:t>
            </a:r>
            <a:r>
              <a:rPr sz="1000" dirty="0"/>
              <a:t>is</a:t>
            </a:r>
            <a:r>
              <a:rPr sz="1000" spc="30" dirty="0"/>
              <a:t> </a:t>
            </a:r>
            <a:r>
              <a:rPr sz="1000" spc="-10" dirty="0"/>
              <a:t>normally</a:t>
            </a:r>
            <a:r>
              <a:rPr sz="1000" spc="30" dirty="0"/>
              <a:t> </a:t>
            </a:r>
            <a:r>
              <a:rPr sz="1000" spc="-25" dirty="0"/>
              <a:t>unknown,</a:t>
            </a:r>
            <a:r>
              <a:rPr sz="1000" spc="25" dirty="0"/>
              <a:t> </a:t>
            </a:r>
            <a:r>
              <a:rPr sz="1000" dirty="0"/>
              <a:t>or</a:t>
            </a:r>
            <a:r>
              <a:rPr sz="1000" spc="30" dirty="0"/>
              <a:t> </a:t>
            </a:r>
            <a:r>
              <a:rPr sz="1000" dirty="0"/>
              <a:t>not</a:t>
            </a:r>
            <a:r>
              <a:rPr sz="1000" spc="30" dirty="0"/>
              <a:t> </a:t>
            </a:r>
            <a:r>
              <a:rPr sz="1000" dirty="0"/>
              <a:t>really</a:t>
            </a:r>
            <a:r>
              <a:rPr sz="1000" spc="30" dirty="0"/>
              <a:t> </a:t>
            </a:r>
            <a:r>
              <a:rPr sz="1000" spc="-10" dirty="0"/>
              <a:t>clear.</a:t>
            </a:r>
            <a:endParaRPr sz="1000"/>
          </a:p>
          <a:p>
            <a:pPr marL="289560" marR="244475">
              <a:lnSpc>
                <a:spcPct val="120100"/>
              </a:lnSpc>
            </a:pPr>
            <a:r>
              <a:rPr sz="1000" dirty="0"/>
              <a:t>There</a:t>
            </a:r>
            <a:r>
              <a:rPr sz="1000" spc="10" dirty="0"/>
              <a:t> </a:t>
            </a:r>
            <a:r>
              <a:rPr sz="1000" dirty="0"/>
              <a:t>are</a:t>
            </a:r>
            <a:r>
              <a:rPr sz="1000" spc="10" dirty="0"/>
              <a:t> </a:t>
            </a:r>
            <a:r>
              <a:rPr sz="1000" spc="-20" dirty="0"/>
              <a:t>several</a:t>
            </a:r>
            <a:r>
              <a:rPr sz="1000" spc="10" dirty="0"/>
              <a:t> </a:t>
            </a:r>
            <a:r>
              <a:rPr sz="1000" spc="-10" dirty="0"/>
              <a:t>clustering</a:t>
            </a:r>
            <a:r>
              <a:rPr sz="1000" spc="10" dirty="0"/>
              <a:t> </a:t>
            </a:r>
            <a:r>
              <a:rPr sz="1000" spc="-25" dirty="0"/>
              <a:t>approaches,</a:t>
            </a:r>
            <a:r>
              <a:rPr sz="1000" spc="10" dirty="0"/>
              <a:t> </a:t>
            </a:r>
            <a:r>
              <a:rPr sz="1000" spc="-10" dirty="0"/>
              <a:t>each</a:t>
            </a:r>
            <a:r>
              <a:rPr sz="1000" spc="10" dirty="0"/>
              <a:t> </a:t>
            </a:r>
            <a:r>
              <a:rPr sz="1000" dirty="0"/>
              <a:t>has</a:t>
            </a:r>
            <a:r>
              <a:rPr sz="1000" spc="10" dirty="0"/>
              <a:t> </a:t>
            </a:r>
            <a:r>
              <a:rPr sz="1000" spc="-20" dirty="0"/>
              <a:t>several</a:t>
            </a:r>
            <a:r>
              <a:rPr sz="1000" spc="10" dirty="0"/>
              <a:t> </a:t>
            </a:r>
            <a:r>
              <a:rPr sz="1000" spc="-10" dirty="0"/>
              <a:t>clustering</a:t>
            </a:r>
            <a:r>
              <a:rPr sz="1000" spc="10" dirty="0"/>
              <a:t> </a:t>
            </a:r>
            <a:r>
              <a:rPr sz="1000" spc="-10" dirty="0"/>
              <a:t>techniques. </a:t>
            </a:r>
            <a:r>
              <a:rPr sz="1000" spc="-20" dirty="0"/>
              <a:t>Different</a:t>
            </a:r>
            <a:r>
              <a:rPr sz="1000" spc="35" dirty="0"/>
              <a:t> </a:t>
            </a:r>
            <a:r>
              <a:rPr sz="1000" spc="-10" dirty="0"/>
              <a:t>clustering</a:t>
            </a:r>
            <a:r>
              <a:rPr sz="1000" spc="35" dirty="0"/>
              <a:t> </a:t>
            </a:r>
            <a:r>
              <a:rPr sz="1000" spc="-30" dirty="0"/>
              <a:t>approaches/techniques</a:t>
            </a:r>
            <a:r>
              <a:rPr sz="1000" spc="35" dirty="0"/>
              <a:t> </a:t>
            </a:r>
            <a:r>
              <a:rPr sz="1000" dirty="0"/>
              <a:t>may</a:t>
            </a:r>
            <a:r>
              <a:rPr sz="1000" spc="35" dirty="0"/>
              <a:t> </a:t>
            </a:r>
            <a:r>
              <a:rPr sz="1000" dirty="0"/>
              <a:t>give</a:t>
            </a:r>
            <a:r>
              <a:rPr sz="1000" spc="35" dirty="0"/>
              <a:t> </a:t>
            </a:r>
            <a:r>
              <a:rPr sz="1000" spc="-25" dirty="0"/>
              <a:t>different</a:t>
            </a:r>
            <a:r>
              <a:rPr sz="1000" spc="40" dirty="0"/>
              <a:t> </a:t>
            </a:r>
            <a:r>
              <a:rPr sz="1000" spc="-10" dirty="0"/>
              <a:t>results.</a:t>
            </a:r>
            <a:endParaRPr sz="1000"/>
          </a:p>
        </p:txBody>
      </p:sp>
      <p:grpSp>
        <p:nvGrpSpPr>
          <p:cNvPr id="13" name="object 13"/>
          <p:cNvGrpSpPr/>
          <p:nvPr/>
        </p:nvGrpSpPr>
        <p:grpSpPr>
          <a:xfrm>
            <a:off x="0" y="3121545"/>
            <a:ext cx="5760085" cy="118745"/>
            <a:chOff x="0" y="3121545"/>
            <a:chExt cx="5760085" cy="118745"/>
          </a:xfrm>
        </p:grpSpPr>
        <p:sp>
          <p:nvSpPr>
            <p:cNvPr id="14" name="object 14"/>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5" name="object 15"/>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6" name="object 1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7" name="object 17"/>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8" name="object 18"/>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dirty="0"/>
              <a:t>6</a:t>
            </a:fld>
            <a:r>
              <a:rPr spc="-5" dirty="0"/>
              <a:t> </a:t>
            </a:r>
            <a:r>
              <a:rPr spc="75" dirty="0"/>
              <a:t>/</a:t>
            </a:r>
            <a:r>
              <a:rPr spc="-5" dirty="0"/>
              <a:t> </a:t>
            </a:r>
            <a:r>
              <a:rPr spc="35" dirty="0"/>
              <a:t>135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65" dirty="0"/>
              <a:t>Data</a:t>
            </a:r>
            <a:r>
              <a:rPr spc="210" dirty="0"/>
              <a:t> </a:t>
            </a:r>
            <a:r>
              <a:rPr dirty="0"/>
              <a:t>clustering</a:t>
            </a:r>
            <a:r>
              <a:rPr spc="210" dirty="0"/>
              <a:t> </a:t>
            </a:r>
            <a:r>
              <a:rPr spc="-10" dirty="0"/>
              <a:t>problem</a:t>
            </a:r>
          </a:p>
        </p:txBody>
      </p:sp>
      <p:pic>
        <p:nvPicPr>
          <p:cNvPr id="3" name="object 3"/>
          <p:cNvPicPr/>
          <p:nvPr/>
        </p:nvPicPr>
        <p:blipFill>
          <a:blip r:embed="rId2" cstate="print"/>
          <a:stretch>
            <a:fillRect/>
          </a:stretch>
        </p:blipFill>
        <p:spPr>
          <a:xfrm>
            <a:off x="2314219" y="408711"/>
            <a:ext cx="1131570" cy="1123340"/>
          </a:xfrm>
          <a:prstGeom prst="rect">
            <a:avLst/>
          </a:prstGeom>
        </p:spPr>
      </p:pic>
      <p:sp>
        <p:nvSpPr>
          <p:cNvPr id="4" name="object 4"/>
          <p:cNvSpPr/>
          <p:nvPr/>
        </p:nvSpPr>
        <p:spPr>
          <a:xfrm>
            <a:off x="337972" y="167124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428777" y="1579637"/>
            <a:ext cx="5069840" cy="338455"/>
          </a:xfrm>
          <a:prstGeom prst="rect">
            <a:avLst/>
          </a:prstGeom>
        </p:spPr>
        <p:txBody>
          <a:bodyPr vert="horz" wrap="square" lIns="0" tIns="11430" rIns="0" bIns="0" rtlCol="0">
            <a:spAutoFit/>
          </a:bodyPr>
          <a:lstStyle/>
          <a:p>
            <a:pPr marL="38100">
              <a:lnSpc>
                <a:spcPts val="1235"/>
              </a:lnSpc>
              <a:spcBef>
                <a:spcPts val="90"/>
              </a:spcBef>
            </a:pPr>
            <a:r>
              <a:rPr sz="1100" dirty="0">
                <a:latin typeface="Georgia"/>
                <a:cs typeface="Georgia"/>
              </a:rPr>
              <a:t>Let</a:t>
            </a:r>
            <a:r>
              <a:rPr sz="1100" spc="15" dirty="0">
                <a:latin typeface="Georgia"/>
                <a:cs typeface="Georgia"/>
              </a:rPr>
              <a:t> </a:t>
            </a:r>
            <a:r>
              <a:rPr sz="1100" spc="315" dirty="0">
                <a:latin typeface="Cambria"/>
                <a:cs typeface="Cambria"/>
              </a:rPr>
              <a:t>X</a:t>
            </a:r>
            <a:r>
              <a:rPr sz="1100" spc="35" dirty="0">
                <a:latin typeface="Cambria"/>
                <a:cs typeface="Cambria"/>
              </a:rPr>
              <a:t> </a:t>
            </a:r>
            <a:r>
              <a:rPr sz="1100" spc="295" dirty="0">
                <a:latin typeface="Calibri"/>
                <a:cs typeface="Calibri"/>
              </a:rPr>
              <a:t>=</a:t>
            </a:r>
            <a:r>
              <a:rPr sz="1100" spc="30" dirty="0">
                <a:latin typeface="Calibri"/>
                <a:cs typeface="Calibri"/>
              </a:rPr>
              <a:t> </a:t>
            </a:r>
            <a:r>
              <a:rPr sz="1100" spc="125" dirty="0">
                <a:latin typeface="Calibri"/>
                <a:cs typeface="Calibri"/>
              </a:rPr>
              <a:t>(</a:t>
            </a:r>
            <a:r>
              <a:rPr sz="1100" i="1" spc="125" dirty="0">
                <a:latin typeface="Calibri"/>
                <a:cs typeface="Calibri"/>
              </a:rPr>
              <a:t>X</a:t>
            </a:r>
            <a:r>
              <a:rPr sz="1200" spc="187" baseline="-10416" dirty="0">
                <a:latin typeface="Calibri"/>
                <a:cs typeface="Calibri"/>
              </a:rPr>
              <a:t>1</a:t>
            </a:r>
            <a:r>
              <a:rPr sz="1100" i="1" spc="125" dirty="0">
                <a:latin typeface="Calibri"/>
                <a:cs typeface="Calibri"/>
              </a:rPr>
              <a:t>,</a:t>
            </a:r>
            <a:r>
              <a:rPr sz="1100" i="1" spc="-70" dirty="0">
                <a:latin typeface="Calibri"/>
                <a:cs typeface="Calibri"/>
              </a:rPr>
              <a:t> </a:t>
            </a:r>
            <a:r>
              <a:rPr sz="1100" i="1" spc="155" dirty="0">
                <a:latin typeface="Calibri"/>
                <a:cs typeface="Calibri"/>
              </a:rPr>
              <a:t>X</a:t>
            </a:r>
            <a:r>
              <a:rPr sz="1200" spc="232" baseline="-10416" dirty="0">
                <a:latin typeface="Calibri"/>
                <a:cs typeface="Calibri"/>
              </a:rPr>
              <a:t>2</a:t>
            </a:r>
            <a:r>
              <a:rPr sz="1100" i="1" spc="15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60" dirty="0">
                <a:latin typeface="Calibri"/>
                <a:cs typeface="Calibri"/>
              </a:rPr>
              <a:t>X</a:t>
            </a:r>
            <a:r>
              <a:rPr sz="1200" i="1" spc="240" baseline="-13888" dirty="0">
                <a:latin typeface="Calibri"/>
                <a:cs typeface="Calibri"/>
              </a:rPr>
              <a:t>d</a:t>
            </a:r>
            <a:r>
              <a:rPr sz="1100" spc="160" dirty="0">
                <a:latin typeface="Calibri"/>
                <a:cs typeface="Calibri"/>
              </a:rPr>
              <a:t>)</a:t>
            </a:r>
            <a:r>
              <a:rPr sz="1100" spc="80" dirty="0">
                <a:latin typeface="Calibri"/>
                <a:cs typeface="Calibri"/>
              </a:rPr>
              <a:t> </a:t>
            </a:r>
            <a:r>
              <a:rPr sz="1100" dirty="0">
                <a:latin typeface="Georgia"/>
                <a:cs typeface="Georgia"/>
              </a:rPr>
              <a:t>be</a:t>
            </a:r>
            <a:r>
              <a:rPr sz="1100" spc="65" dirty="0">
                <a:latin typeface="Georgia"/>
                <a:cs typeface="Georgia"/>
              </a:rPr>
              <a:t> </a:t>
            </a:r>
            <a:r>
              <a:rPr sz="1100" dirty="0">
                <a:latin typeface="Georgia"/>
                <a:cs typeface="Georgia"/>
              </a:rPr>
              <a:t>a</a:t>
            </a:r>
            <a:r>
              <a:rPr sz="1100" spc="65" dirty="0">
                <a:latin typeface="Georgia"/>
                <a:cs typeface="Georgia"/>
              </a:rPr>
              <a:t> </a:t>
            </a:r>
            <a:r>
              <a:rPr sz="1100" i="1" spc="-45" dirty="0">
                <a:latin typeface="Calibri"/>
                <a:cs typeface="Calibri"/>
              </a:rPr>
              <a:t>d</a:t>
            </a:r>
            <a:r>
              <a:rPr sz="1100" spc="-45" dirty="0">
                <a:latin typeface="Georgia"/>
                <a:cs typeface="Georgia"/>
              </a:rPr>
              <a:t>–dimensional</a:t>
            </a:r>
            <a:r>
              <a:rPr sz="1100" spc="65" dirty="0">
                <a:latin typeface="Georgia"/>
                <a:cs typeface="Georgia"/>
              </a:rPr>
              <a:t> </a:t>
            </a:r>
            <a:r>
              <a:rPr sz="1100" spc="-10" dirty="0">
                <a:latin typeface="Georgia"/>
                <a:cs typeface="Georgia"/>
              </a:rPr>
              <a:t>space,</a:t>
            </a:r>
            <a:r>
              <a:rPr sz="1100" spc="65" dirty="0">
                <a:latin typeface="Georgia"/>
                <a:cs typeface="Georgia"/>
              </a:rPr>
              <a:t> </a:t>
            </a:r>
            <a:r>
              <a:rPr sz="1100" spc="-30" dirty="0">
                <a:latin typeface="Georgia"/>
                <a:cs typeface="Georgia"/>
              </a:rPr>
              <a:t>where</a:t>
            </a:r>
            <a:r>
              <a:rPr sz="1100" spc="65" dirty="0">
                <a:latin typeface="Georgia"/>
                <a:cs typeface="Georgia"/>
              </a:rPr>
              <a:t> </a:t>
            </a:r>
            <a:r>
              <a:rPr sz="1100" spc="-10" dirty="0">
                <a:latin typeface="Georgia"/>
                <a:cs typeface="Georgia"/>
              </a:rPr>
              <a:t>each</a:t>
            </a:r>
            <a:r>
              <a:rPr sz="1100" spc="65" dirty="0">
                <a:latin typeface="Georgia"/>
                <a:cs typeface="Georgia"/>
              </a:rPr>
              <a:t> </a:t>
            </a:r>
            <a:r>
              <a:rPr sz="1100" spc="-10" dirty="0">
                <a:latin typeface="Georgia"/>
                <a:cs typeface="Georgia"/>
              </a:rPr>
              <a:t>attribute/variable</a:t>
            </a:r>
            <a:endParaRPr sz="1100">
              <a:latin typeface="Georgia"/>
              <a:cs typeface="Georgia"/>
            </a:endParaRPr>
          </a:p>
          <a:p>
            <a:pPr marL="38100">
              <a:lnSpc>
                <a:spcPts val="1235"/>
              </a:lnSpc>
            </a:pPr>
            <a:r>
              <a:rPr sz="1100" i="1" spc="240" dirty="0">
                <a:latin typeface="Calibri"/>
                <a:cs typeface="Calibri"/>
              </a:rPr>
              <a:t>X</a:t>
            </a:r>
            <a:r>
              <a:rPr sz="1200" i="1" spc="359" baseline="-10416" dirty="0">
                <a:latin typeface="Calibri"/>
                <a:cs typeface="Calibri"/>
              </a:rPr>
              <a:t>j</a:t>
            </a:r>
            <a:r>
              <a:rPr sz="1200" i="1" spc="300" baseline="-10416" dirty="0">
                <a:latin typeface="Calibri"/>
                <a:cs typeface="Calibri"/>
              </a:rPr>
              <a:t> </a:t>
            </a:r>
            <a:r>
              <a:rPr sz="1100" dirty="0">
                <a:latin typeface="Georgia"/>
                <a:cs typeface="Georgia"/>
              </a:rPr>
              <a:t>is</a:t>
            </a:r>
            <a:r>
              <a:rPr sz="1100" spc="45" dirty="0">
                <a:latin typeface="Georgia"/>
                <a:cs typeface="Georgia"/>
              </a:rPr>
              <a:t> </a:t>
            </a:r>
            <a:r>
              <a:rPr sz="1100" spc="-40" dirty="0">
                <a:latin typeface="Georgia"/>
                <a:cs typeface="Georgia"/>
              </a:rPr>
              <a:t>numeric</a:t>
            </a:r>
            <a:r>
              <a:rPr sz="1100" spc="45" dirty="0">
                <a:latin typeface="Georgia"/>
                <a:cs typeface="Georgia"/>
              </a:rPr>
              <a:t> </a:t>
            </a:r>
            <a:r>
              <a:rPr sz="1100" dirty="0">
                <a:latin typeface="Georgia"/>
                <a:cs typeface="Georgia"/>
              </a:rPr>
              <a:t>or</a:t>
            </a:r>
            <a:r>
              <a:rPr sz="1100" spc="45" dirty="0">
                <a:latin typeface="Georgia"/>
                <a:cs typeface="Georgia"/>
              </a:rPr>
              <a:t> </a:t>
            </a:r>
            <a:r>
              <a:rPr sz="1100" spc="-10" dirty="0">
                <a:latin typeface="Georgia"/>
                <a:cs typeface="Georgia"/>
              </a:rPr>
              <a:t>categorical.</a:t>
            </a:r>
            <a:endParaRPr sz="1100">
              <a:latin typeface="Georgia"/>
              <a:cs typeface="Georgia"/>
            </a:endParaRPr>
          </a:p>
        </p:txBody>
      </p:sp>
      <p:sp>
        <p:nvSpPr>
          <p:cNvPr id="6" name="object 6"/>
          <p:cNvSpPr/>
          <p:nvPr/>
        </p:nvSpPr>
        <p:spPr>
          <a:xfrm>
            <a:off x="337972" y="205572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txBox="1"/>
          <p:nvPr/>
        </p:nvSpPr>
        <p:spPr>
          <a:xfrm>
            <a:off x="428777" y="1964117"/>
            <a:ext cx="4949190" cy="191770"/>
          </a:xfrm>
          <a:prstGeom prst="rect">
            <a:avLst/>
          </a:prstGeom>
        </p:spPr>
        <p:txBody>
          <a:bodyPr vert="horz" wrap="square" lIns="0" tIns="11430" rIns="0" bIns="0" rtlCol="0">
            <a:spAutoFit/>
          </a:bodyPr>
          <a:lstStyle/>
          <a:p>
            <a:pPr marL="38100">
              <a:lnSpc>
                <a:spcPct val="100000"/>
              </a:lnSpc>
              <a:spcBef>
                <a:spcPts val="90"/>
              </a:spcBef>
            </a:pPr>
            <a:r>
              <a:rPr sz="1100" dirty="0">
                <a:latin typeface="Georgia"/>
                <a:cs typeface="Georgia"/>
              </a:rPr>
              <a:t>Let</a:t>
            </a:r>
            <a:r>
              <a:rPr sz="1100" spc="30" dirty="0">
                <a:latin typeface="Georgia"/>
                <a:cs typeface="Georgia"/>
              </a:rPr>
              <a:t> </a:t>
            </a:r>
            <a:r>
              <a:rPr sz="1100" spc="114" dirty="0">
                <a:latin typeface="Cambria"/>
                <a:cs typeface="Cambria"/>
              </a:rPr>
              <a:t>D</a:t>
            </a:r>
            <a:r>
              <a:rPr sz="1100" spc="65" dirty="0">
                <a:latin typeface="Cambria"/>
                <a:cs typeface="Cambria"/>
              </a:rPr>
              <a:t> </a:t>
            </a:r>
            <a:r>
              <a:rPr sz="1100" spc="295" dirty="0">
                <a:latin typeface="Calibri"/>
                <a:cs typeface="Calibri"/>
              </a:rPr>
              <a:t>=</a:t>
            </a:r>
            <a:r>
              <a:rPr sz="1100" spc="30" dirty="0">
                <a:latin typeface="Calibri"/>
                <a:cs typeface="Calibri"/>
              </a:rPr>
              <a:t> </a:t>
            </a:r>
            <a:r>
              <a:rPr sz="1100" spc="80" dirty="0">
                <a:latin typeface="Cambria"/>
                <a:cs typeface="Cambria"/>
              </a:rPr>
              <a:t>{x</a:t>
            </a:r>
            <a:r>
              <a:rPr sz="1200" spc="120" baseline="-10416" dirty="0">
                <a:latin typeface="Calibri"/>
                <a:cs typeface="Calibri"/>
              </a:rPr>
              <a:t>1</a:t>
            </a:r>
            <a:r>
              <a:rPr sz="1100" i="1" spc="80" dirty="0">
                <a:latin typeface="Calibri"/>
                <a:cs typeface="Calibri"/>
              </a:rPr>
              <a:t>,</a:t>
            </a:r>
            <a:r>
              <a:rPr sz="1100" i="1" spc="-70" dirty="0">
                <a:latin typeface="Calibri"/>
                <a:cs typeface="Calibri"/>
              </a:rPr>
              <a:t> </a:t>
            </a:r>
            <a:r>
              <a:rPr sz="1100" spc="100" dirty="0">
                <a:latin typeface="Cambria"/>
                <a:cs typeface="Cambria"/>
              </a:rPr>
              <a:t>x</a:t>
            </a:r>
            <a:r>
              <a:rPr sz="1200" spc="150" baseline="-10416" dirty="0">
                <a:latin typeface="Calibri"/>
                <a:cs typeface="Calibri"/>
              </a:rPr>
              <a:t>2</a:t>
            </a:r>
            <a:r>
              <a:rPr sz="1100" i="1" spc="10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25" dirty="0">
                <a:latin typeface="Cambria"/>
                <a:cs typeface="Cambria"/>
              </a:rPr>
              <a:t>x</a:t>
            </a:r>
            <a:r>
              <a:rPr sz="1200" i="1" spc="187" baseline="-10416" dirty="0">
                <a:latin typeface="Calibri"/>
                <a:cs typeface="Calibri"/>
              </a:rPr>
              <a:t>n</a:t>
            </a:r>
            <a:r>
              <a:rPr sz="1100" spc="125" dirty="0">
                <a:latin typeface="Cambria"/>
                <a:cs typeface="Cambria"/>
              </a:rPr>
              <a:t>}</a:t>
            </a:r>
            <a:r>
              <a:rPr sz="1100" spc="90" dirty="0">
                <a:latin typeface="Cambria"/>
                <a:cs typeface="Cambria"/>
              </a:rPr>
              <a:t> </a:t>
            </a:r>
            <a:r>
              <a:rPr sz="1100" dirty="0">
                <a:latin typeface="Georgia"/>
                <a:cs typeface="Georgia"/>
              </a:rPr>
              <a:t>be</a:t>
            </a:r>
            <a:r>
              <a:rPr sz="1100" spc="70" dirty="0">
                <a:latin typeface="Georgia"/>
                <a:cs typeface="Georgia"/>
              </a:rPr>
              <a:t> </a:t>
            </a:r>
            <a:r>
              <a:rPr sz="1100" dirty="0">
                <a:latin typeface="Georgia"/>
                <a:cs typeface="Georgia"/>
              </a:rPr>
              <a:t>a</a:t>
            </a:r>
            <a:r>
              <a:rPr sz="1100" spc="70" dirty="0">
                <a:latin typeface="Georgia"/>
                <a:cs typeface="Georgia"/>
              </a:rPr>
              <a:t> </a:t>
            </a:r>
            <a:r>
              <a:rPr sz="1100" dirty="0">
                <a:latin typeface="Georgia"/>
                <a:cs typeface="Georgia"/>
              </a:rPr>
              <a:t>data</a:t>
            </a:r>
            <a:r>
              <a:rPr sz="1100" spc="70" dirty="0">
                <a:latin typeface="Georgia"/>
                <a:cs typeface="Georgia"/>
              </a:rPr>
              <a:t> </a:t>
            </a:r>
            <a:r>
              <a:rPr sz="1100" spc="-25" dirty="0">
                <a:latin typeface="Georgia"/>
                <a:cs typeface="Georgia"/>
              </a:rPr>
              <a:t>sample</a:t>
            </a:r>
            <a:r>
              <a:rPr sz="1100" spc="70" dirty="0">
                <a:latin typeface="Georgia"/>
                <a:cs typeface="Georgia"/>
              </a:rPr>
              <a:t> </a:t>
            </a:r>
            <a:r>
              <a:rPr sz="1100" dirty="0">
                <a:latin typeface="Georgia"/>
                <a:cs typeface="Georgia"/>
              </a:rPr>
              <a:t>or</a:t>
            </a:r>
            <a:r>
              <a:rPr sz="1100" spc="70" dirty="0">
                <a:latin typeface="Georgia"/>
                <a:cs typeface="Georgia"/>
              </a:rPr>
              <a:t> </a:t>
            </a:r>
            <a:r>
              <a:rPr sz="1100" dirty="0">
                <a:latin typeface="Georgia"/>
                <a:cs typeface="Georgia"/>
              </a:rPr>
              <a:t>dataset</a:t>
            </a:r>
            <a:r>
              <a:rPr sz="1100" spc="70" dirty="0">
                <a:latin typeface="Georgia"/>
                <a:cs typeface="Georgia"/>
              </a:rPr>
              <a:t> </a:t>
            </a:r>
            <a:r>
              <a:rPr sz="1100" spc="-25" dirty="0">
                <a:latin typeface="Georgia"/>
                <a:cs typeface="Georgia"/>
              </a:rPr>
              <a:t>consisting</a:t>
            </a:r>
            <a:r>
              <a:rPr sz="1100" spc="65" dirty="0">
                <a:latin typeface="Georgia"/>
                <a:cs typeface="Georgia"/>
              </a:rPr>
              <a:t> </a:t>
            </a:r>
            <a:r>
              <a:rPr sz="1100" dirty="0">
                <a:latin typeface="Georgia"/>
                <a:cs typeface="Georgia"/>
              </a:rPr>
              <a:t>of</a:t>
            </a:r>
            <a:r>
              <a:rPr sz="1100" spc="70" dirty="0">
                <a:latin typeface="Georgia"/>
                <a:cs typeface="Georgia"/>
              </a:rPr>
              <a:t> </a:t>
            </a:r>
            <a:r>
              <a:rPr sz="1100" i="1" spc="90" dirty="0">
                <a:latin typeface="Calibri"/>
                <a:cs typeface="Calibri"/>
              </a:rPr>
              <a:t>n</a:t>
            </a:r>
            <a:r>
              <a:rPr sz="1100" i="1" spc="85" dirty="0">
                <a:latin typeface="Calibri"/>
                <a:cs typeface="Calibri"/>
              </a:rPr>
              <a:t> </a:t>
            </a:r>
            <a:r>
              <a:rPr sz="1100" dirty="0">
                <a:latin typeface="Georgia"/>
                <a:cs typeface="Georgia"/>
              </a:rPr>
              <a:t>data</a:t>
            </a:r>
            <a:r>
              <a:rPr sz="1100" spc="70" dirty="0">
                <a:latin typeface="Georgia"/>
                <a:cs typeface="Georgia"/>
              </a:rPr>
              <a:t> </a:t>
            </a:r>
            <a:r>
              <a:rPr sz="1100" spc="-10" dirty="0">
                <a:latin typeface="Georgia"/>
                <a:cs typeface="Georgia"/>
              </a:rPr>
              <a:t>points</a:t>
            </a:r>
            <a:endParaRPr sz="1100">
              <a:latin typeface="Georgia"/>
              <a:cs typeface="Georgia"/>
            </a:endParaRPr>
          </a:p>
        </p:txBody>
      </p:sp>
      <mc:AlternateContent xmlns:mc="http://schemas.openxmlformats.org/markup-compatibility/2006" xmlns:a14="http://schemas.microsoft.com/office/drawing/2010/main">
        <mc:Choice Requires="a14">
          <p:sp>
            <p:nvSpPr>
              <p:cNvPr id="8" name="object 8"/>
              <p:cNvSpPr txBox="1"/>
              <p:nvPr/>
            </p:nvSpPr>
            <p:spPr>
              <a:xfrm>
                <a:off x="428777" y="2038423"/>
                <a:ext cx="5159375" cy="650819"/>
              </a:xfrm>
              <a:prstGeom prst="rect">
                <a:avLst/>
              </a:prstGeom>
            </p:spPr>
            <p:txBody>
              <a:bodyPr vert="horz" wrap="square" lIns="0" tIns="83185" rIns="0" bIns="0" rtlCol="0">
                <a:spAutoFit/>
              </a:bodyPr>
              <a:lstStyle/>
              <a:p>
                <a:pPr marL="38100">
                  <a:lnSpc>
                    <a:spcPct val="100000"/>
                  </a:lnSpc>
                  <a:spcBef>
                    <a:spcPts val="655"/>
                  </a:spcBef>
                </a:pPr>
                <a:r>
                  <a:rPr sz="1100" dirty="0">
                    <a:latin typeface="Georgia"/>
                    <a:cs typeface="Georgia"/>
                  </a:rPr>
                  <a:t>(a.k.a</a:t>
                </a:r>
                <a:r>
                  <a:rPr sz="1100" spc="20" dirty="0">
                    <a:latin typeface="Georgia"/>
                    <a:cs typeface="Georgia"/>
                  </a:rPr>
                  <a:t> </a:t>
                </a:r>
                <a:r>
                  <a:rPr sz="1100" dirty="0">
                    <a:latin typeface="Georgia"/>
                    <a:cs typeface="Georgia"/>
                  </a:rPr>
                  <a:t>data</a:t>
                </a:r>
                <a:r>
                  <a:rPr sz="1100" spc="75" dirty="0">
                    <a:latin typeface="Georgia"/>
                    <a:cs typeface="Georgia"/>
                  </a:rPr>
                  <a:t> </a:t>
                </a:r>
                <a:r>
                  <a:rPr sz="1100" spc="-25" dirty="0">
                    <a:latin typeface="Georgia"/>
                    <a:cs typeface="Georgia"/>
                  </a:rPr>
                  <a:t>instances,</a:t>
                </a:r>
                <a:r>
                  <a:rPr sz="1100" spc="75" dirty="0">
                    <a:latin typeface="Georgia"/>
                    <a:cs typeface="Georgia"/>
                  </a:rPr>
                  <a:t> </a:t>
                </a:r>
                <a:r>
                  <a:rPr sz="1100" spc="-30" dirty="0">
                    <a:latin typeface="Georgia"/>
                    <a:cs typeface="Georgia"/>
                  </a:rPr>
                  <a:t>observations,</a:t>
                </a:r>
                <a:r>
                  <a:rPr sz="1100" spc="75" dirty="0">
                    <a:latin typeface="Georgia"/>
                    <a:cs typeface="Georgia"/>
                  </a:rPr>
                  <a:t> </a:t>
                </a:r>
                <a:r>
                  <a:rPr sz="1100" spc="-25" dirty="0">
                    <a:latin typeface="Georgia"/>
                    <a:cs typeface="Georgia"/>
                  </a:rPr>
                  <a:t>examples,</a:t>
                </a:r>
                <a:r>
                  <a:rPr sz="1100" spc="75" dirty="0">
                    <a:latin typeface="Georgia"/>
                    <a:cs typeface="Georgia"/>
                  </a:rPr>
                  <a:t> </a:t>
                </a:r>
                <a:r>
                  <a:rPr sz="1100" dirty="0">
                    <a:latin typeface="Georgia"/>
                    <a:cs typeface="Georgia"/>
                  </a:rPr>
                  <a:t>or</a:t>
                </a:r>
                <a:r>
                  <a:rPr sz="1100" spc="75" dirty="0">
                    <a:latin typeface="Georgia"/>
                    <a:cs typeface="Georgia"/>
                  </a:rPr>
                  <a:t> </a:t>
                </a:r>
                <a:r>
                  <a:rPr sz="1100" spc="-10" dirty="0">
                    <a:latin typeface="Georgia"/>
                    <a:cs typeface="Georgia"/>
                  </a:rPr>
                  <a:t>tuples)</a:t>
                </a:r>
                <a:r>
                  <a:rPr sz="1100" spc="70" dirty="0">
                    <a:latin typeface="Georgia"/>
                    <a:cs typeface="Georgia"/>
                  </a:rPr>
                  <a:t> </a:t>
                </a:r>
                <a:r>
                  <a:rPr sz="1100" spc="105" dirty="0">
                    <a:latin typeface="Cambria"/>
                    <a:cs typeface="Cambria"/>
                  </a:rPr>
                  <a:t>x</a:t>
                </a:r>
                <a:r>
                  <a:rPr sz="1200" i="1" spc="157" baseline="-10416" dirty="0">
                    <a:latin typeface="Calibri"/>
                    <a:cs typeface="Calibri"/>
                  </a:rPr>
                  <a:t>i</a:t>
                </a:r>
                <a:r>
                  <a:rPr sz="1200" i="1" spc="217" baseline="-10416" dirty="0">
                    <a:latin typeface="Calibri"/>
                    <a:cs typeface="Calibri"/>
                  </a:rPr>
                  <a:t> </a:t>
                </a:r>
                <a:r>
                  <a:rPr sz="1100" spc="295" dirty="0">
                    <a:latin typeface="Calibri"/>
                    <a:cs typeface="Calibri"/>
                  </a:rPr>
                  <a:t>=</a:t>
                </a:r>
                <a:r>
                  <a:rPr sz="1100" spc="40" dirty="0">
                    <a:latin typeface="Calibri"/>
                    <a:cs typeface="Calibri"/>
                  </a:rPr>
                  <a:t> </a:t>
                </a:r>
                <a:r>
                  <a:rPr sz="1100" spc="80" dirty="0">
                    <a:latin typeface="Calibri"/>
                    <a:cs typeface="Calibri"/>
                  </a:rPr>
                  <a:t>(</a:t>
                </a:r>
                <a:r>
                  <a:rPr sz="1100" i="1" spc="80" dirty="0">
                    <a:latin typeface="Calibri"/>
                    <a:cs typeface="Calibri"/>
                  </a:rPr>
                  <a:t>x</a:t>
                </a:r>
                <a:r>
                  <a:rPr sz="1200" spc="120" baseline="-10416" dirty="0">
                    <a:latin typeface="Calibri"/>
                    <a:cs typeface="Calibri"/>
                  </a:rPr>
                  <a:t>1</a:t>
                </a:r>
                <a:r>
                  <a:rPr sz="1100" i="1" spc="80" dirty="0">
                    <a:latin typeface="Calibri"/>
                    <a:cs typeface="Calibri"/>
                  </a:rPr>
                  <a:t>,</a:t>
                </a:r>
                <a:r>
                  <a:rPr sz="1100" i="1" spc="-70" dirty="0">
                    <a:latin typeface="Calibri"/>
                    <a:cs typeface="Calibri"/>
                  </a:rPr>
                  <a:t> </a:t>
                </a:r>
                <a:r>
                  <a:rPr sz="1100" i="1" spc="110" dirty="0">
                    <a:latin typeface="Calibri"/>
                    <a:cs typeface="Calibri"/>
                  </a:rPr>
                  <a:t>x</a:t>
                </a:r>
                <a:r>
                  <a:rPr sz="1200" spc="165" baseline="-10416" dirty="0">
                    <a:latin typeface="Calibri"/>
                    <a:cs typeface="Calibri"/>
                  </a:rPr>
                  <a:t>2</a:t>
                </a:r>
                <a:r>
                  <a:rPr sz="1100" i="1" spc="11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00" dirty="0">
                    <a:latin typeface="Calibri"/>
                    <a:cs typeface="Calibri"/>
                  </a:rPr>
                  <a:t>x</a:t>
                </a:r>
                <a:r>
                  <a:rPr sz="1200" i="1" spc="150" baseline="-13888" dirty="0">
                    <a:latin typeface="Calibri"/>
                    <a:cs typeface="Calibri"/>
                  </a:rPr>
                  <a:t>d</a:t>
                </a:r>
                <a:r>
                  <a:rPr sz="1100" spc="100" dirty="0">
                    <a:latin typeface="Calibri"/>
                    <a:cs typeface="Calibri"/>
                  </a:rPr>
                  <a:t>)</a:t>
                </a:r>
                <a14:m>
                  <m:oMath xmlns:m="http://schemas.openxmlformats.org/officeDocument/2006/math">
                    <m:r>
                      <a:rPr lang="en-US" sz="1100" i="1" spc="100" dirty="0">
                        <a:latin typeface="Cambria Math" panose="02040503050406030204" pitchFamily="18" charset="0"/>
                        <a:ea typeface="Cambria Math" panose="02040503050406030204" pitchFamily="18" charset="0"/>
                        <a:cs typeface="Calibri"/>
                      </a:rPr>
                      <m:t>∈</m:t>
                    </m:r>
                    <m:r>
                      <m:rPr>
                        <m:sty m:val="p"/>
                      </m:rPr>
                      <a:rPr lang="en-US" sz="1100" i="1" spc="100" dirty="0">
                        <a:latin typeface="Cambria Math" panose="02040503050406030204" pitchFamily="18" charset="0"/>
                        <a:ea typeface="Cambria Math" panose="02040503050406030204" pitchFamily="18" charset="0"/>
                        <a:cs typeface="Calibri"/>
                      </a:rPr>
                      <m:t>X</m:t>
                    </m:r>
                  </m:oMath>
                </a14:m>
                <a:r>
                  <a:rPr sz="1100" spc="130" dirty="0">
                    <a:latin typeface="Georgia"/>
                    <a:cs typeface="Georgia"/>
                  </a:rPr>
                  <a:t>.</a:t>
                </a:r>
                <a:endParaRPr sz="1100">
                  <a:latin typeface="Georgia"/>
                  <a:cs typeface="Georgia"/>
                </a:endParaRPr>
              </a:p>
              <a:p>
                <a:pPr marL="38100" marR="30480">
                  <a:lnSpc>
                    <a:spcPts val="1150"/>
                  </a:lnSpc>
                  <a:spcBef>
                    <a:spcPts val="735"/>
                  </a:spcBef>
                </a:pPr>
                <a:r>
                  <a:rPr sz="1100" dirty="0">
                    <a:latin typeface="Georgia"/>
                    <a:cs typeface="Georgia"/>
                  </a:rPr>
                  <a:t>Data</a:t>
                </a:r>
                <a:r>
                  <a:rPr sz="1100" spc="50" dirty="0">
                    <a:latin typeface="Georgia"/>
                    <a:cs typeface="Georgia"/>
                  </a:rPr>
                  <a:t> </a:t>
                </a:r>
                <a:r>
                  <a:rPr sz="1100" spc="-20" dirty="0">
                    <a:latin typeface="Georgia"/>
                    <a:cs typeface="Georgia"/>
                  </a:rPr>
                  <a:t>clustering</a:t>
                </a:r>
                <a:r>
                  <a:rPr sz="1100" spc="50" dirty="0">
                    <a:latin typeface="Georgia"/>
                    <a:cs typeface="Georgia"/>
                  </a:rPr>
                  <a:t> </a:t>
                </a:r>
                <a:r>
                  <a:rPr sz="1100" dirty="0">
                    <a:latin typeface="Georgia"/>
                    <a:cs typeface="Georgia"/>
                  </a:rPr>
                  <a:t>is</a:t>
                </a:r>
                <a:r>
                  <a:rPr sz="1100" spc="50" dirty="0">
                    <a:latin typeface="Georgia"/>
                    <a:cs typeface="Georgia"/>
                  </a:rPr>
                  <a:t> </a:t>
                </a:r>
                <a:r>
                  <a:rPr sz="1100" dirty="0">
                    <a:latin typeface="Georgia"/>
                    <a:cs typeface="Georgia"/>
                  </a:rPr>
                  <a:t>to</a:t>
                </a:r>
                <a:r>
                  <a:rPr sz="1100" spc="50" dirty="0">
                    <a:latin typeface="Georgia"/>
                    <a:cs typeface="Georgia"/>
                  </a:rPr>
                  <a:t> </a:t>
                </a:r>
                <a:r>
                  <a:rPr sz="1100" spc="-10" dirty="0">
                    <a:latin typeface="Georgia"/>
                    <a:cs typeface="Georgia"/>
                  </a:rPr>
                  <a:t>use</a:t>
                </a:r>
                <a:r>
                  <a:rPr sz="1100" spc="50" dirty="0">
                    <a:latin typeface="Georgia"/>
                    <a:cs typeface="Georgia"/>
                  </a:rPr>
                  <a:t> </a:t>
                </a:r>
                <a:r>
                  <a:rPr sz="1100" dirty="0">
                    <a:latin typeface="Georgia"/>
                    <a:cs typeface="Georgia"/>
                  </a:rPr>
                  <a:t>a</a:t>
                </a:r>
                <a:r>
                  <a:rPr sz="1100" spc="50" dirty="0">
                    <a:latin typeface="Georgia"/>
                    <a:cs typeface="Georgia"/>
                  </a:rPr>
                  <a:t> </a:t>
                </a:r>
                <a:r>
                  <a:rPr sz="1100" spc="-20" dirty="0">
                    <a:latin typeface="Georgia"/>
                    <a:cs typeface="Georgia"/>
                  </a:rPr>
                  <a:t>clustering</a:t>
                </a:r>
                <a:r>
                  <a:rPr sz="1100" spc="50" dirty="0">
                    <a:latin typeface="Georgia"/>
                    <a:cs typeface="Georgia"/>
                  </a:rPr>
                  <a:t> </a:t>
                </a:r>
                <a:r>
                  <a:rPr sz="1100" spc="-30" dirty="0">
                    <a:latin typeface="Georgia"/>
                    <a:cs typeface="Georgia"/>
                  </a:rPr>
                  <a:t>technique</a:t>
                </a:r>
                <a:r>
                  <a:rPr sz="1100" spc="55" dirty="0">
                    <a:latin typeface="Georgia"/>
                    <a:cs typeface="Georgia"/>
                  </a:rPr>
                  <a:t> </a:t>
                </a:r>
                <a:r>
                  <a:rPr sz="1100" dirty="0">
                    <a:latin typeface="Georgia"/>
                    <a:cs typeface="Georgia"/>
                  </a:rPr>
                  <a:t>or</a:t>
                </a:r>
                <a:r>
                  <a:rPr sz="1100" spc="50" dirty="0">
                    <a:latin typeface="Georgia"/>
                    <a:cs typeface="Georgia"/>
                  </a:rPr>
                  <a:t> </a:t>
                </a:r>
                <a:r>
                  <a:rPr sz="1100" spc="-20" dirty="0">
                    <a:latin typeface="Georgia"/>
                    <a:cs typeface="Georgia"/>
                  </a:rPr>
                  <a:t>algorithm</a:t>
                </a:r>
                <a:r>
                  <a:rPr sz="1100" spc="50" dirty="0">
                    <a:latin typeface="Georgia"/>
                    <a:cs typeface="Georgia"/>
                  </a:rPr>
                  <a:t> </a:t>
                </a:r>
                <a:r>
                  <a:rPr sz="1100" i="1" spc="175" dirty="0">
                    <a:latin typeface="Calibri"/>
                    <a:cs typeface="Calibri"/>
                  </a:rPr>
                  <a:t>A</a:t>
                </a:r>
                <a:r>
                  <a:rPr sz="1100" i="1" spc="65" dirty="0">
                    <a:latin typeface="Calibri"/>
                    <a:cs typeface="Calibri"/>
                  </a:rPr>
                  <a:t> </a:t>
                </a:r>
                <a:r>
                  <a:rPr sz="1100" dirty="0">
                    <a:latin typeface="Georgia"/>
                    <a:cs typeface="Georgia"/>
                  </a:rPr>
                  <a:t>to</a:t>
                </a:r>
                <a:r>
                  <a:rPr sz="1100" spc="50" dirty="0">
                    <a:latin typeface="Georgia"/>
                    <a:cs typeface="Georgia"/>
                  </a:rPr>
                  <a:t> </a:t>
                </a:r>
                <a:r>
                  <a:rPr sz="1100" spc="-25" dirty="0">
                    <a:latin typeface="Georgia"/>
                    <a:cs typeface="Georgia"/>
                  </a:rPr>
                  <a:t>assign</a:t>
                </a:r>
                <a:r>
                  <a:rPr sz="1100" spc="50" dirty="0">
                    <a:latin typeface="Georgia"/>
                    <a:cs typeface="Georgia"/>
                  </a:rPr>
                  <a:t> </a:t>
                </a:r>
                <a:r>
                  <a:rPr sz="1100" dirty="0">
                    <a:latin typeface="Georgia"/>
                    <a:cs typeface="Georgia"/>
                  </a:rPr>
                  <a:t>data</a:t>
                </a:r>
                <a:r>
                  <a:rPr sz="1100" spc="50" dirty="0">
                    <a:latin typeface="Georgia"/>
                    <a:cs typeface="Georgia"/>
                  </a:rPr>
                  <a:t> </a:t>
                </a:r>
                <a:r>
                  <a:rPr sz="1100" spc="-10" dirty="0">
                    <a:latin typeface="Georgia"/>
                    <a:cs typeface="Georgia"/>
                  </a:rPr>
                  <a:t>points </a:t>
                </a:r>
                <a:r>
                  <a:rPr sz="1100" dirty="0">
                    <a:latin typeface="Georgia"/>
                    <a:cs typeface="Georgia"/>
                  </a:rPr>
                  <a:t>in</a:t>
                </a:r>
                <a:r>
                  <a:rPr sz="1100" spc="30" dirty="0">
                    <a:latin typeface="Georgia"/>
                    <a:cs typeface="Georgia"/>
                  </a:rPr>
                  <a:t> </a:t>
                </a:r>
                <a:r>
                  <a:rPr sz="1100" spc="114" dirty="0">
                    <a:latin typeface="Cambria"/>
                    <a:cs typeface="Cambria"/>
                  </a:rPr>
                  <a:t>D</a:t>
                </a:r>
                <a:r>
                  <a:rPr sz="1100" spc="70" dirty="0">
                    <a:latin typeface="Cambria"/>
                    <a:cs typeface="Cambria"/>
                  </a:rPr>
                  <a:t> </a:t>
                </a:r>
                <a:r>
                  <a:rPr sz="1100" dirty="0">
                    <a:latin typeface="Georgia"/>
                    <a:cs typeface="Georgia"/>
                  </a:rPr>
                  <a:t>into</a:t>
                </a:r>
                <a:r>
                  <a:rPr sz="1100" spc="35" dirty="0">
                    <a:latin typeface="Georgia"/>
                    <a:cs typeface="Georgia"/>
                  </a:rPr>
                  <a:t> </a:t>
                </a:r>
                <a:r>
                  <a:rPr sz="1100" dirty="0">
                    <a:latin typeface="Georgia"/>
                    <a:cs typeface="Georgia"/>
                  </a:rPr>
                  <a:t>their</a:t>
                </a:r>
                <a:r>
                  <a:rPr sz="1100" spc="30" dirty="0">
                    <a:latin typeface="Georgia"/>
                    <a:cs typeface="Georgia"/>
                  </a:rPr>
                  <a:t> </a:t>
                </a:r>
                <a:r>
                  <a:rPr sz="1100" spc="-10" dirty="0">
                    <a:latin typeface="Georgia"/>
                    <a:cs typeface="Georgia"/>
                  </a:rPr>
                  <a:t>most</a:t>
                </a:r>
                <a:r>
                  <a:rPr sz="1100" spc="30" dirty="0">
                    <a:latin typeface="Georgia"/>
                    <a:cs typeface="Georgia"/>
                  </a:rPr>
                  <a:t> </a:t>
                </a:r>
                <a:r>
                  <a:rPr sz="1100" spc="-10" dirty="0">
                    <a:latin typeface="Georgia"/>
                    <a:cs typeface="Georgia"/>
                  </a:rPr>
                  <a:t>likely</a:t>
                </a:r>
                <a:r>
                  <a:rPr sz="1100" spc="30" dirty="0">
                    <a:latin typeface="Georgia"/>
                    <a:cs typeface="Georgia"/>
                  </a:rPr>
                  <a:t> </a:t>
                </a:r>
                <a:r>
                  <a:rPr sz="1100" spc="-10" dirty="0">
                    <a:latin typeface="Georgia"/>
                    <a:cs typeface="Georgia"/>
                  </a:rPr>
                  <a:t>clusters.</a:t>
                </a:r>
                <a:r>
                  <a:rPr sz="1100" spc="125"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clustering</a:t>
                </a:r>
                <a:r>
                  <a:rPr sz="1100" spc="30" dirty="0">
                    <a:latin typeface="Georgia"/>
                    <a:cs typeface="Georgia"/>
                  </a:rPr>
                  <a:t> </a:t>
                </a:r>
                <a:r>
                  <a:rPr sz="1100" spc="-20" dirty="0">
                    <a:latin typeface="Georgia"/>
                    <a:cs typeface="Georgia"/>
                  </a:rPr>
                  <a:t>results</a:t>
                </a:r>
                <a:r>
                  <a:rPr sz="1100" spc="30" dirty="0">
                    <a:latin typeface="Georgia"/>
                    <a:cs typeface="Georgia"/>
                  </a:rPr>
                  <a:t> </a:t>
                </a:r>
                <a:r>
                  <a:rPr sz="1100" dirty="0">
                    <a:latin typeface="Georgia"/>
                    <a:cs typeface="Georgia"/>
                  </a:rPr>
                  <a:t>are</a:t>
                </a:r>
                <a:r>
                  <a:rPr sz="1100" spc="30" dirty="0">
                    <a:latin typeface="Georgia"/>
                    <a:cs typeface="Georgia"/>
                  </a:rPr>
                  <a:t> </a:t>
                </a:r>
                <a:r>
                  <a:rPr sz="1100" dirty="0">
                    <a:latin typeface="Georgia"/>
                    <a:cs typeface="Georgia"/>
                  </a:rPr>
                  <a:t>a</a:t>
                </a:r>
                <a:r>
                  <a:rPr sz="1100" spc="35" dirty="0">
                    <a:latin typeface="Georgia"/>
                    <a:cs typeface="Georgia"/>
                  </a:rPr>
                  <a:t> </a:t>
                </a:r>
                <a:r>
                  <a:rPr sz="1100" dirty="0">
                    <a:latin typeface="Georgia"/>
                    <a:cs typeface="Georgia"/>
                  </a:rPr>
                  <a:t>set</a:t>
                </a:r>
                <a:r>
                  <a:rPr sz="1100" spc="30" dirty="0">
                    <a:latin typeface="Georgia"/>
                    <a:cs typeface="Georgia"/>
                  </a:rPr>
                  <a:t> </a:t>
                </a:r>
                <a:r>
                  <a:rPr sz="1100" dirty="0">
                    <a:latin typeface="Georgia"/>
                    <a:cs typeface="Georgia"/>
                  </a:rPr>
                  <a:t>of</a:t>
                </a:r>
                <a:r>
                  <a:rPr sz="1100" spc="30" dirty="0">
                    <a:latin typeface="Georgia"/>
                    <a:cs typeface="Georgia"/>
                  </a:rPr>
                  <a:t> </a:t>
                </a:r>
                <a:r>
                  <a:rPr sz="1100" i="1" spc="65" dirty="0">
                    <a:latin typeface="Calibri"/>
                    <a:cs typeface="Calibri"/>
                  </a:rPr>
                  <a:t>k</a:t>
                </a:r>
                <a:r>
                  <a:rPr sz="1100" i="1" spc="75" dirty="0">
                    <a:latin typeface="Calibri"/>
                    <a:cs typeface="Calibri"/>
                  </a:rPr>
                  <a:t> </a:t>
                </a:r>
                <a:r>
                  <a:rPr sz="1100" spc="-10" dirty="0">
                    <a:latin typeface="Georgia"/>
                    <a:cs typeface="Georgia"/>
                  </a:rPr>
                  <a:t>clusters</a:t>
                </a:r>
                <a:endParaRPr sz="1100">
                  <a:latin typeface="Georgia"/>
                  <a:cs typeface="Georgia"/>
                </a:endParaRPr>
              </a:p>
            </p:txBody>
          </p:sp>
        </mc:Choice>
        <mc:Fallback xmlns="">
          <p:sp>
            <p:nvSpPr>
              <p:cNvPr id="8" name="object 8"/>
              <p:cNvSpPr txBox="1">
                <a:spLocks noRot="1" noChangeAspect="1" noMove="1" noResize="1" noEditPoints="1" noAdjustHandles="1" noChangeArrowheads="1" noChangeShapeType="1" noTextEdit="1"/>
              </p:cNvSpPr>
              <p:nvPr/>
            </p:nvSpPr>
            <p:spPr>
              <a:xfrm>
                <a:off x="428777" y="2038423"/>
                <a:ext cx="5159375" cy="650819"/>
              </a:xfrm>
              <a:prstGeom prst="rect">
                <a:avLst/>
              </a:prstGeom>
              <a:blipFill>
                <a:blip r:embed="rId3"/>
                <a:stretch>
                  <a:fillRect l="-735" r="-980" b="-11538"/>
                </a:stretch>
              </a:blipFill>
            </p:spPr>
            <p:txBody>
              <a:bodyPr/>
              <a:lstStyle/>
              <a:p>
                <a:r>
                  <a:rPr lang="en-VN">
                    <a:noFill/>
                  </a:rPr>
                  <a:t> </a:t>
                </a:r>
              </a:p>
            </p:txBody>
          </p:sp>
        </mc:Fallback>
      </mc:AlternateContent>
      <p:sp>
        <p:nvSpPr>
          <p:cNvPr id="9" name="object 9"/>
          <p:cNvSpPr/>
          <p:nvPr/>
        </p:nvSpPr>
        <p:spPr>
          <a:xfrm>
            <a:off x="337972" y="244020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0" name="object 10"/>
          <p:cNvSpPr txBox="1"/>
          <p:nvPr/>
        </p:nvSpPr>
        <p:spPr>
          <a:xfrm>
            <a:off x="416077" y="2641128"/>
            <a:ext cx="5036820" cy="338455"/>
          </a:xfrm>
          <a:prstGeom prst="rect">
            <a:avLst/>
          </a:prstGeom>
        </p:spPr>
        <p:txBody>
          <a:bodyPr vert="horz" wrap="square" lIns="0" tIns="34290" rIns="0" bIns="0" rtlCol="0">
            <a:spAutoFit/>
          </a:bodyPr>
          <a:lstStyle/>
          <a:p>
            <a:pPr marL="104775" marR="43180" indent="-54610">
              <a:lnSpc>
                <a:spcPts val="1150"/>
              </a:lnSpc>
              <a:spcBef>
                <a:spcPts val="270"/>
              </a:spcBef>
            </a:pPr>
            <a:r>
              <a:rPr sz="1650" spc="-405" baseline="-58080" dirty="0">
                <a:latin typeface="Georgia"/>
                <a:cs typeface="Georgia"/>
              </a:rPr>
              <a:t>s</a:t>
            </a:r>
            <a:r>
              <a:rPr sz="1100" spc="-270" dirty="0">
                <a:latin typeface="Cambria"/>
                <a:cs typeface="Cambria"/>
              </a:rPr>
              <a:t>C</a:t>
            </a:r>
            <a:r>
              <a:rPr sz="1100" spc="114" dirty="0">
                <a:latin typeface="Cambria"/>
                <a:cs typeface="Cambria"/>
              </a:rPr>
              <a:t> </a:t>
            </a:r>
            <a:r>
              <a:rPr sz="1100" spc="295" dirty="0">
                <a:latin typeface="Calibri"/>
                <a:cs typeface="Calibri"/>
              </a:rPr>
              <a:t>=</a:t>
            </a:r>
            <a:r>
              <a:rPr sz="1100" spc="-55" dirty="0">
                <a:latin typeface="Calibri"/>
                <a:cs typeface="Calibri"/>
              </a:rPr>
              <a:t> </a:t>
            </a:r>
            <a:r>
              <a:rPr sz="1100" spc="100" dirty="0">
                <a:latin typeface="Cambria"/>
                <a:cs typeface="Cambria"/>
              </a:rPr>
              <a:t>{</a:t>
            </a:r>
            <a:r>
              <a:rPr sz="1100" i="1" spc="100" dirty="0">
                <a:latin typeface="Calibri"/>
                <a:cs typeface="Calibri"/>
              </a:rPr>
              <a:t>C</a:t>
            </a:r>
            <a:r>
              <a:rPr sz="1200" spc="150" baseline="-10416" dirty="0">
                <a:latin typeface="Calibri"/>
                <a:cs typeface="Calibri"/>
              </a:rPr>
              <a:t>1</a:t>
            </a:r>
            <a:r>
              <a:rPr sz="1100" i="1" spc="100" dirty="0">
                <a:latin typeface="Calibri"/>
                <a:cs typeface="Calibri"/>
              </a:rPr>
              <a:t>,</a:t>
            </a:r>
            <a:r>
              <a:rPr sz="1100" i="1" spc="-70" dirty="0">
                <a:latin typeface="Calibri"/>
                <a:cs typeface="Calibri"/>
              </a:rPr>
              <a:t> </a:t>
            </a:r>
            <a:r>
              <a:rPr sz="1100" i="1" spc="125" dirty="0">
                <a:latin typeface="Calibri"/>
                <a:cs typeface="Calibri"/>
              </a:rPr>
              <a:t>C</a:t>
            </a:r>
            <a:r>
              <a:rPr sz="1200" spc="187" baseline="-10416" dirty="0">
                <a:latin typeface="Calibri"/>
                <a:cs typeface="Calibri"/>
              </a:rPr>
              <a:t>2</a:t>
            </a:r>
            <a:r>
              <a:rPr sz="1100" i="1" spc="12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14" dirty="0">
                <a:latin typeface="Calibri"/>
                <a:cs typeface="Calibri"/>
              </a:rPr>
              <a:t>C</a:t>
            </a:r>
            <a:r>
              <a:rPr sz="1200" i="1" spc="172" baseline="-13888" dirty="0">
                <a:latin typeface="Calibri"/>
                <a:cs typeface="Calibri"/>
              </a:rPr>
              <a:t>k</a:t>
            </a:r>
            <a:r>
              <a:rPr sz="1100" spc="114" dirty="0">
                <a:latin typeface="Cambria"/>
                <a:cs typeface="Cambria"/>
              </a:rPr>
              <a:t>}</a:t>
            </a:r>
            <a:r>
              <a:rPr sz="1100" spc="114" dirty="0">
                <a:latin typeface="Georgia"/>
                <a:cs typeface="Georgia"/>
              </a:rPr>
              <a:t>.</a:t>
            </a:r>
            <a:r>
              <a:rPr sz="1100" spc="95" dirty="0">
                <a:latin typeface="Georgia"/>
                <a:cs typeface="Georgia"/>
              </a:rPr>
              <a:t> </a:t>
            </a:r>
            <a:r>
              <a:rPr sz="1100" dirty="0">
                <a:latin typeface="Georgia"/>
                <a:cs typeface="Georgia"/>
              </a:rPr>
              <a:t>Data</a:t>
            </a:r>
            <a:r>
              <a:rPr sz="1100" spc="50" dirty="0">
                <a:latin typeface="Georgia"/>
                <a:cs typeface="Georgia"/>
              </a:rPr>
              <a:t> </a:t>
            </a:r>
            <a:r>
              <a:rPr sz="1100" spc="-10" dirty="0">
                <a:latin typeface="Georgia"/>
                <a:cs typeface="Georgia"/>
              </a:rPr>
              <a:t>points</a:t>
            </a:r>
            <a:r>
              <a:rPr sz="1100" spc="45" dirty="0">
                <a:latin typeface="Georgia"/>
                <a:cs typeface="Georgia"/>
              </a:rPr>
              <a:t> </a:t>
            </a:r>
            <a:r>
              <a:rPr sz="1100" dirty="0">
                <a:latin typeface="Georgia"/>
                <a:cs typeface="Georgia"/>
              </a:rPr>
              <a:t>in</a:t>
            </a:r>
            <a:r>
              <a:rPr sz="1100" spc="50" dirty="0">
                <a:latin typeface="Georgia"/>
                <a:cs typeface="Georgia"/>
              </a:rPr>
              <a:t> </a:t>
            </a:r>
            <a:r>
              <a:rPr sz="1100" dirty="0">
                <a:latin typeface="Georgia"/>
                <a:cs typeface="Georgia"/>
              </a:rPr>
              <a:t>the</a:t>
            </a:r>
            <a:r>
              <a:rPr sz="1100" spc="45" dirty="0">
                <a:latin typeface="Georgia"/>
                <a:cs typeface="Georgia"/>
              </a:rPr>
              <a:t> </a:t>
            </a:r>
            <a:r>
              <a:rPr sz="1100" spc="-25" dirty="0">
                <a:latin typeface="Georgia"/>
                <a:cs typeface="Georgia"/>
              </a:rPr>
              <a:t>same</a:t>
            </a:r>
            <a:r>
              <a:rPr sz="1100" spc="50" dirty="0">
                <a:latin typeface="Georgia"/>
                <a:cs typeface="Georgia"/>
              </a:rPr>
              <a:t> </a:t>
            </a:r>
            <a:r>
              <a:rPr sz="1100" spc="-10" dirty="0">
                <a:latin typeface="Georgia"/>
                <a:cs typeface="Georgia"/>
              </a:rPr>
              <a:t>cluster</a:t>
            </a:r>
            <a:r>
              <a:rPr sz="1100" spc="45" dirty="0">
                <a:latin typeface="Georgia"/>
                <a:cs typeface="Georgia"/>
              </a:rPr>
              <a:t> </a:t>
            </a:r>
            <a:r>
              <a:rPr sz="1100" dirty="0">
                <a:latin typeface="Georgia"/>
                <a:cs typeface="Georgia"/>
              </a:rPr>
              <a:t>are</a:t>
            </a:r>
            <a:r>
              <a:rPr sz="1100" spc="50" dirty="0">
                <a:latin typeface="Georgia"/>
                <a:cs typeface="Georgia"/>
              </a:rPr>
              <a:t> </a:t>
            </a:r>
            <a:r>
              <a:rPr sz="1100" spc="-25" dirty="0">
                <a:latin typeface="Georgia"/>
                <a:cs typeface="Georgia"/>
              </a:rPr>
              <a:t>similar</a:t>
            </a:r>
            <a:r>
              <a:rPr sz="1100" spc="45" dirty="0">
                <a:latin typeface="Georgia"/>
                <a:cs typeface="Georgia"/>
              </a:rPr>
              <a:t> </a:t>
            </a:r>
            <a:r>
              <a:rPr sz="1100" dirty="0">
                <a:latin typeface="Georgia"/>
                <a:cs typeface="Georgia"/>
              </a:rPr>
              <a:t>to</a:t>
            </a:r>
            <a:r>
              <a:rPr sz="1100" spc="50" dirty="0">
                <a:latin typeface="Georgia"/>
                <a:cs typeface="Georgia"/>
              </a:rPr>
              <a:t> </a:t>
            </a:r>
            <a:r>
              <a:rPr sz="1100" spc="-10" dirty="0">
                <a:latin typeface="Georgia"/>
                <a:cs typeface="Georgia"/>
              </a:rPr>
              <a:t>each</a:t>
            </a:r>
            <a:r>
              <a:rPr sz="1100" spc="45" dirty="0">
                <a:latin typeface="Georgia"/>
                <a:cs typeface="Georgia"/>
              </a:rPr>
              <a:t> </a:t>
            </a:r>
            <a:r>
              <a:rPr sz="1100" spc="-10" dirty="0">
                <a:latin typeface="Georgia"/>
                <a:cs typeface="Georgia"/>
              </a:rPr>
              <a:t>other</a:t>
            </a:r>
            <a:r>
              <a:rPr sz="1100" spc="50" dirty="0">
                <a:latin typeface="Georgia"/>
                <a:cs typeface="Georgia"/>
              </a:rPr>
              <a:t> </a:t>
            </a:r>
            <a:r>
              <a:rPr sz="1100" spc="-25" dirty="0">
                <a:latin typeface="Georgia"/>
                <a:cs typeface="Georgia"/>
              </a:rPr>
              <a:t>in</a:t>
            </a:r>
            <a:r>
              <a:rPr lang="en-VN" sz="1100" spc="-25" dirty="0">
                <a:latin typeface="Georgia"/>
                <a:cs typeface="Georgia"/>
              </a:rPr>
              <a:t> </a:t>
            </a:r>
            <a:r>
              <a:rPr sz="1100" spc="-25" dirty="0">
                <a:latin typeface="Georgia"/>
                <a:cs typeface="Georgia"/>
              </a:rPr>
              <a:t>ome</a:t>
            </a:r>
            <a:r>
              <a:rPr sz="1100" spc="10" dirty="0">
                <a:latin typeface="Georgia"/>
                <a:cs typeface="Georgia"/>
              </a:rPr>
              <a:t> </a:t>
            </a:r>
            <a:r>
              <a:rPr sz="1100" spc="-35" dirty="0">
                <a:latin typeface="Georgia"/>
                <a:cs typeface="Georgia"/>
              </a:rPr>
              <a:t>sense</a:t>
            </a:r>
            <a:r>
              <a:rPr sz="1100" spc="15" dirty="0">
                <a:latin typeface="Georgia"/>
                <a:cs typeface="Georgia"/>
              </a:rPr>
              <a:t> </a:t>
            </a:r>
            <a:r>
              <a:rPr sz="1100" dirty="0">
                <a:latin typeface="Georgia"/>
                <a:cs typeface="Georgia"/>
              </a:rPr>
              <a:t>and</a:t>
            </a:r>
            <a:r>
              <a:rPr sz="1100" spc="15" dirty="0">
                <a:latin typeface="Georgia"/>
                <a:cs typeface="Georgia"/>
              </a:rPr>
              <a:t> </a:t>
            </a:r>
            <a:r>
              <a:rPr sz="1100" dirty="0">
                <a:latin typeface="Georgia"/>
                <a:cs typeface="Georgia"/>
              </a:rPr>
              <a:t>far</a:t>
            </a:r>
            <a:r>
              <a:rPr sz="1100" spc="15" dirty="0">
                <a:latin typeface="Georgia"/>
                <a:cs typeface="Georgia"/>
              </a:rPr>
              <a:t> </a:t>
            </a:r>
            <a:r>
              <a:rPr sz="1100" spc="-25" dirty="0">
                <a:latin typeface="Georgia"/>
                <a:cs typeface="Georgia"/>
              </a:rPr>
              <a:t>from</a:t>
            </a:r>
            <a:r>
              <a:rPr sz="1100" spc="10" dirty="0">
                <a:latin typeface="Georgia"/>
                <a:cs typeface="Georgia"/>
              </a:rPr>
              <a:t> </a:t>
            </a:r>
            <a:r>
              <a:rPr sz="1100" dirty="0">
                <a:latin typeface="Georgia"/>
                <a:cs typeface="Georgia"/>
              </a:rPr>
              <a:t>the</a:t>
            </a:r>
            <a:r>
              <a:rPr sz="1100" spc="15" dirty="0">
                <a:latin typeface="Georgia"/>
                <a:cs typeface="Georgia"/>
              </a:rPr>
              <a:t> </a:t>
            </a:r>
            <a:r>
              <a:rPr sz="1100" dirty="0">
                <a:latin typeface="Georgia"/>
                <a:cs typeface="Georgia"/>
              </a:rPr>
              <a:t>data</a:t>
            </a:r>
            <a:r>
              <a:rPr sz="1100" spc="15" dirty="0">
                <a:latin typeface="Georgia"/>
                <a:cs typeface="Georgia"/>
              </a:rPr>
              <a:t> </a:t>
            </a:r>
            <a:r>
              <a:rPr sz="1100" spc="-10" dirty="0">
                <a:latin typeface="Georgia"/>
                <a:cs typeface="Georgia"/>
              </a:rPr>
              <a:t>points</a:t>
            </a:r>
            <a:r>
              <a:rPr sz="1100" spc="15" dirty="0">
                <a:latin typeface="Georgia"/>
                <a:cs typeface="Georgia"/>
              </a:rPr>
              <a:t> </a:t>
            </a:r>
            <a:r>
              <a:rPr sz="1100" dirty="0">
                <a:latin typeface="Georgia"/>
                <a:cs typeface="Georgia"/>
              </a:rPr>
              <a:t>in</a:t>
            </a:r>
            <a:r>
              <a:rPr sz="1100" spc="15" dirty="0">
                <a:latin typeface="Georgia"/>
                <a:cs typeface="Georgia"/>
              </a:rPr>
              <a:t> </a:t>
            </a:r>
            <a:r>
              <a:rPr sz="1100" spc="-10" dirty="0">
                <a:latin typeface="Georgia"/>
                <a:cs typeface="Georgia"/>
              </a:rPr>
              <a:t>other</a:t>
            </a:r>
            <a:r>
              <a:rPr sz="1100" spc="10" dirty="0">
                <a:latin typeface="Georgia"/>
                <a:cs typeface="Georgia"/>
              </a:rPr>
              <a:t> </a:t>
            </a:r>
            <a:r>
              <a:rPr sz="1100" spc="-10" dirty="0">
                <a:latin typeface="Georgia"/>
                <a:cs typeface="Georgia"/>
              </a:rPr>
              <a:t>clusters.</a:t>
            </a:r>
            <a:endParaRPr sz="1100">
              <a:latin typeface="Georgia"/>
              <a:cs typeface="Georgia"/>
            </a:endParaRPr>
          </a:p>
        </p:txBody>
      </p:sp>
      <p:grpSp>
        <p:nvGrpSpPr>
          <p:cNvPr id="11" name="object 11"/>
          <p:cNvGrpSpPr/>
          <p:nvPr/>
        </p:nvGrpSpPr>
        <p:grpSpPr>
          <a:xfrm>
            <a:off x="0" y="3121545"/>
            <a:ext cx="5760085" cy="118745"/>
            <a:chOff x="0" y="3121545"/>
            <a:chExt cx="5760085" cy="118745"/>
          </a:xfrm>
        </p:grpSpPr>
        <p:sp>
          <p:nvSpPr>
            <p:cNvPr id="12" name="object 12"/>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3" name="object 13"/>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5" name="object 15"/>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16" name="object 16"/>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dirty="0"/>
              <a:t>7</a:t>
            </a:fld>
            <a:r>
              <a:rPr spc="-5" dirty="0"/>
              <a:t> </a:t>
            </a:r>
            <a:r>
              <a:rPr spc="75" dirty="0"/>
              <a:t>/</a:t>
            </a:r>
            <a:r>
              <a:rPr spc="-5" dirty="0"/>
              <a:t> </a:t>
            </a:r>
            <a:r>
              <a:rPr spc="35" dirty="0"/>
              <a:t>135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383857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Times New Roman"/>
                <a:cs typeface="Times New Roman"/>
              </a:rPr>
              <a:t>Example</a:t>
            </a:r>
            <a:r>
              <a:rPr sz="1400" spc="175" dirty="0">
                <a:solidFill>
                  <a:srgbClr val="CC0000"/>
                </a:solidFill>
                <a:latin typeface="Times New Roman"/>
                <a:cs typeface="Times New Roman"/>
              </a:rPr>
              <a:t> </a:t>
            </a:r>
            <a:r>
              <a:rPr sz="1400" dirty="0">
                <a:solidFill>
                  <a:srgbClr val="CC0000"/>
                </a:solidFill>
                <a:latin typeface="Times New Roman"/>
                <a:cs typeface="Times New Roman"/>
              </a:rPr>
              <a:t>of</a:t>
            </a:r>
            <a:r>
              <a:rPr sz="1400" spc="180" dirty="0">
                <a:solidFill>
                  <a:srgbClr val="CC0000"/>
                </a:solidFill>
                <a:latin typeface="Times New Roman"/>
                <a:cs typeface="Times New Roman"/>
              </a:rPr>
              <a:t> </a:t>
            </a:r>
            <a:r>
              <a:rPr sz="1400" spc="70" dirty="0">
                <a:solidFill>
                  <a:srgbClr val="CC0000"/>
                </a:solidFill>
                <a:latin typeface="Times New Roman"/>
                <a:cs typeface="Times New Roman"/>
              </a:rPr>
              <a:t>data</a:t>
            </a:r>
            <a:r>
              <a:rPr sz="1400" spc="180" dirty="0">
                <a:solidFill>
                  <a:srgbClr val="CC0000"/>
                </a:solidFill>
                <a:latin typeface="Times New Roman"/>
                <a:cs typeface="Times New Roman"/>
              </a:rPr>
              <a:t> </a:t>
            </a:r>
            <a:r>
              <a:rPr sz="1400" dirty="0">
                <a:solidFill>
                  <a:srgbClr val="CC0000"/>
                </a:solidFill>
                <a:latin typeface="Times New Roman"/>
                <a:cs typeface="Times New Roman"/>
              </a:rPr>
              <a:t>points</a:t>
            </a:r>
            <a:r>
              <a:rPr sz="1400" spc="185" dirty="0">
                <a:solidFill>
                  <a:srgbClr val="CC0000"/>
                </a:solidFill>
                <a:latin typeface="Times New Roman"/>
                <a:cs typeface="Times New Roman"/>
              </a:rPr>
              <a:t> </a:t>
            </a:r>
            <a:r>
              <a:rPr sz="1400" dirty="0">
                <a:solidFill>
                  <a:srgbClr val="CC0000"/>
                </a:solidFill>
                <a:latin typeface="Times New Roman"/>
                <a:cs typeface="Times New Roman"/>
              </a:rPr>
              <a:t>in</a:t>
            </a:r>
            <a:r>
              <a:rPr sz="1400" spc="180" dirty="0">
                <a:solidFill>
                  <a:srgbClr val="CC0000"/>
                </a:solidFill>
                <a:latin typeface="Times New Roman"/>
                <a:cs typeface="Times New Roman"/>
              </a:rPr>
              <a:t> </a:t>
            </a:r>
            <a:r>
              <a:rPr sz="1400" dirty="0">
                <a:solidFill>
                  <a:srgbClr val="CC0000"/>
                </a:solidFill>
                <a:latin typeface="Constantia"/>
                <a:cs typeface="Constantia"/>
              </a:rPr>
              <a:t>2</a:t>
            </a:r>
            <a:r>
              <a:rPr sz="1400" dirty="0">
                <a:solidFill>
                  <a:srgbClr val="CC0000"/>
                </a:solidFill>
                <a:latin typeface="Times New Roman"/>
                <a:cs typeface="Times New Roman"/>
              </a:rPr>
              <a:t>–dimensional</a:t>
            </a:r>
            <a:r>
              <a:rPr sz="1400" spc="185" dirty="0">
                <a:solidFill>
                  <a:srgbClr val="CC0000"/>
                </a:solidFill>
                <a:latin typeface="Times New Roman"/>
                <a:cs typeface="Times New Roman"/>
              </a:rPr>
              <a:t> </a:t>
            </a:r>
            <a:r>
              <a:rPr sz="1400" dirty="0">
                <a:solidFill>
                  <a:srgbClr val="CC0000"/>
                </a:solidFill>
                <a:latin typeface="Times New Roman"/>
                <a:cs typeface="Times New Roman"/>
              </a:rPr>
              <a:t>space</a:t>
            </a:r>
            <a:r>
              <a:rPr sz="1400" spc="175" dirty="0">
                <a:solidFill>
                  <a:srgbClr val="CC0000"/>
                </a:solidFill>
                <a:latin typeface="Times New Roman"/>
                <a:cs typeface="Times New Roman"/>
              </a:rPr>
              <a:t> </a:t>
            </a:r>
            <a:r>
              <a:rPr sz="1400" spc="-25" dirty="0">
                <a:solidFill>
                  <a:srgbClr val="CC0000"/>
                </a:solidFill>
                <a:latin typeface="Times New Roman"/>
                <a:cs typeface="Times New Roman"/>
              </a:rPr>
              <a:t>[</a:t>
            </a:r>
            <a:r>
              <a:rPr sz="1400" spc="-25" dirty="0">
                <a:solidFill>
                  <a:srgbClr val="CC0000"/>
                </a:solidFill>
                <a:latin typeface="Times New Roman"/>
                <a:cs typeface="Times New Roman"/>
                <a:hlinkClick r:id="rId3" action="ppaction://hlinksldjump"/>
              </a:rPr>
              <a:t>3</a:t>
            </a:r>
            <a:r>
              <a:rPr sz="1400" spc="-25" dirty="0">
                <a:solidFill>
                  <a:srgbClr val="CC0000"/>
                </a:solidFill>
                <a:latin typeface="Times New Roman"/>
                <a:cs typeface="Times New Roman"/>
              </a:rPr>
              <a:t>]</a:t>
            </a:r>
            <a:endParaRPr sz="1400">
              <a:latin typeface="Times New Roman"/>
              <a:cs typeface="Times New Roman"/>
            </a:endParaRPr>
          </a:p>
        </p:txBody>
      </p:sp>
      <p:pic>
        <p:nvPicPr>
          <p:cNvPr id="3" name="object 3"/>
          <p:cNvPicPr/>
          <p:nvPr/>
        </p:nvPicPr>
        <p:blipFill>
          <a:blip r:embed="rId4" cstate="print"/>
          <a:stretch>
            <a:fillRect/>
          </a:stretch>
        </p:blipFill>
        <p:spPr>
          <a:xfrm>
            <a:off x="1367637" y="587311"/>
            <a:ext cx="3024759" cy="2176272"/>
          </a:xfrm>
          <a:prstGeom prst="rect">
            <a:avLst/>
          </a:prstGeom>
        </p:spPr>
      </p:pic>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5" action="ppaction://hlinksldjump"/>
              </a:rPr>
              <a:t>data</a:t>
            </a:r>
            <a:r>
              <a:rPr sz="600" spc="110" dirty="0">
                <a:solidFill>
                  <a:srgbClr val="7A0000"/>
                </a:solidFill>
                <a:latin typeface="Georgia"/>
                <a:cs typeface="Georgia"/>
                <a:hlinkClick r:id="rId5" action="ppaction://hlinksldjump"/>
              </a:rPr>
              <a:t> </a:t>
            </a:r>
            <a:r>
              <a:rPr sz="600" spc="-10" dirty="0">
                <a:solidFill>
                  <a:srgbClr val="7A0000"/>
                </a:solidFill>
                <a:latin typeface="Georgia"/>
                <a:cs typeface="Georgia"/>
                <a:hlinkClick r:id="rId5"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dirty="0"/>
              <a:t>8</a:t>
            </a:fld>
            <a:r>
              <a:rPr spc="-5" dirty="0"/>
              <a:t> </a:t>
            </a:r>
            <a:r>
              <a:rPr spc="75" dirty="0"/>
              <a:t>/</a:t>
            </a:r>
            <a:r>
              <a:rPr spc="-5" dirty="0"/>
              <a:t> </a:t>
            </a:r>
            <a:r>
              <a:rPr spc="35" dirty="0"/>
              <a:t>135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Observations</a:t>
            </a:r>
            <a:r>
              <a:rPr spc="180" dirty="0"/>
              <a:t> </a:t>
            </a:r>
            <a:r>
              <a:rPr spc="60" dirty="0"/>
              <a:t>about</a:t>
            </a:r>
            <a:r>
              <a:rPr spc="175" dirty="0"/>
              <a:t> </a:t>
            </a:r>
            <a:r>
              <a:rPr spc="55" dirty="0"/>
              <a:t>the</a:t>
            </a:r>
            <a:r>
              <a:rPr spc="175" dirty="0"/>
              <a:t> </a:t>
            </a:r>
            <a:r>
              <a:rPr dirty="0"/>
              <a:t>clustering</a:t>
            </a:r>
            <a:r>
              <a:rPr spc="175" dirty="0"/>
              <a:t> </a:t>
            </a:r>
            <a:r>
              <a:rPr dirty="0"/>
              <a:t>process</a:t>
            </a:r>
            <a:r>
              <a:rPr spc="180" dirty="0"/>
              <a:t> </a:t>
            </a:r>
            <a:r>
              <a:rPr spc="50" dirty="0"/>
              <a:t>and</a:t>
            </a:r>
            <a:r>
              <a:rPr spc="175" dirty="0"/>
              <a:t> </a:t>
            </a:r>
            <a:r>
              <a:rPr spc="55" dirty="0"/>
              <a:t>the</a:t>
            </a:r>
            <a:r>
              <a:rPr spc="180" dirty="0"/>
              <a:t> </a:t>
            </a:r>
            <a:r>
              <a:rPr spc="-10" dirty="0"/>
              <a:t>results</a:t>
            </a:r>
          </a:p>
        </p:txBody>
      </p:sp>
      <p:sp>
        <p:nvSpPr>
          <p:cNvPr id="3" name="object 3"/>
          <p:cNvSpPr/>
          <p:nvPr/>
        </p:nvSpPr>
        <p:spPr>
          <a:xfrm>
            <a:off x="337972" y="57449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28777" y="482890"/>
            <a:ext cx="5104765" cy="1107440"/>
          </a:xfrm>
          <a:prstGeom prst="rect">
            <a:avLst/>
          </a:prstGeom>
        </p:spPr>
        <p:txBody>
          <a:bodyPr vert="horz" wrap="square" lIns="0" tIns="34290" rIns="0" bIns="0" rtlCol="0">
            <a:spAutoFit/>
          </a:bodyPr>
          <a:lstStyle/>
          <a:p>
            <a:pPr marL="38100" marR="30480">
              <a:lnSpc>
                <a:spcPts val="1150"/>
              </a:lnSpc>
              <a:spcBef>
                <a:spcPts val="270"/>
              </a:spcBef>
            </a:pPr>
            <a:r>
              <a:rPr sz="1100" dirty="0">
                <a:latin typeface="Georgia"/>
                <a:cs typeface="Georgia"/>
              </a:rPr>
              <a:t>The</a:t>
            </a:r>
            <a:r>
              <a:rPr sz="1100" spc="35" dirty="0">
                <a:latin typeface="Georgia"/>
                <a:cs typeface="Georgia"/>
              </a:rPr>
              <a:t> </a:t>
            </a:r>
            <a:r>
              <a:rPr sz="1100" spc="-35" dirty="0">
                <a:latin typeface="Georgia"/>
                <a:cs typeface="Georgia"/>
              </a:rPr>
              <a:t>number</a:t>
            </a:r>
            <a:r>
              <a:rPr sz="1100" spc="40" dirty="0">
                <a:latin typeface="Georgia"/>
                <a:cs typeface="Georgia"/>
              </a:rPr>
              <a:t> </a:t>
            </a:r>
            <a:r>
              <a:rPr sz="1100" dirty="0">
                <a:latin typeface="Georgia"/>
                <a:cs typeface="Georgia"/>
              </a:rPr>
              <a:t>of</a:t>
            </a:r>
            <a:r>
              <a:rPr sz="1100" spc="40" dirty="0">
                <a:latin typeface="Georgia"/>
                <a:cs typeface="Georgia"/>
              </a:rPr>
              <a:t> </a:t>
            </a:r>
            <a:r>
              <a:rPr sz="1100" spc="-20" dirty="0">
                <a:latin typeface="Georgia"/>
                <a:cs typeface="Georgia"/>
              </a:rPr>
              <a:t>clusters</a:t>
            </a:r>
            <a:r>
              <a:rPr sz="1100" spc="35" dirty="0">
                <a:latin typeface="Georgia"/>
                <a:cs typeface="Georgia"/>
              </a:rPr>
              <a:t> </a:t>
            </a:r>
            <a:r>
              <a:rPr sz="1100" i="1" spc="65" dirty="0">
                <a:latin typeface="Calibri"/>
                <a:cs typeface="Calibri"/>
              </a:rPr>
              <a:t>k</a:t>
            </a:r>
            <a:r>
              <a:rPr sz="1100" i="1" spc="85" dirty="0">
                <a:latin typeface="Calibri"/>
                <a:cs typeface="Calibri"/>
              </a:rPr>
              <a:t> </a:t>
            </a:r>
            <a:r>
              <a:rPr sz="1100" dirty="0">
                <a:latin typeface="Georgia"/>
                <a:cs typeface="Georgia"/>
              </a:rPr>
              <a:t>is</a:t>
            </a:r>
            <a:r>
              <a:rPr sz="1100" spc="35" dirty="0">
                <a:latin typeface="Georgia"/>
                <a:cs typeface="Georgia"/>
              </a:rPr>
              <a:t> </a:t>
            </a:r>
            <a:r>
              <a:rPr sz="1100" spc="-30" dirty="0">
                <a:latin typeface="Georgia"/>
                <a:cs typeface="Georgia"/>
              </a:rPr>
              <a:t>specified</a:t>
            </a:r>
            <a:r>
              <a:rPr sz="1100" spc="40" dirty="0">
                <a:latin typeface="Georgia"/>
                <a:cs typeface="Georgia"/>
              </a:rPr>
              <a:t> </a:t>
            </a:r>
            <a:r>
              <a:rPr sz="1100" dirty="0">
                <a:latin typeface="Georgia"/>
                <a:cs typeface="Georgia"/>
              </a:rPr>
              <a:t>in</a:t>
            </a:r>
            <a:r>
              <a:rPr sz="1100" spc="40" dirty="0">
                <a:latin typeface="Georgia"/>
                <a:cs typeface="Georgia"/>
              </a:rPr>
              <a:t> </a:t>
            </a:r>
            <a:r>
              <a:rPr sz="1100" dirty="0">
                <a:latin typeface="Georgia"/>
                <a:cs typeface="Georgia"/>
              </a:rPr>
              <a:t>two</a:t>
            </a:r>
            <a:r>
              <a:rPr sz="1100" spc="40" dirty="0">
                <a:latin typeface="Georgia"/>
                <a:cs typeface="Georgia"/>
              </a:rPr>
              <a:t> </a:t>
            </a:r>
            <a:r>
              <a:rPr sz="1100" spc="-10" dirty="0">
                <a:latin typeface="Georgia"/>
                <a:cs typeface="Georgia"/>
              </a:rPr>
              <a:t>ways:</a:t>
            </a:r>
            <a:r>
              <a:rPr sz="1100" spc="135" dirty="0">
                <a:latin typeface="Georgia"/>
                <a:cs typeface="Georgia"/>
              </a:rPr>
              <a:t> </a:t>
            </a:r>
            <a:r>
              <a:rPr sz="1100" dirty="0">
                <a:latin typeface="Georgia"/>
                <a:cs typeface="Georgia"/>
              </a:rPr>
              <a:t>(1)</a:t>
            </a:r>
            <a:r>
              <a:rPr sz="1100" spc="35" dirty="0">
                <a:latin typeface="Georgia"/>
                <a:cs typeface="Georgia"/>
              </a:rPr>
              <a:t> </a:t>
            </a:r>
            <a:r>
              <a:rPr sz="1100" i="1" spc="65" dirty="0">
                <a:latin typeface="Calibri"/>
                <a:cs typeface="Calibri"/>
              </a:rPr>
              <a:t>k</a:t>
            </a:r>
            <a:r>
              <a:rPr sz="1100" i="1" spc="85" dirty="0">
                <a:latin typeface="Calibri"/>
                <a:cs typeface="Calibri"/>
              </a:rPr>
              <a:t> </a:t>
            </a:r>
            <a:r>
              <a:rPr sz="1100" dirty="0">
                <a:latin typeface="Georgia"/>
                <a:cs typeface="Georgia"/>
              </a:rPr>
              <a:t>is</a:t>
            </a:r>
            <a:r>
              <a:rPr sz="1100" spc="35" dirty="0">
                <a:latin typeface="Georgia"/>
                <a:cs typeface="Georgia"/>
              </a:rPr>
              <a:t> </a:t>
            </a:r>
            <a:r>
              <a:rPr sz="1100" dirty="0">
                <a:latin typeface="Georgia"/>
                <a:cs typeface="Georgia"/>
              </a:rPr>
              <a:t>an</a:t>
            </a:r>
            <a:r>
              <a:rPr sz="1100" spc="40" dirty="0">
                <a:latin typeface="Georgia"/>
                <a:cs typeface="Georgia"/>
              </a:rPr>
              <a:t> </a:t>
            </a:r>
            <a:r>
              <a:rPr sz="1100" b="1" spc="-10" dirty="0">
                <a:latin typeface="Georgia"/>
                <a:cs typeface="Georgia"/>
              </a:rPr>
              <a:t>input</a:t>
            </a:r>
            <a:r>
              <a:rPr sz="1100" b="1" spc="70" dirty="0">
                <a:latin typeface="Georgia"/>
                <a:cs typeface="Georgia"/>
              </a:rPr>
              <a:t> </a:t>
            </a:r>
            <a:r>
              <a:rPr sz="1100" b="1" spc="-40" dirty="0">
                <a:latin typeface="Georgia"/>
                <a:cs typeface="Georgia"/>
              </a:rPr>
              <a:t>parameter</a:t>
            </a:r>
            <a:r>
              <a:rPr sz="1100" b="1" spc="25" dirty="0">
                <a:latin typeface="Georgia"/>
                <a:cs typeface="Georgia"/>
              </a:rPr>
              <a:t> </a:t>
            </a:r>
            <a:r>
              <a:rPr sz="1100" spc="-25" dirty="0">
                <a:latin typeface="Georgia"/>
                <a:cs typeface="Georgia"/>
              </a:rPr>
              <a:t>of </a:t>
            </a:r>
            <a:r>
              <a:rPr sz="1100" dirty="0">
                <a:latin typeface="Georgia"/>
                <a:cs typeface="Georgia"/>
              </a:rPr>
              <a:t>the</a:t>
            </a:r>
            <a:r>
              <a:rPr sz="1100" spc="40" dirty="0">
                <a:latin typeface="Georgia"/>
                <a:cs typeface="Georgia"/>
              </a:rPr>
              <a:t> </a:t>
            </a:r>
            <a:r>
              <a:rPr sz="1100" spc="-20" dirty="0">
                <a:latin typeface="Georgia"/>
                <a:cs typeface="Georgia"/>
              </a:rPr>
              <a:t>clustering</a:t>
            </a:r>
            <a:r>
              <a:rPr sz="1100" spc="40" dirty="0">
                <a:latin typeface="Georgia"/>
                <a:cs typeface="Georgia"/>
              </a:rPr>
              <a:t> </a:t>
            </a:r>
            <a:r>
              <a:rPr sz="1100" spc="-20" dirty="0">
                <a:latin typeface="Georgia"/>
                <a:cs typeface="Georgia"/>
              </a:rPr>
              <a:t>algorithm,</a:t>
            </a:r>
            <a:r>
              <a:rPr sz="1100" spc="40" dirty="0">
                <a:latin typeface="Georgia"/>
                <a:cs typeface="Georgia"/>
              </a:rPr>
              <a:t> </a:t>
            </a:r>
            <a:r>
              <a:rPr sz="1100" dirty="0">
                <a:latin typeface="Georgia"/>
                <a:cs typeface="Georgia"/>
              </a:rPr>
              <a:t>and</a:t>
            </a:r>
            <a:r>
              <a:rPr sz="1100" spc="40" dirty="0">
                <a:latin typeface="Georgia"/>
                <a:cs typeface="Georgia"/>
              </a:rPr>
              <a:t> </a:t>
            </a:r>
            <a:r>
              <a:rPr sz="1100" dirty="0">
                <a:latin typeface="Georgia"/>
                <a:cs typeface="Georgia"/>
              </a:rPr>
              <a:t>(2)</a:t>
            </a:r>
            <a:r>
              <a:rPr sz="1100" spc="40" dirty="0">
                <a:latin typeface="Georgia"/>
                <a:cs typeface="Georgia"/>
              </a:rPr>
              <a:t> </a:t>
            </a:r>
            <a:r>
              <a:rPr sz="1100" i="1" spc="65" dirty="0">
                <a:latin typeface="Calibri"/>
                <a:cs typeface="Calibri"/>
              </a:rPr>
              <a:t>k</a:t>
            </a:r>
            <a:r>
              <a:rPr sz="1100" i="1" spc="85" dirty="0">
                <a:latin typeface="Calibri"/>
                <a:cs typeface="Calibri"/>
              </a:rPr>
              <a:t> </a:t>
            </a:r>
            <a:r>
              <a:rPr sz="1100" dirty="0">
                <a:latin typeface="Georgia"/>
                <a:cs typeface="Georgia"/>
              </a:rPr>
              <a:t>can</a:t>
            </a:r>
            <a:r>
              <a:rPr sz="1100" spc="40" dirty="0">
                <a:latin typeface="Georgia"/>
                <a:cs typeface="Georgia"/>
              </a:rPr>
              <a:t> </a:t>
            </a:r>
            <a:r>
              <a:rPr sz="1100" dirty="0">
                <a:latin typeface="Georgia"/>
                <a:cs typeface="Georgia"/>
              </a:rPr>
              <a:t>be</a:t>
            </a:r>
            <a:r>
              <a:rPr sz="1100" spc="40" dirty="0">
                <a:latin typeface="Georgia"/>
                <a:cs typeface="Georgia"/>
              </a:rPr>
              <a:t> </a:t>
            </a:r>
            <a:r>
              <a:rPr sz="1100" b="1" spc="-40" dirty="0">
                <a:latin typeface="Georgia"/>
                <a:cs typeface="Georgia"/>
              </a:rPr>
              <a:t>determined</a:t>
            </a:r>
            <a:r>
              <a:rPr sz="1100" b="1" spc="75" dirty="0">
                <a:latin typeface="Georgia"/>
                <a:cs typeface="Georgia"/>
              </a:rPr>
              <a:t> </a:t>
            </a:r>
            <a:r>
              <a:rPr sz="1100" b="1" spc="-25" dirty="0">
                <a:latin typeface="Georgia"/>
                <a:cs typeface="Georgia"/>
              </a:rPr>
              <a:t>automatically</a:t>
            </a:r>
            <a:r>
              <a:rPr sz="1100" b="1" spc="35" dirty="0">
                <a:latin typeface="Georgia"/>
                <a:cs typeface="Georgia"/>
              </a:rPr>
              <a:t> </a:t>
            </a:r>
            <a:r>
              <a:rPr sz="1100" dirty="0">
                <a:latin typeface="Georgia"/>
                <a:cs typeface="Georgia"/>
              </a:rPr>
              <a:t>by</a:t>
            </a:r>
            <a:r>
              <a:rPr sz="1100" spc="40" dirty="0">
                <a:latin typeface="Georgia"/>
                <a:cs typeface="Georgia"/>
              </a:rPr>
              <a:t> </a:t>
            </a:r>
            <a:r>
              <a:rPr sz="1100" spc="-25" dirty="0">
                <a:latin typeface="Georgia"/>
                <a:cs typeface="Georgia"/>
              </a:rPr>
              <a:t>the </a:t>
            </a:r>
            <a:r>
              <a:rPr sz="1100" spc="-10" dirty="0">
                <a:latin typeface="Georgia"/>
                <a:cs typeface="Georgia"/>
              </a:rPr>
              <a:t>algorithm.</a:t>
            </a:r>
            <a:endParaRPr sz="1100">
              <a:latin typeface="Georgia"/>
              <a:cs typeface="Georgia"/>
            </a:endParaRPr>
          </a:p>
          <a:p>
            <a:pPr marL="38100">
              <a:lnSpc>
                <a:spcPct val="100000"/>
              </a:lnSpc>
              <a:spcBef>
                <a:spcPts val="550"/>
              </a:spcBef>
            </a:pPr>
            <a:r>
              <a:rPr sz="1100" spc="-25" dirty="0">
                <a:latin typeface="Georgia"/>
                <a:cs typeface="Georgia"/>
              </a:rPr>
              <a:t>Normally,</a:t>
            </a:r>
            <a:r>
              <a:rPr sz="1100" spc="5" dirty="0">
                <a:latin typeface="Georgia"/>
                <a:cs typeface="Georgia"/>
              </a:rPr>
              <a:t> </a:t>
            </a:r>
            <a:r>
              <a:rPr sz="1100" spc="-10" dirty="0">
                <a:latin typeface="Georgia"/>
                <a:cs typeface="Georgia"/>
              </a:rPr>
              <a:t>each</a:t>
            </a:r>
            <a:r>
              <a:rPr sz="1100" spc="5" dirty="0">
                <a:latin typeface="Georgia"/>
                <a:cs typeface="Georgia"/>
              </a:rPr>
              <a:t> </a:t>
            </a:r>
            <a:r>
              <a:rPr sz="1100" dirty="0">
                <a:latin typeface="Georgia"/>
                <a:cs typeface="Georgia"/>
              </a:rPr>
              <a:t>data</a:t>
            </a:r>
            <a:r>
              <a:rPr sz="1100" spc="5" dirty="0">
                <a:latin typeface="Georgia"/>
                <a:cs typeface="Georgia"/>
              </a:rPr>
              <a:t> </a:t>
            </a:r>
            <a:r>
              <a:rPr sz="1100" dirty="0">
                <a:latin typeface="Georgia"/>
                <a:cs typeface="Georgia"/>
              </a:rPr>
              <a:t>point</a:t>
            </a:r>
            <a:r>
              <a:rPr sz="1100" spc="10" dirty="0">
                <a:latin typeface="Georgia"/>
                <a:cs typeface="Georgia"/>
              </a:rPr>
              <a:t> </a:t>
            </a:r>
            <a:r>
              <a:rPr sz="1100" spc="-20" dirty="0">
                <a:latin typeface="Georgia"/>
                <a:cs typeface="Georgia"/>
              </a:rPr>
              <a:t>belongs</a:t>
            </a:r>
            <a:r>
              <a:rPr sz="1100" spc="5" dirty="0">
                <a:latin typeface="Georgia"/>
                <a:cs typeface="Georgia"/>
              </a:rPr>
              <a:t> </a:t>
            </a:r>
            <a:r>
              <a:rPr sz="1100" dirty="0">
                <a:latin typeface="Georgia"/>
                <a:cs typeface="Georgia"/>
              </a:rPr>
              <a:t>only</a:t>
            </a:r>
            <a:r>
              <a:rPr sz="1100" spc="5" dirty="0">
                <a:latin typeface="Georgia"/>
                <a:cs typeface="Georgia"/>
              </a:rPr>
              <a:t> </a:t>
            </a:r>
            <a:r>
              <a:rPr sz="1100" spc="-20" dirty="0">
                <a:latin typeface="Georgia"/>
                <a:cs typeface="Georgia"/>
              </a:rPr>
              <a:t>one</a:t>
            </a:r>
            <a:r>
              <a:rPr sz="1100" spc="10" dirty="0">
                <a:latin typeface="Georgia"/>
                <a:cs typeface="Georgia"/>
              </a:rPr>
              <a:t> </a:t>
            </a:r>
            <a:r>
              <a:rPr sz="1100" spc="-10" dirty="0">
                <a:latin typeface="Georgia"/>
                <a:cs typeface="Georgia"/>
              </a:rPr>
              <a:t>cluster</a:t>
            </a:r>
            <a:r>
              <a:rPr sz="1100" spc="5" dirty="0">
                <a:latin typeface="Georgia"/>
                <a:cs typeface="Georgia"/>
              </a:rPr>
              <a:t> </a:t>
            </a:r>
            <a:r>
              <a:rPr sz="1100" dirty="0">
                <a:latin typeface="Georgia"/>
                <a:cs typeface="Georgia"/>
              </a:rPr>
              <a:t>(i.e.,</a:t>
            </a:r>
            <a:r>
              <a:rPr sz="1100" spc="5" dirty="0">
                <a:latin typeface="Georgia"/>
                <a:cs typeface="Georgia"/>
              </a:rPr>
              <a:t> </a:t>
            </a:r>
            <a:r>
              <a:rPr sz="1100" dirty="0">
                <a:latin typeface="Georgia"/>
                <a:cs typeface="Georgia"/>
              </a:rPr>
              <a:t>hard</a:t>
            </a:r>
            <a:r>
              <a:rPr sz="1100" spc="5" dirty="0">
                <a:latin typeface="Georgia"/>
                <a:cs typeface="Georgia"/>
              </a:rPr>
              <a:t> </a:t>
            </a:r>
            <a:r>
              <a:rPr sz="1100" spc="-10" dirty="0">
                <a:latin typeface="Georgia"/>
                <a:cs typeface="Georgia"/>
              </a:rPr>
              <a:t>clustering).</a:t>
            </a:r>
            <a:endParaRPr sz="1100">
              <a:latin typeface="Georgia"/>
              <a:cs typeface="Georgia"/>
            </a:endParaRPr>
          </a:p>
          <a:p>
            <a:pPr marL="38100">
              <a:lnSpc>
                <a:spcPts val="1235"/>
              </a:lnSpc>
              <a:spcBef>
                <a:spcPts val="555"/>
              </a:spcBef>
            </a:pPr>
            <a:r>
              <a:rPr sz="1100" dirty="0">
                <a:latin typeface="Georgia"/>
                <a:cs typeface="Georgia"/>
              </a:rPr>
              <a:t>If</a:t>
            </a:r>
            <a:r>
              <a:rPr sz="1100" spc="25" dirty="0">
                <a:latin typeface="Georgia"/>
                <a:cs typeface="Georgia"/>
              </a:rPr>
              <a:t> </a:t>
            </a:r>
            <a:r>
              <a:rPr sz="1100" dirty="0">
                <a:latin typeface="Georgia"/>
                <a:cs typeface="Georgia"/>
              </a:rPr>
              <a:t>data</a:t>
            </a:r>
            <a:r>
              <a:rPr sz="1100" spc="25" dirty="0">
                <a:latin typeface="Georgia"/>
                <a:cs typeface="Georgia"/>
              </a:rPr>
              <a:t> </a:t>
            </a:r>
            <a:r>
              <a:rPr sz="1100" spc="-10" dirty="0">
                <a:latin typeface="Georgia"/>
                <a:cs typeface="Georgia"/>
              </a:rPr>
              <a:t>points</a:t>
            </a:r>
            <a:r>
              <a:rPr sz="1100" spc="30" dirty="0">
                <a:latin typeface="Georgia"/>
                <a:cs typeface="Georgia"/>
              </a:rPr>
              <a:t> </a:t>
            </a:r>
            <a:r>
              <a:rPr sz="1100" spc="-10" dirty="0">
                <a:latin typeface="Georgia"/>
                <a:cs typeface="Georgia"/>
              </a:rPr>
              <a:t>belong</a:t>
            </a:r>
            <a:r>
              <a:rPr sz="1100" spc="25" dirty="0">
                <a:latin typeface="Georgia"/>
                <a:cs typeface="Georgia"/>
              </a:rPr>
              <a:t> </a:t>
            </a:r>
            <a:r>
              <a:rPr sz="1100" dirty="0">
                <a:latin typeface="Georgia"/>
                <a:cs typeface="Georgia"/>
              </a:rPr>
              <a:t>to</a:t>
            </a:r>
            <a:r>
              <a:rPr sz="1100" spc="30" dirty="0">
                <a:latin typeface="Georgia"/>
                <a:cs typeface="Georgia"/>
              </a:rPr>
              <a:t> </a:t>
            </a:r>
            <a:r>
              <a:rPr sz="1100" spc="-30" dirty="0">
                <a:latin typeface="Georgia"/>
                <a:cs typeface="Georgia"/>
              </a:rPr>
              <a:t>more</a:t>
            </a:r>
            <a:r>
              <a:rPr sz="1100" spc="25" dirty="0">
                <a:latin typeface="Georgia"/>
                <a:cs typeface="Georgia"/>
              </a:rPr>
              <a:t> </a:t>
            </a:r>
            <a:r>
              <a:rPr sz="1100" dirty="0">
                <a:latin typeface="Georgia"/>
                <a:cs typeface="Georgia"/>
              </a:rPr>
              <a:t>than</a:t>
            </a:r>
            <a:r>
              <a:rPr sz="1100" spc="30" dirty="0">
                <a:latin typeface="Georgia"/>
                <a:cs typeface="Georgia"/>
              </a:rPr>
              <a:t> </a:t>
            </a:r>
            <a:r>
              <a:rPr sz="1100" spc="-20" dirty="0">
                <a:latin typeface="Georgia"/>
                <a:cs typeface="Georgia"/>
              </a:rPr>
              <a:t>one</a:t>
            </a:r>
            <a:r>
              <a:rPr sz="1100" spc="25" dirty="0">
                <a:latin typeface="Georgia"/>
                <a:cs typeface="Georgia"/>
              </a:rPr>
              <a:t> </a:t>
            </a:r>
            <a:r>
              <a:rPr sz="1100" spc="-20" dirty="0">
                <a:latin typeface="Georgia"/>
                <a:cs typeface="Georgia"/>
              </a:rPr>
              <a:t>clusters</a:t>
            </a:r>
            <a:r>
              <a:rPr sz="1100" spc="30" dirty="0">
                <a:latin typeface="Georgia"/>
                <a:cs typeface="Georgia"/>
              </a:rPr>
              <a:t> </a:t>
            </a:r>
            <a:r>
              <a:rPr sz="1100" dirty="0">
                <a:latin typeface="Georgia"/>
                <a:cs typeface="Georgia"/>
              </a:rPr>
              <a:t>(soft</a:t>
            </a:r>
            <a:r>
              <a:rPr sz="1100" spc="25" dirty="0">
                <a:latin typeface="Georgia"/>
                <a:cs typeface="Georgia"/>
              </a:rPr>
              <a:t> </a:t>
            </a:r>
            <a:r>
              <a:rPr sz="1100" spc="-20" dirty="0">
                <a:latin typeface="Georgia"/>
                <a:cs typeface="Georgia"/>
              </a:rPr>
              <a:t>clustering),</a:t>
            </a:r>
            <a:r>
              <a:rPr sz="1100" spc="30" dirty="0">
                <a:latin typeface="Georgia"/>
                <a:cs typeface="Georgia"/>
              </a:rPr>
              <a:t> </a:t>
            </a:r>
            <a:r>
              <a:rPr sz="1100" dirty="0">
                <a:latin typeface="Georgia"/>
                <a:cs typeface="Georgia"/>
              </a:rPr>
              <a:t>the</a:t>
            </a:r>
            <a:r>
              <a:rPr sz="1100" spc="25" dirty="0">
                <a:latin typeface="Georgia"/>
                <a:cs typeface="Georgia"/>
              </a:rPr>
              <a:t> </a:t>
            </a:r>
            <a:r>
              <a:rPr sz="1100" b="1" spc="-10" dirty="0">
                <a:latin typeface="Georgia"/>
                <a:cs typeface="Georgia"/>
              </a:rPr>
              <a:t>membership</a:t>
            </a:r>
            <a:endParaRPr sz="1100">
              <a:latin typeface="Georgia"/>
              <a:cs typeface="Georgia"/>
            </a:endParaRPr>
          </a:p>
          <a:p>
            <a:pPr marL="38100">
              <a:lnSpc>
                <a:spcPts val="1235"/>
              </a:lnSpc>
            </a:pPr>
            <a:r>
              <a:rPr sz="1100" dirty="0">
                <a:latin typeface="Georgia"/>
                <a:cs typeface="Georgia"/>
              </a:rPr>
              <a:t>of</a:t>
            </a:r>
            <a:r>
              <a:rPr sz="1100" spc="25" dirty="0">
                <a:latin typeface="Georgia"/>
                <a:cs typeface="Georgia"/>
              </a:rPr>
              <a:t> </a:t>
            </a:r>
            <a:r>
              <a:rPr sz="1100" spc="105" dirty="0">
                <a:latin typeface="Cambria"/>
                <a:cs typeface="Cambria"/>
              </a:rPr>
              <a:t>x</a:t>
            </a:r>
            <a:r>
              <a:rPr sz="1200" i="1" spc="157" baseline="-10416" dirty="0">
                <a:latin typeface="Calibri"/>
                <a:cs typeface="Calibri"/>
              </a:rPr>
              <a:t>i</a:t>
            </a:r>
            <a:r>
              <a:rPr sz="1200" i="1" spc="270" baseline="-10416" dirty="0">
                <a:latin typeface="Calibri"/>
                <a:cs typeface="Calibri"/>
              </a:rPr>
              <a:t> </a:t>
            </a:r>
            <a:r>
              <a:rPr sz="1100" dirty="0">
                <a:latin typeface="Georgia"/>
                <a:cs typeface="Georgia"/>
              </a:rPr>
              <a:t>in</a:t>
            </a:r>
            <a:r>
              <a:rPr sz="1100" spc="50" dirty="0">
                <a:latin typeface="Georgia"/>
                <a:cs typeface="Georgia"/>
              </a:rPr>
              <a:t> </a:t>
            </a:r>
            <a:r>
              <a:rPr sz="1100" dirty="0">
                <a:latin typeface="Georgia"/>
                <a:cs typeface="Georgia"/>
              </a:rPr>
              <a:t>a</a:t>
            </a:r>
            <a:r>
              <a:rPr sz="1100" spc="50" dirty="0">
                <a:latin typeface="Georgia"/>
                <a:cs typeface="Georgia"/>
              </a:rPr>
              <a:t> </a:t>
            </a:r>
            <a:r>
              <a:rPr sz="1100" spc="-10" dirty="0">
                <a:latin typeface="Georgia"/>
                <a:cs typeface="Georgia"/>
              </a:rPr>
              <a:t>cluster</a:t>
            </a:r>
            <a:r>
              <a:rPr sz="1100" spc="55" dirty="0">
                <a:latin typeface="Georgia"/>
                <a:cs typeface="Georgia"/>
              </a:rPr>
              <a:t> </a:t>
            </a:r>
            <a:r>
              <a:rPr sz="1100" i="1" spc="175" dirty="0">
                <a:latin typeface="Calibri"/>
                <a:cs typeface="Calibri"/>
              </a:rPr>
              <a:t>C</a:t>
            </a:r>
            <a:r>
              <a:rPr sz="1200" i="1" spc="262" baseline="-10416" dirty="0">
                <a:latin typeface="Calibri"/>
                <a:cs typeface="Calibri"/>
              </a:rPr>
              <a:t>j</a:t>
            </a:r>
            <a:r>
              <a:rPr sz="1200" i="1" spc="315" baseline="-10416" dirty="0">
                <a:latin typeface="Calibri"/>
                <a:cs typeface="Calibri"/>
              </a:rPr>
              <a:t> </a:t>
            </a:r>
            <a:r>
              <a:rPr sz="1100" dirty="0">
                <a:latin typeface="Georgia"/>
                <a:cs typeface="Georgia"/>
              </a:rPr>
              <a:t>is</a:t>
            </a:r>
            <a:r>
              <a:rPr sz="1100" spc="50" dirty="0">
                <a:latin typeface="Georgia"/>
                <a:cs typeface="Georgia"/>
              </a:rPr>
              <a:t> </a:t>
            </a:r>
            <a:r>
              <a:rPr sz="1100" spc="-25" dirty="0">
                <a:latin typeface="Georgia"/>
                <a:cs typeface="Georgia"/>
              </a:rPr>
              <a:t>characterized</a:t>
            </a:r>
            <a:r>
              <a:rPr sz="1100" spc="50" dirty="0">
                <a:latin typeface="Georgia"/>
                <a:cs typeface="Georgia"/>
              </a:rPr>
              <a:t> </a:t>
            </a:r>
            <a:r>
              <a:rPr sz="1100" dirty="0">
                <a:latin typeface="Georgia"/>
                <a:cs typeface="Georgia"/>
              </a:rPr>
              <a:t>by</a:t>
            </a:r>
            <a:r>
              <a:rPr sz="1100" spc="55" dirty="0">
                <a:latin typeface="Georgia"/>
                <a:cs typeface="Georgia"/>
              </a:rPr>
              <a:t> </a:t>
            </a:r>
            <a:r>
              <a:rPr sz="1100" dirty="0">
                <a:latin typeface="Georgia"/>
                <a:cs typeface="Georgia"/>
              </a:rPr>
              <a:t>a</a:t>
            </a:r>
            <a:r>
              <a:rPr sz="1100" spc="50" dirty="0">
                <a:latin typeface="Georgia"/>
                <a:cs typeface="Georgia"/>
              </a:rPr>
              <a:t> </a:t>
            </a:r>
            <a:r>
              <a:rPr sz="1100" b="1" spc="-30" dirty="0">
                <a:latin typeface="Georgia"/>
                <a:cs typeface="Georgia"/>
              </a:rPr>
              <a:t>weight</a:t>
            </a:r>
            <a:r>
              <a:rPr sz="1100" b="1" spc="35" dirty="0">
                <a:latin typeface="Georgia"/>
                <a:cs typeface="Georgia"/>
              </a:rPr>
              <a:t> </a:t>
            </a:r>
            <a:r>
              <a:rPr sz="1100" i="1" spc="80" dirty="0">
                <a:latin typeface="Calibri"/>
                <a:cs typeface="Calibri"/>
              </a:rPr>
              <a:t>w</a:t>
            </a:r>
            <a:r>
              <a:rPr sz="1200" i="1" spc="120" baseline="-10416" dirty="0">
                <a:latin typeface="Calibri"/>
                <a:cs typeface="Calibri"/>
              </a:rPr>
              <a:t>ij</a:t>
            </a:r>
            <a:r>
              <a:rPr sz="1200" i="1" spc="322" baseline="-10416" dirty="0">
                <a:latin typeface="Calibri"/>
                <a:cs typeface="Calibri"/>
              </a:rPr>
              <a:t> </a:t>
            </a:r>
            <a:r>
              <a:rPr sz="1100" dirty="0">
                <a:latin typeface="Georgia"/>
                <a:cs typeface="Georgia"/>
              </a:rPr>
              <a:t>(e.g.,</a:t>
            </a:r>
            <a:r>
              <a:rPr sz="1100" spc="50" dirty="0">
                <a:latin typeface="Georgia"/>
                <a:cs typeface="Georgia"/>
              </a:rPr>
              <a:t> </a:t>
            </a:r>
            <a:r>
              <a:rPr sz="1100" dirty="0">
                <a:latin typeface="Georgia"/>
                <a:cs typeface="Georgia"/>
              </a:rPr>
              <a:t>in</a:t>
            </a:r>
            <a:r>
              <a:rPr sz="1100" spc="50" dirty="0">
                <a:latin typeface="Georgia"/>
                <a:cs typeface="Georgia"/>
              </a:rPr>
              <a:t> </a:t>
            </a:r>
            <a:r>
              <a:rPr sz="1100" spc="-20" dirty="0">
                <a:latin typeface="Georgia"/>
                <a:cs typeface="Georgia"/>
              </a:rPr>
              <a:t>range</a:t>
            </a:r>
            <a:r>
              <a:rPr sz="1100" spc="55" dirty="0">
                <a:latin typeface="Georgia"/>
                <a:cs typeface="Georgia"/>
              </a:rPr>
              <a:t> </a:t>
            </a:r>
            <a:r>
              <a:rPr sz="1100" spc="-10" dirty="0">
                <a:latin typeface="Calibri"/>
                <a:cs typeface="Calibri"/>
              </a:rPr>
              <a:t>[0</a:t>
            </a:r>
            <a:r>
              <a:rPr sz="1100" i="1" spc="-10" dirty="0">
                <a:latin typeface="Calibri"/>
                <a:cs typeface="Calibri"/>
              </a:rPr>
              <a:t>,</a:t>
            </a:r>
            <a:r>
              <a:rPr sz="1100" i="1" spc="-70" dirty="0">
                <a:latin typeface="Calibri"/>
                <a:cs typeface="Calibri"/>
              </a:rPr>
              <a:t> </a:t>
            </a:r>
            <a:r>
              <a:rPr sz="1100" spc="-20" dirty="0">
                <a:latin typeface="Calibri"/>
                <a:cs typeface="Calibri"/>
              </a:rPr>
              <a:t>1]</a:t>
            </a:r>
            <a:r>
              <a:rPr sz="1100" spc="-20" dirty="0">
                <a:latin typeface="Georgia"/>
                <a:cs typeface="Georgia"/>
              </a:rPr>
              <a:t>).</a:t>
            </a:r>
            <a:endParaRPr sz="1100">
              <a:latin typeface="Georgia"/>
              <a:cs typeface="Georgia"/>
            </a:endParaRPr>
          </a:p>
        </p:txBody>
      </p:sp>
      <p:sp>
        <p:nvSpPr>
          <p:cNvPr id="5" name="object 5"/>
          <p:cNvSpPr/>
          <p:nvPr/>
        </p:nvSpPr>
        <p:spPr>
          <a:xfrm>
            <a:off x="337972" y="110524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343456"/>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172794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txBox="1"/>
          <p:nvPr/>
        </p:nvSpPr>
        <p:spPr>
          <a:xfrm>
            <a:off x="454177" y="1636342"/>
            <a:ext cx="5128895" cy="191770"/>
          </a:xfrm>
          <a:prstGeom prst="rect">
            <a:avLst/>
          </a:prstGeom>
        </p:spPr>
        <p:txBody>
          <a:bodyPr vert="horz" wrap="square" lIns="0" tIns="11430" rIns="0" bIns="0" rtlCol="0">
            <a:spAutoFit/>
          </a:bodyPr>
          <a:lstStyle/>
          <a:p>
            <a:pPr marL="12700">
              <a:lnSpc>
                <a:spcPct val="100000"/>
              </a:lnSpc>
              <a:spcBef>
                <a:spcPts val="90"/>
              </a:spcBef>
            </a:pPr>
            <a:r>
              <a:rPr sz="1100" dirty="0">
                <a:latin typeface="Georgia"/>
                <a:cs typeface="Georgia"/>
              </a:rPr>
              <a:t>Not</a:t>
            </a:r>
            <a:r>
              <a:rPr sz="1100" spc="10" dirty="0">
                <a:latin typeface="Georgia"/>
                <a:cs typeface="Georgia"/>
              </a:rPr>
              <a:t> </a:t>
            </a:r>
            <a:r>
              <a:rPr sz="1100" dirty="0">
                <a:latin typeface="Georgia"/>
                <a:cs typeface="Georgia"/>
              </a:rPr>
              <a:t>all</a:t>
            </a:r>
            <a:r>
              <a:rPr sz="1100" spc="20" dirty="0">
                <a:latin typeface="Georgia"/>
                <a:cs typeface="Georgia"/>
              </a:rPr>
              <a:t> </a:t>
            </a:r>
            <a:r>
              <a:rPr sz="1100" dirty="0">
                <a:latin typeface="Georgia"/>
                <a:cs typeface="Georgia"/>
              </a:rPr>
              <a:t>data</a:t>
            </a:r>
            <a:r>
              <a:rPr sz="1100" spc="15" dirty="0">
                <a:latin typeface="Georgia"/>
                <a:cs typeface="Georgia"/>
              </a:rPr>
              <a:t> </a:t>
            </a:r>
            <a:r>
              <a:rPr sz="1100" spc="-10" dirty="0">
                <a:latin typeface="Georgia"/>
                <a:cs typeface="Georgia"/>
              </a:rPr>
              <a:t>points</a:t>
            </a:r>
            <a:r>
              <a:rPr sz="1100" spc="10" dirty="0">
                <a:latin typeface="Georgia"/>
                <a:cs typeface="Georgia"/>
              </a:rPr>
              <a:t> </a:t>
            </a:r>
            <a:r>
              <a:rPr sz="1100" dirty="0">
                <a:latin typeface="Georgia"/>
                <a:cs typeface="Georgia"/>
              </a:rPr>
              <a:t>in</a:t>
            </a:r>
            <a:r>
              <a:rPr sz="1100" spc="20" dirty="0">
                <a:latin typeface="Georgia"/>
                <a:cs typeface="Georgia"/>
              </a:rPr>
              <a:t> </a:t>
            </a:r>
            <a:r>
              <a:rPr sz="1100" spc="114" dirty="0">
                <a:latin typeface="Cambria"/>
                <a:cs typeface="Cambria"/>
              </a:rPr>
              <a:t>D</a:t>
            </a:r>
            <a:r>
              <a:rPr sz="1100" spc="60" dirty="0">
                <a:latin typeface="Cambria"/>
                <a:cs typeface="Cambria"/>
              </a:rPr>
              <a:t> </a:t>
            </a:r>
            <a:r>
              <a:rPr sz="1100" dirty="0">
                <a:latin typeface="Georgia"/>
                <a:cs typeface="Georgia"/>
              </a:rPr>
              <a:t>are</a:t>
            </a:r>
            <a:r>
              <a:rPr sz="1100" spc="15" dirty="0">
                <a:latin typeface="Georgia"/>
                <a:cs typeface="Georgia"/>
              </a:rPr>
              <a:t> </a:t>
            </a:r>
            <a:r>
              <a:rPr sz="1100" spc="-30" dirty="0">
                <a:latin typeface="Georgia"/>
                <a:cs typeface="Georgia"/>
              </a:rPr>
              <a:t>assigned</a:t>
            </a:r>
            <a:r>
              <a:rPr sz="1100" spc="15" dirty="0">
                <a:latin typeface="Georgia"/>
                <a:cs typeface="Georgia"/>
              </a:rPr>
              <a:t> </a:t>
            </a:r>
            <a:r>
              <a:rPr sz="1100" spc="-10" dirty="0">
                <a:latin typeface="Georgia"/>
                <a:cs typeface="Georgia"/>
              </a:rPr>
              <a:t>into</a:t>
            </a:r>
            <a:r>
              <a:rPr sz="1100" spc="15" dirty="0">
                <a:latin typeface="Georgia"/>
                <a:cs typeface="Georgia"/>
              </a:rPr>
              <a:t> </a:t>
            </a:r>
            <a:r>
              <a:rPr sz="1100" spc="-10" dirty="0">
                <a:latin typeface="Georgia"/>
                <a:cs typeface="Georgia"/>
              </a:rPr>
              <a:t>clusters.</a:t>
            </a:r>
            <a:r>
              <a:rPr sz="1100" spc="120" dirty="0">
                <a:latin typeface="Georgia"/>
                <a:cs typeface="Georgia"/>
              </a:rPr>
              <a:t> </a:t>
            </a:r>
            <a:r>
              <a:rPr sz="1100" dirty="0">
                <a:latin typeface="Georgia"/>
                <a:cs typeface="Georgia"/>
              </a:rPr>
              <a:t>There</a:t>
            </a:r>
            <a:r>
              <a:rPr sz="1100" spc="15" dirty="0">
                <a:latin typeface="Georgia"/>
                <a:cs typeface="Georgia"/>
              </a:rPr>
              <a:t> </a:t>
            </a:r>
            <a:r>
              <a:rPr sz="1100" dirty="0">
                <a:latin typeface="Georgia"/>
                <a:cs typeface="Georgia"/>
              </a:rPr>
              <a:t>may</a:t>
            </a:r>
            <a:r>
              <a:rPr sz="1100" spc="15" dirty="0">
                <a:latin typeface="Georgia"/>
                <a:cs typeface="Georgia"/>
              </a:rPr>
              <a:t> </a:t>
            </a:r>
            <a:r>
              <a:rPr sz="1100" dirty="0">
                <a:latin typeface="Georgia"/>
                <a:cs typeface="Georgia"/>
              </a:rPr>
              <a:t>be</a:t>
            </a:r>
            <a:r>
              <a:rPr sz="1100" spc="20" dirty="0">
                <a:latin typeface="Georgia"/>
                <a:cs typeface="Georgia"/>
              </a:rPr>
              <a:t> </a:t>
            </a:r>
            <a:r>
              <a:rPr sz="1100" spc="-25" dirty="0">
                <a:latin typeface="Georgia"/>
                <a:cs typeface="Georgia"/>
              </a:rPr>
              <a:t>several</a:t>
            </a:r>
            <a:r>
              <a:rPr sz="1100" spc="20" dirty="0">
                <a:latin typeface="Georgia"/>
                <a:cs typeface="Georgia"/>
              </a:rPr>
              <a:t> </a:t>
            </a:r>
            <a:r>
              <a:rPr sz="1100" dirty="0">
                <a:latin typeface="Georgia"/>
                <a:cs typeface="Georgia"/>
              </a:rPr>
              <a:t>data</a:t>
            </a:r>
            <a:r>
              <a:rPr sz="1100" spc="15" dirty="0">
                <a:latin typeface="Georgia"/>
                <a:cs typeface="Georgia"/>
              </a:rPr>
              <a:t> </a:t>
            </a:r>
            <a:r>
              <a:rPr sz="1100" spc="-10" dirty="0">
                <a:latin typeface="Georgia"/>
                <a:cs typeface="Georgia"/>
              </a:rPr>
              <a:t>points</a:t>
            </a:r>
            <a:endParaRPr sz="1100">
              <a:latin typeface="Georgia"/>
              <a:cs typeface="Georgia"/>
            </a:endParaRPr>
          </a:p>
        </p:txBody>
      </p:sp>
      <p:sp>
        <p:nvSpPr>
          <p:cNvPr id="9" name="object 9"/>
          <p:cNvSpPr txBox="1"/>
          <p:nvPr/>
        </p:nvSpPr>
        <p:spPr>
          <a:xfrm>
            <a:off x="454177" y="1710649"/>
            <a:ext cx="5082540" cy="1179195"/>
          </a:xfrm>
          <a:prstGeom prst="rect">
            <a:avLst/>
          </a:prstGeom>
        </p:spPr>
        <p:txBody>
          <a:bodyPr vert="horz" wrap="square" lIns="0" tIns="83185" rIns="0" bIns="0" rtlCol="0">
            <a:spAutoFit/>
          </a:bodyPr>
          <a:lstStyle/>
          <a:p>
            <a:pPr marL="12700">
              <a:lnSpc>
                <a:spcPct val="100000"/>
              </a:lnSpc>
              <a:spcBef>
                <a:spcPts val="655"/>
              </a:spcBef>
            </a:pPr>
            <a:r>
              <a:rPr sz="1100" dirty="0">
                <a:latin typeface="Georgia"/>
                <a:cs typeface="Georgia"/>
              </a:rPr>
              <a:t>that</a:t>
            </a:r>
            <a:r>
              <a:rPr sz="1100" spc="20" dirty="0">
                <a:latin typeface="Georgia"/>
                <a:cs typeface="Georgia"/>
              </a:rPr>
              <a:t> </a:t>
            </a:r>
            <a:r>
              <a:rPr sz="1100" dirty="0">
                <a:latin typeface="Georgia"/>
                <a:cs typeface="Georgia"/>
              </a:rPr>
              <a:t>are</a:t>
            </a:r>
            <a:r>
              <a:rPr sz="1100" spc="25" dirty="0">
                <a:latin typeface="Georgia"/>
                <a:cs typeface="Georgia"/>
              </a:rPr>
              <a:t> </a:t>
            </a:r>
            <a:r>
              <a:rPr sz="1100" b="1" spc="-40" dirty="0">
                <a:latin typeface="Georgia"/>
                <a:cs typeface="Georgia"/>
              </a:rPr>
              <a:t>outliers</a:t>
            </a:r>
            <a:r>
              <a:rPr sz="1100" b="1" spc="15" dirty="0">
                <a:latin typeface="Georgia"/>
                <a:cs typeface="Georgia"/>
              </a:rPr>
              <a:t> </a:t>
            </a:r>
            <a:r>
              <a:rPr sz="1100" dirty="0">
                <a:latin typeface="Georgia"/>
                <a:cs typeface="Georgia"/>
              </a:rPr>
              <a:t>or</a:t>
            </a:r>
            <a:r>
              <a:rPr sz="1100" spc="25" dirty="0">
                <a:latin typeface="Georgia"/>
                <a:cs typeface="Georgia"/>
              </a:rPr>
              <a:t> </a:t>
            </a:r>
            <a:r>
              <a:rPr sz="1100" b="1" spc="-50" dirty="0">
                <a:latin typeface="Georgia"/>
                <a:cs typeface="Georgia"/>
              </a:rPr>
              <a:t>noise</a:t>
            </a:r>
            <a:r>
              <a:rPr sz="1100" b="1" spc="10" dirty="0">
                <a:latin typeface="Georgia"/>
                <a:cs typeface="Georgia"/>
              </a:rPr>
              <a:t> </a:t>
            </a:r>
            <a:r>
              <a:rPr sz="1100" dirty="0">
                <a:latin typeface="Georgia"/>
                <a:cs typeface="Georgia"/>
              </a:rPr>
              <a:t>and</a:t>
            </a:r>
            <a:r>
              <a:rPr sz="1100" spc="25" dirty="0">
                <a:latin typeface="Georgia"/>
                <a:cs typeface="Georgia"/>
              </a:rPr>
              <a:t> </a:t>
            </a:r>
            <a:r>
              <a:rPr sz="1100" dirty="0">
                <a:latin typeface="Georgia"/>
                <a:cs typeface="Georgia"/>
              </a:rPr>
              <a:t>they</a:t>
            </a:r>
            <a:r>
              <a:rPr sz="1100" spc="25" dirty="0">
                <a:latin typeface="Georgia"/>
                <a:cs typeface="Georgia"/>
              </a:rPr>
              <a:t> </a:t>
            </a:r>
            <a:r>
              <a:rPr sz="1100" dirty="0">
                <a:latin typeface="Georgia"/>
                <a:cs typeface="Georgia"/>
              </a:rPr>
              <a:t>are</a:t>
            </a:r>
            <a:r>
              <a:rPr sz="1100" spc="25" dirty="0">
                <a:latin typeface="Georgia"/>
                <a:cs typeface="Georgia"/>
              </a:rPr>
              <a:t> </a:t>
            </a:r>
            <a:r>
              <a:rPr sz="1100" spc="-20" dirty="0">
                <a:latin typeface="Georgia"/>
                <a:cs typeface="Georgia"/>
              </a:rPr>
              <a:t>excluded</a:t>
            </a:r>
            <a:r>
              <a:rPr sz="1100" spc="25" dirty="0">
                <a:latin typeface="Georgia"/>
                <a:cs typeface="Georgia"/>
              </a:rPr>
              <a:t> </a:t>
            </a:r>
            <a:r>
              <a:rPr sz="1100" spc="-25" dirty="0">
                <a:latin typeface="Georgia"/>
                <a:cs typeface="Georgia"/>
              </a:rPr>
              <a:t>from</a:t>
            </a:r>
            <a:r>
              <a:rPr sz="1100" spc="25"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clusters.</a:t>
            </a:r>
            <a:endParaRPr sz="1100">
              <a:latin typeface="Georgia"/>
              <a:cs typeface="Georgia"/>
            </a:endParaRPr>
          </a:p>
          <a:p>
            <a:pPr marL="12700" marR="5080">
              <a:lnSpc>
                <a:spcPts val="1150"/>
              </a:lnSpc>
              <a:spcBef>
                <a:spcPts val="735"/>
              </a:spcBef>
            </a:pPr>
            <a:r>
              <a:rPr sz="1100" dirty="0">
                <a:latin typeface="Georgia"/>
                <a:cs typeface="Georgia"/>
              </a:rPr>
              <a:t>The</a:t>
            </a:r>
            <a:r>
              <a:rPr sz="1100" spc="25" dirty="0">
                <a:latin typeface="Georgia"/>
                <a:cs typeface="Georgia"/>
              </a:rPr>
              <a:t> </a:t>
            </a:r>
            <a:r>
              <a:rPr sz="1100" spc="-20" dirty="0">
                <a:latin typeface="Georgia"/>
                <a:cs typeface="Georgia"/>
              </a:rPr>
              <a:t>clustering</a:t>
            </a:r>
            <a:r>
              <a:rPr sz="1100" spc="25" dirty="0">
                <a:latin typeface="Georgia"/>
                <a:cs typeface="Georgia"/>
              </a:rPr>
              <a:t> </a:t>
            </a:r>
            <a:r>
              <a:rPr sz="1100" spc="-20" dirty="0">
                <a:latin typeface="Georgia"/>
                <a:cs typeface="Georgia"/>
              </a:rPr>
              <a:t>results</a:t>
            </a:r>
            <a:r>
              <a:rPr sz="1100" spc="25" dirty="0">
                <a:latin typeface="Georgia"/>
                <a:cs typeface="Georgia"/>
              </a:rPr>
              <a:t> </a:t>
            </a:r>
            <a:r>
              <a:rPr sz="1100" spc="-25" dirty="0">
                <a:latin typeface="Georgia"/>
                <a:cs typeface="Georgia"/>
              </a:rPr>
              <a:t>depend</a:t>
            </a:r>
            <a:r>
              <a:rPr sz="1100" spc="25" dirty="0">
                <a:latin typeface="Georgia"/>
                <a:cs typeface="Georgia"/>
              </a:rPr>
              <a:t> </a:t>
            </a:r>
            <a:r>
              <a:rPr sz="1100" dirty="0">
                <a:latin typeface="Georgia"/>
                <a:cs typeface="Georgia"/>
              </a:rPr>
              <a:t>on</a:t>
            </a:r>
            <a:r>
              <a:rPr sz="1100" spc="25" dirty="0">
                <a:latin typeface="Georgia"/>
                <a:cs typeface="Georgia"/>
              </a:rPr>
              <a:t> </a:t>
            </a:r>
            <a:r>
              <a:rPr sz="1100" spc="-20" dirty="0">
                <a:latin typeface="Georgia"/>
                <a:cs typeface="Georgia"/>
              </a:rPr>
              <a:t>clustering</a:t>
            </a:r>
            <a:r>
              <a:rPr sz="1100" spc="25" dirty="0">
                <a:latin typeface="Georgia"/>
                <a:cs typeface="Georgia"/>
              </a:rPr>
              <a:t> </a:t>
            </a:r>
            <a:r>
              <a:rPr sz="1100" spc="-20" dirty="0">
                <a:latin typeface="Georgia"/>
                <a:cs typeface="Georgia"/>
              </a:rPr>
              <a:t>algorithms.</a:t>
            </a:r>
            <a:r>
              <a:rPr sz="1100" spc="120" dirty="0">
                <a:latin typeface="Georgia"/>
                <a:cs typeface="Georgia"/>
              </a:rPr>
              <a:t> </a:t>
            </a:r>
            <a:r>
              <a:rPr sz="1100" spc="-25" dirty="0">
                <a:latin typeface="Georgia"/>
                <a:cs typeface="Georgia"/>
              </a:rPr>
              <a:t>Some</a:t>
            </a:r>
            <a:r>
              <a:rPr sz="1100" spc="25" dirty="0">
                <a:latin typeface="Georgia"/>
                <a:cs typeface="Georgia"/>
              </a:rPr>
              <a:t> </a:t>
            </a:r>
            <a:r>
              <a:rPr sz="1100" spc="-25" dirty="0">
                <a:latin typeface="Georgia"/>
                <a:cs typeface="Georgia"/>
              </a:rPr>
              <a:t>algorithms</a:t>
            </a:r>
            <a:r>
              <a:rPr sz="1100" spc="25" dirty="0">
                <a:latin typeface="Georgia"/>
                <a:cs typeface="Georgia"/>
              </a:rPr>
              <a:t> </a:t>
            </a:r>
            <a:r>
              <a:rPr sz="1100" dirty="0">
                <a:latin typeface="Georgia"/>
                <a:cs typeface="Georgia"/>
              </a:rPr>
              <a:t>is</a:t>
            </a:r>
            <a:r>
              <a:rPr sz="1100" spc="30" dirty="0">
                <a:latin typeface="Georgia"/>
                <a:cs typeface="Georgia"/>
              </a:rPr>
              <a:t> </a:t>
            </a:r>
            <a:r>
              <a:rPr sz="1100" dirty="0">
                <a:latin typeface="Georgia"/>
                <a:cs typeface="Georgia"/>
              </a:rPr>
              <a:t>for</a:t>
            </a:r>
            <a:r>
              <a:rPr sz="1100" spc="25" dirty="0">
                <a:latin typeface="Georgia"/>
                <a:cs typeface="Georgia"/>
              </a:rPr>
              <a:t> </a:t>
            </a:r>
            <a:r>
              <a:rPr sz="1100" spc="-20" dirty="0">
                <a:latin typeface="Georgia"/>
                <a:cs typeface="Georgia"/>
              </a:rPr>
              <a:t>hard clustering,</a:t>
            </a:r>
            <a:r>
              <a:rPr sz="1100" spc="10" dirty="0">
                <a:latin typeface="Georgia"/>
                <a:cs typeface="Georgia"/>
              </a:rPr>
              <a:t> </a:t>
            </a:r>
            <a:r>
              <a:rPr sz="1100" spc="-35" dirty="0">
                <a:latin typeface="Georgia"/>
                <a:cs typeface="Georgia"/>
              </a:rPr>
              <a:t>some</a:t>
            </a:r>
            <a:r>
              <a:rPr sz="1100" spc="10" dirty="0">
                <a:latin typeface="Georgia"/>
                <a:cs typeface="Georgia"/>
              </a:rPr>
              <a:t> </a:t>
            </a:r>
            <a:r>
              <a:rPr sz="1100" dirty="0">
                <a:latin typeface="Georgia"/>
                <a:cs typeface="Georgia"/>
              </a:rPr>
              <a:t>for</a:t>
            </a:r>
            <a:r>
              <a:rPr sz="1100" spc="15" dirty="0">
                <a:latin typeface="Georgia"/>
                <a:cs typeface="Georgia"/>
              </a:rPr>
              <a:t> </a:t>
            </a:r>
            <a:r>
              <a:rPr sz="1100" dirty="0">
                <a:latin typeface="Georgia"/>
                <a:cs typeface="Georgia"/>
              </a:rPr>
              <a:t>soft</a:t>
            </a:r>
            <a:r>
              <a:rPr sz="1100" spc="10" dirty="0">
                <a:latin typeface="Georgia"/>
                <a:cs typeface="Georgia"/>
              </a:rPr>
              <a:t> </a:t>
            </a:r>
            <a:r>
              <a:rPr sz="1100" spc="-20" dirty="0">
                <a:latin typeface="Georgia"/>
                <a:cs typeface="Georgia"/>
              </a:rPr>
              <a:t>clustering,</a:t>
            </a:r>
            <a:r>
              <a:rPr sz="1100" spc="15" dirty="0">
                <a:latin typeface="Georgia"/>
                <a:cs typeface="Georgia"/>
              </a:rPr>
              <a:t> </a:t>
            </a:r>
            <a:r>
              <a:rPr sz="1100" spc="-35" dirty="0">
                <a:latin typeface="Georgia"/>
                <a:cs typeface="Georgia"/>
              </a:rPr>
              <a:t>some</a:t>
            </a:r>
            <a:r>
              <a:rPr sz="1100" spc="10" dirty="0">
                <a:latin typeface="Georgia"/>
                <a:cs typeface="Georgia"/>
              </a:rPr>
              <a:t> </a:t>
            </a:r>
            <a:r>
              <a:rPr sz="1100" dirty="0">
                <a:latin typeface="Georgia"/>
                <a:cs typeface="Georgia"/>
              </a:rPr>
              <a:t>can</a:t>
            </a:r>
            <a:r>
              <a:rPr sz="1100" spc="15" dirty="0">
                <a:latin typeface="Georgia"/>
                <a:cs typeface="Georgia"/>
              </a:rPr>
              <a:t> </a:t>
            </a:r>
            <a:r>
              <a:rPr sz="1100" dirty="0">
                <a:latin typeface="Georgia"/>
                <a:cs typeface="Georgia"/>
              </a:rPr>
              <a:t>deal</a:t>
            </a:r>
            <a:r>
              <a:rPr sz="1100" spc="10" dirty="0">
                <a:latin typeface="Georgia"/>
                <a:cs typeface="Georgia"/>
              </a:rPr>
              <a:t> </a:t>
            </a:r>
            <a:r>
              <a:rPr sz="1100" dirty="0">
                <a:latin typeface="Georgia"/>
                <a:cs typeface="Georgia"/>
              </a:rPr>
              <a:t>with</a:t>
            </a:r>
            <a:r>
              <a:rPr sz="1100" spc="10" dirty="0">
                <a:latin typeface="Georgia"/>
                <a:cs typeface="Georgia"/>
              </a:rPr>
              <a:t> </a:t>
            </a:r>
            <a:r>
              <a:rPr sz="1100" spc="-20" dirty="0">
                <a:latin typeface="Georgia"/>
                <a:cs typeface="Georgia"/>
              </a:rPr>
              <a:t>outliers</a:t>
            </a:r>
            <a:r>
              <a:rPr sz="1100" spc="15" dirty="0">
                <a:latin typeface="Georgia"/>
                <a:cs typeface="Georgia"/>
              </a:rPr>
              <a:t> </a:t>
            </a:r>
            <a:r>
              <a:rPr sz="1100" dirty="0">
                <a:latin typeface="Georgia"/>
                <a:cs typeface="Georgia"/>
              </a:rPr>
              <a:t>and</a:t>
            </a:r>
            <a:r>
              <a:rPr sz="1100" spc="10" dirty="0">
                <a:latin typeface="Georgia"/>
                <a:cs typeface="Georgia"/>
              </a:rPr>
              <a:t> </a:t>
            </a:r>
            <a:r>
              <a:rPr sz="1100" spc="-10" dirty="0">
                <a:latin typeface="Georgia"/>
                <a:cs typeface="Georgia"/>
              </a:rPr>
              <a:t>noise.</a:t>
            </a:r>
            <a:endParaRPr sz="1100">
              <a:latin typeface="Georgia"/>
              <a:cs typeface="Georgia"/>
            </a:endParaRPr>
          </a:p>
          <a:p>
            <a:pPr marL="12700" marR="246379">
              <a:lnSpc>
                <a:spcPts val="1150"/>
              </a:lnSpc>
              <a:spcBef>
                <a:spcPts val="730"/>
              </a:spcBef>
            </a:pPr>
            <a:r>
              <a:rPr sz="1100" dirty="0">
                <a:latin typeface="Georgia"/>
                <a:cs typeface="Georgia"/>
              </a:rPr>
              <a:t>The</a:t>
            </a:r>
            <a:r>
              <a:rPr sz="1100" spc="40" dirty="0">
                <a:latin typeface="Georgia"/>
                <a:cs typeface="Georgia"/>
              </a:rPr>
              <a:t> </a:t>
            </a:r>
            <a:r>
              <a:rPr sz="1100" spc="-10" dirty="0">
                <a:latin typeface="Georgia"/>
                <a:cs typeface="Georgia"/>
              </a:rPr>
              <a:t>cluster</a:t>
            </a:r>
            <a:r>
              <a:rPr sz="1100" spc="40" dirty="0">
                <a:latin typeface="Georgia"/>
                <a:cs typeface="Georgia"/>
              </a:rPr>
              <a:t> </a:t>
            </a:r>
            <a:r>
              <a:rPr sz="1100" spc="-35" dirty="0">
                <a:latin typeface="Georgia"/>
                <a:cs typeface="Georgia"/>
              </a:rPr>
              <a:t>assignment</a:t>
            </a:r>
            <a:r>
              <a:rPr sz="1100" spc="40" dirty="0">
                <a:latin typeface="Georgia"/>
                <a:cs typeface="Georgia"/>
              </a:rPr>
              <a:t> </a:t>
            </a:r>
            <a:r>
              <a:rPr sz="1100" dirty="0">
                <a:latin typeface="Georgia"/>
                <a:cs typeface="Georgia"/>
              </a:rPr>
              <a:t>for</a:t>
            </a:r>
            <a:r>
              <a:rPr sz="1100" spc="40" dirty="0">
                <a:latin typeface="Georgia"/>
                <a:cs typeface="Georgia"/>
              </a:rPr>
              <a:t> </a:t>
            </a:r>
            <a:r>
              <a:rPr sz="1100" dirty="0">
                <a:latin typeface="Georgia"/>
                <a:cs typeface="Georgia"/>
              </a:rPr>
              <a:t>data</a:t>
            </a:r>
            <a:r>
              <a:rPr sz="1100" spc="40" dirty="0">
                <a:latin typeface="Georgia"/>
                <a:cs typeface="Georgia"/>
              </a:rPr>
              <a:t> </a:t>
            </a:r>
            <a:r>
              <a:rPr sz="1100" spc="-10" dirty="0">
                <a:latin typeface="Georgia"/>
                <a:cs typeface="Georgia"/>
              </a:rPr>
              <a:t>points</a:t>
            </a:r>
            <a:r>
              <a:rPr sz="1100" spc="40" dirty="0">
                <a:latin typeface="Georgia"/>
                <a:cs typeface="Georgia"/>
              </a:rPr>
              <a:t> </a:t>
            </a:r>
            <a:r>
              <a:rPr sz="1100" dirty="0">
                <a:latin typeface="Georgia"/>
                <a:cs typeface="Georgia"/>
              </a:rPr>
              <a:t>is</a:t>
            </a:r>
            <a:r>
              <a:rPr sz="1100" spc="40" dirty="0">
                <a:latin typeface="Georgia"/>
                <a:cs typeface="Georgia"/>
              </a:rPr>
              <a:t> </a:t>
            </a:r>
            <a:r>
              <a:rPr sz="1100" spc="-35" dirty="0">
                <a:latin typeface="Georgia"/>
                <a:cs typeface="Georgia"/>
              </a:rPr>
              <a:t>performed</a:t>
            </a:r>
            <a:r>
              <a:rPr sz="1100" spc="40" dirty="0">
                <a:latin typeface="Georgia"/>
                <a:cs typeface="Georgia"/>
              </a:rPr>
              <a:t> </a:t>
            </a:r>
            <a:r>
              <a:rPr sz="1100" spc="-10" dirty="0">
                <a:latin typeface="Georgia"/>
                <a:cs typeface="Georgia"/>
              </a:rPr>
              <a:t>automatically</a:t>
            </a:r>
            <a:r>
              <a:rPr sz="1100" spc="40" dirty="0">
                <a:latin typeface="Georgia"/>
                <a:cs typeface="Georgia"/>
              </a:rPr>
              <a:t> </a:t>
            </a:r>
            <a:r>
              <a:rPr sz="1100" dirty="0">
                <a:latin typeface="Georgia"/>
                <a:cs typeface="Georgia"/>
              </a:rPr>
              <a:t>by</a:t>
            </a:r>
            <a:r>
              <a:rPr sz="1100" spc="40" dirty="0">
                <a:latin typeface="Georgia"/>
                <a:cs typeface="Georgia"/>
              </a:rPr>
              <a:t> </a:t>
            </a:r>
            <a:r>
              <a:rPr sz="1100" spc="-10" dirty="0">
                <a:latin typeface="Georgia"/>
                <a:cs typeface="Georgia"/>
              </a:rPr>
              <a:t>clustering </a:t>
            </a:r>
            <a:r>
              <a:rPr sz="1100" spc="-20" dirty="0">
                <a:latin typeface="Georgia"/>
                <a:cs typeface="Georgia"/>
              </a:rPr>
              <a:t>algorithms.</a:t>
            </a:r>
            <a:r>
              <a:rPr sz="1100" spc="140" dirty="0">
                <a:latin typeface="Georgia"/>
                <a:cs typeface="Georgia"/>
              </a:rPr>
              <a:t> </a:t>
            </a:r>
            <a:r>
              <a:rPr sz="1100" spc="-35" dirty="0">
                <a:latin typeface="Georgia"/>
                <a:cs typeface="Georgia"/>
              </a:rPr>
              <a:t>Hence,</a:t>
            </a:r>
            <a:r>
              <a:rPr sz="1100" spc="40" dirty="0">
                <a:latin typeface="Georgia"/>
                <a:cs typeface="Georgia"/>
              </a:rPr>
              <a:t> </a:t>
            </a:r>
            <a:r>
              <a:rPr sz="1100" spc="-20" dirty="0">
                <a:latin typeface="Georgia"/>
                <a:cs typeface="Georgia"/>
              </a:rPr>
              <a:t>clustering</a:t>
            </a:r>
            <a:r>
              <a:rPr sz="1100" spc="45" dirty="0">
                <a:latin typeface="Georgia"/>
                <a:cs typeface="Georgia"/>
              </a:rPr>
              <a:t> </a:t>
            </a:r>
            <a:r>
              <a:rPr sz="1100" dirty="0">
                <a:latin typeface="Georgia"/>
                <a:cs typeface="Georgia"/>
              </a:rPr>
              <a:t>is</a:t>
            </a:r>
            <a:r>
              <a:rPr sz="1100" spc="45" dirty="0">
                <a:latin typeface="Georgia"/>
                <a:cs typeface="Georgia"/>
              </a:rPr>
              <a:t> </a:t>
            </a:r>
            <a:r>
              <a:rPr sz="1100" spc="-25" dirty="0">
                <a:latin typeface="Georgia"/>
                <a:cs typeface="Georgia"/>
              </a:rPr>
              <a:t>useful</a:t>
            </a:r>
            <a:r>
              <a:rPr sz="1100" spc="40" dirty="0">
                <a:latin typeface="Georgia"/>
                <a:cs typeface="Georgia"/>
              </a:rPr>
              <a:t> </a:t>
            </a:r>
            <a:r>
              <a:rPr sz="1100" dirty="0">
                <a:latin typeface="Georgia"/>
                <a:cs typeface="Georgia"/>
              </a:rPr>
              <a:t>in</a:t>
            </a:r>
            <a:r>
              <a:rPr sz="1100" spc="45" dirty="0">
                <a:latin typeface="Georgia"/>
                <a:cs typeface="Georgia"/>
              </a:rPr>
              <a:t> </a:t>
            </a:r>
            <a:r>
              <a:rPr sz="1100" dirty="0">
                <a:latin typeface="Georgia"/>
                <a:cs typeface="Georgia"/>
              </a:rPr>
              <a:t>that</a:t>
            </a:r>
            <a:r>
              <a:rPr sz="1100" spc="40" dirty="0">
                <a:latin typeface="Georgia"/>
                <a:cs typeface="Georgia"/>
              </a:rPr>
              <a:t> </a:t>
            </a:r>
            <a:r>
              <a:rPr sz="1100" dirty="0">
                <a:latin typeface="Georgia"/>
                <a:cs typeface="Georgia"/>
              </a:rPr>
              <a:t>it</a:t>
            </a:r>
            <a:r>
              <a:rPr sz="1100" spc="45" dirty="0">
                <a:latin typeface="Georgia"/>
                <a:cs typeface="Georgia"/>
              </a:rPr>
              <a:t> </a:t>
            </a:r>
            <a:r>
              <a:rPr sz="1100" dirty="0">
                <a:latin typeface="Georgia"/>
                <a:cs typeface="Georgia"/>
              </a:rPr>
              <a:t>can</a:t>
            </a:r>
            <a:r>
              <a:rPr sz="1100" spc="40" dirty="0">
                <a:latin typeface="Georgia"/>
                <a:cs typeface="Georgia"/>
              </a:rPr>
              <a:t> </a:t>
            </a:r>
            <a:r>
              <a:rPr sz="1100" dirty="0">
                <a:latin typeface="Georgia"/>
                <a:cs typeface="Georgia"/>
              </a:rPr>
              <a:t>lead</a:t>
            </a:r>
            <a:r>
              <a:rPr sz="1100" spc="45" dirty="0">
                <a:latin typeface="Georgia"/>
                <a:cs typeface="Georgia"/>
              </a:rPr>
              <a:t> </a:t>
            </a:r>
            <a:r>
              <a:rPr sz="1100" dirty="0">
                <a:latin typeface="Georgia"/>
                <a:cs typeface="Georgia"/>
              </a:rPr>
              <a:t>to</a:t>
            </a:r>
            <a:r>
              <a:rPr sz="1100" spc="45" dirty="0">
                <a:latin typeface="Georgia"/>
                <a:cs typeface="Georgia"/>
              </a:rPr>
              <a:t> </a:t>
            </a:r>
            <a:r>
              <a:rPr sz="1100" dirty="0">
                <a:latin typeface="Georgia"/>
                <a:cs typeface="Georgia"/>
              </a:rPr>
              <a:t>the</a:t>
            </a:r>
            <a:r>
              <a:rPr sz="1100" spc="40" dirty="0">
                <a:latin typeface="Georgia"/>
                <a:cs typeface="Georgia"/>
              </a:rPr>
              <a:t> </a:t>
            </a:r>
            <a:r>
              <a:rPr sz="1100" b="1" spc="-40" dirty="0">
                <a:latin typeface="Georgia"/>
                <a:cs typeface="Georgia"/>
              </a:rPr>
              <a:t>discovery</a:t>
            </a:r>
            <a:r>
              <a:rPr sz="1100" b="1" spc="45" dirty="0">
                <a:latin typeface="Georgia"/>
                <a:cs typeface="Georgia"/>
              </a:rPr>
              <a:t> </a:t>
            </a:r>
            <a:r>
              <a:rPr sz="1100" spc="-25" dirty="0">
                <a:latin typeface="Georgia"/>
                <a:cs typeface="Georgia"/>
              </a:rPr>
              <a:t>of </a:t>
            </a:r>
            <a:r>
              <a:rPr sz="1100" spc="-20" dirty="0">
                <a:latin typeface="Georgia"/>
                <a:cs typeface="Georgia"/>
              </a:rPr>
              <a:t>previously</a:t>
            </a:r>
            <a:r>
              <a:rPr sz="1100" spc="45" dirty="0">
                <a:latin typeface="Georgia"/>
                <a:cs typeface="Georgia"/>
              </a:rPr>
              <a:t> </a:t>
            </a:r>
            <a:r>
              <a:rPr sz="1100" b="1" spc="-65" dirty="0">
                <a:latin typeface="Georgia"/>
                <a:cs typeface="Georgia"/>
              </a:rPr>
              <a:t>unknown</a:t>
            </a:r>
            <a:r>
              <a:rPr sz="1100" b="1" spc="20" dirty="0">
                <a:latin typeface="Georgia"/>
                <a:cs typeface="Georgia"/>
              </a:rPr>
              <a:t> </a:t>
            </a:r>
            <a:r>
              <a:rPr sz="1100" spc="-25" dirty="0">
                <a:latin typeface="Georgia"/>
                <a:cs typeface="Georgia"/>
              </a:rPr>
              <a:t>groups</a:t>
            </a:r>
            <a:r>
              <a:rPr sz="1100" spc="35" dirty="0">
                <a:latin typeface="Georgia"/>
                <a:cs typeface="Georgia"/>
              </a:rPr>
              <a:t> </a:t>
            </a:r>
            <a:r>
              <a:rPr sz="1100" spc="-10" dirty="0">
                <a:latin typeface="Georgia"/>
                <a:cs typeface="Georgia"/>
              </a:rPr>
              <a:t>within</a:t>
            </a:r>
            <a:r>
              <a:rPr sz="1100" spc="35"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data.</a:t>
            </a:r>
            <a:endParaRPr sz="1100">
              <a:latin typeface="Georgia"/>
              <a:cs typeface="Georgia"/>
            </a:endParaRPr>
          </a:p>
        </p:txBody>
      </p:sp>
      <p:sp>
        <p:nvSpPr>
          <p:cNvPr id="10" name="object 10"/>
          <p:cNvSpPr/>
          <p:nvPr/>
        </p:nvSpPr>
        <p:spPr>
          <a:xfrm>
            <a:off x="337972" y="211242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1" name="object 11"/>
          <p:cNvSpPr/>
          <p:nvPr/>
        </p:nvSpPr>
        <p:spPr>
          <a:xfrm>
            <a:off x="337972" y="249690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dirty="0"/>
              <a:t>9</a:t>
            </a:fld>
            <a:r>
              <a:rPr spc="-5" dirty="0"/>
              <a:t> </a:t>
            </a:r>
            <a:r>
              <a:rPr spc="75" dirty="0"/>
              <a:t>/</a:t>
            </a:r>
            <a:r>
              <a:rPr spc="-5" dirty="0"/>
              <a:t> </a:t>
            </a:r>
            <a:r>
              <a:rPr spc="35" dirty="0"/>
              <a:t>135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Requirements</a:t>
            </a:r>
            <a:r>
              <a:rPr spc="204" dirty="0"/>
              <a:t> </a:t>
            </a:r>
            <a:r>
              <a:rPr dirty="0"/>
              <a:t>for</a:t>
            </a:r>
            <a:r>
              <a:rPr spc="200" dirty="0"/>
              <a:t> </a:t>
            </a:r>
            <a:r>
              <a:rPr spc="70" dirty="0"/>
              <a:t>data</a:t>
            </a:r>
            <a:r>
              <a:rPr spc="200" dirty="0"/>
              <a:t> </a:t>
            </a:r>
            <a:r>
              <a:rPr spc="-10" dirty="0"/>
              <a:t>clustering</a:t>
            </a:r>
          </a:p>
        </p:txBody>
      </p:sp>
      <p:sp>
        <p:nvSpPr>
          <p:cNvPr id="3" name="object 3"/>
          <p:cNvSpPr/>
          <p:nvPr/>
        </p:nvSpPr>
        <p:spPr>
          <a:xfrm>
            <a:off x="337972" y="50504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413434"/>
            <a:ext cx="5098415" cy="2607310"/>
          </a:xfrm>
          <a:prstGeom prst="rect">
            <a:avLst/>
          </a:prstGeom>
        </p:spPr>
        <p:txBody>
          <a:bodyPr vert="horz" wrap="square" lIns="0" tIns="34290" rIns="0" bIns="0" rtlCol="0">
            <a:spAutoFit/>
          </a:bodyPr>
          <a:lstStyle/>
          <a:p>
            <a:pPr marL="12700" marR="27305" algn="just">
              <a:lnSpc>
                <a:spcPts val="1150"/>
              </a:lnSpc>
              <a:spcBef>
                <a:spcPts val="270"/>
              </a:spcBef>
            </a:pPr>
            <a:r>
              <a:rPr sz="1100" b="1" spc="-10" dirty="0">
                <a:latin typeface="Georgia"/>
                <a:cs typeface="Georgia"/>
              </a:rPr>
              <a:t>Scalability</a:t>
            </a:r>
            <a:r>
              <a:rPr sz="1100" spc="-10" dirty="0">
                <a:latin typeface="Georgia"/>
                <a:cs typeface="Georgia"/>
              </a:rPr>
              <a:t>:</a:t>
            </a:r>
            <a:r>
              <a:rPr sz="1100" spc="90" dirty="0">
                <a:latin typeface="Georgia"/>
                <a:cs typeface="Georgia"/>
              </a:rPr>
              <a:t> </a:t>
            </a:r>
            <a:r>
              <a:rPr sz="1100" spc="-20" dirty="0">
                <a:latin typeface="Georgia"/>
                <a:cs typeface="Georgia"/>
              </a:rPr>
              <a:t>clustering</a:t>
            </a:r>
            <a:r>
              <a:rPr sz="1100" spc="10" dirty="0">
                <a:latin typeface="Georgia"/>
                <a:cs typeface="Georgia"/>
              </a:rPr>
              <a:t> </a:t>
            </a:r>
            <a:r>
              <a:rPr sz="1100" spc="-20" dirty="0">
                <a:latin typeface="Georgia"/>
                <a:cs typeface="Georgia"/>
              </a:rPr>
              <a:t>algorithms</a:t>
            </a:r>
            <a:r>
              <a:rPr sz="1100" spc="5" dirty="0">
                <a:latin typeface="Georgia"/>
                <a:cs typeface="Georgia"/>
              </a:rPr>
              <a:t> </a:t>
            </a:r>
            <a:r>
              <a:rPr sz="1100" spc="-20" dirty="0">
                <a:latin typeface="Georgia"/>
                <a:cs typeface="Georgia"/>
              </a:rPr>
              <a:t>should</a:t>
            </a:r>
            <a:r>
              <a:rPr sz="1100" spc="5" dirty="0">
                <a:latin typeface="Georgia"/>
                <a:cs typeface="Georgia"/>
              </a:rPr>
              <a:t> </a:t>
            </a:r>
            <a:r>
              <a:rPr sz="1100" dirty="0">
                <a:latin typeface="Georgia"/>
                <a:cs typeface="Georgia"/>
              </a:rPr>
              <a:t>be</a:t>
            </a:r>
            <a:r>
              <a:rPr sz="1100" spc="10" dirty="0">
                <a:latin typeface="Georgia"/>
                <a:cs typeface="Georgia"/>
              </a:rPr>
              <a:t> </a:t>
            </a:r>
            <a:r>
              <a:rPr sz="1100" dirty="0">
                <a:latin typeface="Georgia"/>
                <a:cs typeface="Georgia"/>
              </a:rPr>
              <a:t>able</a:t>
            </a:r>
            <a:r>
              <a:rPr sz="1100" spc="5" dirty="0">
                <a:latin typeface="Georgia"/>
                <a:cs typeface="Georgia"/>
              </a:rPr>
              <a:t> </a:t>
            </a:r>
            <a:r>
              <a:rPr sz="1100" dirty="0">
                <a:latin typeface="Georgia"/>
                <a:cs typeface="Georgia"/>
              </a:rPr>
              <a:t>to</a:t>
            </a:r>
            <a:r>
              <a:rPr sz="1100" spc="5" dirty="0">
                <a:latin typeface="Georgia"/>
                <a:cs typeface="Georgia"/>
              </a:rPr>
              <a:t> </a:t>
            </a:r>
            <a:r>
              <a:rPr sz="1100" spc="-10" dirty="0">
                <a:latin typeface="Georgia"/>
                <a:cs typeface="Georgia"/>
              </a:rPr>
              <a:t>work</a:t>
            </a:r>
            <a:r>
              <a:rPr sz="1100" spc="10" dirty="0">
                <a:latin typeface="Georgia"/>
                <a:cs typeface="Georgia"/>
              </a:rPr>
              <a:t> </a:t>
            </a:r>
            <a:r>
              <a:rPr sz="1100" dirty="0">
                <a:latin typeface="Georgia"/>
                <a:cs typeface="Georgia"/>
              </a:rPr>
              <a:t>with</a:t>
            </a:r>
            <a:r>
              <a:rPr sz="1100" spc="5" dirty="0">
                <a:latin typeface="Georgia"/>
                <a:cs typeface="Georgia"/>
              </a:rPr>
              <a:t> </a:t>
            </a:r>
            <a:r>
              <a:rPr sz="1100" spc="-10" dirty="0">
                <a:latin typeface="Georgia"/>
                <a:cs typeface="Georgia"/>
              </a:rPr>
              <a:t>small,</a:t>
            </a:r>
            <a:r>
              <a:rPr sz="1100" spc="5" dirty="0">
                <a:latin typeface="Georgia"/>
                <a:cs typeface="Georgia"/>
              </a:rPr>
              <a:t> </a:t>
            </a:r>
            <a:r>
              <a:rPr sz="1100" spc="-30" dirty="0">
                <a:latin typeface="Georgia"/>
                <a:cs typeface="Georgia"/>
              </a:rPr>
              <a:t>medium,</a:t>
            </a:r>
            <a:r>
              <a:rPr sz="1100" spc="10" dirty="0">
                <a:latin typeface="Georgia"/>
                <a:cs typeface="Georgia"/>
              </a:rPr>
              <a:t> </a:t>
            </a:r>
            <a:r>
              <a:rPr sz="1100" spc="-25" dirty="0">
                <a:latin typeface="Georgia"/>
                <a:cs typeface="Georgia"/>
              </a:rPr>
              <a:t>and </a:t>
            </a:r>
            <a:r>
              <a:rPr sz="1100" spc="-10" dirty="0">
                <a:latin typeface="Georgia"/>
                <a:cs typeface="Georgia"/>
              </a:rPr>
              <a:t>large</a:t>
            </a:r>
            <a:r>
              <a:rPr sz="1100" spc="40" dirty="0">
                <a:latin typeface="Georgia"/>
                <a:cs typeface="Georgia"/>
              </a:rPr>
              <a:t> </a:t>
            </a:r>
            <a:r>
              <a:rPr sz="1100" spc="-10" dirty="0">
                <a:latin typeface="Georgia"/>
                <a:cs typeface="Georgia"/>
              </a:rPr>
              <a:t>datasets</a:t>
            </a:r>
            <a:r>
              <a:rPr sz="1100" spc="45" dirty="0">
                <a:latin typeface="Georgia"/>
                <a:cs typeface="Georgia"/>
              </a:rPr>
              <a:t> </a:t>
            </a:r>
            <a:r>
              <a:rPr sz="1100" dirty="0">
                <a:latin typeface="Georgia"/>
                <a:cs typeface="Georgia"/>
              </a:rPr>
              <a:t>with</a:t>
            </a:r>
            <a:r>
              <a:rPr sz="1100" spc="45" dirty="0">
                <a:latin typeface="Georgia"/>
                <a:cs typeface="Georgia"/>
              </a:rPr>
              <a:t> </a:t>
            </a:r>
            <a:r>
              <a:rPr sz="1100" dirty="0">
                <a:latin typeface="Georgia"/>
                <a:cs typeface="Georgia"/>
              </a:rPr>
              <a:t>a</a:t>
            </a:r>
            <a:r>
              <a:rPr sz="1100" spc="45" dirty="0">
                <a:latin typeface="Georgia"/>
                <a:cs typeface="Georgia"/>
              </a:rPr>
              <a:t> </a:t>
            </a:r>
            <a:r>
              <a:rPr sz="1100" spc="-25" dirty="0">
                <a:latin typeface="Georgia"/>
                <a:cs typeface="Georgia"/>
              </a:rPr>
              <a:t>consistent</a:t>
            </a:r>
            <a:r>
              <a:rPr sz="1100" spc="45" dirty="0">
                <a:latin typeface="Georgia"/>
                <a:cs typeface="Georgia"/>
              </a:rPr>
              <a:t> </a:t>
            </a:r>
            <a:r>
              <a:rPr sz="1100" spc="-10" dirty="0">
                <a:latin typeface="Georgia"/>
                <a:cs typeface="Georgia"/>
              </a:rPr>
              <a:t>performance.</a:t>
            </a:r>
            <a:endParaRPr sz="1100">
              <a:latin typeface="Georgia"/>
              <a:cs typeface="Georgia"/>
            </a:endParaRPr>
          </a:p>
          <a:p>
            <a:pPr marL="12700" marR="109220" algn="just">
              <a:lnSpc>
                <a:spcPts val="1150"/>
              </a:lnSpc>
              <a:spcBef>
                <a:spcPts val="725"/>
              </a:spcBef>
            </a:pPr>
            <a:r>
              <a:rPr sz="1100" b="1" dirty="0">
                <a:latin typeface="Georgia"/>
                <a:cs typeface="Georgia"/>
              </a:rPr>
              <a:t>Ability</a:t>
            </a:r>
            <a:r>
              <a:rPr sz="1100" b="1" spc="30" dirty="0">
                <a:latin typeface="Georgia"/>
                <a:cs typeface="Georgia"/>
              </a:rPr>
              <a:t> </a:t>
            </a:r>
            <a:r>
              <a:rPr sz="1100" b="1" dirty="0">
                <a:latin typeface="Georgia"/>
                <a:cs typeface="Georgia"/>
              </a:rPr>
              <a:t>to</a:t>
            </a:r>
            <a:r>
              <a:rPr sz="1100" b="1" spc="30" dirty="0">
                <a:latin typeface="Georgia"/>
                <a:cs typeface="Georgia"/>
              </a:rPr>
              <a:t> </a:t>
            </a:r>
            <a:r>
              <a:rPr sz="1100" b="1" dirty="0">
                <a:latin typeface="Georgia"/>
                <a:cs typeface="Georgia"/>
              </a:rPr>
              <a:t>deal</a:t>
            </a:r>
            <a:r>
              <a:rPr sz="1100" b="1" spc="30" dirty="0">
                <a:latin typeface="Georgia"/>
                <a:cs typeface="Georgia"/>
              </a:rPr>
              <a:t> </a:t>
            </a:r>
            <a:r>
              <a:rPr sz="1100" b="1" dirty="0">
                <a:latin typeface="Georgia"/>
                <a:cs typeface="Georgia"/>
              </a:rPr>
              <a:t>with</a:t>
            </a:r>
            <a:r>
              <a:rPr sz="1100" b="1" spc="35" dirty="0">
                <a:latin typeface="Georgia"/>
                <a:cs typeface="Georgia"/>
              </a:rPr>
              <a:t> </a:t>
            </a:r>
            <a:r>
              <a:rPr sz="1100" b="1" spc="-40" dirty="0">
                <a:latin typeface="Georgia"/>
                <a:cs typeface="Georgia"/>
              </a:rPr>
              <a:t>different</a:t>
            </a:r>
            <a:r>
              <a:rPr sz="1100" b="1" spc="30" dirty="0">
                <a:latin typeface="Georgia"/>
                <a:cs typeface="Georgia"/>
              </a:rPr>
              <a:t> </a:t>
            </a:r>
            <a:r>
              <a:rPr sz="1100" b="1" dirty="0">
                <a:latin typeface="Georgia"/>
                <a:cs typeface="Georgia"/>
              </a:rPr>
              <a:t>types</a:t>
            </a:r>
            <a:r>
              <a:rPr sz="1100" b="1" spc="30" dirty="0">
                <a:latin typeface="Georgia"/>
                <a:cs typeface="Georgia"/>
              </a:rPr>
              <a:t> </a:t>
            </a:r>
            <a:r>
              <a:rPr sz="1100" b="1" dirty="0">
                <a:latin typeface="Georgia"/>
                <a:cs typeface="Georgia"/>
              </a:rPr>
              <a:t>of</a:t>
            </a:r>
            <a:r>
              <a:rPr sz="1100" b="1" spc="30" dirty="0">
                <a:latin typeface="Georgia"/>
                <a:cs typeface="Georgia"/>
              </a:rPr>
              <a:t> </a:t>
            </a:r>
            <a:r>
              <a:rPr sz="1100" b="1" spc="-10" dirty="0">
                <a:latin typeface="Georgia"/>
                <a:cs typeface="Georgia"/>
              </a:rPr>
              <a:t>attributes</a:t>
            </a:r>
            <a:r>
              <a:rPr sz="1100" spc="-10" dirty="0">
                <a:latin typeface="Georgia"/>
                <a:cs typeface="Georgia"/>
              </a:rPr>
              <a:t>:</a:t>
            </a:r>
            <a:r>
              <a:rPr sz="1100" spc="90" dirty="0">
                <a:latin typeface="Georgia"/>
                <a:cs typeface="Georgia"/>
              </a:rPr>
              <a:t> </a:t>
            </a:r>
            <a:r>
              <a:rPr sz="1100" spc="-20" dirty="0">
                <a:latin typeface="Georgia"/>
                <a:cs typeface="Georgia"/>
              </a:rPr>
              <a:t>clustering</a:t>
            </a:r>
            <a:r>
              <a:rPr sz="1100" spc="5" dirty="0">
                <a:latin typeface="Georgia"/>
                <a:cs typeface="Georgia"/>
              </a:rPr>
              <a:t> </a:t>
            </a:r>
            <a:r>
              <a:rPr sz="1100" spc="-20" dirty="0">
                <a:latin typeface="Georgia"/>
                <a:cs typeface="Georgia"/>
              </a:rPr>
              <a:t>algorithms</a:t>
            </a:r>
            <a:r>
              <a:rPr sz="1100" spc="5" dirty="0">
                <a:latin typeface="Georgia"/>
                <a:cs typeface="Georgia"/>
              </a:rPr>
              <a:t> </a:t>
            </a:r>
            <a:r>
              <a:rPr sz="1100" spc="-25" dirty="0">
                <a:latin typeface="Georgia"/>
                <a:cs typeface="Georgia"/>
              </a:rPr>
              <a:t>can </a:t>
            </a:r>
            <a:r>
              <a:rPr sz="1100" spc="-10" dirty="0">
                <a:latin typeface="Georgia"/>
                <a:cs typeface="Georgia"/>
              </a:rPr>
              <a:t>work</a:t>
            </a:r>
            <a:r>
              <a:rPr sz="1100" spc="-5" dirty="0">
                <a:latin typeface="Georgia"/>
                <a:cs typeface="Georgia"/>
              </a:rPr>
              <a:t> </a:t>
            </a:r>
            <a:r>
              <a:rPr sz="1100" dirty="0">
                <a:latin typeface="Georgia"/>
                <a:cs typeface="Georgia"/>
              </a:rPr>
              <a:t>with </a:t>
            </a:r>
            <a:r>
              <a:rPr sz="1100" spc="-30" dirty="0">
                <a:latin typeface="Georgia"/>
                <a:cs typeface="Georgia"/>
              </a:rPr>
              <a:t>different</a:t>
            </a:r>
            <a:r>
              <a:rPr sz="1100" dirty="0">
                <a:latin typeface="Georgia"/>
                <a:cs typeface="Georgia"/>
              </a:rPr>
              <a:t> data types</a:t>
            </a:r>
            <a:r>
              <a:rPr sz="1100" spc="-5" dirty="0">
                <a:latin typeface="Georgia"/>
                <a:cs typeface="Georgia"/>
              </a:rPr>
              <a:t> </a:t>
            </a:r>
            <a:r>
              <a:rPr sz="1100" dirty="0">
                <a:latin typeface="Georgia"/>
                <a:cs typeface="Georgia"/>
              </a:rPr>
              <a:t>like </a:t>
            </a:r>
            <a:r>
              <a:rPr sz="1100" spc="-10" dirty="0">
                <a:latin typeface="Georgia"/>
                <a:cs typeface="Georgia"/>
              </a:rPr>
              <a:t>binary,</a:t>
            </a:r>
            <a:r>
              <a:rPr sz="1100" dirty="0">
                <a:latin typeface="Georgia"/>
                <a:cs typeface="Georgia"/>
              </a:rPr>
              <a:t> </a:t>
            </a:r>
            <a:r>
              <a:rPr sz="1100" spc="-25" dirty="0">
                <a:latin typeface="Georgia"/>
                <a:cs typeface="Georgia"/>
              </a:rPr>
              <a:t>nominal</a:t>
            </a:r>
            <a:r>
              <a:rPr sz="1100" dirty="0">
                <a:latin typeface="Georgia"/>
                <a:cs typeface="Georgia"/>
              </a:rPr>
              <a:t> </a:t>
            </a:r>
            <a:r>
              <a:rPr sz="1100" spc="-10" dirty="0">
                <a:latin typeface="Georgia"/>
                <a:cs typeface="Georgia"/>
              </a:rPr>
              <a:t>(categorical),</a:t>
            </a:r>
            <a:r>
              <a:rPr sz="1100" dirty="0">
                <a:latin typeface="Georgia"/>
                <a:cs typeface="Georgia"/>
              </a:rPr>
              <a:t> </a:t>
            </a:r>
            <a:r>
              <a:rPr sz="1100" spc="-10" dirty="0">
                <a:latin typeface="Georgia"/>
                <a:cs typeface="Georgia"/>
              </a:rPr>
              <a:t>ordinal,</a:t>
            </a:r>
            <a:r>
              <a:rPr sz="1100" spc="-5" dirty="0">
                <a:latin typeface="Georgia"/>
                <a:cs typeface="Georgia"/>
              </a:rPr>
              <a:t> </a:t>
            </a:r>
            <a:r>
              <a:rPr sz="1100" spc="-10" dirty="0">
                <a:latin typeface="Georgia"/>
                <a:cs typeface="Georgia"/>
              </a:rPr>
              <a:t>numeric, </a:t>
            </a:r>
            <a:r>
              <a:rPr sz="1100" dirty="0">
                <a:latin typeface="Georgia"/>
                <a:cs typeface="Georgia"/>
              </a:rPr>
              <a:t>or</a:t>
            </a:r>
            <a:r>
              <a:rPr sz="1100" spc="20" dirty="0">
                <a:latin typeface="Georgia"/>
                <a:cs typeface="Georgia"/>
              </a:rPr>
              <a:t> </a:t>
            </a:r>
            <a:r>
              <a:rPr sz="1100" spc="-20" dirty="0">
                <a:latin typeface="Georgia"/>
                <a:cs typeface="Georgia"/>
              </a:rPr>
              <a:t>mixtures</a:t>
            </a:r>
            <a:r>
              <a:rPr sz="1100" spc="25" dirty="0">
                <a:latin typeface="Georgia"/>
                <a:cs typeface="Georgia"/>
              </a:rPr>
              <a:t> </a:t>
            </a:r>
            <a:r>
              <a:rPr sz="1100" dirty="0">
                <a:latin typeface="Georgia"/>
                <a:cs typeface="Georgia"/>
              </a:rPr>
              <a:t>of</a:t>
            </a:r>
            <a:r>
              <a:rPr sz="1100" spc="25" dirty="0">
                <a:latin typeface="Georgia"/>
                <a:cs typeface="Georgia"/>
              </a:rPr>
              <a:t> </a:t>
            </a:r>
            <a:r>
              <a:rPr sz="1100" spc="-10" dirty="0">
                <a:latin typeface="Georgia"/>
                <a:cs typeface="Georgia"/>
              </a:rPr>
              <a:t>those</a:t>
            </a:r>
            <a:r>
              <a:rPr sz="1100" spc="25" dirty="0">
                <a:latin typeface="Georgia"/>
                <a:cs typeface="Georgia"/>
              </a:rPr>
              <a:t> </a:t>
            </a:r>
            <a:r>
              <a:rPr sz="1100" dirty="0">
                <a:latin typeface="Georgia"/>
                <a:cs typeface="Georgia"/>
              </a:rPr>
              <a:t>data</a:t>
            </a:r>
            <a:r>
              <a:rPr sz="1100" spc="25" dirty="0">
                <a:latin typeface="Georgia"/>
                <a:cs typeface="Georgia"/>
              </a:rPr>
              <a:t> </a:t>
            </a:r>
            <a:r>
              <a:rPr sz="1100" spc="-10" dirty="0">
                <a:latin typeface="Georgia"/>
                <a:cs typeface="Georgia"/>
              </a:rPr>
              <a:t>types.</a:t>
            </a:r>
            <a:endParaRPr sz="1100">
              <a:latin typeface="Georgia"/>
              <a:cs typeface="Georgia"/>
            </a:endParaRPr>
          </a:p>
          <a:p>
            <a:pPr marL="12700" marR="5080">
              <a:lnSpc>
                <a:spcPts val="1150"/>
              </a:lnSpc>
              <a:spcBef>
                <a:spcPts val="730"/>
              </a:spcBef>
            </a:pPr>
            <a:r>
              <a:rPr sz="1100" b="1" spc="-30" dirty="0">
                <a:latin typeface="Georgia"/>
                <a:cs typeface="Georgia"/>
              </a:rPr>
              <a:t>Discovery</a:t>
            </a:r>
            <a:r>
              <a:rPr sz="1100" b="1" spc="35" dirty="0">
                <a:latin typeface="Georgia"/>
                <a:cs typeface="Georgia"/>
              </a:rPr>
              <a:t> </a:t>
            </a:r>
            <a:r>
              <a:rPr sz="1100" b="1" dirty="0">
                <a:latin typeface="Georgia"/>
                <a:cs typeface="Georgia"/>
              </a:rPr>
              <a:t>of</a:t>
            </a:r>
            <a:r>
              <a:rPr sz="1100" b="1" spc="35" dirty="0">
                <a:latin typeface="Georgia"/>
                <a:cs typeface="Georgia"/>
              </a:rPr>
              <a:t> </a:t>
            </a:r>
            <a:r>
              <a:rPr sz="1100" b="1" spc="-35" dirty="0">
                <a:latin typeface="Georgia"/>
                <a:cs typeface="Georgia"/>
              </a:rPr>
              <a:t>clusters</a:t>
            </a:r>
            <a:r>
              <a:rPr sz="1100" b="1" spc="40" dirty="0">
                <a:latin typeface="Georgia"/>
                <a:cs typeface="Georgia"/>
              </a:rPr>
              <a:t> </a:t>
            </a:r>
            <a:r>
              <a:rPr sz="1100" b="1" dirty="0">
                <a:latin typeface="Georgia"/>
                <a:cs typeface="Georgia"/>
              </a:rPr>
              <a:t>with</a:t>
            </a:r>
            <a:r>
              <a:rPr sz="1100" b="1" spc="35" dirty="0">
                <a:latin typeface="Georgia"/>
                <a:cs typeface="Georgia"/>
              </a:rPr>
              <a:t> </a:t>
            </a:r>
            <a:r>
              <a:rPr sz="1100" b="1" spc="-25" dirty="0">
                <a:latin typeface="Georgia"/>
                <a:cs typeface="Georgia"/>
              </a:rPr>
              <a:t>arbitrary</a:t>
            </a:r>
            <a:r>
              <a:rPr sz="1100" b="1" spc="40" dirty="0">
                <a:latin typeface="Georgia"/>
                <a:cs typeface="Georgia"/>
              </a:rPr>
              <a:t> </a:t>
            </a:r>
            <a:r>
              <a:rPr sz="1100" b="1" spc="-30" dirty="0">
                <a:latin typeface="Georgia"/>
                <a:cs typeface="Georgia"/>
              </a:rPr>
              <a:t>shape</a:t>
            </a:r>
            <a:r>
              <a:rPr sz="1100" spc="-30" dirty="0">
                <a:latin typeface="Georgia"/>
                <a:cs typeface="Georgia"/>
              </a:rPr>
              <a:t>:</a:t>
            </a:r>
            <a:r>
              <a:rPr sz="1100" spc="95" dirty="0">
                <a:latin typeface="Georgia"/>
                <a:cs typeface="Georgia"/>
              </a:rPr>
              <a:t> </a:t>
            </a:r>
            <a:r>
              <a:rPr sz="1100" spc="-25" dirty="0">
                <a:latin typeface="Georgia"/>
                <a:cs typeface="Georgia"/>
              </a:rPr>
              <a:t>algorithms</a:t>
            </a:r>
            <a:r>
              <a:rPr sz="1100" spc="10" dirty="0">
                <a:latin typeface="Georgia"/>
                <a:cs typeface="Georgia"/>
              </a:rPr>
              <a:t> </a:t>
            </a:r>
            <a:r>
              <a:rPr sz="1100" spc="-10" dirty="0">
                <a:latin typeface="Georgia"/>
                <a:cs typeface="Georgia"/>
              </a:rPr>
              <a:t>based</a:t>
            </a:r>
            <a:r>
              <a:rPr sz="1100" spc="10" dirty="0">
                <a:latin typeface="Georgia"/>
                <a:cs typeface="Georgia"/>
              </a:rPr>
              <a:t> </a:t>
            </a:r>
            <a:r>
              <a:rPr sz="1100" dirty="0">
                <a:latin typeface="Georgia"/>
                <a:cs typeface="Georgia"/>
              </a:rPr>
              <a:t>on</a:t>
            </a:r>
            <a:r>
              <a:rPr sz="1100" spc="10" dirty="0">
                <a:latin typeface="Georgia"/>
                <a:cs typeface="Georgia"/>
              </a:rPr>
              <a:t> </a:t>
            </a:r>
            <a:r>
              <a:rPr sz="1100" spc="-20" dirty="0">
                <a:latin typeface="Georgia"/>
                <a:cs typeface="Georgia"/>
              </a:rPr>
              <a:t>such</a:t>
            </a:r>
            <a:r>
              <a:rPr sz="1100" spc="10" dirty="0">
                <a:latin typeface="Georgia"/>
                <a:cs typeface="Georgia"/>
              </a:rPr>
              <a:t> </a:t>
            </a:r>
            <a:r>
              <a:rPr sz="1100" spc="-10" dirty="0">
                <a:latin typeface="Georgia"/>
                <a:cs typeface="Georgia"/>
              </a:rPr>
              <a:t>distance </a:t>
            </a:r>
            <a:r>
              <a:rPr sz="1100" spc="-40" dirty="0">
                <a:latin typeface="Georgia"/>
                <a:cs typeface="Georgia"/>
              </a:rPr>
              <a:t>measures</a:t>
            </a:r>
            <a:r>
              <a:rPr sz="1100" spc="20" dirty="0">
                <a:latin typeface="Georgia"/>
                <a:cs typeface="Georgia"/>
              </a:rPr>
              <a:t> </a:t>
            </a:r>
            <a:r>
              <a:rPr sz="1100" dirty="0">
                <a:latin typeface="Georgia"/>
                <a:cs typeface="Georgia"/>
              </a:rPr>
              <a:t>tend</a:t>
            </a:r>
            <a:r>
              <a:rPr sz="1100" spc="25" dirty="0">
                <a:latin typeface="Georgia"/>
                <a:cs typeface="Georgia"/>
              </a:rPr>
              <a:t> </a:t>
            </a:r>
            <a:r>
              <a:rPr sz="1100" dirty="0">
                <a:latin typeface="Georgia"/>
                <a:cs typeface="Georgia"/>
              </a:rPr>
              <a:t>to</a:t>
            </a:r>
            <a:r>
              <a:rPr sz="1100" spc="25" dirty="0">
                <a:latin typeface="Georgia"/>
                <a:cs typeface="Georgia"/>
              </a:rPr>
              <a:t> </a:t>
            </a:r>
            <a:r>
              <a:rPr sz="1100" spc="-20" dirty="0">
                <a:latin typeface="Georgia"/>
                <a:cs typeface="Georgia"/>
              </a:rPr>
              <a:t>find</a:t>
            </a:r>
            <a:r>
              <a:rPr sz="1100" spc="20" dirty="0">
                <a:latin typeface="Georgia"/>
                <a:cs typeface="Georgia"/>
              </a:rPr>
              <a:t> </a:t>
            </a:r>
            <a:r>
              <a:rPr sz="1100" b="1" spc="-50" dirty="0">
                <a:latin typeface="Georgia"/>
                <a:cs typeface="Georgia"/>
              </a:rPr>
              <a:t>spherical</a:t>
            </a:r>
            <a:r>
              <a:rPr sz="1100" b="1" spc="10" dirty="0">
                <a:latin typeface="Georgia"/>
                <a:cs typeface="Georgia"/>
              </a:rPr>
              <a:t> </a:t>
            </a:r>
            <a:r>
              <a:rPr sz="1100" spc="-20" dirty="0">
                <a:latin typeface="Georgia"/>
                <a:cs typeface="Georgia"/>
              </a:rPr>
              <a:t>clusters</a:t>
            </a:r>
            <a:r>
              <a:rPr sz="1100" spc="25" dirty="0">
                <a:latin typeface="Georgia"/>
                <a:cs typeface="Georgia"/>
              </a:rPr>
              <a:t> </a:t>
            </a:r>
            <a:r>
              <a:rPr sz="1100" dirty="0">
                <a:latin typeface="Georgia"/>
                <a:cs typeface="Georgia"/>
              </a:rPr>
              <a:t>with</a:t>
            </a:r>
            <a:r>
              <a:rPr sz="1100" spc="20" dirty="0">
                <a:latin typeface="Georgia"/>
                <a:cs typeface="Georgia"/>
              </a:rPr>
              <a:t> </a:t>
            </a:r>
            <a:r>
              <a:rPr sz="1100" spc="-25" dirty="0">
                <a:latin typeface="Georgia"/>
                <a:cs typeface="Georgia"/>
              </a:rPr>
              <a:t>similar</a:t>
            </a:r>
            <a:r>
              <a:rPr sz="1100" spc="25" dirty="0">
                <a:latin typeface="Georgia"/>
                <a:cs typeface="Georgia"/>
              </a:rPr>
              <a:t> </a:t>
            </a:r>
            <a:r>
              <a:rPr sz="1100" spc="-10" dirty="0">
                <a:latin typeface="Georgia"/>
                <a:cs typeface="Georgia"/>
              </a:rPr>
              <a:t>size</a:t>
            </a:r>
            <a:r>
              <a:rPr sz="1100" spc="25" dirty="0">
                <a:latin typeface="Georgia"/>
                <a:cs typeface="Georgia"/>
              </a:rPr>
              <a:t> </a:t>
            </a:r>
            <a:r>
              <a:rPr sz="1100" dirty="0">
                <a:latin typeface="Georgia"/>
                <a:cs typeface="Georgia"/>
              </a:rPr>
              <a:t>and</a:t>
            </a:r>
            <a:r>
              <a:rPr sz="1100" spc="20" dirty="0">
                <a:latin typeface="Georgia"/>
                <a:cs typeface="Georgia"/>
              </a:rPr>
              <a:t> </a:t>
            </a:r>
            <a:r>
              <a:rPr sz="1100" spc="-20" dirty="0">
                <a:latin typeface="Georgia"/>
                <a:cs typeface="Georgia"/>
              </a:rPr>
              <a:t>density.</a:t>
            </a:r>
            <a:r>
              <a:rPr sz="1100" spc="120" dirty="0">
                <a:latin typeface="Georgia"/>
                <a:cs typeface="Georgia"/>
              </a:rPr>
              <a:t> </a:t>
            </a:r>
            <a:r>
              <a:rPr sz="1100" spc="-40" dirty="0">
                <a:latin typeface="Georgia"/>
                <a:cs typeface="Georgia"/>
              </a:rPr>
              <a:t>However,</a:t>
            </a:r>
            <a:r>
              <a:rPr sz="1100" spc="20" dirty="0">
                <a:latin typeface="Georgia"/>
                <a:cs typeface="Georgia"/>
              </a:rPr>
              <a:t> </a:t>
            </a:r>
            <a:r>
              <a:rPr sz="1100" spc="-50" dirty="0">
                <a:latin typeface="Georgia"/>
                <a:cs typeface="Georgia"/>
              </a:rPr>
              <a:t>a </a:t>
            </a:r>
            <a:r>
              <a:rPr sz="1100" spc="-10" dirty="0">
                <a:latin typeface="Georgia"/>
                <a:cs typeface="Georgia"/>
              </a:rPr>
              <a:t>cluster</a:t>
            </a:r>
            <a:r>
              <a:rPr sz="1100" spc="30" dirty="0">
                <a:latin typeface="Georgia"/>
                <a:cs typeface="Georgia"/>
              </a:rPr>
              <a:t> </a:t>
            </a:r>
            <a:r>
              <a:rPr sz="1100" spc="-10" dirty="0">
                <a:latin typeface="Georgia"/>
                <a:cs typeface="Georgia"/>
              </a:rPr>
              <a:t>could</a:t>
            </a:r>
            <a:r>
              <a:rPr sz="1100" spc="35" dirty="0">
                <a:latin typeface="Georgia"/>
                <a:cs typeface="Georgia"/>
              </a:rPr>
              <a:t> </a:t>
            </a:r>
            <a:r>
              <a:rPr sz="1100" dirty="0">
                <a:latin typeface="Georgia"/>
                <a:cs typeface="Georgia"/>
              </a:rPr>
              <a:t>be</a:t>
            </a:r>
            <a:r>
              <a:rPr sz="1100" spc="35" dirty="0">
                <a:latin typeface="Georgia"/>
                <a:cs typeface="Georgia"/>
              </a:rPr>
              <a:t> </a:t>
            </a:r>
            <a:r>
              <a:rPr sz="1100" dirty="0">
                <a:latin typeface="Georgia"/>
                <a:cs typeface="Georgia"/>
              </a:rPr>
              <a:t>of</a:t>
            </a:r>
            <a:r>
              <a:rPr sz="1100" spc="35" dirty="0">
                <a:latin typeface="Georgia"/>
                <a:cs typeface="Georgia"/>
              </a:rPr>
              <a:t> </a:t>
            </a:r>
            <a:r>
              <a:rPr sz="1100" dirty="0">
                <a:latin typeface="Georgia"/>
                <a:cs typeface="Georgia"/>
              </a:rPr>
              <a:t>any</a:t>
            </a:r>
            <a:r>
              <a:rPr sz="1100" spc="35" dirty="0">
                <a:latin typeface="Georgia"/>
                <a:cs typeface="Georgia"/>
              </a:rPr>
              <a:t> </a:t>
            </a:r>
            <a:r>
              <a:rPr sz="1100" dirty="0">
                <a:latin typeface="Georgia"/>
                <a:cs typeface="Georgia"/>
              </a:rPr>
              <a:t>shape.</a:t>
            </a:r>
            <a:r>
              <a:rPr sz="1100" spc="130" dirty="0">
                <a:latin typeface="Georgia"/>
                <a:cs typeface="Georgia"/>
              </a:rPr>
              <a:t> </a:t>
            </a:r>
            <a:r>
              <a:rPr sz="1100" dirty="0">
                <a:latin typeface="Georgia"/>
                <a:cs typeface="Georgia"/>
              </a:rPr>
              <a:t>It</a:t>
            </a:r>
            <a:r>
              <a:rPr sz="1100" spc="35" dirty="0">
                <a:latin typeface="Georgia"/>
                <a:cs typeface="Georgia"/>
              </a:rPr>
              <a:t> </a:t>
            </a:r>
            <a:r>
              <a:rPr sz="1100" dirty="0">
                <a:latin typeface="Georgia"/>
                <a:cs typeface="Georgia"/>
              </a:rPr>
              <a:t>is</a:t>
            </a:r>
            <a:r>
              <a:rPr sz="1100" spc="35" dirty="0">
                <a:latin typeface="Georgia"/>
                <a:cs typeface="Georgia"/>
              </a:rPr>
              <a:t> </a:t>
            </a:r>
            <a:r>
              <a:rPr sz="1100" spc="-10" dirty="0">
                <a:latin typeface="Georgia"/>
                <a:cs typeface="Georgia"/>
              </a:rPr>
              <a:t>important</a:t>
            </a:r>
            <a:r>
              <a:rPr sz="1100" spc="35" dirty="0">
                <a:latin typeface="Georgia"/>
                <a:cs typeface="Georgia"/>
              </a:rPr>
              <a:t> </a:t>
            </a:r>
            <a:r>
              <a:rPr sz="1100" dirty="0">
                <a:latin typeface="Georgia"/>
                <a:cs typeface="Georgia"/>
              </a:rPr>
              <a:t>to</a:t>
            </a:r>
            <a:r>
              <a:rPr sz="1100" spc="35" dirty="0">
                <a:latin typeface="Georgia"/>
                <a:cs typeface="Georgia"/>
              </a:rPr>
              <a:t> </a:t>
            </a:r>
            <a:r>
              <a:rPr sz="1100" spc="-25" dirty="0">
                <a:latin typeface="Georgia"/>
                <a:cs typeface="Georgia"/>
              </a:rPr>
              <a:t>develop</a:t>
            </a:r>
            <a:r>
              <a:rPr sz="1100" spc="35" dirty="0">
                <a:latin typeface="Georgia"/>
                <a:cs typeface="Georgia"/>
              </a:rPr>
              <a:t> </a:t>
            </a:r>
            <a:r>
              <a:rPr sz="1100" spc="-25" dirty="0">
                <a:latin typeface="Georgia"/>
                <a:cs typeface="Georgia"/>
              </a:rPr>
              <a:t>algorithms</a:t>
            </a:r>
            <a:r>
              <a:rPr sz="1100" spc="30" dirty="0">
                <a:latin typeface="Georgia"/>
                <a:cs typeface="Georgia"/>
              </a:rPr>
              <a:t> </a:t>
            </a:r>
            <a:r>
              <a:rPr sz="1100" dirty="0">
                <a:latin typeface="Georgia"/>
                <a:cs typeface="Georgia"/>
              </a:rPr>
              <a:t>that</a:t>
            </a:r>
            <a:r>
              <a:rPr sz="1100" spc="35" dirty="0">
                <a:latin typeface="Georgia"/>
                <a:cs typeface="Georgia"/>
              </a:rPr>
              <a:t> </a:t>
            </a:r>
            <a:r>
              <a:rPr sz="1100" dirty="0">
                <a:latin typeface="Georgia"/>
                <a:cs typeface="Georgia"/>
              </a:rPr>
              <a:t>can</a:t>
            </a:r>
            <a:r>
              <a:rPr sz="1100" spc="35" dirty="0">
                <a:latin typeface="Georgia"/>
                <a:cs typeface="Georgia"/>
              </a:rPr>
              <a:t> </a:t>
            </a:r>
            <a:r>
              <a:rPr sz="1100" spc="-10" dirty="0">
                <a:latin typeface="Georgia"/>
                <a:cs typeface="Georgia"/>
              </a:rPr>
              <a:t>detect </a:t>
            </a:r>
            <a:r>
              <a:rPr sz="1100" spc="-20" dirty="0">
                <a:latin typeface="Georgia"/>
                <a:cs typeface="Georgia"/>
              </a:rPr>
              <a:t>clusters</a:t>
            </a:r>
            <a:r>
              <a:rPr sz="1100" spc="15" dirty="0">
                <a:latin typeface="Georgia"/>
                <a:cs typeface="Georgia"/>
              </a:rPr>
              <a:t> </a:t>
            </a:r>
            <a:r>
              <a:rPr sz="1100" dirty="0">
                <a:latin typeface="Georgia"/>
                <a:cs typeface="Georgia"/>
              </a:rPr>
              <a:t>of</a:t>
            </a:r>
            <a:r>
              <a:rPr sz="1100" spc="15" dirty="0">
                <a:latin typeface="Georgia"/>
                <a:cs typeface="Georgia"/>
              </a:rPr>
              <a:t> </a:t>
            </a:r>
            <a:r>
              <a:rPr sz="1100" dirty="0">
                <a:latin typeface="Georgia"/>
                <a:cs typeface="Georgia"/>
              </a:rPr>
              <a:t>arbitrary</a:t>
            </a:r>
            <a:r>
              <a:rPr sz="1100" spc="15" dirty="0">
                <a:latin typeface="Georgia"/>
                <a:cs typeface="Georgia"/>
              </a:rPr>
              <a:t> </a:t>
            </a:r>
            <a:r>
              <a:rPr sz="1100" spc="-10" dirty="0">
                <a:latin typeface="Georgia"/>
                <a:cs typeface="Georgia"/>
              </a:rPr>
              <a:t>shape.</a:t>
            </a:r>
            <a:endParaRPr sz="1100">
              <a:latin typeface="Georgia"/>
              <a:cs typeface="Georgia"/>
            </a:endParaRPr>
          </a:p>
          <a:p>
            <a:pPr marL="12700" marR="120014">
              <a:lnSpc>
                <a:spcPts val="1150"/>
              </a:lnSpc>
              <a:spcBef>
                <a:spcPts val="730"/>
              </a:spcBef>
            </a:pPr>
            <a:r>
              <a:rPr sz="1100" b="1" spc="-45" dirty="0">
                <a:latin typeface="Georgia"/>
                <a:cs typeface="Georgia"/>
              </a:rPr>
              <a:t>Requirements</a:t>
            </a:r>
            <a:r>
              <a:rPr sz="1100" b="1" spc="50" dirty="0">
                <a:latin typeface="Georgia"/>
                <a:cs typeface="Georgia"/>
              </a:rPr>
              <a:t> </a:t>
            </a:r>
            <a:r>
              <a:rPr sz="1100" b="1" spc="-30" dirty="0">
                <a:latin typeface="Georgia"/>
                <a:cs typeface="Georgia"/>
              </a:rPr>
              <a:t>for</a:t>
            </a:r>
            <a:r>
              <a:rPr sz="1100" b="1" spc="50" dirty="0">
                <a:latin typeface="Georgia"/>
                <a:cs typeface="Georgia"/>
              </a:rPr>
              <a:t> </a:t>
            </a:r>
            <a:r>
              <a:rPr sz="1100" b="1" spc="-45" dirty="0">
                <a:latin typeface="Georgia"/>
                <a:cs typeface="Georgia"/>
              </a:rPr>
              <a:t>domain</a:t>
            </a:r>
            <a:r>
              <a:rPr sz="1100" b="1" spc="50" dirty="0">
                <a:latin typeface="Georgia"/>
                <a:cs typeface="Georgia"/>
              </a:rPr>
              <a:t> </a:t>
            </a:r>
            <a:r>
              <a:rPr sz="1100" b="1" spc="-50" dirty="0">
                <a:latin typeface="Georgia"/>
                <a:cs typeface="Georgia"/>
              </a:rPr>
              <a:t>knowledge</a:t>
            </a:r>
            <a:r>
              <a:rPr sz="1100" b="1" spc="50" dirty="0">
                <a:latin typeface="Georgia"/>
                <a:cs typeface="Georgia"/>
              </a:rPr>
              <a:t> </a:t>
            </a:r>
            <a:r>
              <a:rPr sz="1100" b="1" dirty="0">
                <a:latin typeface="Georgia"/>
                <a:cs typeface="Georgia"/>
              </a:rPr>
              <a:t>to</a:t>
            </a:r>
            <a:r>
              <a:rPr sz="1100" b="1" spc="50" dirty="0">
                <a:latin typeface="Georgia"/>
                <a:cs typeface="Georgia"/>
              </a:rPr>
              <a:t> </a:t>
            </a:r>
            <a:r>
              <a:rPr sz="1100" b="1" spc="-40" dirty="0">
                <a:latin typeface="Georgia"/>
                <a:cs typeface="Georgia"/>
              </a:rPr>
              <a:t>determine</a:t>
            </a:r>
            <a:r>
              <a:rPr sz="1100" b="1" spc="50" dirty="0">
                <a:latin typeface="Georgia"/>
                <a:cs typeface="Georgia"/>
              </a:rPr>
              <a:t> </a:t>
            </a:r>
            <a:r>
              <a:rPr sz="1100" b="1" spc="-10" dirty="0">
                <a:latin typeface="Georgia"/>
                <a:cs typeface="Georgia"/>
              </a:rPr>
              <a:t>input</a:t>
            </a:r>
            <a:r>
              <a:rPr sz="1100" b="1" spc="50" dirty="0">
                <a:latin typeface="Georgia"/>
                <a:cs typeface="Georgia"/>
              </a:rPr>
              <a:t> </a:t>
            </a:r>
            <a:r>
              <a:rPr sz="1100" b="1" spc="-10" dirty="0">
                <a:latin typeface="Georgia"/>
                <a:cs typeface="Georgia"/>
              </a:rPr>
              <a:t>parameters</a:t>
            </a:r>
            <a:r>
              <a:rPr sz="1100" spc="-10" dirty="0">
                <a:latin typeface="Georgia"/>
                <a:cs typeface="Georgia"/>
              </a:rPr>
              <a:t>: </a:t>
            </a:r>
            <a:r>
              <a:rPr sz="1100" spc="-20" dirty="0">
                <a:latin typeface="Georgia"/>
                <a:cs typeface="Georgia"/>
              </a:rPr>
              <a:t>clustering</a:t>
            </a:r>
            <a:r>
              <a:rPr sz="1100" spc="25" dirty="0">
                <a:latin typeface="Georgia"/>
                <a:cs typeface="Georgia"/>
              </a:rPr>
              <a:t> </a:t>
            </a:r>
            <a:r>
              <a:rPr sz="1100" spc="-25" dirty="0">
                <a:latin typeface="Georgia"/>
                <a:cs typeface="Georgia"/>
              </a:rPr>
              <a:t>should</a:t>
            </a:r>
            <a:r>
              <a:rPr sz="1100" spc="25" dirty="0">
                <a:latin typeface="Georgia"/>
                <a:cs typeface="Georgia"/>
              </a:rPr>
              <a:t> </a:t>
            </a:r>
            <a:r>
              <a:rPr sz="1100" dirty="0">
                <a:latin typeface="Georgia"/>
                <a:cs typeface="Georgia"/>
              </a:rPr>
              <a:t>be</a:t>
            </a:r>
            <a:r>
              <a:rPr sz="1100" spc="25" dirty="0">
                <a:latin typeface="Georgia"/>
                <a:cs typeface="Georgia"/>
              </a:rPr>
              <a:t> </a:t>
            </a:r>
            <a:r>
              <a:rPr sz="1100" dirty="0">
                <a:latin typeface="Georgia"/>
                <a:cs typeface="Georgia"/>
              </a:rPr>
              <a:t>as</a:t>
            </a:r>
            <a:r>
              <a:rPr sz="1100" spc="25" dirty="0">
                <a:latin typeface="Georgia"/>
                <a:cs typeface="Georgia"/>
              </a:rPr>
              <a:t> </a:t>
            </a:r>
            <a:r>
              <a:rPr sz="1100" spc="-10" dirty="0">
                <a:latin typeface="Georgia"/>
                <a:cs typeface="Georgia"/>
              </a:rPr>
              <a:t>automatic</a:t>
            </a:r>
            <a:r>
              <a:rPr sz="1100" spc="25" dirty="0">
                <a:latin typeface="Georgia"/>
                <a:cs typeface="Georgia"/>
              </a:rPr>
              <a:t> </a:t>
            </a:r>
            <a:r>
              <a:rPr sz="1100" dirty="0">
                <a:latin typeface="Georgia"/>
                <a:cs typeface="Georgia"/>
              </a:rPr>
              <a:t>as</a:t>
            </a:r>
            <a:r>
              <a:rPr sz="1100" spc="25" dirty="0">
                <a:latin typeface="Georgia"/>
                <a:cs typeface="Georgia"/>
              </a:rPr>
              <a:t> </a:t>
            </a:r>
            <a:r>
              <a:rPr sz="1100" spc="-20" dirty="0">
                <a:latin typeface="Georgia"/>
                <a:cs typeface="Georgia"/>
              </a:rPr>
              <a:t>possible,</a:t>
            </a:r>
            <a:r>
              <a:rPr sz="1100" spc="25" dirty="0">
                <a:latin typeface="Georgia"/>
                <a:cs typeface="Georgia"/>
              </a:rPr>
              <a:t> </a:t>
            </a:r>
            <a:r>
              <a:rPr sz="1100" spc="-20" dirty="0">
                <a:latin typeface="Georgia"/>
                <a:cs typeface="Georgia"/>
              </a:rPr>
              <a:t>voiding</a:t>
            </a:r>
            <a:r>
              <a:rPr sz="1100" spc="25" dirty="0">
                <a:latin typeface="Georgia"/>
                <a:cs typeface="Georgia"/>
              </a:rPr>
              <a:t> </a:t>
            </a:r>
            <a:r>
              <a:rPr sz="1100" spc="-10" dirty="0">
                <a:latin typeface="Georgia"/>
                <a:cs typeface="Georgia"/>
              </a:rPr>
              <a:t>(biased)</a:t>
            </a:r>
            <a:r>
              <a:rPr sz="1100" spc="25" dirty="0">
                <a:latin typeface="Georgia"/>
                <a:cs typeface="Georgia"/>
              </a:rPr>
              <a:t> </a:t>
            </a:r>
            <a:r>
              <a:rPr sz="1100" spc="-30" dirty="0">
                <a:latin typeface="Georgia"/>
                <a:cs typeface="Georgia"/>
              </a:rPr>
              <a:t>domain</a:t>
            </a:r>
            <a:r>
              <a:rPr sz="1100" spc="25" dirty="0">
                <a:latin typeface="Georgia"/>
                <a:cs typeface="Georgia"/>
              </a:rPr>
              <a:t> </a:t>
            </a:r>
            <a:r>
              <a:rPr sz="1100" spc="-20" dirty="0">
                <a:latin typeface="Georgia"/>
                <a:cs typeface="Georgia"/>
              </a:rPr>
              <a:t>knowledge.</a:t>
            </a:r>
            <a:endParaRPr sz="1100">
              <a:latin typeface="Georgia"/>
              <a:cs typeface="Georgia"/>
            </a:endParaRPr>
          </a:p>
          <a:p>
            <a:pPr marL="12700" marR="8890">
              <a:lnSpc>
                <a:spcPts val="1150"/>
              </a:lnSpc>
              <a:spcBef>
                <a:spcPts val="730"/>
              </a:spcBef>
            </a:pPr>
            <a:r>
              <a:rPr sz="1100" b="1" dirty="0">
                <a:latin typeface="Georgia"/>
                <a:cs typeface="Georgia"/>
              </a:rPr>
              <a:t>Ability</a:t>
            </a:r>
            <a:r>
              <a:rPr sz="1100" b="1" spc="50" dirty="0">
                <a:latin typeface="Georgia"/>
                <a:cs typeface="Georgia"/>
              </a:rPr>
              <a:t> </a:t>
            </a:r>
            <a:r>
              <a:rPr sz="1100" b="1" dirty="0">
                <a:latin typeface="Georgia"/>
                <a:cs typeface="Georgia"/>
              </a:rPr>
              <a:t>to</a:t>
            </a:r>
            <a:r>
              <a:rPr sz="1100" b="1" spc="55" dirty="0">
                <a:latin typeface="Georgia"/>
                <a:cs typeface="Georgia"/>
              </a:rPr>
              <a:t> </a:t>
            </a:r>
            <a:r>
              <a:rPr sz="1100" b="1" spc="-10" dirty="0">
                <a:latin typeface="Georgia"/>
                <a:cs typeface="Georgia"/>
              </a:rPr>
              <a:t>deal</a:t>
            </a:r>
            <a:r>
              <a:rPr sz="1100" b="1" spc="55" dirty="0">
                <a:latin typeface="Georgia"/>
                <a:cs typeface="Georgia"/>
              </a:rPr>
              <a:t> </a:t>
            </a:r>
            <a:r>
              <a:rPr sz="1100" b="1" dirty="0">
                <a:latin typeface="Georgia"/>
                <a:cs typeface="Georgia"/>
              </a:rPr>
              <a:t>with</a:t>
            </a:r>
            <a:r>
              <a:rPr sz="1100" b="1" spc="55" dirty="0">
                <a:latin typeface="Georgia"/>
                <a:cs typeface="Georgia"/>
              </a:rPr>
              <a:t> </a:t>
            </a:r>
            <a:r>
              <a:rPr sz="1100" b="1" spc="-25" dirty="0">
                <a:latin typeface="Georgia"/>
                <a:cs typeface="Georgia"/>
              </a:rPr>
              <a:t>noisy</a:t>
            </a:r>
            <a:r>
              <a:rPr sz="1100" b="1" spc="55" dirty="0">
                <a:latin typeface="Georgia"/>
                <a:cs typeface="Georgia"/>
              </a:rPr>
              <a:t> </a:t>
            </a:r>
            <a:r>
              <a:rPr sz="1100" b="1" dirty="0">
                <a:latin typeface="Georgia"/>
                <a:cs typeface="Georgia"/>
              </a:rPr>
              <a:t>data</a:t>
            </a:r>
            <a:r>
              <a:rPr sz="1100" dirty="0">
                <a:latin typeface="Georgia"/>
                <a:cs typeface="Georgia"/>
              </a:rPr>
              <a:t>:</a:t>
            </a:r>
            <a:r>
              <a:rPr sz="1100" spc="120" dirty="0">
                <a:latin typeface="Georgia"/>
                <a:cs typeface="Georgia"/>
              </a:rPr>
              <a:t> </a:t>
            </a:r>
            <a:r>
              <a:rPr sz="1100" spc="-10" dirty="0">
                <a:latin typeface="Georgia"/>
                <a:cs typeface="Georgia"/>
              </a:rPr>
              <a:t>most</a:t>
            </a:r>
            <a:r>
              <a:rPr sz="1100" spc="25" dirty="0">
                <a:latin typeface="Georgia"/>
                <a:cs typeface="Georgia"/>
              </a:rPr>
              <a:t> </a:t>
            </a:r>
            <a:r>
              <a:rPr sz="1100" spc="-45" dirty="0">
                <a:latin typeface="Georgia"/>
                <a:cs typeface="Georgia"/>
              </a:rPr>
              <a:t>real–world</a:t>
            </a:r>
            <a:r>
              <a:rPr sz="1100" spc="25" dirty="0">
                <a:latin typeface="Georgia"/>
                <a:cs typeface="Georgia"/>
              </a:rPr>
              <a:t> </a:t>
            </a:r>
            <a:r>
              <a:rPr sz="1100" dirty="0">
                <a:latin typeface="Georgia"/>
                <a:cs typeface="Georgia"/>
              </a:rPr>
              <a:t>data</a:t>
            </a:r>
            <a:r>
              <a:rPr sz="1100" spc="25" dirty="0">
                <a:latin typeface="Georgia"/>
                <a:cs typeface="Georgia"/>
              </a:rPr>
              <a:t> </a:t>
            </a:r>
            <a:r>
              <a:rPr sz="1100" dirty="0">
                <a:latin typeface="Georgia"/>
                <a:cs typeface="Georgia"/>
              </a:rPr>
              <a:t>sets</a:t>
            </a:r>
            <a:r>
              <a:rPr sz="1100" spc="25" dirty="0">
                <a:latin typeface="Georgia"/>
                <a:cs typeface="Georgia"/>
              </a:rPr>
              <a:t> </a:t>
            </a:r>
            <a:r>
              <a:rPr sz="1100" spc="-20" dirty="0">
                <a:latin typeface="Georgia"/>
                <a:cs typeface="Georgia"/>
              </a:rPr>
              <a:t>contain</a:t>
            </a:r>
            <a:r>
              <a:rPr sz="1100" spc="25" dirty="0">
                <a:latin typeface="Georgia"/>
                <a:cs typeface="Georgia"/>
              </a:rPr>
              <a:t> </a:t>
            </a:r>
            <a:r>
              <a:rPr sz="1100" spc="-10" dirty="0">
                <a:latin typeface="Georgia"/>
                <a:cs typeface="Georgia"/>
              </a:rPr>
              <a:t>outliers and/or</a:t>
            </a:r>
            <a:r>
              <a:rPr sz="1100" spc="35" dirty="0">
                <a:latin typeface="Georgia"/>
                <a:cs typeface="Georgia"/>
              </a:rPr>
              <a:t> </a:t>
            </a:r>
            <a:r>
              <a:rPr sz="1100" spc="-30" dirty="0">
                <a:latin typeface="Georgia"/>
                <a:cs typeface="Georgia"/>
              </a:rPr>
              <a:t>missing,</a:t>
            </a:r>
            <a:r>
              <a:rPr sz="1100" spc="35" dirty="0">
                <a:latin typeface="Georgia"/>
                <a:cs typeface="Georgia"/>
              </a:rPr>
              <a:t> </a:t>
            </a:r>
            <a:r>
              <a:rPr sz="1100" spc="-35" dirty="0">
                <a:latin typeface="Georgia"/>
                <a:cs typeface="Georgia"/>
              </a:rPr>
              <a:t>unknown,</a:t>
            </a:r>
            <a:r>
              <a:rPr sz="1100" spc="35" dirty="0">
                <a:latin typeface="Georgia"/>
                <a:cs typeface="Georgia"/>
              </a:rPr>
              <a:t> </a:t>
            </a:r>
            <a:r>
              <a:rPr sz="1100" dirty="0">
                <a:latin typeface="Georgia"/>
                <a:cs typeface="Georgia"/>
              </a:rPr>
              <a:t>or</a:t>
            </a:r>
            <a:r>
              <a:rPr sz="1100" spc="35" dirty="0">
                <a:latin typeface="Georgia"/>
                <a:cs typeface="Georgia"/>
              </a:rPr>
              <a:t> </a:t>
            </a:r>
            <a:r>
              <a:rPr sz="1100" spc="-40" dirty="0">
                <a:latin typeface="Georgia"/>
                <a:cs typeface="Georgia"/>
              </a:rPr>
              <a:t>erroneous</a:t>
            </a:r>
            <a:r>
              <a:rPr sz="1100" spc="35" dirty="0">
                <a:latin typeface="Georgia"/>
                <a:cs typeface="Georgia"/>
              </a:rPr>
              <a:t> </a:t>
            </a:r>
            <a:r>
              <a:rPr sz="1100" dirty="0">
                <a:latin typeface="Georgia"/>
                <a:cs typeface="Georgia"/>
              </a:rPr>
              <a:t>data.</a:t>
            </a:r>
            <a:r>
              <a:rPr sz="1100" spc="130" dirty="0">
                <a:latin typeface="Georgia"/>
                <a:cs typeface="Georgia"/>
              </a:rPr>
              <a:t> </a:t>
            </a:r>
            <a:r>
              <a:rPr sz="1100" spc="-10" dirty="0">
                <a:latin typeface="Georgia"/>
                <a:cs typeface="Georgia"/>
              </a:rPr>
              <a:t>Clustering</a:t>
            </a:r>
            <a:r>
              <a:rPr sz="1100" spc="35" dirty="0">
                <a:latin typeface="Georgia"/>
                <a:cs typeface="Georgia"/>
              </a:rPr>
              <a:t> </a:t>
            </a:r>
            <a:r>
              <a:rPr sz="1100" spc="-25" dirty="0">
                <a:latin typeface="Georgia"/>
                <a:cs typeface="Georgia"/>
              </a:rPr>
              <a:t>algorithms</a:t>
            </a:r>
            <a:r>
              <a:rPr sz="1100" spc="35" dirty="0">
                <a:latin typeface="Georgia"/>
                <a:cs typeface="Georgia"/>
              </a:rPr>
              <a:t> </a:t>
            </a:r>
            <a:r>
              <a:rPr sz="1100" dirty="0">
                <a:latin typeface="Georgia"/>
                <a:cs typeface="Georgia"/>
              </a:rPr>
              <a:t>can</a:t>
            </a:r>
            <a:r>
              <a:rPr sz="1100" spc="35" dirty="0">
                <a:latin typeface="Georgia"/>
                <a:cs typeface="Georgia"/>
              </a:rPr>
              <a:t> </a:t>
            </a:r>
            <a:r>
              <a:rPr sz="1100" dirty="0">
                <a:latin typeface="Georgia"/>
                <a:cs typeface="Georgia"/>
              </a:rPr>
              <a:t>be</a:t>
            </a:r>
            <a:r>
              <a:rPr sz="1100" spc="35" dirty="0">
                <a:latin typeface="Georgia"/>
                <a:cs typeface="Georgia"/>
              </a:rPr>
              <a:t> </a:t>
            </a:r>
            <a:r>
              <a:rPr sz="1100" spc="-10" dirty="0">
                <a:latin typeface="Georgia"/>
                <a:cs typeface="Georgia"/>
              </a:rPr>
              <a:t>sensitive </a:t>
            </a:r>
            <a:r>
              <a:rPr sz="1100" dirty="0">
                <a:latin typeface="Georgia"/>
                <a:cs typeface="Georgia"/>
              </a:rPr>
              <a:t>to</a:t>
            </a:r>
            <a:r>
              <a:rPr sz="1100" spc="5" dirty="0">
                <a:latin typeface="Georgia"/>
                <a:cs typeface="Georgia"/>
              </a:rPr>
              <a:t> </a:t>
            </a:r>
            <a:r>
              <a:rPr sz="1100" spc="-20" dirty="0">
                <a:latin typeface="Georgia"/>
                <a:cs typeface="Georgia"/>
              </a:rPr>
              <a:t>such</a:t>
            </a:r>
            <a:r>
              <a:rPr sz="1100" spc="10" dirty="0">
                <a:latin typeface="Georgia"/>
                <a:cs typeface="Georgia"/>
              </a:rPr>
              <a:t> </a:t>
            </a:r>
            <a:r>
              <a:rPr sz="1100" spc="-30" dirty="0">
                <a:latin typeface="Georgia"/>
                <a:cs typeface="Georgia"/>
              </a:rPr>
              <a:t>noise</a:t>
            </a:r>
            <a:r>
              <a:rPr sz="1100" spc="10" dirty="0">
                <a:latin typeface="Georgia"/>
                <a:cs typeface="Georgia"/>
              </a:rPr>
              <a:t> </a:t>
            </a:r>
            <a:r>
              <a:rPr sz="1100" dirty="0">
                <a:latin typeface="Georgia"/>
                <a:cs typeface="Georgia"/>
              </a:rPr>
              <a:t>and</a:t>
            </a:r>
            <a:r>
              <a:rPr sz="1100" spc="10" dirty="0">
                <a:latin typeface="Georgia"/>
                <a:cs typeface="Georgia"/>
              </a:rPr>
              <a:t> </a:t>
            </a:r>
            <a:r>
              <a:rPr sz="1100" dirty="0">
                <a:latin typeface="Georgia"/>
                <a:cs typeface="Georgia"/>
              </a:rPr>
              <a:t>may</a:t>
            </a:r>
            <a:r>
              <a:rPr sz="1100" spc="10" dirty="0">
                <a:latin typeface="Georgia"/>
                <a:cs typeface="Georgia"/>
              </a:rPr>
              <a:t> </a:t>
            </a:r>
            <a:r>
              <a:rPr sz="1100" spc="-25" dirty="0">
                <a:latin typeface="Georgia"/>
                <a:cs typeface="Georgia"/>
              </a:rPr>
              <a:t>produce</a:t>
            </a:r>
            <a:r>
              <a:rPr sz="1100" spc="10" dirty="0">
                <a:latin typeface="Georgia"/>
                <a:cs typeface="Georgia"/>
              </a:rPr>
              <a:t> </a:t>
            </a:r>
            <a:r>
              <a:rPr sz="1100" spc="-20" dirty="0">
                <a:latin typeface="Georgia"/>
                <a:cs typeface="Georgia"/>
              </a:rPr>
              <a:t>poor–quality</a:t>
            </a:r>
            <a:r>
              <a:rPr sz="1100" spc="10" dirty="0">
                <a:latin typeface="Georgia"/>
                <a:cs typeface="Georgia"/>
              </a:rPr>
              <a:t> </a:t>
            </a:r>
            <a:r>
              <a:rPr sz="1100" spc="-10" dirty="0">
                <a:latin typeface="Georgia"/>
                <a:cs typeface="Georgia"/>
              </a:rPr>
              <a:t>clusters.</a:t>
            </a:r>
            <a:r>
              <a:rPr sz="1100" spc="95" dirty="0">
                <a:latin typeface="Georgia"/>
                <a:cs typeface="Georgia"/>
              </a:rPr>
              <a:t> </a:t>
            </a:r>
            <a:r>
              <a:rPr sz="1100" spc="-20" dirty="0">
                <a:latin typeface="Georgia"/>
                <a:cs typeface="Georgia"/>
              </a:rPr>
              <a:t>Therefore,</a:t>
            </a:r>
            <a:r>
              <a:rPr sz="1100" spc="10" dirty="0">
                <a:latin typeface="Georgia"/>
                <a:cs typeface="Georgia"/>
              </a:rPr>
              <a:t> </a:t>
            </a:r>
            <a:r>
              <a:rPr sz="1100" dirty="0">
                <a:latin typeface="Georgia"/>
                <a:cs typeface="Georgia"/>
              </a:rPr>
              <a:t>we</a:t>
            </a:r>
            <a:r>
              <a:rPr sz="1100" spc="10" dirty="0">
                <a:latin typeface="Georgia"/>
                <a:cs typeface="Georgia"/>
              </a:rPr>
              <a:t> </a:t>
            </a:r>
            <a:r>
              <a:rPr sz="1100" spc="-30" dirty="0">
                <a:latin typeface="Georgia"/>
                <a:cs typeface="Georgia"/>
              </a:rPr>
              <a:t>need</a:t>
            </a:r>
            <a:r>
              <a:rPr sz="1100" spc="10" dirty="0">
                <a:latin typeface="Georgia"/>
                <a:cs typeface="Georgia"/>
              </a:rPr>
              <a:t> </a:t>
            </a:r>
            <a:r>
              <a:rPr sz="1100" spc="-10" dirty="0">
                <a:latin typeface="Georgia"/>
                <a:cs typeface="Georgia"/>
              </a:rPr>
              <a:t>clustering </a:t>
            </a:r>
            <a:r>
              <a:rPr sz="1100" spc="-25" dirty="0">
                <a:latin typeface="Georgia"/>
                <a:cs typeface="Georgia"/>
              </a:rPr>
              <a:t>methods</a:t>
            </a:r>
            <a:r>
              <a:rPr sz="1100" spc="50" dirty="0">
                <a:latin typeface="Georgia"/>
                <a:cs typeface="Georgia"/>
              </a:rPr>
              <a:t> </a:t>
            </a:r>
            <a:r>
              <a:rPr sz="1100" dirty="0">
                <a:latin typeface="Georgia"/>
                <a:cs typeface="Georgia"/>
              </a:rPr>
              <a:t>that</a:t>
            </a:r>
            <a:r>
              <a:rPr sz="1100" spc="50" dirty="0">
                <a:latin typeface="Georgia"/>
                <a:cs typeface="Georgia"/>
              </a:rPr>
              <a:t> </a:t>
            </a:r>
            <a:r>
              <a:rPr sz="1100" dirty="0">
                <a:latin typeface="Georgia"/>
                <a:cs typeface="Georgia"/>
              </a:rPr>
              <a:t>are</a:t>
            </a:r>
            <a:r>
              <a:rPr sz="1100" spc="50" dirty="0">
                <a:latin typeface="Georgia"/>
                <a:cs typeface="Georgia"/>
              </a:rPr>
              <a:t> </a:t>
            </a:r>
            <a:r>
              <a:rPr sz="1100" spc="-10" dirty="0">
                <a:latin typeface="Georgia"/>
                <a:cs typeface="Georgia"/>
              </a:rPr>
              <a:t>robust</a:t>
            </a:r>
            <a:r>
              <a:rPr sz="1100" spc="55" dirty="0">
                <a:latin typeface="Georgia"/>
                <a:cs typeface="Georgia"/>
              </a:rPr>
              <a:t> </a:t>
            </a:r>
            <a:r>
              <a:rPr sz="1100" dirty="0">
                <a:latin typeface="Georgia"/>
                <a:cs typeface="Georgia"/>
              </a:rPr>
              <a:t>to</a:t>
            </a:r>
            <a:r>
              <a:rPr sz="1100" spc="50" dirty="0">
                <a:latin typeface="Georgia"/>
                <a:cs typeface="Georgia"/>
              </a:rPr>
              <a:t> </a:t>
            </a:r>
            <a:r>
              <a:rPr sz="1100" spc="-10" dirty="0">
                <a:latin typeface="Georgia"/>
                <a:cs typeface="Georgia"/>
              </a:rPr>
              <a:t>noise.</a:t>
            </a:r>
            <a:endParaRPr sz="1100">
              <a:latin typeface="Georgia"/>
              <a:cs typeface="Georgia"/>
            </a:endParaRPr>
          </a:p>
        </p:txBody>
      </p:sp>
      <p:sp>
        <p:nvSpPr>
          <p:cNvPr id="5" name="object 5"/>
          <p:cNvSpPr/>
          <p:nvPr/>
        </p:nvSpPr>
        <p:spPr>
          <a:xfrm>
            <a:off x="337972" y="88952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420266"/>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209727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2481770"/>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84455">
              <a:lnSpc>
                <a:spcPct val="100000"/>
              </a:lnSpc>
              <a:spcBef>
                <a:spcPts val="65"/>
              </a:spcBef>
            </a:pPr>
            <a:fld id="{81D60167-4931-47E6-BA6A-407CBD079E47}" type="slidenum">
              <a:rPr dirty="0"/>
              <a:t>10</a:t>
            </a:fld>
            <a:r>
              <a:rPr spc="-5" dirty="0"/>
              <a:t> </a:t>
            </a:r>
            <a:r>
              <a:rPr spc="75" dirty="0"/>
              <a:t>/</a:t>
            </a:r>
            <a:r>
              <a:rPr spc="-5" dirty="0"/>
              <a:t> </a:t>
            </a:r>
            <a:r>
              <a:rPr spc="35" dirty="0"/>
              <a:t>135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Requirements</a:t>
            </a:r>
            <a:r>
              <a:rPr spc="229" dirty="0"/>
              <a:t> </a:t>
            </a:r>
            <a:r>
              <a:rPr dirty="0"/>
              <a:t>for</a:t>
            </a:r>
            <a:r>
              <a:rPr spc="225" dirty="0"/>
              <a:t> </a:t>
            </a:r>
            <a:r>
              <a:rPr spc="70" dirty="0"/>
              <a:t>data</a:t>
            </a:r>
            <a:r>
              <a:rPr spc="225" dirty="0"/>
              <a:t> </a:t>
            </a:r>
            <a:r>
              <a:rPr dirty="0"/>
              <a:t>clustering</a:t>
            </a:r>
            <a:r>
              <a:rPr spc="229" dirty="0"/>
              <a:t> </a:t>
            </a:r>
            <a:r>
              <a:rPr spc="-10" dirty="0"/>
              <a:t>(cont’d)</a:t>
            </a:r>
          </a:p>
        </p:txBody>
      </p:sp>
      <p:sp>
        <p:nvSpPr>
          <p:cNvPr id="3" name="object 3"/>
          <p:cNvSpPr/>
          <p:nvPr/>
        </p:nvSpPr>
        <p:spPr>
          <a:xfrm>
            <a:off x="337972" y="53105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439444"/>
            <a:ext cx="5110480" cy="2515235"/>
          </a:xfrm>
          <a:prstGeom prst="rect">
            <a:avLst/>
          </a:prstGeom>
        </p:spPr>
        <p:txBody>
          <a:bodyPr vert="horz" wrap="square" lIns="0" tIns="34290" rIns="0" bIns="0" rtlCol="0">
            <a:spAutoFit/>
          </a:bodyPr>
          <a:lstStyle/>
          <a:p>
            <a:pPr marL="12700" marR="5080">
              <a:lnSpc>
                <a:spcPts val="1150"/>
              </a:lnSpc>
              <a:spcBef>
                <a:spcPts val="270"/>
              </a:spcBef>
            </a:pPr>
            <a:r>
              <a:rPr sz="1100" b="1" spc="-50" dirty="0">
                <a:latin typeface="Georgia"/>
                <a:cs typeface="Georgia"/>
              </a:rPr>
              <a:t>Incremental</a:t>
            </a:r>
            <a:r>
              <a:rPr sz="1100" b="1" spc="55" dirty="0">
                <a:latin typeface="Georgia"/>
                <a:cs typeface="Georgia"/>
              </a:rPr>
              <a:t> </a:t>
            </a:r>
            <a:r>
              <a:rPr sz="1100" b="1" spc="-40" dirty="0">
                <a:latin typeface="Georgia"/>
                <a:cs typeface="Georgia"/>
              </a:rPr>
              <a:t>clustering</a:t>
            </a:r>
            <a:r>
              <a:rPr sz="1100" b="1" spc="60" dirty="0">
                <a:latin typeface="Georgia"/>
                <a:cs typeface="Georgia"/>
              </a:rPr>
              <a:t> </a:t>
            </a:r>
            <a:r>
              <a:rPr sz="1100" b="1" spc="-10" dirty="0">
                <a:latin typeface="Georgia"/>
                <a:cs typeface="Georgia"/>
              </a:rPr>
              <a:t>and</a:t>
            </a:r>
            <a:r>
              <a:rPr sz="1100" b="1" spc="55" dirty="0">
                <a:latin typeface="Georgia"/>
                <a:cs typeface="Georgia"/>
              </a:rPr>
              <a:t> </a:t>
            </a:r>
            <a:r>
              <a:rPr sz="1100" b="1" spc="-30" dirty="0">
                <a:latin typeface="Georgia"/>
                <a:cs typeface="Georgia"/>
              </a:rPr>
              <a:t>insensitivity</a:t>
            </a:r>
            <a:r>
              <a:rPr sz="1100" b="1" spc="60" dirty="0">
                <a:latin typeface="Georgia"/>
                <a:cs typeface="Georgia"/>
              </a:rPr>
              <a:t> </a:t>
            </a:r>
            <a:r>
              <a:rPr sz="1100" b="1" dirty="0">
                <a:latin typeface="Georgia"/>
                <a:cs typeface="Georgia"/>
              </a:rPr>
              <a:t>to</a:t>
            </a:r>
            <a:r>
              <a:rPr sz="1100" b="1" spc="60" dirty="0">
                <a:latin typeface="Georgia"/>
                <a:cs typeface="Georgia"/>
              </a:rPr>
              <a:t> </a:t>
            </a:r>
            <a:r>
              <a:rPr sz="1100" b="1" spc="-10" dirty="0">
                <a:latin typeface="Georgia"/>
                <a:cs typeface="Georgia"/>
              </a:rPr>
              <a:t>input</a:t>
            </a:r>
            <a:r>
              <a:rPr sz="1100" b="1" spc="55" dirty="0">
                <a:latin typeface="Georgia"/>
                <a:cs typeface="Georgia"/>
              </a:rPr>
              <a:t> </a:t>
            </a:r>
            <a:r>
              <a:rPr sz="1100" b="1" spc="-45" dirty="0">
                <a:latin typeface="Georgia"/>
                <a:cs typeface="Georgia"/>
              </a:rPr>
              <a:t>order</a:t>
            </a:r>
            <a:r>
              <a:rPr sz="1100" spc="-45" dirty="0">
                <a:latin typeface="Georgia"/>
                <a:cs typeface="Georgia"/>
              </a:rPr>
              <a:t>:</a:t>
            </a:r>
            <a:r>
              <a:rPr sz="1100" spc="125" dirty="0">
                <a:latin typeface="Georgia"/>
                <a:cs typeface="Georgia"/>
              </a:rPr>
              <a:t> </a:t>
            </a:r>
            <a:r>
              <a:rPr sz="1100" dirty="0">
                <a:latin typeface="Georgia"/>
                <a:cs typeface="Georgia"/>
              </a:rPr>
              <a:t>in</a:t>
            </a:r>
            <a:r>
              <a:rPr sz="1100" spc="25" dirty="0">
                <a:latin typeface="Georgia"/>
                <a:cs typeface="Georgia"/>
              </a:rPr>
              <a:t> </a:t>
            </a:r>
            <a:r>
              <a:rPr sz="1100" spc="-20" dirty="0">
                <a:latin typeface="Georgia"/>
                <a:cs typeface="Georgia"/>
              </a:rPr>
              <a:t>many applications,</a:t>
            </a:r>
            <a:r>
              <a:rPr sz="1100" spc="40" dirty="0">
                <a:latin typeface="Georgia"/>
                <a:cs typeface="Georgia"/>
              </a:rPr>
              <a:t> </a:t>
            </a:r>
            <a:r>
              <a:rPr sz="1100" spc="-30" dirty="0">
                <a:latin typeface="Georgia"/>
                <a:cs typeface="Georgia"/>
              </a:rPr>
              <a:t>incremental</a:t>
            </a:r>
            <a:r>
              <a:rPr sz="1100" spc="45" dirty="0">
                <a:latin typeface="Georgia"/>
                <a:cs typeface="Georgia"/>
              </a:rPr>
              <a:t> </a:t>
            </a:r>
            <a:r>
              <a:rPr sz="1100" spc="-10" dirty="0">
                <a:latin typeface="Georgia"/>
                <a:cs typeface="Georgia"/>
              </a:rPr>
              <a:t>updates</a:t>
            </a:r>
            <a:r>
              <a:rPr sz="1100" spc="45" dirty="0">
                <a:latin typeface="Georgia"/>
                <a:cs typeface="Georgia"/>
              </a:rPr>
              <a:t> </a:t>
            </a:r>
            <a:r>
              <a:rPr sz="1100" spc="-35" dirty="0">
                <a:latin typeface="Georgia"/>
                <a:cs typeface="Georgia"/>
              </a:rPr>
              <a:t>(representing</a:t>
            </a:r>
            <a:r>
              <a:rPr sz="1100" spc="45" dirty="0">
                <a:latin typeface="Georgia"/>
                <a:cs typeface="Georgia"/>
              </a:rPr>
              <a:t> </a:t>
            </a:r>
            <a:r>
              <a:rPr sz="1100" spc="-35" dirty="0">
                <a:latin typeface="Georgia"/>
                <a:cs typeface="Georgia"/>
              </a:rPr>
              <a:t>newer</a:t>
            </a:r>
            <a:r>
              <a:rPr sz="1100" spc="45" dirty="0">
                <a:latin typeface="Georgia"/>
                <a:cs typeface="Georgia"/>
              </a:rPr>
              <a:t> </a:t>
            </a:r>
            <a:r>
              <a:rPr sz="1100" dirty="0">
                <a:latin typeface="Georgia"/>
                <a:cs typeface="Georgia"/>
              </a:rPr>
              <a:t>data)</a:t>
            </a:r>
            <a:r>
              <a:rPr sz="1100" spc="45" dirty="0">
                <a:latin typeface="Georgia"/>
                <a:cs typeface="Georgia"/>
              </a:rPr>
              <a:t> </a:t>
            </a:r>
            <a:r>
              <a:rPr sz="1100" dirty="0">
                <a:latin typeface="Georgia"/>
                <a:cs typeface="Georgia"/>
              </a:rPr>
              <a:t>may</a:t>
            </a:r>
            <a:r>
              <a:rPr sz="1100" spc="45" dirty="0">
                <a:latin typeface="Georgia"/>
                <a:cs typeface="Georgia"/>
              </a:rPr>
              <a:t> </a:t>
            </a:r>
            <a:r>
              <a:rPr sz="1100" spc="-10" dirty="0">
                <a:latin typeface="Georgia"/>
                <a:cs typeface="Georgia"/>
              </a:rPr>
              <a:t>arrive</a:t>
            </a:r>
            <a:r>
              <a:rPr sz="1100" spc="45" dirty="0">
                <a:latin typeface="Georgia"/>
                <a:cs typeface="Georgia"/>
              </a:rPr>
              <a:t> </a:t>
            </a:r>
            <a:r>
              <a:rPr sz="1100" dirty="0">
                <a:latin typeface="Georgia"/>
                <a:cs typeface="Georgia"/>
              </a:rPr>
              <a:t>at</a:t>
            </a:r>
            <a:r>
              <a:rPr sz="1100" spc="45" dirty="0">
                <a:latin typeface="Georgia"/>
                <a:cs typeface="Georgia"/>
              </a:rPr>
              <a:t> </a:t>
            </a:r>
            <a:r>
              <a:rPr sz="1100" dirty="0">
                <a:latin typeface="Georgia"/>
                <a:cs typeface="Georgia"/>
              </a:rPr>
              <a:t>any</a:t>
            </a:r>
            <a:r>
              <a:rPr sz="1100" spc="45" dirty="0">
                <a:latin typeface="Georgia"/>
                <a:cs typeface="Georgia"/>
              </a:rPr>
              <a:t> </a:t>
            </a:r>
            <a:r>
              <a:rPr sz="1100" spc="-10" dirty="0">
                <a:latin typeface="Georgia"/>
                <a:cs typeface="Georgia"/>
              </a:rPr>
              <a:t>time. </a:t>
            </a:r>
            <a:r>
              <a:rPr sz="1100" dirty="0">
                <a:latin typeface="Georgia"/>
                <a:cs typeface="Georgia"/>
              </a:rPr>
              <a:t>It</a:t>
            </a:r>
            <a:r>
              <a:rPr sz="1100" spc="30" dirty="0">
                <a:latin typeface="Georgia"/>
                <a:cs typeface="Georgia"/>
              </a:rPr>
              <a:t> </a:t>
            </a:r>
            <a:r>
              <a:rPr sz="1100" dirty="0">
                <a:latin typeface="Georgia"/>
                <a:cs typeface="Georgia"/>
              </a:rPr>
              <a:t>is</a:t>
            </a:r>
            <a:r>
              <a:rPr sz="1100" spc="30" dirty="0">
                <a:latin typeface="Georgia"/>
                <a:cs typeface="Georgia"/>
              </a:rPr>
              <a:t> </a:t>
            </a:r>
            <a:r>
              <a:rPr sz="1100" dirty="0">
                <a:latin typeface="Georgia"/>
                <a:cs typeface="Georgia"/>
              </a:rPr>
              <a:t>better</a:t>
            </a:r>
            <a:r>
              <a:rPr sz="1100" spc="30" dirty="0">
                <a:latin typeface="Georgia"/>
                <a:cs typeface="Georgia"/>
              </a:rPr>
              <a:t> </a:t>
            </a:r>
            <a:r>
              <a:rPr sz="1100" dirty="0">
                <a:latin typeface="Georgia"/>
                <a:cs typeface="Georgia"/>
              </a:rPr>
              <a:t>if</a:t>
            </a:r>
            <a:r>
              <a:rPr sz="1100" spc="35" dirty="0">
                <a:latin typeface="Georgia"/>
                <a:cs typeface="Georgia"/>
              </a:rPr>
              <a:t> </a:t>
            </a:r>
            <a:r>
              <a:rPr sz="1100" spc="-20" dirty="0">
                <a:latin typeface="Georgia"/>
                <a:cs typeface="Georgia"/>
              </a:rPr>
              <a:t>clustering</a:t>
            </a:r>
            <a:r>
              <a:rPr sz="1100" spc="30" dirty="0">
                <a:latin typeface="Georgia"/>
                <a:cs typeface="Georgia"/>
              </a:rPr>
              <a:t> </a:t>
            </a:r>
            <a:r>
              <a:rPr sz="1100" spc="-25" dirty="0">
                <a:latin typeface="Georgia"/>
                <a:cs typeface="Georgia"/>
              </a:rPr>
              <a:t>algorithms</a:t>
            </a:r>
            <a:r>
              <a:rPr sz="1100" spc="30" dirty="0">
                <a:latin typeface="Georgia"/>
                <a:cs typeface="Georgia"/>
              </a:rPr>
              <a:t> </a:t>
            </a:r>
            <a:r>
              <a:rPr sz="1100" dirty="0">
                <a:latin typeface="Georgia"/>
                <a:cs typeface="Georgia"/>
              </a:rPr>
              <a:t>can</a:t>
            </a:r>
            <a:r>
              <a:rPr sz="1100" spc="35" dirty="0">
                <a:latin typeface="Georgia"/>
                <a:cs typeface="Georgia"/>
              </a:rPr>
              <a:t> </a:t>
            </a:r>
            <a:r>
              <a:rPr sz="1100" spc="-20" dirty="0">
                <a:latin typeface="Georgia"/>
                <a:cs typeface="Georgia"/>
              </a:rPr>
              <a:t>handle</a:t>
            </a:r>
            <a:r>
              <a:rPr sz="1100" spc="30" dirty="0">
                <a:latin typeface="Georgia"/>
                <a:cs typeface="Georgia"/>
              </a:rPr>
              <a:t> </a:t>
            </a:r>
            <a:r>
              <a:rPr sz="1100" spc="-10" dirty="0">
                <a:latin typeface="Georgia"/>
                <a:cs typeface="Georgia"/>
              </a:rPr>
              <a:t>future</a:t>
            </a:r>
            <a:r>
              <a:rPr sz="1100" spc="30" dirty="0">
                <a:latin typeface="Georgia"/>
                <a:cs typeface="Georgia"/>
              </a:rPr>
              <a:t> </a:t>
            </a:r>
            <a:r>
              <a:rPr sz="1100" dirty="0">
                <a:latin typeface="Georgia"/>
                <a:cs typeface="Georgia"/>
              </a:rPr>
              <a:t>data</a:t>
            </a:r>
            <a:r>
              <a:rPr sz="1100" spc="35" dirty="0">
                <a:latin typeface="Georgia"/>
                <a:cs typeface="Georgia"/>
              </a:rPr>
              <a:t> </a:t>
            </a:r>
            <a:r>
              <a:rPr sz="1100" spc="-10" dirty="0">
                <a:latin typeface="Georgia"/>
                <a:cs typeface="Georgia"/>
              </a:rPr>
              <a:t>points</a:t>
            </a:r>
            <a:r>
              <a:rPr sz="1100" spc="30" dirty="0">
                <a:latin typeface="Georgia"/>
                <a:cs typeface="Georgia"/>
              </a:rPr>
              <a:t> </a:t>
            </a:r>
            <a:r>
              <a:rPr sz="1100" dirty="0">
                <a:latin typeface="Georgia"/>
                <a:cs typeface="Georgia"/>
              </a:rPr>
              <a:t>in</a:t>
            </a:r>
            <a:r>
              <a:rPr sz="1100" spc="30" dirty="0">
                <a:latin typeface="Georgia"/>
                <a:cs typeface="Georgia"/>
              </a:rPr>
              <a:t> </a:t>
            </a:r>
            <a:r>
              <a:rPr sz="1100" dirty="0">
                <a:latin typeface="Georgia"/>
                <a:cs typeface="Georgia"/>
              </a:rPr>
              <a:t>an</a:t>
            </a:r>
            <a:r>
              <a:rPr sz="1100" spc="30" dirty="0">
                <a:latin typeface="Georgia"/>
                <a:cs typeface="Georgia"/>
              </a:rPr>
              <a:t> </a:t>
            </a:r>
            <a:r>
              <a:rPr sz="1100" spc="-10" dirty="0">
                <a:latin typeface="Georgia"/>
                <a:cs typeface="Georgia"/>
              </a:rPr>
              <a:t>incremental manner.</a:t>
            </a:r>
            <a:endParaRPr sz="1100">
              <a:latin typeface="Georgia"/>
              <a:cs typeface="Georgia"/>
            </a:endParaRPr>
          </a:p>
          <a:p>
            <a:pPr marL="12700" marR="109220">
              <a:lnSpc>
                <a:spcPts val="1150"/>
              </a:lnSpc>
              <a:spcBef>
                <a:spcPts val="730"/>
              </a:spcBef>
            </a:pPr>
            <a:r>
              <a:rPr sz="1100" b="1" dirty="0">
                <a:latin typeface="Georgia"/>
                <a:cs typeface="Georgia"/>
              </a:rPr>
              <a:t>Capability</a:t>
            </a:r>
            <a:r>
              <a:rPr sz="1100" b="1" spc="60" dirty="0">
                <a:latin typeface="Georgia"/>
                <a:cs typeface="Georgia"/>
              </a:rPr>
              <a:t> </a:t>
            </a:r>
            <a:r>
              <a:rPr sz="1100" b="1" dirty="0">
                <a:latin typeface="Georgia"/>
                <a:cs typeface="Georgia"/>
              </a:rPr>
              <a:t>of</a:t>
            </a:r>
            <a:r>
              <a:rPr sz="1100" b="1" spc="65" dirty="0">
                <a:latin typeface="Georgia"/>
                <a:cs typeface="Georgia"/>
              </a:rPr>
              <a:t> </a:t>
            </a:r>
            <a:r>
              <a:rPr sz="1100" b="1" spc="-35" dirty="0">
                <a:latin typeface="Georgia"/>
                <a:cs typeface="Georgia"/>
              </a:rPr>
              <a:t>clustering</a:t>
            </a:r>
            <a:r>
              <a:rPr sz="1100" b="1" spc="60" dirty="0">
                <a:latin typeface="Georgia"/>
                <a:cs typeface="Georgia"/>
              </a:rPr>
              <a:t> </a:t>
            </a:r>
            <a:r>
              <a:rPr sz="1100" b="1" spc="-55" dirty="0">
                <a:latin typeface="Georgia"/>
                <a:cs typeface="Georgia"/>
              </a:rPr>
              <a:t>high–dimensionality</a:t>
            </a:r>
            <a:r>
              <a:rPr sz="1100" b="1" spc="65" dirty="0">
                <a:latin typeface="Georgia"/>
                <a:cs typeface="Georgia"/>
              </a:rPr>
              <a:t> </a:t>
            </a:r>
            <a:r>
              <a:rPr sz="1100" b="1" dirty="0">
                <a:latin typeface="Georgia"/>
                <a:cs typeface="Georgia"/>
              </a:rPr>
              <a:t>data</a:t>
            </a:r>
            <a:r>
              <a:rPr sz="1100" dirty="0">
                <a:latin typeface="Georgia"/>
                <a:cs typeface="Georgia"/>
              </a:rPr>
              <a:t>:</a:t>
            </a:r>
            <a:r>
              <a:rPr sz="1100" spc="130" dirty="0">
                <a:latin typeface="Georgia"/>
                <a:cs typeface="Georgia"/>
              </a:rPr>
              <a:t> </a:t>
            </a:r>
            <a:r>
              <a:rPr sz="1100" dirty="0">
                <a:latin typeface="Georgia"/>
                <a:cs typeface="Georgia"/>
              </a:rPr>
              <a:t>a</a:t>
            </a:r>
            <a:r>
              <a:rPr sz="1100" spc="30" dirty="0">
                <a:latin typeface="Georgia"/>
                <a:cs typeface="Georgia"/>
              </a:rPr>
              <a:t> </a:t>
            </a:r>
            <a:r>
              <a:rPr sz="1100" dirty="0">
                <a:latin typeface="Georgia"/>
                <a:cs typeface="Georgia"/>
              </a:rPr>
              <a:t>data</a:t>
            </a:r>
            <a:r>
              <a:rPr sz="1100" spc="30" dirty="0">
                <a:latin typeface="Georgia"/>
                <a:cs typeface="Georgia"/>
              </a:rPr>
              <a:t> </a:t>
            </a:r>
            <a:r>
              <a:rPr sz="1100" dirty="0">
                <a:latin typeface="Georgia"/>
                <a:cs typeface="Georgia"/>
              </a:rPr>
              <a:t>set</a:t>
            </a:r>
            <a:r>
              <a:rPr sz="1100" spc="35" dirty="0">
                <a:latin typeface="Georgia"/>
                <a:cs typeface="Georgia"/>
              </a:rPr>
              <a:t> </a:t>
            </a:r>
            <a:r>
              <a:rPr sz="1100" dirty="0">
                <a:latin typeface="Georgia"/>
                <a:cs typeface="Georgia"/>
              </a:rPr>
              <a:t>can</a:t>
            </a:r>
            <a:r>
              <a:rPr sz="1100" spc="30" dirty="0">
                <a:latin typeface="Georgia"/>
                <a:cs typeface="Georgia"/>
              </a:rPr>
              <a:t> </a:t>
            </a:r>
            <a:r>
              <a:rPr sz="1100" spc="-10" dirty="0">
                <a:latin typeface="Georgia"/>
                <a:cs typeface="Georgia"/>
              </a:rPr>
              <a:t>contain </a:t>
            </a:r>
            <a:r>
              <a:rPr sz="1100" spc="-45" dirty="0">
                <a:latin typeface="Georgia"/>
                <a:cs typeface="Georgia"/>
              </a:rPr>
              <a:t>numerous</a:t>
            </a:r>
            <a:r>
              <a:rPr sz="1100" spc="25" dirty="0">
                <a:latin typeface="Georgia"/>
                <a:cs typeface="Georgia"/>
              </a:rPr>
              <a:t> </a:t>
            </a:r>
            <a:r>
              <a:rPr sz="1100" spc="-40" dirty="0">
                <a:latin typeface="Georgia"/>
                <a:cs typeface="Georgia"/>
              </a:rPr>
              <a:t>dimensions</a:t>
            </a:r>
            <a:r>
              <a:rPr sz="1100" spc="25" dirty="0">
                <a:latin typeface="Georgia"/>
                <a:cs typeface="Georgia"/>
              </a:rPr>
              <a:t> </a:t>
            </a:r>
            <a:r>
              <a:rPr sz="1100" dirty="0">
                <a:latin typeface="Georgia"/>
                <a:cs typeface="Georgia"/>
              </a:rPr>
              <a:t>or</a:t>
            </a:r>
            <a:r>
              <a:rPr sz="1100" spc="25" dirty="0">
                <a:latin typeface="Georgia"/>
                <a:cs typeface="Georgia"/>
              </a:rPr>
              <a:t> </a:t>
            </a:r>
            <a:r>
              <a:rPr sz="1100" dirty="0">
                <a:latin typeface="Georgia"/>
                <a:cs typeface="Georgia"/>
              </a:rPr>
              <a:t>attributes.</a:t>
            </a:r>
            <a:r>
              <a:rPr sz="1100" spc="114" dirty="0">
                <a:latin typeface="Georgia"/>
                <a:cs typeface="Georgia"/>
              </a:rPr>
              <a:t> </a:t>
            </a:r>
            <a:r>
              <a:rPr sz="1100" spc="-10" dirty="0">
                <a:latin typeface="Georgia"/>
                <a:cs typeface="Georgia"/>
              </a:rPr>
              <a:t>Finding</a:t>
            </a:r>
            <a:r>
              <a:rPr sz="1100" spc="25" dirty="0">
                <a:latin typeface="Georgia"/>
                <a:cs typeface="Georgia"/>
              </a:rPr>
              <a:t> </a:t>
            </a:r>
            <a:r>
              <a:rPr sz="1100" spc="-20" dirty="0">
                <a:latin typeface="Georgia"/>
                <a:cs typeface="Georgia"/>
              </a:rPr>
              <a:t>clusters</a:t>
            </a:r>
            <a:r>
              <a:rPr sz="1100" spc="25" dirty="0">
                <a:latin typeface="Georgia"/>
                <a:cs typeface="Georgia"/>
              </a:rPr>
              <a:t> </a:t>
            </a:r>
            <a:r>
              <a:rPr sz="1100" dirty="0">
                <a:latin typeface="Georgia"/>
                <a:cs typeface="Georgia"/>
              </a:rPr>
              <a:t>of</a:t>
            </a:r>
            <a:r>
              <a:rPr sz="1100" spc="25" dirty="0">
                <a:latin typeface="Georgia"/>
                <a:cs typeface="Georgia"/>
              </a:rPr>
              <a:t> </a:t>
            </a:r>
            <a:r>
              <a:rPr sz="1100" dirty="0">
                <a:latin typeface="Georgia"/>
                <a:cs typeface="Georgia"/>
              </a:rPr>
              <a:t>data</a:t>
            </a:r>
            <a:r>
              <a:rPr sz="1100" spc="25" dirty="0">
                <a:latin typeface="Georgia"/>
                <a:cs typeface="Georgia"/>
              </a:rPr>
              <a:t> </a:t>
            </a:r>
            <a:r>
              <a:rPr sz="1100" dirty="0">
                <a:latin typeface="Georgia"/>
                <a:cs typeface="Georgia"/>
              </a:rPr>
              <a:t>objects</a:t>
            </a:r>
            <a:r>
              <a:rPr sz="1100" spc="25"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a</a:t>
            </a:r>
            <a:r>
              <a:rPr sz="1100" spc="30" dirty="0">
                <a:latin typeface="Georgia"/>
                <a:cs typeface="Georgia"/>
              </a:rPr>
              <a:t> </a:t>
            </a:r>
            <a:r>
              <a:rPr sz="1100" spc="-10" dirty="0">
                <a:latin typeface="Georgia"/>
                <a:cs typeface="Georgia"/>
              </a:rPr>
              <a:t>high- </a:t>
            </a:r>
            <a:r>
              <a:rPr sz="1100" spc="-35" dirty="0">
                <a:latin typeface="Georgia"/>
                <a:cs typeface="Georgia"/>
              </a:rPr>
              <a:t>dimensional</a:t>
            </a:r>
            <a:r>
              <a:rPr sz="1100" spc="30" dirty="0">
                <a:latin typeface="Georgia"/>
                <a:cs typeface="Georgia"/>
              </a:rPr>
              <a:t> </a:t>
            </a:r>
            <a:r>
              <a:rPr sz="1100" spc="-10" dirty="0">
                <a:latin typeface="Georgia"/>
                <a:cs typeface="Georgia"/>
              </a:rPr>
              <a:t>space</a:t>
            </a:r>
            <a:r>
              <a:rPr sz="1100" spc="35" dirty="0">
                <a:latin typeface="Georgia"/>
                <a:cs typeface="Georgia"/>
              </a:rPr>
              <a:t> </a:t>
            </a:r>
            <a:r>
              <a:rPr sz="1100" dirty="0">
                <a:latin typeface="Georgia"/>
                <a:cs typeface="Georgia"/>
              </a:rPr>
              <a:t>is</a:t>
            </a:r>
            <a:r>
              <a:rPr sz="1100" spc="30" dirty="0">
                <a:latin typeface="Georgia"/>
                <a:cs typeface="Georgia"/>
              </a:rPr>
              <a:t> </a:t>
            </a:r>
            <a:r>
              <a:rPr sz="1100" spc="-25" dirty="0">
                <a:latin typeface="Georgia"/>
                <a:cs typeface="Georgia"/>
              </a:rPr>
              <a:t>challenging,</a:t>
            </a:r>
            <a:r>
              <a:rPr sz="1100" spc="35" dirty="0">
                <a:latin typeface="Georgia"/>
                <a:cs typeface="Georgia"/>
              </a:rPr>
              <a:t> </a:t>
            </a:r>
            <a:r>
              <a:rPr sz="1100" spc="-10" dirty="0">
                <a:latin typeface="Georgia"/>
                <a:cs typeface="Georgia"/>
              </a:rPr>
              <a:t>especially</a:t>
            </a:r>
            <a:r>
              <a:rPr sz="1100" spc="30" dirty="0">
                <a:latin typeface="Georgia"/>
                <a:cs typeface="Georgia"/>
              </a:rPr>
              <a:t> </a:t>
            </a:r>
            <a:r>
              <a:rPr sz="1100" spc="-35" dirty="0">
                <a:latin typeface="Georgia"/>
                <a:cs typeface="Georgia"/>
              </a:rPr>
              <a:t>considering</a:t>
            </a:r>
            <a:r>
              <a:rPr sz="1100" spc="35" dirty="0">
                <a:latin typeface="Georgia"/>
                <a:cs typeface="Georgia"/>
              </a:rPr>
              <a:t> </a:t>
            </a:r>
            <a:r>
              <a:rPr sz="1100" dirty="0">
                <a:latin typeface="Georgia"/>
                <a:cs typeface="Georgia"/>
              </a:rPr>
              <a:t>that</a:t>
            </a:r>
            <a:r>
              <a:rPr sz="1100" spc="30" dirty="0">
                <a:latin typeface="Georgia"/>
                <a:cs typeface="Georgia"/>
              </a:rPr>
              <a:t> </a:t>
            </a:r>
            <a:r>
              <a:rPr sz="1100" spc="-20" dirty="0">
                <a:latin typeface="Georgia"/>
                <a:cs typeface="Georgia"/>
              </a:rPr>
              <a:t>such</a:t>
            </a:r>
            <a:r>
              <a:rPr sz="1100" spc="35" dirty="0">
                <a:latin typeface="Georgia"/>
                <a:cs typeface="Georgia"/>
              </a:rPr>
              <a:t> </a:t>
            </a:r>
            <a:r>
              <a:rPr sz="1100" dirty="0">
                <a:latin typeface="Georgia"/>
                <a:cs typeface="Georgia"/>
              </a:rPr>
              <a:t>data</a:t>
            </a:r>
            <a:r>
              <a:rPr sz="1100" spc="30" dirty="0">
                <a:latin typeface="Georgia"/>
                <a:cs typeface="Georgia"/>
              </a:rPr>
              <a:t> </a:t>
            </a:r>
            <a:r>
              <a:rPr sz="1100" dirty="0">
                <a:latin typeface="Georgia"/>
                <a:cs typeface="Georgia"/>
              </a:rPr>
              <a:t>can</a:t>
            </a:r>
            <a:r>
              <a:rPr sz="1100" spc="35" dirty="0">
                <a:latin typeface="Georgia"/>
                <a:cs typeface="Georgia"/>
              </a:rPr>
              <a:t> </a:t>
            </a:r>
            <a:r>
              <a:rPr sz="1100" dirty="0">
                <a:latin typeface="Georgia"/>
                <a:cs typeface="Georgia"/>
              </a:rPr>
              <a:t>be</a:t>
            </a:r>
            <a:r>
              <a:rPr sz="1100" spc="30" dirty="0">
                <a:latin typeface="Georgia"/>
                <a:cs typeface="Georgia"/>
              </a:rPr>
              <a:t> </a:t>
            </a:r>
            <a:r>
              <a:rPr sz="1100" spc="-20" dirty="0">
                <a:latin typeface="Georgia"/>
                <a:cs typeface="Georgia"/>
              </a:rPr>
              <a:t>very </a:t>
            </a:r>
            <a:r>
              <a:rPr sz="1100" spc="-25" dirty="0">
                <a:latin typeface="Georgia"/>
                <a:cs typeface="Georgia"/>
              </a:rPr>
              <a:t>sparse</a:t>
            </a:r>
            <a:r>
              <a:rPr sz="1100" dirty="0">
                <a:latin typeface="Georgia"/>
                <a:cs typeface="Georgia"/>
              </a:rPr>
              <a:t> and highly </a:t>
            </a:r>
            <a:r>
              <a:rPr sz="1100" spc="-10" dirty="0">
                <a:latin typeface="Georgia"/>
                <a:cs typeface="Georgia"/>
              </a:rPr>
              <a:t>skewed.</a:t>
            </a:r>
            <a:endParaRPr sz="1100">
              <a:latin typeface="Georgia"/>
              <a:cs typeface="Georgia"/>
            </a:endParaRPr>
          </a:p>
          <a:p>
            <a:pPr marL="12700" marR="17780">
              <a:lnSpc>
                <a:spcPts val="1150"/>
              </a:lnSpc>
              <a:spcBef>
                <a:spcPts val="730"/>
              </a:spcBef>
            </a:pPr>
            <a:r>
              <a:rPr sz="1100" b="1" spc="-45" dirty="0">
                <a:latin typeface="Georgia"/>
                <a:cs typeface="Georgia"/>
              </a:rPr>
              <a:t>Constraint–based</a:t>
            </a:r>
            <a:r>
              <a:rPr sz="1100" b="1" spc="80" dirty="0">
                <a:latin typeface="Georgia"/>
                <a:cs typeface="Georgia"/>
              </a:rPr>
              <a:t> </a:t>
            </a:r>
            <a:r>
              <a:rPr sz="1100" b="1" spc="-35" dirty="0">
                <a:latin typeface="Georgia"/>
                <a:cs typeface="Georgia"/>
              </a:rPr>
              <a:t>clustering</a:t>
            </a:r>
            <a:r>
              <a:rPr sz="1100" spc="-35" dirty="0">
                <a:latin typeface="Georgia"/>
                <a:cs typeface="Georgia"/>
              </a:rPr>
              <a:t>:</a:t>
            </a:r>
            <a:r>
              <a:rPr sz="1100" spc="150" dirty="0">
                <a:latin typeface="Georgia"/>
                <a:cs typeface="Georgia"/>
              </a:rPr>
              <a:t> </a:t>
            </a:r>
            <a:r>
              <a:rPr sz="1100" spc="-45" dirty="0">
                <a:latin typeface="Georgia"/>
                <a:cs typeface="Georgia"/>
              </a:rPr>
              <a:t>real–world</a:t>
            </a:r>
            <a:r>
              <a:rPr sz="1100" spc="50" dirty="0">
                <a:latin typeface="Georgia"/>
                <a:cs typeface="Georgia"/>
              </a:rPr>
              <a:t> </a:t>
            </a:r>
            <a:r>
              <a:rPr sz="1100" spc="-20" dirty="0">
                <a:latin typeface="Georgia"/>
                <a:cs typeface="Georgia"/>
              </a:rPr>
              <a:t>applications</a:t>
            </a:r>
            <a:r>
              <a:rPr sz="1100" spc="50" dirty="0">
                <a:latin typeface="Georgia"/>
                <a:cs typeface="Georgia"/>
              </a:rPr>
              <a:t> </a:t>
            </a:r>
            <a:r>
              <a:rPr sz="1100" dirty="0">
                <a:latin typeface="Georgia"/>
                <a:cs typeface="Georgia"/>
              </a:rPr>
              <a:t>may</a:t>
            </a:r>
            <a:r>
              <a:rPr sz="1100" spc="50" dirty="0">
                <a:latin typeface="Georgia"/>
                <a:cs typeface="Georgia"/>
              </a:rPr>
              <a:t> </a:t>
            </a:r>
            <a:r>
              <a:rPr sz="1100" spc="-30" dirty="0">
                <a:latin typeface="Georgia"/>
                <a:cs typeface="Georgia"/>
              </a:rPr>
              <a:t>need</a:t>
            </a:r>
            <a:r>
              <a:rPr sz="1100" spc="50" dirty="0">
                <a:latin typeface="Georgia"/>
                <a:cs typeface="Georgia"/>
              </a:rPr>
              <a:t> </a:t>
            </a:r>
            <a:r>
              <a:rPr sz="1100" dirty="0">
                <a:latin typeface="Georgia"/>
                <a:cs typeface="Georgia"/>
              </a:rPr>
              <a:t>to</a:t>
            </a:r>
            <a:r>
              <a:rPr sz="1100" spc="50" dirty="0">
                <a:latin typeface="Georgia"/>
                <a:cs typeface="Georgia"/>
              </a:rPr>
              <a:t> </a:t>
            </a:r>
            <a:r>
              <a:rPr sz="1100" spc="-10" dirty="0">
                <a:latin typeface="Georgia"/>
                <a:cs typeface="Georgia"/>
              </a:rPr>
              <a:t>perform </a:t>
            </a:r>
            <a:r>
              <a:rPr sz="1100" spc="-20" dirty="0">
                <a:latin typeface="Georgia"/>
                <a:cs typeface="Georgia"/>
              </a:rPr>
              <a:t>clustering</a:t>
            </a:r>
            <a:r>
              <a:rPr sz="1100" spc="15" dirty="0">
                <a:latin typeface="Georgia"/>
                <a:cs typeface="Georgia"/>
              </a:rPr>
              <a:t> </a:t>
            </a:r>
            <a:r>
              <a:rPr sz="1100" spc="-25" dirty="0">
                <a:latin typeface="Georgia"/>
                <a:cs typeface="Georgia"/>
              </a:rPr>
              <a:t>under</a:t>
            </a:r>
            <a:r>
              <a:rPr sz="1100" spc="20" dirty="0">
                <a:latin typeface="Georgia"/>
                <a:cs typeface="Georgia"/>
              </a:rPr>
              <a:t> </a:t>
            </a:r>
            <a:r>
              <a:rPr sz="1100" spc="-25" dirty="0">
                <a:latin typeface="Georgia"/>
                <a:cs typeface="Georgia"/>
              </a:rPr>
              <a:t>various</a:t>
            </a:r>
            <a:r>
              <a:rPr sz="1100" spc="20" dirty="0">
                <a:latin typeface="Georgia"/>
                <a:cs typeface="Georgia"/>
              </a:rPr>
              <a:t> </a:t>
            </a:r>
            <a:r>
              <a:rPr sz="1100" spc="-20" dirty="0">
                <a:latin typeface="Georgia"/>
                <a:cs typeface="Georgia"/>
              </a:rPr>
              <a:t>kinds</a:t>
            </a:r>
            <a:r>
              <a:rPr sz="1100" spc="20" dirty="0">
                <a:latin typeface="Georgia"/>
                <a:cs typeface="Georgia"/>
              </a:rPr>
              <a:t> </a:t>
            </a:r>
            <a:r>
              <a:rPr sz="1100" dirty="0">
                <a:latin typeface="Georgia"/>
                <a:cs typeface="Georgia"/>
              </a:rPr>
              <a:t>of</a:t>
            </a:r>
            <a:r>
              <a:rPr sz="1100" spc="15" dirty="0">
                <a:latin typeface="Georgia"/>
                <a:cs typeface="Georgia"/>
              </a:rPr>
              <a:t> </a:t>
            </a:r>
            <a:r>
              <a:rPr sz="1100" spc="-20" dirty="0">
                <a:latin typeface="Georgia"/>
                <a:cs typeface="Georgia"/>
              </a:rPr>
              <a:t>constraints,</a:t>
            </a:r>
            <a:r>
              <a:rPr sz="1100" spc="20" dirty="0">
                <a:latin typeface="Georgia"/>
                <a:cs typeface="Georgia"/>
              </a:rPr>
              <a:t> </a:t>
            </a:r>
            <a:r>
              <a:rPr sz="1100" dirty="0">
                <a:latin typeface="Georgia"/>
                <a:cs typeface="Georgia"/>
              </a:rPr>
              <a:t>e.g.,</a:t>
            </a:r>
            <a:r>
              <a:rPr sz="1100" spc="20" dirty="0">
                <a:latin typeface="Georgia"/>
                <a:cs typeface="Georgia"/>
              </a:rPr>
              <a:t> </a:t>
            </a:r>
            <a:r>
              <a:rPr sz="1100" dirty="0">
                <a:latin typeface="Georgia"/>
                <a:cs typeface="Georgia"/>
              </a:rPr>
              <a:t>two</a:t>
            </a:r>
            <a:r>
              <a:rPr sz="1100" spc="20" dirty="0">
                <a:latin typeface="Georgia"/>
                <a:cs typeface="Georgia"/>
              </a:rPr>
              <a:t> </a:t>
            </a:r>
            <a:r>
              <a:rPr sz="1100" spc="-10" dirty="0">
                <a:latin typeface="Georgia"/>
                <a:cs typeface="Georgia"/>
              </a:rPr>
              <a:t>particular</a:t>
            </a:r>
            <a:r>
              <a:rPr sz="1100" spc="20" dirty="0">
                <a:latin typeface="Georgia"/>
                <a:cs typeface="Georgia"/>
              </a:rPr>
              <a:t> </a:t>
            </a:r>
            <a:r>
              <a:rPr sz="1100" dirty="0">
                <a:latin typeface="Georgia"/>
                <a:cs typeface="Georgia"/>
              </a:rPr>
              <a:t>data</a:t>
            </a:r>
            <a:r>
              <a:rPr sz="1100" spc="15" dirty="0">
                <a:latin typeface="Georgia"/>
                <a:cs typeface="Georgia"/>
              </a:rPr>
              <a:t> </a:t>
            </a:r>
            <a:r>
              <a:rPr sz="1100" spc="-10" dirty="0">
                <a:latin typeface="Georgia"/>
                <a:cs typeface="Georgia"/>
              </a:rPr>
              <a:t>points</a:t>
            </a:r>
            <a:r>
              <a:rPr sz="1100" spc="20" dirty="0">
                <a:latin typeface="Georgia"/>
                <a:cs typeface="Georgia"/>
              </a:rPr>
              <a:t> </a:t>
            </a:r>
            <a:r>
              <a:rPr sz="1100" spc="-10" dirty="0">
                <a:latin typeface="Georgia"/>
                <a:cs typeface="Georgia"/>
              </a:rPr>
              <a:t>cannot </a:t>
            </a:r>
            <a:r>
              <a:rPr sz="1100" dirty="0">
                <a:latin typeface="Georgia"/>
                <a:cs typeface="Georgia"/>
              </a:rPr>
              <a:t>be</a:t>
            </a:r>
            <a:r>
              <a:rPr sz="1100" spc="10" dirty="0">
                <a:latin typeface="Georgia"/>
                <a:cs typeface="Georgia"/>
              </a:rPr>
              <a:t> </a:t>
            </a:r>
            <a:r>
              <a:rPr sz="1100" dirty="0">
                <a:latin typeface="Georgia"/>
                <a:cs typeface="Georgia"/>
              </a:rPr>
              <a:t>in</a:t>
            </a:r>
            <a:r>
              <a:rPr sz="1100" spc="10" dirty="0">
                <a:latin typeface="Georgia"/>
                <a:cs typeface="Georgia"/>
              </a:rPr>
              <a:t> </a:t>
            </a:r>
            <a:r>
              <a:rPr sz="1100" dirty="0">
                <a:latin typeface="Georgia"/>
                <a:cs typeface="Georgia"/>
              </a:rPr>
              <a:t>the</a:t>
            </a:r>
            <a:r>
              <a:rPr sz="1100" spc="10" dirty="0">
                <a:latin typeface="Georgia"/>
                <a:cs typeface="Georgia"/>
              </a:rPr>
              <a:t> </a:t>
            </a:r>
            <a:r>
              <a:rPr sz="1100" spc="-25" dirty="0">
                <a:latin typeface="Georgia"/>
                <a:cs typeface="Georgia"/>
              </a:rPr>
              <a:t>same</a:t>
            </a:r>
            <a:r>
              <a:rPr sz="1100" spc="15" dirty="0">
                <a:latin typeface="Georgia"/>
                <a:cs typeface="Georgia"/>
              </a:rPr>
              <a:t> </a:t>
            </a:r>
            <a:r>
              <a:rPr sz="1100" spc="-10" dirty="0">
                <a:latin typeface="Georgia"/>
                <a:cs typeface="Georgia"/>
              </a:rPr>
              <a:t>cluster</a:t>
            </a:r>
            <a:r>
              <a:rPr sz="1100" spc="10" dirty="0">
                <a:latin typeface="Georgia"/>
                <a:cs typeface="Georgia"/>
              </a:rPr>
              <a:t> </a:t>
            </a:r>
            <a:r>
              <a:rPr sz="1100" dirty="0">
                <a:latin typeface="Georgia"/>
                <a:cs typeface="Georgia"/>
              </a:rPr>
              <a:t>or</a:t>
            </a:r>
            <a:r>
              <a:rPr sz="1100" spc="10" dirty="0">
                <a:latin typeface="Georgia"/>
                <a:cs typeface="Georgia"/>
              </a:rPr>
              <a:t> </a:t>
            </a:r>
            <a:r>
              <a:rPr sz="1100" dirty="0">
                <a:latin typeface="Georgia"/>
                <a:cs typeface="Georgia"/>
              </a:rPr>
              <a:t>vice</a:t>
            </a:r>
            <a:r>
              <a:rPr sz="1100" spc="15" dirty="0">
                <a:latin typeface="Georgia"/>
                <a:cs typeface="Georgia"/>
              </a:rPr>
              <a:t> </a:t>
            </a:r>
            <a:r>
              <a:rPr sz="1100" dirty="0">
                <a:latin typeface="Georgia"/>
                <a:cs typeface="Georgia"/>
              </a:rPr>
              <a:t>versa.</a:t>
            </a:r>
            <a:r>
              <a:rPr sz="1100" spc="100" dirty="0">
                <a:latin typeface="Georgia"/>
                <a:cs typeface="Georgia"/>
              </a:rPr>
              <a:t> </a:t>
            </a:r>
            <a:r>
              <a:rPr sz="1100" spc="-10" dirty="0">
                <a:latin typeface="Georgia"/>
                <a:cs typeface="Georgia"/>
              </a:rPr>
              <a:t>Constraint</a:t>
            </a:r>
            <a:r>
              <a:rPr sz="1100" spc="10" dirty="0">
                <a:latin typeface="Georgia"/>
                <a:cs typeface="Georgia"/>
              </a:rPr>
              <a:t> </a:t>
            </a:r>
            <a:r>
              <a:rPr sz="1100" spc="-20" dirty="0">
                <a:latin typeface="Georgia"/>
                <a:cs typeface="Georgia"/>
              </a:rPr>
              <a:t>integration</a:t>
            </a:r>
            <a:r>
              <a:rPr sz="1100" spc="10" dirty="0">
                <a:latin typeface="Georgia"/>
                <a:cs typeface="Georgia"/>
              </a:rPr>
              <a:t> </a:t>
            </a:r>
            <a:r>
              <a:rPr sz="1100" dirty="0">
                <a:latin typeface="Georgia"/>
                <a:cs typeface="Georgia"/>
              </a:rPr>
              <a:t>into</a:t>
            </a:r>
            <a:r>
              <a:rPr sz="1100" spc="15" dirty="0">
                <a:latin typeface="Georgia"/>
                <a:cs typeface="Georgia"/>
              </a:rPr>
              <a:t> </a:t>
            </a:r>
            <a:r>
              <a:rPr sz="1100" spc="-10" dirty="0">
                <a:latin typeface="Georgia"/>
                <a:cs typeface="Georgia"/>
              </a:rPr>
              <a:t>clustering </a:t>
            </a:r>
            <a:r>
              <a:rPr sz="1100" spc="-25" dirty="0">
                <a:latin typeface="Georgia"/>
                <a:cs typeface="Georgia"/>
              </a:rPr>
              <a:t>algorithms</a:t>
            </a:r>
            <a:r>
              <a:rPr sz="1100" spc="10" dirty="0">
                <a:latin typeface="Georgia"/>
                <a:cs typeface="Georgia"/>
              </a:rPr>
              <a:t> </a:t>
            </a:r>
            <a:r>
              <a:rPr sz="1100" dirty="0">
                <a:latin typeface="Georgia"/>
                <a:cs typeface="Georgia"/>
              </a:rPr>
              <a:t>is</a:t>
            </a:r>
            <a:r>
              <a:rPr sz="1100" spc="15" dirty="0">
                <a:latin typeface="Georgia"/>
                <a:cs typeface="Georgia"/>
              </a:rPr>
              <a:t> </a:t>
            </a:r>
            <a:r>
              <a:rPr sz="1100" spc="-10" dirty="0">
                <a:latin typeface="Georgia"/>
                <a:cs typeface="Georgia"/>
              </a:rPr>
              <a:t>important</a:t>
            </a:r>
            <a:r>
              <a:rPr sz="1100" spc="10" dirty="0">
                <a:latin typeface="Georgia"/>
                <a:cs typeface="Georgia"/>
              </a:rPr>
              <a:t> </a:t>
            </a:r>
            <a:r>
              <a:rPr sz="1100" dirty="0">
                <a:latin typeface="Georgia"/>
                <a:cs typeface="Georgia"/>
              </a:rPr>
              <a:t>in</a:t>
            </a:r>
            <a:r>
              <a:rPr sz="1100" spc="15" dirty="0">
                <a:latin typeface="Georgia"/>
                <a:cs typeface="Georgia"/>
              </a:rPr>
              <a:t> </a:t>
            </a:r>
            <a:r>
              <a:rPr sz="1100" spc="-35" dirty="0">
                <a:latin typeface="Georgia"/>
                <a:cs typeface="Georgia"/>
              </a:rPr>
              <a:t>some</a:t>
            </a:r>
            <a:r>
              <a:rPr sz="1100" spc="10" dirty="0">
                <a:latin typeface="Georgia"/>
                <a:cs typeface="Georgia"/>
              </a:rPr>
              <a:t> </a:t>
            </a:r>
            <a:r>
              <a:rPr sz="1100" spc="-10" dirty="0">
                <a:latin typeface="Georgia"/>
                <a:cs typeface="Georgia"/>
              </a:rPr>
              <a:t>application</a:t>
            </a:r>
            <a:r>
              <a:rPr sz="1100" spc="15" dirty="0">
                <a:latin typeface="Georgia"/>
                <a:cs typeface="Georgia"/>
              </a:rPr>
              <a:t> </a:t>
            </a:r>
            <a:r>
              <a:rPr sz="1100" spc="-10" dirty="0">
                <a:latin typeface="Georgia"/>
                <a:cs typeface="Georgia"/>
              </a:rPr>
              <a:t>domains.</a:t>
            </a:r>
            <a:endParaRPr sz="1100">
              <a:latin typeface="Georgia"/>
              <a:cs typeface="Georgia"/>
            </a:endParaRPr>
          </a:p>
          <a:p>
            <a:pPr marL="12700" marR="33655" algn="just">
              <a:lnSpc>
                <a:spcPts val="1150"/>
              </a:lnSpc>
              <a:spcBef>
                <a:spcPts val="730"/>
              </a:spcBef>
            </a:pPr>
            <a:r>
              <a:rPr sz="1100" b="1" spc="-25" dirty="0">
                <a:latin typeface="Georgia"/>
                <a:cs typeface="Georgia"/>
              </a:rPr>
              <a:t>Interpretability</a:t>
            </a:r>
            <a:r>
              <a:rPr sz="1100" b="1" spc="15" dirty="0">
                <a:latin typeface="Georgia"/>
                <a:cs typeface="Georgia"/>
              </a:rPr>
              <a:t> </a:t>
            </a:r>
            <a:r>
              <a:rPr sz="1100" b="1" dirty="0">
                <a:latin typeface="Georgia"/>
                <a:cs typeface="Georgia"/>
              </a:rPr>
              <a:t>and</a:t>
            </a:r>
            <a:r>
              <a:rPr sz="1100" b="1" spc="20" dirty="0">
                <a:latin typeface="Georgia"/>
                <a:cs typeface="Georgia"/>
              </a:rPr>
              <a:t> </a:t>
            </a:r>
            <a:r>
              <a:rPr sz="1100" b="1" spc="-10" dirty="0">
                <a:latin typeface="Georgia"/>
                <a:cs typeface="Georgia"/>
              </a:rPr>
              <a:t>usability</a:t>
            </a:r>
            <a:r>
              <a:rPr sz="1100" spc="-10" dirty="0">
                <a:latin typeface="Georgia"/>
                <a:cs typeface="Georgia"/>
              </a:rPr>
              <a:t>:</a:t>
            </a:r>
            <a:r>
              <a:rPr sz="1100" spc="75" dirty="0">
                <a:latin typeface="Georgia"/>
                <a:cs typeface="Georgia"/>
              </a:rPr>
              <a:t> </a:t>
            </a:r>
            <a:r>
              <a:rPr sz="1100" spc="-20" dirty="0">
                <a:latin typeface="Georgia"/>
                <a:cs typeface="Georgia"/>
              </a:rPr>
              <a:t>users</a:t>
            </a:r>
            <a:r>
              <a:rPr sz="1100" spc="-5" dirty="0">
                <a:latin typeface="Georgia"/>
                <a:cs typeface="Georgia"/>
              </a:rPr>
              <a:t> </a:t>
            </a:r>
            <a:r>
              <a:rPr sz="1100" dirty="0">
                <a:latin typeface="Georgia"/>
                <a:cs typeface="Georgia"/>
              </a:rPr>
              <a:t>want</a:t>
            </a:r>
            <a:r>
              <a:rPr sz="1100" spc="-5" dirty="0">
                <a:latin typeface="Georgia"/>
                <a:cs typeface="Georgia"/>
              </a:rPr>
              <a:t> </a:t>
            </a:r>
            <a:r>
              <a:rPr sz="1100" spc="-20" dirty="0">
                <a:latin typeface="Georgia"/>
                <a:cs typeface="Georgia"/>
              </a:rPr>
              <a:t>clustering</a:t>
            </a:r>
            <a:r>
              <a:rPr sz="1100" spc="-5" dirty="0">
                <a:latin typeface="Georgia"/>
                <a:cs typeface="Georgia"/>
              </a:rPr>
              <a:t> </a:t>
            </a:r>
            <a:r>
              <a:rPr sz="1100" spc="-10" dirty="0">
                <a:latin typeface="Georgia"/>
                <a:cs typeface="Georgia"/>
              </a:rPr>
              <a:t>results </a:t>
            </a:r>
            <a:r>
              <a:rPr sz="1100" dirty="0">
                <a:latin typeface="Georgia"/>
                <a:cs typeface="Georgia"/>
              </a:rPr>
              <a:t>to</a:t>
            </a:r>
            <a:r>
              <a:rPr sz="1100" spc="-5" dirty="0">
                <a:latin typeface="Georgia"/>
                <a:cs typeface="Georgia"/>
              </a:rPr>
              <a:t> </a:t>
            </a:r>
            <a:r>
              <a:rPr sz="1100" dirty="0">
                <a:latin typeface="Georgia"/>
                <a:cs typeface="Georgia"/>
              </a:rPr>
              <a:t>be</a:t>
            </a:r>
            <a:r>
              <a:rPr sz="1100" spc="-5" dirty="0">
                <a:latin typeface="Georgia"/>
                <a:cs typeface="Georgia"/>
              </a:rPr>
              <a:t> </a:t>
            </a:r>
            <a:r>
              <a:rPr sz="1100" spc="-10" dirty="0">
                <a:latin typeface="Georgia"/>
                <a:cs typeface="Georgia"/>
              </a:rPr>
              <a:t>interpretable, </a:t>
            </a:r>
            <a:r>
              <a:rPr sz="1100" spc="-35" dirty="0">
                <a:latin typeface="Georgia"/>
                <a:cs typeface="Georgia"/>
              </a:rPr>
              <a:t>comprehensible,</a:t>
            </a:r>
            <a:r>
              <a:rPr sz="1100" spc="30" dirty="0">
                <a:latin typeface="Georgia"/>
                <a:cs typeface="Georgia"/>
              </a:rPr>
              <a:t> </a:t>
            </a:r>
            <a:r>
              <a:rPr sz="1100" dirty="0">
                <a:latin typeface="Georgia"/>
                <a:cs typeface="Georgia"/>
              </a:rPr>
              <a:t>and</a:t>
            </a:r>
            <a:r>
              <a:rPr sz="1100" spc="30" dirty="0">
                <a:latin typeface="Georgia"/>
                <a:cs typeface="Georgia"/>
              </a:rPr>
              <a:t> </a:t>
            </a:r>
            <a:r>
              <a:rPr sz="1100" dirty="0">
                <a:latin typeface="Georgia"/>
                <a:cs typeface="Georgia"/>
              </a:rPr>
              <a:t>usable.</a:t>
            </a:r>
            <a:r>
              <a:rPr sz="1100" spc="130" dirty="0">
                <a:latin typeface="Georgia"/>
                <a:cs typeface="Georgia"/>
              </a:rPr>
              <a:t> </a:t>
            </a:r>
            <a:r>
              <a:rPr sz="1100" dirty="0">
                <a:latin typeface="Georgia"/>
                <a:cs typeface="Georgia"/>
              </a:rPr>
              <a:t>That</a:t>
            </a:r>
            <a:r>
              <a:rPr sz="1100" spc="30" dirty="0">
                <a:latin typeface="Georgia"/>
                <a:cs typeface="Georgia"/>
              </a:rPr>
              <a:t> </a:t>
            </a:r>
            <a:r>
              <a:rPr sz="1100" dirty="0">
                <a:latin typeface="Georgia"/>
                <a:cs typeface="Georgia"/>
              </a:rPr>
              <a:t>is,</a:t>
            </a:r>
            <a:r>
              <a:rPr sz="1100" spc="30" dirty="0">
                <a:latin typeface="Georgia"/>
                <a:cs typeface="Georgia"/>
              </a:rPr>
              <a:t> </a:t>
            </a:r>
            <a:r>
              <a:rPr sz="1100" spc="-20" dirty="0">
                <a:latin typeface="Georgia"/>
                <a:cs typeface="Georgia"/>
              </a:rPr>
              <a:t>clustering</a:t>
            </a:r>
            <a:r>
              <a:rPr sz="1100" spc="35" dirty="0">
                <a:latin typeface="Georgia"/>
                <a:cs typeface="Georgia"/>
              </a:rPr>
              <a:t> </a:t>
            </a:r>
            <a:r>
              <a:rPr sz="1100" dirty="0">
                <a:latin typeface="Georgia"/>
                <a:cs typeface="Georgia"/>
              </a:rPr>
              <a:t>may</a:t>
            </a:r>
            <a:r>
              <a:rPr sz="1100" spc="30" dirty="0">
                <a:latin typeface="Georgia"/>
                <a:cs typeface="Georgia"/>
              </a:rPr>
              <a:t> </a:t>
            </a:r>
            <a:r>
              <a:rPr sz="1100" spc="-20" dirty="0">
                <a:latin typeface="Georgia"/>
                <a:cs typeface="Georgia"/>
              </a:rPr>
              <a:t>need</a:t>
            </a:r>
            <a:r>
              <a:rPr sz="1100" spc="35" dirty="0">
                <a:latin typeface="Georgia"/>
                <a:cs typeface="Georgia"/>
              </a:rPr>
              <a:t> </a:t>
            </a:r>
            <a:r>
              <a:rPr sz="1100" dirty="0">
                <a:latin typeface="Georgia"/>
                <a:cs typeface="Georgia"/>
              </a:rPr>
              <a:t>to</a:t>
            </a:r>
            <a:r>
              <a:rPr sz="1100" spc="30" dirty="0">
                <a:latin typeface="Georgia"/>
                <a:cs typeface="Georgia"/>
              </a:rPr>
              <a:t> </a:t>
            </a:r>
            <a:r>
              <a:rPr sz="1100" dirty="0">
                <a:latin typeface="Georgia"/>
                <a:cs typeface="Georgia"/>
              </a:rPr>
              <a:t>be</a:t>
            </a:r>
            <a:r>
              <a:rPr sz="1100" spc="30" dirty="0">
                <a:latin typeface="Georgia"/>
                <a:cs typeface="Georgia"/>
              </a:rPr>
              <a:t> </a:t>
            </a:r>
            <a:r>
              <a:rPr sz="1100" dirty="0">
                <a:latin typeface="Georgia"/>
                <a:cs typeface="Georgia"/>
              </a:rPr>
              <a:t>tied</a:t>
            </a:r>
            <a:r>
              <a:rPr sz="1100" spc="35" dirty="0">
                <a:latin typeface="Georgia"/>
                <a:cs typeface="Georgia"/>
              </a:rPr>
              <a:t> </a:t>
            </a:r>
            <a:r>
              <a:rPr sz="1100" dirty="0">
                <a:latin typeface="Georgia"/>
                <a:cs typeface="Georgia"/>
              </a:rPr>
              <a:t>in</a:t>
            </a:r>
            <a:r>
              <a:rPr sz="1100" spc="30" dirty="0">
                <a:latin typeface="Georgia"/>
                <a:cs typeface="Georgia"/>
              </a:rPr>
              <a:t> </a:t>
            </a:r>
            <a:r>
              <a:rPr sz="1100" dirty="0">
                <a:latin typeface="Georgia"/>
                <a:cs typeface="Georgia"/>
              </a:rPr>
              <a:t>with</a:t>
            </a:r>
            <a:r>
              <a:rPr sz="1100" spc="35" dirty="0">
                <a:latin typeface="Georgia"/>
                <a:cs typeface="Georgia"/>
              </a:rPr>
              <a:t> </a:t>
            </a:r>
            <a:r>
              <a:rPr sz="1100" spc="-10" dirty="0">
                <a:latin typeface="Georgia"/>
                <a:cs typeface="Georgia"/>
              </a:rPr>
              <a:t>specific </a:t>
            </a:r>
            <a:r>
              <a:rPr sz="1100" spc="-30" dirty="0">
                <a:latin typeface="Georgia"/>
                <a:cs typeface="Georgia"/>
              </a:rPr>
              <a:t>semantic</a:t>
            </a:r>
            <a:r>
              <a:rPr sz="1100" spc="40" dirty="0">
                <a:latin typeface="Georgia"/>
                <a:cs typeface="Georgia"/>
              </a:rPr>
              <a:t> </a:t>
            </a:r>
            <a:r>
              <a:rPr sz="1100" spc="-25" dirty="0">
                <a:latin typeface="Georgia"/>
                <a:cs typeface="Georgia"/>
              </a:rPr>
              <a:t>interpretations</a:t>
            </a:r>
            <a:r>
              <a:rPr sz="1100" spc="40" dirty="0">
                <a:latin typeface="Georgia"/>
                <a:cs typeface="Georgia"/>
              </a:rPr>
              <a:t> </a:t>
            </a:r>
            <a:r>
              <a:rPr sz="1100" dirty="0">
                <a:latin typeface="Georgia"/>
                <a:cs typeface="Georgia"/>
              </a:rPr>
              <a:t>and</a:t>
            </a:r>
            <a:r>
              <a:rPr sz="1100" spc="45" dirty="0">
                <a:latin typeface="Georgia"/>
                <a:cs typeface="Georgia"/>
              </a:rPr>
              <a:t> </a:t>
            </a:r>
            <a:r>
              <a:rPr sz="1100" spc="-10" dirty="0">
                <a:latin typeface="Georgia"/>
                <a:cs typeface="Georgia"/>
              </a:rPr>
              <a:t>applications.</a:t>
            </a:r>
            <a:endParaRPr sz="1100">
              <a:latin typeface="Georgia"/>
              <a:cs typeface="Georgia"/>
            </a:endParaRPr>
          </a:p>
        </p:txBody>
      </p:sp>
      <p:sp>
        <p:nvSpPr>
          <p:cNvPr id="5" name="object 5"/>
          <p:cNvSpPr/>
          <p:nvPr/>
        </p:nvSpPr>
        <p:spPr>
          <a:xfrm>
            <a:off x="337972" y="120806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88507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256208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8" name="object 8"/>
          <p:cNvGrpSpPr/>
          <p:nvPr/>
        </p:nvGrpSpPr>
        <p:grpSpPr>
          <a:xfrm>
            <a:off x="0" y="3121545"/>
            <a:ext cx="5760085" cy="118745"/>
            <a:chOff x="0" y="3121545"/>
            <a:chExt cx="5760085" cy="118745"/>
          </a:xfrm>
        </p:grpSpPr>
        <p:sp>
          <p:nvSpPr>
            <p:cNvPr id="9" name="object 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0" name="object 1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2" name="object 1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11</a:t>
            </a:fld>
            <a:r>
              <a:rPr spc="-25" dirty="0"/>
              <a:t> </a:t>
            </a:r>
            <a:r>
              <a:rPr spc="75" dirty="0"/>
              <a:t>/</a:t>
            </a:r>
            <a:r>
              <a:rPr spc="-25" dirty="0"/>
              <a:t> </a:t>
            </a:r>
            <a:r>
              <a:rPr spc="35" dirty="0"/>
              <a:t>135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Clustering</a:t>
            </a:r>
            <a:r>
              <a:rPr spc="365" dirty="0"/>
              <a:t> </a:t>
            </a:r>
            <a:r>
              <a:rPr spc="-10" dirty="0"/>
              <a:t>approaches</a:t>
            </a:r>
          </a:p>
        </p:txBody>
      </p:sp>
      <p:sp>
        <p:nvSpPr>
          <p:cNvPr id="3" name="object 3"/>
          <p:cNvSpPr/>
          <p:nvPr/>
        </p:nvSpPr>
        <p:spPr>
          <a:xfrm>
            <a:off x="337972" y="67331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620229" y="886853"/>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5" name="object 5"/>
          <p:cNvSpPr/>
          <p:nvPr/>
        </p:nvSpPr>
        <p:spPr>
          <a:xfrm>
            <a:off x="620229" y="1069911"/>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6" name="object 6"/>
          <p:cNvSpPr/>
          <p:nvPr/>
        </p:nvSpPr>
        <p:spPr>
          <a:xfrm>
            <a:off x="620229" y="1252969"/>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7" name="object 7"/>
          <p:cNvSpPr/>
          <p:nvPr/>
        </p:nvSpPr>
        <p:spPr>
          <a:xfrm>
            <a:off x="620229" y="1436014"/>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8" name="object 8"/>
          <p:cNvSpPr/>
          <p:nvPr/>
        </p:nvSpPr>
        <p:spPr>
          <a:xfrm>
            <a:off x="337972" y="167714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p:nvPr/>
        </p:nvSpPr>
        <p:spPr>
          <a:xfrm>
            <a:off x="620229" y="1890699"/>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0" name="object 10"/>
          <p:cNvSpPr/>
          <p:nvPr/>
        </p:nvSpPr>
        <p:spPr>
          <a:xfrm>
            <a:off x="620229" y="2073744"/>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1" name="object 11"/>
          <p:cNvSpPr/>
          <p:nvPr/>
        </p:nvSpPr>
        <p:spPr>
          <a:xfrm>
            <a:off x="620229" y="2256802"/>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2" name="object 12"/>
          <p:cNvSpPr/>
          <p:nvPr/>
        </p:nvSpPr>
        <p:spPr>
          <a:xfrm>
            <a:off x="620229" y="2439860"/>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3" name="object 13"/>
          <p:cNvSpPr/>
          <p:nvPr/>
        </p:nvSpPr>
        <p:spPr>
          <a:xfrm>
            <a:off x="620229" y="2622918"/>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4" name="object 14"/>
          <p:cNvSpPr txBox="1"/>
          <p:nvPr/>
        </p:nvSpPr>
        <p:spPr>
          <a:xfrm>
            <a:off x="454177" y="522445"/>
            <a:ext cx="5006340" cy="2193290"/>
          </a:xfrm>
          <a:prstGeom prst="rect">
            <a:avLst/>
          </a:prstGeom>
        </p:spPr>
        <p:txBody>
          <a:bodyPr vert="horz" wrap="square" lIns="0" tIns="70485" rIns="0" bIns="0" rtlCol="0">
            <a:spAutoFit/>
          </a:bodyPr>
          <a:lstStyle/>
          <a:p>
            <a:pPr marL="12700">
              <a:lnSpc>
                <a:spcPct val="100000"/>
              </a:lnSpc>
              <a:spcBef>
                <a:spcPts val="555"/>
              </a:spcBef>
            </a:pPr>
            <a:r>
              <a:rPr sz="1100" b="1" spc="-50" dirty="0">
                <a:latin typeface="Georgia"/>
                <a:cs typeface="Georgia"/>
              </a:rPr>
              <a:t>Hierarchical</a:t>
            </a:r>
            <a:r>
              <a:rPr sz="1100" b="1" spc="50" dirty="0">
                <a:latin typeface="Georgia"/>
                <a:cs typeface="Georgia"/>
              </a:rPr>
              <a:t> </a:t>
            </a:r>
            <a:r>
              <a:rPr sz="1100" b="1" spc="-35" dirty="0">
                <a:latin typeface="Georgia"/>
                <a:cs typeface="Georgia"/>
              </a:rPr>
              <a:t>methods</a:t>
            </a:r>
            <a:r>
              <a:rPr sz="1100" spc="-35" dirty="0">
                <a:latin typeface="Georgia"/>
                <a:cs typeface="Georgia"/>
              </a:rPr>
              <a:t>:</a:t>
            </a:r>
            <a:r>
              <a:rPr sz="1100" spc="110" dirty="0">
                <a:latin typeface="Georgia"/>
                <a:cs typeface="Georgia"/>
              </a:rPr>
              <a:t> </a:t>
            </a:r>
            <a:r>
              <a:rPr sz="1100" dirty="0">
                <a:latin typeface="Georgia"/>
                <a:cs typeface="Georgia"/>
              </a:rPr>
              <a:t>also</a:t>
            </a:r>
            <a:r>
              <a:rPr sz="1100" spc="20" dirty="0">
                <a:latin typeface="Georgia"/>
                <a:cs typeface="Georgia"/>
              </a:rPr>
              <a:t> </a:t>
            </a:r>
            <a:r>
              <a:rPr sz="1100" spc="-10" dirty="0">
                <a:latin typeface="Georgia"/>
                <a:cs typeface="Georgia"/>
              </a:rPr>
              <a:t>called</a:t>
            </a:r>
            <a:r>
              <a:rPr sz="1100" spc="25" dirty="0">
                <a:latin typeface="Georgia"/>
                <a:cs typeface="Georgia"/>
              </a:rPr>
              <a:t> </a:t>
            </a:r>
            <a:r>
              <a:rPr sz="1100" spc="-10" dirty="0">
                <a:latin typeface="Georgia"/>
                <a:cs typeface="Georgia"/>
              </a:rPr>
              <a:t>connectivity</a:t>
            </a:r>
            <a:r>
              <a:rPr sz="1100" spc="20" dirty="0">
                <a:latin typeface="Georgia"/>
                <a:cs typeface="Georgia"/>
              </a:rPr>
              <a:t> </a:t>
            </a:r>
            <a:r>
              <a:rPr sz="1100" spc="-10" dirty="0">
                <a:latin typeface="Georgia"/>
                <a:cs typeface="Georgia"/>
              </a:rPr>
              <a:t>methods</a:t>
            </a:r>
            <a:endParaRPr sz="1100">
              <a:latin typeface="Georgia"/>
              <a:cs typeface="Georgia"/>
            </a:endParaRPr>
          </a:p>
          <a:p>
            <a:pPr marL="289560" marR="5080">
              <a:lnSpc>
                <a:spcPct val="120100"/>
              </a:lnSpc>
              <a:spcBef>
                <a:spcPts val="180"/>
              </a:spcBef>
            </a:pPr>
            <a:r>
              <a:rPr sz="1000" dirty="0">
                <a:latin typeface="Georgia"/>
                <a:cs typeface="Georgia"/>
              </a:rPr>
              <a:t>Create</a:t>
            </a:r>
            <a:r>
              <a:rPr sz="1000" spc="35" dirty="0">
                <a:latin typeface="Georgia"/>
                <a:cs typeface="Georgia"/>
              </a:rPr>
              <a:t> </a:t>
            </a:r>
            <a:r>
              <a:rPr sz="1000" dirty="0">
                <a:latin typeface="Georgia"/>
                <a:cs typeface="Georgia"/>
              </a:rPr>
              <a:t>a</a:t>
            </a:r>
            <a:r>
              <a:rPr sz="1000" spc="40" dirty="0">
                <a:latin typeface="Georgia"/>
                <a:cs typeface="Georgia"/>
              </a:rPr>
              <a:t> </a:t>
            </a:r>
            <a:r>
              <a:rPr sz="1000" spc="-20" dirty="0">
                <a:latin typeface="Georgia"/>
                <a:cs typeface="Georgia"/>
              </a:rPr>
              <a:t>hierarchical</a:t>
            </a:r>
            <a:r>
              <a:rPr sz="1000" spc="40" dirty="0">
                <a:latin typeface="Georgia"/>
                <a:cs typeface="Georgia"/>
              </a:rPr>
              <a:t> </a:t>
            </a:r>
            <a:r>
              <a:rPr sz="1000" spc="-25" dirty="0">
                <a:latin typeface="Georgia"/>
                <a:cs typeface="Georgia"/>
              </a:rPr>
              <a:t>decomposition</a:t>
            </a:r>
            <a:r>
              <a:rPr sz="1000" spc="35" dirty="0">
                <a:latin typeface="Georgia"/>
                <a:cs typeface="Georgia"/>
              </a:rPr>
              <a:t> </a:t>
            </a:r>
            <a:r>
              <a:rPr sz="1000" dirty="0">
                <a:latin typeface="Georgia"/>
                <a:cs typeface="Georgia"/>
              </a:rPr>
              <a:t>of</a:t>
            </a:r>
            <a:r>
              <a:rPr sz="1000" spc="40" dirty="0">
                <a:latin typeface="Georgia"/>
                <a:cs typeface="Georgia"/>
              </a:rPr>
              <a:t> </a:t>
            </a:r>
            <a:r>
              <a:rPr sz="1000" dirty="0">
                <a:latin typeface="Georgia"/>
                <a:cs typeface="Georgia"/>
              </a:rPr>
              <a:t>data,</a:t>
            </a:r>
            <a:r>
              <a:rPr sz="1000" spc="40" dirty="0">
                <a:latin typeface="Georgia"/>
                <a:cs typeface="Georgia"/>
              </a:rPr>
              <a:t> </a:t>
            </a:r>
            <a:r>
              <a:rPr sz="1000" dirty="0">
                <a:latin typeface="Georgia"/>
                <a:cs typeface="Georgia"/>
              </a:rPr>
              <a:t>i.e.,</a:t>
            </a:r>
            <a:r>
              <a:rPr sz="1000" spc="35" dirty="0">
                <a:latin typeface="Georgia"/>
                <a:cs typeface="Georgia"/>
              </a:rPr>
              <a:t> </a:t>
            </a:r>
            <a:r>
              <a:rPr sz="1000" dirty="0">
                <a:latin typeface="Georgia"/>
                <a:cs typeface="Georgia"/>
              </a:rPr>
              <a:t>a</a:t>
            </a:r>
            <a:r>
              <a:rPr sz="1000" spc="40" dirty="0">
                <a:latin typeface="Georgia"/>
                <a:cs typeface="Georgia"/>
              </a:rPr>
              <a:t> </a:t>
            </a:r>
            <a:r>
              <a:rPr sz="1000" dirty="0">
                <a:latin typeface="Georgia"/>
                <a:cs typeface="Georgia"/>
              </a:rPr>
              <a:t>tree</a:t>
            </a:r>
            <a:r>
              <a:rPr sz="1000" spc="40" dirty="0">
                <a:latin typeface="Georgia"/>
                <a:cs typeface="Georgia"/>
              </a:rPr>
              <a:t> </a:t>
            </a:r>
            <a:r>
              <a:rPr sz="1000" dirty="0">
                <a:latin typeface="Georgia"/>
                <a:cs typeface="Georgia"/>
              </a:rPr>
              <a:t>of</a:t>
            </a:r>
            <a:r>
              <a:rPr sz="1000" spc="35" dirty="0">
                <a:latin typeface="Georgia"/>
                <a:cs typeface="Georgia"/>
              </a:rPr>
              <a:t> </a:t>
            </a:r>
            <a:r>
              <a:rPr sz="1000" spc="-10" dirty="0">
                <a:latin typeface="Georgia"/>
                <a:cs typeface="Georgia"/>
              </a:rPr>
              <a:t>clusters</a:t>
            </a:r>
            <a:r>
              <a:rPr sz="1000" spc="40" dirty="0">
                <a:latin typeface="Georgia"/>
                <a:cs typeface="Georgia"/>
              </a:rPr>
              <a:t> </a:t>
            </a:r>
            <a:r>
              <a:rPr sz="1000" spc="-10" dirty="0">
                <a:latin typeface="Georgia"/>
                <a:cs typeface="Georgia"/>
              </a:rPr>
              <a:t>(</a:t>
            </a:r>
            <a:r>
              <a:rPr sz="1000" b="1" spc="-10" dirty="0">
                <a:latin typeface="Georgia"/>
                <a:cs typeface="Georgia"/>
              </a:rPr>
              <a:t>dendrogram</a:t>
            </a:r>
            <a:r>
              <a:rPr sz="1000" spc="-10" dirty="0">
                <a:latin typeface="Georgia"/>
                <a:cs typeface="Georgia"/>
              </a:rPr>
              <a:t>). </a:t>
            </a:r>
            <a:r>
              <a:rPr sz="1000" spc="-25" dirty="0">
                <a:latin typeface="Georgia"/>
                <a:cs typeface="Georgia"/>
              </a:rPr>
              <a:t>Hierarchical</a:t>
            </a:r>
            <a:r>
              <a:rPr sz="1000" spc="40" dirty="0">
                <a:latin typeface="Georgia"/>
                <a:cs typeface="Georgia"/>
              </a:rPr>
              <a:t> </a:t>
            </a:r>
            <a:r>
              <a:rPr sz="1000" spc="-10" dirty="0">
                <a:latin typeface="Georgia"/>
                <a:cs typeface="Georgia"/>
              </a:rPr>
              <a:t>clustering</a:t>
            </a:r>
            <a:r>
              <a:rPr sz="1000" spc="40" dirty="0">
                <a:latin typeface="Georgia"/>
                <a:cs typeface="Georgia"/>
              </a:rPr>
              <a:t> </a:t>
            </a:r>
            <a:r>
              <a:rPr sz="1000" dirty="0">
                <a:latin typeface="Georgia"/>
                <a:cs typeface="Georgia"/>
              </a:rPr>
              <a:t>can</a:t>
            </a:r>
            <a:r>
              <a:rPr sz="1000" spc="40" dirty="0">
                <a:latin typeface="Georgia"/>
                <a:cs typeface="Georgia"/>
              </a:rPr>
              <a:t> </a:t>
            </a:r>
            <a:r>
              <a:rPr sz="1000" dirty="0">
                <a:latin typeface="Georgia"/>
                <a:cs typeface="Georgia"/>
              </a:rPr>
              <a:t>be</a:t>
            </a:r>
            <a:r>
              <a:rPr sz="1000" spc="35" dirty="0">
                <a:latin typeface="Georgia"/>
                <a:cs typeface="Georgia"/>
              </a:rPr>
              <a:t> </a:t>
            </a:r>
            <a:r>
              <a:rPr sz="1000" b="1" spc="-35" dirty="0">
                <a:latin typeface="Georgia"/>
                <a:cs typeface="Georgia"/>
              </a:rPr>
              <a:t>agglomerative</a:t>
            </a:r>
            <a:r>
              <a:rPr sz="1000" b="1" spc="25" dirty="0">
                <a:latin typeface="Georgia"/>
                <a:cs typeface="Georgia"/>
              </a:rPr>
              <a:t> </a:t>
            </a:r>
            <a:r>
              <a:rPr sz="1000" spc="-20" dirty="0">
                <a:latin typeface="Georgia"/>
                <a:cs typeface="Georgia"/>
              </a:rPr>
              <a:t>(bottom–up)</a:t>
            </a:r>
            <a:r>
              <a:rPr sz="1000" spc="45" dirty="0">
                <a:latin typeface="Georgia"/>
                <a:cs typeface="Georgia"/>
              </a:rPr>
              <a:t> </a:t>
            </a:r>
            <a:r>
              <a:rPr sz="1000" dirty="0">
                <a:latin typeface="Georgia"/>
                <a:cs typeface="Georgia"/>
              </a:rPr>
              <a:t>or</a:t>
            </a:r>
            <a:r>
              <a:rPr sz="1000" spc="35" dirty="0">
                <a:latin typeface="Georgia"/>
                <a:cs typeface="Georgia"/>
              </a:rPr>
              <a:t> </a:t>
            </a:r>
            <a:r>
              <a:rPr sz="1000" b="1" spc="-20" dirty="0">
                <a:latin typeface="Georgia"/>
                <a:cs typeface="Georgia"/>
              </a:rPr>
              <a:t>divisive</a:t>
            </a:r>
            <a:r>
              <a:rPr sz="1000" b="1" spc="25" dirty="0">
                <a:latin typeface="Georgia"/>
                <a:cs typeface="Georgia"/>
              </a:rPr>
              <a:t> </a:t>
            </a:r>
            <a:r>
              <a:rPr sz="1000" spc="-10" dirty="0">
                <a:latin typeface="Georgia"/>
                <a:cs typeface="Georgia"/>
              </a:rPr>
              <a:t>(top–down). Use</a:t>
            </a:r>
            <a:r>
              <a:rPr sz="1000" spc="15" dirty="0">
                <a:latin typeface="Georgia"/>
                <a:cs typeface="Georgia"/>
              </a:rPr>
              <a:t> </a:t>
            </a:r>
            <a:r>
              <a:rPr sz="1000" spc="-20" dirty="0">
                <a:latin typeface="Georgia"/>
                <a:cs typeface="Georgia"/>
              </a:rPr>
              <a:t>various</a:t>
            </a:r>
            <a:r>
              <a:rPr sz="1000" spc="15" dirty="0">
                <a:latin typeface="Georgia"/>
                <a:cs typeface="Georgia"/>
              </a:rPr>
              <a:t> </a:t>
            </a:r>
            <a:r>
              <a:rPr sz="1000" spc="-10" dirty="0">
                <a:latin typeface="Georgia"/>
                <a:cs typeface="Georgia"/>
              </a:rPr>
              <a:t>similarity</a:t>
            </a:r>
            <a:r>
              <a:rPr sz="1000" spc="15" dirty="0">
                <a:latin typeface="Georgia"/>
                <a:cs typeface="Georgia"/>
              </a:rPr>
              <a:t> </a:t>
            </a:r>
            <a:r>
              <a:rPr sz="1000" spc="-30" dirty="0">
                <a:latin typeface="Georgia"/>
                <a:cs typeface="Georgia"/>
              </a:rPr>
              <a:t>measures</a:t>
            </a:r>
            <a:r>
              <a:rPr sz="1000" spc="15" dirty="0">
                <a:latin typeface="Georgia"/>
                <a:cs typeface="Georgia"/>
              </a:rPr>
              <a:t> </a:t>
            </a:r>
            <a:r>
              <a:rPr sz="1000" dirty="0">
                <a:latin typeface="Georgia"/>
                <a:cs typeface="Georgia"/>
              </a:rPr>
              <a:t>split</a:t>
            </a:r>
            <a:r>
              <a:rPr sz="1000" spc="15" dirty="0">
                <a:latin typeface="Georgia"/>
                <a:cs typeface="Georgia"/>
              </a:rPr>
              <a:t> </a:t>
            </a:r>
            <a:r>
              <a:rPr sz="1000" dirty="0">
                <a:latin typeface="Georgia"/>
                <a:cs typeface="Georgia"/>
              </a:rPr>
              <a:t>or</a:t>
            </a:r>
            <a:r>
              <a:rPr sz="1000" spc="15" dirty="0">
                <a:latin typeface="Georgia"/>
                <a:cs typeface="Georgia"/>
              </a:rPr>
              <a:t> </a:t>
            </a:r>
            <a:r>
              <a:rPr sz="1000" spc="-25" dirty="0">
                <a:latin typeface="Georgia"/>
                <a:cs typeface="Georgia"/>
              </a:rPr>
              <a:t>merge</a:t>
            </a:r>
            <a:r>
              <a:rPr sz="1000" spc="15" dirty="0">
                <a:latin typeface="Georgia"/>
                <a:cs typeface="Georgia"/>
              </a:rPr>
              <a:t> </a:t>
            </a:r>
            <a:r>
              <a:rPr sz="1000" spc="-10" dirty="0">
                <a:latin typeface="Georgia"/>
                <a:cs typeface="Georgia"/>
              </a:rPr>
              <a:t>clusters.</a:t>
            </a:r>
            <a:endParaRPr sz="1000">
              <a:latin typeface="Georgia"/>
              <a:cs typeface="Georgia"/>
            </a:endParaRPr>
          </a:p>
          <a:p>
            <a:pPr marL="289560">
              <a:lnSpc>
                <a:spcPct val="100000"/>
              </a:lnSpc>
              <a:spcBef>
                <a:spcPts val="240"/>
              </a:spcBef>
            </a:pPr>
            <a:r>
              <a:rPr sz="1000" dirty="0">
                <a:latin typeface="Georgia"/>
                <a:cs typeface="Georgia"/>
              </a:rPr>
              <a:t>This</a:t>
            </a:r>
            <a:r>
              <a:rPr sz="1000" spc="30" dirty="0">
                <a:latin typeface="Georgia"/>
                <a:cs typeface="Georgia"/>
              </a:rPr>
              <a:t> </a:t>
            </a:r>
            <a:r>
              <a:rPr sz="1000" spc="-20" dirty="0">
                <a:latin typeface="Georgia"/>
                <a:cs typeface="Georgia"/>
              </a:rPr>
              <a:t>approach</a:t>
            </a:r>
            <a:r>
              <a:rPr sz="1000" spc="30" dirty="0">
                <a:latin typeface="Georgia"/>
                <a:cs typeface="Georgia"/>
              </a:rPr>
              <a:t> </a:t>
            </a:r>
            <a:r>
              <a:rPr sz="1000" dirty="0">
                <a:latin typeface="Georgia"/>
                <a:cs typeface="Georgia"/>
              </a:rPr>
              <a:t>is</a:t>
            </a:r>
            <a:r>
              <a:rPr sz="1000" spc="30" dirty="0">
                <a:latin typeface="Georgia"/>
                <a:cs typeface="Georgia"/>
              </a:rPr>
              <a:t> </a:t>
            </a:r>
            <a:r>
              <a:rPr sz="1000" b="1" spc="-20" dirty="0">
                <a:latin typeface="Georgia"/>
                <a:cs typeface="Georgia"/>
              </a:rPr>
              <a:t>hard</a:t>
            </a:r>
            <a:r>
              <a:rPr sz="1000" b="1" spc="50" dirty="0">
                <a:latin typeface="Georgia"/>
                <a:cs typeface="Georgia"/>
              </a:rPr>
              <a:t> </a:t>
            </a:r>
            <a:r>
              <a:rPr sz="1000" b="1" spc="-25" dirty="0">
                <a:latin typeface="Georgia"/>
                <a:cs typeface="Georgia"/>
              </a:rPr>
              <a:t>clustering</a:t>
            </a:r>
            <a:r>
              <a:rPr sz="1000" spc="-25" dirty="0">
                <a:latin typeface="Georgia"/>
                <a:cs typeface="Georgia"/>
              </a:rPr>
              <a:t>.</a:t>
            </a:r>
            <a:r>
              <a:rPr sz="1000" spc="114" dirty="0">
                <a:latin typeface="Georgia"/>
                <a:cs typeface="Georgia"/>
              </a:rPr>
              <a:t> </a:t>
            </a:r>
            <a:r>
              <a:rPr sz="1000" dirty="0">
                <a:latin typeface="Georgia"/>
                <a:cs typeface="Georgia"/>
              </a:rPr>
              <a:t>The</a:t>
            </a:r>
            <a:r>
              <a:rPr sz="1000" spc="30" dirty="0">
                <a:latin typeface="Georgia"/>
                <a:cs typeface="Georgia"/>
              </a:rPr>
              <a:t> </a:t>
            </a:r>
            <a:r>
              <a:rPr sz="1000" spc="-10" dirty="0">
                <a:latin typeface="Georgia"/>
                <a:cs typeface="Georgia"/>
              </a:rPr>
              <a:t>resulting</a:t>
            </a:r>
            <a:r>
              <a:rPr sz="1000" spc="30" dirty="0">
                <a:latin typeface="Georgia"/>
                <a:cs typeface="Georgia"/>
              </a:rPr>
              <a:t> </a:t>
            </a:r>
            <a:r>
              <a:rPr sz="1000" spc="-10" dirty="0">
                <a:latin typeface="Georgia"/>
                <a:cs typeface="Georgia"/>
              </a:rPr>
              <a:t>clusters</a:t>
            </a:r>
            <a:r>
              <a:rPr sz="1000" spc="30" dirty="0">
                <a:latin typeface="Georgia"/>
                <a:cs typeface="Georgia"/>
              </a:rPr>
              <a:t> </a:t>
            </a:r>
            <a:r>
              <a:rPr sz="1000" dirty="0">
                <a:latin typeface="Georgia"/>
                <a:cs typeface="Georgia"/>
              </a:rPr>
              <a:t>are</a:t>
            </a:r>
            <a:r>
              <a:rPr sz="1000" spc="30" dirty="0">
                <a:latin typeface="Georgia"/>
                <a:cs typeface="Georgia"/>
              </a:rPr>
              <a:t> </a:t>
            </a:r>
            <a:r>
              <a:rPr sz="1000" dirty="0">
                <a:latin typeface="Georgia"/>
                <a:cs typeface="Georgia"/>
              </a:rPr>
              <a:t>in</a:t>
            </a:r>
            <a:r>
              <a:rPr sz="1000" spc="30" dirty="0">
                <a:latin typeface="Georgia"/>
                <a:cs typeface="Georgia"/>
              </a:rPr>
              <a:t> </a:t>
            </a:r>
            <a:r>
              <a:rPr sz="1000" b="1" spc="-40" dirty="0">
                <a:latin typeface="Georgia"/>
                <a:cs typeface="Georgia"/>
              </a:rPr>
              <a:t>spherical</a:t>
            </a:r>
            <a:r>
              <a:rPr sz="1000" b="1" spc="50" dirty="0">
                <a:latin typeface="Georgia"/>
                <a:cs typeface="Georgia"/>
              </a:rPr>
              <a:t> </a:t>
            </a:r>
            <a:r>
              <a:rPr sz="1000" b="1" spc="-10" dirty="0">
                <a:latin typeface="Georgia"/>
                <a:cs typeface="Georgia"/>
              </a:rPr>
              <a:t>shape</a:t>
            </a:r>
            <a:r>
              <a:rPr sz="1000" spc="-10" dirty="0">
                <a:latin typeface="Georgia"/>
                <a:cs typeface="Georgia"/>
              </a:rPr>
              <a:t>.</a:t>
            </a:r>
            <a:endParaRPr sz="1000">
              <a:latin typeface="Georgia"/>
              <a:cs typeface="Georgia"/>
            </a:endParaRPr>
          </a:p>
          <a:p>
            <a:pPr marL="12700">
              <a:lnSpc>
                <a:spcPct val="100000"/>
              </a:lnSpc>
              <a:spcBef>
                <a:spcPts val="640"/>
              </a:spcBef>
            </a:pPr>
            <a:r>
              <a:rPr sz="1100" b="1" spc="-25" dirty="0">
                <a:latin typeface="Georgia"/>
                <a:cs typeface="Georgia"/>
              </a:rPr>
              <a:t>Partitioning</a:t>
            </a:r>
            <a:r>
              <a:rPr sz="1100" b="1" spc="30" dirty="0">
                <a:latin typeface="Georgia"/>
                <a:cs typeface="Georgia"/>
              </a:rPr>
              <a:t> </a:t>
            </a:r>
            <a:r>
              <a:rPr sz="1100" b="1" spc="-30" dirty="0">
                <a:latin typeface="Georgia"/>
                <a:cs typeface="Georgia"/>
              </a:rPr>
              <a:t>methods</a:t>
            </a:r>
            <a:r>
              <a:rPr sz="1100" spc="-30" dirty="0">
                <a:latin typeface="Georgia"/>
                <a:cs typeface="Georgia"/>
              </a:rPr>
              <a:t>:</a:t>
            </a:r>
            <a:r>
              <a:rPr sz="1100" spc="95" dirty="0">
                <a:latin typeface="Georgia"/>
                <a:cs typeface="Georgia"/>
              </a:rPr>
              <a:t> </a:t>
            </a:r>
            <a:r>
              <a:rPr sz="1100" dirty="0">
                <a:latin typeface="Georgia"/>
                <a:cs typeface="Georgia"/>
              </a:rPr>
              <a:t>also</a:t>
            </a:r>
            <a:r>
              <a:rPr sz="1100" spc="10" dirty="0">
                <a:latin typeface="Georgia"/>
                <a:cs typeface="Georgia"/>
              </a:rPr>
              <a:t> </a:t>
            </a:r>
            <a:r>
              <a:rPr sz="1100" spc="-10" dirty="0">
                <a:latin typeface="Georgia"/>
                <a:cs typeface="Georgia"/>
              </a:rPr>
              <a:t>called</a:t>
            </a:r>
            <a:r>
              <a:rPr sz="1100" spc="5" dirty="0">
                <a:latin typeface="Georgia"/>
                <a:cs typeface="Georgia"/>
              </a:rPr>
              <a:t> </a:t>
            </a:r>
            <a:r>
              <a:rPr sz="1100" spc="-25" dirty="0">
                <a:latin typeface="Georgia"/>
                <a:cs typeface="Georgia"/>
              </a:rPr>
              <a:t>centroid</a:t>
            </a:r>
            <a:r>
              <a:rPr sz="1100" spc="5" dirty="0">
                <a:latin typeface="Georgia"/>
                <a:cs typeface="Georgia"/>
              </a:rPr>
              <a:t> </a:t>
            </a:r>
            <a:r>
              <a:rPr sz="1100" spc="-10" dirty="0">
                <a:latin typeface="Georgia"/>
                <a:cs typeface="Georgia"/>
              </a:rPr>
              <a:t>methods</a:t>
            </a:r>
            <a:endParaRPr sz="1100">
              <a:latin typeface="Georgia"/>
              <a:cs typeface="Georgia"/>
            </a:endParaRPr>
          </a:p>
          <a:p>
            <a:pPr marL="289560" marR="341630">
              <a:lnSpc>
                <a:spcPct val="120100"/>
              </a:lnSpc>
              <a:spcBef>
                <a:spcPts val="180"/>
              </a:spcBef>
            </a:pPr>
            <a:r>
              <a:rPr sz="1000" dirty="0">
                <a:latin typeface="Georgia"/>
                <a:cs typeface="Georgia"/>
              </a:rPr>
              <a:t>Data</a:t>
            </a:r>
            <a:r>
              <a:rPr sz="1000" spc="40" dirty="0">
                <a:latin typeface="Georgia"/>
                <a:cs typeface="Georgia"/>
              </a:rPr>
              <a:t> </a:t>
            </a:r>
            <a:r>
              <a:rPr sz="1000" spc="-10" dirty="0">
                <a:latin typeface="Georgia"/>
                <a:cs typeface="Georgia"/>
              </a:rPr>
              <a:t>points</a:t>
            </a:r>
            <a:r>
              <a:rPr sz="1000" spc="45" dirty="0">
                <a:latin typeface="Georgia"/>
                <a:cs typeface="Georgia"/>
              </a:rPr>
              <a:t> </a:t>
            </a:r>
            <a:r>
              <a:rPr sz="1000" dirty="0">
                <a:latin typeface="Georgia"/>
                <a:cs typeface="Georgia"/>
              </a:rPr>
              <a:t>are</a:t>
            </a:r>
            <a:r>
              <a:rPr sz="1000" spc="45" dirty="0">
                <a:latin typeface="Georgia"/>
                <a:cs typeface="Georgia"/>
              </a:rPr>
              <a:t> </a:t>
            </a:r>
            <a:r>
              <a:rPr sz="1000" spc="-10" dirty="0">
                <a:latin typeface="Georgia"/>
                <a:cs typeface="Georgia"/>
              </a:rPr>
              <a:t>partitioned</a:t>
            </a:r>
            <a:r>
              <a:rPr sz="1000" spc="45" dirty="0">
                <a:latin typeface="Georgia"/>
                <a:cs typeface="Georgia"/>
              </a:rPr>
              <a:t> </a:t>
            </a:r>
            <a:r>
              <a:rPr sz="1000" dirty="0">
                <a:latin typeface="Georgia"/>
                <a:cs typeface="Georgia"/>
              </a:rPr>
              <a:t>into</a:t>
            </a:r>
            <a:r>
              <a:rPr sz="1000" spc="40" dirty="0">
                <a:latin typeface="Georgia"/>
                <a:cs typeface="Georgia"/>
              </a:rPr>
              <a:t> </a:t>
            </a:r>
            <a:r>
              <a:rPr sz="1000" i="1" spc="65" dirty="0">
                <a:latin typeface="Calibri"/>
                <a:cs typeface="Calibri"/>
              </a:rPr>
              <a:t>k</a:t>
            </a:r>
            <a:r>
              <a:rPr sz="1000" i="1" spc="85" dirty="0">
                <a:latin typeface="Calibri"/>
                <a:cs typeface="Calibri"/>
              </a:rPr>
              <a:t> </a:t>
            </a:r>
            <a:r>
              <a:rPr sz="1000" spc="-10" dirty="0">
                <a:latin typeface="Georgia"/>
                <a:cs typeface="Georgia"/>
              </a:rPr>
              <a:t>exclusive</a:t>
            </a:r>
            <a:r>
              <a:rPr sz="1000" spc="45" dirty="0">
                <a:latin typeface="Georgia"/>
                <a:cs typeface="Georgia"/>
              </a:rPr>
              <a:t> </a:t>
            </a:r>
            <a:r>
              <a:rPr sz="1000" spc="-20" dirty="0">
                <a:latin typeface="Georgia"/>
                <a:cs typeface="Georgia"/>
              </a:rPr>
              <a:t>clusters</a:t>
            </a:r>
            <a:r>
              <a:rPr sz="1000" spc="45" dirty="0">
                <a:latin typeface="Georgia"/>
                <a:cs typeface="Georgia"/>
              </a:rPr>
              <a:t> </a:t>
            </a:r>
            <a:r>
              <a:rPr sz="1000" dirty="0">
                <a:latin typeface="Georgia"/>
                <a:cs typeface="Georgia"/>
              </a:rPr>
              <a:t>(</a:t>
            </a:r>
            <a:r>
              <a:rPr sz="1000" i="1" dirty="0">
                <a:latin typeface="Calibri"/>
                <a:cs typeface="Calibri"/>
              </a:rPr>
              <a:t>k</a:t>
            </a:r>
            <a:r>
              <a:rPr sz="1000" i="1" spc="85" dirty="0">
                <a:latin typeface="Calibri"/>
                <a:cs typeface="Calibri"/>
              </a:rPr>
              <a:t> </a:t>
            </a:r>
            <a:r>
              <a:rPr sz="1000" dirty="0">
                <a:latin typeface="Georgia"/>
                <a:cs typeface="Georgia"/>
              </a:rPr>
              <a:t>is</a:t>
            </a:r>
            <a:r>
              <a:rPr sz="1000" spc="45" dirty="0">
                <a:latin typeface="Georgia"/>
                <a:cs typeface="Georgia"/>
              </a:rPr>
              <a:t> </a:t>
            </a:r>
            <a:r>
              <a:rPr sz="1000" dirty="0">
                <a:latin typeface="Georgia"/>
                <a:cs typeface="Georgia"/>
              </a:rPr>
              <a:t>an</a:t>
            </a:r>
            <a:r>
              <a:rPr sz="1000" spc="45" dirty="0">
                <a:latin typeface="Georgia"/>
                <a:cs typeface="Georgia"/>
              </a:rPr>
              <a:t> </a:t>
            </a:r>
            <a:r>
              <a:rPr sz="1000" dirty="0">
                <a:latin typeface="Georgia"/>
                <a:cs typeface="Georgia"/>
              </a:rPr>
              <a:t>input</a:t>
            </a:r>
            <a:r>
              <a:rPr sz="1000" spc="45" dirty="0">
                <a:latin typeface="Georgia"/>
                <a:cs typeface="Georgia"/>
              </a:rPr>
              <a:t> </a:t>
            </a:r>
            <a:r>
              <a:rPr sz="1000" spc="-10" dirty="0">
                <a:latin typeface="Georgia"/>
                <a:cs typeface="Georgia"/>
              </a:rPr>
              <a:t>parameter). </a:t>
            </a:r>
            <a:r>
              <a:rPr sz="1000" dirty="0">
                <a:latin typeface="Georgia"/>
                <a:cs typeface="Georgia"/>
              </a:rPr>
              <a:t>Both</a:t>
            </a:r>
            <a:r>
              <a:rPr sz="1000" spc="60" dirty="0">
                <a:latin typeface="Georgia"/>
                <a:cs typeface="Georgia"/>
              </a:rPr>
              <a:t> </a:t>
            </a:r>
            <a:r>
              <a:rPr sz="1000" b="1" spc="-50" dirty="0">
                <a:latin typeface="Georgia"/>
                <a:cs typeface="Georgia"/>
              </a:rPr>
              <a:t>centroid–based</a:t>
            </a:r>
            <a:r>
              <a:rPr sz="1000" b="1" spc="50" dirty="0">
                <a:latin typeface="Georgia"/>
                <a:cs typeface="Georgia"/>
              </a:rPr>
              <a:t> </a:t>
            </a:r>
            <a:r>
              <a:rPr sz="1000" dirty="0">
                <a:latin typeface="Georgia"/>
                <a:cs typeface="Georgia"/>
              </a:rPr>
              <a:t>and</a:t>
            </a:r>
            <a:r>
              <a:rPr sz="1000" spc="65" dirty="0">
                <a:latin typeface="Georgia"/>
                <a:cs typeface="Georgia"/>
              </a:rPr>
              <a:t> </a:t>
            </a:r>
            <a:r>
              <a:rPr sz="1000" b="1" spc="-10" dirty="0">
                <a:latin typeface="Georgia"/>
                <a:cs typeface="Georgia"/>
              </a:rPr>
              <a:t>distance–based</a:t>
            </a:r>
            <a:r>
              <a:rPr sz="1000" spc="-10" dirty="0">
                <a:latin typeface="Georgia"/>
                <a:cs typeface="Georgia"/>
              </a:rPr>
              <a:t>.</a:t>
            </a:r>
            <a:endParaRPr sz="1000">
              <a:latin typeface="Georgia"/>
              <a:cs typeface="Georgia"/>
            </a:endParaRPr>
          </a:p>
          <a:p>
            <a:pPr marL="289560" marR="1256030">
              <a:lnSpc>
                <a:spcPct val="120100"/>
              </a:lnSpc>
            </a:pPr>
            <a:r>
              <a:rPr sz="1000" spc="-40" dirty="0">
                <a:latin typeface="Georgia"/>
                <a:cs typeface="Georgia"/>
              </a:rPr>
              <a:t>Well–known</a:t>
            </a:r>
            <a:r>
              <a:rPr sz="1000" spc="40" dirty="0">
                <a:latin typeface="Georgia"/>
                <a:cs typeface="Georgia"/>
              </a:rPr>
              <a:t> </a:t>
            </a:r>
            <a:r>
              <a:rPr sz="1000" spc="-25" dirty="0">
                <a:latin typeface="Georgia"/>
                <a:cs typeface="Georgia"/>
              </a:rPr>
              <a:t>techniques:</a:t>
            </a:r>
            <a:r>
              <a:rPr sz="1000" spc="135" dirty="0">
                <a:latin typeface="Georgia"/>
                <a:cs typeface="Georgia"/>
              </a:rPr>
              <a:t> </a:t>
            </a:r>
            <a:r>
              <a:rPr sz="1000" i="1" spc="-25" dirty="0">
                <a:latin typeface="Calibri"/>
                <a:cs typeface="Calibri"/>
              </a:rPr>
              <a:t>k</a:t>
            </a:r>
            <a:r>
              <a:rPr sz="1000" spc="-25" dirty="0">
                <a:latin typeface="Georgia"/>
                <a:cs typeface="Georgia"/>
              </a:rPr>
              <a:t>–means,</a:t>
            </a:r>
            <a:r>
              <a:rPr sz="1000" spc="40" dirty="0">
                <a:latin typeface="Georgia"/>
                <a:cs typeface="Georgia"/>
              </a:rPr>
              <a:t> </a:t>
            </a:r>
            <a:r>
              <a:rPr sz="1000" i="1" spc="-30" dirty="0">
                <a:latin typeface="Calibri"/>
                <a:cs typeface="Calibri"/>
              </a:rPr>
              <a:t>k</a:t>
            </a:r>
            <a:r>
              <a:rPr sz="1000" spc="-30" dirty="0">
                <a:latin typeface="Georgia"/>
                <a:cs typeface="Georgia"/>
              </a:rPr>
              <a:t>–medoids,</a:t>
            </a:r>
            <a:r>
              <a:rPr sz="1000" spc="45" dirty="0">
                <a:latin typeface="Georgia"/>
                <a:cs typeface="Georgia"/>
              </a:rPr>
              <a:t> </a:t>
            </a:r>
            <a:r>
              <a:rPr sz="1000" i="1" spc="-25" dirty="0">
                <a:latin typeface="Calibri"/>
                <a:cs typeface="Calibri"/>
              </a:rPr>
              <a:t>k</a:t>
            </a:r>
            <a:r>
              <a:rPr sz="1000" spc="-25" dirty="0">
                <a:latin typeface="Georgia"/>
                <a:cs typeface="Georgia"/>
              </a:rPr>
              <a:t>–medians,</a:t>
            </a:r>
            <a:r>
              <a:rPr sz="1000" spc="45" dirty="0">
                <a:latin typeface="Georgia"/>
                <a:cs typeface="Georgia"/>
              </a:rPr>
              <a:t> </a:t>
            </a:r>
            <a:r>
              <a:rPr sz="1000" spc="-20" dirty="0">
                <a:latin typeface="Georgia"/>
                <a:cs typeface="Georgia"/>
              </a:rPr>
              <a:t>etc. </a:t>
            </a:r>
            <a:r>
              <a:rPr sz="1000" dirty="0">
                <a:latin typeface="Georgia"/>
                <a:cs typeface="Georgia"/>
              </a:rPr>
              <a:t>This</a:t>
            </a:r>
            <a:r>
              <a:rPr sz="1000" spc="30" dirty="0">
                <a:latin typeface="Georgia"/>
                <a:cs typeface="Georgia"/>
              </a:rPr>
              <a:t> </a:t>
            </a:r>
            <a:r>
              <a:rPr sz="1000" spc="-20" dirty="0">
                <a:latin typeface="Georgia"/>
                <a:cs typeface="Georgia"/>
              </a:rPr>
              <a:t>approach</a:t>
            </a:r>
            <a:r>
              <a:rPr sz="1000" spc="30" dirty="0">
                <a:latin typeface="Georgia"/>
                <a:cs typeface="Georgia"/>
              </a:rPr>
              <a:t> </a:t>
            </a:r>
            <a:r>
              <a:rPr sz="1000" dirty="0">
                <a:latin typeface="Georgia"/>
                <a:cs typeface="Georgia"/>
              </a:rPr>
              <a:t>is</a:t>
            </a:r>
            <a:r>
              <a:rPr sz="1000" spc="30" dirty="0">
                <a:latin typeface="Georgia"/>
                <a:cs typeface="Georgia"/>
              </a:rPr>
              <a:t> </a:t>
            </a:r>
            <a:r>
              <a:rPr sz="1000" spc="-10" dirty="0">
                <a:latin typeface="Georgia"/>
                <a:cs typeface="Georgia"/>
              </a:rPr>
              <a:t>also</a:t>
            </a:r>
            <a:r>
              <a:rPr sz="1000" spc="35" dirty="0">
                <a:latin typeface="Georgia"/>
                <a:cs typeface="Georgia"/>
              </a:rPr>
              <a:t> </a:t>
            </a:r>
            <a:r>
              <a:rPr sz="1000" b="1" spc="-20" dirty="0">
                <a:latin typeface="Georgia"/>
                <a:cs typeface="Georgia"/>
              </a:rPr>
              <a:t>hard</a:t>
            </a:r>
            <a:r>
              <a:rPr sz="1000" b="1" spc="50" dirty="0">
                <a:latin typeface="Georgia"/>
                <a:cs typeface="Georgia"/>
              </a:rPr>
              <a:t> </a:t>
            </a:r>
            <a:r>
              <a:rPr sz="1000" b="1" spc="-10" dirty="0">
                <a:latin typeface="Georgia"/>
                <a:cs typeface="Georgia"/>
              </a:rPr>
              <a:t>clustering</a:t>
            </a:r>
            <a:r>
              <a:rPr sz="1000" spc="-10" dirty="0">
                <a:latin typeface="Georgia"/>
                <a:cs typeface="Georgia"/>
              </a:rPr>
              <a:t>.</a:t>
            </a:r>
            <a:endParaRPr sz="1000">
              <a:latin typeface="Georgia"/>
              <a:cs typeface="Georgia"/>
            </a:endParaRPr>
          </a:p>
          <a:p>
            <a:pPr marL="289560">
              <a:lnSpc>
                <a:spcPct val="100000"/>
              </a:lnSpc>
              <a:spcBef>
                <a:spcPts val="240"/>
              </a:spcBef>
            </a:pPr>
            <a:r>
              <a:rPr sz="1000" dirty="0">
                <a:latin typeface="Georgia"/>
                <a:cs typeface="Georgia"/>
              </a:rPr>
              <a:t>Suitable</a:t>
            </a:r>
            <a:r>
              <a:rPr sz="1000" spc="35" dirty="0">
                <a:latin typeface="Georgia"/>
                <a:cs typeface="Georgia"/>
              </a:rPr>
              <a:t> </a:t>
            </a:r>
            <a:r>
              <a:rPr sz="1000" dirty="0">
                <a:latin typeface="Georgia"/>
                <a:cs typeface="Georgia"/>
              </a:rPr>
              <a:t>for</a:t>
            </a:r>
            <a:r>
              <a:rPr sz="1000" spc="40" dirty="0">
                <a:latin typeface="Georgia"/>
                <a:cs typeface="Georgia"/>
              </a:rPr>
              <a:t> </a:t>
            </a:r>
            <a:r>
              <a:rPr sz="1000" spc="-20" dirty="0">
                <a:latin typeface="Georgia"/>
                <a:cs typeface="Georgia"/>
              </a:rPr>
              <a:t>finding</a:t>
            </a:r>
            <a:r>
              <a:rPr sz="1000" spc="50" dirty="0">
                <a:latin typeface="Georgia"/>
                <a:cs typeface="Georgia"/>
              </a:rPr>
              <a:t> </a:t>
            </a:r>
            <a:r>
              <a:rPr sz="1000" b="1" spc="-50" dirty="0">
                <a:latin typeface="Georgia"/>
                <a:cs typeface="Georgia"/>
              </a:rPr>
              <a:t>spherical–shaped</a:t>
            </a:r>
            <a:r>
              <a:rPr sz="1000" b="1" spc="20" dirty="0">
                <a:latin typeface="Georgia"/>
                <a:cs typeface="Georgia"/>
              </a:rPr>
              <a:t> </a:t>
            </a:r>
            <a:r>
              <a:rPr sz="1000" spc="-20" dirty="0">
                <a:latin typeface="Georgia"/>
                <a:cs typeface="Georgia"/>
              </a:rPr>
              <a:t>clusters</a:t>
            </a:r>
            <a:r>
              <a:rPr sz="1000" spc="40" dirty="0">
                <a:latin typeface="Georgia"/>
                <a:cs typeface="Georgia"/>
              </a:rPr>
              <a:t> </a:t>
            </a:r>
            <a:r>
              <a:rPr sz="1000" dirty="0">
                <a:latin typeface="Georgia"/>
                <a:cs typeface="Georgia"/>
              </a:rPr>
              <a:t>in</a:t>
            </a:r>
            <a:r>
              <a:rPr sz="1000" spc="40" dirty="0">
                <a:latin typeface="Georgia"/>
                <a:cs typeface="Georgia"/>
              </a:rPr>
              <a:t> </a:t>
            </a:r>
            <a:r>
              <a:rPr sz="1000" spc="-35" dirty="0">
                <a:latin typeface="Georgia"/>
                <a:cs typeface="Georgia"/>
              </a:rPr>
              <a:t>small–</a:t>
            </a:r>
            <a:r>
              <a:rPr sz="1000" spc="35" dirty="0">
                <a:latin typeface="Georgia"/>
                <a:cs typeface="Georgia"/>
              </a:rPr>
              <a:t> </a:t>
            </a:r>
            <a:r>
              <a:rPr sz="1000" dirty="0">
                <a:latin typeface="Georgia"/>
                <a:cs typeface="Georgia"/>
              </a:rPr>
              <a:t>to</a:t>
            </a:r>
            <a:r>
              <a:rPr sz="1000" spc="40" dirty="0">
                <a:latin typeface="Georgia"/>
                <a:cs typeface="Georgia"/>
              </a:rPr>
              <a:t> </a:t>
            </a:r>
            <a:r>
              <a:rPr sz="1000" spc="-40" dirty="0">
                <a:latin typeface="Georgia"/>
                <a:cs typeface="Georgia"/>
              </a:rPr>
              <a:t>medium–size</a:t>
            </a:r>
            <a:r>
              <a:rPr sz="1000" spc="35" dirty="0">
                <a:latin typeface="Georgia"/>
                <a:cs typeface="Georgia"/>
              </a:rPr>
              <a:t> </a:t>
            </a:r>
            <a:r>
              <a:rPr sz="1000" spc="-10" dirty="0">
                <a:latin typeface="Georgia"/>
                <a:cs typeface="Georgia"/>
              </a:rPr>
              <a:t>databases.</a:t>
            </a:r>
            <a:endParaRPr sz="1000">
              <a:latin typeface="Georgia"/>
              <a:cs typeface="Georgia"/>
            </a:endParaRPr>
          </a:p>
        </p:txBody>
      </p:sp>
      <p:grpSp>
        <p:nvGrpSpPr>
          <p:cNvPr id="15" name="object 15"/>
          <p:cNvGrpSpPr/>
          <p:nvPr/>
        </p:nvGrpSpPr>
        <p:grpSpPr>
          <a:xfrm>
            <a:off x="0" y="3121545"/>
            <a:ext cx="5760085" cy="118745"/>
            <a:chOff x="0" y="3121545"/>
            <a:chExt cx="5760085" cy="118745"/>
          </a:xfrm>
        </p:grpSpPr>
        <p:sp>
          <p:nvSpPr>
            <p:cNvPr id="16" name="object 1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7" name="object 1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9" name="object 1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20" name="object 2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12</a:t>
            </a:fld>
            <a:r>
              <a:rPr spc="-25" dirty="0"/>
              <a:t> </a:t>
            </a:r>
            <a:r>
              <a:rPr spc="75" dirty="0"/>
              <a:t>/</a:t>
            </a:r>
            <a:r>
              <a:rPr spc="-25" dirty="0"/>
              <a:t> </a:t>
            </a:r>
            <a:r>
              <a:rPr spc="35" dirty="0"/>
              <a:t>135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Clustering</a:t>
            </a:r>
            <a:r>
              <a:rPr spc="330" dirty="0"/>
              <a:t> </a:t>
            </a:r>
            <a:r>
              <a:rPr dirty="0"/>
              <a:t>approaches</a:t>
            </a:r>
            <a:r>
              <a:rPr spc="340" dirty="0"/>
              <a:t> </a:t>
            </a:r>
            <a:r>
              <a:rPr spc="-10" dirty="0"/>
              <a:t>(cont’d)</a:t>
            </a:r>
          </a:p>
        </p:txBody>
      </p:sp>
      <p:sp>
        <p:nvSpPr>
          <p:cNvPr id="3" name="object 3"/>
          <p:cNvSpPr/>
          <p:nvPr/>
        </p:nvSpPr>
        <p:spPr>
          <a:xfrm>
            <a:off x="337972" y="59166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620229" y="805205"/>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5" name="object 5"/>
          <p:cNvSpPr/>
          <p:nvPr/>
        </p:nvSpPr>
        <p:spPr>
          <a:xfrm>
            <a:off x="620229" y="988263"/>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6" name="object 6"/>
          <p:cNvSpPr/>
          <p:nvPr/>
        </p:nvSpPr>
        <p:spPr>
          <a:xfrm>
            <a:off x="620229" y="1300378"/>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7" name="object 7"/>
          <p:cNvSpPr/>
          <p:nvPr/>
        </p:nvSpPr>
        <p:spPr>
          <a:xfrm>
            <a:off x="620229" y="1483423"/>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8" name="object 8"/>
          <p:cNvSpPr/>
          <p:nvPr/>
        </p:nvSpPr>
        <p:spPr>
          <a:xfrm>
            <a:off x="337972" y="185362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p:nvPr/>
        </p:nvSpPr>
        <p:spPr>
          <a:xfrm>
            <a:off x="620229" y="2067166"/>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0" name="object 10"/>
          <p:cNvSpPr/>
          <p:nvPr/>
        </p:nvSpPr>
        <p:spPr>
          <a:xfrm>
            <a:off x="620229" y="2379281"/>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1" name="object 11"/>
          <p:cNvSpPr/>
          <p:nvPr/>
        </p:nvSpPr>
        <p:spPr>
          <a:xfrm>
            <a:off x="620229" y="2562326"/>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2" name="object 12"/>
          <p:cNvSpPr/>
          <p:nvPr/>
        </p:nvSpPr>
        <p:spPr>
          <a:xfrm>
            <a:off x="620229" y="2745384"/>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3" name="object 13"/>
          <p:cNvSpPr txBox="1"/>
          <p:nvPr/>
        </p:nvSpPr>
        <p:spPr>
          <a:xfrm>
            <a:off x="454177" y="440797"/>
            <a:ext cx="5060950" cy="2397125"/>
          </a:xfrm>
          <a:prstGeom prst="rect">
            <a:avLst/>
          </a:prstGeom>
        </p:spPr>
        <p:txBody>
          <a:bodyPr vert="horz" wrap="square" lIns="0" tIns="70485" rIns="0" bIns="0" rtlCol="0">
            <a:spAutoFit/>
          </a:bodyPr>
          <a:lstStyle/>
          <a:p>
            <a:pPr marL="12700">
              <a:lnSpc>
                <a:spcPct val="100000"/>
              </a:lnSpc>
              <a:spcBef>
                <a:spcPts val="555"/>
              </a:spcBef>
            </a:pPr>
            <a:r>
              <a:rPr sz="1100" b="1" spc="-45" dirty="0">
                <a:latin typeface="Georgia"/>
                <a:cs typeface="Georgia"/>
              </a:rPr>
              <a:t>Distribution–based</a:t>
            </a:r>
            <a:r>
              <a:rPr sz="1100" b="1" spc="70" dirty="0">
                <a:latin typeface="Georgia"/>
                <a:cs typeface="Georgia"/>
              </a:rPr>
              <a:t> </a:t>
            </a:r>
            <a:r>
              <a:rPr sz="1100" b="1" spc="-35" dirty="0">
                <a:latin typeface="Georgia"/>
                <a:cs typeface="Georgia"/>
              </a:rPr>
              <a:t>methods</a:t>
            </a:r>
            <a:r>
              <a:rPr sz="1100" spc="-35" dirty="0">
                <a:latin typeface="Georgia"/>
                <a:cs typeface="Georgia"/>
              </a:rPr>
              <a:t>:</a:t>
            </a:r>
            <a:r>
              <a:rPr sz="1100" spc="135" dirty="0">
                <a:latin typeface="Georgia"/>
                <a:cs typeface="Georgia"/>
              </a:rPr>
              <a:t> </a:t>
            </a:r>
            <a:r>
              <a:rPr sz="1100" dirty="0">
                <a:latin typeface="Georgia"/>
                <a:cs typeface="Georgia"/>
              </a:rPr>
              <a:t>also</a:t>
            </a:r>
            <a:r>
              <a:rPr sz="1100" spc="40" dirty="0">
                <a:latin typeface="Georgia"/>
                <a:cs typeface="Georgia"/>
              </a:rPr>
              <a:t> </a:t>
            </a:r>
            <a:r>
              <a:rPr sz="1100" spc="-10" dirty="0">
                <a:latin typeface="Georgia"/>
                <a:cs typeface="Georgia"/>
              </a:rPr>
              <a:t>called</a:t>
            </a:r>
            <a:r>
              <a:rPr sz="1100" spc="35" dirty="0">
                <a:latin typeface="Georgia"/>
                <a:cs typeface="Georgia"/>
              </a:rPr>
              <a:t> </a:t>
            </a:r>
            <a:r>
              <a:rPr sz="1100" b="1" spc="-40" dirty="0">
                <a:latin typeface="Georgia"/>
                <a:cs typeface="Georgia"/>
              </a:rPr>
              <a:t>probabilistic</a:t>
            </a:r>
            <a:r>
              <a:rPr sz="1100" b="1" spc="20" dirty="0">
                <a:latin typeface="Georgia"/>
                <a:cs typeface="Georgia"/>
              </a:rPr>
              <a:t> </a:t>
            </a:r>
            <a:r>
              <a:rPr sz="1100" spc="-10" dirty="0">
                <a:latin typeface="Georgia"/>
                <a:cs typeface="Georgia"/>
              </a:rPr>
              <a:t>models</a:t>
            </a:r>
            <a:endParaRPr sz="1100">
              <a:latin typeface="Georgia"/>
              <a:cs typeface="Georgia"/>
            </a:endParaRPr>
          </a:p>
          <a:p>
            <a:pPr marL="289560">
              <a:lnSpc>
                <a:spcPct val="100000"/>
              </a:lnSpc>
              <a:spcBef>
                <a:spcPts val="420"/>
              </a:spcBef>
            </a:pPr>
            <a:r>
              <a:rPr sz="1000" spc="-10" dirty="0">
                <a:latin typeface="Georgia"/>
                <a:cs typeface="Georgia"/>
              </a:rPr>
              <a:t>Assuming</a:t>
            </a:r>
            <a:r>
              <a:rPr sz="1000" spc="30" dirty="0">
                <a:latin typeface="Georgia"/>
                <a:cs typeface="Georgia"/>
              </a:rPr>
              <a:t> </a:t>
            </a:r>
            <a:r>
              <a:rPr sz="1000" dirty="0">
                <a:latin typeface="Georgia"/>
                <a:cs typeface="Georgia"/>
              </a:rPr>
              <a:t>data</a:t>
            </a:r>
            <a:r>
              <a:rPr sz="1000" spc="35" dirty="0">
                <a:latin typeface="Georgia"/>
                <a:cs typeface="Georgia"/>
              </a:rPr>
              <a:t> </a:t>
            </a:r>
            <a:r>
              <a:rPr sz="1000" spc="-10" dirty="0">
                <a:latin typeface="Georgia"/>
                <a:cs typeface="Georgia"/>
              </a:rPr>
              <a:t>points</a:t>
            </a:r>
            <a:r>
              <a:rPr sz="1000" spc="30" dirty="0">
                <a:latin typeface="Georgia"/>
                <a:cs typeface="Georgia"/>
              </a:rPr>
              <a:t> </a:t>
            </a:r>
            <a:r>
              <a:rPr sz="1000" dirty="0">
                <a:latin typeface="Georgia"/>
                <a:cs typeface="Georgia"/>
              </a:rPr>
              <a:t>are</a:t>
            </a:r>
            <a:r>
              <a:rPr sz="1000" spc="35" dirty="0">
                <a:latin typeface="Georgia"/>
                <a:cs typeface="Georgia"/>
              </a:rPr>
              <a:t> </a:t>
            </a:r>
            <a:r>
              <a:rPr sz="1000" spc="-10" dirty="0">
                <a:latin typeface="Georgia"/>
                <a:cs typeface="Georgia"/>
              </a:rPr>
              <a:t>from</a:t>
            </a:r>
            <a:r>
              <a:rPr sz="1000" spc="30" dirty="0">
                <a:latin typeface="Georgia"/>
                <a:cs typeface="Georgia"/>
              </a:rPr>
              <a:t> </a:t>
            </a:r>
            <a:r>
              <a:rPr sz="1000" dirty="0">
                <a:latin typeface="Georgia"/>
                <a:cs typeface="Georgia"/>
              </a:rPr>
              <a:t>a</a:t>
            </a:r>
            <a:r>
              <a:rPr sz="1000" spc="30" dirty="0">
                <a:latin typeface="Georgia"/>
                <a:cs typeface="Georgia"/>
              </a:rPr>
              <a:t> </a:t>
            </a:r>
            <a:r>
              <a:rPr sz="1000" b="1" spc="-20" dirty="0">
                <a:latin typeface="Georgia"/>
                <a:cs typeface="Georgia"/>
              </a:rPr>
              <a:t>mixture</a:t>
            </a:r>
            <a:r>
              <a:rPr sz="1000" b="1" spc="15" dirty="0">
                <a:latin typeface="Georgia"/>
                <a:cs typeface="Georgia"/>
              </a:rPr>
              <a:t> </a:t>
            </a:r>
            <a:r>
              <a:rPr sz="1000" dirty="0">
                <a:latin typeface="Georgia"/>
                <a:cs typeface="Georgia"/>
              </a:rPr>
              <a:t>of</a:t>
            </a:r>
            <a:r>
              <a:rPr sz="1000" spc="35" dirty="0">
                <a:latin typeface="Georgia"/>
                <a:cs typeface="Georgia"/>
              </a:rPr>
              <a:t> </a:t>
            </a:r>
            <a:r>
              <a:rPr sz="1000" spc="-20" dirty="0">
                <a:latin typeface="Georgia"/>
                <a:cs typeface="Georgia"/>
              </a:rPr>
              <a:t>distributions,</a:t>
            </a:r>
            <a:r>
              <a:rPr sz="1000" spc="30" dirty="0">
                <a:latin typeface="Georgia"/>
                <a:cs typeface="Georgia"/>
              </a:rPr>
              <a:t> </a:t>
            </a:r>
            <a:r>
              <a:rPr sz="1000" dirty="0">
                <a:latin typeface="Georgia"/>
                <a:cs typeface="Georgia"/>
              </a:rPr>
              <a:t>e.g.,</a:t>
            </a:r>
            <a:r>
              <a:rPr sz="1000" spc="35" dirty="0">
                <a:latin typeface="Georgia"/>
                <a:cs typeface="Georgia"/>
              </a:rPr>
              <a:t> </a:t>
            </a:r>
            <a:r>
              <a:rPr sz="1000" spc="-20" dirty="0">
                <a:latin typeface="Georgia"/>
                <a:cs typeface="Georgia"/>
              </a:rPr>
              <a:t>normal</a:t>
            </a:r>
            <a:r>
              <a:rPr sz="1000" spc="30" dirty="0">
                <a:latin typeface="Georgia"/>
                <a:cs typeface="Georgia"/>
              </a:rPr>
              <a:t> </a:t>
            </a:r>
            <a:r>
              <a:rPr sz="1000" spc="-10" dirty="0">
                <a:latin typeface="Georgia"/>
                <a:cs typeface="Georgia"/>
              </a:rPr>
              <a:t>distributions.</a:t>
            </a:r>
            <a:endParaRPr sz="1000">
              <a:latin typeface="Georgia"/>
              <a:cs typeface="Georgia"/>
            </a:endParaRPr>
          </a:p>
          <a:p>
            <a:pPr marL="289560" marR="533400">
              <a:lnSpc>
                <a:spcPts val="1019"/>
              </a:lnSpc>
              <a:spcBef>
                <a:spcPts val="425"/>
              </a:spcBef>
            </a:pPr>
            <a:r>
              <a:rPr sz="1000" spc="-40" dirty="0">
                <a:latin typeface="Georgia"/>
                <a:cs typeface="Georgia"/>
              </a:rPr>
              <a:t>Well–known</a:t>
            </a:r>
            <a:r>
              <a:rPr sz="1000" spc="65" dirty="0">
                <a:latin typeface="Georgia"/>
                <a:cs typeface="Georgia"/>
              </a:rPr>
              <a:t> </a:t>
            </a:r>
            <a:r>
              <a:rPr sz="1000" spc="-20" dirty="0">
                <a:latin typeface="Georgia"/>
                <a:cs typeface="Georgia"/>
              </a:rPr>
              <a:t>methods:</a:t>
            </a:r>
            <a:r>
              <a:rPr sz="1000" spc="165" dirty="0">
                <a:latin typeface="Georgia"/>
                <a:cs typeface="Georgia"/>
              </a:rPr>
              <a:t> </a:t>
            </a:r>
            <a:r>
              <a:rPr sz="1000" spc="-10" dirty="0">
                <a:latin typeface="Georgia"/>
                <a:cs typeface="Georgia"/>
              </a:rPr>
              <a:t>Gaussian</a:t>
            </a:r>
            <a:r>
              <a:rPr sz="1000" spc="65" dirty="0">
                <a:latin typeface="Georgia"/>
                <a:cs typeface="Georgia"/>
              </a:rPr>
              <a:t> </a:t>
            </a:r>
            <a:r>
              <a:rPr sz="1000" spc="-10" dirty="0">
                <a:latin typeface="Georgia"/>
                <a:cs typeface="Georgia"/>
              </a:rPr>
              <a:t>mixture</a:t>
            </a:r>
            <a:r>
              <a:rPr sz="1000" spc="65" dirty="0">
                <a:latin typeface="Georgia"/>
                <a:cs typeface="Georgia"/>
              </a:rPr>
              <a:t> </a:t>
            </a:r>
            <a:r>
              <a:rPr sz="1000" spc="-25" dirty="0">
                <a:latin typeface="Georgia"/>
                <a:cs typeface="Georgia"/>
              </a:rPr>
              <a:t>models</a:t>
            </a:r>
            <a:r>
              <a:rPr sz="1000" spc="65" dirty="0">
                <a:latin typeface="Georgia"/>
                <a:cs typeface="Georgia"/>
              </a:rPr>
              <a:t> </a:t>
            </a:r>
            <a:r>
              <a:rPr sz="1000" dirty="0">
                <a:latin typeface="Georgia"/>
                <a:cs typeface="Georgia"/>
              </a:rPr>
              <a:t>(</a:t>
            </a:r>
            <a:r>
              <a:rPr sz="1000" b="1" dirty="0">
                <a:latin typeface="Georgia"/>
                <a:cs typeface="Georgia"/>
              </a:rPr>
              <a:t>GMMs</a:t>
            </a:r>
            <a:r>
              <a:rPr sz="1000" dirty="0">
                <a:latin typeface="Georgia"/>
                <a:cs typeface="Georgia"/>
              </a:rPr>
              <a:t>)</a:t>
            </a:r>
            <a:r>
              <a:rPr sz="1000" spc="70" dirty="0">
                <a:latin typeface="Georgia"/>
                <a:cs typeface="Georgia"/>
              </a:rPr>
              <a:t> </a:t>
            </a:r>
            <a:r>
              <a:rPr sz="1000" dirty="0">
                <a:latin typeface="Georgia"/>
                <a:cs typeface="Georgia"/>
              </a:rPr>
              <a:t>with</a:t>
            </a:r>
            <a:r>
              <a:rPr sz="1000" spc="65" dirty="0">
                <a:latin typeface="Georgia"/>
                <a:cs typeface="Georgia"/>
              </a:rPr>
              <a:t> </a:t>
            </a:r>
            <a:r>
              <a:rPr sz="1000" spc="-10" dirty="0">
                <a:latin typeface="Georgia"/>
                <a:cs typeface="Georgia"/>
              </a:rPr>
              <a:t>expectation maximization</a:t>
            </a:r>
            <a:r>
              <a:rPr sz="1000" spc="110" dirty="0">
                <a:latin typeface="Georgia"/>
                <a:cs typeface="Georgia"/>
              </a:rPr>
              <a:t> </a:t>
            </a:r>
            <a:r>
              <a:rPr sz="1000" dirty="0">
                <a:latin typeface="Georgia"/>
                <a:cs typeface="Georgia"/>
              </a:rPr>
              <a:t>(</a:t>
            </a:r>
            <a:r>
              <a:rPr sz="1000" b="1" dirty="0">
                <a:latin typeface="Georgia"/>
                <a:cs typeface="Georgia"/>
              </a:rPr>
              <a:t>EM</a:t>
            </a:r>
            <a:r>
              <a:rPr sz="1000" dirty="0">
                <a:latin typeface="Georgia"/>
                <a:cs typeface="Georgia"/>
              </a:rPr>
              <a:t>)</a:t>
            </a:r>
            <a:r>
              <a:rPr sz="1000" spc="110" dirty="0">
                <a:latin typeface="Georgia"/>
                <a:cs typeface="Georgia"/>
              </a:rPr>
              <a:t> </a:t>
            </a:r>
            <a:r>
              <a:rPr sz="1000" spc="-10" dirty="0">
                <a:latin typeface="Georgia"/>
                <a:cs typeface="Georgia"/>
              </a:rPr>
              <a:t>algorithm.</a:t>
            </a:r>
            <a:endParaRPr sz="1000">
              <a:latin typeface="Georgia"/>
              <a:cs typeface="Georgia"/>
            </a:endParaRPr>
          </a:p>
          <a:p>
            <a:pPr marL="289560">
              <a:lnSpc>
                <a:spcPct val="100000"/>
              </a:lnSpc>
              <a:spcBef>
                <a:spcPts val="235"/>
              </a:spcBef>
            </a:pPr>
            <a:r>
              <a:rPr sz="1000" dirty="0">
                <a:latin typeface="Georgia"/>
                <a:cs typeface="Georgia"/>
              </a:rPr>
              <a:t>This</a:t>
            </a:r>
            <a:r>
              <a:rPr sz="1000" spc="30" dirty="0">
                <a:latin typeface="Georgia"/>
                <a:cs typeface="Georgia"/>
              </a:rPr>
              <a:t> </a:t>
            </a:r>
            <a:r>
              <a:rPr sz="1000" dirty="0">
                <a:latin typeface="Georgia"/>
                <a:cs typeface="Georgia"/>
              </a:rPr>
              <a:t>is</a:t>
            </a:r>
            <a:r>
              <a:rPr sz="1000" spc="35" dirty="0">
                <a:latin typeface="Georgia"/>
                <a:cs typeface="Georgia"/>
              </a:rPr>
              <a:t> </a:t>
            </a:r>
            <a:r>
              <a:rPr sz="1000" b="1" spc="-10" dirty="0">
                <a:latin typeface="Georgia"/>
                <a:cs typeface="Georgia"/>
              </a:rPr>
              <a:t>soft</a:t>
            </a:r>
            <a:r>
              <a:rPr sz="1000" b="1" spc="60" dirty="0">
                <a:latin typeface="Georgia"/>
                <a:cs typeface="Georgia"/>
              </a:rPr>
              <a:t> </a:t>
            </a:r>
            <a:r>
              <a:rPr sz="1000" b="1" spc="-25" dirty="0">
                <a:latin typeface="Georgia"/>
                <a:cs typeface="Georgia"/>
              </a:rPr>
              <a:t>clustering</a:t>
            </a:r>
            <a:r>
              <a:rPr sz="1000" spc="-25" dirty="0">
                <a:latin typeface="Georgia"/>
                <a:cs typeface="Georgia"/>
              </a:rPr>
              <a:t>.</a:t>
            </a:r>
            <a:r>
              <a:rPr sz="1000" spc="114" dirty="0">
                <a:latin typeface="Georgia"/>
                <a:cs typeface="Georgia"/>
              </a:rPr>
              <a:t> </a:t>
            </a:r>
            <a:r>
              <a:rPr sz="1000" dirty="0">
                <a:latin typeface="Georgia"/>
                <a:cs typeface="Georgia"/>
              </a:rPr>
              <a:t>The</a:t>
            </a:r>
            <a:r>
              <a:rPr sz="1000" spc="35" dirty="0">
                <a:latin typeface="Georgia"/>
                <a:cs typeface="Georgia"/>
              </a:rPr>
              <a:t> </a:t>
            </a:r>
            <a:r>
              <a:rPr sz="1000" spc="-10" dirty="0">
                <a:latin typeface="Georgia"/>
                <a:cs typeface="Georgia"/>
              </a:rPr>
              <a:t>clusters</a:t>
            </a:r>
            <a:r>
              <a:rPr sz="1000" spc="35" dirty="0">
                <a:latin typeface="Georgia"/>
                <a:cs typeface="Georgia"/>
              </a:rPr>
              <a:t> </a:t>
            </a:r>
            <a:r>
              <a:rPr sz="1000" dirty="0">
                <a:latin typeface="Georgia"/>
                <a:cs typeface="Georgia"/>
              </a:rPr>
              <a:t>can</a:t>
            </a:r>
            <a:r>
              <a:rPr sz="1000" spc="35" dirty="0">
                <a:latin typeface="Georgia"/>
                <a:cs typeface="Georgia"/>
              </a:rPr>
              <a:t> </a:t>
            </a:r>
            <a:r>
              <a:rPr sz="1000" spc="-20" dirty="0">
                <a:latin typeface="Georgia"/>
                <a:cs typeface="Georgia"/>
              </a:rPr>
              <a:t>overlap</a:t>
            </a:r>
            <a:r>
              <a:rPr sz="1000" spc="35" dirty="0">
                <a:latin typeface="Georgia"/>
                <a:cs typeface="Georgia"/>
              </a:rPr>
              <a:t> </a:t>
            </a:r>
            <a:r>
              <a:rPr sz="1000" dirty="0">
                <a:latin typeface="Georgia"/>
                <a:cs typeface="Georgia"/>
              </a:rPr>
              <a:t>and</a:t>
            </a:r>
            <a:r>
              <a:rPr sz="1000" spc="35" dirty="0">
                <a:latin typeface="Georgia"/>
                <a:cs typeface="Georgia"/>
              </a:rPr>
              <a:t> </a:t>
            </a:r>
            <a:r>
              <a:rPr sz="1000" spc="-10" dirty="0">
                <a:latin typeface="Georgia"/>
                <a:cs typeface="Georgia"/>
              </a:rPr>
              <a:t>have</a:t>
            </a:r>
            <a:r>
              <a:rPr sz="1000" spc="35" dirty="0">
                <a:latin typeface="Georgia"/>
                <a:cs typeface="Georgia"/>
              </a:rPr>
              <a:t> </a:t>
            </a:r>
            <a:r>
              <a:rPr sz="1000" b="1" spc="-25" dirty="0">
                <a:latin typeface="Georgia"/>
                <a:cs typeface="Georgia"/>
              </a:rPr>
              <a:t>elliptical</a:t>
            </a:r>
            <a:r>
              <a:rPr sz="1000" b="1" spc="20" dirty="0">
                <a:latin typeface="Georgia"/>
                <a:cs typeface="Georgia"/>
              </a:rPr>
              <a:t> </a:t>
            </a:r>
            <a:r>
              <a:rPr sz="1000" spc="-10" dirty="0">
                <a:latin typeface="Georgia"/>
                <a:cs typeface="Georgia"/>
              </a:rPr>
              <a:t>shapes.</a:t>
            </a:r>
            <a:endParaRPr sz="1000">
              <a:latin typeface="Georgia"/>
              <a:cs typeface="Georgia"/>
            </a:endParaRPr>
          </a:p>
          <a:p>
            <a:pPr marL="289560" marR="452755">
              <a:lnSpc>
                <a:spcPts val="1019"/>
              </a:lnSpc>
              <a:spcBef>
                <a:spcPts val="425"/>
              </a:spcBef>
            </a:pPr>
            <a:r>
              <a:rPr sz="1000" spc="-10" dirty="0">
                <a:latin typeface="Georgia"/>
                <a:cs typeface="Georgia"/>
              </a:rPr>
              <a:t>For</a:t>
            </a:r>
            <a:r>
              <a:rPr sz="1000" spc="10" dirty="0">
                <a:latin typeface="Georgia"/>
                <a:cs typeface="Georgia"/>
              </a:rPr>
              <a:t> </a:t>
            </a:r>
            <a:r>
              <a:rPr sz="1000" spc="-10" dirty="0">
                <a:latin typeface="Georgia"/>
                <a:cs typeface="Georgia"/>
              </a:rPr>
              <a:t>clusters</a:t>
            </a:r>
            <a:r>
              <a:rPr sz="1000" spc="10" dirty="0">
                <a:latin typeface="Georgia"/>
                <a:cs typeface="Georgia"/>
              </a:rPr>
              <a:t> </a:t>
            </a:r>
            <a:r>
              <a:rPr sz="1000" dirty="0">
                <a:latin typeface="Georgia"/>
                <a:cs typeface="Georgia"/>
              </a:rPr>
              <a:t>in</a:t>
            </a:r>
            <a:r>
              <a:rPr sz="1000" spc="10" dirty="0">
                <a:latin typeface="Georgia"/>
                <a:cs typeface="Georgia"/>
              </a:rPr>
              <a:t> </a:t>
            </a:r>
            <a:r>
              <a:rPr sz="1000" b="1" spc="-25" dirty="0">
                <a:latin typeface="Georgia"/>
                <a:cs typeface="Georgia"/>
              </a:rPr>
              <a:t>arbitrary</a:t>
            </a:r>
            <a:r>
              <a:rPr sz="1000" b="1" spc="35" dirty="0">
                <a:latin typeface="Georgia"/>
                <a:cs typeface="Georgia"/>
              </a:rPr>
              <a:t> </a:t>
            </a:r>
            <a:r>
              <a:rPr sz="1000" b="1" spc="-30" dirty="0">
                <a:latin typeface="Georgia"/>
                <a:cs typeface="Georgia"/>
              </a:rPr>
              <a:t>shapes</a:t>
            </a:r>
            <a:r>
              <a:rPr sz="1000" spc="-30" dirty="0">
                <a:latin typeface="Georgia"/>
                <a:cs typeface="Georgia"/>
              </a:rPr>
              <a:t>,</a:t>
            </a:r>
            <a:r>
              <a:rPr sz="1000" spc="10" dirty="0">
                <a:latin typeface="Georgia"/>
                <a:cs typeface="Georgia"/>
              </a:rPr>
              <a:t> </a:t>
            </a:r>
            <a:r>
              <a:rPr sz="1000" spc="-10" dirty="0">
                <a:latin typeface="Georgia"/>
                <a:cs typeface="Georgia"/>
              </a:rPr>
              <a:t>distribution</a:t>
            </a:r>
            <a:r>
              <a:rPr sz="1000" spc="10" dirty="0">
                <a:latin typeface="Georgia"/>
                <a:cs typeface="Georgia"/>
              </a:rPr>
              <a:t> </a:t>
            </a:r>
            <a:r>
              <a:rPr sz="1000" spc="-20" dirty="0">
                <a:latin typeface="Georgia"/>
                <a:cs typeface="Georgia"/>
              </a:rPr>
              <a:t>methods</a:t>
            </a:r>
            <a:r>
              <a:rPr sz="1000" spc="15" dirty="0">
                <a:latin typeface="Georgia"/>
                <a:cs typeface="Georgia"/>
              </a:rPr>
              <a:t> </a:t>
            </a:r>
            <a:r>
              <a:rPr sz="1000" dirty="0">
                <a:latin typeface="Georgia"/>
                <a:cs typeface="Georgia"/>
              </a:rPr>
              <a:t>may</a:t>
            </a:r>
            <a:r>
              <a:rPr sz="1000" spc="15" dirty="0">
                <a:latin typeface="Georgia"/>
                <a:cs typeface="Georgia"/>
              </a:rPr>
              <a:t> </a:t>
            </a:r>
            <a:r>
              <a:rPr sz="1000" b="1" spc="-10" dirty="0">
                <a:latin typeface="Georgia"/>
                <a:cs typeface="Georgia"/>
              </a:rPr>
              <a:t>fail</a:t>
            </a:r>
            <a:r>
              <a:rPr sz="1000" b="1" dirty="0">
                <a:latin typeface="Georgia"/>
                <a:cs typeface="Georgia"/>
              </a:rPr>
              <a:t> </a:t>
            </a:r>
            <a:r>
              <a:rPr sz="1000" spc="-10" dirty="0">
                <a:latin typeface="Georgia"/>
                <a:cs typeface="Georgia"/>
              </a:rPr>
              <a:t>because</a:t>
            </a:r>
            <a:r>
              <a:rPr sz="1000" spc="10" dirty="0">
                <a:latin typeface="Georgia"/>
                <a:cs typeface="Georgia"/>
              </a:rPr>
              <a:t> </a:t>
            </a:r>
            <a:r>
              <a:rPr sz="1000" spc="-25" dirty="0">
                <a:latin typeface="Georgia"/>
                <a:cs typeface="Georgia"/>
              </a:rPr>
              <a:t>the </a:t>
            </a:r>
            <a:r>
              <a:rPr sz="1000" spc="-10" dirty="0">
                <a:latin typeface="Georgia"/>
                <a:cs typeface="Georgia"/>
              </a:rPr>
              <a:t>distribution</a:t>
            </a:r>
            <a:r>
              <a:rPr sz="1000" spc="20" dirty="0">
                <a:latin typeface="Georgia"/>
                <a:cs typeface="Georgia"/>
              </a:rPr>
              <a:t> </a:t>
            </a:r>
            <a:r>
              <a:rPr sz="1000" b="1" spc="-40" dirty="0">
                <a:latin typeface="Georgia"/>
                <a:cs typeface="Georgia"/>
              </a:rPr>
              <a:t>assumption</a:t>
            </a:r>
            <a:r>
              <a:rPr sz="1000" b="1" spc="5" dirty="0">
                <a:latin typeface="Georgia"/>
                <a:cs typeface="Georgia"/>
              </a:rPr>
              <a:t> </a:t>
            </a:r>
            <a:r>
              <a:rPr sz="1000" dirty="0">
                <a:latin typeface="Georgia"/>
                <a:cs typeface="Georgia"/>
              </a:rPr>
              <a:t>is</a:t>
            </a:r>
            <a:r>
              <a:rPr sz="1000" spc="20" dirty="0">
                <a:latin typeface="Georgia"/>
                <a:cs typeface="Georgia"/>
              </a:rPr>
              <a:t> </a:t>
            </a:r>
            <a:r>
              <a:rPr sz="1000" spc="-10" dirty="0">
                <a:latin typeface="Georgia"/>
                <a:cs typeface="Georgia"/>
              </a:rPr>
              <a:t>normally</a:t>
            </a:r>
            <a:r>
              <a:rPr sz="1000" spc="30" dirty="0">
                <a:latin typeface="Georgia"/>
                <a:cs typeface="Georgia"/>
              </a:rPr>
              <a:t> </a:t>
            </a:r>
            <a:r>
              <a:rPr sz="1000" b="1" spc="-10" dirty="0">
                <a:latin typeface="Georgia"/>
                <a:cs typeface="Georgia"/>
              </a:rPr>
              <a:t>wrong</a:t>
            </a:r>
            <a:r>
              <a:rPr sz="1000" spc="-10" dirty="0">
                <a:latin typeface="Georgia"/>
                <a:cs typeface="Georgia"/>
              </a:rPr>
              <a:t>.</a:t>
            </a:r>
            <a:endParaRPr sz="1000">
              <a:latin typeface="Georgia"/>
              <a:cs typeface="Georgia"/>
            </a:endParaRPr>
          </a:p>
          <a:p>
            <a:pPr marL="12700">
              <a:lnSpc>
                <a:spcPct val="100000"/>
              </a:lnSpc>
              <a:spcBef>
                <a:spcPts val="635"/>
              </a:spcBef>
            </a:pPr>
            <a:r>
              <a:rPr sz="1100" b="1" spc="-40" dirty="0">
                <a:latin typeface="Georgia"/>
                <a:cs typeface="Georgia"/>
              </a:rPr>
              <a:t>Density–based</a:t>
            </a:r>
            <a:r>
              <a:rPr sz="1100" b="1" spc="75" dirty="0">
                <a:latin typeface="Georgia"/>
                <a:cs typeface="Georgia"/>
              </a:rPr>
              <a:t> </a:t>
            </a:r>
            <a:r>
              <a:rPr sz="1100" b="1" spc="-10" dirty="0">
                <a:latin typeface="Georgia"/>
                <a:cs typeface="Georgia"/>
              </a:rPr>
              <a:t>methods</a:t>
            </a:r>
            <a:r>
              <a:rPr sz="1100" spc="-10" dirty="0">
                <a:latin typeface="Georgia"/>
                <a:cs typeface="Georgia"/>
              </a:rPr>
              <a:t>:</a:t>
            </a:r>
            <a:endParaRPr sz="1100">
              <a:latin typeface="Georgia"/>
              <a:cs typeface="Georgia"/>
            </a:endParaRPr>
          </a:p>
          <a:p>
            <a:pPr marL="289560" marR="165100">
              <a:lnSpc>
                <a:spcPts val="1019"/>
              </a:lnSpc>
              <a:spcBef>
                <a:spcPts val="600"/>
              </a:spcBef>
            </a:pPr>
            <a:r>
              <a:rPr sz="1000" spc="-10" dirty="0">
                <a:latin typeface="Georgia"/>
                <a:cs typeface="Georgia"/>
              </a:rPr>
              <a:t>Idea:</a:t>
            </a:r>
            <a:r>
              <a:rPr sz="1000" spc="110" dirty="0">
                <a:latin typeface="Georgia"/>
                <a:cs typeface="Georgia"/>
              </a:rPr>
              <a:t> </a:t>
            </a:r>
            <a:r>
              <a:rPr sz="1000" spc="-25" dirty="0">
                <a:latin typeface="Georgia"/>
                <a:cs typeface="Georgia"/>
              </a:rPr>
              <a:t>continue</a:t>
            </a:r>
            <a:r>
              <a:rPr sz="1000" spc="30" dirty="0">
                <a:latin typeface="Georgia"/>
                <a:cs typeface="Georgia"/>
              </a:rPr>
              <a:t> </a:t>
            </a:r>
            <a:r>
              <a:rPr sz="1000" dirty="0">
                <a:latin typeface="Georgia"/>
                <a:cs typeface="Georgia"/>
              </a:rPr>
              <a:t>to</a:t>
            </a:r>
            <a:r>
              <a:rPr sz="1000" spc="35" dirty="0">
                <a:latin typeface="Georgia"/>
                <a:cs typeface="Georgia"/>
              </a:rPr>
              <a:t> </a:t>
            </a:r>
            <a:r>
              <a:rPr sz="1000" spc="-10" dirty="0">
                <a:latin typeface="Georgia"/>
                <a:cs typeface="Georgia"/>
              </a:rPr>
              <a:t>grow</a:t>
            </a:r>
            <a:r>
              <a:rPr sz="1000" spc="30" dirty="0">
                <a:latin typeface="Georgia"/>
                <a:cs typeface="Georgia"/>
              </a:rPr>
              <a:t> </a:t>
            </a:r>
            <a:r>
              <a:rPr sz="1000" dirty="0">
                <a:latin typeface="Georgia"/>
                <a:cs typeface="Georgia"/>
              </a:rPr>
              <a:t>a</a:t>
            </a:r>
            <a:r>
              <a:rPr sz="1000" spc="30" dirty="0">
                <a:latin typeface="Georgia"/>
                <a:cs typeface="Georgia"/>
              </a:rPr>
              <a:t> </a:t>
            </a:r>
            <a:r>
              <a:rPr sz="1000" spc="-10" dirty="0">
                <a:latin typeface="Georgia"/>
                <a:cs typeface="Georgia"/>
              </a:rPr>
              <a:t>cluster</a:t>
            </a:r>
            <a:r>
              <a:rPr sz="1000" spc="35" dirty="0">
                <a:latin typeface="Georgia"/>
                <a:cs typeface="Georgia"/>
              </a:rPr>
              <a:t> </a:t>
            </a:r>
            <a:r>
              <a:rPr sz="1000" dirty="0">
                <a:latin typeface="Georgia"/>
                <a:cs typeface="Georgia"/>
              </a:rPr>
              <a:t>as</a:t>
            </a:r>
            <a:r>
              <a:rPr sz="1000" spc="30" dirty="0">
                <a:latin typeface="Georgia"/>
                <a:cs typeface="Georgia"/>
              </a:rPr>
              <a:t> </a:t>
            </a:r>
            <a:r>
              <a:rPr sz="1000" spc="-10" dirty="0">
                <a:latin typeface="Georgia"/>
                <a:cs typeface="Georgia"/>
              </a:rPr>
              <a:t>long</a:t>
            </a:r>
            <a:r>
              <a:rPr sz="1000" spc="30" dirty="0">
                <a:latin typeface="Georgia"/>
                <a:cs typeface="Georgia"/>
              </a:rPr>
              <a:t> </a:t>
            </a:r>
            <a:r>
              <a:rPr sz="1000" dirty="0">
                <a:latin typeface="Georgia"/>
                <a:cs typeface="Georgia"/>
              </a:rPr>
              <a:t>as</a:t>
            </a:r>
            <a:r>
              <a:rPr sz="1000" spc="30" dirty="0">
                <a:latin typeface="Georgia"/>
                <a:cs typeface="Georgia"/>
              </a:rPr>
              <a:t> </a:t>
            </a:r>
            <a:r>
              <a:rPr sz="1000" dirty="0">
                <a:latin typeface="Georgia"/>
                <a:cs typeface="Georgia"/>
              </a:rPr>
              <a:t>the</a:t>
            </a:r>
            <a:r>
              <a:rPr sz="1000" spc="35" dirty="0">
                <a:latin typeface="Georgia"/>
                <a:cs typeface="Georgia"/>
              </a:rPr>
              <a:t> </a:t>
            </a:r>
            <a:r>
              <a:rPr sz="1000" b="1" spc="-20" dirty="0">
                <a:latin typeface="Georgia"/>
                <a:cs typeface="Georgia"/>
              </a:rPr>
              <a:t>density</a:t>
            </a:r>
            <a:r>
              <a:rPr sz="1000" b="1" spc="25" dirty="0">
                <a:latin typeface="Georgia"/>
                <a:cs typeface="Georgia"/>
              </a:rPr>
              <a:t> </a:t>
            </a:r>
            <a:r>
              <a:rPr sz="1000" spc="-25" dirty="0">
                <a:latin typeface="Georgia"/>
                <a:cs typeface="Georgia"/>
              </a:rPr>
              <a:t>(number</a:t>
            </a:r>
            <a:r>
              <a:rPr sz="1000" spc="35" dirty="0">
                <a:latin typeface="Georgia"/>
                <a:cs typeface="Georgia"/>
              </a:rPr>
              <a:t> </a:t>
            </a:r>
            <a:r>
              <a:rPr sz="1000" dirty="0">
                <a:latin typeface="Georgia"/>
                <a:cs typeface="Georgia"/>
              </a:rPr>
              <a:t>of</a:t>
            </a:r>
            <a:r>
              <a:rPr sz="1000" spc="30" dirty="0">
                <a:latin typeface="Georgia"/>
                <a:cs typeface="Georgia"/>
              </a:rPr>
              <a:t> </a:t>
            </a:r>
            <a:r>
              <a:rPr sz="1000" dirty="0">
                <a:latin typeface="Georgia"/>
                <a:cs typeface="Georgia"/>
              </a:rPr>
              <a:t>objects</a:t>
            </a:r>
            <a:r>
              <a:rPr sz="1000" spc="30" dirty="0">
                <a:latin typeface="Georgia"/>
                <a:cs typeface="Georgia"/>
              </a:rPr>
              <a:t> </a:t>
            </a:r>
            <a:r>
              <a:rPr sz="1000" dirty="0">
                <a:latin typeface="Georgia"/>
                <a:cs typeface="Georgia"/>
              </a:rPr>
              <a:t>or</a:t>
            </a:r>
            <a:r>
              <a:rPr sz="1000" spc="35" dirty="0">
                <a:latin typeface="Georgia"/>
                <a:cs typeface="Georgia"/>
              </a:rPr>
              <a:t> </a:t>
            </a:r>
            <a:r>
              <a:rPr sz="1000" spc="-20" dirty="0">
                <a:latin typeface="Georgia"/>
                <a:cs typeface="Georgia"/>
              </a:rPr>
              <a:t>data </a:t>
            </a:r>
            <a:r>
              <a:rPr sz="1000" spc="-10" dirty="0">
                <a:latin typeface="Georgia"/>
                <a:cs typeface="Georgia"/>
              </a:rPr>
              <a:t>points)</a:t>
            </a:r>
            <a:r>
              <a:rPr sz="1000" spc="25" dirty="0">
                <a:latin typeface="Georgia"/>
                <a:cs typeface="Georgia"/>
              </a:rPr>
              <a:t> </a:t>
            </a:r>
            <a:r>
              <a:rPr sz="1000" dirty="0">
                <a:latin typeface="Georgia"/>
                <a:cs typeface="Georgia"/>
              </a:rPr>
              <a:t>in</a:t>
            </a:r>
            <a:r>
              <a:rPr sz="1000" spc="35" dirty="0">
                <a:latin typeface="Georgia"/>
                <a:cs typeface="Georgia"/>
              </a:rPr>
              <a:t> </a:t>
            </a:r>
            <a:r>
              <a:rPr sz="1000" dirty="0">
                <a:latin typeface="Georgia"/>
                <a:cs typeface="Georgia"/>
              </a:rPr>
              <a:t>the</a:t>
            </a:r>
            <a:r>
              <a:rPr sz="1000" spc="30" dirty="0">
                <a:latin typeface="Georgia"/>
                <a:cs typeface="Georgia"/>
              </a:rPr>
              <a:t> </a:t>
            </a:r>
            <a:r>
              <a:rPr sz="1000" b="1" spc="-40" dirty="0">
                <a:latin typeface="Georgia"/>
                <a:cs typeface="Georgia"/>
              </a:rPr>
              <a:t>neighborhood</a:t>
            </a:r>
            <a:r>
              <a:rPr sz="1000" b="1" spc="20" dirty="0">
                <a:latin typeface="Georgia"/>
                <a:cs typeface="Georgia"/>
              </a:rPr>
              <a:t> </a:t>
            </a:r>
            <a:r>
              <a:rPr sz="1000" spc="-20" dirty="0">
                <a:latin typeface="Georgia"/>
                <a:cs typeface="Georgia"/>
              </a:rPr>
              <a:t>exceeds</a:t>
            </a:r>
            <a:r>
              <a:rPr sz="1000" spc="30" dirty="0">
                <a:latin typeface="Georgia"/>
                <a:cs typeface="Georgia"/>
              </a:rPr>
              <a:t> </a:t>
            </a:r>
            <a:r>
              <a:rPr sz="1000" spc="-25" dirty="0">
                <a:latin typeface="Georgia"/>
                <a:cs typeface="Georgia"/>
              </a:rPr>
              <a:t>some</a:t>
            </a:r>
            <a:r>
              <a:rPr sz="1000" spc="35" dirty="0">
                <a:latin typeface="Georgia"/>
                <a:cs typeface="Georgia"/>
              </a:rPr>
              <a:t> </a:t>
            </a:r>
            <a:r>
              <a:rPr sz="1000" b="1" spc="-10" dirty="0">
                <a:latin typeface="Georgia"/>
                <a:cs typeface="Georgia"/>
              </a:rPr>
              <a:t>threshold</a:t>
            </a:r>
            <a:r>
              <a:rPr sz="1000" spc="-10" dirty="0">
                <a:latin typeface="Georgia"/>
                <a:cs typeface="Georgia"/>
              </a:rPr>
              <a:t>.</a:t>
            </a:r>
            <a:endParaRPr sz="1000">
              <a:latin typeface="Georgia"/>
              <a:cs typeface="Georgia"/>
            </a:endParaRPr>
          </a:p>
          <a:p>
            <a:pPr marL="289560" marR="1447165">
              <a:lnSpc>
                <a:spcPts val="1440"/>
              </a:lnSpc>
              <a:spcBef>
                <a:spcPts val="85"/>
              </a:spcBef>
            </a:pPr>
            <a:r>
              <a:rPr sz="1000" dirty="0">
                <a:latin typeface="Georgia"/>
                <a:cs typeface="Georgia"/>
              </a:rPr>
              <a:t>This</a:t>
            </a:r>
            <a:r>
              <a:rPr sz="1000" spc="25" dirty="0">
                <a:latin typeface="Georgia"/>
                <a:cs typeface="Georgia"/>
              </a:rPr>
              <a:t> </a:t>
            </a:r>
            <a:r>
              <a:rPr sz="1000" spc="-20" dirty="0">
                <a:latin typeface="Georgia"/>
                <a:cs typeface="Georgia"/>
              </a:rPr>
              <a:t>approach</a:t>
            </a:r>
            <a:r>
              <a:rPr sz="1000" spc="30" dirty="0">
                <a:latin typeface="Georgia"/>
                <a:cs typeface="Georgia"/>
              </a:rPr>
              <a:t> </a:t>
            </a:r>
            <a:r>
              <a:rPr sz="1000" dirty="0">
                <a:latin typeface="Georgia"/>
                <a:cs typeface="Georgia"/>
              </a:rPr>
              <a:t>is</a:t>
            </a:r>
            <a:r>
              <a:rPr sz="1000" spc="30" dirty="0">
                <a:latin typeface="Georgia"/>
                <a:cs typeface="Georgia"/>
              </a:rPr>
              <a:t> </a:t>
            </a:r>
            <a:r>
              <a:rPr sz="1000" spc="-10" dirty="0">
                <a:latin typeface="Georgia"/>
                <a:cs typeface="Georgia"/>
              </a:rPr>
              <a:t>suitable</a:t>
            </a:r>
            <a:r>
              <a:rPr sz="1000" spc="30" dirty="0">
                <a:latin typeface="Georgia"/>
                <a:cs typeface="Georgia"/>
              </a:rPr>
              <a:t> </a:t>
            </a:r>
            <a:r>
              <a:rPr sz="1000" dirty="0">
                <a:latin typeface="Georgia"/>
                <a:cs typeface="Georgia"/>
              </a:rPr>
              <a:t>for</a:t>
            </a:r>
            <a:r>
              <a:rPr sz="1000" spc="30" dirty="0">
                <a:latin typeface="Georgia"/>
                <a:cs typeface="Georgia"/>
              </a:rPr>
              <a:t> </a:t>
            </a:r>
            <a:r>
              <a:rPr sz="1000" spc="-10" dirty="0">
                <a:latin typeface="Georgia"/>
                <a:cs typeface="Georgia"/>
              </a:rPr>
              <a:t>clusters</a:t>
            </a:r>
            <a:r>
              <a:rPr sz="1000" spc="30" dirty="0">
                <a:latin typeface="Georgia"/>
                <a:cs typeface="Georgia"/>
              </a:rPr>
              <a:t> </a:t>
            </a:r>
            <a:r>
              <a:rPr sz="1000" dirty="0">
                <a:latin typeface="Georgia"/>
                <a:cs typeface="Georgia"/>
              </a:rPr>
              <a:t>of</a:t>
            </a:r>
            <a:r>
              <a:rPr sz="1000" spc="85" dirty="0">
                <a:latin typeface="Georgia"/>
                <a:cs typeface="Georgia"/>
              </a:rPr>
              <a:t> </a:t>
            </a:r>
            <a:r>
              <a:rPr sz="1000" b="1" spc="-25" dirty="0">
                <a:latin typeface="Georgia"/>
                <a:cs typeface="Georgia"/>
              </a:rPr>
              <a:t>arbitrary</a:t>
            </a:r>
            <a:r>
              <a:rPr sz="1000" b="1" spc="55" dirty="0">
                <a:latin typeface="Georgia"/>
                <a:cs typeface="Georgia"/>
              </a:rPr>
              <a:t> </a:t>
            </a:r>
            <a:r>
              <a:rPr sz="1000" b="1" spc="-10" dirty="0">
                <a:latin typeface="Georgia"/>
                <a:cs typeface="Georgia"/>
              </a:rPr>
              <a:t>shapes</a:t>
            </a:r>
            <a:r>
              <a:rPr sz="1000" spc="-10" dirty="0">
                <a:latin typeface="Georgia"/>
                <a:cs typeface="Georgia"/>
              </a:rPr>
              <a:t>. </a:t>
            </a:r>
            <a:r>
              <a:rPr sz="1000" dirty="0">
                <a:latin typeface="Georgia"/>
                <a:cs typeface="Georgia"/>
              </a:rPr>
              <a:t>This</a:t>
            </a:r>
            <a:r>
              <a:rPr sz="1000" spc="30" dirty="0">
                <a:latin typeface="Georgia"/>
                <a:cs typeface="Georgia"/>
              </a:rPr>
              <a:t> </a:t>
            </a:r>
            <a:r>
              <a:rPr sz="1000" spc="-20" dirty="0">
                <a:latin typeface="Georgia"/>
                <a:cs typeface="Georgia"/>
              </a:rPr>
              <a:t>approach</a:t>
            </a:r>
            <a:r>
              <a:rPr sz="1000" spc="30" dirty="0">
                <a:latin typeface="Georgia"/>
                <a:cs typeface="Georgia"/>
              </a:rPr>
              <a:t> </a:t>
            </a:r>
            <a:r>
              <a:rPr sz="1000" dirty="0">
                <a:latin typeface="Georgia"/>
                <a:cs typeface="Georgia"/>
              </a:rPr>
              <a:t>can</a:t>
            </a:r>
            <a:r>
              <a:rPr sz="1000" spc="30" dirty="0">
                <a:latin typeface="Georgia"/>
                <a:cs typeface="Georgia"/>
              </a:rPr>
              <a:t> </a:t>
            </a:r>
            <a:r>
              <a:rPr sz="1000" spc="-10" dirty="0">
                <a:latin typeface="Georgia"/>
                <a:cs typeface="Georgia"/>
              </a:rPr>
              <a:t>also</a:t>
            </a:r>
            <a:r>
              <a:rPr sz="1000" spc="30" dirty="0">
                <a:latin typeface="Georgia"/>
                <a:cs typeface="Georgia"/>
              </a:rPr>
              <a:t> </a:t>
            </a:r>
            <a:r>
              <a:rPr sz="1000" dirty="0">
                <a:latin typeface="Georgia"/>
                <a:cs typeface="Georgia"/>
              </a:rPr>
              <a:t>deal</a:t>
            </a:r>
            <a:r>
              <a:rPr sz="1000" spc="30" dirty="0">
                <a:latin typeface="Georgia"/>
                <a:cs typeface="Georgia"/>
              </a:rPr>
              <a:t> </a:t>
            </a:r>
            <a:r>
              <a:rPr sz="1000" dirty="0">
                <a:latin typeface="Georgia"/>
                <a:cs typeface="Georgia"/>
              </a:rPr>
              <a:t>with</a:t>
            </a:r>
            <a:r>
              <a:rPr sz="1000" spc="30" dirty="0">
                <a:latin typeface="Georgia"/>
                <a:cs typeface="Georgia"/>
              </a:rPr>
              <a:t> </a:t>
            </a:r>
            <a:r>
              <a:rPr sz="1000" b="1" spc="-40" dirty="0">
                <a:latin typeface="Georgia"/>
                <a:cs typeface="Georgia"/>
              </a:rPr>
              <a:t>noise</a:t>
            </a:r>
            <a:r>
              <a:rPr sz="1000" b="1" spc="20" dirty="0">
                <a:latin typeface="Georgia"/>
                <a:cs typeface="Georgia"/>
              </a:rPr>
              <a:t> </a:t>
            </a:r>
            <a:r>
              <a:rPr sz="1000" dirty="0">
                <a:latin typeface="Georgia"/>
                <a:cs typeface="Georgia"/>
              </a:rPr>
              <a:t>and</a:t>
            </a:r>
            <a:r>
              <a:rPr sz="1000" spc="30" dirty="0">
                <a:latin typeface="Georgia"/>
                <a:cs typeface="Georgia"/>
              </a:rPr>
              <a:t> </a:t>
            </a:r>
            <a:r>
              <a:rPr sz="1000" b="1" spc="-10" dirty="0">
                <a:latin typeface="Georgia"/>
                <a:cs typeface="Georgia"/>
              </a:rPr>
              <a:t>outliers</a:t>
            </a:r>
            <a:r>
              <a:rPr sz="1000" spc="-10" dirty="0">
                <a:latin typeface="Georgia"/>
                <a:cs typeface="Georgia"/>
              </a:rPr>
              <a:t>.</a:t>
            </a:r>
            <a:endParaRPr sz="1000">
              <a:latin typeface="Georgia"/>
              <a:cs typeface="Georgia"/>
            </a:endParaRPr>
          </a:p>
          <a:p>
            <a:pPr marL="289560">
              <a:lnSpc>
                <a:spcPct val="100000"/>
              </a:lnSpc>
              <a:spcBef>
                <a:spcPts val="155"/>
              </a:spcBef>
            </a:pPr>
            <a:r>
              <a:rPr sz="1000" dirty="0">
                <a:latin typeface="Georgia"/>
                <a:cs typeface="Georgia"/>
              </a:rPr>
              <a:t>Most</a:t>
            </a:r>
            <a:r>
              <a:rPr sz="1000" spc="25" dirty="0">
                <a:latin typeface="Georgia"/>
                <a:cs typeface="Georgia"/>
              </a:rPr>
              <a:t> </a:t>
            </a:r>
            <a:r>
              <a:rPr sz="1000" spc="-25" dirty="0">
                <a:latin typeface="Georgia"/>
                <a:cs typeface="Georgia"/>
              </a:rPr>
              <a:t>common</a:t>
            </a:r>
            <a:r>
              <a:rPr sz="1000" spc="35" dirty="0">
                <a:latin typeface="Georgia"/>
                <a:cs typeface="Georgia"/>
              </a:rPr>
              <a:t> </a:t>
            </a:r>
            <a:r>
              <a:rPr sz="1000" spc="-20" dirty="0">
                <a:latin typeface="Georgia"/>
                <a:cs typeface="Georgia"/>
              </a:rPr>
              <a:t>algorithms</a:t>
            </a:r>
            <a:r>
              <a:rPr sz="1000" spc="35" dirty="0">
                <a:latin typeface="Georgia"/>
                <a:cs typeface="Georgia"/>
              </a:rPr>
              <a:t> </a:t>
            </a:r>
            <a:r>
              <a:rPr sz="1000" dirty="0">
                <a:latin typeface="Georgia"/>
                <a:cs typeface="Georgia"/>
              </a:rPr>
              <a:t>are</a:t>
            </a:r>
            <a:r>
              <a:rPr sz="1000" spc="40" dirty="0">
                <a:latin typeface="Georgia"/>
                <a:cs typeface="Georgia"/>
              </a:rPr>
              <a:t> </a:t>
            </a:r>
            <a:r>
              <a:rPr sz="1000" b="1" spc="50" dirty="0">
                <a:latin typeface="Georgia"/>
                <a:cs typeface="Georgia"/>
              </a:rPr>
              <a:t>DBSCAN</a:t>
            </a:r>
            <a:r>
              <a:rPr sz="1000" b="1" spc="15" dirty="0">
                <a:latin typeface="Georgia"/>
                <a:cs typeface="Georgia"/>
              </a:rPr>
              <a:t> </a:t>
            </a:r>
            <a:r>
              <a:rPr sz="1000" dirty="0">
                <a:latin typeface="Georgia"/>
                <a:cs typeface="Georgia"/>
              </a:rPr>
              <a:t>and</a:t>
            </a:r>
            <a:r>
              <a:rPr sz="1000" spc="35" dirty="0">
                <a:latin typeface="Georgia"/>
                <a:cs typeface="Georgia"/>
              </a:rPr>
              <a:t> </a:t>
            </a:r>
            <a:r>
              <a:rPr sz="1000" b="1" spc="-10" dirty="0">
                <a:latin typeface="Georgia"/>
                <a:cs typeface="Georgia"/>
              </a:rPr>
              <a:t>OPTICS</a:t>
            </a:r>
            <a:r>
              <a:rPr sz="1000" spc="-10" dirty="0">
                <a:latin typeface="Georgia"/>
                <a:cs typeface="Georgia"/>
              </a:rPr>
              <a:t>.</a:t>
            </a:r>
            <a:endParaRPr sz="1000">
              <a:latin typeface="Georgia"/>
              <a:cs typeface="Georgia"/>
            </a:endParaRPr>
          </a:p>
        </p:txBody>
      </p:sp>
      <p:grpSp>
        <p:nvGrpSpPr>
          <p:cNvPr id="14" name="object 14"/>
          <p:cNvGrpSpPr/>
          <p:nvPr/>
        </p:nvGrpSpPr>
        <p:grpSpPr>
          <a:xfrm>
            <a:off x="0" y="3121545"/>
            <a:ext cx="5760085" cy="118745"/>
            <a:chOff x="0" y="3121545"/>
            <a:chExt cx="5760085" cy="118745"/>
          </a:xfrm>
        </p:grpSpPr>
        <p:sp>
          <p:nvSpPr>
            <p:cNvPr id="15" name="object 1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6" name="object 1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7" name="object 1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8" name="object 1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9" name="object 1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13</a:t>
            </a:fld>
            <a:r>
              <a:rPr spc="-25" dirty="0"/>
              <a:t> </a:t>
            </a:r>
            <a:r>
              <a:rPr spc="75" dirty="0"/>
              <a:t>/</a:t>
            </a:r>
            <a:r>
              <a:rPr spc="-25" dirty="0"/>
              <a:t> </a:t>
            </a:r>
            <a:r>
              <a:rPr spc="35" dirty="0"/>
              <a:t>135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Clustering</a:t>
            </a:r>
            <a:r>
              <a:rPr spc="330" dirty="0"/>
              <a:t> </a:t>
            </a:r>
            <a:r>
              <a:rPr dirty="0"/>
              <a:t>approaches</a:t>
            </a:r>
            <a:r>
              <a:rPr spc="340" dirty="0"/>
              <a:t> </a:t>
            </a:r>
            <a:r>
              <a:rPr spc="-10" dirty="0"/>
              <a:t>(cont’d)</a:t>
            </a:r>
          </a:p>
        </p:txBody>
      </p:sp>
      <p:sp>
        <p:nvSpPr>
          <p:cNvPr id="3" name="object 3"/>
          <p:cNvSpPr/>
          <p:nvPr/>
        </p:nvSpPr>
        <p:spPr>
          <a:xfrm>
            <a:off x="337972" y="60008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620229" y="813638"/>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5" name="object 5"/>
          <p:cNvSpPr/>
          <p:nvPr/>
        </p:nvSpPr>
        <p:spPr>
          <a:xfrm>
            <a:off x="620229" y="996683"/>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6" name="object 6"/>
          <p:cNvSpPr/>
          <p:nvPr/>
        </p:nvSpPr>
        <p:spPr>
          <a:xfrm>
            <a:off x="620229" y="1179741"/>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7" name="object 7"/>
          <p:cNvSpPr/>
          <p:nvPr/>
        </p:nvSpPr>
        <p:spPr>
          <a:xfrm>
            <a:off x="620229" y="1362798"/>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8" name="object 8"/>
          <p:cNvSpPr/>
          <p:nvPr/>
        </p:nvSpPr>
        <p:spPr>
          <a:xfrm>
            <a:off x="337972" y="160393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p:nvPr/>
        </p:nvSpPr>
        <p:spPr>
          <a:xfrm>
            <a:off x="620229" y="1817471"/>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0" name="object 10"/>
          <p:cNvSpPr/>
          <p:nvPr/>
        </p:nvSpPr>
        <p:spPr>
          <a:xfrm>
            <a:off x="620229" y="2183587"/>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1" name="object 11"/>
          <p:cNvSpPr/>
          <p:nvPr/>
        </p:nvSpPr>
        <p:spPr>
          <a:xfrm>
            <a:off x="620229" y="2549690"/>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2" name="object 12"/>
          <p:cNvSpPr txBox="1"/>
          <p:nvPr/>
        </p:nvSpPr>
        <p:spPr>
          <a:xfrm>
            <a:off x="454177" y="449203"/>
            <a:ext cx="5113020" cy="2376170"/>
          </a:xfrm>
          <a:prstGeom prst="rect">
            <a:avLst/>
          </a:prstGeom>
        </p:spPr>
        <p:txBody>
          <a:bodyPr vert="horz" wrap="square" lIns="0" tIns="70485" rIns="0" bIns="0" rtlCol="0">
            <a:spAutoFit/>
          </a:bodyPr>
          <a:lstStyle/>
          <a:p>
            <a:pPr marL="12700">
              <a:lnSpc>
                <a:spcPct val="100000"/>
              </a:lnSpc>
              <a:spcBef>
                <a:spcPts val="555"/>
              </a:spcBef>
            </a:pPr>
            <a:r>
              <a:rPr sz="1100" b="1" spc="-40" dirty="0">
                <a:latin typeface="Georgia"/>
                <a:cs typeface="Georgia"/>
              </a:rPr>
              <a:t>Grid–based</a:t>
            </a:r>
            <a:r>
              <a:rPr sz="1100" b="1" spc="60" dirty="0">
                <a:latin typeface="Georgia"/>
                <a:cs typeface="Georgia"/>
              </a:rPr>
              <a:t> </a:t>
            </a:r>
            <a:r>
              <a:rPr sz="1100" b="1" spc="-10" dirty="0">
                <a:latin typeface="Georgia"/>
                <a:cs typeface="Georgia"/>
              </a:rPr>
              <a:t>methods</a:t>
            </a:r>
            <a:r>
              <a:rPr sz="1100" spc="-10" dirty="0">
                <a:latin typeface="Georgia"/>
                <a:cs typeface="Georgia"/>
              </a:rPr>
              <a:t>:</a:t>
            </a:r>
            <a:endParaRPr sz="1100">
              <a:latin typeface="Georgia"/>
              <a:cs typeface="Georgia"/>
            </a:endParaRPr>
          </a:p>
          <a:p>
            <a:pPr marL="289560" marR="127635">
              <a:lnSpc>
                <a:spcPct val="120100"/>
              </a:lnSpc>
              <a:spcBef>
                <a:spcPts val="180"/>
              </a:spcBef>
            </a:pPr>
            <a:r>
              <a:rPr sz="1000" spc="-10" dirty="0">
                <a:latin typeface="Georgia"/>
                <a:cs typeface="Georgia"/>
              </a:rPr>
              <a:t>Quantize</a:t>
            </a:r>
            <a:r>
              <a:rPr sz="1000" spc="30" dirty="0">
                <a:latin typeface="Georgia"/>
                <a:cs typeface="Georgia"/>
              </a:rPr>
              <a:t> </a:t>
            </a:r>
            <a:r>
              <a:rPr sz="1000" dirty="0">
                <a:latin typeface="Georgia"/>
                <a:cs typeface="Georgia"/>
              </a:rPr>
              <a:t>the</a:t>
            </a:r>
            <a:r>
              <a:rPr sz="1000" spc="30" dirty="0">
                <a:latin typeface="Georgia"/>
                <a:cs typeface="Georgia"/>
              </a:rPr>
              <a:t> </a:t>
            </a:r>
            <a:r>
              <a:rPr sz="1000" dirty="0">
                <a:latin typeface="Georgia"/>
                <a:cs typeface="Georgia"/>
              </a:rPr>
              <a:t>object</a:t>
            </a:r>
            <a:r>
              <a:rPr sz="1000" spc="35" dirty="0">
                <a:latin typeface="Georgia"/>
                <a:cs typeface="Georgia"/>
              </a:rPr>
              <a:t> </a:t>
            </a:r>
            <a:r>
              <a:rPr sz="1000" spc="-10" dirty="0">
                <a:latin typeface="Georgia"/>
                <a:cs typeface="Georgia"/>
              </a:rPr>
              <a:t>space</a:t>
            </a:r>
            <a:r>
              <a:rPr sz="1000" spc="30" dirty="0">
                <a:latin typeface="Georgia"/>
                <a:cs typeface="Georgia"/>
              </a:rPr>
              <a:t> </a:t>
            </a:r>
            <a:r>
              <a:rPr sz="1000" dirty="0">
                <a:latin typeface="Georgia"/>
                <a:cs typeface="Georgia"/>
              </a:rPr>
              <a:t>into</a:t>
            </a:r>
            <a:r>
              <a:rPr sz="1000" spc="30" dirty="0">
                <a:latin typeface="Georgia"/>
                <a:cs typeface="Georgia"/>
              </a:rPr>
              <a:t> </a:t>
            </a:r>
            <a:r>
              <a:rPr sz="1000" dirty="0">
                <a:latin typeface="Georgia"/>
                <a:cs typeface="Georgia"/>
              </a:rPr>
              <a:t>a</a:t>
            </a:r>
            <a:r>
              <a:rPr sz="1000" spc="35" dirty="0">
                <a:latin typeface="Georgia"/>
                <a:cs typeface="Georgia"/>
              </a:rPr>
              <a:t> </a:t>
            </a:r>
            <a:r>
              <a:rPr sz="1000" spc="-10" dirty="0">
                <a:latin typeface="Georgia"/>
                <a:cs typeface="Georgia"/>
              </a:rPr>
              <a:t>finite</a:t>
            </a:r>
            <a:r>
              <a:rPr sz="1000" spc="30" dirty="0">
                <a:latin typeface="Georgia"/>
                <a:cs typeface="Georgia"/>
              </a:rPr>
              <a:t> </a:t>
            </a:r>
            <a:r>
              <a:rPr sz="1000" spc="-25" dirty="0">
                <a:latin typeface="Georgia"/>
                <a:cs typeface="Georgia"/>
              </a:rPr>
              <a:t>number</a:t>
            </a:r>
            <a:r>
              <a:rPr sz="1000" spc="30" dirty="0">
                <a:latin typeface="Georgia"/>
                <a:cs typeface="Georgia"/>
              </a:rPr>
              <a:t> </a:t>
            </a:r>
            <a:r>
              <a:rPr sz="1000" dirty="0">
                <a:latin typeface="Georgia"/>
                <a:cs typeface="Georgia"/>
              </a:rPr>
              <a:t>of</a:t>
            </a:r>
            <a:r>
              <a:rPr sz="1000" spc="90" dirty="0">
                <a:latin typeface="Georgia"/>
                <a:cs typeface="Georgia"/>
              </a:rPr>
              <a:t> </a:t>
            </a:r>
            <a:r>
              <a:rPr sz="1000" b="1" spc="-20" dirty="0">
                <a:latin typeface="Georgia"/>
                <a:cs typeface="Georgia"/>
              </a:rPr>
              <a:t>cells</a:t>
            </a:r>
            <a:r>
              <a:rPr sz="1000" b="1" spc="20" dirty="0">
                <a:latin typeface="Georgia"/>
                <a:cs typeface="Georgia"/>
              </a:rPr>
              <a:t> </a:t>
            </a:r>
            <a:r>
              <a:rPr sz="1000" dirty="0">
                <a:latin typeface="Georgia"/>
                <a:cs typeface="Georgia"/>
              </a:rPr>
              <a:t>that</a:t>
            </a:r>
            <a:r>
              <a:rPr sz="1000" spc="30" dirty="0">
                <a:latin typeface="Georgia"/>
                <a:cs typeface="Georgia"/>
              </a:rPr>
              <a:t> </a:t>
            </a:r>
            <a:r>
              <a:rPr sz="1000" spc="-10" dirty="0">
                <a:latin typeface="Georgia"/>
                <a:cs typeface="Georgia"/>
              </a:rPr>
              <a:t>form</a:t>
            </a:r>
            <a:r>
              <a:rPr sz="1000" spc="30" dirty="0">
                <a:latin typeface="Georgia"/>
                <a:cs typeface="Georgia"/>
              </a:rPr>
              <a:t> </a:t>
            </a:r>
            <a:r>
              <a:rPr sz="1000" dirty="0">
                <a:latin typeface="Georgia"/>
                <a:cs typeface="Georgia"/>
              </a:rPr>
              <a:t>a</a:t>
            </a:r>
            <a:r>
              <a:rPr sz="1000" spc="35" dirty="0">
                <a:latin typeface="Georgia"/>
                <a:cs typeface="Georgia"/>
              </a:rPr>
              <a:t> </a:t>
            </a:r>
            <a:r>
              <a:rPr sz="1000" b="1" spc="-10" dirty="0">
                <a:latin typeface="Georgia"/>
                <a:cs typeface="Georgia"/>
              </a:rPr>
              <a:t>grid</a:t>
            </a:r>
            <a:r>
              <a:rPr sz="1000" b="1" spc="55" dirty="0">
                <a:latin typeface="Georgia"/>
                <a:cs typeface="Georgia"/>
              </a:rPr>
              <a:t> </a:t>
            </a:r>
            <a:r>
              <a:rPr sz="1000" b="1" spc="-10" dirty="0">
                <a:latin typeface="Georgia"/>
                <a:cs typeface="Georgia"/>
              </a:rPr>
              <a:t>structure</a:t>
            </a:r>
            <a:r>
              <a:rPr sz="1000" spc="-10" dirty="0">
                <a:latin typeface="Georgia"/>
                <a:cs typeface="Georgia"/>
              </a:rPr>
              <a:t>. </a:t>
            </a:r>
            <a:r>
              <a:rPr sz="1000" dirty="0">
                <a:latin typeface="Georgia"/>
                <a:cs typeface="Georgia"/>
              </a:rPr>
              <a:t>All</a:t>
            </a:r>
            <a:r>
              <a:rPr sz="1000" spc="30" dirty="0">
                <a:latin typeface="Georgia"/>
                <a:cs typeface="Georgia"/>
              </a:rPr>
              <a:t> </a:t>
            </a:r>
            <a:r>
              <a:rPr sz="1000" dirty="0">
                <a:latin typeface="Georgia"/>
                <a:cs typeface="Georgia"/>
              </a:rPr>
              <a:t>the</a:t>
            </a:r>
            <a:r>
              <a:rPr sz="1000" spc="35" dirty="0">
                <a:latin typeface="Georgia"/>
                <a:cs typeface="Georgia"/>
              </a:rPr>
              <a:t> </a:t>
            </a:r>
            <a:r>
              <a:rPr sz="1000" spc="-10" dirty="0">
                <a:latin typeface="Georgia"/>
                <a:cs typeface="Georgia"/>
              </a:rPr>
              <a:t>clustering</a:t>
            </a:r>
            <a:r>
              <a:rPr sz="1000" spc="35" dirty="0">
                <a:latin typeface="Georgia"/>
                <a:cs typeface="Georgia"/>
              </a:rPr>
              <a:t> </a:t>
            </a:r>
            <a:r>
              <a:rPr sz="1000" spc="-20" dirty="0">
                <a:latin typeface="Georgia"/>
                <a:cs typeface="Georgia"/>
              </a:rPr>
              <a:t>operations</a:t>
            </a:r>
            <a:r>
              <a:rPr sz="1000" spc="35" dirty="0">
                <a:latin typeface="Georgia"/>
                <a:cs typeface="Georgia"/>
              </a:rPr>
              <a:t> </a:t>
            </a:r>
            <a:r>
              <a:rPr sz="1000" dirty="0">
                <a:latin typeface="Georgia"/>
                <a:cs typeface="Georgia"/>
              </a:rPr>
              <a:t>are</a:t>
            </a:r>
            <a:r>
              <a:rPr sz="1000" spc="30" dirty="0">
                <a:latin typeface="Georgia"/>
                <a:cs typeface="Georgia"/>
              </a:rPr>
              <a:t> </a:t>
            </a:r>
            <a:r>
              <a:rPr sz="1000" spc="-30" dirty="0">
                <a:latin typeface="Georgia"/>
                <a:cs typeface="Georgia"/>
              </a:rPr>
              <a:t>performed</a:t>
            </a:r>
            <a:r>
              <a:rPr sz="1000" spc="35" dirty="0">
                <a:latin typeface="Georgia"/>
                <a:cs typeface="Georgia"/>
              </a:rPr>
              <a:t> </a:t>
            </a:r>
            <a:r>
              <a:rPr sz="1000" dirty="0">
                <a:latin typeface="Georgia"/>
                <a:cs typeface="Georgia"/>
              </a:rPr>
              <a:t>on</a:t>
            </a:r>
            <a:r>
              <a:rPr sz="1000" spc="35" dirty="0">
                <a:latin typeface="Georgia"/>
                <a:cs typeface="Georgia"/>
              </a:rPr>
              <a:t> </a:t>
            </a:r>
            <a:r>
              <a:rPr sz="1000" dirty="0">
                <a:latin typeface="Georgia"/>
                <a:cs typeface="Georgia"/>
              </a:rPr>
              <a:t>the</a:t>
            </a:r>
            <a:r>
              <a:rPr sz="1000" spc="35" dirty="0">
                <a:latin typeface="Georgia"/>
                <a:cs typeface="Georgia"/>
              </a:rPr>
              <a:t> </a:t>
            </a:r>
            <a:r>
              <a:rPr sz="1000" dirty="0">
                <a:latin typeface="Georgia"/>
                <a:cs typeface="Georgia"/>
              </a:rPr>
              <a:t>grid</a:t>
            </a:r>
            <a:r>
              <a:rPr sz="1000" spc="30" dirty="0">
                <a:latin typeface="Georgia"/>
                <a:cs typeface="Georgia"/>
              </a:rPr>
              <a:t> </a:t>
            </a:r>
            <a:r>
              <a:rPr sz="1000" spc="-10" dirty="0">
                <a:latin typeface="Georgia"/>
                <a:cs typeface="Georgia"/>
              </a:rPr>
              <a:t>structure.</a:t>
            </a:r>
            <a:endParaRPr sz="1000">
              <a:latin typeface="Georgia"/>
              <a:cs typeface="Georgia"/>
            </a:endParaRPr>
          </a:p>
          <a:p>
            <a:pPr marL="289560">
              <a:lnSpc>
                <a:spcPct val="100000"/>
              </a:lnSpc>
              <a:spcBef>
                <a:spcPts val="240"/>
              </a:spcBef>
            </a:pPr>
            <a:r>
              <a:rPr sz="1000" spc="-10" dirty="0">
                <a:latin typeface="Georgia"/>
                <a:cs typeface="Georgia"/>
              </a:rPr>
              <a:t>Advantage:</a:t>
            </a:r>
            <a:r>
              <a:rPr sz="1000" spc="85" dirty="0">
                <a:latin typeface="Georgia"/>
                <a:cs typeface="Georgia"/>
              </a:rPr>
              <a:t> </a:t>
            </a:r>
            <a:r>
              <a:rPr sz="1000" b="1" dirty="0">
                <a:latin typeface="Georgia"/>
                <a:cs typeface="Georgia"/>
              </a:rPr>
              <a:t>fast </a:t>
            </a:r>
            <a:r>
              <a:rPr sz="1000" spc="-25" dirty="0">
                <a:latin typeface="Georgia"/>
                <a:cs typeface="Georgia"/>
              </a:rPr>
              <a:t>processing</a:t>
            </a:r>
            <a:r>
              <a:rPr sz="1000" spc="10" dirty="0">
                <a:latin typeface="Georgia"/>
                <a:cs typeface="Georgia"/>
              </a:rPr>
              <a:t> </a:t>
            </a:r>
            <a:r>
              <a:rPr sz="1000" dirty="0">
                <a:latin typeface="Georgia"/>
                <a:cs typeface="Georgia"/>
              </a:rPr>
              <a:t>time,</a:t>
            </a:r>
            <a:r>
              <a:rPr sz="1000" spc="15" dirty="0">
                <a:latin typeface="Georgia"/>
                <a:cs typeface="Georgia"/>
              </a:rPr>
              <a:t> </a:t>
            </a:r>
            <a:r>
              <a:rPr sz="1000" spc="-15" dirty="0">
                <a:latin typeface="Georgia"/>
                <a:cs typeface="Georgia"/>
              </a:rPr>
              <a:t>depending</a:t>
            </a:r>
            <a:r>
              <a:rPr sz="1000" spc="10" dirty="0">
                <a:latin typeface="Georgia"/>
                <a:cs typeface="Georgia"/>
              </a:rPr>
              <a:t> </a:t>
            </a:r>
            <a:r>
              <a:rPr sz="1000" dirty="0">
                <a:latin typeface="Georgia"/>
                <a:cs typeface="Georgia"/>
              </a:rPr>
              <a:t>on</a:t>
            </a:r>
            <a:r>
              <a:rPr sz="1000" spc="15" dirty="0">
                <a:latin typeface="Georgia"/>
                <a:cs typeface="Georgia"/>
              </a:rPr>
              <a:t> </a:t>
            </a:r>
            <a:r>
              <a:rPr sz="1000" dirty="0">
                <a:latin typeface="Georgia"/>
                <a:cs typeface="Georgia"/>
              </a:rPr>
              <a:t>the</a:t>
            </a:r>
            <a:r>
              <a:rPr sz="1000" spc="15" dirty="0">
                <a:latin typeface="Georgia"/>
                <a:cs typeface="Georgia"/>
              </a:rPr>
              <a:t> </a:t>
            </a:r>
            <a:r>
              <a:rPr sz="1000" spc="-25" dirty="0">
                <a:latin typeface="Georgia"/>
                <a:cs typeface="Georgia"/>
              </a:rPr>
              <a:t>number</a:t>
            </a:r>
            <a:r>
              <a:rPr sz="1000" spc="5" dirty="0">
                <a:latin typeface="Georgia"/>
                <a:cs typeface="Georgia"/>
              </a:rPr>
              <a:t> </a:t>
            </a:r>
            <a:r>
              <a:rPr sz="1000" dirty="0">
                <a:latin typeface="Georgia"/>
                <a:cs typeface="Georgia"/>
              </a:rPr>
              <a:t>of</a:t>
            </a:r>
            <a:r>
              <a:rPr sz="1000" spc="15" dirty="0">
                <a:latin typeface="Georgia"/>
                <a:cs typeface="Georgia"/>
              </a:rPr>
              <a:t> </a:t>
            </a:r>
            <a:r>
              <a:rPr sz="1000" spc="-10" dirty="0">
                <a:latin typeface="Georgia"/>
                <a:cs typeface="Georgia"/>
              </a:rPr>
              <a:t>cells.</a:t>
            </a:r>
            <a:endParaRPr sz="1000">
              <a:latin typeface="Georgia"/>
              <a:cs typeface="Georgia"/>
            </a:endParaRPr>
          </a:p>
          <a:p>
            <a:pPr marL="289560">
              <a:lnSpc>
                <a:spcPct val="100000"/>
              </a:lnSpc>
              <a:spcBef>
                <a:spcPts val="244"/>
              </a:spcBef>
            </a:pPr>
            <a:r>
              <a:rPr sz="1000" spc="-10" dirty="0">
                <a:latin typeface="Georgia"/>
                <a:cs typeface="Georgia"/>
              </a:rPr>
              <a:t>Efficient</a:t>
            </a:r>
            <a:r>
              <a:rPr sz="1000" spc="20" dirty="0">
                <a:latin typeface="Georgia"/>
                <a:cs typeface="Georgia"/>
              </a:rPr>
              <a:t> </a:t>
            </a:r>
            <a:r>
              <a:rPr sz="1000" dirty="0">
                <a:latin typeface="Georgia"/>
                <a:cs typeface="Georgia"/>
              </a:rPr>
              <a:t>for</a:t>
            </a:r>
            <a:r>
              <a:rPr sz="1000" spc="20" dirty="0">
                <a:latin typeface="Georgia"/>
                <a:cs typeface="Georgia"/>
              </a:rPr>
              <a:t> </a:t>
            </a:r>
            <a:r>
              <a:rPr sz="1000" b="1" spc="-20" dirty="0">
                <a:latin typeface="Georgia"/>
                <a:cs typeface="Georgia"/>
              </a:rPr>
              <a:t>spatial</a:t>
            </a:r>
            <a:r>
              <a:rPr sz="1000" b="1" spc="10" dirty="0">
                <a:latin typeface="Georgia"/>
                <a:cs typeface="Georgia"/>
              </a:rPr>
              <a:t> </a:t>
            </a:r>
            <a:r>
              <a:rPr sz="1000" dirty="0">
                <a:latin typeface="Georgia"/>
                <a:cs typeface="Georgia"/>
              </a:rPr>
              <a:t>data</a:t>
            </a:r>
            <a:r>
              <a:rPr sz="1000" spc="20" dirty="0">
                <a:latin typeface="Georgia"/>
                <a:cs typeface="Georgia"/>
              </a:rPr>
              <a:t> </a:t>
            </a:r>
            <a:r>
              <a:rPr sz="1000" spc="-10" dirty="0">
                <a:latin typeface="Georgia"/>
                <a:cs typeface="Georgia"/>
              </a:rPr>
              <a:t>clustering,</a:t>
            </a:r>
            <a:r>
              <a:rPr sz="1000" spc="20" dirty="0">
                <a:latin typeface="Georgia"/>
                <a:cs typeface="Georgia"/>
              </a:rPr>
              <a:t> </a:t>
            </a:r>
            <a:r>
              <a:rPr sz="1000" dirty="0">
                <a:latin typeface="Georgia"/>
                <a:cs typeface="Georgia"/>
              </a:rPr>
              <a:t>can</a:t>
            </a:r>
            <a:r>
              <a:rPr sz="1000" spc="20" dirty="0">
                <a:latin typeface="Georgia"/>
                <a:cs typeface="Georgia"/>
              </a:rPr>
              <a:t> </a:t>
            </a:r>
            <a:r>
              <a:rPr sz="1000" dirty="0">
                <a:latin typeface="Georgia"/>
                <a:cs typeface="Georgia"/>
              </a:rPr>
              <a:t>be</a:t>
            </a:r>
            <a:r>
              <a:rPr sz="1000" spc="25" dirty="0">
                <a:latin typeface="Georgia"/>
                <a:cs typeface="Georgia"/>
              </a:rPr>
              <a:t> </a:t>
            </a:r>
            <a:r>
              <a:rPr sz="1000" spc="-20" dirty="0">
                <a:latin typeface="Georgia"/>
                <a:cs typeface="Georgia"/>
              </a:rPr>
              <a:t>combined</a:t>
            </a:r>
            <a:r>
              <a:rPr sz="1000" spc="20" dirty="0">
                <a:latin typeface="Georgia"/>
                <a:cs typeface="Georgia"/>
              </a:rPr>
              <a:t> </a:t>
            </a:r>
            <a:r>
              <a:rPr sz="1000" dirty="0">
                <a:latin typeface="Georgia"/>
                <a:cs typeface="Georgia"/>
              </a:rPr>
              <a:t>with</a:t>
            </a:r>
            <a:r>
              <a:rPr sz="1000" spc="20" dirty="0">
                <a:latin typeface="Georgia"/>
                <a:cs typeface="Georgia"/>
              </a:rPr>
              <a:t> </a:t>
            </a:r>
            <a:r>
              <a:rPr sz="1000" spc="-30" dirty="0">
                <a:latin typeface="Georgia"/>
                <a:cs typeface="Georgia"/>
              </a:rPr>
              <a:t>density–based</a:t>
            </a:r>
            <a:r>
              <a:rPr sz="1000" spc="25" dirty="0">
                <a:latin typeface="Georgia"/>
                <a:cs typeface="Georgia"/>
              </a:rPr>
              <a:t> </a:t>
            </a:r>
            <a:r>
              <a:rPr sz="1000" spc="-10" dirty="0">
                <a:latin typeface="Georgia"/>
                <a:cs typeface="Georgia"/>
              </a:rPr>
              <a:t>method,</a:t>
            </a:r>
            <a:r>
              <a:rPr sz="1000" spc="20" dirty="0">
                <a:latin typeface="Georgia"/>
                <a:cs typeface="Georgia"/>
              </a:rPr>
              <a:t> </a:t>
            </a:r>
            <a:r>
              <a:rPr sz="1000" spc="-20" dirty="0">
                <a:latin typeface="Georgia"/>
                <a:cs typeface="Georgia"/>
              </a:rPr>
              <a:t>etc.</a:t>
            </a:r>
            <a:endParaRPr sz="1000">
              <a:latin typeface="Georgia"/>
              <a:cs typeface="Georgia"/>
            </a:endParaRPr>
          </a:p>
          <a:p>
            <a:pPr marL="12700">
              <a:lnSpc>
                <a:spcPct val="100000"/>
              </a:lnSpc>
              <a:spcBef>
                <a:spcPts val="640"/>
              </a:spcBef>
            </a:pPr>
            <a:r>
              <a:rPr sz="1100" b="1" dirty="0">
                <a:latin typeface="Georgia"/>
                <a:cs typeface="Georgia"/>
              </a:rPr>
              <a:t>Other</a:t>
            </a:r>
            <a:r>
              <a:rPr sz="1100" b="1" spc="25" dirty="0">
                <a:latin typeface="Georgia"/>
                <a:cs typeface="Georgia"/>
              </a:rPr>
              <a:t> </a:t>
            </a:r>
            <a:r>
              <a:rPr sz="1100" b="1" spc="-10" dirty="0">
                <a:latin typeface="Georgia"/>
                <a:cs typeface="Georgia"/>
              </a:rPr>
              <a:t>approaches</a:t>
            </a:r>
            <a:r>
              <a:rPr sz="1100" spc="-10" dirty="0">
                <a:latin typeface="Georgia"/>
                <a:cs typeface="Georgia"/>
              </a:rPr>
              <a:t>:</a:t>
            </a:r>
            <a:endParaRPr sz="1100">
              <a:latin typeface="Georgia"/>
              <a:cs typeface="Georgia"/>
            </a:endParaRPr>
          </a:p>
          <a:p>
            <a:pPr marL="289560">
              <a:lnSpc>
                <a:spcPct val="100000"/>
              </a:lnSpc>
              <a:spcBef>
                <a:spcPts val="420"/>
              </a:spcBef>
            </a:pPr>
            <a:r>
              <a:rPr sz="1000" b="1" spc="-40" dirty="0">
                <a:latin typeface="Georgia"/>
                <a:cs typeface="Georgia"/>
              </a:rPr>
              <a:t>Graph–based</a:t>
            </a:r>
            <a:r>
              <a:rPr sz="1000" b="1" spc="70" dirty="0">
                <a:latin typeface="Georgia"/>
                <a:cs typeface="Georgia"/>
              </a:rPr>
              <a:t> </a:t>
            </a:r>
            <a:r>
              <a:rPr sz="1000" b="1" spc="-10" dirty="0">
                <a:latin typeface="Georgia"/>
                <a:cs typeface="Georgia"/>
              </a:rPr>
              <a:t>methods</a:t>
            </a:r>
            <a:r>
              <a:rPr sz="1000" spc="-10" dirty="0">
                <a:latin typeface="Georgia"/>
                <a:cs typeface="Georgia"/>
              </a:rPr>
              <a:t>:</a:t>
            </a:r>
            <a:endParaRPr sz="1000">
              <a:latin typeface="Georgia"/>
              <a:cs typeface="Georgia"/>
            </a:endParaRPr>
          </a:p>
          <a:p>
            <a:pPr marL="289560" marR="45085" indent="125730">
              <a:lnSpc>
                <a:spcPct val="120100"/>
              </a:lnSpc>
            </a:pPr>
            <a:r>
              <a:rPr sz="1000" spc="-20" dirty="0">
                <a:latin typeface="Georgia"/>
                <a:cs typeface="Georgia"/>
              </a:rPr>
              <a:t>finding</a:t>
            </a:r>
            <a:r>
              <a:rPr sz="1000" spc="5" dirty="0">
                <a:latin typeface="Georgia"/>
                <a:cs typeface="Georgia"/>
              </a:rPr>
              <a:t> </a:t>
            </a:r>
            <a:r>
              <a:rPr sz="1000" spc="-20" dirty="0">
                <a:latin typeface="Georgia"/>
                <a:cs typeface="Georgia"/>
              </a:rPr>
              <a:t>clusters</a:t>
            </a:r>
            <a:r>
              <a:rPr sz="1000" spc="5" dirty="0">
                <a:latin typeface="Georgia"/>
                <a:cs typeface="Georgia"/>
              </a:rPr>
              <a:t> </a:t>
            </a:r>
            <a:r>
              <a:rPr sz="1000" spc="-10" dirty="0">
                <a:latin typeface="Georgia"/>
                <a:cs typeface="Georgia"/>
              </a:rPr>
              <a:t>based</a:t>
            </a:r>
            <a:r>
              <a:rPr sz="1000" spc="5" dirty="0">
                <a:latin typeface="Georgia"/>
                <a:cs typeface="Georgia"/>
              </a:rPr>
              <a:t> </a:t>
            </a:r>
            <a:r>
              <a:rPr sz="1000" dirty="0">
                <a:latin typeface="Georgia"/>
                <a:cs typeface="Georgia"/>
              </a:rPr>
              <a:t>on</a:t>
            </a:r>
            <a:r>
              <a:rPr sz="1000" spc="10" dirty="0">
                <a:latin typeface="Georgia"/>
                <a:cs typeface="Georgia"/>
              </a:rPr>
              <a:t> </a:t>
            </a:r>
            <a:r>
              <a:rPr sz="1000" b="1" spc="-30" dirty="0">
                <a:latin typeface="Georgia"/>
                <a:cs typeface="Georgia"/>
              </a:rPr>
              <a:t>dense</a:t>
            </a:r>
            <a:r>
              <a:rPr sz="1000" b="1" spc="35" dirty="0">
                <a:latin typeface="Georgia"/>
                <a:cs typeface="Georgia"/>
              </a:rPr>
              <a:t> </a:t>
            </a:r>
            <a:r>
              <a:rPr sz="1000" b="1" spc="-45" dirty="0">
                <a:latin typeface="Georgia"/>
                <a:cs typeface="Georgia"/>
              </a:rPr>
              <a:t>sub–graph</a:t>
            </a:r>
            <a:r>
              <a:rPr sz="1000" b="1" spc="-5" dirty="0">
                <a:latin typeface="Georgia"/>
                <a:cs typeface="Georgia"/>
              </a:rPr>
              <a:t> </a:t>
            </a:r>
            <a:r>
              <a:rPr sz="1000" spc="-10" dirty="0">
                <a:latin typeface="Georgia"/>
                <a:cs typeface="Georgia"/>
              </a:rPr>
              <a:t>mining</a:t>
            </a:r>
            <a:r>
              <a:rPr sz="1000" spc="5" dirty="0">
                <a:latin typeface="Georgia"/>
                <a:cs typeface="Georgia"/>
              </a:rPr>
              <a:t> </a:t>
            </a:r>
            <a:r>
              <a:rPr sz="1000" dirty="0">
                <a:latin typeface="Georgia"/>
                <a:cs typeface="Georgia"/>
              </a:rPr>
              <a:t>like</a:t>
            </a:r>
            <a:r>
              <a:rPr sz="1000" spc="5" dirty="0">
                <a:latin typeface="Georgia"/>
                <a:cs typeface="Georgia"/>
              </a:rPr>
              <a:t> </a:t>
            </a:r>
            <a:r>
              <a:rPr sz="1000" b="1" spc="-35" dirty="0">
                <a:latin typeface="Georgia"/>
                <a:cs typeface="Georgia"/>
              </a:rPr>
              <a:t>cliques</a:t>
            </a:r>
            <a:r>
              <a:rPr sz="1000" b="1" spc="-5" dirty="0">
                <a:latin typeface="Georgia"/>
                <a:cs typeface="Georgia"/>
              </a:rPr>
              <a:t> </a:t>
            </a:r>
            <a:r>
              <a:rPr sz="1000" dirty="0">
                <a:latin typeface="Georgia"/>
                <a:cs typeface="Georgia"/>
              </a:rPr>
              <a:t>or</a:t>
            </a:r>
            <a:r>
              <a:rPr sz="1000" spc="10" dirty="0">
                <a:latin typeface="Georgia"/>
                <a:cs typeface="Georgia"/>
              </a:rPr>
              <a:t> </a:t>
            </a:r>
            <a:r>
              <a:rPr sz="1000" b="1" spc="-35" dirty="0">
                <a:latin typeface="Georgia"/>
                <a:cs typeface="Georgia"/>
              </a:rPr>
              <a:t>quasi–cliques</a:t>
            </a:r>
            <a:r>
              <a:rPr sz="1000" spc="-35" dirty="0">
                <a:latin typeface="Georgia"/>
                <a:cs typeface="Georgia"/>
              </a:rPr>
              <a:t>. </a:t>
            </a:r>
            <a:r>
              <a:rPr sz="1000" b="1" spc="-35" dirty="0">
                <a:latin typeface="Georgia"/>
                <a:cs typeface="Georgia"/>
              </a:rPr>
              <a:t>Subspace</a:t>
            </a:r>
            <a:r>
              <a:rPr sz="1000" b="1" spc="65" dirty="0">
                <a:latin typeface="Georgia"/>
                <a:cs typeface="Georgia"/>
              </a:rPr>
              <a:t> </a:t>
            </a:r>
            <a:r>
              <a:rPr sz="1000" b="1" spc="-10" dirty="0">
                <a:latin typeface="Georgia"/>
                <a:cs typeface="Georgia"/>
              </a:rPr>
              <a:t>models</a:t>
            </a:r>
            <a:r>
              <a:rPr sz="1000" spc="-10" dirty="0">
                <a:latin typeface="Georgia"/>
                <a:cs typeface="Georgia"/>
              </a:rPr>
              <a:t>:</a:t>
            </a:r>
            <a:endParaRPr sz="1000">
              <a:latin typeface="Georgia"/>
              <a:cs typeface="Georgia"/>
            </a:endParaRPr>
          </a:p>
          <a:p>
            <a:pPr marL="415925">
              <a:lnSpc>
                <a:spcPct val="100000"/>
              </a:lnSpc>
              <a:spcBef>
                <a:spcPts val="240"/>
              </a:spcBef>
            </a:pPr>
            <a:r>
              <a:rPr sz="1000" spc="-10" dirty="0">
                <a:latin typeface="Georgia"/>
                <a:cs typeface="Georgia"/>
              </a:rPr>
              <a:t>clusters</a:t>
            </a:r>
            <a:r>
              <a:rPr sz="1000" spc="20" dirty="0">
                <a:latin typeface="Georgia"/>
                <a:cs typeface="Georgia"/>
              </a:rPr>
              <a:t> </a:t>
            </a:r>
            <a:r>
              <a:rPr sz="1000" dirty="0">
                <a:latin typeface="Georgia"/>
                <a:cs typeface="Georgia"/>
              </a:rPr>
              <a:t>are</a:t>
            </a:r>
            <a:r>
              <a:rPr sz="1000" spc="25" dirty="0">
                <a:latin typeface="Georgia"/>
                <a:cs typeface="Georgia"/>
              </a:rPr>
              <a:t> </a:t>
            </a:r>
            <a:r>
              <a:rPr sz="1000" spc="-25" dirty="0">
                <a:latin typeface="Georgia"/>
                <a:cs typeface="Georgia"/>
              </a:rPr>
              <a:t>modeled</a:t>
            </a:r>
            <a:r>
              <a:rPr sz="1000" spc="25" dirty="0">
                <a:latin typeface="Georgia"/>
                <a:cs typeface="Georgia"/>
              </a:rPr>
              <a:t> </a:t>
            </a:r>
            <a:r>
              <a:rPr sz="1000" dirty="0">
                <a:latin typeface="Georgia"/>
                <a:cs typeface="Georgia"/>
              </a:rPr>
              <a:t>with</a:t>
            </a:r>
            <a:r>
              <a:rPr sz="1000" spc="25" dirty="0">
                <a:latin typeface="Georgia"/>
                <a:cs typeface="Georgia"/>
              </a:rPr>
              <a:t> </a:t>
            </a:r>
            <a:r>
              <a:rPr sz="1000" dirty="0">
                <a:latin typeface="Georgia"/>
                <a:cs typeface="Georgia"/>
              </a:rPr>
              <a:t>both</a:t>
            </a:r>
            <a:r>
              <a:rPr sz="1000" spc="25" dirty="0">
                <a:latin typeface="Georgia"/>
                <a:cs typeface="Georgia"/>
              </a:rPr>
              <a:t> </a:t>
            </a:r>
            <a:r>
              <a:rPr sz="1000" spc="-10" dirty="0">
                <a:latin typeface="Georgia"/>
                <a:cs typeface="Georgia"/>
              </a:rPr>
              <a:t>cluster</a:t>
            </a:r>
            <a:r>
              <a:rPr sz="1000" spc="25" dirty="0">
                <a:latin typeface="Georgia"/>
                <a:cs typeface="Georgia"/>
              </a:rPr>
              <a:t> </a:t>
            </a:r>
            <a:r>
              <a:rPr sz="1000" spc="-35" dirty="0">
                <a:latin typeface="Georgia"/>
                <a:cs typeface="Georgia"/>
              </a:rPr>
              <a:t>members</a:t>
            </a:r>
            <a:r>
              <a:rPr sz="1000" spc="25" dirty="0">
                <a:latin typeface="Georgia"/>
                <a:cs typeface="Georgia"/>
              </a:rPr>
              <a:t> </a:t>
            </a:r>
            <a:r>
              <a:rPr sz="1000" dirty="0">
                <a:latin typeface="Georgia"/>
                <a:cs typeface="Georgia"/>
              </a:rPr>
              <a:t>and</a:t>
            </a:r>
            <a:r>
              <a:rPr sz="1000" spc="25" dirty="0">
                <a:latin typeface="Georgia"/>
                <a:cs typeface="Georgia"/>
              </a:rPr>
              <a:t> </a:t>
            </a:r>
            <a:r>
              <a:rPr sz="1000" spc="-20" dirty="0">
                <a:latin typeface="Georgia"/>
                <a:cs typeface="Georgia"/>
              </a:rPr>
              <a:t>relevant</a:t>
            </a:r>
            <a:r>
              <a:rPr sz="1000" spc="25" dirty="0">
                <a:latin typeface="Georgia"/>
                <a:cs typeface="Georgia"/>
              </a:rPr>
              <a:t> </a:t>
            </a:r>
            <a:r>
              <a:rPr sz="1000" spc="-10" dirty="0">
                <a:latin typeface="Georgia"/>
                <a:cs typeface="Georgia"/>
              </a:rPr>
              <a:t>attributes.</a:t>
            </a:r>
            <a:endParaRPr sz="1000">
              <a:latin typeface="Georgia"/>
              <a:cs typeface="Georgia"/>
            </a:endParaRPr>
          </a:p>
          <a:p>
            <a:pPr marL="289560">
              <a:lnSpc>
                <a:spcPct val="100000"/>
              </a:lnSpc>
              <a:spcBef>
                <a:spcPts val="240"/>
              </a:spcBef>
            </a:pPr>
            <a:r>
              <a:rPr sz="1000" b="1" spc="-20" dirty="0">
                <a:latin typeface="Georgia"/>
                <a:cs typeface="Georgia"/>
              </a:rPr>
              <a:t>Neural</a:t>
            </a:r>
            <a:r>
              <a:rPr sz="1000" b="1" spc="35" dirty="0">
                <a:latin typeface="Georgia"/>
                <a:cs typeface="Georgia"/>
              </a:rPr>
              <a:t> </a:t>
            </a:r>
            <a:r>
              <a:rPr sz="1000" b="1" spc="-10" dirty="0">
                <a:latin typeface="Georgia"/>
                <a:cs typeface="Georgia"/>
              </a:rPr>
              <a:t>models</a:t>
            </a:r>
            <a:r>
              <a:rPr sz="1000" spc="-10" dirty="0">
                <a:latin typeface="Georgia"/>
                <a:cs typeface="Georgia"/>
              </a:rPr>
              <a:t>:</a:t>
            </a:r>
            <a:endParaRPr sz="1000">
              <a:latin typeface="Georgia"/>
              <a:cs typeface="Georgia"/>
            </a:endParaRPr>
          </a:p>
          <a:p>
            <a:pPr marL="415925">
              <a:lnSpc>
                <a:spcPct val="100000"/>
              </a:lnSpc>
              <a:spcBef>
                <a:spcPts val="244"/>
              </a:spcBef>
            </a:pPr>
            <a:r>
              <a:rPr sz="1000" dirty="0">
                <a:latin typeface="Georgia"/>
                <a:cs typeface="Georgia"/>
              </a:rPr>
              <a:t>the</a:t>
            </a:r>
            <a:r>
              <a:rPr sz="1000" spc="25" dirty="0">
                <a:latin typeface="Georgia"/>
                <a:cs typeface="Georgia"/>
              </a:rPr>
              <a:t> </a:t>
            </a:r>
            <a:r>
              <a:rPr sz="1000" dirty="0">
                <a:latin typeface="Georgia"/>
                <a:cs typeface="Georgia"/>
              </a:rPr>
              <a:t>most</a:t>
            </a:r>
            <a:r>
              <a:rPr sz="1000" spc="30" dirty="0">
                <a:latin typeface="Georgia"/>
                <a:cs typeface="Georgia"/>
              </a:rPr>
              <a:t> </a:t>
            </a:r>
            <a:r>
              <a:rPr sz="1000" spc="-10" dirty="0">
                <a:latin typeface="Georgia"/>
                <a:cs typeface="Georgia"/>
              </a:rPr>
              <a:t>well</a:t>
            </a:r>
            <a:r>
              <a:rPr sz="1000" spc="30" dirty="0">
                <a:latin typeface="Georgia"/>
                <a:cs typeface="Georgia"/>
              </a:rPr>
              <a:t> </a:t>
            </a:r>
            <a:r>
              <a:rPr sz="1000" spc="-20" dirty="0">
                <a:latin typeface="Georgia"/>
                <a:cs typeface="Georgia"/>
              </a:rPr>
              <a:t>known</a:t>
            </a:r>
            <a:r>
              <a:rPr sz="1000" spc="30" dirty="0">
                <a:latin typeface="Georgia"/>
                <a:cs typeface="Georgia"/>
              </a:rPr>
              <a:t> </a:t>
            </a:r>
            <a:r>
              <a:rPr sz="1000" spc="-25" dirty="0">
                <a:latin typeface="Georgia"/>
                <a:cs typeface="Georgia"/>
              </a:rPr>
              <a:t>unsupervised</a:t>
            </a:r>
            <a:r>
              <a:rPr sz="1000" spc="25" dirty="0">
                <a:latin typeface="Georgia"/>
                <a:cs typeface="Georgia"/>
              </a:rPr>
              <a:t> </a:t>
            </a:r>
            <a:r>
              <a:rPr sz="1000" spc="-10" dirty="0">
                <a:latin typeface="Georgia"/>
                <a:cs typeface="Georgia"/>
              </a:rPr>
              <a:t>neural</a:t>
            </a:r>
            <a:r>
              <a:rPr sz="1000" spc="30" dirty="0">
                <a:latin typeface="Georgia"/>
                <a:cs typeface="Georgia"/>
              </a:rPr>
              <a:t> </a:t>
            </a:r>
            <a:r>
              <a:rPr sz="1000" spc="-25" dirty="0">
                <a:latin typeface="Georgia"/>
                <a:cs typeface="Georgia"/>
              </a:rPr>
              <a:t>network</a:t>
            </a:r>
            <a:r>
              <a:rPr sz="1000" spc="30" dirty="0">
                <a:latin typeface="Georgia"/>
                <a:cs typeface="Georgia"/>
              </a:rPr>
              <a:t> </a:t>
            </a:r>
            <a:r>
              <a:rPr sz="1000" dirty="0">
                <a:latin typeface="Georgia"/>
                <a:cs typeface="Georgia"/>
              </a:rPr>
              <a:t>is</a:t>
            </a:r>
            <a:r>
              <a:rPr sz="1000" spc="30" dirty="0">
                <a:latin typeface="Georgia"/>
                <a:cs typeface="Georgia"/>
              </a:rPr>
              <a:t> </a:t>
            </a:r>
            <a:r>
              <a:rPr sz="1000" dirty="0">
                <a:latin typeface="Georgia"/>
                <a:cs typeface="Georgia"/>
              </a:rPr>
              <a:t>the</a:t>
            </a:r>
            <a:r>
              <a:rPr sz="1000" spc="25" dirty="0">
                <a:latin typeface="Georgia"/>
                <a:cs typeface="Georgia"/>
              </a:rPr>
              <a:t> </a:t>
            </a:r>
            <a:r>
              <a:rPr sz="1000" b="1" spc="-50" dirty="0">
                <a:latin typeface="Georgia"/>
                <a:cs typeface="Georgia"/>
              </a:rPr>
              <a:t>self–organizing</a:t>
            </a:r>
            <a:r>
              <a:rPr sz="1000" b="1" spc="55" dirty="0">
                <a:latin typeface="Georgia"/>
                <a:cs typeface="Georgia"/>
              </a:rPr>
              <a:t> </a:t>
            </a:r>
            <a:r>
              <a:rPr sz="1000" b="1" spc="-20" dirty="0">
                <a:latin typeface="Georgia"/>
                <a:cs typeface="Georgia"/>
              </a:rPr>
              <a:t>map</a:t>
            </a:r>
            <a:r>
              <a:rPr sz="1000" spc="-20" dirty="0">
                <a:latin typeface="Georgia"/>
                <a:cs typeface="Georgia"/>
              </a:rPr>
              <a:t>.</a:t>
            </a:r>
            <a:endParaRPr sz="1000">
              <a:latin typeface="Georgia"/>
              <a:cs typeface="Georgia"/>
            </a:endParaRPr>
          </a:p>
        </p:txBody>
      </p:sp>
      <p:grpSp>
        <p:nvGrpSpPr>
          <p:cNvPr id="13" name="object 13"/>
          <p:cNvGrpSpPr/>
          <p:nvPr/>
        </p:nvGrpSpPr>
        <p:grpSpPr>
          <a:xfrm>
            <a:off x="0" y="3121545"/>
            <a:ext cx="5760085" cy="118745"/>
            <a:chOff x="0" y="3121545"/>
            <a:chExt cx="5760085" cy="118745"/>
          </a:xfrm>
        </p:grpSpPr>
        <p:sp>
          <p:nvSpPr>
            <p:cNvPr id="14" name="object 14"/>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5" name="object 15"/>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6" name="object 1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7" name="object 17"/>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8" name="object 18"/>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14</a:t>
            </a:fld>
            <a:r>
              <a:rPr spc="-25" dirty="0"/>
              <a:t> </a:t>
            </a:r>
            <a:r>
              <a:rPr spc="75" dirty="0"/>
              <a:t>/</a:t>
            </a:r>
            <a:r>
              <a:rPr spc="-25" dirty="0"/>
              <a:t> </a:t>
            </a:r>
            <a:r>
              <a:rPr spc="35" dirty="0"/>
              <a:t>135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235902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Times New Roman"/>
                <a:cs typeface="Times New Roman"/>
              </a:rPr>
              <a:t>Clustering</a:t>
            </a:r>
            <a:r>
              <a:rPr sz="1400" spc="330" dirty="0">
                <a:solidFill>
                  <a:srgbClr val="CC0000"/>
                </a:solidFill>
                <a:latin typeface="Times New Roman"/>
                <a:cs typeface="Times New Roman"/>
              </a:rPr>
              <a:t> </a:t>
            </a:r>
            <a:r>
              <a:rPr sz="1400" dirty="0">
                <a:solidFill>
                  <a:srgbClr val="CC0000"/>
                </a:solidFill>
                <a:latin typeface="Times New Roman"/>
                <a:cs typeface="Times New Roman"/>
              </a:rPr>
              <a:t>approaches</a:t>
            </a:r>
            <a:r>
              <a:rPr sz="1400" spc="340" dirty="0">
                <a:solidFill>
                  <a:srgbClr val="CC0000"/>
                </a:solidFill>
                <a:latin typeface="Times New Roman"/>
                <a:cs typeface="Times New Roman"/>
              </a:rPr>
              <a:t> </a:t>
            </a:r>
            <a:r>
              <a:rPr sz="1400" spc="-10" dirty="0">
                <a:solidFill>
                  <a:srgbClr val="CC0000"/>
                </a:solidFill>
                <a:latin typeface="Times New Roman"/>
                <a:cs typeface="Times New Roman"/>
              </a:rPr>
              <a:t>(cont’d)</a:t>
            </a:r>
            <a:endParaRPr sz="1400">
              <a:latin typeface="Times New Roman"/>
              <a:cs typeface="Times New Roman"/>
            </a:endParaRPr>
          </a:p>
        </p:txBody>
      </p:sp>
      <p:pic>
        <p:nvPicPr>
          <p:cNvPr id="3" name="object 3"/>
          <p:cNvPicPr/>
          <p:nvPr/>
        </p:nvPicPr>
        <p:blipFill>
          <a:blip r:embed="rId2" cstate="print"/>
          <a:stretch>
            <a:fillRect/>
          </a:stretch>
        </p:blipFill>
        <p:spPr>
          <a:xfrm>
            <a:off x="1086129" y="453948"/>
            <a:ext cx="3584575" cy="2514600"/>
          </a:xfrm>
          <a:prstGeom prst="rect">
            <a:avLst/>
          </a:prstGeom>
        </p:spPr>
      </p:pic>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15</a:t>
            </a:fld>
            <a:r>
              <a:rPr spc="-25" dirty="0"/>
              <a:t> </a:t>
            </a:r>
            <a:r>
              <a:rPr spc="75" dirty="0"/>
              <a:t>/</a:t>
            </a:r>
            <a:r>
              <a:rPr spc="-25" dirty="0"/>
              <a:t> </a:t>
            </a:r>
            <a:r>
              <a:rPr spc="35" dirty="0"/>
              <a:t>135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Challenges</a:t>
            </a:r>
            <a:r>
              <a:rPr spc="155" dirty="0"/>
              <a:t> </a:t>
            </a:r>
            <a:r>
              <a:rPr dirty="0"/>
              <a:t>in</a:t>
            </a:r>
            <a:r>
              <a:rPr spc="150" dirty="0"/>
              <a:t> </a:t>
            </a:r>
            <a:r>
              <a:rPr spc="70" dirty="0"/>
              <a:t>data</a:t>
            </a:r>
            <a:r>
              <a:rPr spc="155" dirty="0"/>
              <a:t> </a:t>
            </a:r>
            <a:r>
              <a:rPr spc="-10" dirty="0"/>
              <a:t>clustering</a:t>
            </a:r>
          </a:p>
        </p:txBody>
      </p:sp>
      <p:sp>
        <p:nvSpPr>
          <p:cNvPr id="3" name="object 3"/>
          <p:cNvSpPr/>
          <p:nvPr/>
        </p:nvSpPr>
        <p:spPr>
          <a:xfrm>
            <a:off x="337972" y="92552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165694" rIns="0" bIns="0" rtlCol="0">
            <a:spAutoFit/>
          </a:bodyPr>
          <a:lstStyle/>
          <a:p>
            <a:pPr marL="12700" marR="2634615">
              <a:lnSpc>
                <a:spcPct val="142100"/>
              </a:lnSpc>
              <a:spcBef>
                <a:spcPts val="100"/>
              </a:spcBef>
            </a:pPr>
            <a:r>
              <a:rPr spc="-10" dirty="0"/>
              <a:t>Clustering</a:t>
            </a:r>
            <a:r>
              <a:rPr spc="20" dirty="0"/>
              <a:t> </a:t>
            </a:r>
            <a:r>
              <a:rPr dirty="0"/>
              <a:t>with</a:t>
            </a:r>
            <a:r>
              <a:rPr spc="25" dirty="0"/>
              <a:t> </a:t>
            </a:r>
            <a:r>
              <a:rPr dirty="0"/>
              <a:t>a</a:t>
            </a:r>
            <a:r>
              <a:rPr spc="25" dirty="0"/>
              <a:t> </a:t>
            </a:r>
            <a:r>
              <a:rPr b="1" spc="-20" dirty="0">
                <a:latin typeface="Georgia"/>
                <a:cs typeface="Georgia"/>
              </a:rPr>
              <a:t>high</a:t>
            </a:r>
            <a:r>
              <a:rPr b="1" spc="50" dirty="0">
                <a:latin typeface="Georgia"/>
                <a:cs typeface="Georgia"/>
              </a:rPr>
              <a:t> </a:t>
            </a:r>
            <a:r>
              <a:rPr b="1" spc="-40" dirty="0">
                <a:latin typeface="Georgia"/>
                <a:cs typeface="Georgia"/>
              </a:rPr>
              <a:t>volume</a:t>
            </a:r>
            <a:r>
              <a:rPr b="1" spc="10" dirty="0">
                <a:latin typeface="Georgia"/>
                <a:cs typeface="Georgia"/>
              </a:rPr>
              <a:t> </a:t>
            </a:r>
            <a:r>
              <a:rPr dirty="0"/>
              <a:t>of</a:t>
            </a:r>
            <a:r>
              <a:rPr spc="25" dirty="0"/>
              <a:t> </a:t>
            </a:r>
            <a:r>
              <a:rPr spc="-10" dirty="0"/>
              <a:t>data. Clustering</a:t>
            </a:r>
            <a:r>
              <a:rPr spc="45" dirty="0"/>
              <a:t> </a:t>
            </a:r>
            <a:r>
              <a:rPr dirty="0"/>
              <a:t>in</a:t>
            </a:r>
            <a:r>
              <a:rPr spc="45" dirty="0"/>
              <a:t> </a:t>
            </a:r>
            <a:r>
              <a:rPr b="1" spc="-65" dirty="0">
                <a:latin typeface="Georgia"/>
                <a:cs typeface="Georgia"/>
              </a:rPr>
              <a:t>high–dimensional</a:t>
            </a:r>
            <a:r>
              <a:rPr b="1" spc="30" dirty="0">
                <a:latin typeface="Georgia"/>
                <a:cs typeface="Georgia"/>
              </a:rPr>
              <a:t> </a:t>
            </a:r>
            <a:r>
              <a:rPr spc="-10" dirty="0"/>
              <a:t>space.</a:t>
            </a:r>
          </a:p>
          <a:p>
            <a:pPr marL="12700">
              <a:lnSpc>
                <a:spcPct val="100000"/>
              </a:lnSpc>
              <a:spcBef>
                <a:spcPts val="555"/>
              </a:spcBef>
            </a:pPr>
            <a:r>
              <a:rPr spc="-10" dirty="0"/>
              <a:t>Clustering</a:t>
            </a:r>
            <a:r>
              <a:rPr spc="25" dirty="0"/>
              <a:t> </a:t>
            </a:r>
            <a:r>
              <a:rPr dirty="0"/>
              <a:t>with</a:t>
            </a:r>
            <a:r>
              <a:rPr spc="25" dirty="0"/>
              <a:t> </a:t>
            </a:r>
            <a:r>
              <a:rPr b="1" spc="-45" dirty="0">
                <a:latin typeface="Georgia"/>
                <a:cs typeface="Georgia"/>
              </a:rPr>
              <a:t>low–quality</a:t>
            </a:r>
            <a:r>
              <a:rPr b="1" spc="25" dirty="0">
                <a:latin typeface="Georgia"/>
                <a:cs typeface="Georgia"/>
              </a:rPr>
              <a:t> </a:t>
            </a:r>
            <a:r>
              <a:rPr dirty="0"/>
              <a:t>data</a:t>
            </a:r>
            <a:r>
              <a:rPr spc="30" dirty="0"/>
              <a:t> </a:t>
            </a:r>
            <a:r>
              <a:rPr dirty="0"/>
              <a:t>(e.g.,</a:t>
            </a:r>
            <a:r>
              <a:rPr spc="25" dirty="0"/>
              <a:t> </a:t>
            </a:r>
            <a:r>
              <a:rPr spc="-10" dirty="0"/>
              <a:t>noisy</a:t>
            </a:r>
            <a:r>
              <a:rPr spc="25" dirty="0"/>
              <a:t> </a:t>
            </a:r>
            <a:r>
              <a:rPr dirty="0"/>
              <a:t>and</a:t>
            </a:r>
            <a:r>
              <a:rPr spc="30" dirty="0"/>
              <a:t> </a:t>
            </a:r>
            <a:r>
              <a:rPr spc="-35" dirty="0"/>
              <a:t>missing</a:t>
            </a:r>
            <a:r>
              <a:rPr spc="25" dirty="0"/>
              <a:t> </a:t>
            </a:r>
            <a:r>
              <a:rPr spc="-10" dirty="0"/>
              <a:t>values).</a:t>
            </a:r>
          </a:p>
          <a:p>
            <a:pPr marL="12700">
              <a:lnSpc>
                <a:spcPct val="100000"/>
              </a:lnSpc>
              <a:spcBef>
                <a:spcPts val="555"/>
              </a:spcBef>
            </a:pPr>
            <a:r>
              <a:rPr spc="-10" dirty="0"/>
              <a:t>Clustering</a:t>
            </a:r>
            <a:r>
              <a:rPr spc="20" dirty="0"/>
              <a:t> </a:t>
            </a:r>
            <a:r>
              <a:rPr dirty="0"/>
              <a:t>with</a:t>
            </a:r>
            <a:r>
              <a:rPr spc="25" dirty="0"/>
              <a:t> </a:t>
            </a:r>
            <a:r>
              <a:rPr b="1" spc="-35" dirty="0">
                <a:latin typeface="Georgia"/>
                <a:cs typeface="Georgia"/>
              </a:rPr>
              <a:t>complex</a:t>
            </a:r>
            <a:r>
              <a:rPr b="1" spc="55" dirty="0">
                <a:latin typeface="Georgia"/>
                <a:cs typeface="Georgia"/>
              </a:rPr>
              <a:t> </a:t>
            </a:r>
            <a:r>
              <a:rPr b="1" spc="-30" dirty="0">
                <a:latin typeface="Georgia"/>
                <a:cs typeface="Georgia"/>
              </a:rPr>
              <a:t>cluster</a:t>
            </a:r>
            <a:r>
              <a:rPr b="1" spc="55" dirty="0">
                <a:latin typeface="Georgia"/>
                <a:cs typeface="Georgia"/>
              </a:rPr>
              <a:t> </a:t>
            </a:r>
            <a:r>
              <a:rPr b="1" spc="-40" dirty="0">
                <a:latin typeface="Georgia"/>
                <a:cs typeface="Georgia"/>
              </a:rPr>
              <a:t>structures</a:t>
            </a:r>
            <a:r>
              <a:rPr b="1" spc="5" dirty="0">
                <a:latin typeface="Georgia"/>
                <a:cs typeface="Georgia"/>
              </a:rPr>
              <a:t> </a:t>
            </a:r>
            <a:r>
              <a:rPr spc="-10" dirty="0"/>
              <a:t>(shape,</a:t>
            </a:r>
            <a:r>
              <a:rPr spc="25" dirty="0"/>
              <a:t> </a:t>
            </a:r>
            <a:r>
              <a:rPr spc="-25" dirty="0"/>
              <a:t>density,</a:t>
            </a:r>
            <a:r>
              <a:rPr spc="25" dirty="0"/>
              <a:t> </a:t>
            </a:r>
            <a:r>
              <a:rPr spc="-25" dirty="0"/>
              <a:t>overlapping,</a:t>
            </a:r>
            <a:r>
              <a:rPr spc="25" dirty="0"/>
              <a:t> </a:t>
            </a:r>
            <a:r>
              <a:rPr spc="-10" dirty="0"/>
              <a:t>etc.).</a:t>
            </a:r>
          </a:p>
          <a:p>
            <a:pPr marL="12700" marR="5080">
              <a:lnSpc>
                <a:spcPts val="1150"/>
              </a:lnSpc>
              <a:spcBef>
                <a:spcPts val="740"/>
              </a:spcBef>
            </a:pPr>
            <a:r>
              <a:rPr spc="-25" dirty="0"/>
              <a:t>Identifying</a:t>
            </a:r>
            <a:r>
              <a:rPr spc="30" dirty="0"/>
              <a:t> </a:t>
            </a:r>
            <a:r>
              <a:rPr b="1" spc="-20" dirty="0">
                <a:latin typeface="Georgia"/>
                <a:cs typeface="Georgia"/>
              </a:rPr>
              <a:t>right</a:t>
            </a:r>
            <a:r>
              <a:rPr b="1" spc="65" dirty="0">
                <a:latin typeface="Georgia"/>
                <a:cs typeface="Georgia"/>
              </a:rPr>
              <a:t> </a:t>
            </a:r>
            <a:r>
              <a:rPr b="1" spc="-35" dirty="0">
                <a:latin typeface="Georgia"/>
                <a:cs typeface="Georgia"/>
              </a:rPr>
              <a:t>values</a:t>
            </a:r>
            <a:r>
              <a:rPr b="1" spc="65" dirty="0">
                <a:latin typeface="Georgia"/>
                <a:cs typeface="Georgia"/>
              </a:rPr>
              <a:t> </a:t>
            </a:r>
            <a:r>
              <a:rPr b="1" spc="-30" dirty="0">
                <a:latin typeface="Georgia"/>
                <a:cs typeface="Georgia"/>
              </a:rPr>
              <a:t>for</a:t>
            </a:r>
            <a:r>
              <a:rPr b="1" spc="60" dirty="0">
                <a:latin typeface="Georgia"/>
                <a:cs typeface="Georgia"/>
              </a:rPr>
              <a:t> </a:t>
            </a:r>
            <a:r>
              <a:rPr b="1" spc="-45" dirty="0">
                <a:latin typeface="Georgia"/>
                <a:cs typeface="Georgia"/>
              </a:rPr>
              <a:t>parameters</a:t>
            </a:r>
            <a:r>
              <a:rPr b="1" spc="20" dirty="0">
                <a:latin typeface="Georgia"/>
                <a:cs typeface="Georgia"/>
              </a:rPr>
              <a:t> </a:t>
            </a:r>
            <a:r>
              <a:rPr dirty="0"/>
              <a:t>that</a:t>
            </a:r>
            <a:r>
              <a:rPr spc="30" dirty="0"/>
              <a:t> </a:t>
            </a:r>
            <a:r>
              <a:rPr dirty="0"/>
              <a:t>can</a:t>
            </a:r>
            <a:r>
              <a:rPr spc="30" dirty="0"/>
              <a:t> </a:t>
            </a:r>
            <a:r>
              <a:rPr spc="-25" dirty="0"/>
              <a:t>reflects</a:t>
            </a:r>
            <a:r>
              <a:rPr spc="35" dirty="0"/>
              <a:t> </a:t>
            </a:r>
            <a:r>
              <a:rPr dirty="0"/>
              <a:t>the</a:t>
            </a:r>
            <a:r>
              <a:rPr spc="30" dirty="0"/>
              <a:t> </a:t>
            </a:r>
            <a:r>
              <a:rPr spc="-10" dirty="0"/>
              <a:t>nature</a:t>
            </a:r>
            <a:r>
              <a:rPr spc="35" dirty="0"/>
              <a:t> </a:t>
            </a:r>
            <a:r>
              <a:rPr dirty="0"/>
              <a:t>of</a:t>
            </a:r>
            <a:r>
              <a:rPr spc="30" dirty="0"/>
              <a:t> </a:t>
            </a:r>
            <a:r>
              <a:rPr dirty="0"/>
              <a:t>data</a:t>
            </a:r>
            <a:r>
              <a:rPr spc="35" dirty="0"/>
              <a:t> </a:t>
            </a:r>
            <a:r>
              <a:rPr spc="-10" dirty="0"/>
              <a:t>(e.g., </a:t>
            </a:r>
            <a:r>
              <a:rPr dirty="0"/>
              <a:t>the</a:t>
            </a:r>
            <a:r>
              <a:rPr spc="20" dirty="0"/>
              <a:t> </a:t>
            </a:r>
            <a:r>
              <a:rPr dirty="0"/>
              <a:t>right</a:t>
            </a:r>
            <a:r>
              <a:rPr spc="20" dirty="0"/>
              <a:t> </a:t>
            </a:r>
            <a:r>
              <a:rPr spc="-40" dirty="0"/>
              <a:t>number</a:t>
            </a:r>
            <a:r>
              <a:rPr spc="20" dirty="0"/>
              <a:t> </a:t>
            </a:r>
            <a:r>
              <a:rPr dirty="0"/>
              <a:t>of</a:t>
            </a:r>
            <a:r>
              <a:rPr spc="20" dirty="0"/>
              <a:t> </a:t>
            </a:r>
            <a:r>
              <a:rPr spc="-20" dirty="0"/>
              <a:t>clusters,</a:t>
            </a:r>
            <a:r>
              <a:rPr spc="20" dirty="0"/>
              <a:t> </a:t>
            </a:r>
            <a:r>
              <a:rPr dirty="0"/>
              <a:t>the</a:t>
            </a:r>
            <a:r>
              <a:rPr spc="20" dirty="0"/>
              <a:t> </a:t>
            </a:r>
            <a:r>
              <a:rPr dirty="0"/>
              <a:t>right</a:t>
            </a:r>
            <a:r>
              <a:rPr spc="20" dirty="0"/>
              <a:t> </a:t>
            </a:r>
            <a:r>
              <a:rPr spc="-25" dirty="0"/>
              <a:t>density,</a:t>
            </a:r>
            <a:r>
              <a:rPr spc="20" dirty="0"/>
              <a:t> </a:t>
            </a:r>
            <a:r>
              <a:rPr spc="-20" dirty="0"/>
              <a:t>etc.)</a:t>
            </a:r>
          </a:p>
          <a:p>
            <a:pPr marL="12700">
              <a:lnSpc>
                <a:spcPct val="100000"/>
              </a:lnSpc>
              <a:spcBef>
                <a:spcPts val="545"/>
              </a:spcBef>
            </a:pPr>
            <a:r>
              <a:rPr b="1" spc="-35" dirty="0">
                <a:latin typeface="Georgia"/>
                <a:cs typeface="Georgia"/>
              </a:rPr>
              <a:t>Validation</a:t>
            </a:r>
            <a:r>
              <a:rPr b="1" spc="15" dirty="0">
                <a:latin typeface="Georgia"/>
                <a:cs typeface="Georgia"/>
              </a:rPr>
              <a:t> </a:t>
            </a:r>
            <a:r>
              <a:rPr dirty="0"/>
              <a:t>and</a:t>
            </a:r>
            <a:r>
              <a:rPr spc="35" dirty="0"/>
              <a:t> </a:t>
            </a:r>
            <a:r>
              <a:rPr b="1" spc="-60" dirty="0">
                <a:latin typeface="Georgia"/>
                <a:cs typeface="Georgia"/>
              </a:rPr>
              <a:t>assessment</a:t>
            </a:r>
            <a:r>
              <a:rPr b="1" spc="15" dirty="0">
                <a:latin typeface="Georgia"/>
                <a:cs typeface="Georgia"/>
              </a:rPr>
              <a:t> </a:t>
            </a:r>
            <a:r>
              <a:rPr dirty="0"/>
              <a:t>of</a:t>
            </a:r>
            <a:r>
              <a:rPr spc="35" dirty="0"/>
              <a:t> </a:t>
            </a:r>
            <a:r>
              <a:rPr spc="-20" dirty="0"/>
              <a:t>clustering</a:t>
            </a:r>
            <a:r>
              <a:rPr spc="35" dirty="0"/>
              <a:t> </a:t>
            </a:r>
            <a:r>
              <a:rPr spc="-10" dirty="0"/>
              <a:t>results.</a:t>
            </a:r>
          </a:p>
        </p:txBody>
      </p:sp>
      <p:sp>
        <p:nvSpPr>
          <p:cNvPr id="5" name="object 5"/>
          <p:cNvSpPr/>
          <p:nvPr/>
        </p:nvSpPr>
        <p:spPr>
          <a:xfrm>
            <a:off x="337972" y="1163751"/>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40196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164017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187840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p:nvPr/>
        </p:nvSpPr>
        <p:spPr>
          <a:xfrm>
            <a:off x="337972" y="226288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0" name="object 10"/>
          <p:cNvGrpSpPr/>
          <p:nvPr/>
        </p:nvGrpSpPr>
        <p:grpSpPr>
          <a:xfrm>
            <a:off x="0" y="3121545"/>
            <a:ext cx="5760085" cy="118745"/>
            <a:chOff x="0" y="3121545"/>
            <a:chExt cx="5760085" cy="118745"/>
          </a:xfrm>
        </p:grpSpPr>
        <p:sp>
          <p:nvSpPr>
            <p:cNvPr id="11" name="object 11"/>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2" name="object 12"/>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4" name="object 14"/>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5" name="object 15"/>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16</a:t>
            </a:fld>
            <a:r>
              <a:rPr spc="-25" dirty="0"/>
              <a:t> </a:t>
            </a:r>
            <a:r>
              <a:rPr spc="75" dirty="0"/>
              <a:t>/</a:t>
            </a:r>
            <a:r>
              <a:rPr spc="-25" dirty="0"/>
              <a:t> </a:t>
            </a:r>
            <a:r>
              <a:rPr spc="35" dirty="0"/>
              <a:t>135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Clustering</a:t>
            </a:r>
            <a:r>
              <a:rPr spc="170" dirty="0"/>
              <a:t> </a:t>
            </a:r>
            <a:r>
              <a:rPr dirty="0"/>
              <a:t>in</a:t>
            </a:r>
            <a:r>
              <a:rPr spc="175" dirty="0"/>
              <a:t> </a:t>
            </a:r>
            <a:r>
              <a:rPr dirty="0"/>
              <a:t>high–dimensional</a:t>
            </a:r>
            <a:r>
              <a:rPr spc="175" dirty="0"/>
              <a:t> </a:t>
            </a:r>
            <a:r>
              <a:rPr dirty="0"/>
              <a:t>space:</a:t>
            </a:r>
            <a:r>
              <a:rPr spc="355" dirty="0"/>
              <a:t> </a:t>
            </a:r>
            <a:r>
              <a:rPr spc="55" dirty="0"/>
              <a:t>the</a:t>
            </a:r>
            <a:r>
              <a:rPr spc="170" dirty="0"/>
              <a:t> </a:t>
            </a:r>
            <a:r>
              <a:rPr dirty="0"/>
              <a:t>curse</a:t>
            </a:r>
            <a:r>
              <a:rPr spc="175" dirty="0"/>
              <a:t> </a:t>
            </a:r>
            <a:r>
              <a:rPr dirty="0"/>
              <a:t>of</a:t>
            </a:r>
            <a:r>
              <a:rPr spc="170" dirty="0"/>
              <a:t> </a:t>
            </a:r>
            <a:r>
              <a:rPr spc="-10" dirty="0"/>
              <a:t>dimensionality</a:t>
            </a:r>
          </a:p>
        </p:txBody>
      </p:sp>
      <p:grpSp>
        <p:nvGrpSpPr>
          <p:cNvPr id="14" name="object 14"/>
          <p:cNvGrpSpPr/>
          <p:nvPr/>
        </p:nvGrpSpPr>
        <p:grpSpPr>
          <a:xfrm>
            <a:off x="0" y="3121545"/>
            <a:ext cx="5760085" cy="118745"/>
            <a:chOff x="0" y="3121545"/>
            <a:chExt cx="5760085" cy="118745"/>
          </a:xfrm>
        </p:grpSpPr>
        <p:sp>
          <p:nvSpPr>
            <p:cNvPr id="15" name="object 1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6" name="object 1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7" name="object 1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8" name="object 1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9" name="object 1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17</a:t>
            </a:fld>
            <a:r>
              <a:rPr spc="-25" dirty="0"/>
              <a:t> </a:t>
            </a:r>
            <a:r>
              <a:rPr spc="75" dirty="0"/>
              <a:t>/</a:t>
            </a:r>
            <a:r>
              <a:rPr spc="-25" dirty="0"/>
              <a:t> </a:t>
            </a:r>
            <a:r>
              <a:rPr spc="35" dirty="0"/>
              <a:t>135</a:t>
            </a:r>
          </a:p>
        </p:txBody>
      </p:sp>
      <p:pic>
        <p:nvPicPr>
          <p:cNvPr id="20" name="Picture 19">
            <a:extLst>
              <a:ext uri="{FF2B5EF4-FFF2-40B4-BE49-F238E27FC236}">
                <a16:creationId xmlns:a16="http://schemas.microsoft.com/office/drawing/2014/main" id="{E5C880F7-905B-B574-5EC4-A3E6AAE36B23}"/>
              </a:ext>
            </a:extLst>
          </p:cNvPr>
          <p:cNvPicPr>
            <a:picLocks noChangeAspect="1"/>
          </p:cNvPicPr>
          <p:nvPr/>
        </p:nvPicPr>
        <p:blipFill>
          <a:blip r:embed="rId3"/>
          <a:stretch>
            <a:fillRect/>
          </a:stretch>
        </p:blipFill>
        <p:spPr>
          <a:xfrm>
            <a:off x="139701" y="708025"/>
            <a:ext cx="5410200" cy="202992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Clustering</a:t>
            </a:r>
            <a:r>
              <a:rPr spc="190" dirty="0"/>
              <a:t> </a:t>
            </a:r>
            <a:r>
              <a:rPr dirty="0"/>
              <a:t>in</a:t>
            </a:r>
            <a:r>
              <a:rPr spc="195" dirty="0"/>
              <a:t> </a:t>
            </a:r>
            <a:r>
              <a:rPr dirty="0"/>
              <a:t>high–dimensional</a:t>
            </a:r>
            <a:r>
              <a:rPr spc="200" dirty="0"/>
              <a:t> </a:t>
            </a:r>
            <a:r>
              <a:rPr dirty="0"/>
              <a:t>space:</a:t>
            </a:r>
            <a:r>
              <a:rPr spc="385" dirty="0"/>
              <a:t> </a:t>
            </a:r>
            <a:r>
              <a:rPr spc="55" dirty="0"/>
              <a:t>the</a:t>
            </a:r>
            <a:r>
              <a:rPr spc="195" dirty="0"/>
              <a:t> </a:t>
            </a:r>
            <a:r>
              <a:rPr dirty="0"/>
              <a:t>curse</a:t>
            </a:r>
            <a:r>
              <a:rPr spc="190" dirty="0"/>
              <a:t> </a:t>
            </a:r>
            <a:r>
              <a:rPr dirty="0"/>
              <a:t>of</a:t>
            </a:r>
            <a:r>
              <a:rPr spc="195" dirty="0"/>
              <a:t> </a:t>
            </a:r>
            <a:r>
              <a:rPr dirty="0"/>
              <a:t>dimensionality</a:t>
            </a:r>
            <a:r>
              <a:rPr spc="200" dirty="0"/>
              <a:t> </a:t>
            </a:r>
            <a:r>
              <a:rPr spc="-25" dirty="0"/>
              <a:t>(2)</a:t>
            </a:r>
          </a:p>
        </p:txBody>
      </p:sp>
      <p:sp>
        <p:nvSpPr>
          <p:cNvPr id="3" name="object 3"/>
          <p:cNvSpPr txBox="1"/>
          <p:nvPr/>
        </p:nvSpPr>
        <p:spPr>
          <a:xfrm>
            <a:off x="177088" y="492860"/>
            <a:ext cx="5163820" cy="338455"/>
          </a:xfrm>
          <a:prstGeom prst="rect">
            <a:avLst/>
          </a:prstGeom>
        </p:spPr>
        <p:txBody>
          <a:bodyPr vert="horz" wrap="square" lIns="0" tIns="34290" rIns="0" bIns="0" rtlCol="0">
            <a:spAutoFit/>
          </a:bodyPr>
          <a:lstStyle/>
          <a:p>
            <a:pPr marL="12700" marR="5080" indent="113664">
              <a:lnSpc>
                <a:spcPts val="1150"/>
              </a:lnSpc>
              <a:spcBef>
                <a:spcPts val="270"/>
              </a:spcBef>
              <a:buFont typeface="Cambria"/>
              <a:buChar char="•"/>
              <a:tabLst>
                <a:tab pos="126364" algn="l"/>
              </a:tabLst>
            </a:pPr>
            <a:r>
              <a:rPr sz="1100" dirty="0">
                <a:latin typeface="Georgia"/>
                <a:cs typeface="Georgia"/>
              </a:rPr>
              <a:t>In</a:t>
            </a:r>
            <a:r>
              <a:rPr sz="1100" spc="20" dirty="0">
                <a:latin typeface="Georgia"/>
                <a:cs typeface="Georgia"/>
              </a:rPr>
              <a:t> </a:t>
            </a:r>
            <a:r>
              <a:rPr sz="1100" dirty="0">
                <a:latin typeface="Georgia"/>
                <a:cs typeface="Georgia"/>
              </a:rPr>
              <a:t>a</a:t>
            </a:r>
            <a:r>
              <a:rPr sz="1100" spc="25" dirty="0">
                <a:latin typeface="Georgia"/>
                <a:cs typeface="Georgia"/>
              </a:rPr>
              <a:t> </a:t>
            </a:r>
            <a:r>
              <a:rPr sz="1100" dirty="0">
                <a:latin typeface="Georgia"/>
                <a:cs typeface="Georgia"/>
              </a:rPr>
              <a:t>very</a:t>
            </a:r>
            <a:r>
              <a:rPr sz="1100" spc="20" dirty="0">
                <a:latin typeface="Georgia"/>
                <a:cs typeface="Georgia"/>
              </a:rPr>
              <a:t> </a:t>
            </a:r>
            <a:r>
              <a:rPr sz="1100" spc="-45" dirty="0">
                <a:latin typeface="Georgia"/>
                <a:cs typeface="Georgia"/>
              </a:rPr>
              <a:t>high–dimensional</a:t>
            </a:r>
            <a:r>
              <a:rPr sz="1100" spc="20" dirty="0">
                <a:latin typeface="Georgia"/>
                <a:cs typeface="Georgia"/>
              </a:rPr>
              <a:t> </a:t>
            </a:r>
            <a:r>
              <a:rPr sz="1100" spc="-10" dirty="0">
                <a:latin typeface="Georgia"/>
                <a:cs typeface="Georgia"/>
              </a:rPr>
              <a:t>space,</a:t>
            </a:r>
            <a:r>
              <a:rPr sz="1100" spc="25" dirty="0">
                <a:latin typeface="Georgia"/>
                <a:cs typeface="Georgia"/>
              </a:rPr>
              <a:t> </a:t>
            </a:r>
            <a:r>
              <a:rPr sz="1100" b="1" spc="-10" dirty="0">
                <a:latin typeface="Georgia"/>
                <a:cs typeface="Georgia"/>
              </a:rPr>
              <a:t>two</a:t>
            </a:r>
            <a:r>
              <a:rPr sz="1100" b="1" spc="50" dirty="0">
                <a:latin typeface="Georgia"/>
                <a:cs typeface="Georgia"/>
              </a:rPr>
              <a:t> </a:t>
            </a:r>
            <a:r>
              <a:rPr sz="1100" b="1" spc="-25" dirty="0">
                <a:latin typeface="Georgia"/>
                <a:cs typeface="Georgia"/>
              </a:rPr>
              <a:t>arbitrary</a:t>
            </a:r>
            <a:r>
              <a:rPr sz="1100" b="1" spc="55" dirty="0">
                <a:latin typeface="Georgia"/>
                <a:cs typeface="Georgia"/>
              </a:rPr>
              <a:t> </a:t>
            </a:r>
            <a:r>
              <a:rPr sz="1100" b="1" spc="-30" dirty="0">
                <a:latin typeface="Georgia"/>
                <a:cs typeface="Georgia"/>
              </a:rPr>
              <a:t>vectors</a:t>
            </a:r>
            <a:r>
              <a:rPr sz="1100" b="1" spc="5" dirty="0">
                <a:latin typeface="Georgia"/>
                <a:cs typeface="Georgia"/>
              </a:rPr>
              <a:t> </a:t>
            </a:r>
            <a:r>
              <a:rPr sz="1100" dirty="0">
                <a:latin typeface="Georgia"/>
                <a:cs typeface="Georgia"/>
              </a:rPr>
              <a:t>are</a:t>
            </a:r>
            <a:r>
              <a:rPr sz="1100" spc="20" dirty="0">
                <a:latin typeface="Georgia"/>
                <a:cs typeface="Georgia"/>
              </a:rPr>
              <a:t> </a:t>
            </a:r>
            <a:r>
              <a:rPr sz="1100" spc="-10" dirty="0">
                <a:latin typeface="Georgia"/>
                <a:cs typeface="Georgia"/>
              </a:rPr>
              <a:t>nearly</a:t>
            </a:r>
            <a:r>
              <a:rPr sz="1100" spc="35" dirty="0">
                <a:latin typeface="Georgia"/>
                <a:cs typeface="Georgia"/>
              </a:rPr>
              <a:t> </a:t>
            </a:r>
            <a:r>
              <a:rPr sz="1100" b="1" spc="-30" dirty="0">
                <a:latin typeface="Georgia"/>
                <a:cs typeface="Georgia"/>
              </a:rPr>
              <a:t>orthogonal</a:t>
            </a:r>
            <a:r>
              <a:rPr sz="1100" spc="-30" dirty="0">
                <a:latin typeface="Georgia"/>
                <a:cs typeface="Georgia"/>
              </a:rPr>
              <a:t>. </a:t>
            </a:r>
            <a:r>
              <a:rPr sz="1100" spc="-20" dirty="0">
                <a:latin typeface="Georgia"/>
                <a:cs typeface="Georgia"/>
              </a:rPr>
              <a:t>Consider</a:t>
            </a:r>
            <a:r>
              <a:rPr sz="1100" spc="25" dirty="0">
                <a:latin typeface="Georgia"/>
                <a:cs typeface="Georgia"/>
              </a:rPr>
              <a:t> </a:t>
            </a:r>
            <a:r>
              <a:rPr sz="1100" dirty="0">
                <a:latin typeface="Georgia"/>
                <a:cs typeface="Georgia"/>
              </a:rPr>
              <a:t>the</a:t>
            </a:r>
            <a:r>
              <a:rPr sz="1100" spc="25" dirty="0">
                <a:latin typeface="Georgia"/>
                <a:cs typeface="Georgia"/>
              </a:rPr>
              <a:t> </a:t>
            </a:r>
            <a:r>
              <a:rPr sz="1100" spc="-30" dirty="0">
                <a:latin typeface="Georgia"/>
                <a:cs typeface="Georgia"/>
              </a:rPr>
              <a:t>cosine</a:t>
            </a:r>
            <a:r>
              <a:rPr sz="1100" spc="25" dirty="0">
                <a:latin typeface="Georgia"/>
                <a:cs typeface="Georgia"/>
              </a:rPr>
              <a:t> </a:t>
            </a:r>
            <a:r>
              <a:rPr sz="1100" spc="-10" dirty="0">
                <a:latin typeface="Georgia"/>
                <a:cs typeface="Georgia"/>
              </a:rPr>
              <a:t>similarity:</a:t>
            </a:r>
            <a:endParaRPr sz="1100">
              <a:latin typeface="Georgia"/>
              <a:cs typeface="Georgia"/>
            </a:endParaRPr>
          </a:p>
        </p:txBody>
      </p:sp>
      <p:sp>
        <p:nvSpPr>
          <p:cNvPr id="17" name="object 17"/>
          <p:cNvSpPr txBox="1"/>
          <p:nvPr/>
        </p:nvSpPr>
        <p:spPr>
          <a:xfrm>
            <a:off x="5381459" y="1071903"/>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(2)</a:t>
            </a:r>
            <a:endParaRPr sz="1100">
              <a:latin typeface="Georgia"/>
              <a:cs typeface="Georgia"/>
            </a:endParaRPr>
          </a:p>
        </p:txBody>
      </p:sp>
      <p:sp>
        <p:nvSpPr>
          <p:cNvPr id="18" name="object 18"/>
          <p:cNvSpPr txBox="1"/>
          <p:nvPr/>
        </p:nvSpPr>
        <p:spPr>
          <a:xfrm>
            <a:off x="113588" y="1691422"/>
            <a:ext cx="5451475" cy="1156970"/>
          </a:xfrm>
          <a:prstGeom prst="rect">
            <a:avLst/>
          </a:prstGeom>
        </p:spPr>
        <p:txBody>
          <a:bodyPr vert="horz" wrap="square" lIns="0" tIns="34290" rIns="0" bIns="0" rtlCol="0">
            <a:spAutoFit/>
          </a:bodyPr>
          <a:lstStyle/>
          <a:p>
            <a:pPr marL="129539" marR="68580" indent="-53975">
              <a:lnSpc>
                <a:spcPts val="1150"/>
              </a:lnSpc>
              <a:spcBef>
                <a:spcPts val="270"/>
              </a:spcBef>
            </a:pPr>
            <a:r>
              <a:rPr sz="1650" spc="-225" baseline="-58080" dirty="0">
                <a:latin typeface="Georgia"/>
                <a:cs typeface="Georgia"/>
              </a:rPr>
              <a:t>t</a:t>
            </a:r>
            <a:r>
              <a:rPr sz="1100" spc="-150" dirty="0">
                <a:latin typeface="Cambria"/>
                <a:cs typeface="Cambria"/>
              </a:rPr>
              <a:t>•</a:t>
            </a:r>
            <a:r>
              <a:rPr sz="1100" spc="90" dirty="0">
                <a:latin typeface="Cambria"/>
                <a:cs typeface="Cambria"/>
              </a:rPr>
              <a:t> </a:t>
            </a:r>
            <a:r>
              <a:rPr sz="1100" dirty="0">
                <a:latin typeface="Georgia"/>
                <a:cs typeface="Georgia"/>
              </a:rPr>
              <a:t>When</a:t>
            </a:r>
            <a:r>
              <a:rPr sz="1100" spc="-10" dirty="0">
                <a:latin typeface="Georgia"/>
                <a:cs typeface="Georgia"/>
              </a:rPr>
              <a:t> </a:t>
            </a:r>
            <a:r>
              <a:rPr sz="1100" i="1" dirty="0">
                <a:latin typeface="Calibri"/>
                <a:cs typeface="Calibri"/>
              </a:rPr>
              <a:t>d</a:t>
            </a:r>
            <a:r>
              <a:rPr sz="1100" i="1" spc="50" dirty="0">
                <a:latin typeface="Calibri"/>
                <a:cs typeface="Calibri"/>
              </a:rPr>
              <a:t> </a:t>
            </a:r>
            <a:r>
              <a:rPr sz="1100" dirty="0">
                <a:latin typeface="Georgia"/>
                <a:cs typeface="Georgia"/>
              </a:rPr>
              <a:t>is</a:t>
            </a:r>
            <a:r>
              <a:rPr sz="1100" spc="30" dirty="0">
                <a:latin typeface="Georgia"/>
                <a:cs typeface="Georgia"/>
              </a:rPr>
              <a:t> </a:t>
            </a:r>
            <a:r>
              <a:rPr sz="1100" dirty="0">
                <a:latin typeface="Georgia"/>
                <a:cs typeface="Georgia"/>
              </a:rPr>
              <a:t>very</a:t>
            </a:r>
            <a:r>
              <a:rPr sz="1100" spc="30" dirty="0">
                <a:latin typeface="Georgia"/>
                <a:cs typeface="Georgia"/>
              </a:rPr>
              <a:t> </a:t>
            </a:r>
            <a:r>
              <a:rPr sz="1100" spc="-10" dirty="0">
                <a:latin typeface="Georgia"/>
                <a:cs typeface="Georgia"/>
              </a:rPr>
              <a:t>large,</a:t>
            </a:r>
            <a:r>
              <a:rPr sz="1100" spc="35" dirty="0">
                <a:latin typeface="Georgia"/>
                <a:cs typeface="Georgia"/>
              </a:rPr>
              <a:t> </a:t>
            </a:r>
            <a:r>
              <a:rPr sz="1100" dirty="0">
                <a:latin typeface="Georgia"/>
                <a:cs typeface="Georgia"/>
              </a:rPr>
              <a:t>the</a:t>
            </a:r>
            <a:r>
              <a:rPr sz="1100" spc="30" dirty="0">
                <a:latin typeface="Georgia"/>
                <a:cs typeface="Georgia"/>
              </a:rPr>
              <a:t> </a:t>
            </a:r>
            <a:r>
              <a:rPr sz="1100" b="1" spc="-55" dirty="0">
                <a:latin typeface="Georgia"/>
                <a:cs typeface="Georgia"/>
              </a:rPr>
              <a:t>numerator</a:t>
            </a:r>
            <a:r>
              <a:rPr sz="1100" b="1" spc="15" dirty="0">
                <a:latin typeface="Georgia"/>
                <a:cs typeface="Georgia"/>
              </a:rPr>
              <a:t> </a:t>
            </a:r>
            <a:r>
              <a:rPr sz="1100" dirty="0">
                <a:latin typeface="Georgia"/>
                <a:cs typeface="Georgia"/>
              </a:rPr>
              <a:t>is</a:t>
            </a:r>
            <a:r>
              <a:rPr sz="1100" spc="35" dirty="0">
                <a:latin typeface="Georgia"/>
                <a:cs typeface="Georgia"/>
              </a:rPr>
              <a:t> </a:t>
            </a:r>
            <a:r>
              <a:rPr sz="1100" b="1" spc="-50" dirty="0">
                <a:latin typeface="Georgia"/>
                <a:cs typeface="Georgia"/>
              </a:rPr>
              <a:t>much</a:t>
            </a:r>
            <a:r>
              <a:rPr sz="1100" b="1" spc="60" dirty="0">
                <a:latin typeface="Georgia"/>
                <a:cs typeface="Georgia"/>
              </a:rPr>
              <a:t> </a:t>
            </a:r>
            <a:r>
              <a:rPr sz="1100" b="1" spc="-45" dirty="0">
                <a:latin typeface="Georgia"/>
                <a:cs typeface="Georgia"/>
              </a:rPr>
              <a:t>smaller</a:t>
            </a:r>
            <a:r>
              <a:rPr sz="1100" b="1" spc="20" dirty="0">
                <a:latin typeface="Georgia"/>
                <a:cs typeface="Georgia"/>
              </a:rPr>
              <a:t> </a:t>
            </a:r>
            <a:r>
              <a:rPr sz="1100" dirty="0">
                <a:latin typeface="Georgia"/>
                <a:cs typeface="Georgia"/>
              </a:rPr>
              <a:t>than</a:t>
            </a:r>
            <a:r>
              <a:rPr sz="1100" spc="30" dirty="0">
                <a:latin typeface="Georgia"/>
                <a:cs typeface="Georgia"/>
              </a:rPr>
              <a:t> </a:t>
            </a:r>
            <a:r>
              <a:rPr sz="1100" dirty="0">
                <a:latin typeface="Georgia"/>
                <a:cs typeface="Georgia"/>
              </a:rPr>
              <a:t>the</a:t>
            </a:r>
            <a:r>
              <a:rPr sz="1100" spc="30" dirty="0">
                <a:latin typeface="Georgia"/>
                <a:cs typeface="Georgia"/>
              </a:rPr>
              <a:t> </a:t>
            </a:r>
            <a:r>
              <a:rPr sz="1100" b="1" spc="-50" dirty="0">
                <a:latin typeface="Georgia"/>
                <a:cs typeface="Georgia"/>
              </a:rPr>
              <a:t>denominator</a:t>
            </a:r>
            <a:r>
              <a:rPr sz="1100" spc="-50" dirty="0">
                <a:latin typeface="Georgia"/>
                <a:cs typeface="Georgia"/>
              </a:rPr>
              <a:t>,</a:t>
            </a:r>
            <a:r>
              <a:rPr sz="1100" spc="35" dirty="0">
                <a:latin typeface="Georgia"/>
                <a:cs typeface="Georgia"/>
              </a:rPr>
              <a:t> </a:t>
            </a:r>
            <a:r>
              <a:rPr sz="1100" spc="-25" dirty="0">
                <a:latin typeface="Georgia"/>
                <a:cs typeface="Georgia"/>
              </a:rPr>
              <a:t>and </a:t>
            </a:r>
            <a:r>
              <a:rPr sz="1100" dirty="0">
                <a:latin typeface="Georgia"/>
                <a:cs typeface="Georgia"/>
              </a:rPr>
              <a:t>he</a:t>
            </a:r>
            <a:r>
              <a:rPr sz="1100" spc="15" dirty="0">
                <a:latin typeface="Georgia"/>
                <a:cs typeface="Georgia"/>
              </a:rPr>
              <a:t> </a:t>
            </a:r>
            <a:r>
              <a:rPr sz="1100" spc="-30" dirty="0">
                <a:latin typeface="Georgia"/>
                <a:cs typeface="Georgia"/>
              </a:rPr>
              <a:t>cosine</a:t>
            </a:r>
            <a:r>
              <a:rPr sz="1100" spc="20" dirty="0">
                <a:latin typeface="Georgia"/>
                <a:cs typeface="Georgia"/>
              </a:rPr>
              <a:t> </a:t>
            </a:r>
            <a:r>
              <a:rPr sz="1100" spc="-30" dirty="0">
                <a:latin typeface="Georgia"/>
                <a:cs typeface="Georgia"/>
              </a:rPr>
              <a:t>between</a:t>
            </a:r>
            <a:r>
              <a:rPr sz="1100" spc="15" dirty="0">
                <a:latin typeface="Georgia"/>
                <a:cs typeface="Georgia"/>
              </a:rPr>
              <a:t> </a:t>
            </a:r>
            <a:r>
              <a:rPr sz="1100" dirty="0">
                <a:latin typeface="Georgia"/>
                <a:cs typeface="Georgia"/>
              </a:rPr>
              <a:t>the</a:t>
            </a:r>
            <a:r>
              <a:rPr sz="1100" spc="20" dirty="0">
                <a:latin typeface="Georgia"/>
                <a:cs typeface="Georgia"/>
              </a:rPr>
              <a:t> </a:t>
            </a:r>
            <a:r>
              <a:rPr sz="1100" dirty="0">
                <a:latin typeface="Georgia"/>
                <a:cs typeface="Georgia"/>
              </a:rPr>
              <a:t>two</a:t>
            </a:r>
            <a:r>
              <a:rPr sz="1100" spc="20" dirty="0">
                <a:latin typeface="Georgia"/>
                <a:cs typeface="Georgia"/>
              </a:rPr>
              <a:t> </a:t>
            </a:r>
            <a:r>
              <a:rPr sz="1100" spc="-10" dirty="0">
                <a:latin typeface="Georgia"/>
                <a:cs typeface="Georgia"/>
              </a:rPr>
              <a:t>vectors</a:t>
            </a:r>
            <a:r>
              <a:rPr sz="1100" spc="15" dirty="0">
                <a:latin typeface="Georgia"/>
                <a:cs typeface="Georgia"/>
              </a:rPr>
              <a:t> </a:t>
            </a:r>
            <a:r>
              <a:rPr sz="1100" dirty="0">
                <a:latin typeface="Georgia"/>
                <a:cs typeface="Georgia"/>
              </a:rPr>
              <a:t>is</a:t>
            </a:r>
            <a:r>
              <a:rPr sz="1100" spc="20" dirty="0">
                <a:latin typeface="Georgia"/>
                <a:cs typeface="Georgia"/>
              </a:rPr>
              <a:t> </a:t>
            </a:r>
            <a:r>
              <a:rPr sz="1100" dirty="0">
                <a:latin typeface="Georgia"/>
                <a:cs typeface="Georgia"/>
              </a:rPr>
              <a:t>very</a:t>
            </a:r>
            <a:r>
              <a:rPr sz="1100" spc="30" dirty="0">
                <a:latin typeface="Georgia"/>
                <a:cs typeface="Georgia"/>
              </a:rPr>
              <a:t> </a:t>
            </a:r>
            <a:r>
              <a:rPr sz="1100" b="1" spc="-35" dirty="0">
                <a:latin typeface="Georgia"/>
                <a:cs typeface="Georgia"/>
              </a:rPr>
              <a:t>close</a:t>
            </a:r>
            <a:r>
              <a:rPr sz="1100" b="1" spc="45" dirty="0">
                <a:latin typeface="Georgia"/>
                <a:cs typeface="Georgia"/>
              </a:rPr>
              <a:t> </a:t>
            </a:r>
            <a:r>
              <a:rPr sz="1100" b="1" dirty="0">
                <a:latin typeface="Georgia"/>
                <a:cs typeface="Georgia"/>
              </a:rPr>
              <a:t>to</a:t>
            </a:r>
            <a:r>
              <a:rPr sz="1100" b="1" spc="45" dirty="0">
                <a:latin typeface="Georgia"/>
                <a:cs typeface="Georgia"/>
              </a:rPr>
              <a:t> </a:t>
            </a:r>
            <a:r>
              <a:rPr sz="1100" b="1" spc="-10" dirty="0">
                <a:latin typeface="Georgia"/>
                <a:cs typeface="Georgia"/>
              </a:rPr>
              <a:t>zero</a:t>
            </a:r>
            <a:r>
              <a:rPr sz="1100" spc="-10" dirty="0">
                <a:latin typeface="Georgia"/>
                <a:cs typeface="Georgia"/>
              </a:rPr>
              <a:t>.</a:t>
            </a:r>
            <a:endParaRPr sz="1100">
              <a:latin typeface="Georgia"/>
              <a:cs typeface="Georgia"/>
            </a:endParaRPr>
          </a:p>
          <a:p>
            <a:pPr marL="76200" marR="138430" indent="113664">
              <a:lnSpc>
                <a:spcPts val="1150"/>
              </a:lnSpc>
              <a:spcBef>
                <a:spcPts val="919"/>
              </a:spcBef>
              <a:buFont typeface="Cambria"/>
              <a:buChar char="•"/>
              <a:tabLst>
                <a:tab pos="189865" algn="l"/>
              </a:tabLst>
            </a:pPr>
            <a:r>
              <a:rPr sz="1100" dirty="0">
                <a:latin typeface="Georgia"/>
                <a:cs typeface="Georgia"/>
              </a:rPr>
              <a:t>If</a:t>
            </a:r>
            <a:r>
              <a:rPr sz="1100" spc="25" dirty="0">
                <a:latin typeface="Georgia"/>
                <a:cs typeface="Georgia"/>
              </a:rPr>
              <a:t> </a:t>
            </a:r>
            <a:r>
              <a:rPr sz="1100" spc="-10" dirty="0">
                <a:latin typeface="Georgia"/>
                <a:cs typeface="Georgia"/>
              </a:rPr>
              <a:t>most</a:t>
            </a:r>
            <a:r>
              <a:rPr sz="1100" spc="25" dirty="0">
                <a:latin typeface="Georgia"/>
                <a:cs typeface="Georgia"/>
              </a:rPr>
              <a:t> </a:t>
            </a:r>
            <a:r>
              <a:rPr sz="1100" dirty="0">
                <a:latin typeface="Georgia"/>
                <a:cs typeface="Georgia"/>
              </a:rPr>
              <a:t>of</a:t>
            </a:r>
            <a:r>
              <a:rPr sz="1100" spc="25" dirty="0">
                <a:latin typeface="Georgia"/>
                <a:cs typeface="Georgia"/>
              </a:rPr>
              <a:t> </a:t>
            </a:r>
            <a:r>
              <a:rPr sz="1100" spc="-10" dirty="0">
                <a:latin typeface="Georgia"/>
                <a:cs typeface="Georgia"/>
              </a:rPr>
              <a:t>pairs</a:t>
            </a:r>
            <a:r>
              <a:rPr sz="1100" spc="25" dirty="0">
                <a:latin typeface="Georgia"/>
                <a:cs typeface="Georgia"/>
              </a:rPr>
              <a:t> </a:t>
            </a:r>
            <a:r>
              <a:rPr sz="1100" dirty="0">
                <a:latin typeface="Georgia"/>
                <a:cs typeface="Georgia"/>
              </a:rPr>
              <a:t>of</a:t>
            </a:r>
            <a:r>
              <a:rPr sz="1100" spc="25" dirty="0">
                <a:latin typeface="Georgia"/>
                <a:cs typeface="Georgia"/>
              </a:rPr>
              <a:t> </a:t>
            </a:r>
            <a:r>
              <a:rPr sz="1100" dirty="0">
                <a:latin typeface="Georgia"/>
                <a:cs typeface="Georgia"/>
              </a:rPr>
              <a:t>data</a:t>
            </a:r>
            <a:r>
              <a:rPr sz="1100" spc="25" dirty="0">
                <a:latin typeface="Georgia"/>
                <a:cs typeface="Georgia"/>
              </a:rPr>
              <a:t> </a:t>
            </a:r>
            <a:r>
              <a:rPr sz="1100" spc="-10" dirty="0">
                <a:latin typeface="Georgia"/>
                <a:cs typeface="Georgia"/>
              </a:rPr>
              <a:t>points</a:t>
            </a:r>
            <a:r>
              <a:rPr sz="1100" spc="25" dirty="0">
                <a:latin typeface="Georgia"/>
                <a:cs typeface="Georgia"/>
              </a:rPr>
              <a:t> </a:t>
            </a:r>
            <a:r>
              <a:rPr sz="1100" dirty="0">
                <a:latin typeface="Georgia"/>
                <a:cs typeface="Georgia"/>
              </a:rPr>
              <a:t>are</a:t>
            </a:r>
            <a:r>
              <a:rPr sz="1100" spc="25" dirty="0">
                <a:latin typeface="Georgia"/>
                <a:cs typeface="Georgia"/>
              </a:rPr>
              <a:t> </a:t>
            </a:r>
            <a:r>
              <a:rPr sz="1100" spc="-25" dirty="0">
                <a:latin typeface="Georgia"/>
                <a:cs typeface="Georgia"/>
              </a:rPr>
              <a:t>orthogonal,</a:t>
            </a:r>
            <a:r>
              <a:rPr sz="1100" spc="25" dirty="0">
                <a:latin typeface="Georgia"/>
                <a:cs typeface="Georgia"/>
              </a:rPr>
              <a:t> </a:t>
            </a:r>
            <a:r>
              <a:rPr sz="1100" dirty="0">
                <a:latin typeface="Georgia"/>
                <a:cs typeface="Georgia"/>
              </a:rPr>
              <a:t>it</a:t>
            </a:r>
            <a:r>
              <a:rPr sz="1100" spc="25" dirty="0">
                <a:latin typeface="Georgia"/>
                <a:cs typeface="Georgia"/>
              </a:rPr>
              <a:t> </a:t>
            </a:r>
            <a:r>
              <a:rPr sz="1100" dirty="0">
                <a:latin typeface="Georgia"/>
                <a:cs typeface="Georgia"/>
              </a:rPr>
              <a:t>is</a:t>
            </a:r>
            <a:r>
              <a:rPr sz="1100" spc="25" dirty="0">
                <a:latin typeface="Georgia"/>
                <a:cs typeface="Georgia"/>
              </a:rPr>
              <a:t> </a:t>
            </a:r>
            <a:r>
              <a:rPr sz="1100" b="1" dirty="0">
                <a:latin typeface="Georgia"/>
                <a:cs typeface="Georgia"/>
              </a:rPr>
              <a:t>very</a:t>
            </a:r>
            <a:r>
              <a:rPr sz="1100" b="1" spc="50" dirty="0">
                <a:latin typeface="Georgia"/>
                <a:cs typeface="Georgia"/>
              </a:rPr>
              <a:t> </a:t>
            </a:r>
            <a:r>
              <a:rPr sz="1100" b="1" spc="-30" dirty="0">
                <a:latin typeface="Georgia"/>
                <a:cs typeface="Georgia"/>
              </a:rPr>
              <a:t>hard</a:t>
            </a:r>
            <a:r>
              <a:rPr sz="1100" b="1" spc="15" dirty="0">
                <a:latin typeface="Georgia"/>
                <a:cs typeface="Georgia"/>
              </a:rPr>
              <a:t> </a:t>
            </a:r>
            <a:r>
              <a:rPr sz="1100" dirty="0">
                <a:latin typeface="Georgia"/>
                <a:cs typeface="Georgia"/>
              </a:rPr>
              <a:t>to</a:t>
            </a:r>
            <a:r>
              <a:rPr sz="1100" spc="25" dirty="0">
                <a:latin typeface="Georgia"/>
                <a:cs typeface="Georgia"/>
              </a:rPr>
              <a:t> </a:t>
            </a:r>
            <a:r>
              <a:rPr sz="1100" spc="-30" dirty="0">
                <a:latin typeface="Georgia"/>
                <a:cs typeface="Georgia"/>
              </a:rPr>
              <a:t>perform</a:t>
            </a:r>
            <a:r>
              <a:rPr sz="1100" spc="25" dirty="0">
                <a:latin typeface="Georgia"/>
                <a:cs typeface="Georgia"/>
              </a:rPr>
              <a:t> </a:t>
            </a:r>
            <a:r>
              <a:rPr sz="1100" spc="-10" dirty="0">
                <a:latin typeface="Georgia"/>
                <a:cs typeface="Georgia"/>
              </a:rPr>
              <a:t>clustering. </a:t>
            </a:r>
            <a:r>
              <a:rPr sz="1100" dirty="0">
                <a:latin typeface="Georgia"/>
                <a:cs typeface="Georgia"/>
              </a:rPr>
              <a:t>The</a:t>
            </a:r>
            <a:r>
              <a:rPr sz="1100" spc="40" dirty="0">
                <a:latin typeface="Georgia"/>
                <a:cs typeface="Georgia"/>
              </a:rPr>
              <a:t> </a:t>
            </a:r>
            <a:r>
              <a:rPr sz="1100" b="1" spc="-40" dirty="0">
                <a:latin typeface="Georgia"/>
                <a:cs typeface="Georgia"/>
              </a:rPr>
              <a:t>clustering</a:t>
            </a:r>
            <a:r>
              <a:rPr sz="1100" b="1" spc="70" dirty="0">
                <a:latin typeface="Georgia"/>
                <a:cs typeface="Georgia"/>
              </a:rPr>
              <a:t> </a:t>
            </a:r>
            <a:r>
              <a:rPr sz="1100" b="1" spc="-40" dirty="0">
                <a:latin typeface="Georgia"/>
                <a:cs typeface="Georgia"/>
              </a:rPr>
              <a:t>results</a:t>
            </a:r>
            <a:r>
              <a:rPr sz="1100" b="1" spc="25" dirty="0">
                <a:latin typeface="Georgia"/>
                <a:cs typeface="Georgia"/>
              </a:rPr>
              <a:t> </a:t>
            </a:r>
            <a:r>
              <a:rPr sz="1100" dirty="0">
                <a:latin typeface="Georgia"/>
                <a:cs typeface="Georgia"/>
              </a:rPr>
              <a:t>are</a:t>
            </a:r>
            <a:r>
              <a:rPr sz="1100" spc="40" dirty="0">
                <a:latin typeface="Georgia"/>
                <a:cs typeface="Georgia"/>
              </a:rPr>
              <a:t> </a:t>
            </a:r>
            <a:r>
              <a:rPr sz="1100" spc="-20" dirty="0">
                <a:latin typeface="Georgia"/>
                <a:cs typeface="Georgia"/>
              </a:rPr>
              <a:t>normally</a:t>
            </a:r>
            <a:r>
              <a:rPr sz="1100" spc="50" dirty="0">
                <a:latin typeface="Georgia"/>
                <a:cs typeface="Georgia"/>
              </a:rPr>
              <a:t> </a:t>
            </a:r>
            <a:r>
              <a:rPr sz="1100" b="1" dirty="0">
                <a:latin typeface="Georgia"/>
                <a:cs typeface="Georgia"/>
              </a:rPr>
              <a:t>very</a:t>
            </a:r>
            <a:r>
              <a:rPr sz="1100" b="1" spc="75" dirty="0">
                <a:latin typeface="Georgia"/>
                <a:cs typeface="Georgia"/>
              </a:rPr>
              <a:t> </a:t>
            </a:r>
            <a:r>
              <a:rPr sz="1100" b="1" spc="-20" dirty="0">
                <a:latin typeface="Georgia"/>
                <a:cs typeface="Georgia"/>
              </a:rPr>
              <a:t>bad</a:t>
            </a:r>
            <a:r>
              <a:rPr sz="1100" spc="-20" dirty="0">
                <a:latin typeface="Georgia"/>
                <a:cs typeface="Georgia"/>
              </a:rPr>
              <a:t>.</a:t>
            </a:r>
            <a:endParaRPr sz="1100">
              <a:latin typeface="Georgia"/>
              <a:cs typeface="Georgia"/>
            </a:endParaRPr>
          </a:p>
          <a:p>
            <a:pPr marL="152400" marR="64769" indent="-76835">
              <a:lnSpc>
                <a:spcPts val="1150"/>
              </a:lnSpc>
              <a:spcBef>
                <a:spcPts val="925"/>
              </a:spcBef>
            </a:pPr>
            <a:r>
              <a:rPr sz="1650" spc="-885" baseline="-58080" dirty="0">
                <a:latin typeface="Georgia"/>
                <a:cs typeface="Georgia"/>
              </a:rPr>
              <a:t>S</a:t>
            </a:r>
            <a:r>
              <a:rPr sz="1100" spc="30" dirty="0">
                <a:latin typeface="Cambria"/>
                <a:cs typeface="Cambria"/>
              </a:rPr>
              <a:t>•</a:t>
            </a:r>
            <a:r>
              <a:rPr sz="1100" spc="114" dirty="0">
                <a:latin typeface="Cambria"/>
                <a:cs typeface="Cambria"/>
              </a:rPr>
              <a:t> </a:t>
            </a:r>
            <a:r>
              <a:rPr sz="1100" dirty="0">
                <a:latin typeface="Georgia"/>
                <a:cs typeface="Georgia"/>
              </a:rPr>
              <a:t>One</a:t>
            </a:r>
            <a:r>
              <a:rPr sz="1100" spc="-25" dirty="0">
                <a:latin typeface="Georgia"/>
                <a:cs typeface="Georgia"/>
              </a:rPr>
              <a:t> </a:t>
            </a:r>
            <a:r>
              <a:rPr sz="1100" dirty="0">
                <a:latin typeface="Georgia"/>
                <a:cs typeface="Georgia"/>
              </a:rPr>
              <a:t>of</a:t>
            </a:r>
            <a:r>
              <a:rPr sz="1100" spc="35"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solution</a:t>
            </a:r>
            <a:r>
              <a:rPr sz="1100" spc="35" dirty="0">
                <a:latin typeface="Georgia"/>
                <a:cs typeface="Georgia"/>
              </a:rPr>
              <a:t> </a:t>
            </a:r>
            <a:r>
              <a:rPr sz="1100" dirty="0">
                <a:latin typeface="Georgia"/>
                <a:cs typeface="Georgia"/>
              </a:rPr>
              <a:t>is</a:t>
            </a:r>
            <a:r>
              <a:rPr sz="1100" spc="35" dirty="0">
                <a:latin typeface="Georgia"/>
                <a:cs typeface="Georgia"/>
              </a:rPr>
              <a:t> </a:t>
            </a:r>
            <a:r>
              <a:rPr sz="1100" b="1" spc="-45" dirty="0">
                <a:latin typeface="Georgia"/>
                <a:cs typeface="Georgia"/>
              </a:rPr>
              <a:t>dimensionality</a:t>
            </a:r>
            <a:r>
              <a:rPr sz="1100" b="1" spc="65" dirty="0">
                <a:latin typeface="Georgia"/>
                <a:cs typeface="Georgia"/>
              </a:rPr>
              <a:t> </a:t>
            </a:r>
            <a:r>
              <a:rPr sz="1100" b="1" spc="-45" dirty="0">
                <a:latin typeface="Georgia"/>
                <a:cs typeface="Georgia"/>
              </a:rPr>
              <a:t>reduction</a:t>
            </a:r>
            <a:r>
              <a:rPr sz="1100" b="1" spc="15" dirty="0">
                <a:latin typeface="Georgia"/>
                <a:cs typeface="Georgia"/>
              </a:rPr>
              <a:t> </a:t>
            </a:r>
            <a:r>
              <a:rPr sz="1100" dirty="0">
                <a:latin typeface="Georgia"/>
                <a:cs typeface="Georgia"/>
              </a:rPr>
              <a:t>with</a:t>
            </a:r>
            <a:r>
              <a:rPr sz="1100" spc="35" dirty="0">
                <a:latin typeface="Georgia"/>
                <a:cs typeface="Georgia"/>
              </a:rPr>
              <a:t> </a:t>
            </a:r>
            <a:r>
              <a:rPr sz="1100" spc="-10" dirty="0">
                <a:latin typeface="Georgia"/>
                <a:cs typeface="Georgia"/>
              </a:rPr>
              <a:t>popular</a:t>
            </a:r>
            <a:r>
              <a:rPr sz="1100" spc="35" dirty="0">
                <a:latin typeface="Georgia"/>
                <a:cs typeface="Georgia"/>
              </a:rPr>
              <a:t> </a:t>
            </a:r>
            <a:r>
              <a:rPr sz="1100" spc="-35" dirty="0">
                <a:latin typeface="Georgia"/>
                <a:cs typeface="Georgia"/>
              </a:rPr>
              <a:t>techniques</a:t>
            </a:r>
            <a:r>
              <a:rPr sz="1100" spc="35" dirty="0">
                <a:latin typeface="Georgia"/>
                <a:cs typeface="Georgia"/>
              </a:rPr>
              <a:t> </a:t>
            </a:r>
            <a:r>
              <a:rPr sz="1100" spc="-10" dirty="0">
                <a:latin typeface="Georgia"/>
                <a:cs typeface="Georgia"/>
              </a:rPr>
              <a:t>like</a:t>
            </a:r>
            <a:r>
              <a:rPr sz="1100" spc="35" dirty="0">
                <a:latin typeface="Georgia"/>
                <a:cs typeface="Georgia"/>
              </a:rPr>
              <a:t> </a:t>
            </a:r>
            <a:r>
              <a:rPr sz="1100" spc="30" dirty="0">
                <a:latin typeface="Georgia"/>
                <a:cs typeface="Georgia"/>
              </a:rPr>
              <a:t>PCA, </a:t>
            </a:r>
            <a:r>
              <a:rPr sz="1100" dirty="0">
                <a:latin typeface="Georgia"/>
                <a:cs typeface="Georgia"/>
              </a:rPr>
              <a:t>VD,</a:t>
            </a:r>
            <a:r>
              <a:rPr sz="1100" spc="40" dirty="0">
                <a:latin typeface="Georgia"/>
                <a:cs typeface="Georgia"/>
              </a:rPr>
              <a:t> </a:t>
            </a:r>
            <a:r>
              <a:rPr sz="1100" dirty="0">
                <a:latin typeface="Georgia"/>
                <a:cs typeface="Georgia"/>
              </a:rPr>
              <a:t>or</a:t>
            </a:r>
            <a:r>
              <a:rPr sz="1100" spc="45" dirty="0">
                <a:latin typeface="Georgia"/>
                <a:cs typeface="Georgia"/>
              </a:rPr>
              <a:t> </a:t>
            </a:r>
            <a:r>
              <a:rPr sz="1100" dirty="0">
                <a:latin typeface="Georgia"/>
                <a:cs typeface="Georgia"/>
              </a:rPr>
              <a:t>topic</a:t>
            </a:r>
            <a:r>
              <a:rPr sz="1100" spc="40" dirty="0">
                <a:latin typeface="Georgia"/>
                <a:cs typeface="Georgia"/>
              </a:rPr>
              <a:t> </a:t>
            </a:r>
            <a:r>
              <a:rPr sz="1100" spc="-10" dirty="0">
                <a:latin typeface="Georgia"/>
                <a:cs typeface="Georgia"/>
              </a:rPr>
              <a:t>analysis</a:t>
            </a:r>
            <a:r>
              <a:rPr sz="1100" spc="45" dirty="0">
                <a:latin typeface="Georgia"/>
                <a:cs typeface="Georgia"/>
              </a:rPr>
              <a:t> </a:t>
            </a:r>
            <a:r>
              <a:rPr sz="1100" dirty="0">
                <a:latin typeface="Georgia"/>
                <a:cs typeface="Georgia"/>
              </a:rPr>
              <a:t>or</a:t>
            </a:r>
            <a:r>
              <a:rPr sz="1100" spc="45" dirty="0">
                <a:latin typeface="Georgia"/>
                <a:cs typeface="Georgia"/>
              </a:rPr>
              <a:t> </a:t>
            </a:r>
            <a:r>
              <a:rPr sz="1100" spc="-25" dirty="0">
                <a:latin typeface="Georgia"/>
                <a:cs typeface="Georgia"/>
              </a:rPr>
              <a:t>word</a:t>
            </a:r>
            <a:r>
              <a:rPr sz="1100" spc="40" dirty="0">
                <a:latin typeface="Georgia"/>
                <a:cs typeface="Georgia"/>
              </a:rPr>
              <a:t> </a:t>
            </a:r>
            <a:r>
              <a:rPr sz="1100" spc="-40" dirty="0">
                <a:latin typeface="Georgia"/>
                <a:cs typeface="Georgia"/>
              </a:rPr>
              <a:t>embeddings</a:t>
            </a:r>
            <a:r>
              <a:rPr sz="1100" spc="45" dirty="0">
                <a:latin typeface="Georgia"/>
                <a:cs typeface="Georgia"/>
              </a:rPr>
              <a:t> </a:t>
            </a:r>
            <a:r>
              <a:rPr sz="1100" dirty="0">
                <a:latin typeface="Georgia"/>
                <a:cs typeface="Georgia"/>
              </a:rPr>
              <a:t>(for</a:t>
            </a:r>
            <a:r>
              <a:rPr sz="1100" spc="45" dirty="0">
                <a:latin typeface="Georgia"/>
                <a:cs typeface="Georgia"/>
              </a:rPr>
              <a:t> </a:t>
            </a:r>
            <a:r>
              <a:rPr sz="1100" dirty="0">
                <a:latin typeface="Georgia"/>
                <a:cs typeface="Georgia"/>
              </a:rPr>
              <a:t>text</a:t>
            </a:r>
            <a:r>
              <a:rPr sz="1100" spc="40" dirty="0">
                <a:latin typeface="Georgia"/>
                <a:cs typeface="Georgia"/>
              </a:rPr>
              <a:t> </a:t>
            </a:r>
            <a:r>
              <a:rPr sz="1100" spc="-10" dirty="0">
                <a:latin typeface="Georgia"/>
                <a:cs typeface="Georgia"/>
              </a:rPr>
              <a:t>data).</a:t>
            </a:r>
            <a:endParaRPr sz="1100">
              <a:latin typeface="Georgia"/>
              <a:cs typeface="Georgia"/>
            </a:endParaRPr>
          </a:p>
        </p:txBody>
      </p:sp>
      <p:grpSp>
        <p:nvGrpSpPr>
          <p:cNvPr id="19" name="object 19"/>
          <p:cNvGrpSpPr/>
          <p:nvPr/>
        </p:nvGrpSpPr>
        <p:grpSpPr>
          <a:xfrm>
            <a:off x="0" y="3121545"/>
            <a:ext cx="5760085" cy="118745"/>
            <a:chOff x="0" y="3121545"/>
            <a:chExt cx="5760085" cy="118745"/>
          </a:xfrm>
        </p:grpSpPr>
        <p:sp>
          <p:nvSpPr>
            <p:cNvPr id="20" name="object 2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21" name="object 2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22" name="object 2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23" name="object 2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24" name="object 2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18</a:t>
            </a:fld>
            <a:r>
              <a:rPr spc="-25" dirty="0"/>
              <a:t> </a:t>
            </a:r>
            <a:r>
              <a:rPr spc="75" dirty="0"/>
              <a:t>/</a:t>
            </a:r>
            <a:r>
              <a:rPr spc="-25" dirty="0"/>
              <a:t> </a:t>
            </a:r>
            <a:r>
              <a:rPr spc="35" dirty="0"/>
              <a:t>135</a:t>
            </a:r>
          </a:p>
        </p:txBody>
      </p:sp>
      <p:pic>
        <p:nvPicPr>
          <p:cNvPr id="25" name="Picture 24">
            <a:extLst>
              <a:ext uri="{FF2B5EF4-FFF2-40B4-BE49-F238E27FC236}">
                <a16:creationId xmlns:a16="http://schemas.microsoft.com/office/drawing/2014/main" id="{F37A032B-97BE-7ADC-99B2-C65631EC36B0}"/>
              </a:ext>
            </a:extLst>
          </p:cNvPr>
          <p:cNvPicPr>
            <a:picLocks noChangeAspect="1"/>
          </p:cNvPicPr>
          <p:nvPr/>
        </p:nvPicPr>
        <p:blipFill>
          <a:blip r:embed="rId3"/>
          <a:stretch>
            <a:fillRect/>
          </a:stretch>
        </p:blipFill>
        <p:spPr>
          <a:xfrm>
            <a:off x="1778875" y="975301"/>
            <a:ext cx="2120900" cy="58088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235902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Times New Roman"/>
                <a:cs typeface="Times New Roman"/>
              </a:rPr>
              <a:t>Applications</a:t>
            </a:r>
            <a:r>
              <a:rPr sz="1400" spc="170" dirty="0">
                <a:solidFill>
                  <a:srgbClr val="CC0000"/>
                </a:solidFill>
                <a:latin typeface="Times New Roman"/>
                <a:cs typeface="Times New Roman"/>
              </a:rPr>
              <a:t> </a:t>
            </a:r>
            <a:r>
              <a:rPr sz="1400" dirty="0">
                <a:solidFill>
                  <a:srgbClr val="CC0000"/>
                </a:solidFill>
                <a:latin typeface="Times New Roman"/>
                <a:cs typeface="Times New Roman"/>
              </a:rPr>
              <a:t>of</a:t>
            </a:r>
            <a:r>
              <a:rPr sz="1400" spc="170" dirty="0">
                <a:solidFill>
                  <a:srgbClr val="CC0000"/>
                </a:solidFill>
                <a:latin typeface="Times New Roman"/>
                <a:cs typeface="Times New Roman"/>
              </a:rPr>
              <a:t> </a:t>
            </a:r>
            <a:r>
              <a:rPr sz="1400" spc="70" dirty="0">
                <a:solidFill>
                  <a:srgbClr val="CC0000"/>
                </a:solidFill>
                <a:latin typeface="Times New Roman"/>
                <a:cs typeface="Times New Roman"/>
              </a:rPr>
              <a:t>data</a:t>
            </a:r>
            <a:r>
              <a:rPr sz="1400" spc="170" dirty="0">
                <a:solidFill>
                  <a:srgbClr val="CC0000"/>
                </a:solidFill>
                <a:latin typeface="Times New Roman"/>
                <a:cs typeface="Times New Roman"/>
              </a:rPr>
              <a:t> </a:t>
            </a:r>
            <a:r>
              <a:rPr sz="1400" spc="-10" dirty="0">
                <a:solidFill>
                  <a:srgbClr val="CC0000"/>
                </a:solidFill>
                <a:latin typeface="Times New Roman"/>
                <a:cs typeface="Times New Roman"/>
              </a:rPr>
              <a:t>clustering</a:t>
            </a:r>
            <a:endParaRPr sz="1400">
              <a:latin typeface="Times New Roman"/>
              <a:cs typeface="Times New Roman"/>
            </a:endParaRPr>
          </a:p>
        </p:txBody>
      </p:sp>
      <p:pic>
        <p:nvPicPr>
          <p:cNvPr id="3" name="object 3"/>
          <p:cNvPicPr/>
          <p:nvPr/>
        </p:nvPicPr>
        <p:blipFill>
          <a:blip r:embed="rId2" cstate="print"/>
          <a:stretch>
            <a:fillRect/>
          </a:stretch>
        </p:blipFill>
        <p:spPr>
          <a:xfrm>
            <a:off x="406082" y="663232"/>
            <a:ext cx="5024120" cy="1991360"/>
          </a:xfrm>
          <a:prstGeom prst="rect">
            <a:avLst/>
          </a:prstGeom>
        </p:spPr>
      </p:pic>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19</a:t>
            </a:fld>
            <a:r>
              <a:rPr spc="-25" dirty="0"/>
              <a:t> </a:t>
            </a:r>
            <a:r>
              <a:rPr spc="75" dirty="0"/>
              <a:t>/</a:t>
            </a:r>
            <a:r>
              <a:rPr spc="-25" dirty="0"/>
              <a:t> </a:t>
            </a:r>
            <a:r>
              <a:rPr spc="35" dirty="0"/>
              <a:t>135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Applications</a:t>
            </a:r>
            <a:r>
              <a:rPr spc="204" dirty="0"/>
              <a:t> </a:t>
            </a:r>
            <a:r>
              <a:rPr dirty="0"/>
              <a:t>of</a:t>
            </a:r>
            <a:r>
              <a:rPr spc="204" dirty="0"/>
              <a:t> </a:t>
            </a:r>
            <a:r>
              <a:rPr spc="70" dirty="0"/>
              <a:t>data</a:t>
            </a:r>
            <a:r>
              <a:rPr spc="200" dirty="0"/>
              <a:t> </a:t>
            </a:r>
            <a:r>
              <a:rPr dirty="0"/>
              <a:t>clustering</a:t>
            </a:r>
            <a:r>
              <a:rPr spc="204" dirty="0"/>
              <a:t> </a:t>
            </a:r>
            <a:r>
              <a:rPr spc="-10" dirty="0"/>
              <a:t>(cont’d)</a:t>
            </a:r>
          </a:p>
        </p:txBody>
      </p:sp>
      <p:sp>
        <p:nvSpPr>
          <p:cNvPr id="3" name="object 3"/>
          <p:cNvSpPr/>
          <p:nvPr/>
        </p:nvSpPr>
        <p:spPr>
          <a:xfrm>
            <a:off x="337972" y="63966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476082"/>
            <a:ext cx="5013325" cy="2315845"/>
          </a:xfrm>
          <a:prstGeom prst="rect">
            <a:avLst/>
          </a:prstGeom>
        </p:spPr>
        <p:txBody>
          <a:bodyPr vert="horz" wrap="square" lIns="0" tIns="12700" rIns="0" bIns="0" rtlCol="0">
            <a:spAutoFit/>
          </a:bodyPr>
          <a:lstStyle/>
          <a:p>
            <a:pPr marL="12700" marR="451484">
              <a:lnSpc>
                <a:spcPct val="142100"/>
              </a:lnSpc>
              <a:spcBef>
                <a:spcPts val="100"/>
              </a:spcBef>
            </a:pPr>
            <a:r>
              <a:rPr sz="1100" spc="-10" dirty="0">
                <a:latin typeface="Georgia"/>
                <a:cs typeface="Georgia"/>
              </a:rPr>
              <a:t>Customer</a:t>
            </a:r>
            <a:r>
              <a:rPr sz="1100" spc="5" dirty="0">
                <a:latin typeface="Georgia"/>
                <a:cs typeface="Georgia"/>
              </a:rPr>
              <a:t> </a:t>
            </a:r>
            <a:r>
              <a:rPr sz="1100" spc="-30" dirty="0">
                <a:latin typeface="Georgia"/>
                <a:cs typeface="Georgia"/>
              </a:rPr>
              <a:t>segmentation</a:t>
            </a:r>
            <a:r>
              <a:rPr sz="1100" spc="10" dirty="0">
                <a:latin typeface="Georgia"/>
                <a:cs typeface="Georgia"/>
              </a:rPr>
              <a:t> </a:t>
            </a:r>
            <a:r>
              <a:rPr sz="1100" dirty="0">
                <a:latin typeface="Georgia"/>
                <a:cs typeface="Georgia"/>
              </a:rPr>
              <a:t>(telco,</a:t>
            </a:r>
            <a:r>
              <a:rPr sz="1100" spc="10" dirty="0">
                <a:latin typeface="Georgia"/>
                <a:cs typeface="Georgia"/>
              </a:rPr>
              <a:t> </a:t>
            </a:r>
            <a:r>
              <a:rPr sz="1100" dirty="0">
                <a:latin typeface="Georgia"/>
                <a:cs typeface="Georgia"/>
              </a:rPr>
              <a:t>retail,</a:t>
            </a:r>
            <a:r>
              <a:rPr sz="1100" spc="10" dirty="0">
                <a:latin typeface="Georgia"/>
                <a:cs typeface="Georgia"/>
              </a:rPr>
              <a:t> </a:t>
            </a:r>
            <a:r>
              <a:rPr sz="1100" spc="-25" dirty="0">
                <a:latin typeface="Georgia"/>
                <a:cs typeface="Georgia"/>
              </a:rPr>
              <a:t>marketing,</a:t>
            </a:r>
            <a:r>
              <a:rPr sz="1100" spc="10" dirty="0">
                <a:latin typeface="Georgia"/>
                <a:cs typeface="Georgia"/>
              </a:rPr>
              <a:t> </a:t>
            </a:r>
            <a:r>
              <a:rPr sz="1100" spc="-30" dirty="0">
                <a:latin typeface="Georgia"/>
                <a:cs typeface="Georgia"/>
              </a:rPr>
              <a:t>finance</a:t>
            </a:r>
            <a:r>
              <a:rPr sz="1100" spc="10" dirty="0">
                <a:latin typeface="Georgia"/>
                <a:cs typeface="Georgia"/>
              </a:rPr>
              <a:t> </a:t>
            </a:r>
            <a:r>
              <a:rPr sz="1100" dirty="0">
                <a:latin typeface="Georgia"/>
                <a:cs typeface="Georgia"/>
              </a:rPr>
              <a:t>and</a:t>
            </a:r>
            <a:r>
              <a:rPr sz="1100" spc="10" dirty="0">
                <a:latin typeface="Georgia"/>
                <a:cs typeface="Georgia"/>
              </a:rPr>
              <a:t> </a:t>
            </a:r>
            <a:r>
              <a:rPr sz="1100" spc="-10" dirty="0">
                <a:latin typeface="Georgia"/>
                <a:cs typeface="Georgia"/>
              </a:rPr>
              <a:t>banking,</a:t>
            </a:r>
            <a:r>
              <a:rPr sz="1100" spc="10" dirty="0">
                <a:latin typeface="Georgia"/>
                <a:cs typeface="Georgia"/>
              </a:rPr>
              <a:t> </a:t>
            </a:r>
            <a:r>
              <a:rPr sz="1100" spc="-10" dirty="0">
                <a:latin typeface="Georgia"/>
                <a:cs typeface="Georgia"/>
              </a:rPr>
              <a:t>etc.) </a:t>
            </a:r>
            <a:r>
              <a:rPr sz="1100" dirty="0">
                <a:latin typeface="Georgia"/>
                <a:cs typeface="Georgia"/>
              </a:rPr>
              <a:t>Text</a:t>
            </a:r>
            <a:r>
              <a:rPr sz="1100" spc="50" dirty="0">
                <a:latin typeface="Georgia"/>
                <a:cs typeface="Georgia"/>
              </a:rPr>
              <a:t> </a:t>
            </a:r>
            <a:r>
              <a:rPr sz="1100" spc="-25" dirty="0">
                <a:latin typeface="Georgia"/>
                <a:cs typeface="Georgia"/>
              </a:rPr>
              <a:t>clustering</a:t>
            </a:r>
            <a:r>
              <a:rPr sz="1100" spc="50" dirty="0">
                <a:latin typeface="Georgia"/>
                <a:cs typeface="Georgia"/>
              </a:rPr>
              <a:t> </a:t>
            </a:r>
            <a:r>
              <a:rPr sz="1100" spc="-20" dirty="0">
                <a:latin typeface="Georgia"/>
                <a:cs typeface="Georgia"/>
              </a:rPr>
              <a:t>(news,</a:t>
            </a:r>
            <a:r>
              <a:rPr sz="1100" spc="50" dirty="0">
                <a:latin typeface="Georgia"/>
                <a:cs typeface="Georgia"/>
              </a:rPr>
              <a:t> </a:t>
            </a:r>
            <a:r>
              <a:rPr sz="1100" spc="-20" dirty="0">
                <a:latin typeface="Georgia"/>
                <a:cs typeface="Georgia"/>
              </a:rPr>
              <a:t>email,</a:t>
            </a:r>
            <a:r>
              <a:rPr sz="1100" spc="55" dirty="0">
                <a:latin typeface="Georgia"/>
                <a:cs typeface="Georgia"/>
              </a:rPr>
              <a:t> </a:t>
            </a:r>
            <a:r>
              <a:rPr sz="1100" spc="-25" dirty="0">
                <a:latin typeface="Georgia"/>
                <a:cs typeface="Georgia"/>
              </a:rPr>
              <a:t>customer</a:t>
            </a:r>
            <a:r>
              <a:rPr sz="1100" spc="50" dirty="0">
                <a:latin typeface="Georgia"/>
                <a:cs typeface="Georgia"/>
              </a:rPr>
              <a:t> </a:t>
            </a:r>
            <a:r>
              <a:rPr sz="1100" spc="-10" dirty="0">
                <a:latin typeface="Georgia"/>
                <a:cs typeface="Georgia"/>
              </a:rPr>
              <a:t>care</a:t>
            </a:r>
            <a:r>
              <a:rPr sz="1100" spc="50" dirty="0">
                <a:latin typeface="Georgia"/>
                <a:cs typeface="Georgia"/>
              </a:rPr>
              <a:t> </a:t>
            </a:r>
            <a:r>
              <a:rPr sz="1100" dirty="0">
                <a:latin typeface="Georgia"/>
                <a:cs typeface="Georgia"/>
              </a:rPr>
              <a:t>data,</a:t>
            </a:r>
            <a:r>
              <a:rPr sz="1100" spc="55" dirty="0">
                <a:latin typeface="Georgia"/>
                <a:cs typeface="Georgia"/>
              </a:rPr>
              <a:t> </a:t>
            </a:r>
            <a:r>
              <a:rPr sz="1100" dirty="0">
                <a:latin typeface="Georgia"/>
                <a:cs typeface="Georgia"/>
              </a:rPr>
              <a:t>tag</a:t>
            </a:r>
            <a:r>
              <a:rPr sz="1100" spc="50" dirty="0">
                <a:latin typeface="Georgia"/>
                <a:cs typeface="Georgia"/>
              </a:rPr>
              <a:t> </a:t>
            </a:r>
            <a:r>
              <a:rPr sz="1100" spc="-25" dirty="0">
                <a:latin typeface="Georgia"/>
                <a:cs typeface="Georgia"/>
              </a:rPr>
              <a:t>suggestion,</a:t>
            </a:r>
            <a:r>
              <a:rPr sz="1100" spc="50" dirty="0">
                <a:latin typeface="Georgia"/>
                <a:cs typeface="Georgia"/>
              </a:rPr>
              <a:t> </a:t>
            </a:r>
            <a:r>
              <a:rPr sz="1100" spc="-10" dirty="0">
                <a:latin typeface="Georgia"/>
                <a:cs typeface="Georgia"/>
              </a:rPr>
              <a:t>etc.) </a:t>
            </a:r>
            <a:r>
              <a:rPr sz="1100" spc="-25" dirty="0">
                <a:latin typeface="Georgia"/>
                <a:cs typeface="Georgia"/>
              </a:rPr>
              <a:t>Image</a:t>
            </a:r>
            <a:r>
              <a:rPr sz="1100" spc="55" dirty="0">
                <a:latin typeface="Georgia"/>
                <a:cs typeface="Georgia"/>
              </a:rPr>
              <a:t> </a:t>
            </a:r>
            <a:r>
              <a:rPr sz="1100" spc="-30" dirty="0">
                <a:latin typeface="Georgia"/>
                <a:cs typeface="Georgia"/>
              </a:rPr>
              <a:t>processing,</a:t>
            </a:r>
            <a:r>
              <a:rPr sz="1100" spc="60" dirty="0">
                <a:latin typeface="Georgia"/>
                <a:cs typeface="Georgia"/>
              </a:rPr>
              <a:t> </a:t>
            </a:r>
            <a:r>
              <a:rPr sz="1100" dirty="0">
                <a:latin typeface="Georgia"/>
                <a:cs typeface="Georgia"/>
              </a:rPr>
              <a:t>object</a:t>
            </a:r>
            <a:r>
              <a:rPr sz="1100" spc="60" dirty="0">
                <a:latin typeface="Georgia"/>
                <a:cs typeface="Georgia"/>
              </a:rPr>
              <a:t> </a:t>
            </a:r>
            <a:r>
              <a:rPr sz="1100" spc="-30" dirty="0">
                <a:latin typeface="Georgia"/>
                <a:cs typeface="Georgia"/>
              </a:rPr>
              <a:t>segmentation,</a:t>
            </a:r>
            <a:r>
              <a:rPr sz="1100" spc="55" dirty="0">
                <a:latin typeface="Georgia"/>
                <a:cs typeface="Georgia"/>
              </a:rPr>
              <a:t> </a:t>
            </a:r>
            <a:r>
              <a:rPr sz="1100" spc="-20" dirty="0">
                <a:latin typeface="Georgia"/>
                <a:cs typeface="Georgia"/>
              </a:rPr>
              <a:t>etc.</a:t>
            </a:r>
            <a:endParaRPr sz="1100">
              <a:latin typeface="Georgia"/>
              <a:cs typeface="Georgia"/>
            </a:endParaRPr>
          </a:p>
          <a:p>
            <a:pPr marL="12700">
              <a:lnSpc>
                <a:spcPct val="100000"/>
              </a:lnSpc>
              <a:spcBef>
                <a:spcPts val="555"/>
              </a:spcBef>
            </a:pPr>
            <a:r>
              <a:rPr sz="1100" spc="-10" dirty="0">
                <a:latin typeface="Georgia"/>
                <a:cs typeface="Georgia"/>
              </a:rPr>
              <a:t>Biological</a:t>
            </a:r>
            <a:r>
              <a:rPr sz="1100" spc="20" dirty="0">
                <a:latin typeface="Georgia"/>
                <a:cs typeface="Georgia"/>
              </a:rPr>
              <a:t> </a:t>
            </a:r>
            <a:r>
              <a:rPr sz="1100" dirty="0">
                <a:latin typeface="Georgia"/>
                <a:cs typeface="Georgia"/>
              </a:rPr>
              <a:t>data</a:t>
            </a:r>
            <a:r>
              <a:rPr sz="1100" spc="25" dirty="0">
                <a:latin typeface="Georgia"/>
                <a:cs typeface="Georgia"/>
              </a:rPr>
              <a:t> </a:t>
            </a:r>
            <a:r>
              <a:rPr sz="1100" spc="-20" dirty="0">
                <a:latin typeface="Georgia"/>
                <a:cs typeface="Georgia"/>
              </a:rPr>
              <a:t>clustering</a:t>
            </a:r>
            <a:r>
              <a:rPr sz="1100" spc="25" dirty="0">
                <a:latin typeface="Georgia"/>
                <a:cs typeface="Georgia"/>
              </a:rPr>
              <a:t> </a:t>
            </a:r>
            <a:r>
              <a:rPr sz="1100" spc="-10" dirty="0">
                <a:latin typeface="Georgia"/>
                <a:cs typeface="Georgia"/>
              </a:rPr>
              <a:t>(patients,</a:t>
            </a:r>
            <a:r>
              <a:rPr sz="1100" spc="20" dirty="0">
                <a:latin typeface="Georgia"/>
                <a:cs typeface="Georgia"/>
              </a:rPr>
              <a:t> </a:t>
            </a:r>
            <a:r>
              <a:rPr sz="1100" dirty="0">
                <a:latin typeface="Georgia"/>
                <a:cs typeface="Georgia"/>
              </a:rPr>
              <a:t>health</a:t>
            </a:r>
            <a:r>
              <a:rPr sz="1100" spc="25" dirty="0">
                <a:latin typeface="Georgia"/>
                <a:cs typeface="Georgia"/>
              </a:rPr>
              <a:t> </a:t>
            </a:r>
            <a:r>
              <a:rPr sz="1100" spc="-30" dirty="0">
                <a:latin typeface="Georgia"/>
                <a:cs typeface="Georgia"/>
              </a:rPr>
              <a:t>records,</a:t>
            </a:r>
            <a:r>
              <a:rPr sz="1100" spc="25" dirty="0">
                <a:latin typeface="Georgia"/>
                <a:cs typeface="Georgia"/>
              </a:rPr>
              <a:t> </a:t>
            </a:r>
            <a:r>
              <a:rPr sz="1100" spc="-20" dirty="0">
                <a:latin typeface="Georgia"/>
                <a:cs typeface="Georgia"/>
              </a:rPr>
              <a:t>gene,</a:t>
            </a:r>
            <a:r>
              <a:rPr sz="1100" spc="20" dirty="0">
                <a:latin typeface="Georgia"/>
                <a:cs typeface="Georgia"/>
              </a:rPr>
              <a:t> </a:t>
            </a:r>
            <a:r>
              <a:rPr sz="1100" spc="-10" dirty="0">
                <a:latin typeface="Georgia"/>
                <a:cs typeface="Georgia"/>
              </a:rPr>
              <a:t>etc.)</a:t>
            </a:r>
            <a:endParaRPr sz="1100">
              <a:latin typeface="Georgia"/>
              <a:cs typeface="Georgia"/>
            </a:endParaRPr>
          </a:p>
          <a:p>
            <a:pPr marL="12700" marR="591185">
              <a:lnSpc>
                <a:spcPct val="142100"/>
              </a:lnSpc>
            </a:pPr>
            <a:r>
              <a:rPr sz="1100" spc="-10" dirty="0">
                <a:latin typeface="Georgia"/>
                <a:cs typeface="Georgia"/>
              </a:rPr>
              <a:t>Finding</a:t>
            </a:r>
            <a:r>
              <a:rPr sz="1100" spc="25" dirty="0">
                <a:latin typeface="Georgia"/>
                <a:cs typeface="Georgia"/>
              </a:rPr>
              <a:t> </a:t>
            </a:r>
            <a:r>
              <a:rPr sz="1100" spc="-25" dirty="0">
                <a:latin typeface="Georgia"/>
                <a:cs typeface="Georgia"/>
              </a:rPr>
              <a:t>similar</a:t>
            </a:r>
            <a:r>
              <a:rPr sz="1100" spc="30" dirty="0">
                <a:latin typeface="Georgia"/>
                <a:cs typeface="Georgia"/>
              </a:rPr>
              <a:t> </a:t>
            </a:r>
            <a:r>
              <a:rPr sz="1100" spc="-30" dirty="0">
                <a:latin typeface="Georgia"/>
                <a:cs typeface="Georgia"/>
              </a:rPr>
              <a:t>users</a:t>
            </a:r>
            <a:r>
              <a:rPr sz="1100" spc="30" dirty="0">
                <a:latin typeface="Georgia"/>
                <a:cs typeface="Georgia"/>
              </a:rPr>
              <a:t> </a:t>
            </a:r>
            <a:r>
              <a:rPr sz="1100" dirty="0">
                <a:latin typeface="Georgia"/>
                <a:cs typeface="Georgia"/>
              </a:rPr>
              <a:t>and</a:t>
            </a:r>
            <a:r>
              <a:rPr sz="1100" spc="30" dirty="0">
                <a:latin typeface="Georgia"/>
                <a:cs typeface="Georgia"/>
              </a:rPr>
              <a:t> </a:t>
            </a:r>
            <a:r>
              <a:rPr sz="1100" spc="-50" dirty="0">
                <a:latin typeface="Georgia"/>
                <a:cs typeface="Georgia"/>
              </a:rPr>
              <a:t>sub–communities</a:t>
            </a:r>
            <a:r>
              <a:rPr sz="1100" spc="30" dirty="0">
                <a:latin typeface="Georgia"/>
                <a:cs typeface="Georgia"/>
              </a:rPr>
              <a:t> </a:t>
            </a:r>
            <a:r>
              <a:rPr sz="1100" spc="-10" dirty="0">
                <a:latin typeface="Georgia"/>
                <a:cs typeface="Georgia"/>
              </a:rPr>
              <a:t>(graph,</a:t>
            </a:r>
            <a:r>
              <a:rPr sz="1100" spc="30" dirty="0">
                <a:latin typeface="Georgia"/>
                <a:cs typeface="Georgia"/>
              </a:rPr>
              <a:t> </a:t>
            </a:r>
            <a:r>
              <a:rPr sz="1100" spc="-10" dirty="0">
                <a:latin typeface="Georgia"/>
                <a:cs typeface="Georgia"/>
              </a:rPr>
              <a:t>social</a:t>
            </a:r>
            <a:r>
              <a:rPr sz="1100" spc="30" dirty="0">
                <a:latin typeface="Georgia"/>
                <a:cs typeface="Georgia"/>
              </a:rPr>
              <a:t> </a:t>
            </a:r>
            <a:r>
              <a:rPr sz="1100" spc="-30" dirty="0">
                <a:latin typeface="Georgia"/>
                <a:cs typeface="Georgia"/>
              </a:rPr>
              <a:t>networks,</a:t>
            </a:r>
            <a:r>
              <a:rPr sz="1100" spc="30" dirty="0">
                <a:latin typeface="Georgia"/>
                <a:cs typeface="Georgia"/>
              </a:rPr>
              <a:t> </a:t>
            </a:r>
            <a:r>
              <a:rPr sz="1100" spc="-10" dirty="0">
                <a:latin typeface="Georgia"/>
                <a:cs typeface="Georgia"/>
              </a:rPr>
              <a:t>etc.) </a:t>
            </a:r>
            <a:r>
              <a:rPr sz="1100" dirty="0">
                <a:latin typeface="Georgia"/>
                <a:cs typeface="Georgia"/>
              </a:rPr>
              <a:t>Buyer</a:t>
            </a:r>
            <a:r>
              <a:rPr sz="1100" spc="15" dirty="0">
                <a:latin typeface="Georgia"/>
                <a:cs typeface="Georgia"/>
              </a:rPr>
              <a:t> </a:t>
            </a:r>
            <a:r>
              <a:rPr sz="1100" dirty="0">
                <a:latin typeface="Georgia"/>
                <a:cs typeface="Georgia"/>
              </a:rPr>
              <a:t>and</a:t>
            </a:r>
            <a:r>
              <a:rPr sz="1100" spc="20" dirty="0">
                <a:latin typeface="Georgia"/>
                <a:cs typeface="Georgia"/>
              </a:rPr>
              <a:t> </a:t>
            </a:r>
            <a:r>
              <a:rPr sz="1100" spc="-10" dirty="0">
                <a:latin typeface="Georgia"/>
                <a:cs typeface="Georgia"/>
              </a:rPr>
              <a:t>product</a:t>
            </a:r>
            <a:r>
              <a:rPr sz="1100" spc="15" dirty="0">
                <a:latin typeface="Georgia"/>
                <a:cs typeface="Georgia"/>
              </a:rPr>
              <a:t> </a:t>
            </a:r>
            <a:r>
              <a:rPr sz="1100" spc="-20" dirty="0">
                <a:latin typeface="Georgia"/>
                <a:cs typeface="Georgia"/>
              </a:rPr>
              <a:t>clustering</a:t>
            </a:r>
            <a:r>
              <a:rPr sz="1100" spc="20" dirty="0">
                <a:latin typeface="Georgia"/>
                <a:cs typeface="Georgia"/>
              </a:rPr>
              <a:t> </a:t>
            </a:r>
            <a:r>
              <a:rPr sz="1100" dirty="0">
                <a:latin typeface="Georgia"/>
                <a:cs typeface="Georgia"/>
              </a:rPr>
              <a:t>(retail,</a:t>
            </a:r>
            <a:r>
              <a:rPr sz="1100" spc="20" dirty="0">
                <a:latin typeface="Georgia"/>
                <a:cs typeface="Georgia"/>
              </a:rPr>
              <a:t> </a:t>
            </a:r>
            <a:r>
              <a:rPr sz="1100" spc="-45" dirty="0">
                <a:latin typeface="Georgia"/>
                <a:cs typeface="Georgia"/>
              </a:rPr>
              <a:t>recommender</a:t>
            </a:r>
            <a:r>
              <a:rPr sz="1100" spc="15" dirty="0">
                <a:latin typeface="Georgia"/>
                <a:cs typeface="Georgia"/>
              </a:rPr>
              <a:t> </a:t>
            </a:r>
            <a:r>
              <a:rPr sz="1100" spc="-20" dirty="0">
                <a:latin typeface="Georgia"/>
                <a:cs typeface="Georgia"/>
              </a:rPr>
              <a:t>systems,</a:t>
            </a:r>
            <a:r>
              <a:rPr sz="1100" spc="20" dirty="0">
                <a:latin typeface="Georgia"/>
                <a:cs typeface="Georgia"/>
              </a:rPr>
              <a:t> </a:t>
            </a:r>
            <a:r>
              <a:rPr sz="1100" spc="-10" dirty="0">
                <a:latin typeface="Georgia"/>
                <a:cs typeface="Georgia"/>
              </a:rPr>
              <a:t>etc.) </a:t>
            </a:r>
            <a:r>
              <a:rPr sz="1100" spc="-25" dirty="0">
                <a:latin typeface="Georgia"/>
                <a:cs typeface="Georgia"/>
              </a:rPr>
              <a:t>Identifying</a:t>
            </a:r>
            <a:r>
              <a:rPr sz="1100" spc="25" dirty="0">
                <a:latin typeface="Georgia"/>
                <a:cs typeface="Georgia"/>
              </a:rPr>
              <a:t> </a:t>
            </a:r>
            <a:r>
              <a:rPr sz="1100" spc="-25" dirty="0">
                <a:latin typeface="Georgia"/>
                <a:cs typeface="Georgia"/>
              </a:rPr>
              <a:t>fraudulent</a:t>
            </a:r>
            <a:r>
              <a:rPr sz="1100" spc="25" dirty="0">
                <a:latin typeface="Georgia"/>
                <a:cs typeface="Georgia"/>
              </a:rPr>
              <a:t> </a:t>
            </a:r>
            <a:r>
              <a:rPr sz="1100" dirty="0">
                <a:latin typeface="Georgia"/>
                <a:cs typeface="Georgia"/>
              </a:rPr>
              <a:t>or</a:t>
            </a:r>
            <a:r>
              <a:rPr sz="1100" spc="25" dirty="0">
                <a:latin typeface="Georgia"/>
                <a:cs typeface="Georgia"/>
              </a:rPr>
              <a:t> </a:t>
            </a:r>
            <a:r>
              <a:rPr sz="1100" spc="-25" dirty="0">
                <a:latin typeface="Georgia"/>
                <a:cs typeface="Georgia"/>
              </a:rPr>
              <a:t>criminal</a:t>
            </a:r>
            <a:r>
              <a:rPr sz="1100" spc="25" dirty="0">
                <a:latin typeface="Georgia"/>
                <a:cs typeface="Georgia"/>
              </a:rPr>
              <a:t> </a:t>
            </a:r>
            <a:r>
              <a:rPr sz="1100" dirty="0">
                <a:latin typeface="Georgia"/>
                <a:cs typeface="Georgia"/>
              </a:rPr>
              <a:t>activities,</a:t>
            </a:r>
            <a:r>
              <a:rPr sz="1100" spc="25" dirty="0">
                <a:latin typeface="Georgia"/>
                <a:cs typeface="Georgia"/>
              </a:rPr>
              <a:t> </a:t>
            </a:r>
            <a:r>
              <a:rPr sz="1100" spc="-20" dirty="0">
                <a:latin typeface="Georgia"/>
                <a:cs typeface="Georgia"/>
              </a:rPr>
              <a:t>etc.</a:t>
            </a:r>
            <a:endParaRPr sz="1100">
              <a:latin typeface="Georgia"/>
              <a:cs typeface="Georgia"/>
            </a:endParaRPr>
          </a:p>
          <a:p>
            <a:pPr marL="12700">
              <a:lnSpc>
                <a:spcPct val="100000"/>
              </a:lnSpc>
              <a:spcBef>
                <a:spcPts val="555"/>
              </a:spcBef>
            </a:pPr>
            <a:r>
              <a:rPr sz="1100" spc="-10" dirty="0">
                <a:latin typeface="Georgia"/>
                <a:cs typeface="Georgia"/>
              </a:rPr>
              <a:t>Clustering</a:t>
            </a:r>
            <a:r>
              <a:rPr sz="1100" spc="20" dirty="0">
                <a:latin typeface="Georgia"/>
                <a:cs typeface="Georgia"/>
              </a:rPr>
              <a:t> </a:t>
            </a:r>
            <a:r>
              <a:rPr sz="1100" dirty="0">
                <a:latin typeface="Georgia"/>
                <a:cs typeface="Georgia"/>
              </a:rPr>
              <a:t>can</a:t>
            </a:r>
            <a:r>
              <a:rPr sz="1100" spc="20" dirty="0">
                <a:latin typeface="Georgia"/>
                <a:cs typeface="Georgia"/>
              </a:rPr>
              <a:t> </a:t>
            </a:r>
            <a:r>
              <a:rPr sz="1100" dirty="0">
                <a:latin typeface="Georgia"/>
                <a:cs typeface="Georgia"/>
              </a:rPr>
              <a:t>be</a:t>
            </a:r>
            <a:r>
              <a:rPr sz="1100" spc="25" dirty="0">
                <a:latin typeface="Georgia"/>
                <a:cs typeface="Georgia"/>
              </a:rPr>
              <a:t> </a:t>
            </a:r>
            <a:r>
              <a:rPr sz="1100" dirty="0">
                <a:latin typeface="Georgia"/>
                <a:cs typeface="Georgia"/>
              </a:rPr>
              <a:t>a</a:t>
            </a:r>
            <a:r>
              <a:rPr sz="1100" spc="20" dirty="0">
                <a:latin typeface="Georgia"/>
                <a:cs typeface="Georgia"/>
              </a:rPr>
              <a:t> </a:t>
            </a:r>
            <a:r>
              <a:rPr sz="1100" spc="-35" dirty="0">
                <a:latin typeface="Georgia"/>
                <a:cs typeface="Georgia"/>
              </a:rPr>
              <a:t>preprocessing</a:t>
            </a:r>
            <a:r>
              <a:rPr sz="1100" spc="25" dirty="0">
                <a:latin typeface="Georgia"/>
                <a:cs typeface="Georgia"/>
              </a:rPr>
              <a:t> </a:t>
            </a:r>
            <a:r>
              <a:rPr sz="1100" dirty="0">
                <a:latin typeface="Georgia"/>
                <a:cs typeface="Georgia"/>
              </a:rPr>
              <a:t>step</a:t>
            </a:r>
            <a:r>
              <a:rPr sz="1100" spc="20" dirty="0">
                <a:latin typeface="Georgia"/>
                <a:cs typeface="Georgia"/>
              </a:rPr>
              <a:t> </a:t>
            </a:r>
            <a:r>
              <a:rPr sz="1100" dirty="0">
                <a:latin typeface="Georgia"/>
                <a:cs typeface="Georgia"/>
              </a:rPr>
              <a:t>for</a:t>
            </a:r>
            <a:r>
              <a:rPr sz="1100" spc="25" dirty="0">
                <a:latin typeface="Georgia"/>
                <a:cs typeface="Georgia"/>
              </a:rPr>
              <a:t> </a:t>
            </a:r>
            <a:r>
              <a:rPr sz="1100" spc="-10" dirty="0">
                <a:latin typeface="Georgia"/>
                <a:cs typeface="Georgia"/>
              </a:rPr>
              <a:t>further</a:t>
            </a:r>
            <a:r>
              <a:rPr sz="1100" spc="20" dirty="0">
                <a:latin typeface="Georgia"/>
                <a:cs typeface="Georgia"/>
              </a:rPr>
              <a:t> </a:t>
            </a:r>
            <a:r>
              <a:rPr sz="1100" dirty="0">
                <a:latin typeface="Georgia"/>
                <a:cs typeface="Georgia"/>
              </a:rPr>
              <a:t>data</a:t>
            </a:r>
            <a:r>
              <a:rPr sz="1100" spc="20" dirty="0">
                <a:latin typeface="Georgia"/>
                <a:cs typeface="Georgia"/>
              </a:rPr>
              <a:t> </a:t>
            </a:r>
            <a:r>
              <a:rPr sz="1100" spc="-10" dirty="0">
                <a:latin typeface="Georgia"/>
                <a:cs typeface="Georgia"/>
              </a:rPr>
              <a:t>analysis</a:t>
            </a:r>
            <a:r>
              <a:rPr sz="1100" spc="25" dirty="0">
                <a:latin typeface="Georgia"/>
                <a:cs typeface="Georgia"/>
              </a:rPr>
              <a:t> </a:t>
            </a:r>
            <a:r>
              <a:rPr sz="1100" dirty="0">
                <a:latin typeface="Georgia"/>
                <a:cs typeface="Georgia"/>
              </a:rPr>
              <a:t>and</a:t>
            </a:r>
            <a:r>
              <a:rPr sz="1100" spc="20" dirty="0">
                <a:latin typeface="Georgia"/>
                <a:cs typeface="Georgia"/>
              </a:rPr>
              <a:t> </a:t>
            </a:r>
            <a:r>
              <a:rPr sz="1100" spc="-10" dirty="0">
                <a:latin typeface="Georgia"/>
                <a:cs typeface="Georgia"/>
              </a:rPr>
              <a:t>mining.</a:t>
            </a:r>
            <a:endParaRPr sz="1100">
              <a:latin typeface="Georgia"/>
              <a:cs typeface="Georgia"/>
            </a:endParaRPr>
          </a:p>
          <a:p>
            <a:pPr marL="12700" marR="5080">
              <a:lnSpc>
                <a:spcPts val="1150"/>
              </a:lnSpc>
              <a:spcBef>
                <a:spcPts val="740"/>
              </a:spcBef>
            </a:pPr>
            <a:r>
              <a:rPr sz="1100" dirty="0">
                <a:latin typeface="Georgia"/>
                <a:cs typeface="Georgia"/>
              </a:rPr>
              <a:t>Any</a:t>
            </a:r>
            <a:r>
              <a:rPr sz="1100" spc="35" dirty="0">
                <a:latin typeface="Georgia"/>
                <a:cs typeface="Georgia"/>
              </a:rPr>
              <a:t> </a:t>
            </a:r>
            <a:r>
              <a:rPr sz="1100" dirty="0">
                <a:latin typeface="Georgia"/>
                <a:cs typeface="Georgia"/>
              </a:rPr>
              <a:t>data</a:t>
            </a:r>
            <a:r>
              <a:rPr sz="1100" spc="40" dirty="0">
                <a:latin typeface="Georgia"/>
                <a:cs typeface="Georgia"/>
              </a:rPr>
              <a:t> </a:t>
            </a:r>
            <a:r>
              <a:rPr sz="1100" spc="-30" dirty="0">
                <a:latin typeface="Georgia"/>
                <a:cs typeface="Georgia"/>
              </a:rPr>
              <a:t>mining</a:t>
            </a:r>
            <a:r>
              <a:rPr sz="1100" spc="40" dirty="0">
                <a:latin typeface="Georgia"/>
                <a:cs typeface="Georgia"/>
              </a:rPr>
              <a:t> </a:t>
            </a:r>
            <a:r>
              <a:rPr sz="1100" dirty="0">
                <a:latin typeface="Georgia"/>
                <a:cs typeface="Georgia"/>
              </a:rPr>
              <a:t>tasks</a:t>
            </a:r>
            <a:r>
              <a:rPr sz="1100" spc="40" dirty="0">
                <a:latin typeface="Georgia"/>
                <a:cs typeface="Georgia"/>
              </a:rPr>
              <a:t> </a:t>
            </a:r>
            <a:r>
              <a:rPr sz="1100" dirty="0">
                <a:latin typeface="Georgia"/>
                <a:cs typeface="Georgia"/>
              </a:rPr>
              <a:t>that</a:t>
            </a:r>
            <a:r>
              <a:rPr sz="1100" spc="40" dirty="0">
                <a:latin typeface="Georgia"/>
                <a:cs typeface="Georgia"/>
              </a:rPr>
              <a:t> </a:t>
            </a:r>
            <a:r>
              <a:rPr sz="1100" spc="-35" dirty="0">
                <a:latin typeface="Georgia"/>
                <a:cs typeface="Georgia"/>
              </a:rPr>
              <a:t>require</a:t>
            </a:r>
            <a:r>
              <a:rPr sz="1100" spc="40" dirty="0">
                <a:latin typeface="Georgia"/>
                <a:cs typeface="Georgia"/>
              </a:rPr>
              <a:t> </a:t>
            </a:r>
            <a:r>
              <a:rPr sz="1100" dirty="0">
                <a:latin typeface="Georgia"/>
                <a:cs typeface="Georgia"/>
              </a:rPr>
              <a:t>to</a:t>
            </a:r>
            <a:r>
              <a:rPr sz="1100" spc="40" dirty="0">
                <a:latin typeface="Georgia"/>
                <a:cs typeface="Georgia"/>
              </a:rPr>
              <a:t> </a:t>
            </a:r>
            <a:r>
              <a:rPr sz="1100" spc="-10" dirty="0">
                <a:latin typeface="Georgia"/>
                <a:cs typeface="Georgia"/>
              </a:rPr>
              <a:t>group</a:t>
            </a:r>
            <a:r>
              <a:rPr sz="1100" spc="35" dirty="0">
                <a:latin typeface="Georgia"/>
                <a:cs typeface="Georgia"/>
              </a:rPr>
              <a:t> </a:t>
            </a:r>
            <a:r>
              <a:rPr sz="1100" dirty="0">
                <a:latin typeface="Georgia"/>
                <a:cs typeface="Georgia"/>
              </a:rPr>
              <a:t>data</a:t>
            </a:r>
            <a:r>
              <a:rPr sz="1100" spc="40" dirty="0">
                <a:latin typeface="Georgia"/>
                <a:cs typeface="Georgia"/>
              </a:rPr>
              <a:t> </a:t>
            </a:r>
            <a:r>
              <a:rPr sz="1100" spc="-10" dirty="0">
                <a:latin typeface="Georgia"/>
                <a:cs typeface="Georgia"/>
              </a:rPr>
              <a:t>points</a:t>
            </a:r>
            <a:r>
              <a:rPr sz="1100" spc="40" dirty="0">
                <a:latin typeface="Georgia"/>
                <a:cs typeface="Georgia"/>
              </a:rPr>
              <a:t> </a:t>
            </a:r>
            <a:r>
              <a:rPr sz="1100" dirty="0">
                <a:latin typeface="Georgia"/>
                <a:cs typeface="Georgia"/>
              </a:rPr>
              <a:t>into</a:t>
            </a:r>
            <a:r>
              <a:rPr sz="1100" spc="40" dirty="0">
                <a:latin typeface="Georgia"/>
                <a:cs typeface="Georgia"/>
              </a:rPr>
              <a:t> </a:t>
            </a:r>
            <a:r>
              <a:rPr sz="1100" spc="-25" dirty="0">
                <a:latin typeface="Georgia"/>
                <a:cs typeface="Georgia"/>
              </a:rPr>
              <a:t>similar</a:t>
            </a:r>
            <a:r>
              <a:rPr sz="1100" spc="40" dirty="0">
                <a:latin typeface="Georgia"/>
                <a:cs typeface="Georgia"/>
              </a:rPr>
              <a:t> </a:t>
            </a:r>
            <a:r>
              <a:rPr sz="1100" spc="-10" dirty="0">
                <a:latin typeface="Georgia"/>
                <a:cs typeface="Georgia"/>
              </a:rPr>
              <a:t>clusters.</a:t>
            </a:r>
            <a:r>
              <a:rPr sz="1100" spc="135" dirty="0">
                <a:latin typeface="Georgia"/>
                <a:cs typeface="Georgia"/>
              </a:rPr>
              <a:t> </a:t>
            </a:r>
            <a:r>
              <a:rPr sz="1100" spc="-25" dirty="0">
                <a:latin typeface="Georgia"/>
                <a:cs typeface="Georgia"/>
              </a:rPr>
              <a:t>The </a:t>
            </a:r>
            <a:r>
              <a:rPr sz="1100" spc="-20" dirty="0">
                <a:latin typeface="Georgia"/>
                <a:cs typeface="Georgia"/>
              </a:rPr>
              <a:t>applications</a:t>
            </a:r>
            <a:r>
              <a:rPr sz="1100" spc="25" dirty="0">
                <a:latin typeface="Georgia"/>
                <a:cs typeface="Georgia"/>
              </a:rPr>
              <a:t> </a:t>
            </a:r>
            <a:r>
              <a:rPr sz="1100" dirty="0">
                <a:latin typeface="Georgia"/>
                <a:cs typeface="Georgia"/>
              </a:rPr>
              <a:t>can</a:t>
            </a:r>
            <a:r>
              <a:rPr sz="1100" spc="30" dirty="0">
                <a:latin typeface="Georgia"/>
                <a:cs typeface="Georgia"/>
              </a:rPr>
              <a:t> </a:t>
            </a:r>
            <a:r>
              <a:rPr sz="1100" dirty="0">
                <a:latin typeface="Georgia"/>
                <a:cs typeface="Georgia"/>
              </a:rPr>
              <a:t>be</a:t>
            </a:r>
            <a:r>
              <a:rPr sz="1100" spc="25" dirty="0">
                <a:latin typeface="Georgia"/>
                <a:cs typeface="Georgia"/>
              </a:rPr>
              <a:t> </a:t>
            </a:r>
            <a:r>
              <a:rPr sz="1100" spc="-25" dirty="0">
                <a:latin typeface="Georgia"/>
                <a:cs typeface="Georgia"/>
              </a:rPr>
              <a:t>found</a:t>
            </a:r>
            <a:r>
              <a:rPr sz="1100" spc="30" dirty="0">
                <a:latin typeface="Georgia"/>
                <a:cs typeface="Georgia"/>
              </a:rPr>
              <a:t> </a:t>
            </a:r>
            <a:r>
              <a:rPr sz="1100" spc="-30" dirty="0">
                <a:latin typeface="Georgia"/>
                <a:cs typeface="Georgia"/>
              </a:rPr>
              <a:t>everywhere</a:t>
            </a:r>
            <a:r>
              <a:rPr sz="1100" spc="25" dirty="0">
                <a:latin typeface="Georgia"/>
                <a:cs typeface="Georgia"/>
              </a:rPr>
              <a:t> </a:t>
            </a:r>
            <a:r>
              <a:rPr sz="1100" dirty="0">
                <a:latin typeface="Georgia"/>
                <a:cs typeface="Georgia"/>
              </a:rPr>
              <a:t>in</a:t>
            </a:r>
            <a:r>
              <a:rPr sz="1100" spc="30" dirty="0">
                <a:latin typeface="Georgia"/>
                <a:cs typeface="Georgia"/>
              </a:rPr>
              <a:t> </a:t>
            </a:r>
            <a:r>
              <a:rPr sz="1100" dirty="0">
                <a:latin typeface="Georgia"/>
                <a:cs typeface="Georgia"/>
              </a:rPr>
              <a:t>data</a:t>
            </a:r>
            <a:r>
              <a:rPr sz="1100" spc="25" dirty="0">
                <a:latin typeface="Georgia"/>
                <a:cs typeface="Georgia"/>
              </a:rPr>
              <a:t> </a:t>
            </a:r>
            <a:r>
              <a:rPr sz="1100" spc="-10" dirty="0">
                <a:latin typeface="Georgia"/>
                <a:cs typeface="Georgia"/>
              </a:rPr>
              <a:t>analysis</a:t>
            </a:r>
            <a:r>
              <a:rPr sz="1100" spc="30" dirty="0">
                <a:latin typeface="Georgia"/>
                <a:cs typeface="Georgia"/>
              </a:rPr>
              <a:t> </a:t>
            </a:r>
            <a:r>
              <a:rPr sz="1100" dirty="0">
                <a:latin typeface="Georgia"/>
                <a:cs typeface="Georgia"/>
              </a:rPr>
              <a:t>and</a:t>
            </a:r>
            <a:r>
              <a:rPr sz="1100" spc="25" dirty="0">
                <a:latin typeface="Georgia"/>
                <a:cs typeface="Georgia"/>
              </a:rPr>
              <a:t> </a:t>
            </a:r>
            <a:r>
              <a:rPr sz="1100" spc="-10" dirty="0">
                <a:latin typeface="Georgia"/>
                <a:cs typeface="Georgia"/>
              </a:rPr>
              <a:t>mining.</a:t>
            </a:r>
            <a:endParaRPr sz="1100">
              <a:latin typeface="Georgia"/>
              <a:cs typeface="Georgia"/>
            </a:endParaRPr>
          </a:p>
        </p:txBody>
      </p:sp>
      <p:sp>
        <p:nvSpPr>
          <p:cNvPr id="5" name="object 5"/>
          <p:cNvSpPr/>
          <p:nvPr/>
        </p:nvSpPr>
        <p:spPr>
          <a:xfrm>
            <a:off x="337972" y="87788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116101"/>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135432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1592541"/>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p:nvPr/>
        </p:nvSpPr>
        <p:spPr>
          <a:xfrm>
            <a:off x="337972" y="183075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0" name="object 10"/>
          <p:cNvSpPr/>
          <p:nvPr/>
        </p:nvSpPr>
        <p:spPr>
          <a:xfrm>
            <a:off x="337972" y="2068982"/>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1" name="object 11"/>
          <p:cNvSpPr/>
          <p:nvPr/>
        </p:nvSpPr>
        <p:spPr>
          <a:xfrm>
            <a:off x="337972" y="230719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2" name="object 12"/>
          <p:cNvSpPr/>
          <p:nvPr/>
        </p:nvSpPr>
        <p:spPr>
          <a:xfrm>
            <a:off x="337972" y="2545422"/>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3" name="object 13"/>
          <p:cNvGrpSpPr/>
          <p:nvPr/>
        </p:nvGrpSpPr>
        <p:grpSpPr>
          <a:xfrm>
            <a:off x="0" y="3121545"/>
            <a:ext cx="5760085" cy="118745"/>
            <a:chOff x="0" y="3121545"/>
            <a:chExt cx="5760085" cy="118745"/>
          </a:xfrm>
        </p:grpSpPr>
        <p:sp>
          <p:nvSpPr>
            <p:cNvPr id="14" name="object 14"/>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5" name="object 15"/>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6" name="object 1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7" name="object 17"/>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8" name="object 18"/>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20</a:t>
            </a:fld>
            <a:r>
              <a:rPr spc="-25" dirty="0"/>
              <a:t> </a:t>
            </a:r>
            <a:r>
              <a:rPr spc="75" dirty="0"/>
              <a:t>/</a:t>
            </a:r>
            <a:r>
              <a:rPr spc="-25" dirty="0"/>
              <a:t> </a:t>
            </a:r>
            <a:r>
              <a:rPr spc="35" dirty="0"/>
              <a:t>135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Outline</a:t>
            </a:r>
          </a:p>
        </p:txBody>
      </p:sp>
      <p:sp>
        <p:nvSpPr>
          <p:cNvPr id="3" name="object 3"/>
          <p:cNvSpPr/>
          <p:nvPr/>
        </p:nvSpPr>
        <p:spPr>
          <a:xfrm>
            <a:off x="171615" y="515531"/>
            <a:ext cx="122555" cy="122555"/>
          </a:xfrm>
          <a:custGeom>
            <a:avLst/>
            <a:gdLst/>
            <a:ahLst/>
            <a:cxnLst/>
            <a:rect l="l" t="t" r="r" b="b"/>
            <a:pathLst>
              <a:path w="122554" h="122554">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4" name="object 4"/>
          <p:cNvSpPr/>
          <p:nvPr/>
        </p:nvSpPr>
        <p:spPr>
          <a:xfrm>
            <a:off x="171615" y="819784"/>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5" name="object 5"/>
          <p:cNvSpPr/>
          <p:nvPr/>
        </p:nvSpPr>
        <p:spPr>
          <a:xfrm>
            <a:off x="171615" y="1124038"/>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6" name="object 6"/>
          <p:cNvSpPr/>
          <p:nvPr/>
        </p:nvSpPr>
        <p:spPr>
          <a:xfrm>
            <a:off x="171615" y="1428280"/>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7" name="object 7"/>
          <p:cNvSpPr/>
          <p:nvPr/>
        </p:nvSpPr>
        <p:spPr>
          <a:xfrm>
            <a:off x="171615" y="1732533"/>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8" name="object 8"/>
          <p:cNvSpPr/>
          <p:nvPr/>
        </p:nvSpPr>
        <p:spPr>
          <a:xfrm>
            <a:off x="171615" y="2036787"/>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9" name="object 9"/>
          <p:cNvSpPr/>
          <p:nvPr/>
        </p:nvSpPr>
        <p:spPr>
          <a:xfrm>
            <a:off x="171615" y="2341041"/>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0" name="object 10"/>
          <p:cNvSpPr/>
          <p:nvPr/>
        </p:nvSpPr>
        <p:spPr>
          <a:xfrm>
            <a:off x="171615" y="2645282"/>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1" name="object 11"/>
          <p:cNvSpPr txBox="1"/>
          <p:nvPr/>
        </p:nvSpPr>
        <p:spPr>
          <a:xfrm>
            <a:off x="188556" y="465047"/>
            <a:ext cx="2435225" cy="2321560"/>
          </a:xfrm>
          <a:prstGeom prst="rect">
            <a:avLst/>
          </a:prstGeom>
        </p:spPr>
        <p:txBody>
          <a:bodyPr vert="horz" wrap="square" lIns="0" tIns="11430" rIns="0" bIns="0" rtlCol="0">
            <a:spAutoFit/>
          </a:bodyPr>
          <a:lstStyle/>
          <a:p>
            <a:pPr marL="178435" indent="-165735">
              <a:lnSpc>
                <a:spcPct val="100000"/>
              </a:lnSpc>
              <a:spcBef>
                <a:spcPts val="90"/>
              </a:spcBef>
              <a:buClr>
                <a:srgbClr val="FFFFFF"/>
              </a:buClr>
              <a:buSzPct val="90909"/>
              <a:buAutoNum type="arabicPlain"/>
              <a:tabLst>
                <a:tab pos="178435" algn="l"/>
              </a:tabLst>
            </a:pPr>
            <a:r>
              <a:rPr sz="1100" dirty="0">
                <a:solidFill>
                  <a:srgbClr val="CCCCCC"/>
                </a:solidFill>
                <a:latin typeface="Georgia"/>
                <a:cs typeface="Georgia"/>
                <a:hlinkClick r:id="rId2" action="ppaction://hlinksldjump"/>
              </a:rPr>
              <a:t>Data</a:t>
            </a:r>
            <a:r>
              <a:rPr sz="1100" spc="90" dirty="0">
                <a:solidFill>
                  <a:srgbClr val="CCCCCC"/>
                </a:solidFill>
                <a:latin typeface="Georgia"/>
                <a:cs typeface="Georgia"/>
                <a:hlinkClick r:id="rId2" action="ppaction://hlinksldjump"/>
              </a:rPr>
              <a:t> </a:t>
            </a:r>
            <a:r>
              <a:rPr sz="1100" spc="-25" dirty="0">
                <a:solidFill>
                  <a:srgbClr val="CCCCCC"/>
                </a:solidFill>
                <a:latin typeface="Georgia"/>
                <a:cs typeface="Georgia"/>
                <a:hlinkClick r:id="rId2" action="ppaction://hlinksldjump"/>
              </a:rPr>
              <a:t>clustering</a:t>
            </a:r>
            <a:r>
              <a:rPr sz="1100" spc="90" dirty="0">
                <a:solidFill>
                  <a:srgbClr val="CCCCCC"/>
                </a:solidFill>
                <a:latin typeface="Georgia"/>
                <a:cs typeface="Georgia"/>
                <a:hlinkClick r:id="rId2" action="ppaction://hlinksldjump"/>
              </a:rPr>
              <a:t> </a:t>
            </a:r>
            <a:r>
              <a:rPr sz="1100" spc="-10" dirty="0">
                <a:solidFill>
                  <a:srgbClr val="CCCCCC"/>
                </a:solidFill>
                <a:latin typeface="Georgia"/>
                <a:cs typeface="Georgia"/>
                <a:hlinkClick r:id="rId2" action="ppaction://hlinksldjump"/>
              </a:rPr>
              <a:t>concepts</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dirty="0">
                <a:latin typeface="Georgia"/>
                <a:cs typeface="Georgia"/>
                <a:hlinkClick r:id="rId3" action="ppaction://hlinksldjump"/>
              </a:rPr>
              <a:t>Data</a:t>
            </a:r>
            <a:r>
              <a:rPr sz="1100" spc="60" dirty="0">
                <a:latin typeface="Georgia"/>
                <a:cs typeface="Georgia"/>
                <a:hlinkClick r:id="rId3" action="ppaction://hlinksldjump"/>
              </a:rPr>
              <a:t> </a:t>
            </a:r>
            <a:r>
              <a:rPr sz="1100" spc="-30" dirty="0">
                <a:latin typeface="Georgia"/>
                <a:cs typeface="Georgia"/>
                <a:hlinkClick r:id="rId3" action="ppaction://hlinksldjump"/>
              </a:rPr>
              <a:t>understanding</a:t>
            </a:r>
            <a:r>
              <a:rPr sz="1100" spc="65" dirty="0">
                <a:latin typeface="Georgia"/>
                <a:cs typeface="Georgia"/>
                <a:hlinkClick r:id="rId3" action="ppaction://hlinksldjump"/>
              </a:rPr>
              <a:t> </a:t>
            </a:r>
            <a:r>
              <a:rPr sz="1100" spc="-25" dirty="0">
                <a:latin typeface="Georgia"/>
                <a:cs typeface="Georgia"/>
                <a:hlinkClick r:id="rId3" action="ppaction://hlinksldjump"/>
              </a:rPr>
              <a:t>before</a:t>
            </a:r>
            <a:r>
              <a:rPr sz="1100" spc="60" dirty="0">
                <a:latin typeface="Georgia"/>
                <a:cs typeface="Georgia"/>
                <a:hlinkClick r:id="rId3" action="ppaction://hlinksldjump"/>
              </a:rPr>
              <a:t> </a:t>
            </a:r>
            <a:r>
              <a:rPr sz="1100" spc="-10" dirty="0">
                <a:latin typeface="Georgia"/>
                <a:cs typeface="Georgia"/>
                <a:hlinkClick r:id="rId3"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0" dirty="0">
                <a:solidFill>
                  <a:srgbClr val="CCCCCC"/>
                </a:solidFill>
                <a:latin typeface="Georgia"/>
                <a:cs typeface="Georgia"/>
                <a:hlinkClick r:id="rId4" action="ppaction://hlinksldjump"/>
              </a:rPr>
              <a:t>Hierarchical</a:t>
            </a:r>
            <a:r>
              <a:rPr sz="1100" spc="30" dirty="0">
                <a:solidFill>
                  <a:srgbClr val="CCCCCC"/>
                </a:solidFill>
                <a:latin typeface="Georgia"/>
                <a:cs typeface="Georgia"/>
                <a:hlinkClick r:id="rId4" action="ppaction://hlinksldjump"/>
              </a:rPr>
              <a:t> </a:t>
            </a:r>
            <a:r>
              <a:rPr sz="1100" spc="-10" dirty="0">
                <a:solidFill>
                  <a:srgbClr val="CCCCCC"/>
                </a:solidFill>
                <a:latin typeface="Georgia"/>
                <a:cs typeface="Georgia"/>
                <a:hlinkClick r:id="rId4"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rId5" action="ppaction://hlinksldjump"/>
              </a:rPr>
              <a:t>Partitioning</a:t>
            </a:r>
            <a:r>
              <a:rPr sz="1100" spc="20" dirty="0">
                <a:solidFill>
                  <a:srgbClr val="CCCCCC"/>
                </a:solidFill>
                <a:latin typeface="Georgia"/>
                <a:cs typeface="Georgia"/>
                <a:hlinkClick r:id="rId5" action="ppaction://hlinksldjump"/>
              </a:rPr>
              <a:t> </a:t>
            </a:r>
            <a:r>
              <a:rPr sz="1100" spc="-10" dirty="0">
                <a:solidFill>
                  <a:srgbClr val="CCCCCC"/>
                </a:solidFill>
                <a:latin typeface="Georgia"/>
                <a:cs typeface="Georgia"/>
                <a:hlinkClick r:id="rId5"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rId6" action="ppaction://hlinksldjump"/>
              </a:rPr>
              <a:t>Distribution–based</a:t>
            </a:r>
            <a:r>
              <a:rPr sz="1100" spc="145" dirty="0">
                <a:solidFill>
                  <a:srgbClr val="CCCCCC"/>
                </a:solidFill>
                <a:latin typeface="Georgia"/>
                <a:cs typeface="Georgia"/>
                <a:hlinkClick r:id="rId6" action="ppaction://hlinksldjump"/>
              </a:rPr>
              <a:t> </a:t>
            </a:r>
            <a:r>
              <a:rPr sz="1100" spc="-10" dirty="0">
                <a:solidFill>
                  <a:srgbClr val="CCCCCC"/>
                </a:solidFill>
                <a:latin typeface="Georgia"/>
                <a:cs typeface="Georgia"/>
                <a:hlinkClick r:id="rId6" action="ppaction://hlinksldjump"/>
              </a:rPr>
              <a:t>clustering</a:t>
            </a:r>
            <a:endParaRPr sz="1100">
              <a:latin typeface="Georgia"/>
              <a:cs typeface="Georgia"/>
            </a:endParaRPr>
          </a:p>
          <a:p>
            <a:pPr marL="178435" indent="-165735">
              <a:lnSpc>
                <a:spcPct val="100000"/>
              </a:lnSpc>
              <a:spcBef>
                <a:spcPts val="1080"/>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Density–based</a:t>
            </a:r>
            <a:r>
              <a:rPr sz="1100" spc="7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 action="ppaction://noaction"/>
              </a:rPr>
              <a:t>Clustering</a:t>
            </a:r>
            <a:r>
              <a:rPr sz="1100" spc="20" dirty="0">
                <a:solidFill>
                  <a:srgbClr val="CCCCCC"/>
                </a:solidFill>
                <a:latin typeface="Georgia"/>
                <a:cs typeface="Georgia"/>
                <a:hlinkClick r:id="" action="ppaction://noaction"/>
              </a:rPr>
              <a:t> </a:t>
            </a:r>
            <a:r>
              <a:rPr sz="1100" spc="-20" dirty="0">
                <a:solidFill>
                  <a:srgbClr val="CCCCCC"/>
                </a:solidFill>
                <a:latin typeface="Georgia"/>
                <a:cs typeface="Georgia"/>
                <a:hlinkClick r:id="" action="ppaction://noaction"/>
              </a:rPr>
              <a:t>validation</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evaluation</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References</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5"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Summary</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7" action="ppaction://hlinksldjump"/>
              </a:rPr>
              <a:t>data</a:t>
            </a:r>
            <a:r>
              <a:rPr sz="600" spc="110" dirty="0">
                <a:solidFill>
                  <a:srgbClr val="7A0000"/>
                </a:solidFill>
                <a:latin typeface="Georgia"/>
                <a:cs typeface="Georgia"/>
                <a:hlinkClick r:id="rId7" action="ppaction://hlinksldjump"/>
              </a:rPr>
              <a:t> </a:t>
            </a:r>
            <a:r>
              <a:rPr sz="600" spc="-10" dirty="0">
                <a:solidFill>
                  <a:srgbClr val="7A0000"/>
                </a:solidFill>
                <a:latin typeface="Georgia"/>
                <a:cs typeface="Georgia"/>
                <a:hlinkClick r:id="rId7"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21</a:t>
            </a:fld>
            <a:r>
              <a:rPr spc="-25" dirty="0"/>
              <a:t> </a:t>
            </a:r>
            <a:r>
              <a:rPr spc="75" dirty="0"/>
              <a:t>/</a:t>
            </a:r>
            <a:r>
              <a:rPr spc="-25" dirty="0"/>
              <a:t> </a:t>
            </a:r>
            <a:r>
              <a:rPr spc="35" dirty="0"/>
              <a:t>135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Understanding</a:t>
            </a:r>
            <a:r>
              <a:rPr spc="180" dirty="0"/>
              <a:t> </a:t>
            </a:r>
            <a:r>
              <a:rPr spc="10" dirty="0"/>
              <a:t>of</a:t>
            </a:r>
            <a:r>
              <a:rPr spc="185" dirty="0"/>
              <a:t> </a:t>
            </a:r>
            <a:r>
              <a:rPr spc="70" dirty="0"/>
              <a:t>data</a:t>
            </a:r>
            <a:r>
              <a:rPr spc="180" dirty="0"/>
              <a:t> </a:t>
            </a:r>
            <a:r>
              <a:rPr spc="-10" dirty="0"/>
              <a:t>distribution</a:t>
            </a:r>
          </a:p>
        </p:txBody>
      </p:sp>
      <p:pic>
        <p:nvPicPr>
          <p:cNvPr id="3" name="object 3"/>
          <p:cNvPicPr/>
          <p:nvPr/>
        </p:nvPicPr>
        <p:blipFill>
          <a:blip r:embed="rId2" cstate="print"/>
          <a:stretch>
            <a:fillRect/>
          </a:stretch>
        </p:blipFill>
        <p:spPr>
          <a:xfrm>
            <a:off x="502546" y="669924"/>
            <a:ext cx="4771522" cy="1531071"/>
          </a:xfrm>
          <a:prstGeom prst="rect">
            <a:avLst/>
          </a:prstGeom>
        </p:spPr>
      </p:pic>
      <p:sp>
        <p:nvSpPr>
          <p:cNvPr id="4" name="object 4"/>
          <p:cNvSpPr/>
          <p:nvPr/>
        </p:nvSpPr>
        <p:spPr>
          <a:xfrm>
            <a:off x="337972" y="245022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454177" y="2286658"/>
            <a:ext cx="4628515" cy="502284"/>
          </a:xfrm>
          <a:prstGeom prst="rect">
            <a:avLst/>
          </a:prstGeom>
        </p:spPr>
        <p:txBody>
          <a:bodyPr vert="horz" wrap="square" lIns="0" tIns="12700" rIns="0" bIns="0" rtlCol="0">
            <a:spAutoFit/>
          </a:bodyPr>
          <a:lstStyle/>
          <a:p>
            <a:pPr marL="12700" marR="5080">
              <a:lnSpc>
                <a:spcPct val="142100"/>
              </a:lnSpc>
              <a:spcBef>
                <a:spcPts val="100"/>
              </a:spcBef>
            </a:pPr>
            <a:r>
              <a:rPr sz="1100" dirty="0">
                <a:latin typeface="Georgia"/>
                <a:cs typeface="Georgia"/>
              </a:rPr>
              <a:t>Do</a:t>
            </a:r>
            <a:r>
              <a:rPr sz="1100" spc="25" dirty="0">
                <a:latin typeface="Georgia"/>
                <a:cs typeface="Georgia"/>
              </a:rPr>
              <a:t> </a:t>
            </a:r>
            <a:r>
              <a:rPr sz="1100" dirty="0">
                <a:latin typeface="Georgia"/>
                <a:cs typeface="Georgia"/>
              </a:rPr>
              <a:t>the</a:t>
            </a:r>
            <a:r>
              <a:rPr sz="1100" spc="25" dirty="0">
                <a:latin typeface="Georgia"/>
                <a:cs typeface="Georgia"/>
              </a:rPr>
              <a:t> </a:t>
            </a:r>
            <a:r>
              <a:rPr sz="1100" dirty="0">
                <a:latin typeface="Georgia"/>
                <a:cs typeface="Georgia"/>
              </a:rPr>
              <a:t>data</a:t>
            </a:r>
            <a:r>
              <a:rPr sz="1100" spc="25" dirty="0">
                <a:latin typeface="Georgia"/>
                <a:cs typeface="Georgia"/>
              </a:rPr>
              <a:t> </a:t>
            </a:r>
            <a:r>
              <a:rPr sz="1100" spc="-10" dirty="0">
                <a:latin typeface="Georgia"/>
                <a:cs typeface="Georgia"/>
              </a:rPr>
              <a:t>have</a:t>
            </a:r>
            <a:r>
              <a:rPr sz="1100" spc="30" dirty="0">
                <a:latin typeface="Georgia"/>
                <a:cs typeface="Georgia"/>
              </a:rPr>
              <a:t> </a:t>
            </a:r>
            <a:r>
              <a:rPr sz="1100" spc="-10" dirty="0">
                <a:latin typeface="Georgia"/>
                <a:cs typeface="Georgia"/>
              </a:rPr>
              <a:t>cluster</a:t>
            </a:r>
            <a:r>
              <a:rPr sz="1100" spc="25" dirty="0">
                <a:latin typeface="Georgia"/>
                <a:cs typeface="Georgia"/>
              </a:rPr>
              <a:t> </a:t>
            </a:r>
            <a:r>
              <a:rPr sz="1100" spc="-10" dirty="0">
                <a:latin typeface="Georgia"/>
                <a:cs typeface="Georgia"/>
              </a:rPr>
              <a:t>structures?</a:t>
            </a:r>
            <a:r>
              <a:rPr sz="1100" spc="120" dirty="0">
                <a:latin typeface="Georgia"/>
                <a:cs typeface="Georgia"/>
              </a:rPr>
              <a:t> </a:t>
            </a:r>
            <a:r>
              <a:rPr sz="1100" dirty="0">
                <a:latin typeface="Georgia"/>
                <a:cs typeface="Georgia"/>
              </a:rPr>
              <a:t>Is</a:t>
            </a:r>
            <a:r>
              <a:rPr sz="1100" spc="25" dirty="0">
                <a:latin typeface="Georgia"/>
                <a:cs typeface="Georgia"/>
              </a:rPr>
              <a:t> </a:t>
            </a:r>
            <a:r>
              <a:rPr sz="1100" dirty="0">
                <a:latin typeface="Georgia"/>
                <a:cs typeface="Georgia"/>
              </a:rPr>
              <a:t>the</a:t>
            </a:r>
            <a:r>
              <a:rPr sz="1100" spc="25" dirty="0">
                <a:latin typeface="Georgia"/>
                <a:cs typeface="Georgia"/>
              </a:rPr>
              <a:t> </a:t>
            </a:r>
            <a:r>
              <a:rPr sz="1100" dirty="0">
                <a:latin typeface="Georgia"/>
                <a:cs typeface="Georgia"/>
              </a:rPr>
              <a:t>data</a:t>
            </a:r>
            <a:r>
              <a:rPr sz="1100" spc="30" dirty="0">
                <a:latin typeface="Georgia"/>
                <a:cs typeface="Georgia"/>
              </a:rPr>
              <a:t> </a:t>
            </a:r>
            <a:r>
              <a:rPr sz="1100" spc="-20" dirty="0">
                <a:latin typeface="Georgia"/>
                <a:cs typeface="Georgia"/>
              </a:rPr>
              <a:t>clusterable</a:t>
            </a:r>
            <a:r>
              <a:rPr sz="1100" spc="25" dirty="0">
                <a:latin typeface="Georgia"/>
                <a:cs typeface="Georgia"/>
              </a:rPr>
              <a:t> </a:t>
            </a:r>
            <a:r>
              <a:rPr sz="1100" spc="-10" dirty="0">
                <a:latin typeface="Georgia"/>
                <a:cs typeface="Georgia"/>
              </a:rPr>
              <a:t>(clusterability)? </a:t>
            </a:r>
            <a:r>
              <a:rPr sz="1100" spc="-35" dirty="0">
                <a:latin typeface="Georgia"/>
                <a:cs typeface="Georgia"/>
              </a:rPr>
              <a:t>How</a:t>
            </a:r>
            <a:r>
              <a:rPr sz="1100" spc="30" dirty="0">
                <a:latin typeface="Georgia"/>
                <a:cs typeface="Georgia"/>
              </a:rPr>
              <a:t> </a:t>
            </a:r>
            <a:r>
              <a:rPr sz="1100" dirty="0">
                <a:latin typeface="Georgia"/>
                <a:cs typeface="Georgia"/>
              </a:rPr>
              <a:t>to</a:t>
            </a:r>
            <a:r>
              <a:rPr sz="1100" spc="30" dirty="0">
                <a:latin typeface="Georgia"/>
                <a:cs typeface="Georgia"/>
              </a:rPr>
              <a:t> </a:t>
            </a:r>
            <a:r>
              <a:rPr sz="1100" spc="-30" dirty="0">
                <a:latin typeface="Georgia"/>
                <a:cs typeface="Georgia"/>
              </a:rPr>
              <a:t>assess</a:t>
            </a:r>
            <a:r>
              <a:rPr sz="1100" spc="35" dirty="0">
                <a:latin typeface="Georgia"/>
                <a:cs typeface="Georgia"/>
              </a:rPr>
              <a:t> </a:t>
            </a:r>
            <a:r>
              <a:rPr sz="1100" dirty="0">
                <a:latin typeface="Georgia"/>
                <a:cs typeface="Georgia"/>
              </a:rPr>
              <a:t>the</a:t>
            </a:r>
            <a:r>
              <a:rPr sz="1100" spc="30" dirty="0">
                <a:latin typeface="Georgia"/>
                <a:cs typeface="Georgia"/>
              </a:rPr>
              <a:t> </a:t>
            </a:r>
            <a:r>
              <a:rPr sz="1100" dirty="0">
                <a:latin typeface="Georgia"/>
                <a:cs typeface="Georgia"/>
              </a:rPr>
              <a:t>data</a:t>
            </a:r>
            <a:r>
              <a:rPr sz="1100" spc="30" dirty="0">
                <a:latin typeface="Georgia"/>
                <a:cs typeface="Georgia"/>
              </a:rPr>
              <a:t> </a:t>
            </a:r>
            <a:r>
              <a:rPr sz="1100" spc="-20" dirty="0">
                <a:latin typeface="Georgia"/>
                <a:cs typeface="Georgia"/>
              </a:rPr>
              <a:t>distribution</a:t>
            </a:r>
            <a:r>
              <a:rPr sz="1100" spc="35" dirty="0">
                <a:latin typeface="Georgia"/>
                <a:cs typeface="Georgia"/>
              </a:rPr>
              <a:t> </a:t>
            </a:r>
            <a:r>
              <a:rPr sz="1100" spc="-10" dirty="0">
                <a:latin typeface="Georgia"/>
                <a:cs typeface="Georgia"/>
              </a:rPr>
              <a:t>mathematically</a:t>
            </a:r>
            <a:r>
              <a:rPr sz="1100" spc="30" dirty="0">
                <a:latin typeface="Georgia"/>
                <a:cs typeface="Georgia"/>
              </a:rPr>
              <a:t> </a:t>
            </a:r>
            <a:r>
              <a:rPr sz="1100" dirty="0">
                <a:latin typeface="Georgia"/>
                <a:cs typeface="Georgia"/>
              </a:rPr>
              <a:t>and</a:t>
            </a:r>
            <a:r>
              <a:rPr sz="1100" spc="35" dirty="0">
                <a:latin typeface="Georgia"/>
                <a:cs typeface="Georgia"/>
              </a:rPr>
              <a:t> </a:t>
            </a:r>
            <a:r>
              <a:rPr sz="1100" spc="-10" dirty="0">
                <a:latin typeface="Georgia"/>
                <a:cs typeface="Georgia"/>
              </a:rPr>
              <a:t>automatically?</a:t>
            </a:r>
            <a:endParaRPr sz="1100">
              <a:latin typeface="Georgia"/>
              <a:cs typeface="Georgia"/>
            </a:endParaRPr>
          </a:p>
        </p:txBody>
      </p:sp>
      <p:sp>
        <p:nvSpPr>
          <p:cNvPr id="6" name="object 6"/>
          <p:cNvSpPr/>
          <p:nvPr/>
        </p:nvSpPr>
        <p:spPr>
          <a:xfrm>
            <a:off x="337972" y="268843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7" name="object 7"/>
          <p:cNvGrpSpPr/>
          <p:nvPr/>
        </p:nvGrpSpPr>
        <p:grpSpPr>
          <a:xfrm>
            <a:off x="0" y="3121545"/>
            <a:ext cx="5760085" cy="118745"/>
            <a:chOff x="0" y="3121545"/>
            <a:chExt cx="5760085" cy="118745"/>
          </a:xfrm>
        </p:grpSpPr>
        <p:sp>
          <p:nvSpPr>
            <p:cNvPr id="8" name="object 8"/>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9" name="object 9"/>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0" name="object 10"/>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1" name="object 11"/>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2" name="object 12"/>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22</a:t>
            </a:fld>
            <a:r>
              <a:rPr spc="-25" dirty="0"/>
              <a:t> </a:t>
            </a:r>
            <a:r>
              <a:rPr spc="75" dirty="0"/>
              <a:t>/</a:t>
            </a:r>
            <a:r>
              <a:rPr spc="-25" dirty="0"/>
              <a:t> </a:t>
            </a:r>
            <a:r>
              <a:rPr spc="35" dirty="0"/>
              <a:t>135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7145" rIns="0" bIns="0" rtlCol="0">
            <a:spAutoFit/>
          </a:bodyPr>
          <a:lstStyle/>
          <a:p>
            <a:pPr marL="12700">
              <a:lnSpc>
                <a:spcPct val="100000"/>
              </a:lnSpc>
              <a:spcBef>
                <a:spcPts val="135"/>
              </a:spcBef>
            </a:pPr>
            <a:r>
              <a:rPr dirty="0"/>
              <a:t>Clustering</a:t>
            </a:r>
            <a:r>
              <a:rPr spc="360" dirty="0"/>
              <a:t> </a:t>
            </a:r>
            <a:r>
              <a:rPr dirty="0"/>
              <a:t>tendency</a:t>
            </a:r>
            <a:r>
              <a:rPr spc="370" dirty="0"/>
              <a:t> </a:t>
            </a:r>
            <a:r>
              <a:rPr dirty="0"/>
              <a:t>identification</a:t>
            </a:r>
            <a:r>
              <a:rPr spc="365" dirty="0"/>
              <a:t> </a:t>
            </a:r>
            <a:r>
              <a:rPr spc="-10" dirty="0"/>
              <a:t>methods</a:t>
            </a:r>
          </a:p>
        </p:txBody>
      </p:sp>
      <p:sp>
        <p:nvSpPr>
          <p:cNvPr id="3" name="object 3"/>
          <p:cNvSpPr/>
          <p:nvPr/>
        </p:nvSpPr>
        <p:spPr>
          <a:xfrm>
            <a:off x="337972" y="117461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1011044"/>
            <a:ext cx="2492375" cy="978535"/>
          </a:xfrm>
          <a:prstGeom prst="rect">
            <a:avLst/>
          </a:prstGeom>
        </p:spPr>
        <p:txBody>
          <a:bodyPr vert="horz" wrap="square" lIns="0" tIns="12700" rIns="0" bIns="0" rtlCol="0">
            <a:spAutoFit/>
          </a:bodyPr>
          <a:lstStyle/>
          <a:p>
            <a:pPr marL="12700" marR="5080">
              <a:lnSpc>
                <a:spcPct val="142100"/>
              </a:lnSpc>
              <a:spcBef>
                <a:spcPts val="100"/>
              </a:spcBef>
            </a:pPr>
            <a:r>
              <a:rPr sz="1100" dirty="0">
                <a:latin typeface="Georgia"/>
                <a:cs typeface="Georgia"/>
              </a:rPr>
              <a:t>Spatial</a:t>
            </a:r>
            <a:r>
              <a:rPr sz="1100" spc="40" dirty="0">
                <a:latin typeface="Georgia"/>
                <a:cs typeface="Georgia"/>
              </a:rPr>
              <a:t> </a:t>
            </a:r>
            <a:r>
              <a:rPr sz="1100" spc="-25" dirty="0">
                <a:latin typeface="Georgia"/>
                <a:cs typeface="Georgia"/>
              </a:rPr>
              <a:t>histogram</a:t>
            </a:r>
            <a:r>
              <a:rPr sz="1100" spc="45" dirty="0">
                <a:latin typeface="Georgia"/>
                <a:cs typeface="Georgia"/>
              </a:rPr>
              <a:t> </a:t>
            </a:r>
            <a:r>
              <a:rPr sz="1100" spc="-35" dirty="0">
                <a:latin typeface="Georgia"/>
                <a:cs typeface="Georgia"/>
              </a:rPr>
              <a:t>(cell–based</a:t>
            </a:r>
            <a:r>
              <a:rPr sz="1100" spc="45" dirty="0">
                <a:latin typeface="Georgia"/>
                <a:cs typeface="Georgia"/>
              </a:rPr>
              <a:t> </a:t>
            </a:r>
            <a:r>
              <a:rPr sz="1100" spc="-25" dirty="0">
                <a:latin typeface="Georgia"/>
                <a:cs typeface="Georgia"/>
              </a:rPr>
              <a:t>histogram) </a:t>
            </a:r>
            <a:r>
              <a:rPr sz="1100" spc="-30" dirty="0">
                <a:latin typeface="Georgia"/>
                <a:cs typeface="Georgia"/>
              </a:rPr>
              <a:t>Cell–based</a:t>
            </a:r>
            <a:r>
              <a:rPr sz="1100" spc="45" dirty="0">
                <a:latin typeface="Georgia"/>
                <a:cs typeface="Georgia"/>
              </a:rPr>
              <a:t> </a:t>
            </a:r>
            <a:r>
              <a:rPr sz="1100" spc="-10" dirty="0">
                <a:latin typeface="Georgia"/>
                <a:cs typeface="Georgia"/>
              </a:rPr>
              <a:t>entropy</a:t>
            </a:r>
            <a:endParaRPr sz="1100">
              <a:latin typeface="Georgia"/>
              <a:cs typeface="Georgia"/>
            </a:endParaRPr>
          </a:p>
          <a:p>
            <a:pPr marL="12700" marR="1201420">
              <a:lnSpc>
                <a:spcPct val="142100"/>
              </a:lnSpc>
            </a:pPr>
            <a:r>
              <a:rPr sz="1100" spc="-10" dirty="0">
                <a:latin typeface="Georgia"/>
                <a:cs typeface="Georgia"/>
              </a:rPr>
              <a:t>Distance</a:t>
            </a:r>
            <a:r>
              <a:rPr sz="1100" spc="-5" dirty="0">
                <a:latin typeface="Georgia"/>
                <a:cs typeface="Georgia"/>
              </a:rPr>
              <a:t> </a:t>
            </a:r>
            <a:r>
              <a:rPr sz="1100" spc="-25" dirty="0">
                <a:latin typeface="Georgia"/>
                <a:cs typeface="Georgia"/>
              </a:rPr>
              <a:t>distribution </a:t>
            </a:r>
            <a:r>
              <a:rPr sz="1100" spc="-35" dirty="0">
                <a:latin typeface="Georgia"/>
                <a:cs typeface="Georgia"/>
              </a:rPr>
              <a:t>Hopkins</a:t>
            </a:r>
            <a:r>
              <a:rPr sz="1100" spc="15" dirty="0">
                <a:latin typeface="Georgia"/>
                <a:cs typeface="Georgia"/>
              </a:rPr>
              <a:t> </a:t>
            </a:r>
            <a:r>
              <a:rPr sz="1100" spc="-10" dirty="0">
                <a:latin typeface="Georgia"/>
                <a:cs typeface="Georgia"/>
              </a:rPr>
              <a:t>statistic</a:t>
            </a:r>
            <a:endParaRPr sz="1100">
              <a:latin typeface="Georgia"/>
              <a:cs typeface="Georgia"/>
            </a:endParaRPr>
          </a:p>
        </p:txBody>
      </p:sp>
      <p:sp>
        <p:nvSpPr>
          <p:cNvPr id="5" name="object 5"/>
          <p:cNvSpPr/>
          <p:nvPr/>
        </p:nvSpPr>
        <p:spPr>
          <a:xfrm>
            <a:off x="337972" y="1412824"/>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651050"/>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188926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8" name="object 8"/>
          <p:cNvGrpSpPr/>
          <p:nvPr/>
        </p:nvGrpSpPr>
        <p:grpSpPr>
          <a:xfrm>
            <a:off x="0" y="3121545"/>
            <a:ext cx="5760085" cy="118745"/>
            <a:chOff x="0" y="3121545"/>
            <a:chExt cx="5760085" cy="118745"/>
          </a:xfrm>
        </p:grpSpPr>
        <p:sp>
          <p:nvSpPr>
            <p:cNvPr id="9" name="object 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0" name="object 1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2" name="object 1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23</a:t>
            </a:fld>
            <a:r>
              <a:rPr spc="-25" dirty="0"/>
              <a:t> </a:t>
            </a:r>
            <a:r>
              <a:rPr spc="75" dirty="0"/>
              <a:t>/</a:t>
            </a:r>
            <a:r>
              <a:rPr spc="-25" dirty="0"/>
              <a:t> </a:t>
            </a:r>
            <a:r>
              <a:rPr spc="35" dirty="0"/>
              <a:t>135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305" dirty="0"/>
              <a:t> </a:t>
            </a:r>
            <a:r>
              <a:rPr dirty="0"/>
              <a:t>cluster</a:t>
            </a:r>
            <a:r>
              <a:rPr spc="305" dirty="0"/>
              <a:t> </a:t>
            </a:r>
            <a:r>
              <a:rPr dirty="0"/>
              <a:t>tendency</a:t>
            </a:r>
            <a:r>
              <a:rPr spc="310" dirty="0"/>
              <a:t> </a:t>
            </a:r>
            <a:r>
              <a:rPr dirty="0"/>
              <a:t>with</a:t>
            </a:r>
            <a:r>
              <a:rPr spc="305" dirty="0"/>
              <a:t> </a:t>
            </a:r>
            <a:r>
              <a:rPr dirty="0"/>
              <a:t>spatial</a:t>
            </a:r>
            <a:r>
              <a:rPr spc="315" dirty="0"/>
              <a:t> </a:t>
            </a:r>
            <a:r>
              <a:rPr spc="-10" dirty="0"/>
              <a:t>histogram</a:t>
            </a:r>
          </a:p>
        </p:txBody>
      </p:sp>
      <p:sp>
        <p:nvSpPr>
          <p:cNvPr id="3" name="object 3"/>
          <p:cNvSpPr/>
          <p:nvPr/>
        </p:nvSpPr>
        <p:spPr>
          <a:xfrm>
            <a:off x="337972" y="64201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03377" y="550404"/>
            <a:ext cx="5194935" cy="1426845"/>
          </a:xfrm>
          <a:prstGeom prst="rect">
            <a:avLst/>
          </a:prstGeom>
        </p:spPr>
        <p:txBody>
          <a:bodyPr vert="horz" wrap="square" lIns="0" tIns="11430" rIns="0" bIns="0" rtlCol="0">
            <a:spAutoFit/>
          </a:bodyPr>
          <a:lstStyle/>
          <a:p>
            <a:pPr marL="63500">
              <a:lnSpc>
                <a:spcPts val="1235"/>
              </a:lnSpc>
              <a:spcBef>
                <a:spcPts val="90"/>
              </a:spcBef>
            </a:pPr>
            <a:r>
              <a:rPr sz="1100" spc="70" dirty="0">
                <a:latin typeface="Georgia"/>
                <a:cs typeface="Georgia"/>
              </a:rPr>
              <a:t>A</a:t>
            </a:r>
            <a:r>
              <a:rPr sz="1100" spc="40" dirty="0">
                <a:latin typeface="Georgia"/>
                <a:cs typeface="Georgia"/>
              </a:rPr>
              <a:t> </a:t>
            </a:r>
            <a:r>
              <a:rPr sz="1100" spc="-30" dirty="0">
                <a:latin typeface="Georgia"/>
                <a:cs typeface="Georgia"/>
              </a:rPr>
              <a:t>simple</a:t>
            </a:r>
            <a:r>
              <a:rPr sz="1100" spc="40" dirty="0">
                <a:latin typeface="Georgia"/>
                <a:cs typeface="Georgia"/>
              </a:rPr>
              <a:t> </a:t>
            </a:r>
            <a:r>
              <a:rPr sz="1100" spc="-25" dirty="0">
                <a:latin typeface="Georgia"/>
                <a:cs typeface="Georgia"/>
              </a:rPr>
              <a:t>approach</a:t>
            </a:r>
            <a:r>
              <a:rPr sz="1100" spc="40" dirty="0">
                <a:latin typeface="Georgia"/>
                <a:cs typeface="Georgia"/>
              </a:rPr>
              <a:t> </a:t>
            </a:r>
            <a:r>
              <a:rPr sz="1100" dirty="0">
                <a:latin typeface="Georgia"/>
                <a:cs typeface="Georgia"/>
              </a:rPr>
              <a:t>is</a:t>
            </a:r>
            <a:r>
              <a:rPr sz="1100" spc="45" dirty="0">
                <a:latin typeface="Georgia"/>
                <a:cs typeface="Georgia"/>
              </a:rPr>
              <a:t> </a:t>
            </a:r>
            <a:r>
              <a:rPr sz="1100" dirty="0">
                <a:latin typeface="Georgia"/>
                <a:cs typeface="Georgia"/>
              </a:rPr>
              <a:t>to</a:t>
            </a:r>
            <a:r>
              <a:rPr sz="1100" spc="40" dirty="0">
                <a:latin typeface="Georgia"/>
                <a:cs typeface="Georgia"/>
              </a:rPr>
              <a:t> </a:t>
            </a:r>
            <a:r>
              <a:rPr sz="1100" spc="-10" dirty="0">
                <a:latin typeface="Georgia"/>
                <a:cs typeface="Georgia"/>
              </a:rPr>
              <a:t>contrast</a:t>
            </a:r>
            <a:r>
              <a:rPr sz="1100" spc="40" dirty="0">
                <a:latin typeface="Georgia"/>
                <a:cs typeface="Georgia"/>
              </a:rPr>
              <a:t> </a:t>
            </a:r>
            <a:r>
              <a:rPr sz="1100" dirty="0">
                <a:latin typeface="Georgia"/>
                <a:cs typeface="Georgia"/>
              </a:rPr>
              <a:t>the</a:t>
            </a:r>
            <a:r>
              <a:rPr sz="1100" spc="45" dirty="0">
                <a:latin typeface="Georgia"/>
                <a:cs typeface="Georgia"/>
              </a:rPr>
              <a:t> </a:t>
            </a:r>
            <a:r>
              <a:rPr sz="1100" i="1" spc="-45" dirty="0">
                <a:latin typeface="Calibri"/>
                <a:cs typeface="Calibri"/>
              </a:rPr>
              <a:t>d</a:t>
            </a:r>
            <a:r>
              <a:rPr sz="1100" spc="-45" dirty="0">
                <a:latin typeface="Georgia"/>
                <a:cs typeface="Georgia"/>
              </a:rPr>
              <a:t>–dimensional</a:t>
            </a:r>
            <a:r>
              <a:rPr sz="1100" spc="40" dirty="0">
                <a:latin typeface="Georgia"/>
                <a:cs typeface="Georgia"/>
              </a:rPr>
              <a:t> </a:t>
            </a:r>
            <a:r>
              <a:rPr sz="1100" dirty="0">
                <a:latin typeface="Georgia"/>
                <a:cs typeface="Georgia"/>
              </a:rPr>
              <a:t>spatial</a:t>
            </a:r>
            <a:r>
              <a:rPr sz="1100" spc="40" dirty="0">
                <a:latin typeface="Georgia"/>
                <a:cs typeface="Georgia"/>
              </a:rPr>
              <a:t> </a:t>
            </a:r>
            <a:r>
              <a:rPr sz="1100" spc="-25" dirty="0">
                <a:latin typeface="Georgia"/>
                <a:cs typeface="Georgia"/>
              </a:rPr>
              <a:t>histogram</a:t>
            </a:r>
            <a:r>
              <a:rPr sz="1100" spc="45" dirty="0">
                <a:latin typeface="Georgia"/>
                <a:cs typeface="Georgia"/>
              </a:rPr>
              <a:t> </a:t>
            </a:r>
            <a:r>
              <a:rPr sz="1100" dirty="0">
                <a:latin typeface="Georgia"/>
                <a:cs typeface="Georgia"/>
              </a:rPr>
              <a:t>of</a:t>
            </a:r>
            <a:r>
              <a:rPr sz="1100" spc="40" dirty="0">
                <a:latin typeface="Georgia"/>
                <a:cs typeface="Georgia"/>
              </a:rPr>
              <a:t> </a:t>
            </a:r>
            <a:r>
              <a:rPr sz="1100" dirty="0">
                <a:latin typeface="Georgia"/>
                <a:cs typeface="Georgia"/>
              </a:rPr>
              <a:t>the</a:t>
            </a:r>
            <a:r>
              <a:rPr sz="1100" spc="40" dirty="0">
                <a:latin typeface="Georgia"/>
                <a:cs typeface="Georgia"/>
              </a:rPr>
              <a:t> </a:t>
            </a:r>
            <a:r>
              <a:rPr sz="1100" spc="-10" dirty="0">
                <a:latin typeface="Georgia"/>
                <a:cs typeface="Georgia"/>
              </a:rPr>
              <a:t>dataset</a:t>
            </a:r>
            <a:endParaRPr sz="1100">
              <a:latin typeface="Georgia"/>
              <a:cs typeface="Georgia"/>
            </a:endParaRPr>
          </a:p>
          <a:p>
            <a:pPr marL="63500">
              <a:lnSpc>
                <a:spcPts val="1235"/>
              </a:lnSpc>
            </a:pPr>
            <a:r>
              <a:rPr sz="1100" spc="114" dirty="0">
                <a:latin typeface="Cambria"/>
                <a:cs typeface="Cambria"/>
              </a:rPr>
              <a:t>D</a:t>
            </a:r>
            <a:r>
              <a:rPr sz="1100" spc="75" dirty="0">
                <a:latin typeface="Cambria"/>
                <a:cs typeface="Cambria"/>
              </a:rPr>
              <a:t> </a:t>
            </a:r>
            <a:r>
              <a:rPr sz="1100" dirty="0">
                <a:latin typeface="Georgia"/>
                <a:cs typeface="Georgia"/>
              </a:rPr>
              <a:t>with</a:t>
            </a:r>
            <a:r>
              <a:rPr sz="1100" spc="35" dirty="0">
                <a:latin typeface="Georgia"/>
                <a:cs typeface="Georgia"/>
              </a:rPr>
              <a:t> </a:t>
            </a:r>
            <a:r>
              <a:rPr sz="1100" dirty="0">
                <a:latin typeface="Georgia"/>
                <a:cs typeface="Georgia"/>
              </a:rPr>
              <a:t>the</a:t>
            </a:r>
            <a:r>
              <a:rPr sz="1100" spc="35" dirty="0">
                <a:latin typeface="Georgia"/>
                <a:cs typeface="Georgia"/>
              </a:rPr>
              <a:t> </a:t>
            </a:r>
            <a:r>
              <a:rPr sz="1100" spc="-25" dirty="0">
                <a:latin typeface="Georgia"/>
                <a:cs typeface="Georgia"/>
              </a:rPr>
              <a:t>histogram</a:t>
            </a:r>
            <a:r>
              <a:rPr sz="1100" spc="35" dirty="0">
                <a:latin typeface="Georgia"/>
                <a:cs typeface="Georgia"/>
              </a:rPr>
              <a:t> </a:t>
            </a:r>
            <a:r>
              <a:rPr sz="1100" spc="-25" dirty="0">
                <a:latin typeface="Georgia"/>
                <a:cs typeface="Georgia"/>
              </a:rPr>
              <a:t>from</a:t>
            </a:r>
            <a:r>
              <a:rPr sz="1100" spc="35" dirty="0">
                <a:latin typeface="Georgia"/>
                <a:cs typeface="Georgia"/>
              </a:rPr>
              <a:t> </a:t>
            </a:r>
            <a:r>
              <a:rPr sz="1100" spc="-30" dirty="0">
                <a:latin typeface="Georgia"/>
                <a:cs typeface="Georgia"/>
              </a:rPr>
              <a:t>samples</a:t>
            </a:r>
            <a:r>
              <a:rPr sz="1100" spc="35" dirty="0">
                <a:latin typeface="Georgia"/>
                <a:cs typeface="Georgia"/>
              </a:rPr>
              <a:t> </a:t>
            </a:r>
            <a:r>
              <a:rPr sz="1100" spc="-25" dirty="0">
                <a:latin typeface="Georgia"/>
                <a:cs typeface="Georgia"/>
              </a:rPr>
              <a:t>generated</a:t>
            </a:r>
            <a:r>
              <a:rPr sz="1100" spc="35" dirty="0">
                <a:latin typeface="Georgia"/>
                <a:cs typeface="Georgia"/>
              </a:rPr>
              <a:t> </a:t>
            </a:r>
            <a:r>
              <a:rPr sz="1100" spc="-20" dirty="0">
                <a:latin typeface="Georgia"/>
                <a:cs typeface="Georgia"/>
              </a:rPr>
              <a:t>randomly</a:t>
            </a:r>
            <a:r>
              <a:rPr sz="1100" spc="30" dirty="0">
                <a:latin typeface="Georgia"/>
                <a:cs typeface="Georgia"/>
              </a:rPr>
              <a:t> </a:t>
            </a:r>
            <a:r>
              <a:rPr sz="1100" dirty="0">
                <a:latin typeface="Georgia"/>
                <a:cs typeface="Georgia"/>
              </a:rPr>
              <a:t>in</a:t>
            </a:r>
            <a:r>
              <a:rPr sz="1100" spc="35" dirty="0">
                <a:latin typeface="Georgia"/>
                <a:cs typeface="Georgia"/>
              </a:rPr>
              <a:t> </a:t>
            </a:r>
            <a:r>
              <a:rPr sz="1100" dirty="0">
                <a:latin typeface="Georgia"/>
                <a:cs typeface="Georgia"/>
              </a:rPr>
              <a:t>the</a:t>
            </a:r>
            <a:r>
              <a:rPr sz="1100" spc="35" dirty="0">
                <a:latin typeface="Georgia"/>
                <a:cs typeface="Georgia"/>
              </a:rPr>
              <a:t> </a:t>
            </a:r>
            <a:r>
              <a:rPr sz="1100" spc="-25" dirty="0">
                <a:latin typeface="Georgia"/>
                <a:cs typeface="Georgia"/>
              </a:rPr>
              <a:t>same</a:t>
            </a:r>
            <a:r>
              <a:rPr sz="1100" spc="35" dirty="0">
                <a:latin typeface="Georgia"/>
                <a:cs typeface="Georgia"/>
              </a:rPr>
              <a:t> </a:t>
            </a:r>
            <a:r>
              <a:rPr sz="1100" dirty="0">
                <a:latin typeface="Georgia"/>
                <a:cs typeface="Georgia"/>
              </a:rPr>
              <a:t>data</a:t>
            </a:r>
            <a:r>
              <a:rPr sz="1100" spc="35" dirty="0">
                <a:latin typeface="Georgia"/>
                <a:cs typeface="Georgia"/>
              </a:rPr>
              <a:t> </a:t>
            </a:r>
            <a:r>
              <a:rPr sz="1100" spc="-10" dirty="0">
                <a:latin typeface="Georgia"/>
                <a:cs typeface="Georgia"/>
              </a:rPr>
              <a:t>space.</a:t>
            </a:r>
            <a:endParaRPr sz="1100">
              <a:latin typeface="Georgia"/>
              <a:cs typeface="Georgia"/>
            </a:endParaRPr>
          </a:p>
          <a:p>
            <a:pPr marL="63500" marR="167640" algn="just">
              <a:lnSpc>
                <a:spcPct val="95400"/>
              </a:lnSpc>
              <a:spcBef>
                <a:spcPts val="615"/>
              </a:spcBef>
            </a:pPr>
            <a:r>
              <a:rPr sz="1100" dirty="0">
                <a:latin typeface="Georgia"/>
                <a:cs typeface="Georgia"/>
              </a:rPr>
              <a:t>Let</a:t>
            </a:r>
            <a:r>
              <a:rPr sz="1100" spc="-70" dirty="0">
                <a:latin typeface="Georgia"/>
                <a:cs typeface="Georgia"/>
              </a:rPr>
              <a:t> </a:t>
            </a:r>
            <a:r>
              <a:rPr sz="1100" i="1" spc="130" dirty="0">
                <a:latin typeface="Calibri"/>
                <a:cs typeface="Calibri"/>
              </a:rPr>
              <a:t>X</a:t>
            </a:r>
            <a:r>
              <a:rPr sz="1200" spc="195" baseline="-10416" dirty="0">
                <a:latin typeface="Calibri"/>
                <a:cs typeface="Calibri"/>
              </a:rPr>
              <a:t>1</a:t>
            </a:r>
            <a:r>
              <a:rPr sz="1100" i="1" spc="130" dirty="0">
                <a:latin typeface="Calibri"/>
                <a:cs typeface="Calibri"/>
              </a:rPr>
              <a:t>,</a:t>
            </a:r>
            <a:r>
              <a:rPr sz="1100" i="1" spc="-60" dirty="0">
                <a:latin typeface="Calibri"/>
                <a:cs typeface="Calibri"/>
              </a:rPr>
              <a:t> </a:t>
            </a:r>
            <a:r>
              <a:rPr sz="1100" i="1" spc="145" dirty="0">
                <a:latin typeface="Calibri"/>
                <a:cs typeface="Calibri"/>
              </a:rPr>
              <a:t>X</a:t>
            </a:r>
            <a:r>
              <a:rPr sz="1200" spc="217" baseline="-10416" dirty="0">
                <a:latin typeface="Calibri"/>
                <a:cs typeface="Calibri"/>
              </a:rPr>
              <a:t>2</a:t>
            </a:r>
            <a:r>
              <a:rPr sz="1100" i="1" spc="145" dirty="0">
                <a:latin typeface="Calibri"/>
                <a:cs typeface="Calibri"/>
              </a:rPr>
              <a:t>,.</a:t>
            </a:r>
            <a:r>
              <a:rPr sz="1100" i="1" spc="-65" dirty="0">
                <a:latin typeface="Calibri"/>
                <a:cs typeface="Calibri"/>
              </a:rPr>
              <a:t> </a:t>
            </a:r>
            <a:r>
              <a:rPr sz="1100" i="1" spc="140" dirty="0">
                <a:latin typeface="Calibri"/>
                <a:cs typeface="Calibri"/>
              </a:rPr>
              <a:t>..,</a:t>
            </a:r>
            <a:r>
              <a:rPr sz="1100" i="1" spc="-60" dirty="0">
                <a:latin typeface="Calibri"/>
                <a:cs typeface="Calibri"/>
              </a:rPr>
              <a:t> </a:t>
            </a:r>
            <a:r>
              <a:rPr sz="1100" i="1" spc="170" dirty="0">
                <a:latin typeface="Calibri"/>
                <a:cs typeface="Calibri"/>
              </a:rPr>
              <a:t>X</a:t>
            </a:r>
            <a:r>
              <a:rPr sz="1200" i="1" spc="254" baseline="-13888" dirty="0">
                <a:latin typeface="Calibri"/>
                <a:cs typeface="Calibri"/>
              </a:rPr>
              <a:t>d</a:t>
            </a:r>
            <a:r>
              <a:rPr sz="1200" i="1" spc="187" baseline="-13888" dirty="0">
                <a:latin typeface="Calibri"/>
                <a:cs typeface="Calibri"/>
              </a:rPr>
              <a:t> </a:t>
            </a:r>
            <a:r>
              <a:rPr sz="1100" spc="-20" dirty="0">
                <a:latin typeface="Georgia"/>
                <a:cs typeface="Georgia"/>
              </a:rPr>
              <a:t>denote</a:t>
            </a:r>
            <a:r>
              <a:rPr sz="1100" spc="25" dirty="0">
                <a:latin typeface="Georgia"/>
                <a:cs typeface="Georgia"/>
              </a:rPr>
              <a:t> </a:t>
            </a:r>
            <a:r>
              <a:rPr sz="1100" dirty="0">
                <a:latin typeface="Georgia"/>
                <a:cs typeface="Georgia"/>
              </a:rPr>
              <a:t>the</a:t>
            </a:r>
            <a:r>
              <a:rPr sz="1100" spc="30" dirty="0">
                <a:latin typeface="Georgia"/>
                <a:cs typeface="Georgia"/>
              </a:rPr>
              <a:t> </a:t>
            </a:r>
            <a:r>
              <a:rPr sz="1100" dirty="0">
                <a:latin typeface="Georgia"/>
                <a:cs typeface="Georgia"/>
              </a:rPr>
              <a:t>d</a:t>
            </a:r>
            <a:r>
              <a:rPr sz="1100" spc="30" dirty="0">
                <a:latin typeface="Georgia"/>
                <a:cs typeface="Georgia"/>
              </a:rPr>
              <a:t> </a:t>
            </a:r>
            <a:r>
              <a:rPr sz="1100" spc="-25" dirty="0">
                <a:latin typeface="Georgia"/>
                <a:cs typeface="Georgia"/>
              </a:rPr>
              <a:t>dimensions.</a:t>
            </a:r>
            <a:r>
              <a:rPr sz="1100" spc="120" dirty="0">
                <a:latin typeface="Georgia"/>
                <a:cs typeface="Georgia"/>
              </a:rPr>
              <a:t> </a:t>
            </a:r>
            <a:r>
              <a:rPr sz="1100" dirty="0">
                <a:latin typeface="Georgia"/>
                <a:cs typeface="Georgia"/>
              </a:rPr>
              <a:t>Given</a:t>
            </a:r>
            <a:r>
              <a:rPr sz="1100" spc="30" dirty="0">
                <a:latin typeface="Georgia"/>
                <a:cs typeface="Georgia"/>
              </a:rPr>
              <a:t> </a:t>
            </a:r>
            <a:r>
              <a:rPr sz="1100" i="1" dirty="0">
                <a:latin typeface="Calibri"/>
                <a:cs typeface="Calibri"/>
              </a:rPr>
              <a:t>b</a:t>
            </a:r>
            <a:r>
              <a:rPr sz="1100" dirty="0">
                <a:latin typeface="Georgia"/>
                <a:cs typeface="Georgia"/>
              </a:rPr>
              <a:t>,</a:t>
            </a:r>
            <a:r>
              <a:rPr sz="1100" spc="30" dirty="0">
                <a:latin typeface="Georgia"/>
                <a:cs typeface="Georgia"/>
              </a:rPr>
              <a:t> </a:t>
            </a:r>
            <a:r>
              <a:rPr sz="1100" dirty="0">
                <a:latin typeface="Georgia"/>
                <a:cs typeface="Georgia"/>
              </a:rPr>
              <a:t>the</a:t>
            </a:r>
            <a:r>
              <a:rPr sz="1100" spc="30" dirty="0">
                <a:latin typeface="Georgia"/>
                <a:cs typeface="Georgia"/>
              </a:rPr>
              <a:t> </a:t>
            </a:r>
            <a:r>
              <a:rPr sz="1100" spc="-30" dirty="0">
                <a:latin typeface="Georgia"/>
                <a:cs typeface="Georgia"/>
              </a:rPr>
              <a:t>number</a:t>
            </a:r>
            <a:r>
              <a:rPr sz="1100" spc="25" dirty="0">
                <a:latin typeface="Georgia"/>
                <a:cs typeface="Georgia"/>
              </a:rPr>
              <a:t> </a:t>
            </a:r>
            <a:r>
              <a:rPr sz="1100" dirty="0">
                <a:latin typeface="Georgia"/>
                <a:cs typeface="Georgia"/>
              </a:rPr>
              <a:t>of</a:t>
            </a:r>
            <a:r>
              <a:rPr sz="1100" spc="30" dirty="0">
                <a:latin typeface="Georgia"/>
                <a:cs typeface="Georgia"/>
              </a:rPr>
              <a:t> </a:t>
            </a:r>
            <a:r>
              <a:rPr sz="1100" dirty="0">
                <a:latin typeface="Georgia"/>
                <a:cs typeface="Georgia"/>
              </a:rPr>
              <a:t>bins</a:t>
            </a:r>
            <a:r>
              <a:rPr sz="1100" spc="30" dirty="0">
                <a:latin typeface="Georgia"/>
                <a:cs typeface="Georgia"/>
              </a:rPr>
              <a:t> </a:t>
            </a:r>
            <a:r>
              <a:rPr sz="1100" dirty="0">
                <a:latin typeface="Georgia"/>
                <a:cs typeface="Georgia"/>
              </a:rPr>
              <a:t>for</a:t>
            </a:r>
            <a:r>
              <a:rPr sz="1100" spc="30" dirty="0">
                <a:latin typeface="Georgia"/>
                <a:cs typeface="Georgia"/>
              </a:rPr>
              <a:t> </a:t>
            </a:r>
            <a:r>
              <a:rPr sz="1100" spc="-20" dirty="0">
                <a:latin typeface="Georgia"/>
                <a:cs typeface="Georgia"/>
              </a:rPr>
              <a:t>each </a:t>
            </a:r>
            <a:r>
              <a:rPr sz="1100" spc="-35" dirty="0">
                <a:latin typeface="Georgia"/>
                <a:cs typeface="Georgia"/>
              </a:rPr>
              <a:t>dimension,</a:t>
            </a:r>
            <a:r>
              <a:rPr sz="1100" spc="-10" dirty="0">
                <a:latin typeface="Georgia"/>
                <a:cs typeface="Georgia"/>
              </a:rPr>
              <a:t> </a:t>
            </a:r>
            <a:r>
              <a:rPr sz="1100" dirty="0">
                <a:latin typeface="Georgia"/>
                <a:cs typeface="Georgia"/>
              </a:rPr>
              <a:t>we</a:t>
            </a:r>
            <a:r>
              <a:rPr sz="1100" spc="-10" dirty="0">
                <a:latin typeface="Georgia"/>
                <a:cs typeface="Georgia"/>
              </a:rPr>
              <a:t> divide</a:t>
            </a:r>
            <a:r>
              <a:rPr sz="1100" spc="-5" dirty="0">
                <a:latin typeface="Georgia"/>
                <a:cs typeface="Georgia"/>
              </a:rPr>
              <a:t> </a:t>
            </a:r>
            <a:r>
              <a:rPr sz="1100" dirty="0">
                <a:latin typeface="Georgia"/>
                <a:cs typeface="Georgia"/>
              </a:rPr>
              <a:t>each</a:t>
            </a:r>
            <a:r>
              <a:rPr sz="1100" spc="-10" dirty="0">
                <a:latin typeface="Georgia"/>
                <a:cs typeface="Georgia"/>
              </a:rPr>
              <a:t> </a:t>
            </a:r>
            <a:r>
              <a:rPr sz="1100" spc="-35" dirty="0">
                <a:latin typeface="Georgia"/>
                <a:cs typeface="Georgia"/>
              </a:rPr>
              <a:t>dimension</a:t>
            </a:r>
            <a:r>
              <a:rPr sz="1100" spc="-10" dirty="0">
                <a:latin typeface="Georgia"/>
                <a:cs typeface="Georgia"/>
              </a:rPr>
              <a:t> </a:t>
            </a:r>
            <a:r>
              <a:rPr sz="1100" i="1" spc="240" dirty="0">
                <a:latin typeface="Calibri"/>
                <a:cs typeface="Calibri"/>
              </a:rPr>
              <a:t>X</a:t>
            </a:r>
            <a:r>
              <a:rPr sz="1200" i="1" spc="359" baseline="-10416" dirty="0">
                <a:latin typeface="Calibri"/>
                <a:cs typeface="Calibri"/>
              </a:rPr>
              <a:t>j</a:t>
            </a:r>
            <a:r>
              <a:rPr sz="1200" i="1" spc="209" baseline="-10416" dirty="0">
                <a:latin typeface="Calibri"/>
                <a:cs typeface="Calibri"/>
              </a:rPr>
              <a:t> </a:t>
            </a:r>
            <a:r>
              <a:rPr sz="1100" dirty="0">
                <a:latin typeface="Georgia"/>
                <a:cs typeface="Georgia"/>
              </a:rPr>
              <a:t>into</a:t>
            </a:r>
            <a:r>
              <a:rPr sz="1100" spc="-10" dirty="0">
                <a:latin typeface="Georgia"/>
                <a:cs typeface="Georgia"/>
              </a:rPr>
              <a:t> </a:t>
            </a:r>
            <a:r>
              <a:rPr sz="1100" i="1" dirty="0">
                <a:latin typeface="Calibri"/>
                <a:cs typeface="Calibri"/>
              </a:rPr>
              <a:t>b</a:t>
            </a:r>
            <a:r>
              <a:rPr sz="1100" i="1" spc="10" dirty="0">
                <a:latin typeface="Calibri"/>
                <a:cs typeface="Calibri"/>
              </a:rPr>
              <a:t> </a:t>
            </a:r>
            <a:r>
              <a:rPr sz="1100" spc="-35" dirty="0">
                <a:latin typeface="Georgia"/>
                <a:cs typeface="Georgia"/>
              </a:rPr>
              <a:t>equi–width</a:t>
            </a:r>
            <a:r>
              <a:rPr sz="1100" spc="-10" dirty="0">
                <a:latin typeface="Georgia"/>
                <a:cs typeface="Georgia"/>
              </a:rPr>
              <a:t> </a:t>
            </a:r>
            <a:r>
              <a:rPr sz="1100" dirty="0">
                <a:latin typeface="Georgia"/>
                <a:cs typeface="Georgia"/>
              </a:rPr>
              <a:t>bins,</a:t>
            </a:r>
            <a:r>
              <a:rPr sz="1100" spc="-5" dirty="0">
                <a:latin typeface="Georgia"/>
                <a:cs typeface="Georgia"/>
              </a:rPr>
              <a:t> </a:t>
            </a:r>
            <a:r>
              <a:rPr sz="1100" dirty="0">
                <a:latin typeface="Georgia"/>
                <a:cs typeface="Georgia"/>
              </a:rPr>
              <a:t>and</a:t>
            </a:r>
            <a:r>
              <a:rPr sz="1100" spc="-10" dirty="0">
                <a:latin typeface="Georgia"/>
                <a:cs typeface="Georgia"/>
              </a:rPr>
              <a:t> </a:t>
            </a:r>
            <a:r>
              <a:rPr sz="1100" dirty="0">
                <a:latin typeface="Georgia"/>
                <a:cs typeface="Georgia"/>
              </a:rPr>
              <a:t>simply</a:t>
            </a:r>
            <a:r>
              <a:rPr sz="1100" spc="-10" dirty="0">
                <a:latin typeface="Georgia"/>
                <a:cs typeface="Georgia"/>
              </a:rPr>
              <a:t> count how</a:t>
            </a:r>
            <a:r>
              <a:rPr sz="1100" spc="5" dirty="0">
                <a:latin typeface="Georgia"/>
                <a:cs typeface="Georgia"/>
              </a:rPr>
              <a:t> </a:t>
            </a:r>
            <a:r>
              <a:rPr sz="1100" spc="-10" dirty="0">
                <a:latin typeface="Georgia"/>
                <a:cs typeface="Georgia"/>
              </a:rPr>
              <a:t>many</a:t>
            </a:r>
            <a:r>
              <a:rPr sz="1100" spc="10" dirty="0">
                <a:latin typeface="Georgia"/>
                <a:cs typeface="Georgia"/>
              </a:rPr>
              <a:t> </a:t>
            </a:r>
            <a:r>
              <a:rPr sz="1100" spc="-10" dirty="0">
                <a:latin typeface="Georgia"/>
                <a:cs typeface="Georgia"/>
              </a:rPr>
              <a:t>points</a:t>
            </a:r>
            <a:r>
              <a:rPr sz="1100" spc="10" dirty="0">
                <a:latin typeface="Georgia"/>
                <a:cs typeface="Georgia"/>
              </a:rPr>
              <a:t> </a:t>
            </a:r>
            <a:r>
              <a:rPr sz="1100" dirty="0">
                <a:latin typeface="Georgia"/>
                <a:cs typeface="Georgia"/>
              </a:rPr>
              <a:t>lie</a:t>
            </a:r>
            <a:r>
              <a:rPr sz="1100" spc="10" dirty="0">
                <a:latin typeface="Georgia"/>
                <a:cs typeface="Georgia"/>
              </a:rPr>
              <a:t> </a:t>
            </a:r>
            <a:r>
              <a:rPr sz="1100" dirty="0">
                <a:latin typeface="Georgia"/>
                <a:cs typeface="Georgia"/>
              </a:rPr>
              <a:t>in</a:t>
            </a:r>
            <a:r>
              <a:rPr sz="1100" spc="10" dirty="0">
                <a:latin typeface="Georgia"/>
                <a:cs typeface="Georgia"/>
              </a:rPr>
              <a:t> </a:t>
            </a:r>
            <a:r>
              <a:rPr sz="1100" spc="-10" dirty="0">
                <a:latin typeface="Georgia"/>
                <a:cs typeface="Georgia"/>
              </a:rPr>
              <a:t>each</a:t>
            </a:r>
            <a:r>
              <a:rPr sz="1100" spc="10" dirty="0">
                <a:latin typeface="Georgia"/>
                <a:cs typeface="Georgia"/>
              </a:rPr>
              <a:t> </a:t>
            </a:r>
            <a:r>
              <a:rPr sz="1100" dirty="0">
                <a:latin typeface="Georgia"/>
                <a:cs typeface="Georgia"/>
              </a:rPr>
              <a:t>of</a:t>
            </a:r>
            <a:r>
              <a:rPr sz="1100" spc="10" dirty="0">
                <a:latin typeface="Georgia"/>
                <a:cs typeface="Georgia"/>
              </a:rPr>
              <a:t> </a:t>
            </a:r>
            <a:r>
              <a:rPr sz="1100" dirty="0">
                <a:latin typeface="Georgia"/>
                <a:cs typeface="Georgia"/>
              </a:rPr>
              <a:t>the</a:t>
            </a:r>
            <a:r>
              <a:rPr sz="1100" spc="10" dirty="0">
                <a:latin typeface="Georgia"/>
                <a:cs typeface="Georgia"/>
              </a:rPr>
              <a:t> </a:t>
            </a:r>
            <a:r>
              <a:rPr sz="1100" i="1" dirty="0">
                <a:latin typeface="Calibri"/>
                <a:cs typeface="Calibri"/>
              </a:rPr>
              <a:t>b</a:t>
            </a:r>
            <a:r>
              <a:rPr sz="1200" i="1" baseline="27777" dirty="0">
                <a:latin typeface="Calibri"/>
                <a:cs typeface="Calibri"/>
              </a:rPr>
              <a:t>d</a:t>
            </a:r>
            <a:r>
              <a:rPr sz="1200" i="1" spc="187" baseline="27777" dirty="0">
                <a:latin typeface="Calibri"/>
                <a:cs typeface="Calibri"/>
              </a:rPr>
              <a:t> </a:t>
            </a:r>
            <a:r>
              <a:rPr sz="1100" i="1" spc="-45" dirty="0">
                <a:latin typeface="Calibri"/>
                <a:cs typeface="Calibri"/>
              </a:rPr>
              <a:t>d</a:t>
            </a:r>
            <a:r>
              <a:rPr sz="1100" spc="-45" dirty="0">
                <a:latin typeface="Georgia"/>
                <a:cs typeface="Georgia"/>
              </a:rPr>
              <a:t>–dimensional</a:t>
            </a:r>
            <a:r>
              <a:rPr sz="1100" spc="10" dirty="0">
                <a:latin typeface="Georgia"/>
                <a:cs typeface="Georgia"/>
              </a:rPr>
              <a:t> </a:t>
            </a:r>
            <a:r>
              <a:rPr sz="1100" spc="-10" dirty="0">
                <a:latin typeface="Georgia"/>
                <a:cs typeface="Georgia"/>
              </a:rPr>
              <a:t>cells.</a:t>
            </a:r>
            <a:endParaRPr sz="1100">
              <a:latin typeface="Georgia"/>
              <a:cs typeface="Georgia"/>
            </a:endParaRPr>
          </a:p>
          <a:p>
            <a:pPr marL="63500" marR="208279" algn="just">
              <a:lnSpc>
                <a:spcPts val="1150"/>
              </a:lnSpc>
              <a:spcBef>
                <a:spcPts val="735"/>
              </a:spcBef>
            </a:pPr>
            <a:r>
              <a:rPr sz="1100" spc="-20" dirty="0">
                <a:latin typeface="Georgia"/>
                <a:cs typeface="Georgia"/>
              </a:rPr>
              <a:t>From</a:t>
            </a:r>
            <a:r>
              <a:rPr sz="1100" spc="-10" dirty="0">
                <a:latin typeface="Georgia"/>
                <a:cs typeface="Georgia"/>
              </a:rPr>
              <a:t> these </a:t>
            </a:r>
            <a:r>
              <a:rPr sz="1100" i="1" spc="-35" dirty="0">
                <a:latin typeface="Calibri"/>
                <a:cs typeface="Calibri"/>
              </a:rPr>
              <a:t>d</a:t>
            </a:r>
            <a:r>
              <a:rPr sz="1100" spc="-35" dirty="0">
                <a:latin typeface="Georgia"/>
                <a:cs typeface="Georgia"/>
              </a:rPr>
              <a:t>–histograms,</a:t>
            </a:r>
            <a:r>
              <a:rPr sz="1100" spc="-10" dirty="0">
                <a:latin typeface="Georgia"/>
                <a:cs typeface="Georgia"/>
              </a:rPr>
              <a:t> </a:t>
            </a:r>
            <a:r>
              <a:rPr sz="1100" dirty="0">
                <a:latin typeface="Georgia"/>
                <a:cs typeface="Georgia"/>
              </a:rPr>
              <a:t>we</a:t>
            </a:r>
            <a:r>
              <a:rPr sz="1100" spc="-10" dirty="0">
                <a:latin typeface="Georgia"/>
                <a:cs typeface="Georgia"/>
              </a:rPr>
              <a:t> </a:t>
            </a:r>
            <a:r>
              <a:rPr sz="1100" dirty="0">
                <a:latin typeface="Georgia"/>
                <a:cs typeface="Georgia"/>
              </a:rPr>
              <a:t>can</a:t>
            </a:r>
            <a:r>
              <a:rPr sz="1100" spc="-10" dirty="0">
                <a:latin typeface="Georgia"/>
                <a:cs typeface="Georgia"/>
              </a:rPr>
              <a:t> </a:t>
            </a:r>
            <a:r>
              <a:rPr sz="1100" dirty="0">
                <a:latin typeface="Georgia"/>
                <a:cs typeface="Georgia"/>
              </a:rPr>
              <a:t>obtain</a:t>
            </a:r>
            <a:r>
              <a:rPr sz="1100" spc="-10" dirty="0">
                <a:latin typeface="Georgia"/>
                <a:cs typeface="Georgia"/>
              </a:rPr>
              <a:t> </a:t>
            </a:r>
            <a:r>
              <a:rPr sz="1100" dirty="0">
                <a:latin typeface="Georgia"/>
                <a:cs typeface="Georgia"/>
              </a:rPr>
              <a:t>the</a:t>
            </a:r>
            <a:r>
              <a:rPr sz="1100" spc="-10" dirty="0">
                <a:latin typeface="Georgia"/>
                <a:cs typeface="Georgia"/>
              </a:rPr>
              <a:t> </a:t>
            </a:r>
            <a:r>
              <a:rPr sz="1100" b="1" spc="-35" dirty="0">
                <a:latin typeface="Georgia"/>
                <a:cs typeface="Georgia"/>
              </a:rPr>
              <a:t>empirical</a:t>
            </a:r>
            <a:r>
              <a:rPr sz="1100" b="1" spc="15" dirty="0">
                <a:latin typeface="Georgia"/>
                <a:cs typeface="Georgia"/>
              </a:rPr>
              <a:t> </a:t>
            </a:r>
            <a:r>
              <a:rPr sz="1100" b="1" dirty="0">
                <a:latin typeface="Georgia"/>
                <a:cs typeface="Georgia"/>
              </a:rPr>
              <a:t>joint</a:t>
            </a:r>
            <a:r>
              <a:rPr sz="1100" b="1" spc="15" dirty="0">
                <a:latin typeface="Georgia"/>
                <a:cs typeface="Georgia"/>
              </a:rPr>
              <a:t> </a:t>
            </a:r>
            <a:r>
              <a:rPr sz="1100" b="1" spc="-25" dirty="0">
                <a:latin typeface="Georgia"/>
                <a:cs typeface="Georgia"/>
              </a:rPr>
              <a:t>probability</a:t>
            </a:r>
            <a:r>
              <a:rPr sz="1100" b="1" spc="15" dirty="0">
                <a:latin typeface="Georgia"/>
                <a:cs typeface="Georgia"/>
              </a:rPr>
              <a:t> </a:t>
            </a:r>
            <a:r>
              <a:rPr sz="1100" b="1" spc="-20" dirty="0">
                <a:latin typeface="Georgia"/>
                <a:cs typeface="Georgia"/>
              </a:rPr>
              <a:t>mass </a:t>
            </a:r>
            <a:r>
              <a:rPr sz="1100" b="1" spc="-35" dirty="0">
                <a:latin typeface="Georgia"/>
                <a:cs typeface="Georgia"/>
              </a:rPr>
              <a:t>function</a:t>
            </a:r>
            <a:r>
              <a:rPr sz="1100" b="1" spc="20" dirty="0">
                <a:latin typeface="Georgia"/>
                <a:cs typeface="Georgia"/>
              </a:rPr>
              <a:t> </a:t>
            </a:r>
            <a:r>
              <a:rPr sz="1100" dirty="0">
                <a:latin typeface="Georgia"/>
                <a:cs typeface="Georgia"/>
              </a:rPr>
              <a:t>(EPMF)</a:t>
            </a:r>
            <a:r>
              <a:rPr sz="1100" spc="35" dirty="0">
                <a:latin typeface="Georgia"/>
                <a:cs typeface="Georgia"/>
              </a:rPr>
              <a:t> </a:t>
            </a:r>
            <a:r>
              <a:rPr sz="1100" dirty="0">
                <a:latin typeface="Georgia"/>
                <a:cs typeface="Georgia"/>
              </a:rPr>
              <a:t>for</a:t>
            </a:r>
            <a:r>
              <a:rPr sz="1100" spc="35"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dataset</a:t>
            </a:r>
            <a:r>
              <a:rPr sz="1100" spc="35" dirty="0">
                <a:latin typeface="Georgia"/>
                <a:cs typeface="Georgia"/>
              </a:rPr>
              <a:t> </a:t>
            </a:r>
            <a:r>
              <a:rPr sz="1100" spc="70" dirty="0">
                <a:latin typeface="Cambria"/>
                <a:cs typeface="Cambria"/>
              </a:rPr>
              <a:t>D</a:t>
            </a:r>
            <a:r>
              <a:rPr sz="1100" spc="70" dirty="0">
                <a:latin typeface="Georgia"/>
                <a:cs typeface="Georgia"/>
              </a:rPr>
              <a:t>,</a:t>
            </a:r>
            <a:r>
              <a:rPr sz="1100" spc="35" dirty="0">
                <a:latin typeface="Georgia"/>
                <a:cs typeface="Georgia"/>
              </a:rPr>
              <a:t> </a:t>
            </a:r>
            <a:r>
              <a:rPr sz="1100" spc="-10" dirty="0">
                <a:latin typeface="Georgia"/>
                <a:cs typeface="Georgia"/>
              </a:rPr>
              <a:t>which</a:t>
            </a:r>
            <a:r>
              <a:rPr sz="1100" spc="35" dirty="0">
                <a:latin typeface="Georgia"/>
                <a:cs typeface="Georgia"/>
              </a:rPr>
              <a:t> </a:t>
            </a:r>
            <a:r>
              <a:rPr sz="1100" dirty="0">
                <a:latin typeface="Georgia"/>
                <a:cs typeface="Georgia"/>
              </a:rPr>
              <a:t>is</a:t>
            </a:r>
            <a:r>
              <a:rPr sz="1100" spc="35" dirty="0">
                <a:latin typeface="Georgia"/>
                <a:cs typeface="Georgia"/>
              </a:rPr>
              <a:t> </a:t>
            </a:r>
            <a:r>
              <a:rPr sz="1100" dirty="0">
                <a:latin typeface="Georgia"/>
                <a:cs typeface="Georgia"/>
              </a:rPr>
              <a:t>an</a:t>
            </a:r>
            <a:r>
              <a:rPr sz="1100" spc="35" dirty="0">
                <a:latin typeface="Georgia"/>
                <a:cs typeface="Georgia"/>
              </a:rPr>
              <a:t> </a:t>
            </a:r>
            <a:r>
              <a:rPr sz="1100" spc="-25" dirty="0">
                <a:latin typeface="Georgia"/>
                <a:cs typeface="Georgia"/>
              </a:rPr>
              <a:t>approximation</a:t>
            </a:r>
            <a:r>
              <a:rPr sz="1100" spc="35" dirty="0">
                <a:latin typeface="Georgia"/>
                <a:cs typeface="Georgia"/>
              </a:rPr>
              <a:t> </a:t>
            </a:r>
            <a:r>
              <a:rPr sz="1100" dirty="0">
                <a:latin typeface="Georgia"/>
                <a:cs typeface="Georgia"/>
              </a:rPr>
              <a:t>of</a:t>
            </a:r>
            <a:r>
              <a:rPr sz="1100" spc="35"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unknown </a:t>
            </a:r>
            <a:r>
              <a:rPr sz="1100" dirty="0">
                <a:latin typeface="Georgia"/>
                <a:cs typeface="Georgia"/>
              </a:rPr>
              <a:t>joint</a:t>
            </a:r>
            <a:r>
              <a:rPr sz="1100" spc="30" dirty="0">
                <a:latin typeface="Georgia"/>
                <a:cs typeface="Georgia"/>
              </a:rPr>
              <a:t> </a:t>
            </a:r>
            <a:r>
              <a:rPr sz="1100" spc="-10" dirty="0">
                <a:latin typeface="Georgia"/>
                <a:cs typeface="Georgia"/>
              </a:rPr>
              <a:t>probability</a:t>
            </a:r>
            <a:r>
              <a:rPr sz="1100" spc="30" dirty="0">
                <a:latin typeface="Georgia"/>
                <a:cs typeface="Georgia"/>
              </a:rPr>
              <a:t> </a:t>
            </a:r>
            <a:r>
              <a:rPr sz="1100" spc="-10" dirty="0">
                <a:latin typeface="Georgia"/>
                <a:cs typeface="Georgia"/>
              </a:rPr>
              <a:t>density</a:t>
            </a:r>
            <a:r>
              <a:rPr sz="1100" spc="35" dirty="0">
                <a:latin typeface="Georgia"/>
                <a:cs typeface="Georgia"/>
              </a:rPr>
              <a:t> </a:t>
            </a:r>
            <a:r>
              <a:rPr sz="1100" spc="-10" dirty="0">
                <a:latin typeface="Georgia"/>
                <a:cs typeface="Georgia"/>
              </a:rPr>
              <a:t>function.</a:t>
            </a:r>
            <a:r>
              <a:rPr sz="1100" spc="125" dirty="0">
                <a:latin typeface="Georgia"/>
                <a:cs typeface="Georgia"/>
              </a:rPr>
              <a:t> </a:t>
            </a:r>
            <a:r>
              <a:rPr sz="1100" dirty="0">
                <a:latin typeface="Georgia"/>
                <a:cs typeface="Georgia"/>
              </a:rPr>
              <a:t>The</a:t>
            </a:r>
            <a:r>
              <a:rPr sz="1100" spc="30" dirty="0">
                <a:latin typeface="Georgia"/>
                <a:cs typeface="Georgia"/>
              </a:rPr>
              <a:t> </a:t>
            </a:r>
            <a:r>
              <a:rPr sz="1100" dirty="0">
                <a:latin typeface="Georgia"/>
                <a:cs typeface="Georgia"/>
              </a:rPr>
              <a:t>EPMF</a:t>
            </a:r>
            <a:r>
              <a:rPr sz="1100" spc="35" dirty="0">
                <a:latin typeface="Georgia"/>
                <a:cs typeface="Georgia"/>
              </a:rPr>
              <a:t> </a:t>
            </a:r>
            <a:r>
              <a:rPr sz="1100" dirty="0">
                <a:latin typeface="Georgia"/>
                <a:cs typeface="Georgia"/>
              </a:rPr>
              <a:t>is</a:t>
            </a:r>
            <a:r>
              <a:rPr sz="1100" spc="30" dirty="0">
                <a:latin typeface="Georgia"/>
                <a:cs typeface="Georgia"/>
              </a:rPr>
              <a:t> </a:t>
            </a:r>
            <a:r>
              <a:rPr sz="1100" spc="-10" dirty="0">
                <a:latin typeface="Georgia"/>
                <a:cs typeface="Georgia"/>
              </a:rPr>
              <a:t>given</a:t>
            </a:r>
            <a:r>
              <a:rPr sz="1100" spc="30" dirty="0">
                <a:latin typeface="Georgia"/>
                <a:cs typeface="Georgia"/>
              </a:rPr>
              <a:t> </a:t>
            </a:r>
            <a:r>
              <a:rPr sz="1100" spc="-25" dirty="0">
                <a:latin typeface="Georgia"/>
                <a:cs typeface="Georgia"/>
              </a:rPr>
              <a:t>as</a:t>
            </a:r>
            <a:endParaRPr sz="1100">
              <a:latin typeface="Georgia"/>
              <a:cs typeface="Georgia"/>
            </a:endParaRPr>
          </a:p>
        </p:txBody>
      </p:sp>
      <p:sp>
        <p:nvSpPr>
          <p:cNvPr id="5" name="object 5"/>
          <p:cNvSpPr/>
          <p:nvPr/>
        </p:nvSpPr>
        <p:spPr>
          <a:xfrm>
            <a:off x="337972" y="102650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58466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3" name="object 13"/>
          <p:cNvSpPr txBox="1"/>
          <p:nvPr/>
        </p:nvSpPr>
        <p:spPr>
          <a:xfrm>
            <a:off x="5381459" y="2142907"/>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(3)</a:t>
            </a:r>
            <a:endParaRPr sz="1100">
              <a:latin typeface="Georgia"/>
              <a:cs typeface="Georgia"/>
            </a:endParaRPr>
          </a:p>
        </p:txBody>
      </p:sp>
      <p:sp>
        <p:nvSpPr>
          <p:cNvPr id="14" name="object 14"/>
          <p:cNvSpPr txBox="1"/>
          <p:nvPr/>
        </p:nvSpPr>
        <p:spPr>
          <a:xfrm>
            <a:off x="428777" y="2436747"/>
            <a:ext cx="5015865" cy="338455"/>
          </a:xfrm>
          <a:prstGeom prst="rect">
            <a:avLst/>
          </a:prstGeom>
        </p:spPr>
        <p:txBody>
          <a:bodyPr vert="horz" wrap="square" lIns="0" tIns="34290" rIns="0" bIns="0" rtlCol="0">
            <a:spAutoFit/>
          </a:bodyPr>
          <a:lstStyle/>
          <a:p>
            <a:pPr marL="38100" marR="30480">
              <a:lnSpc>
                <a:spcPts val="1150"/>
              </a:lnSpc>
              <a:spcBef>
                <a:spcPts val="270"/>
              </a:spcBef>
            </a:pPr>
            <a:r>
              <a:rPr sz="1100" spc="-30" dirty="0">
                <a:latin typeface="Georgia"/>
                <a:cs typeface="Georgia"/>
              </a:rPr>
              <a:t>where</a:t>
            </a:r>
            <a:r>
              <a:rPr sz="1100" spc="-10" dirty="0">
                <a:latin typeface="Georgia"/>
                <a:cs typeface="Georgia"/>
              </a:rPr>
              <a:t> </a:t>
            </a:r>
            <a:r>
              <a:rPr sz="1100" dirty="0">
                <a:latin typeface="Cambria"/>
                <a:cs typeface="Cambria"/>
              </a:rPr>
              <a:t>i</a:t>
            </a:r>
            <a:r>
              <a:rPr sz="1100" spc="25" dirty="0">
                <a:latin typeface="Cambria"/>
                <a:cs typeface="Cambria"/>
              </a:rPr>
              <a:t> </a:t>
            </a:r>
            <a:r>
              <a:rPr sz="1100" spc="295" dirty="0">
                <a:latin typeface="Calibri"/>
                <a:cs typeface="Calibri"/>
              </a:rPr>
              <a:t>=</a:t>
            </a:r>
            <a:r>
              <a:rPr sz="1100" spc="20" dirty="0">
                <a:latin typeface="Calibri"/>
                <a:cs typeface="Calibri"/>
              </a:rPr>
              <a:t> </a:t>
            </a:r>
            <a:r>
              <a:rPr sz="1100" spc="75" dirty="0">
                <a:latin typeface="Calibri"/>
                <a:cs typeface="Calibri"/>
              </a:rPr>
              <a:t>(</a:t>
            </a:r>
            <a:r>
              <a:rPr sz="1100" i="1" spc="75" dirty="0">
                <a:latin typeface="Calibri"/>
                <a:cs typeface="Calibri"/>
              </a:rPr>
              <a:t>i</a:t>
            </a:r>
            <a:r>
              <a:rPr sz="1200" spc="112" baseline="-10416" dirty="0">
                <a:latin typeface="Calibri"/>
                <a:cs typeface="Calibri"/>
              </a:rPr>
              <a:t>1</a:t>
            </a:r>
            <a:r>
              <a:rPr sz="1100" i="1" spc="75" dirty="0">
                <a:latin typeface="Calibri"/>
                <a:cs typeface="Calibri"/>
              </a:rPr>
              <a:t>,</a:t>
            </a:r>
            <a:r>
              <a:rPr sz="1100" i="1" spc="-70" dirty="0">
                <a:latin typeface="Calibri"/>
                <a:cs typeface="Calibri"/>
              </a:rPr>
              <a:t> </a:t>
            </a:r>
            <a:r>
              <a:rPr sz="1100" i="1" spc="105" dirty="0">
                <a:latin typeface="Calibri"/>
                <a:cs typeface="Calibri"/>
              </a:rPr>
              <a:t>i</a:t>
            </a:r>
            <a:r>
              <a:rPr sz="1200" spc="157" baseline="-10416" dirty="0">
                <a:latin typeface="Calibri"/>
                <a:cs typeface="Calibri"/>
              </a:rPr>
              <a:t>2</a:t>
            </a:r>
            <a:r>
              <a:rPr sz="1100" i="1" spc="10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90" dirty="0">
                <a:latin typeface="Calibri"/>
                <a:cs typeface="Calibri"/>
              </a:rPr>
              <a:t>i</a:t>
            </a:r>
            <a:r>
              <a:rPr sz="1200" i="1" spc="135" baseline="-13888" dirty="0">
                <a:latin typeface="Calibri"/>
                <a:cs typeface="Calibri"/>
              </a:rPr>
              <a:t>d</a:t>
            </a:r>
            <a:r>
              <a:rPr sz="1100" spc="90" dirty="0">
                <a:latin typeface="Calibri"/>
                <a:cs typeface="Calibri"/>
              </a:rPr>
              <a:t>)</a:t>
            </a:r>
            <a:r>
              <a:rPr sz="1100" spc="65" dirty="0">
                <a:latin typeface="Calibri"/>
                <a:cs typeface="Calibri"/>
              </a:rPr>
              <a:t> </a:t>
            </a:r>
            <a:r>
              <a:rPr sz="1100" spc="-25" dirty="0">
                <a:latin typeface="Georgia"/>
                <a:cs typeface="Georgia"/>
              </a:rPr>
              <a:t>denotes</a:t>
            </a:r>
            <a:r>
              <a:rPr sz="1100" spc="55" dirty="0">
                <a:latin typeface="Georgia"/>
                <a:cs typeface="Georgia"/>
              </a:rPr>
              <a:t> </a:t>
            </a:r>
            <a:r>
              <a:rPr sz="1100" dirty="0">
                <a:latin typeface="Georgia"/>
                <a:cs typeface="Georgia"/>
              </a:rPr>
              <a:t>a</a:t>
            </a:r>
            <a:r>
              <a:rPr sz="1100" spc="55" dirty="0">
                <a:latin typeface="Georgia"/>
                <a:cs typeface="Georgia"/>
              </a:rPr>
              <a:t> </a:t>
            </a:r>
            <a:r>
              <a:rPr sz="1100" dirty="0">
                <a:latin typeface="Georgia"/>
                <a:cs typeface="Georgia"/>
              </a:rPr>
              <a:t>cell</a:t>
            </a:r>
            <a:r>
              <a:rPr sz="1100" spc="55" dirty="0">
                <a:latin typeface="Georgia"/>
                <a:cs typeface="Georgia"/>
              </a:rPr>
              <a:t> </a:t>
            </a:r>
            <a:r>
              <a:rPr sz="1100" spc="-10" dirty="0">
                <a:latin typeface="Georgia"/>
                <a:cs typeface="Georgia"/>
              </a:rPr>
              <a:t>index,</a:t>
            </a:r>
            <a:r>
              <a:rPr sz="1100" spc="50" dirty="0">
                <a:latin typeface="Georgia"/>
                <a:cs typeface="Georgia"/>
              </a:rPr>
              <a:t> </a:t>
            </a:r>
            <a:r>
              <a:rPr sz="1100" dirty="0">
                <a:latin typeface="Georgia"/>
                <a:cs typeface="Georgia"/>
              </a:rPr>
              <a:t>with</a:t>
            </a:r>
            <a:r>
              <a:rPr sz="1100" spc="55" dirty="0">
                <a:latin typeface="Georgia"/>
                <a:cs typeface="Georgia"/>
              </a:rPr>
              <a:t> </a:t>
            </a:r>
            <a:r>
              <a:rPr sz="1100" i="1" spc="135" dirty="0">
                <a:latin typeface="Calibri"/>
                <a:cs typeface="Calibri"/>
              </a:rPr>
              <a:t>i</a:t>
            </a:r>
            <a:r>
              <a:rPr sz="1200" i="1" spc="202" baseline="-10416" dirty="0">
                <a:latin typeface="Calibri"/>
                <a:cs typeface="Calibri"/>
              </a:rPr>
              <a:t>j</a:t>
            </a:r>
            <a:r>
              <a:rPr sz="1200" i="1" spc="322" baseline="-10416" dirty="0">
                <a:latin typeface="Calibri"/>
                <a:cs typeface="Calibri"/>
              </a:rPr>
              <a:t> </a:t>
            </a:r>
            <a:r>
              <a:rPr sz="1100" spc="-25" dirty="0">
                <a:latin typeface="Georgia"/>
                <a:cs typeface="Georgia"/>
              </a:rPr>
              <a:t>denoting</a:t>
            </a:r>
            <a:r>
              <a:rPr sz="1100" spc="55" dirty="0">
                <a:latin typeface="Georgia"/>
                <a:cs typeface="Georgia"/>
              </a:rPr>
              <a:t> </a:t>
            </a:r>
            <a:r>
              <a:rPr sz="1100" dirty="0">
                <a:latin typeface="Georgia"/>
                <a:cs typeface="Georgia"/>
              </a:rPr>
              <a:t>the</a:t>
            </a:r>
            <a:r>
              <a:rPr sz="1100" spc="50" dirty="0">
                <a:latin typeface="Georgia"/>
                <a:cs typeface="Georgia"/>
              </a:rPr>
              <a:t> </a:t>
            </a:r>
            <a:r>
              <a:rPr sz="1100" dirty="0">
                <a:latin typeface="Georgia"/>
                <a:cs typeface="Georgia"/>
              </a:rPr>
              <a:t>bin</a:t>
            </a:r>
            <a:r>
              <a:rPr sz="1100" spc="55" dirty="0">
                <a:latin typeface="Georgia"/>
                <a:cs typeface="Georgia"/>
              </a:rPr>
              <a:t> </a:t>
            </a:r>
            <a:r>
              <a:rPr sz="1100" spc="-10" dirty="0">
                <a:latin typeface="Georgia"/>
                <a:cs typeface="Georgia"/>
              </a:rPr>
              <a:t>index</a:t>
            </a:r>
            <a:r>
              <a:rPr sz="1100" spc="55" dirty="0">
                <a:latin typeface="Georgia"/>
                <a:cs typeface="Georgia"/>
              </a:rPr>
              <a:t> </a:t>
            </a:r>
            <a:r>
              <a:rPr sz="1100" spc="-10" dirty="0">
                <a:latin typeface="Georgia"/>
                <a:cs typeface="Georgia"/>
              </a:rPr>
              <a:t>along </a:t>
            </a:r>
            <a:r>
              <a:rPr sz="1100" spc="-40" dirty="0">
                <a:latin typeface="Georgia"/>
                <a:cs typeface="Georgia"/>
              </a:rPr>
              <a:t>dimension</a:t>
            </a:r>
            <a:r>
              <a:rPr sz="1100" spc="60" dirty="0">
                <a:latin typeface="Georgia"/>
                <a:cs typeface="Georgia"/>
              </a:rPr>
              <a:t> </a:t>
            </a:r>
            <a:r>
              <a:rPr sz="1100" i="1" spc="240" dirty="0">
                <a:latin typeface="Calibri"/>
                <a:cs typeface="Calibri"/>
              </a:rPr>
              <a:t>X</a:t>
            </a:r>
            <a:r>
              <a:rPr sz="1200" i="1" spc="359" baseline="-10416" dirty="0">
                <a:latin typeface="Calibri"/>
                <a:cs typeface="Calibri"/>
              </a:rPr>
              <a:t>j</a:t>
            </a:r>
            <a:r>
              <a:rPr sz="1200" i="1" spc="-127" baseline="-10416" dirty="0">
                <a:latin typeface="Calibri"/>
                <a:cs typeface="Calibri"/>
              </a:rPr>
              <a:t> </a:t>
            </a:r>
            <a:r>
              <a:rPr sz="1100" dirty="0">
                <a:latin typeface="Georgia"/>
                <a:cs typeface="Georgia"/>
              </a:rPr>
              <a:t>;</a:t>
            </a:r>
            <a:r>
              <a:rPr sz="1100" spc="65" dirty="0">
                <a:latin typeface="Georgia"/>
                <a:cs typeface="Georgia"/>
              </a:rPr>
              <a:t> </a:t>
            </a:r>
            <a:r>
              <a:rPr sz="1100" i="1" spc="90" dirty="0">
                <a:latin typeface="Calibri"/>
                <a:cs typeface="Calibri"/>
              </a:rPr>
              <a:t>n</a:t>
            </a:r>
            <a:r>
              <a:rPr sz="1100" i="1" spc="30" dirty="0">
                <a:latin typeface="Calibri"/>
                <a:cs typeface="Calibri"/>
              </a:rPr>
              <a:t> </a:t>
            </a:r>
            <a:r>
              <a:rPr sz="1100" spc="295" dirty="0">
                <a:latin typeface="Calibri"/>
                <a:cs typeface="Calibri"/>
              </a:rPr>
              <a:t>=</a:t>
            </a:r>
            <a:r>
              <a:rPr sz="1100" spc="30" dirty="0">
                <a:latin typeface="Calibri"/>
                <a:cs typeface="Calibri"/>
              </a:rPr>
              <a:t> </a:t>
            </a:r>
            <a:r>
              <a:rPr sz="1100" spc="-20" dirty="0">
                <a:latin typeface="Cambria"/>
                <a:cs typeface="Cambria"/>
              </a:rPr>
              <a:t>|D|</a:t>
            </a:r>
            <a:r>
              <a:rPr sz="1100" spc="-20" dirty="0">
                <a:latin typeface="Georgia"/>
                <a:cs typeface="Georgia"/>
              </a:rPr>
              <a:t>.</a:t>
            </a:r>
            <a:endParaRPr sz="1100">
              <a:latin typeface="Georgia"/>
              <a:cs typeface="Georgia"/>
            </a:endParaRPr>
          </a:p>
        </p:txBody>
      </p:sp>
      <p:grpSp>
        <p:nvGrpSpPr>
          <p:cNvPr id="15" name="object 15"/>
          <p:cNvGrpSpPr/>
          <p:nvPr/>
        </p:nvGrpSpPr>
        <p:grpSpPr>
          <a:xfrm>
            <a:off x="0" y="3121545"/>
            <a:ext cx="5760085" cy="118745"/>
            <a:chOff x="0" y="3121545"/>
            <a:chExt cx="5760085" cy="118745"/>
          </a:xfrm>
        </p:grpSpPr>
        <p:sp>
          <p:nvSpPr>
            <p:cNvPr id="16" name="object 1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7" name="object 1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9" name="object 1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20" name="object 2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24</a:t>
            </a:fld>
            <a:r>
              <a:rPr spc="-25" dirty="0"/>
              <a:t> </a:t>
            </a:r>
            <a:r>
              <a:rPr spc="75" dirty="0"/>
              <a:t>/</a:t>
            </a:r>
            <a:r>
              <a:rPr spc="-25" dirty="0"/>
              <a:t> </a:t>
            </a:r>
            <a:r>
              <a:rPr spc="35" dirty="0"/>
              <a:t>135</a:t>
            </a:r>
          </a:p>
        </p:txBody>
      </p:sp>
      <p:pic>
        <p:nvPicPr>
          <p:cNvPr id="21" name="Picture 20">
            <a:extLst>
              <a:ext uri="{FF2B5EF4-FFF2-40B4-BE49-F238E27FC236}">
                <a16:creationId xmlns:a16="http://schemas.microsoft.com/office/drawing/2014/main" id="{69AB8D95-4DCB-3931-00A6-7AE97BFB800A}"/>
              </a:ext>
            </a:extLst>
          </p:cNvPr>
          <p:cNvPicPr>
            <a:picLocks noChangeAspect="1"/>
          </p:cNvPicPr>
          <p:nvPr/>
        </p:nvPicPr>
        <p:blipFill>
          <a:blip r:embed="rId4"/>
          <a:stretch>
            <a:fillRect/>
          </a:stretch>
        </p:blipFill>
        <p:spPr>
          <a:xfrm>
            <a:off x="1890231" y="2068948"/>
            <a:ext cx="2030729" cy="3384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315" dirty="0"/>
              <a:t> </a:t>
            </a:r>
            <a:r>
              <a:rPr dirty="0"/>
              <a:t>cluster</a:t>
            </a:r>
            <a:r>
              <a:rPr spc="315" dirty="0"/>
              <a:t> </a:t>
            </a:r>
            <a:r>
              <a:rPr dirty="0"/>
              <a:t>tendency</a:t>
            </a:r>
            <a:r>
              <a:rPr spc="325" dirty="0"/>
              <a:t> </a:t>
            </a:r>
            <a:r>
              <a:rPr dirty="0"/>
              <a:t>with</a:t>
            </a:r>
            <a:r>
              <a:rPr spc="315" dirty="0"/>
              <a:t> </a:t>
            </a:r>
            <a:r>
              <a:rPr dirty="0"/>
              <a:t>spatial</a:t>
            </a:r>
            <a:r>
              <a:rPr spc="325" dirty="0"/>
              <a:t> </a:t>
            </a:r>
            <a:r>
              <a:rPr dirty="0"/>
              <a:t>histogram</a:t>
            </a:r>
            <a:r>
              <a:rPr spc="315" dirty="0"/>
              <a:t> </a:t>
            </a:r>
            <a:r>
              <a:rPr spc="-10" dirty="0"/>
              <a:t>(cont’d)</a:t>
            </a:r>
          </a:p>
        </p:txBody>
      </p:sp>
      <p:sp>
        <p:nvSpPr>
          <p:cNvPr id="3" name="object 3"/>
          <p:cNvSpPr/>
          <p:nvPr/>
        </p:nvSpPr>
        <p:spPr>
          <a:xfrm>
            <a:off x="337972" y="51802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1195031"/>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pic>
        <p:nvPicPr>
          <p:cNvPr id="5" name="object 5"/>
          <p:cNvPicPr/>
          <p:nvPr/>
        </p:nvPicPr>
        <p:blipFill>
          <a:blip r:embed="rId3" cstate="print"/>
          <a:stretch>
            <a:fillRect/>
          </a:stretch>
        </p:blipFill>
        <p:spPr>
          <a:xfrm>
            <a:off x="3852151" y="1165771"/>
            <a:ext cx="88900" cy="107950"/>
          </a:xfrm>
          <a:prstGeom prst="rect">
            <a:avLst/>
          </a:prstGeom>
        </p:spPr>
      </p:pic>
      <p:pic>
        <p:nvPicPr>
          <p:cNvPr id="6" name="object 6"/>
          <p:cNvPicPr/>
          <p:nvPr/>
        </p:nvPicPr>
        <p:blipFill>
          <a:blip r:embed="rId3" cstate="print"/>
          <a:stretch>
            <a:fillRect/>
          </a:stretch>
        </p:blipFill>
        <p:spPr>
          <a:xfrm>
            <a:off x="4101871" y="1165771"/>
            <a:ext cx="88900" cy="107950"/>
          </a:xfrm>
          <a:prstGeom prst="rect">
            <a:avLst/>
          </a:prstGeom>
        </p:spPr>
      </p:pic>
      <p:sp>
        <p:nvSpPr>
          <p:cNvPr id="7" name="object 7"/>
          <p:cNvSpPr/>
          <p:nvPr/>
        </p:nvSpPr>
        <p:spPr>
          <a:xfrm>
            <a:off x="337972" y="143324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txBox="1"/>
          <p:nvPr/>
        </p:nvSpPr>
        <p:spPr>
          <a:xfrm>
            <a:off x="377977" y="426413"/>
            <a:ext cx="5173345" cy="1253490"/>
          </a:xfrm>
          <a:prstGeom prst="rect">
            <a:avLst/>
          </a:prstGeom>
        </p:spPr>
        <p:txBody>
          <a:bodyPr vert="horz" wrap="square" lIns="0" tIns="11430" rIns="0" bIns="0" rtlCol="0">
            <a:spAutoFit/>
          </a:bodyPr>
          <a:lstStyle/>
          <a:p>
            <a:pPr marL="88900">
              <a:lnSpc>
                <a:spcPts val="1235"/>
              </a:lnSpc>
              <a:spcBef>
                <a:spcPts val="90"/>
              </a:spcBef>
            </a:pPr>
            <a:r>
              <a:rPr sz="1100" dirty="0">
                <a:latin typeface="Georgia"/>
                <a:cs typeface="Georgia"/>
              </a:rPr>
              <a:t>Next,</a:t>
            </a:r>
            <a:r>
              <a:rPr sz="1100" spc="35" dirty="0">
                <a:latin typeface="Georgia"/>
                <a:cs typeface="Georgia"/>
              </a:rPr>
              <a:t> </a:t>
            </a:r>
            <a:r>
              <a:rPr sz="1100" dirty="0">
                <a:latin typeface="Georgia"/>
                <a:cs typeface="Georgia"/>
              </a:rPr>
              <a:t>we</a:t>
            </a:r>
            <a:r>
              <a:rPr sz="1100" spc="35" dirty="0">
                <a:latin typeface="Georgia"/>
                <a:cs typeface="Georgia"/>
              </a:rPr>
              <a:t> </a:t>
            </a:r>
            <a:r>
              <a:rPr sz="1100" spc="-25" dirty="0">
                <a:latin typeface="Georgia"/>
                <a:cs typeface="Georgia"/>
              </a:rPr>
              <a:t>generate</a:t>
            </a:r>
            <a:r>
              <a:rPr sz="1100" spc="40" dirty="0">
                <a:latin typeface="Georgia"/>
                <a:cs typeface="Georgia"/>
              </a:rPr>
              <a:t> </a:t>
            </a:r>
            <a:r>
              <a:rPr sz="1100" i="1" dirty="0">
                <a:latin typeface="Calibri"/>
                <a:cs typeface="Calibri"/>
              </a:rPr>
              <a:t>t</a:t>
            </a:r>
            <a:r>
              <a:rPr sz="1100" i="1" spc="50" dirty="0">
                <a:latin typeface="Calibri"/>
                <a:cs typeface="Calibri"/>
              </a:rPr>
              <a:t> </a:t>
            </a:r>
            <a:r>
              <a:rPr sz="1100" spc="-30" dirty="0">
                <a:latin typeface="Georgia"/>
                <a:cs typeface="Georgia"/>
              </a:rPr>
              <a:t>random</a:t>
            </a:r>
            <a:r>
              <a:rPr sz="1100" spc="40" dirty="0">
                <a:latin typeface="Georgia"/>
                <a:cs typeface="Georgia"/>
              </a:rPr>
              <a:t> </a:t>
            </a:r>
            <a:r>
              <a:rPr sz="1100" spc="-30" dirty="0">
                <a:latin typeface="Georgia"/>
                <a:cs typeface="Georgia"/>
              </a:rPr>
              <a:t>samples,</a:t>
            </a:r>
            <a:r>
              <a:rPr sz="1100" spc="35" dirty="0">
                <a:latin typeface="Georgia"/>
                <a:cs typeface="Georgia"/>
              </a:rPr>
              <a:t> </a:t>
            </a:r>
            <a:r>
              <a:rPr sz="1100" spc="-10" dirty="0">
                <a:latin typeface="Georgia"/>
                <a:cs typeface="Georgia"/>
              </a:rPr>
              <a:t>each</a:t>
            </a:r>
            <a:r>
              <a:rPr sz="1100" spc="35" dirty="0">
                <a:latin typeface="Georgia"/>
                <a:cs typeface="Georgia"/>
              </a:rPr>
              <a:t> </a:t>
            </a:r>
            <a:r>
              <a:rPr sz="1100" spc="-35" dirty="0">
                <a:latin typeface="Georgia"/>
                <a:cs typeface="Georgia"/>
              </a:rPr>
              <a:t>comprising</a:t>
            </a:r>
            <a:r>
              <a:rPr sz="1100" spc="40" dirty="0">
                <a:latin typeface="Georgia"/>
                <a:cs typeface="Georgia"/>
              </a:rPr>
              <a:t> </a:t>
            </a:r>
            <a:r>
              <a:rPr sz="1100" i="1" spc="90" dirty="0">
                <a:latin typeface="Calibri"/>
                <a:cs typeface="Calibri"/>
              </a:rPr>
              <a:t>n</a:t>
            </a:r>
            <a:r>
              <a:rPr sz="1100" i="1" spc="50" dirty="0">
                <a:latin typeface="Calibri"/>
                <a:cs typeface="Calibri"/>
              </a:rPr>
              <a:t> </a:t>
            </a:r>
            <a:r>
              <a:rPr sz="1100" spc="-10" dirty="0">
                <a:latin typeface="Georgia"/>
                <a:cs typeface="Georgia"/>
              </a:rPr>
              <a:t>points</a:t>
            </a:r>
            <a:r>
              <a:rPr sz="1100" spc="40" dirty="0">
                <a:latin typeface="Georgia"/>
                <a:cs typeface="Georgia"/>
              </a:rPr>
              <a:t> </a:t>
            </a:r>
            <a:r>
              <a:rPr sz="1100" spc="-10" dirty="0">
                <a:latin typeface="Georgia"/>
                <a:cs typeface="Georgia"/>
              </a:rPr>
              <a:t>within</a:t>
            </a:r>
            <a:r>
              <a:rPr sz="1100" spc="35" dirty="0">
                <a:latin typeface="Georgia"/>
                <a:cs typeface="Georgia"/>
              </a:rPr>
              <a:t> </a:t>
            </a:r>
            <a:r>
              <a:rPr sz="1100" dirty="0">
                <a:latin typeface="Georgia"/>
                <a:cs typeface="Georgia"/>
              </a:rPr>
              <a:t>the</a:t>
            </a:r>
            <a:r>
              <a:rPr sz="1100" spc="40" dirty="0">
                <a:latin typeface="Georgia"/>
                <a:cs typeface="Georgia"/>
              </a:rPr>
              <a:t> </a:t>
            </a:r>
            <a:r>
              <a:rPr sz="1100" spc="-20" dirty="0">
                <a:latin typeface="Georgia"/>
                <a:cs typeface="Georgia"/>
              </a:rPr>
              <a:t>same</a:t>
            </a:r>
            <a:endParaRPr sz="1100">
              <a:latin typeface="Georgia"/>
              <a:cs typeface="Georgia"/>
            </a:endParaRPr>
          </a:p>
          <a:p>
            <a:pPr marL="88900" marR="68580">
              <a:lnSpc>
                <a:spcPts val="1150"/>
              </a:lnSpc>
              <a:spcBef>
                <a:spcPts val="95"/>
              </a:spcBef>
            </a:pPr>
            <a:r>
              <a:rPr sz="1100" i="1" spc="-45" dirty="0">
                <a:latin typeface="Calibri"/>
                <a:cs typeface="Calibri"/>
              </a:rPr>
              <a:t>d</a:t>
            </a:r>
            <a:r>
              <a:rPr sz="1100" spc="-45" dirty="0">
                <a:latin typeface="Georgia"/>
                <a:cs typeface="Georgia"/>
              </a:rPr>
              <a:t>–dimensional</a:t>
            </a:r>
            <a:r>
              <a:rPr sz="1100" spc="30" dirty="0">
                <a:latin typeface="Georgia"/>
                <a:cs typeface="Georgia"/>
              </a:rPr>
              <a:t> </a:t>
            </a:r>
            <a:r>
              <a:rPr sz="1100" spc="-10" dirty="0">
                <a:latin typeface="Georgia"/>
                <a:cs typeface="Georgia"/>
              </a:rPr>
              <a:t>space</a:t>
            </a:r>
            <a:r>
              <a:rPr sz="1100" spc="40" dirty="0">
                <a:latin typeface="Georgia"/>
                <a:cs typeface="Georgia"/>
              </a:rPr>
              <a:t> </a:t>
            </a:r>
            <a:r>
              <a:rPr sz="1100" dirty="0">
                <a:latin typeface="Georgia"/>
                <a:cs typeface="Georgia"/>
              </a:rPr>
              <a:t>as</a:t>
            </a:r>
            <a:r>
              <a:rPr sz="1100" spc="45" dirty="0">
                <a:latin typeface="Georgia"/>
                <a:cs typeface="Georgia"/>
              </a:rPr>
              <a:t> </a:t>
            </a:r>
            <a:r>
              <a:rPr sz="1100" dirty="0">
                <a:latin typeface="Georgia"/>
                <a:cs typeface="Georgia"/>
              </a:rPr>
              <a:t>the</a:t>
            </a:r>
            <a:r>
              <a:rPr sz="1100" spc="45" dirty="0">
                <a:latin typeface="Georgia"/>
                <a:cs typeface="Georgia"/>
              </a:rPr>
              <a:t> </a:t>
            </a:r>
            <a:r>
              <a:rPr sz="1100" dirty="0">
                <a:latin typeface="Georgia"/>
                <a:cs typeface="Georgia"/>
              </a:rPr>
              <a:t>input</a:t>
            </a:r>
            <a:r>
              <a:rPr sz="1100" spc="45" dirty="0">
                <a:latin typeface="Georgia"/>
                <a:cs typeface="Georgia"/>
              </a:rPr>
              <a:t> </a:t>
            </a:r>
            <a:r>
              <a:rPr sz="1100" dirty="0">
                <a:latin typeface="Georgia"/>
                <a:cs typeface="Georgia"/>
              </a:rPr>
              <a:t>dataset</a:t>
            </a:r>
            <a:r>
              <a:rPr sz="1100" spc="40" dirty="0">
                <a:latin typeface="Georgia"/>
                <a:cs typeface="Georgia"/>
              </a:rPr>
              <a:t> </a:t>
            </a:r>
            <a:r>
              <a:rPr sz="1100" spc="70" dirty="0">
                <a:latin typeface="Cambria"/>
                <a:cs typeface="Cambria"/>
              </a:rPr>
              <a:t>D</a:t>
            </a:r>
            <a:r>
              <a:rPr sz="1100" spc="70" dirty="0">
                <a:latin typeface="Georgia"/>
                <a:cs typeface="Georgia"/>
              </a:rPr>
              <a:t>.</a:t>
            </a:r>
            <a:r>
              <a:rPr sz="1100" spc="145" dirty="0">
                <a:latin typeface="Georgia"/>
                <a:cs typeface="Georgia"/>
              </a:rPr>
              <a:t> </a:t>
            </a:r>
            <a:r>
              <a:rPr sz="1100" dirty="0">
                <a:latin typeface="Georgia"/>
                <a:cs typeface="Georgia"/>
              </a:rPr>
              <a:t>That</a:t>
            </a:r>
            <a:r>
              <a:rPr sz="1100" spc="45" dirty="0">
                <a:latin typeface="Georgia"/>
                <a:cs typeface="Georgia"/>
              </a:rPr>
              <a:t> </a:t>
            </a:r>
            <a:r>
              <a:rPr sz="1100" dirty="0">
                <a:latin typeface="Georgia"/>
                <a:cs typeface="Georgia"/>
              </a:rPr>
              <a:t>is,</a:t>
            </a:r>
            <a:r>
              <a:rPr sz="1100" spc="40" dirty="0">
                <a:latin typeface="Georgia"/>
                <a:cs typeface="Georgia"/>
              </a:rPr>
              <a:t> </a:t>
            </a:r>
            <a:r>
              <a:rPr sz="1100" dirty="0">
                <a:latin typeface="Georgia"/>
                <a:cs typeface="Georgia"/>
              </a:rPr>
              <a:t>for</a:t>
            </a:r>
            <a:r>
              <a:rPr sz="1100" spc="45" dirty="0">
                <a:latin typeface="Georgia"/>
                <a:cs typeface="Georgia"/>
              </a:rPr>
              <a:t> </a:t>
            </a:r>
            <a:r>
              <a:rPr sz="1100" spc="-10" dirty="0">
                <a:latin typeface="Georgia"/>
                <a:cs typeface="Georgia"/>
              </a:rPr>
              <a:t>each</a:t>
            </a:r>
            <a:r>
              <a:rPr sz="1100" spc="45" dirty="0">
                <a:latin typeface="Georgia"/>
                <a:cs typeface="Georgia"/>
              </a:rPr>
              <a:t> </a:t>
            </a:r>
            <a:r>
              <a:rPr sz="1100" spc="-40" dirty="0">
                <a:latin typeface="Georgia"/>
                <a:cs typeface="Georgia"/>
              </a:rPr>
              <a:t>dimension</a:t>
            </a:r>
            <a:r>
              <a:rPr sz="1100" spc="45" dirty="0">
                <a:latin typeface="Georgia"/>
                <a:cs typeface="Georgia"/>
              </a:rPr>
              <a:t> </a:t>
            </a:r>
            <a:r>
              <a:rPr sz="1100" i="1" spc="240" dirty="0">
                <a:latin typeface="Calibri"/>
                <a:cs typeface="Calibri"/>
              </a:rPr>
              <a:t>X</a:t>
            </a:r>
            <a:r>
              <a:rPr sz="1200" i="1" spc="359" baseline="-10416" dirty="0">
                <a:latin typeface="Calibri"/>
                <a:cs typeface="Calibri"/>
              </a:rPr>
              <a:t>j</a:t>
            </a:r>
            <a:r>
              <a:rPr sz="1200" i="1" spc="-127" baseline="-10416" dirty="0">
                <a:latin typeface="Calibri"/>
                <a:cs typeface="Calibri"/>
              </a:rPr>
              <a:t> </a:t>
            </a:r>
            <a:r>
              <a:rPr sz="1100" dirty="0">
                <a:latin typeface="Georgia"/>
                <a:cs typeface="Georgia"/>
              </a:rPr>
              <a:t>,</a:t>
            </a:r>
            <a:r>
              <a:rPr sz="1100" spc="40" dirty="0">
                <a:latin typeface="Georgia"/>
                <a:cs typeface="Georgia"/>
              </a:rPr>
              <a:t> </a:t>
            </a:r>
            <a:r>
              <a:rPr sz="1100" spc="-25" dirty="0">
                <a:latin typeface="Georgia"/>
                <a:cs typeface="Georgia"/>
              </a:rPr>
              <a:t>we </a:t>
            </a:r>
            <a:r>
              <a:rPr sz="1100" spc="-20" dirty="0">
                <a:latin typeface="Georgia"/>
                <a:cs typeface="Georgia"/>
              </a:rPr>
              <a:t>compute</a:t>
            </a:r>
            <a:r>
              <a:rPr sz="1100" spc="20" dirty="0">
                <a:latin typeface="Georgia"/>
                <a:cs typeface="Georgia"/>
              </a:rPr>
              <a:t> </a:t>
            </a:r>
            <a:r>
              <a:rPr sz="1100" dirty="0">
                <a:latin typeface="Georgia"/>
                <a:cs typeface="Georgia"/>
              </a:rPr>
              <a:t>its</a:t>
            </a:r>
            <a:r>
              <a:rPr sz="1100" spc="60" dirty="0">
                <a:latin typeface="Georgia"/>
                <a:cs typeface="Georgia"/>
              </a:rPr>
              <a:t> </a:t>
            </a:r>
            <a:r>
              <a:rPr sz="1100" spc="-20" dirty="0">
                <a:latin typeface="Georgia"/>
                <a:cs typeface="Georgia"/>
              </a:rPr>
              <a:t>range</a:t>
            </a:r>
            <a:r>
              <a:rPr sz="1100" spc="55" dirty="0">
                <a:latin typeface="Georgia"/>
                <a:cs typeface="Georgia"/>
              </a:rPr>
              <a:t> </a:t>
            </a:r>
            <a:r>
              <a:rPr sz="1100" spc="114" dirty="0">
                <a:latin typeface="Calibri"/>
                <a:cs typeface="Calibri"/>
              </a:rPr>
              <a:t>[</a:t>
            </a:r>
            <a:r>
              <a:rPr sz="1100" i="1" spc="114" dirty="0">
                <a:latin typeface="Calibri"/>
                <a:cs typeface="Calibri"/>
              </a:rPr>
              <a:t>min</a:t>
            </a:r>
            <a:r>
              <a:rPr sz="1100" spc="114" dirty="0">
                <a:latin typeface="Calibri"/>
                <a:cs typeface="Calibri"/>
              </a:rPr>
              <a:t>(</a:t>
            </a:r>
            <a:r>
              <a:rPr sz="1100" i="1" spc="114" dirty="0">
                <a:latin typeface="Calibri"/>
                <a:cs typeface="Calibri"/>
              </a:rPr>
              <a:t>X</a:t>
            </a:r>
            <a:r>
              <a:rPr sz="1200" i="1" spc="172" baseline="-10416" dirty="0">
                <a:latin typeface="Calibri"/>
                <a:cs typeface="Calibri"/>
              </a:rPr>
              <a:t>j</a:t>
            </a:r>
            <a:r>
              <a:rPr sz="1200" i="1" spc="-127" baseline="-10416" dirty="0">
                <a:latin typeface="Calibri"/>
                <a:cs typeface="Calibri"/>
              </a:rPr>
              <a:t> </a:t>
            </a:r>
            <a:r>
              <a:rPr sz="1100" spc="50" dirty="0">
                <a:latin typeface="Calibri"/>
                <a:cs typeface="Calibri"/>
              </a:rPr>
              <a:t>)</a:t>
            </a:r>
            <a:r>
              <a:rPr sz="1100" i="1" spc="50" dirty="0">
                <a:latin typeface="Calibri"/>
                <a:cs typeface="Calibri"/>
              </a:rPr>
              <a:t>,</a:t>
            </a:r>
            <a:r>
              <a:rPr sz="1100" i="1" spc="-70" dirty="0">
                <a:latin typeface="Calibri"/>
                <a:cs typeface="Calibri"/>
              </a:rPr>
              <a:t> </a:t>
            </a:r>
            <a:r>
              <a:rPr sz="1100" i="1" spc="130" dirty="0">
                <a:latin typeface="Calibri"/>
                <a:cs typeface="Calibri"/>
              </a:rPr>
              <a:t>max</a:t>
            </a:r>
            <a:r>
              <a:rPr sz="1100" spc="130" dirty="0">
                <a:latin typeface="Calibri"/>
                <a:cs typeface="Calibri"/>
              </a:rPr>
              <a:t>(</a:t>
            </a:r>
            <a:r>
              <a:rPr sz="1100" i="1" spc="130" dirty="0">
                <a:latin typeface="Calibri"/>
                <a:cs typeface="Calibri"/>
              </a:rPr>
              <a:t>X</a:t>
            </a:r>
            <a:r>
              <a:rPr sz="1200" i="1" spc="195" baseline="-10416" dirty="0">
                <a:latin typeface="Calibri"/>
                <a:cs typeface="Calibri"/>
              </a:rPr>
              <a:t>j</a:t>
            </a:r>
            <a:r>
              <a:rPr sz="1200" i="1" spc="-127" baseline="-10416" dirty="0">
                <a:latin typeface="Calibri"/>
                <a:cs typeface="Calibri"/>
              </a:rPr>
              <a:t> </a:t>
            </a:r>
            <a:r>
              <a:rPr sz="1100" dirty="0">
                <a:latin typeface="Calibri"/>
                <a:cs typeface="Calibri"/>
              </a:rPr>
              <a:t>)]</a:t>
            </a:r>
            <a:r>
              <a:rPr sz="1100" dirty="0">
                <a:latin typeface="Georgia"/>
                <a:cs typeface="Georgia"/>
              </a:rPr>
              <a:t>,</a:t>
            </a:r>
            <a:r>
              <a:rPr sz="1100" spc="60" dirty="0">
                <a:latin typeface="Georgia"/>
                <a:cs typeface="Georgia"/>
              </a:rPr>
              <a:t> </a:t>
            </a:r>
            <a:r>
              <a:rPr sz="1100" dirty="0">
                <a:latin typeface="Georgia"/>
                <a:cs typeface="Georgia"/>
              </a:rPr>
              <a:t>and</a:t>
            </a:r>
            <a:r>
              <a:rPr sz="1100" spc="60" dirty="0">
                <a:latin typeface="Georgia"/>
                <a:cs typeface="Georgia"/>
              </a:rPr>
              <a:t> </a:t>
            </a:r>
            <a:r>
              <a:rPr sz="1100" spc="-25" dirty="0">
                <a:latin typeface="Georgia"/>
                <a:cs typeface="Georgia"/>
              </a:rPr>
              <a:t>generate</a:t>
            </a:r>
            <a:r>
              <a:rPr sz="1100" spc="55" dirty="0">
                <a:latin typeface="Georgia"/>
                <a:cs typeface="Georgia"/>
              </a:rPr>
              <a:t> </a:t>
            </a:r>
            <a:r>
              <a:rPr sz="1100" spc="-25" dirty="0">
                <a:latin typeface="Georgia"/>
                <a:cs typeface="Georgia"/>
              </a:rPr>
              <a:t>values</a:t>
            </a:r>
            <a:r>
              <a:rPr sz="1100" spc="60" dirty="0">
                <a:latin typeface="Georgia"/>
                <a:cs typeface="Georgia"/>
              </a:rPr>
              <a:t> </a:t>
            </a:r>
            <a:r>
              <a:rPr sz="1100" b="1" spc="-45" dirty="0">
                <a:latin typeface="Georgia"/>
                <a:cs typeface="Georgia"/>
              </a:rPr>
              <a:t>uniformly</a:t>
            </a:r>
            <a:r>
              <a:rPr sz="1100" b="1" spc="55" dirty="0">
                <a:latin typeface="Georgia"/>
                <a:cs typeface="Georgia"/>
              </a:rPr>
              <a:t> </a:t>
            </a:r>
            <a:r>
              <a:rPr sz="1100" dirty="0">
                <a:latin typeface="Georgia"/>
                <a:cs typeface="Georgia"/>
              </a:rPr>
              <a:t>at</a:t>
            </a:r>
            <a:r>
              <a:rPr sz="1100" spc="60" dirty="0">
                <a:latin typeface="Georgia"/>
                <a:cs typeface="Georgia"/>
              </a:rPr>
              <a:t> </a:t>
            </a:r>
            <a:r>
              <a:rPr sz="1100" spc="-10" dirty="0">
                <a:latin typeface="Georgia"/>
                <a:cs typeface="Georgia"/>
              </a:rPr>
              <a:t>random </a:t>
            </a:r>
            <a:r>
              <a:rPr sz="1100" dirty="0">
                <a:latin typeface="Georgia"/>
                <a:cs typeface="Georgia"/>
              </a:rPr>
              <a:t>with</a:t>
            </a:r>
            <a:r>
              <a:rPr sz="1100" spc="40" dirty="0">
                <a:latin typeface="Georgia"/>
                <a:cs typeface="Georgia"/>
              </a:rPr>
              <a:t> </a:t>
            </a:r>
            <a:r>
              <a:rPr sz="1100" dirty="0">
                <a:latin typeface="Georgia"/>
                <a:cs typeface="Georgia"/>
              </a:rPr>
              <a:t>the</a:t>
            </a:r>
            <a:r>
              <a:rPr sz="1100" spc="45" dirty="0">
                <a:latin typeface="Georgia"/>
                <a:cs typeface="Georgia"/>
              </a:rPr>
              <a:t> </a:t>
            </a:r>
            <a:r>
              <a:rPr sz="1100" spc="-10" dirty="0">
                <a:latin typeface="Georgia"/>
                <a:cs typeface="Georgia"/>
              </a:rPr>
              <a:t>given</a:t>
            </a:r>
            <a:r>
              <a:rPr sz="1100" spc="40" dirty="0">
                <a:latin typeface="Georgia"/>
                <a:cs typeface="Georgia"/>
              </a:rPr>
              <a:t> </a:t>
            </a:r>
            <a:r>
              <a:rPr sz="1100" spc="-10" dirty="0">
                <a:latin typeface="Georgia"/>
                <a:cs typeface="Georgia"/>
              </a:rPr>
              <a:t>range.</a:t>
            </a:r>
            <a:r>
              <a:rPr sz="1100" spc="140" dirty="0">
                <a:latin typeface="Georgia"/>
                <a:cs typeface="Georgia"/>
              </a:rPr>
              <a:t> </a:t>
            </a:r>
            <a:r>
              <a:rPr sz="1100" dirty="0">
                <a:latin typeface="Georgia"/>
                <a:cs typeface="Georgia"/>
              </a:rPr>
              <a:t>Let</a:t>
            </a:r>
            <a:r>
              <a:rPr sz="1100" spc="45" dirty="0">
                <a:latin typeface="Georgia"/>
                <a:cs typeface="Georgia"/>
              </a:rPr>
              <a:t> </a:t>
            </a:r>
            <a:r>
              <a:rPr sz="1100" spc="200" dirty="0">
                <a:latin typeface="Cambria"/>
                <a:cs typeface="Cambria"/>
              </a:rPr>
              <a:t>R</a:t>
            </a:r>
            <a:r>
              <a:rPr sz="1200" i="1" spc="300" baseline="-10416" dirty="0">
                <a:latin typeface="Calibri"/>
                <a:cs typeface="Calibri"/>
              </a:rPr>
              <a:t>j </a:t>
            </a:r>
            <a:r>
              <a:rPr sz="1100" spc="-20" dirty="0">
                <a:latin typeface="Georgia"/>
                <a:cs typeface="Georgia"/>
              </a:rPr>
              <a:t>denote</a:t>
            </a:r>
            <a:r>
              <a:rPr sz="1100" spc="45" dirty="0">
                <a:latin typeface="Georgia"/>
                <a:cs typeface="Georgia"/>
              </a:rPr>
              <a:t> </a:t>
            </a:r>
            <a:r>
              <a:rPr sz="1100" dirty="0">
                <a:latin typeface="Georgia"/>
                <a:cs typeface="Georgia"/>
              </a:rPr>
              <a:t>the</a:t>
            </a:r>
            <a:r>
              <a:rPr sz="1100" spc="40" dirty="0">
                <a:latin typeface="Georgia"/>
                <a:cs typeface="Georgia"/>
              </a:rPr>
              <a:t> </a:t>
            </a:r>
            <a:r>
              <a:rPr sz="1100" i="1" dirty="0">
                <a:latin typeface="Calibri"/>
                <a:cs typeface="Calibri"/>
              </a:rPr>
              <a:t>j</a:t>
            </a:r>
            <a:r>
              <a:rPr sz="1100" dirty="0">
                <a:latin typeface="Georgia"/>
                <a:cs typeface="Georgia"/>
              </a:rPr>
              <a:t>–th</a:t>
            </a:r>
            <a:r>
              <a:rPr sz="1100" spc="45" dirty="0">
                <a:latin typeface="Georgia"/>
                <a:cs typeface="Georgia"/>
              </a:rPr>
              <a:t> </a:t>
            </a:r>
            <a:r>
              <a:rPr sz="1100" spc="-20" dirty="0">
                <a:latin typeface="Georgia"/>
                <a:cs typeface="Georgia"/>
              </a:rPr>
              <a:t>such</a:t>
            </a:r>
            <a:r>
              <a:rPr sz="1100" spc="45" dirty="0">
                <a:latin typeface="Georgia"/>
                <a:cs typeface="Georgia"/>
              </a:rPr>
              <a:t> </a:t>
            </a:r>
            <a:r>
              <a:rPr sz="1100" spc="-30" dirty="0">
                <a:latin typeface="Georgia"/>
                <a:cs typeface="Georgia"/>
              </a:rPr>
              <a:t>random</a:t>
            </a:r>
            <a:r>
              <a:rPr sz="1100" spc="40" dirty="0">
                <a:latin typeface="Georgia"/>
                <a:cs typeface="Georgia"/>
              </a:rPr>
              <a:t> </a:t>
            </a:r>
            <a:r>
              <a:rPr sz="1100" spc="-10" dirty="0">
                <a:latin typeface="Georgia"/>
                <a:cs typeface="Georgia"/>
              </a:rPr>
              <a:t>sample.</a:t>
            </a:r>
            <a:endParaRPr sz="1100">
              <a:latin typeface="Georgia"/>
              <a:cs typeface="Georgia"/>
            </a:endParaRPr>
          </a:p>
          <a:p>
            <a:pPr marL="88900">
              <a:lnSpc>
                <a:spcPct val="100000"/>
              </a:lnSpc>
              <a:spcBef>
                <a:spcPts val="550"/>
              </a:spcBef>
              <a:tabLst>
                <a:tab pos="3610610" algn="l"/>
                <a:tab pos="3860165" algn="l"/>
              </a:tabLst>
            </a:pPr>
            <a:r>
              <a:rPr sz="1100" spc="-10" dirty="0">
                <a:latin typeface="Georgia"/>
                <a:cs typeface="Georgia"/>
              </a:rPr>
              <a:t>Compute</a:t>
            </a:r>
            <a:r>
              <a:rPr sz="1100" spc="30" dirty="0">
                <a:latin typeface="Georgia"/>
                <a:cs typeface="Georgia"/>
              </a:rPr>
              <a:t> </a:t>
            </a:r>
            <a:r>
              <a:rPr sz="1100" dirty="0">
                <a:latin typeface="Georgia"/>
                <a:cs typeface="Georgia"/>
              </a:rPr>
              <a:t>the</a:t>
            </a:r>
            <a:r>
              <a:rPr sz="1100" spc="60" dirty="0">
                <a:latin typeface="Georgia"/>
                <a:cs typeface="Georgia"/>
              </a:rPr>
              <a:t> </a:t>
            </a:r>
            <a:r>
              <a:rPr sz="1100" spc="-35" dirty="0">
                <a:latin typeface="Georgia"/>
                <a:cs typeface="Georgia"/>
              </a:rPr>
              <a:t>corresponding</a:t>
            </a:r>
            <a:r>
              <a:rPr sz="1100" spc="55" dirty="0">
                <a:latin typeface="Georgia"/>
                <a:cs typeface="Georgia"/>
              </a:rPr>
              <a:t> </a:t>
            </a:r>
            <a:r>
              <a:rPr sz="1100" dirty="0">
                <a:latin typeface="Georgia"/>
                <a:cs typeface="Georgia"/>
              </a:rPr>
              <a:t>EPMF</a:t>
            </a:r>
            <a:r>
              <a:rPr sz="1100" spc="60" dirty="0">
                <a:latin typeface="Georgia"/>
                <a:cs typeface="Georgia"/>
              </a:rPr>
              <a:t> </a:t>
            </a:r>
            <a:r>
              <a:rPr sz="1100" i="1" spc="50" dirty="0">
                <a:latin typeface="Calibri"/>
                <a:cs typeface="Calibri"/>
              </a:rPr>
              <a:t>g</a:t>
            </a:r>
            <a:r>
              <a:rPr sz="1200" i="1" spc="75" baseline="-10416" dirty="0">
                <a:latin typeface="Calibri"/>
                <a:cs typeface="Calibri"/>
              </a:rPr>
              <a:t>j</a:t>
            </a:r>
            <a:r>
              <a:rPr sz="1200" i="1" spc="-127" baseline="-10416" dirty="0">
                <a:latin typeface="Calibri"/>
                <a:cs typeface="Calibri"/>
              </a:rPr>
              <a:t> </a:t>
            </a:r>
            <a:r>
              <a:rPr sz="1100" spc="70" dirty="0">
                <a:latin typeface="Calibri"/>
                <a:cs typeface="Calibri"/>
              </a:rPr>
              <a:t>(</a:t>
            </a:r>
            <a:r>
              <a:rPr sz="1100" spc="70" dirty="0">
                <a:latin typeface="Cambria"/>
                <a:cs typeface="Cambria"/>
              </a:rPr>
              <a:t>i</a:t>
            </a:r>
            <a:r>
              <a:rPr sz="1100" spc="70" dirty="0">
                <a:latin typeface="Calibri"/>
                <a:cs typeface="Calibri"/>
              </a:rPr>
              <a:t>)</a:t>
            </a:r>
            <a:r>
              <a:rPr sz="1100" spc="75" dirty="0">
                <a:latin typeface="Calibri"/>
                <a:cs typeface="Calibri"/>
              </a:rPr>
              <a:t> </a:t>
            </a:r>
            <a:r>
              <a:rPr sz="1100" dirty="0">
                <a:latin typeface="Georgia"/>
                <a:cs typeface="Georgia"/>
              </a:rPr>
              <a:t>for</a:t>
            </a:r>
            <a:r>
              <a:rPr sz="1100" spc="60" dirty="0">
                <a:latin typeface="Georgia"/>
                <a:cs typeface="Georgia"/>
              </a:rPr>
              <a:t> </a:t>
            </a:r>
            <a:r>
              <a:rPr sz="1100" spc="-10" dirty="0">
                <a:latin typeface="Georgia"/>
                <a:cs typeface="Georgia"/>
              </a:rPr>
              <a:t>each</a:t>
            </a:r>
            <a:r>
              <a:rPr sz="1100" spc="60" dirty="0">
                <a:latin typeface="Georgia"/>
                <a:cs typeface="Georgia"/>
              </a:rPr>
              <a:t> </a:t>
            </a:r>
            <a:r>
              <a:rPr sz="1100" spc="200" dirty="0">
                <a:latin typeface="Cambria"/>
                <a:cs typeface="Cambria"/>
              </a:rPr>
              <a:t>R</a:t>
            </a:r>
            <a:r>
              <a:rPr sz="1200" i="1" spc="300" baseline="-10416" dirty="0">
                <a:latin typeface="Calibri"/>
                <a:cs typeface="Calibri"/>
              </a:rPr>
              <a:t>j</a:t>
            </a:r>
            <a:r>
              <a:rPr sz="1200" i="1" spc="-127" baseline="-10416" dirty="0">
                <a:latin typeface="Calibri"/>
                <a:cs typeface="Calibri"/>
              </a:rPr>
              <a:t> </a:t>
            </a:r>
            <a:r>
              <a:rPr sz="1100" dirty="0">
                <a:latin typeface="Georgia"/>
                <a:cs typeface="Georgia"/>
              </a:rPr>
              <a:t>,</a:t>
            </a:r>
            <a:r>
              <a:rPr sz="1100" spc="60" dirty="0">
                <a:latin typeface="Georgia"/>
                <a:cs typeface="Georgia"/>
              </a:rPr>
              <a:t> </a:t>
            </a:r>
            <a:r>
              <a:rPr sz="1100" spc="-50" dirty="0">
                <a:latin typeface="Calibri"/>
                <a:cs typeface="Calibri"/>
              </a:rPr>
              <a:t>1</a:t>
            </a:r>
            <a:r>
              <a:rPr sz="1100" dirty="0">
                <a:latin typeface="Calibri"/>
                <a:cs typeface="Calibri"/>
              </a:rPr>
              <a:t>	</a:t>
            </a:r>
            <a:r>
              <a:rPr sz="1100" i="1" spc="130" dirty="0">
                <a:latin typeface="Calibri"/>
                <a:cs typeface="Calibri"/>
              </a:rPr>
              <a:t>j</a:t>
            </a:r>
            <a:r>
              <a:rPr sz="1100" i="1" dirty="0">
                <a:latin typeface="Calibri"/>
                <a:cs typeface="Calibri"/>
              </a:rPr>
              <a:t>	</a:t>
            </a:r>
            <a:r>
              <a:rPr sz="1100" i="1" spc="-25" dirty="0">
                <a:latin typeface="Calibri"/>
                <a:cs typeface="Calibri"/>
              </a:rPr>
              <a:t>t</a:t>
            </a:r>
            <a:r>
              <a:rPr sz="1100" spc="-25" dirty="0">
                <a:latin typeface="Georgia"/>
                <a:cs typeface="Georgia"/>
              </a:rPr>
              <a:t>.</a:t>
            </a:r>
            <a:endParaRPr sz="1100">
              <a:latin typeface="Georgia"/>
              <a:cs typeface="Georgia"/>
            </a:endParaRPr>
          </a:p>
          <a:p>
            <a:pPr marL="88900" marR="443230">
              <a:lnSpc>
                <a:spcPts val="1150"/>
              </a:lnSpc>
              <a:spcBef>
                <a:spcPts val="735"/>
              </a:spcBef>
            </a:pPr>
            <a:r>
              <a:rPr sz="1100" spc="-10" dirty="0">
                <a:latin typeface="Georgia"/>
                <a:cs typeface="Georgia"/>
              </a:rPr>
              <a:t>Compute</a:t>
            </a:r>
            <a:r>
              <a:rPr sz="1100" spc="40" dirty="0">
                <a:latin typeface="Georgia"/>
                <a:cs typeface="Georgia"/>
              </a:rPr>
              <a:t> </a:t>
            </a:r>
            <a:r>
              <a:rPr sz="1100" spc="-10" dirty="0">
                <a:latin typeface="Georgia"/>
                <a:cs typeface="Georgia"/>
              </a:rPr>
              <a:t>how</a:t>
            </a:r>
            <a:r>
              <a:rPr sz="1100" spc="45" dirty="0">
                <a:latin typeface="Georgia"/>
                <a:cs typeface="Georgia"/>
              </a:rPr>
              <a:t> </a:t>
            </a:r>
            <a:r>
              <a:rPr sz="1100" spc="-35" dirty="0">
                <a:latin typeface="Georgia"/>
                <a:cs typeface="Georgia"/>
              </a:rPr>
              <a:t>much</a:t>
            </a:r>
            <a:r>
              <a:rPr sz="1100" spc="45" dirty="0">
                <a:latin typeface="Georgia"/>
                <a:cs typeface="Georgia"/>
              </a:rPr>
              <a:t> </a:t>
            </a:r>
            <a:r>
              <a:rPr sz="1100" dirty="0">
                <a:latin typeface="Georgia"/>
                <a:cs typeface="Georgia"/>
              </a:rPr>
              <a:t>the</a:t>
            </a:r>
            <a:r>
              <a:rPr sz="1100" spc="45" dirty="0">
                <a:latin typeface="Georgia"/>
                <a:cs typeface="Georgia"/>
              </a:rPr>
              <a:t> </a:t>
            </a:r>
            <a:r>
              <a:rPr sz="1100" spc="-20" dirty="0">
                <a:latin typeface="Georgia"/>
                <a:cs typeface="Georgia"/>
              </a:rPr>
              <a:t>distribution</a:t>
            </a:r>
            <a:r>
              <a:rPr sz="1100" spc="45" dirty="0">
                <a:latin typeface="Georgia"/>
                <a:cs typeface="Georgia"/>
              </a:rPr>
              <a:t> </a:t>
            </a:r>
            <a:r>
              <a:rPr sz="1100" i="1" spc="195" dirty="0">
                <a:latin typeface="Calibri"/>
                <a:cs typeface="Calibri"/>
              </a:rPr>
              <a:t>f</a:t>
            </a:r>
            <a:r>
              <a:rPr sz="1100" i="1" spc="160" dirty="0">
                <a:latin typeface="Calibri"/>
                <a:cs typeface="Calibri"/>
              </a:rPr>
              <a:t> </a:t>
            </a:r>
            <a:r>
              <a:rPr sz="1100" spc="-25" dirty="0">
                <a:latin typeface="Georgia"/>
                <a:cs typeface="Georgia"/>
              </a:rPr>
              <a:t>differs</a:t>
            </a:r>
            <a:r>
              <a:rPr sz="1100" spc="45" dirty="0">
                <a:latin typeface="Georgia"/>
                <a:cs typeface="Georgia"/>
              </a:rPr>
              <a:t> </a:t>
            </a:r>
            <a:r>
              <a:rPr sz="1100" spc="-25" dirty="0">
                <a:latin typeface="Georgia"/>
                <a:cs typeface="Georgia"/>
              </a:rPr>
              <a:t>from</a:t>
            </a:r>
            <a:r>
              <a:rPr sz="1100" spc="45" dirty="0">
                <a:latin typeface="Georgia"/>
                <a:cs typeface="Georgia"/>
              </a:rPr>
              <a:t> </a:t>
            </a:r>
            <a:r>
              <a:rPr sz="1100" i="1" spc="50" dirty="0">
                <a:latin typeface="Calibri"/>
                <a:cs typeface="Calibri"/>
              </a:rPr>
              <a:t>g</a:t>
            </a:r>
            <a:r>
              <a:rPr sz="1200" i="1" spc="75" baseline="-10416" dirty="0">
                <a:latin typeface="Calibri"/>
                <a:cs typeface="Calibri"/>
              </a:rPr>
              <a:t>j</a:t>
            </a:r>
            <a:r>
              <a:rPr sz="1200" i="1" spc="300" baseline="-10416" dirty="0">
                <a:latin typeface="Calibri"/>
                <a:cs typeface="Calibri"/>
              </a:rPr>
              <a:t> </a:t>
            </a:r>
            <a:r>
              <a:rPr sz="1100" dirty="0">
                <a:latin typeface="Georgia"/>
                <a:cs typeface="Georgia"/>
              </a:rPr>
              <a:t>(for</a:t>
            </a:r>
            <a:r>
              <a:rPr sz="1100" spc="45" dirty="0">
                <a:latin typeface="Georgia"/>
                <a:cs typeface="Georgia"/>
              </a:rPr>
              <a:t> </a:t>
            </a:r>
            <a:r>
              <a:rPr sz="1100" i="1" spc="180" dirty="0">
                <a:latin typeface="Calibri"/>
                <a:cs typeface="Calibri"/>
              </a:rPr>
              <a:t>j</a:t>
            </a:r>
            <a:r>
              <a:rPr sz="1100" i="1" spc="65" dirty="0">
                <a:latin typeface="Calibri"/>
                <a:cs typeface="Calibri"/>
              </a:rPr>
              <a:t> </a:t>
            </a:r>
            <a:r>
              <a:rPr sz="1100" spc="295" dirty="0">
                <a:latin typeface="Calibri"/>
                <a:cs typeface="Calibri"/>
              </a:rPr>
              <a:t>=</a:t>
            </a:r>
            <a:r>
              <a:rPr sz="1100" spc="10" dirty="0">
                <a:latin typeface="Calibri"/>
                <a:cs typeface="Calibri"/>
              </a:rPr>
              <a:t> </a:t>
            </a:r>
            <a:r>
              <a:rPr sz="1100" dirty="0">
                <a:latin typeface="Calibri"/>
                <a:cs typeface="Calibri"/>
              </a:rPr>
              <a:t>1</a:t>
            </a:r>
            <a:r>
              <a:rPr sz="1100" i="1" dirty="0">
                <a:latin typeface="Calibri"/>
                <a:cs typeface="Calibri"/>
              </a:rPr>
              <a:t>..t</a:t>
            </a:r>
            <a:r>
              <a:rPr sz="1100" dirty="0">
                <a:latin typeface="Georgia"/>
                <a:cs typeface="Georgia"/>
              </a:rPr>
              <a:t>)</a:t>
            </a:r>
            <a:r>
              <a:rPr sz="1100" spc="45" dirty="0">
                <a:latin typeface="Georgia"/>
                <a:cs typeface="Georgia"/>
              </a:rPr>
              <a:t> </a:t>
            </a:r>
            <a:r>
              <a:rPr sz="1100" spc="-20" dirty="0">
                <a:latin typeface="Georgia"/>
                <a:cs typeface="Georgia"/>
              </a:rPr>
              <a:t>using</a:t>
            </a:r>
            <a:r>
              <a:rPr sz="1100" spc="45" dirty="0">
                <a:latin typeface="Georgia"/>
                <a:cs typeface="Georgia"/>
              </a:rPr>
              <a:t> </a:t>
            </a:r>
            <a:r>
              <a:rPr sz="1100" spc="-25" dirty="0">
                <a:latin typeface="Georgia"/>
                <a:cs typeface="Georgia"/>
              </a:rPr>
              <a:t>the </a:t>
            </a:r>
            <a:r>
              <a:rPr sz="1100" spc="-30" dirty="0">
                <a:latin typeface="Georgia"/>
                <a:cs typeface="Georgia"/>
              </a:rPr>
              <a:t>Kullback–Leibler</a:t>
            </a:r>
            <a:r>
              <a:rPr sz="1100" spc="85" dirty="0">
                <a:latin typeface="Georgia"/>
                <a:cs typeface="Georgia"/>
              </a:rPr>
              <a:t> </a:t>
            </a:r>
            <a:r>
              <a:rPr sz="1100" dirty="0">
                <a:latin typeface="Georgia"/>
                <a:cs typeface="Georgia"/>
              </a:rPr>
              <a:t>(KL)</a:t>
            </a:r>
            <a:r>
              <a:rPr sz="1100" spc="90" dirty="0">
                <a:latin typeface="Georgia"/>
                <a:cs typeface="Georgia"/>
              </a:rPr>
              <a:t> </a:t>
            </a:r>
            <a:r>
              <a:rPr sz="1100" spc="-35" dirty="0">
                <a:latin typeface="Georgia"/>
                <a:cs typeface="Georgia"/>
              </a:rPr>
              <a:t>divergence</a:t>
            </a:r>
            <a:r>
              <a:rPr sz="1100" spc="85" dirty="0">
                <a:latin typeface="Georgia"/>
                <a:cs typeface="Georgia"/>
              </a:rPr>
              <a:t> </a:t>
            </a:r>
            <a:r>
              <a:rPr sz="1100" spc="-25" dirty="0">
                <a:latin typeface="Georgia"/>
                <a:cs typeface="Georgia"/>
              </a:rPr>
              <a:t>from</a:t>
            </a:r>
            <a:r>
              <a:rPr sz="1100" spc="90" dirty="0">
                <a:latin typeface="Georgia"/>
                <a:cs typeface="Georgia"/>
              </a:rPr>
              <a:t> </a:t>
            </a:r>
            <a:r>
              <a:rPr sz="1100" i="1" spc="195" dirty="0">
                <a:latin typeface="Calibri"/>
                <a:cs typeface="Calibri"/>
              </a:rPr>
              <a:t>f</a:t>
            </a:r>
            <a:r>
              <a:rPr sz="1100" i="1" spc="220" dirty="0">
                <a:latin typeface="Calibri"/>
                <a:cs typeface="Calibri"/>
              </a:rPr>
              <a:t> </a:t>
            </a:r>
            <a:r>
              <a:rPr sz="1100" dirty="0">
                <a:latin typeface="Georgia"/>
                <a:cs typeface="Georgia"/>
              </a:rPr>
              <a:t>to</a:t>
            </a:r>
            <a:r>
              <a:rPr sz="1100" spc="90" dirty="0">
                <a:latin typeface="Georgia"/>
                <a:cs typeface="Georgia"/>
              </a:rPr>
              <a:t> </a:t>
            </a:r>
            <a:r>
              <a:rPr sz="1100" i="1" spc="50" dirty="0">
                <a:latin typeface="Calibri"/>
                <a:cs typeface="Calibri"/>
              </a:rPr>
              <a:t>g</a:t>
            </a:r>
            <a:r>
              <a:rPr sz="1200" i="1" spc="75" baseline="-10416" dirty="0">
                <a:latin typeface="Calibri"/>
                <a:cs typeface="Calibri"/>
              </a:rPr>
              <a:t>j</a:t>
            </a:r>
            <a:r>
              <a:rPr sz="1200" i="1" spc="-127" baseline="-10416" dirty="0">
                <a:latin typeface="Calibri"/>
                <a:cs typeface="Calibri"/>
              </a:rPr>
              <a:t> </a:t>
            </a:r>
            <a:r>
              <a:rPr sz="1100" dirty="0">
                <a:latin typeface="Georgia"/>
                <a:cs typeface="Georgia"/>
              </a:rPr>
              <a:t>,</a:t>
            </a:r>
            <a:r>
              <a:rPr sz="1100" spc="90" dirty="0">
                <a:latin typeface="Georgia"/>
                <a:cs typeface="Georgia"/>
              </a:rPr>
              <a:t> </a:t>
            </a:r>
            <a:r>
              <a:rPr sz="1100" spc="-40" dirty="0">
                <a:latin typeface="Georgia"/>
                <a:cs typeface="Georgia"/>
              </a:rPr>
              <a:t>defined</a:t>
            </a:r>
            <a:r>
              <a:rPr sz="1100" spc="90" dirty="0">
                <a:latin typeface="Georgia"/>
                <a:cs typeface="Georgia"/>
              </a:rPr>
              <a:t> </a:t>
            </a:r>
            <a:r>
              <a:rPr sz="1100" spc="-25" dirty="0">
                <a:latin typeface="Georgia"/>
                <a:cs typeface="Georgia"/>
              </a:rPr>
              <a:t>as:</a:t>
            </a:r>
            <a:endParaRPr sz="1100">
              <a:latin typeface="Georgia"/>
              <a:cs typeface="Georgia"/>
            </a:endParaRPr>
          </a:p>
        </p:txBody>
      </p:sp>
      <p:sp>
        <p:nvSpPr>
          <p:cNvPr id="17" name="object 17"/>
          <p:cNvSpPr txBox="1"/>
          <p:nvPr/>
        </p:nvSpPr>
        <p:spPr>
          <a:xfrm>
            <a:off x="5381459" y="1847708"/>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(4)</a:t>
            </a:r>
            <a:endParaRPr sz="1100">
              <a:latin typeface="Georgia"/>
              <a:cs typeface="Georgia"/>
            </a:endParaRPr>
          </a:p>
        </p:txBody>
      </p:sp>
      <p:sp>
        <p:nvSpPr>
          <p:cNvPr id="18" name="object 18"/>
          <p:cNvSpPr/>
          <p:nvPr/>
        </p:nvSpPr>
        <p:spPr>
          <a:xfrm>
            <a:off x="337972" y="232987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9" name="object 19"/>
          <p:cNvSpPr txBox="1"/>
          <p:nvPr/>
        </p:nvSpPr>
        <p:spPr>
          <a:xfrm>
            <a:off x="428777" y="2238272"/>
            <a:ext cx="4940300" cy="191770"/>
          </a:xfrm>
          <a:prstGeom prst="rect">
            <a:avLst/>
          </a:prstGeom>
        </p:spPr>
        <p:txBody>
          <a:bodyPr vert="horz" wrap="square" lIns="0" tIns="11430" rIns="0" bIns="0" rtlCol="0">
            <a:spAutoFit/>
          </a:bodyPr>
          <a:lstStyle/>
          <a:p>
            <a:pPr marL="38100">
              <a:lnSpc>
                <a:spcPct val="100000"/>
              </a:lnSpc>
              <a:spcBef>
                <a:spcPts val="90"/>
              </a:spcBef>
            </a:pPr>
            <a:r>
              <a:rPr sz="1100" dirty="0">
                <a:latin typeface="Georgia"/>
                <a:cs typeface="Georgia"/>
              </a:rPr>
              <a:t>The</a:t>
            </a:r>
            <a:r>
              <a:rPr sz="1100" spc="45" dirty="0">
                <a:latin typeface="Georgia"/>
                <a:cs typeface="Georgia"/>
              </a:rPr>
              <a:t> </a:t>
            </a:r>
            <a:r>
              <a:rPr sz="1100" dirty="0">
                <a:latin typeface="Georgia"/>
                <a:cs typeface="Georgia"/>
              </a:rPr>
              <a:t>KL</a:t>
            </a:r>
            <a:r>
              <a:rPr sz="1100" spc="50" dirty="0">
                <a:latin typeface="Georgia"/>
                <a:cs typeface="Georgia"/>
              </a:rPr>
              <a:t> </a:t>
            </a:r>
            <a:r>
              <a:rPr sz="1100" spc="-35" dirty="0">
                <a:latin typeface="Georgia"/>
                <a:cs typeface="Georgia"/>
              </a:rPr>
              <a:t>divergence</a:t>
            </a:r>
            <a:r>
              <a:rPr sz="1100" spc="50" dirty="0">
                <a:latin typeface="Georgia"/>
                <a:cs typeface="Georgia"/>
              </a:rPr>
              <a:t> </a:t>
            </a:r>
            <a:r>
              <a:rPr sz="1100" dirty="0">
                <a:latin typeface="Georgia"/>
                <a:cs typeface="Georgia"/>
              </a:rPr>
              <a:t>is</a:t>
            </a:r>
            <a:r>
              <a:rPr sz="1100" spc="50" dirty="0">
                <a:latin typeface="Georgia"/>
                <a:cs typeface="Georgia"/>
              </a:rPr>
              <a:t> </a:t>
            </a:r>
            <a:r>
              <a:rPr sz="1100" spc="-10" dirty="0">
                <a:latin typeface="Georgia"/>
                <a:cs typeface="Georgia"/>
              </a:rPr>
              <a:t>zero</a:t>
            </a:r>
            <a:r>
              <a:rPr sz="1100" spc="50" dirty="0">
                <a:latin typeface="Georgia"/>
                <a:cs typeface="Georgia"/>
              </a:rPr>
              <a:t> </a:t>
            </a:r>
            <a:r>
              <a:rPr sz="1100" dirty="0">
                <a:latin typeface="Georgia"/>
                <a:cs typeface="Georgia"/>
              </a:rPr>
              <a:t>only</a:t>
            </a:r>
            <a:r>
              <a:rPr sz="1100" spc="50" dirty="0">
                <a:latin typeface="Georgia"/>
                <a:cs typeface="Georgia"/>
              </a:rPr>
              <a:t> </a:t>
            </a:r>
            <a:r>
              <a:rPr sz="1100" spc="-20" dirty="0">
                <a:latin typeface="Georgia"/>
                <a:cs typeface="Georgia"/>
              </a:rPr>
              <a:t>when</a:t>
            </a:r>
            <a:r>
              <a:rPr sz="1100" spc="50" dirty="0">
                <a:latin typeface="Georgia"/>
                <a:cs typeface="Georgia"/>
              </a:rPr>
              <a:t> </a:t>
            </a:r>
            <a:r>
              <a:rPr sz="1100" i="1" spc="195" dirty="0">
                <a:latin typeface="Calibri"/>
                <a:cs typeface="Calibri"/>
              </a:rPr>
              <a:t>f</a:t>
            </a:r>
            <a:r>
              <a:rPr sz="1100" i="1" spc="170" dirty="0">
                <a:latin typeface="Calibri"/>
                <a:cs typeface="Calibri"/>
              </a:rPr>
              <a:t> </a:t>
            </a:r>
            <a:r>
              <a:rPr sz="1100" dirty="0">
                <a:latin typeface="Georgia"/>
                <a:cs typeface="Georgia"/>
              </a:rPr>
              <a:t>and</a:t>
            </a:r>
            <a:r>
              <a:rPr sz="1100" spc="50" dirty="0">
                <a:latin typeface="Georgia"/>
                <a:cs typeface="Georgia"/>
              </a:rPr>
              <a:t> </a:t>
            </a:r>
            <a:r>
              <a:rPr sz="1100" i="1" spc="50" dirty="0">
                <a:latin typeface="Calibri"/>
                <a:cs typeface="Calibri"/>
              </a:rPr>
              <a:t>g</a:t>
            </a:r>
            <a:r>
              <a:rPr sz="1200" i="1" spc="75" baseline="-10416" dirty="0">
                <a:latin typeface="Calibri"/>
                <a:cs typeface="Calibri"/>
              </a:rPr>
              <a:t>j</a:t>
            </a:r>
            <a:r>
              <a:rPr sz="1200" i="1" spc="315" baseline="-10416" dirty="0">
                <a:latin typeface="Calibri"/>
                <a:cs typeface="Calibri"/>
              </a:rPr>
              <a:t> </a:t>
            </a:r>
            <a:r>
              <a:rPr sz="1100" dirty="0">
                <a:latin typeface="Georgia"/>
                <a:cs typeface="Georgia"/>
              </a:rPr>
              <a:t>are</a:t>
            </a:r>
            <a:r>
              <a:rPr sz="1100" spc="50" dirty="0">
                <a:latin typeface="Georgia"/>
                <a:cs typeface="Georgia"/>
              </a:rPr>
              <a:t> </a:t>
            </a:r>
            <a:r>
              <a:rPr sz="1100" dirty="0">
                <a:latin typeface="Georgia"/>
                <a:cs typeface="Georgia"/>
              </a:rPr>
              <a:t>the</a:t>
            </a:r>
            <a:r>
              <a:rPr sz="1100" spc="50" dirty="0">
                <a:latin typeface="Georgia"/>
                <a:cs typeface="Georgia"/>
              </a:rPr>
              <a:t> </a:t>
            </a:r>
            <a:r>
              <a:rPr sz="1100" spc="-25" dirty="0">
                <a:latin typeface="Georgia"/>
                <a:cs typeface="Georgia"/>
              </a:rPr>
              <a:t>same</a:t>
            </a:r>
            <a:r>
              <a:rPr sz="1100" spc="50" dirty="0">
                <a:latin typeface="Georgia"/>
                <a:cs typeface="Georgia"/>
              </a:rPr>
              <a:t> </a:t>
            </a:r>
            <a:r>
              <a:rPr sz="1100" spc="-20" dirty="0">
                <a:latin typeface="Georgia"/>
                <a:cs typeface="Georgia"/>
              </a:rPr>
              <a:t>distributions.</a:t>
            </a:r>
            <a:r>
              <a:rPr sz="1100" spc="150" dirty="0">
                <a:latin typeface="Georgia"/>
                <a:cs typeface="Georgia"/>
              </a:rPr>
              <a:t> </a:t>
            </a:r>
            <a:r>
              <a:rPr sz="1100" spc="-10" dirty="0">
                <a:latin typeface="Georgia"/>
                <a:cs typeface="Georgia"/>
              </a:rPr>
              <a:t>Using</a:t>
            </a:r>
            <a:endParaRPr sz="1100">
              <a:latin typeface="Georgia"/>
              <a:cs typeface="Georgia"/>
            </a:endParaRPr>
          </a:p>
        </p:txBody>
      </p:sp>
      <p:sp>
        <p:nvSpPr>
          <p:cNvPr id="20" name="object 20"/>
          <p:cNvSpPr txBox="1"/>
          <p:nvPr/>
        </p:nvSpPr>
        <p:spPr>
          <a:xfrm>
            <a:off x="454177" y="2384537"/>
            <a:ext cx="4850765" cy="191770"/>
          </a:xfrm>
          <a:prstGeom prst="rect">
            <a:avLst/>
          </a:prstGeom>
        </p:spPr>
        <p:txBody>
          <a:bodyPr vert="horz" wrap="square" lIns="0" tIns="11430" rIns="0" bIns="0" rtlCol="0">
            <a:spAutoFit/>
          </a:bodyPr>
          <a:lstStyle/>
          <a:p>
            <a:pPr marL="12700">
              <a:lnSpc>
                <a:spcPct val="100000"/>
              </a:lnSpc>
              <a:spcBef>
                <a:spcPts val="90"/>
              </a:spcBef>
            </a:pPr>
            <a:r>
              <a:rPr sz="1100" spc="-10" dirty="0">
                <a:latin typeface="Georgia"/>
                <a:cs typeface="Georgia"/>
              </a:rPr>
              <a:t>these</a:t>
            </a:r>
            <a:r>
              <a:rPr sz="1100" spc="10" dirty="0">
                <a:latin typeface="Georgia"/>
                <a:cs typeface="Georgia"/>
              </a:rPr>
              <a:t> </a:t>
            </a:r>
            <a:r>
              <a:rPr sz="1100" spc="-35" dirty="0">
                <a:latin typeface="Georgia"/>
                <a:cs typeface="Georgia"/>
              </a:rPr>
              <a:t>divergence</a:t>
            </a:r>
            <a:r>
              <a:rPr sz="1100" spc="10" dirty="0">
                <a:latin typeface="Georgia"/>
                <a:cs typeface="Georgia"/>
              </a:rPr>
              <a:t> </a:t>
            </a:r>
            <a:r>
              <a:rPr sz="1100" spc="-20" dirty="0">
                <a:latin typeface="Georgia"/>
                <a:cs typeface="Georgia"/>
              </a:rPr>
              <a:t>values,</a:t>
            </a:r>
            <a:r>
              <a:rPr sz="1100" spc="15" dirty="0">
                <a:latin typeface="Georgia"/>
                <a:cs typeface="Georgia"/>
              </a:rPr>
              <a:t> </a:t>
            </a:r>
            <a:r>
              <a:rPr sz="1100" spc="-10" dirty="0">
                <a:latin typeface="Georgia"/>
                <a:cs typeface="Georgia"/>
              </a:rPr>
              <a:t>we</a:t>
            </a:r>
            <a:r>
              <a:rPr sz="1100" spc="10" dirty="0">
                <a:latin typeface="Georgia"/>
                <a:cs typeface="Georgia"/>
              </a:rPr>
              <a:t> </a:t>
            </a:r>
            <a:r>
              <a:rPr sz="1100" dirty="0">
                <a:latin typeface="Georgia"/>
                <a:cs typeface="Georgia"/>
              </a:rPr>
              <a:t>can</a:t>
            </a:r>
            <a:r>
              <a:rPr sz="1100" spc="15" dirty="0">
                <a:latin typeface="Georgia"/>
                <a:cs typeface="Georgia"/>
              </a:rPr>
              <a:t> </a:t>
            </a:r>
            <a:r>
              <a:rPr sz="1100" spc="-20" dirty="0">
                <a:latin typeface="Georgia"/>
                <a:cs typeface="Georgia"/>
              </a:rPr>
              <a:t>compute</a:t>
            </a:r>
            <a:r>
              <a:rPr sz="1100" spc="10" dirty="0">
                <a:latin typeface="Georgia"/>
                <a:cs typeface="Georgia"/>
              </a:rPr>
              <a:t> </a:t>
            </a:r>
            <a:r>
              <a:rPr sz="1100" spc="-10" dirty="0">
                <a:latin typeface="Georgia"/>
                <a:cs typeface="Georgia"/>
              </a:rPr>
              <a:t>how</a:t>
            </a:r>
            <a:r>
              <a:rPr sz="1100" spc="15" dirty="0">
                <a:latin typeface="Georgia"/>
                <a:cs typeface="Georgia"/>
              </a:rPr>
              <a:t> </a:t>
            </a:r>
            <a:r>
              <a:rPr sz="1100" spc="-35" dirty="0">
                <a:latin typeface="Georgia"/>
                <a:cs typeface="Georgia"/>
              </a:rPr>
              <a:t>much</a:t>
            </a:r>
            <a:r>
              <a:rPr sz="1100" spc="10" dirty="0">
                <a:latin typeface="Georgia"/>
                <a:cs typeface="Georgia"/>
              </a:rPr>
              <a:t> </a:t>
            </a:r>
            <a:r>
              <a:rPr sz="1100" dirty="0">
                <a:latin typeface="Georgia"/>
                <a:cs typeface="Georgia"/>
              </a:rPr>
              <a:t>the</a:t>
            </a:r>
            <a:r>
              <a:rPr sz="1100" spc="15" dirty="0">
                <a:latin typeface="Georgia"/>
                <a:cs typeface="Georgia"/>
              </a:rPr>
              <a:t> </a:t>
            </a:r>
            <a:r>
              <a:rPr sz="1100" dirty="0">
                <a:latin typeface="Georgia"/>
                <a:cs typeface="Georgia"/>
              </a:rPr>
              <a:t>dataset</a:t>
            </a:r>
            <a:r>
              <a:rPr sz="1100" spc="10" dirty="0">
                <a:latin typeface="Georgia"/>
                <a:cs typeface="Georgia"/>
              </a:rPr>
              <a:t> </a:t>
            </a:r>
            <a:r>
              <a:rPr sz="1100" spc="114" dirty="0">
                <a:latin typeface="Cambria"/>
                <a:cs typeface="Cambria"/>
              </a:rPr>
              <a:t>D</a:t>
            </a:r>
            <a:r>
              <a:rPr sz="1100" spc="50" dirty="0">
                <a:latin typeface="Cambria"/>
                <a:cs typeface="Cambria"/>
              </a:rPr>
              <a:t> </a:t>
            </a:r>
            <a:r>
              <a:rPr sz="1100" spc="-25" dirty="0">
                <a:latin typeface="Georgia"/>
                <a:cs typeface="Georgia"/>
              </a:rPr>
              <a:t>differs</a:t>
            </a:r>
            <a:r>
              <a:rPr sz="1100" spc="15" dirty="0">
                <a:latin typeface="Georgia"/>
                <a:cs typeface="Georgia"/>
              </a:rPr>
              <a:t> </a:t>
            </a:r>
            <a:r>
              <a:rPr sz="1100" spc="-25" dirty="0">
                <a:latin typeface="Georgia"/>
                <a:cs typeface="Georgia"/>
              </a:rPr>
              <a:t>from</a:t>
            </a:r>
            <a:r>
              <a:rPr sz="1100" spc="10" dirty="0">
                <a:latin typeface="Georgia"/>
                <a:cs typeface="Georgia"/>
              </a:rPr>
              <a:t> </a:t>
            </a:r>
            <a:r>
              <a:rPr sz="1100" spc="-50" dirty="0">
                <a:latin typeface="Georgia"/>
                <a:cs typeface="Georgia"/>
              </a:rPr>
              <a:t>a</a:t>
            </a:r>
            <a:endParaRPr sz="1100">
              <a:latin typeface="Georgia"/>
              <a:cs typeface="Georgia"/>
            </a:endParaRPr>
          </a:p>
        </p:txBody>
      </p:sp>
      <p:sp>
        <p:nvSpPr>
          <p:cNvPr id="21" name="object 21"/>
          <p:cNvSpPr txBox="1"/>
          <p:nvPr/>
        </p:nvSpPr>
        <p:spPr>
          <a:xfrm>
            <a:off x="428777" y="2458844"/>
            <a:ext cx="4244975" cy="502284"/>
          </a:xfrm>
          <a:prstGeom prst="rect">
            <a:avLst/>
          </a:prstGeom>
        </p:spPr>
        <p:txBody>
          <a:bodyPr vert="horz" wrap="square" lIns="0" tIns="83185" rIns="0" bIns="0" rtlCol="0">
            <a:spAutoFit/>
          </a:bodyPr>
          <a:lstStyle/>
          <a:p>
            <a:pPr marL="38100">
              <a:lnSpc>
                <a:spcPct val="100000"/>
              </a:lnSpc>
              <a:spcBef>
                <a:spcPts val="655"/>
              </a:spcBef>
            </a:pPr>
            <a:r>
              <a:rPr sz="1100" spc="-30" dirty="0">
                <a:latin typeface="Georgia"/>
                <a:cs typeface="Georgia"/>
              </a:rPr>
              <a:t>random</a:t>
            </a:r>
            <a:r>
              <a:rPr sz="1100" spc="10" dirty="0">
                <a:latin typeface="Georgia"/>
                <a:cs typeface="Georgia"/>
              </a:rPr>
              <a:t> </a:t>
            </a:r>
            <a:r>
              <a:rPr sz="1100" spc="-10" dirty="0">
                <a:latin typeface="Georgia"/>
                <a:cs typeface="Georgia"/>
              </a:rPr>
              <a:t>dataset.</a:t>
            </a:r>
            <a:endParaRPr sz="1100">
              <a:latin typeface="Georgia"/>
              <a:cs typeface="Georgia"/>
            </a:endParaRPr>
          </a:p>
          <a:p>
            <a:pPr marL="38100">
              <a:lnSpc>
                <a:spcPct val="100000"/>
              </a:lnSpc>
              <a:spcBef>
                <a:spcPts val="555"/>
              </a:spcBef>
            </a:pPr>
            <a:r>
              <a:rPr sz="1100" spc="-10" dirty="0">
                <a:latin typeface="Georgia"/>
                <a:cs typeface="Georgia"/>
              </a:rPr>
              <a:t>Compute</a:t>
            </a:r>
            <a:r>
              <a:rPr sz="1100" spc="20" dirty="0">
                <a:latin typeface="Georgia"/>
                <a:cs typeface="Georgia"/>
              </a:rPr>
              <a:t> </a:t>
            </a:r>
            <a:r>
              <a:rPr sz="1100" dirty="0">
                <a:latin typeface="Georgia"/>
                <a:cs typeface="Georgia"/>
              </a:rPr>
              <a:t>the</a:t>
            </a:r>
            <a:r>
              <a:rPr sz="1100" spc="50" dirty="0">
                <a:latin typeface="Georgia"/>
                <a:cs typeface="Georgia"/>
              </a:rPr>
              <a:t> </a:t>
            </a:r>
            <a:r>
              <a:rPr sz="1100" spc="-10" dirty="0">
                <a:latin typeface="Georgia"/>
                <a:cs typeface="Georgia"/>
              </a:rPr>
              <a:t>expectation</a:t>
            </a:r>
            <a:r>
              <a:rPr sz="1100" spc="45" dirty="0">
                <a:latin typeface="Georgia"/>
                <a:cs typeface="Georgia"/>
              </a:rPr>
              <a:t> </a:t>
            </a:r>
            <a:r>
              <a:rPr sz="1100" dirty="0">
                <a:latin typeface="Georgia"/>
                <a:cs typeface="Georgia"/>
              </a:rPr>
              <a:t>and</a:t>
            </a:r>
            <a:r>
              <a:rPr sz="1100" spc="50" dirty="0">
                <a:latin typeface="Georgia"/>
                <a:cs typeface="Georgia"/>
              </a:rPr>
              <a:t> </a:t>
            </a:r>
            <a:r>
              <a:rPr sz="1100" dirty="0">
                <a:latin typeface="Georgia"/>
                <a:cs typeface="Georgia"/>
              </a:rPr>
              <a:t>the</a:t>
            </a:r>
            <a:r>
              <a:rPr sz="1100" spc="50" dirty="0">
                <a:latin typeface="Georgia"/>
                <a:cs typeface="Georgia"/>
              </a:rPr>
              <a:t> </a:t>
            </a:r>
            <a:r>
              <a:rPr sz="1100" spc="-25" dirty="0">
                <a:latin typeface="Georgia"/>
                <a:cs typeface="Georgia"/>
              </a:rPr>
              <a:t>variance</a:t>
            </a:r>
            <a:r>
              <a:rPr sz="1100" spc="45" dirty="0">
                <a:latin typeface="Georgia"/>
                <a:cs typeface="Georgia"/>
              </a:rPr>
              <a:t> </a:t>
            </a:r>
            <a:r>
              <a:rPr sz="1100" dirty="0">
                <a:latin typeface="Georgia"/>
                <a:cs typeface="Georgia"/>
              </a:rPr>
              <a:t>of</a:t>
            </a:r>
            <a:r>
              <a:rPr sz="1100" spc="50" dirty="0">
                <a:latin typeface="Georgia"/>
                <a:cs typeface="Georgia"/>
              </a:rPr>
              <a:t> </a:t>
            </a:r>
            <a:r>
              <a:rPr sz="1100" i="1" spc="105" dirty="0">
                <a:latin typeface="Palatino Linotype"/>
                <a:cs typeface="Palatino Linotype"/>
              </a:rPr>
              <a:t>KL</a:t>
            </a:r>
            <a:r>
              <a:rPr sz="1100" spc="105" dirty="0">
                <a:latin typeface="Calibri"/>
                <a:cs typeface="Calibri"/>
              </a:rPr>
              <a:t>(</a:t>
            </a:r>
            <a:r>
              <a:rPr sz="1100" i="1" spc="105" dirty="0">
                <a:latin typeface="Calibri"/>
                <a:cs typeface="Calibri"/>
              </a:rPr>
              <a:t>f</a:t>
            </a:r>
            <a:r>
              <a:rPr sz="1100" i="1" spc="-135" dirty="0">
                <a:latin typeface="Calibri"/>
                <a:cs typeface="Calibri"/>
              </a:rPr>
              <a:t> </a:t>
            </a:r>
            <a:r>
              <a:rPr sz="1100" dirty="0">
                <a:latin typeface="Cambria"/>
                <a:cs typeface="Cambria"/>
              </a:rPr>
              <a:t>|</a:t>
            </a:r>
            <a:r>
              <a:rPr sz="1100" i="1" dirty="0">
                <a:latin typeface="Calibri"/>
                <a:cs typeface="Calibri"/>
              </a:rPr>
              <a:t>g</a:t>
            </a:r>
            <a:r>
              <a:rPr sz="1200" i="1" baseline="-10416" dirty="0">
                <a:latin typeface="Calibri"/>
                <a:cs typeface="Calibri"/>
              </a:rPr>
              <a:t>j</a:t>
            </a:r>
            <a:r>
              <a:rPr sz="1200" i="1" spc="-127" baseline="-10416" dirty="0">
                <a:latin typeface="Calibri"/>
                <a:cs typeface="Calibri"/>
              </a:rPr>
              <a:t> </a:t>
            </a:r>
            <a:r>
              <a:rPr sz="1100" spc="80" dirty="0">
                <a:latin typeface="Calibri"/>
                <a:cs typeface="Calibri"/>
              </a:rPr>
              <a:t>)</a:t>
            </a:r>
            <a:r>
              <a:rPr sz="1100" spc="65" dirty="0">
                <a:latin typeface="Calibri"/>
                <a:cs typeface="Calibri"/>
              </a:rPr>
              <a:t> </a:t>
            </a:r>
            <a:r>
              <a:rPr sz="1100" dirty="0">
                <a:latin typeface="Georgia"/>
                <a:cs typeface="Georgia"/>
              </a:rPr>
              <a:t>(for</a:t>
            </a:r>
            <a:r>
              <a:rPr sz="1100" spc="45" dirty="0">
                <a:latin typeface="Georgia"/>
                <a:cs typeface="Georgia"/>
              </a:rPr>
              <a:t> </a:t>
            </a:r>
            <a:r>
              <a:rPr sz="1100" i="1" spc="180" dirty="0">
                <a:latin typeface="Calibri"/>
                <a:cs typeface="Calibri"/>
              </a:rPr>
              <a:t>j</a:t>
            </a:r>
            <a:r>
              <a:rPr sz="1100" i="1" spc="70" dirty="0">
                <a:latin typeface="Calibri"/>
                <a:cs typeface="Calibri"/>
              </a:rPr>
              <a:t> </a:t>
            </a:r>
            <a:r>
              <a:rPr sz="1100" spc="295" dirty="0">
                <a:latin typeface="Calibri"/>
                <a:cs typeface="Calibri"/>
              </a:rPr>
              <a:t>=</a:t>
            </a:r>
            <a:r>
              <a:rPr sz="1100" spc="15" dirty="0">
                <a:latin typeface="Calibri"/>
                <a:cs typeface="Calibri"/>
              </a:rPr>
              <a:t> </a:t>
            </a:r>
            <a:r>
              <a:rPr sz="1100" spc="-10" dirty="0">
                <a:latin typeface="Calibri"/>
                <a:cs typeface="Calibri"/>
              </a:rPr>
              <a:t>1</a:t>
            </a:r>
            <a:r>
              <a:rPr sz="1100" i="1" spc="-10" dirty="0">
                <a:latin typeface="Calibri"/>
                <a:cs typeface="Calibri"/>
              </a:rPr>
              <a:t>..t</a:t>
            </a:r>
            <a:r>
              <a:rPr sz="1100" spc="-10" dirty="0">
                <a:latin typeface="Georgia"/>
                <a:cs typeface="Georgia"/>
              </a:rPr>
              <a:t>).</a:t>
            </a:r>
            <a:endParaRPr sz="1100">
              <a:latin typeface="Georgia"/>
              <a:cs typeface="Georgia"/>
            </a:endParaRPr>
          </a:p>
        </p:txBody>
      </p:sp>
      <p:sp>
        <p:nvSpPr>
          <p:cNvPr id="22" name="object 22"/>
          <p:cNvSpPr/>
          <p:nvPr/>
        </p:nvSpPr>
        <p:spPr>
          <a:xfrm>
            <a:off x="337972" y="286062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23" name="object 23"/>
          <p:cNvGrpSpPr/>
          <p:nvPr/>
        </p:nvGrpSpPr>
        <p:grpSpPr>
          <a:xfrm>
            <a:off x="0" y="3121545"/>
            <a:ext cx="5760085" cy="118745"/>
            <a:chOff x="0" y="3121545"/>
            <a:chExt cx="5760085" cy="118745"/>
          </a:xfrm>
        </p:grpSpPr>
        <p:sp>
          <p:nvSpPr>
            <p:cNvPr id="24" name="object 24"/>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25" name="object 25"/>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26" name="object 2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27" name="object 27"/>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28" name="object 28"/>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25</a:t>
            </a:fld>
            <a:r>
              <a:rPr spc="-25" dirty="0"/>
              <a:t> </a:t>
            </a:r>
            <a:r>
              <a:rPr spc="75" dirty="0"/>
              <a:t>/</a:t>
            </a:r>
            <a:r>
              <a:rPr spc="-25" dirty="0"/>
              <a:t> </a:t>
            </a:r>
            <a:r>
              <a:rPr spc="35" dirty="0"/>
              <a:t>135</a:t>
            </a:r>
          </a:p>
        </p:txBody>
      </p:sp>
      <p:pic>
        <p:nvPicPr>
          <p:cNvPr id="30" name="Picture 29">
            <a:extLst>
              <a:ext uri="{FF2B5EF4-FFF2-40B4-BE49-F238E27FC236}">
                <a16:creationId xmlns:a16="http://schemas.microsoft.com/office/drawing/2014/main" id="{82A26377-2756-DA3C-AD0F-9D65CDD424A6}"/>
              </a:ext>
            </a:extLst>
          </p:cNvPr>
          <p:cNvPicPr>
            <a:picLocks noChangeAspect="1"/>
          </p:cNvPicPr>
          <p:nvPr/>
        </p:nvPicPr>
        <p:blipFill>
          <a:blip r:embed="rId5"/>
          <a:stretch>
            <a:fillRect/>
          </a:stretch>
        </p:blipFill>
        <p:spPr>
          <a:xfrm>
            <a:off x="2009609" y="1754861"/>
            <a:ext cx="1739900" cy="47417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60" dirty="0"/>
              <a:t> </a:t>
            </a:r>
            <a:r>
              <a:rPr dirty="0"/>
              <a:t>of</a:t>
            </a:r>
            <a:r>
              <a:rPr spc="260" dirty="0"/>
              <a:t> </a:t>
            </a:r>
            <a:r>
              <a:rPr dirty="0"/>
              <a:t>spatial</a:t>
            </a:r>
            <a:r>
              <a:rPr spc="260" dirty="0"/>
              <a:t> </a:t>
            </a:r>
            <a:r>
              <a:rPr dirty="0"/>
              <a:t>histogram</a:t>
            </a:r>
            <a:r>
              <a:rPr spc="265" dirty="0"/>
              <a:t> </a:t>
            </a:r>
            <a:r>
              <a:rPr spc="-25" dirty="0">
                <a:hlinkClick r:id="rId2" action="ppaction://hlinksldjump"/>
              </a:rPr>
              <a:t>[4]</a:t>
            </a:r>
          </a:p>
        </p:txBody>
      </p:sp>
      <p:sp>
        <p:nvSpPr>
          <p:cNvPr id="3" name="object 3"/>
          <p:cNvSpPr/>
          <p:nvPr/>
        </p:nvSpPr>
        <p:spPr>
          <a:xfrm>
            <a:off x="337972" y="55798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124889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337972" y="1633372"/>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216411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pic>
        <p:nvPicPr>
          <p:cNvPr id="7" name="object 7"/>
          <p:cNvPicPr/>
          <p:nvPr/>
        </p:nvPicPr>
        <p:blipFill>
          <a:blip r:embed="rId3" cstate="print"/>
          <a:stretch>
            <a:fillRect/>
          </a:stretch>
        </p:blipFill>
        <p:spPr>
          <a:xfrm>
            <a:off x="4830305" y="2134857"/>
            <a:ext cx="88900" cy="107950"/>
          </a:xfrm>
          <a:prstGeom prst="rect">
            <a:avLst/>
          </a:prstGeom>
        </p:spPr>
      </p:pic>
      <p:pic>
        <p:nvPicPr>
          <p:cNvPr id="8" name="object 8"/>
          <p:cNvPicPr/>
          <p:nvPr/>
        </p:nvPicPr>
        <p:blipFill>
          <a:blip r:embed="rId3" cstate="print"/>
          <a:stretch>
            <a:fillRect/>
          </a:stretch>
        </p:blipFill>
        <p:spPr>
          <a:xfrm>
            <a:off x="5080025" y="2134857"/>
            <a:ext cx="88900" cy="107950"/>
          </a:xfrm>
          <a:prstGeom prst="rect">
            <a:avLst/>
          </a:prstGeom>
        </p:spPr>
      </p:pic>
      <p:sp>
        <p:nvSpPr>
          <p:cNvPr id="9" name="object 9"/>
          <p:cNvSpPr/>
          <p:nvPr/>
        </p:nvSpPr>
        <p:spPr>
          <a:xfrm>
            <a:off x="337972" y="2548610"/>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0" name="object 10"/>
          <p:cNvSpPr txBox="1"/>
          <p:nvPr/>
        </p:nvSpPr>
        <p:spPr>
          <a:xfrm>
            <a:off x="377977" y="466380"/>
            <a:ext cx="5255895" cy="2475230"/>
          </a:xfrm>
          <a:prstGeom prst="rect">
            <a:avLst/>
          </a:prstGeom>
        </p:spPr>
        <p:txBody>
          <a:bodyPr vert="horz" wrap="square" lIns="0" tIns="27940" rIns="0" bIns="0" rtlCol="0">
            <a:spAutoFit/>
          </a:bodyPr>
          <a:lstStyle/>
          <a:p>
            <a:pPr marL="88900" marR="55880">
              <a:lnSpc>
                <a:spcPct val="90000"/>
              </a:lnSpc>
              <a:spcBef>
                <a:spcPts val="220"/>
              </a:spcBef>
            </a:pPr>
            <a:r>
              <a:rPr sz="1100" dirty="0">
                <a:latin typeface="Georgia"/>
                <a:cs typeface="Georgia"/>
              </a:rPr>
              <a:t>The</a:t>
            </a:r>
            <a:r>
              <a:rPr sz="1100" spc="35" dirty="0">
                <a:latin typeface="Georgia"/>
                <a:cs typeface="Georgia"/>
              </a:rPr>
              <a:t> </a:t>
            </a:r>
            <a:r>
              <a:rPr sz="1100" spc="-20" dirty="0">
                <a:latin typeface="Georgia"/>
                <a:cs typeface="Georgia"/>
              </a:rPr>
              <a:t>main</a:t>
            </a:r>
            <a:r>
              <a:rPr sz="1100" spc="35" dirty="0">
                <a:latin typeface="Georgia"/>
                <a:cs typeface="Georgia"/>
              </a:rPr>
              <a:t> </a:t>
            </a:r>
            <a:r>
              <a:rPr sz="1100" spc="-10" dirty="0">
                <a:latin typeface="Georgia"/>
                <a:cs typeface="Georgia"/>
              </a:rPr>
              <a:t>limitation</a:t>
            </a:r>
            <a:r>
              <a:rPr sz="1100" spc="35" dirty="0">
                <a:latin typeface="Georgia"/>
                <a:cs typeface="Georgia"/>
              </a:rPr>
              <a:t> </a:t>
            </a:r>
            <a:r>
              <a:rPr sz="1100" dirty="0">
                <a:latin typeface="Georgia"/>
                <a:cs typeface="Georgia"/>
              </a:rPr>
              <a:t>of</a:t>
            </a:r>
            <a:r>
              <a:rPr sz="1100" spc="35" dirty="0">
                <a:latin typeface="Georgia"/>
                <a:cs typeface="Georgia"/>
              </a:rPr>
              <a:t> </a:t>
            </a:r>
            <a:r>
              <a:rPr sz="1100" dirty="0">
                <a:latin typeface="Georgia"/>
                <a:cs typeface="Georgia"/>
              </a:rPr>
              <a:t>this</a:t>
            </a:r>
            <a:r>
              <a:rPr sz="1100" spc="35" dirty="0">
                <a:latin typeface="Georgia"/>
                <a:cs typeface="Georgia"/>
              </a:rPr>
              <a:t> </a:t>
            </a:r>
            <a:r>
              <a:rPr sz="1100" spc="-25" dirty="0">
                <a:latin typeface="Georgia"/>
                <a:cs typeface="Georgia"/>
              </a:rPr>
              <a:t>approach</a:t>
            </a:r>
            <a:r>
              <a:rPr sz="1100" spc="35" dirty="0">
                <a:latin typeface="Georgia"/>
                <a:cs typeface="Georgia"/>
              </a:rPr>
              <a:t> </a:t>
            </a:r>
            <a:r>
              <a:rPr sz="1100" dirty="0">
                <a:latin typeface="Georgia"/>
                <a:cs typeface="Georgia"/>
              </a:rPr>
              <a:t>is</a:t>
            </a:r>
            <a:r>
              <a:rPr sz="1100" spc="40" dirty="0">
                <a:latin typeface="Georgia"/>
                <a:cs typeface="Georgia"/>
              </a:rPr>
              <a:t> </a:t>
            </a:r>
            <a:r>
              <a:rPr sz="1100" dirty="0">
                <a:latin typeface="Georgia"/>
                <a:cs typeface="Georgia"/>
              </a:rPr>
              <a:t>that</a:t>
            </a:r>
            <a:r>
              <a:rPr sz="1100" spc="35" dirty="0">
                <a:latin typeface="Georgia"/>
                <a:cs typeface="Georgia"/>
              </a:rPr>
              <a:t> </a:t>
            </a:r>
            <a:r>
              <a:rPr sz="1100" dirty="0">
                <a:latin typeface="Georgia"/>
                <a:cs typeface="Georgia"/>
              </a:rPr>
              <a:t>as</a:t>
            </a:r>
            <a:r>
              <a:rPr sz="1100" spc="35" dirty="0">
                <a:latin typeface="Georgia"/>
                <a:cs typeface="Georgia"/>
              </a:rPr>
              <a:t> </a:t>
            </a:r>
            <a:r>
              <a:rPr sz="1100" spc="-30" dirty="0">
                <a:latin typeface="Georgia"/>
                <a:cs typeface="Georgia"/>
              </a:rPr>
              <a:t>dimensionality</a:t>
            </a:r>
            <a:r>
              <a:rPr sz="1100" spc="35" dirty="0">
                <a:latin typeface="Georgia"/>
                <a:cs typeface="Georgia"/>
              </a:rPr>
              <a:t> </a:t>
            </a:r>
            <a:r>
              <a:rPr sz="1100" spc="-30" dirty="0">
                <a:latin typeface="Georgia"/>
                <a:cs typeface="Georgia"/>
              </a:rPr>
              <a:t>increases,</a:t>
            </a:r>
            <a:r>
              <a:rPr sz="1100" spc="40"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number </a:t>
            </a:r>
            <a:r>
              <a:rPr sz="1100" dirty="0">
                <a:latin typeface="Georgia"/>
                <a:cs typeface="Georgia"/>
              </a:rPr>
              <a:t>of</a:t>
            </a:r>
            <a:r>
              <a:rPr sz="1100" spc="35" dirty="0">
                <a:latin typeface="Georgia"/>
                <a:cs typeface="Georgia"/>
              </a:rPr>
              <a:t> </a:t>
            </a:r>
            <a:r>
              <a:rPr sz="1100" spc="-10" dirty="0">
                <a:latin typeface="Georgia"/>
                <a:cs typeface="Georgia"/>
              </a:rPr>
              <a:t>cells</a:t>
            </a:r>
            <a:r>
              <a:rPr sz="1100" spc="40" dirty="0">
                <a:latin typeface="Georgia"/>
                <a:cs typeface="Georgia"/>
              </a:rPr>
              <a:t> </a:t>
            </a:r>
            <a:r>
              <a:rPr sz="1100" dirty="0">
                <a:latin typeface="Georgia"/>
                <a:cs typeface="Georgia"/>
              </a:rPr>
              <a:t>(</a:t>
            </a:r>
            <a:r>
              <a:rPr sz="1100" i="1" dirty="0">
                <a:latin typeface="Calibri"/>
                <a:cs typeface="Calibri"/>
              </a:rPr>
              <a:t>b</a:t>
            </a:r>
            <a:r>
              <a:rPr sz="1200" i="1" baseline="27777" dirty="0">
                <a:latin typeface="Calibri"/>
                <a:cs typeface="Calibri"/>
              </a:rPr>
              <a:t>d</a:t>
            </a:r>
            <a:r>
              <a:rPr sz="1100" dirty="0">
                <a:latin typeface="Georgia"/>
                <a:cs typeface="Georgia"/>
              </a:rPr>
              <a:t>)</a:t>
            </a:r>
            <a:r>
              <a:rPr sz="1100" spc="35" dirty="0">
                <a:latin typeface="Georgia"/>
                <a:cs typeface="Georgia"/>
              </a:rPr>
              <a:t> </a:t>
            </a:r>
            <a:r>
              <a:rPr sz="1100" spc="-35" dirty="0">
                <a:latin typeface="Georgia"/>
                <a:cs typeface="Georgia"/>
              </a:rPr>
              <a:t>increases</a:t>
            </a:r>
            <a:r>
              <a:rPr sz="1100" spc="40" dirty="0">
                <a:latin typeface="Georgia"/>
                <a:cs typeface="Georgia"/>
              </a:rPr>
              <a:t> </a:t>
            </a:r>
            <a:r>
              <a:rPr sz="1100" spc="-25" dirty="0">
                <a:latin typeface="Georgia"/>
                <a:cs typeface="Georgia"/>
              </a:rPr>
              <a:t>exponentially,</a:t>
            </a:r>
            <a:r>
              <a:rPr sz="1100" spc="35" dirty="0">
                <a:latin typeface="Georgia"/>
                <a:cs typeface="Georgia"/>
              </a:rPr>
              <a:t> </a:t>
            </a:r>
            <a:r>
              <a:rPr sz="1100" dirty="0">
                <a:latin typeface="Georgia"/>
                <a:cs typeface="Georgia"/>
              </a:rPr>
              <a:t>and</a:t>
            </a:r>
            <a:r>
              <a:rPr sz="1100" spc="40" dirty="0">
                <a:latin typeface="Georgia"/>
                <a:cs typeface="Georgia"/>
              </a:rPr>
              <a:t> </a:t>
            </a:r>
            <a:r>
              <a:rPr sz="1100" dirty="0">
                <a:latin typeface="Georgia"/>
                <a:cs typeface="Georgia"/>
              </a:rPr>
              <a:t>with</a:t>
            </a:r>
            <a:r>
              <a:rPr sz="1100" spc="40" dirty="0">
                <a:latin typeface="Georgia"/>
                <a:cs typeface="Georgia"/>
              </a:rPr>
              <a:t> </a:t>
            </a:r>
            <a:r>
              <a:rPr sz="1100" dirty="0">
                <a:latin typeface="Georgia"/>
                <a:cs typeface="Georgia"/>
              </a:rPr>
              <a:t>a</a:t>
            </a:r>
            <a:r>
              <a:rPr sz="1100" spc="35" dirty="0">
                <a:latin typeface="Georgia"/>
                <a:cs typeface="Georgia"/>
              </a:rPr>
              <a:t> </a:t>
            </a:r>
            <a:r>
              <a:rPr sz="1100" spc="-10" dirty="0">
                <a:latin typeface="Georgia"/>
                <a:cs typeface="Georgia"/>
              </a:rPr>
              <a:t>fixed</a:t>
            </a:r>
            <a:r>
              <a:rPr sz="1100" spc="40" dirty="0">
                <a:latin typeface="Georgia"/>
                <a:cs typeface="Georgia"/>
              </a:rPr>
              <a:t> </a:t>
            </a:r>
            <a:r>
              <a:rPr sz="1100" spc="-25" dirty="0">
                <a:latin typeface="Georgia"/>
                <a:cs typeface="Georgia"/>
              </a:rPr>
              <a:t>sample</a:t>
            </a:r>
            <a:r>
              <a:rPr sz="1100" spc="35" dirty="0">
                <a:latin typeface="Georgia"/>
                <a:cs typeface="Georgia"/>
              </a:rPr>
              <a:t> </a:t>
            </a:r>
            <a:r>
              <a:rPr sz="1100" spc="-10" dirty="0">
                <a:latin typeface="Georgia"/>
                <a:cs typeface="Georgia"/>
              </a:rPr>
              <a:t>size</a:t>
            </a:r>
            <a:r>
              <a:rPr sz="1100" spc="40" dirty="0">
                <a:latin typeface="Georgia"/>
                <a:cs typeface="Georgia"/>
              </a:rPr>
              <a:t> </a:t>
            </a:r>
            <a:r>
              <a:rPr sz="1100" i="1" dirty="0">
                <a:latin typeface="Calibri"/>
                <a:cs typeface="Calibri"/>
              </a:rPr>
              <a:t>n</a:t>
            </a:r>
            <a:r>
              <a:rPr sz="1100" dirty="0">
                <a:latin typeface="Georgia"/>
                <a:cs typeface="Georgia"/>
              </a:rPr>
              <a:t>,</a:t>
            </a:r>
            <a:r>
              <a:rPr sz="1100" spc="35" dirty="0">
                <a:latin typeface="Georgia"/>
                <a:cs typeface="Georgia"/>
              </a:rPr>
              <a:t> </a:t>
            </a:r>
            <a:r>
              <a:rPr sz="1100" spc="-10" dirty="0">
                <a:latin typeface="Georgia"/>
                <a:cs typeface="Georgia"/>
              </a:rPr>
              <a:t>most</a:t>
            </a:r>
            <a:r>
              <a:rPr sz="1100" spc="40" dirty="0">
                <a:latin typeface="Georgia"/>
                <a:cs typeface="Georgia"/>
              </a:rPr>
              <a:t> </a:t>
            </a:r>
            <a:r>
              <a:rPr sz="1100" dirty="0">
                <a:latin typeface="Georgia"/>
                <a:cs typeface="Georgia"/>
              </a:rPr>
              <a:t>of</a:t>
            </a:r>
            <a:r>
              <a:rPr sz="1100" spc="40"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cells </a:t>
            </a:r>
            <a:r>
              <a:rPr sz="1100" dirty="0">
                <a:latin typeface="Georgia"/>
                <a:cs typeface="Georgia"/>
              </a:rPr>
              <a:t>will</a:t>
            </a:r>
            <a:r>
              <a:rPr sz="1100" spc="20" dirty="0">
                <a:latin typeface="Georgia"/>
                <a:cs typeface="Georgia"/>
              </a:rPr>
              <a:t> </a:t>
            </a:r>
            <a:r>
              <a:rPr sz="1100" dirty="0">
                <a:latin typeface="Georgia"/>
                <a:cs typeface="Georgia"/>
              </a:rPr>
              <a:t>be</a:t>
            </a:r>
            <a:r>
              <a:rPr sz="1100" spc="20" dirty="0">
                <a:latin typeface="Georgia"/>
                <a:cs typeface="Georgia"/>
              </a:rPr>
              <a:t> </a:t>
            </a:r>
            <a:r>
              <a:rPr sz="1100" spc="-15" dirty="0">
                <a:latin typeface="Georgia"/>
                <a:cs typeface="Georgia"/>
              </a:rPr>
              <a:t>empty,</a:t>
            </a:r>
            <a:r>
              <a:rPr sz="1100" spc="20" dirty="0">
                <a:latin typeface="Georgia"/>
                <a:cs typeface="Georgia"/>
              </a:rPr>
              <a:t> </a:t>
            </a:r>
            <a:r>
              <a:rPr sz="1100" dirty="0">
                <a:latin typeface="Georgia"/>
                <a:cs typeface="Georgia"/>
              </a:rPr>
              <a:t>or</a:t>
            </a:r>
            <a:r>
              <a:rPr sz="1100" spc="25" dirty="0">
                <a:latin typeface="Georgia"/>
                <a:cs typeface="Georgia"/>
              </a:rPr>
              <a:t> </a:t>
            </a:r>
            <a:r>
              <a:rPr sz="1100" dirty="0">
                <a:latin typeface="Georgia"/>
                <a:cs typeface="Georgia"/>
              </a:rPr>
              <a:t>will</a:t>
            </a:r>
            <a:r>
              <a:rPr sz="1100" spc="20" dirty="0">
                <a:latin typeface="Georgia"/>
                <a:cs typeface="Georgia"/>
              </a:rPr>
              <a:t> </a:t>
            </a:r>
            <a:r>
              <a:rPr sz="1100" spc="-10" dirty="0">
                <a:latin typeface="Georgia"/>
                <a:cs typeface="Georgia"/>
              </a:rPr>
              <a:t>have</a:t>
            </a:r>
            <a:r>
              <a:rPr sz="1100" spc="20" dirty="0">
                <a:latin typeface="Georgia"/>
                <a:cs typeface="Georgia"/>
              </a:rPr>
              <a:t> </a:t>
            </a:r>
            <a:r>
              <a:rPr sz="1100" dirty="0">
                <a:latin typeface="Georgia"/>
                <a:cs typeface="Georgia"/>
              </a:rPr>
              <a:t>only</a:t>
            </a:r>
            <a:r>
              <a:rPr sz="1100" spc="20" dirty="0">
                <a:latin typeface="Georgia"/>
                <a:cs typeface="Georgia"/>
              </a:rPr>
              <a:t> </a:t>
            </a:r>
            <a:r>
              <a:rPr sz="1100" spc="-20" dirty="0">
                <a:latin typeface="Georgia"/>
                <a:cs typeface="Georgia"/>
              </a:rPr>
              <a:t>one</a:t>
            </a:r>
            <a:r>
              <a:rPr sz="1100" spc="25" dirty="0">
                <a:latin typeface="Georgia"/>
                <a:cs typeface="Georgia"/>
              </a:rPr>
              <a:t> </a:t>
            </a:r>
            <a:r>
              <a:rPr sz="1100" dirty="0">
                <a:latin typeface="Georgia"/>
                <a:cs typeface="Georgia"/>
              </a:rPr>
              <a:t>point,</a:t>
            </a:r>
            <a:r>
              <a:rPr sz="1100" spc="20" dirty="0">
                <a:latin typeface="Georgia"/>
                <a:cs typeface="Georgia"/>
              </a:rPr>
              <a:t> </a:t>
            </a:r>
            <a:r>
              <a:rPr sz="1100" spc="-20" dirty="0">
                <a:latin typeface="Georgia"/>
                <a:cs typeface="Georgia"/>
              </a:rPr>
              <a:t>making</a:t>
            </a:r>
            <a:r>
              <a:rPr sz="1100" spc="20" dirty="0">
                <a:latin typeface="Georgia"/>
                <a:cs typeface="Georgia"/>
              </a:rPr>
              <a:t> </a:t>
            </a:r>
            <a:r>
              <a:rPr sz="1100" dirty="0">
                <a:latin typeface="Georgia"/>
                <a:cs typeface="Georgia"/>
              </a:rPr>
              <a:t>it</a:t>
            </a:r>
            <a:r>
              <a:rPr sz="1100" spc="20" dirty="0">
                <a:latin typeface="Georgia"/>
                <a:cs typeface="Georgia"/>
              </a:rPr>
              <a:t> </a:t>
            </a:r>
            <a:r>
              <a:rPr sz="1100" spc="-10" dirty="0">
                <a:latin typeface="Georgia"/>
                <a:cs typeface="Georgia"/>
              </a:rPr>
              <a:t>hard</a:t>
            </a:r>
            <a:r>
              <a:rPr sz="1100" spc="25" dirty="0">
                <a:latin typeface="Georgia"/>
                <a:cs typeface="Georgia"/>
              </a:rPr>
              <a:t> </a:t>
            </a:r>
            <a:r>
              <a:rPr sz="1100" dirty="0">
                <a:latin typeface="Georgia"/>
                <a:cs typeface="Georgia"/>
              </a:rPr>
              <a:t>to</a:t>
            </a:r>
            <a:r>
              <a:rPr sz="1100" spc="20" dirty="0">
                <a:latin typeface="Georgia"/>
                <a:cs typeface="Georgia"/>
              </a:rPr>
              <a:t> </a:t>
            </a:r>
            <a:r>
              <a:rPr sz="1100" spc="-20" dirty="0">
                <a:latin typeface="Georgia"/>
                <a:cs typeface="Georgia"/>
              </a:rPr>
              <a:t>estimate</a:t>
            </a:r>
            <a:r>
              <a:rPr sz="1100" spc="20" dirty="0">
                <a:latin typeface="Georgia"/>
                <a:cs typeface="Georgia"/>
              </a:rPr>
              <a:t> </a:t>
            </a:r>
            <a:r>
              <a:rPr sz="1100" spc="-25" dirty="0">
                <a:latin typeface="Georgia"/>
                <a:cs typeface="Georgia"/>
              </a:rPr>
              <a:t>the</a:t>
            </a:r>
            <a:r>
              <a:rPr sz="1100" spc="500" dirty="0">
                <a:latin typeface="Georgia"/>
                <a:cs typeface="Georgia"/>
              </a:rPr>
              <a:t> </a:t>
            </a:r>
            <a:r>
              <a:rPr sz="1100" spc="-25" dirty="0">
                <a:latin typeface="Georgia"/>
                <a:cs typeface="Georgia"/>
              </a:rPr>
              <a:t>divergence.</a:t>
            </a:r>
            <a:r>
              <a:rPr sz="1100" spc="130"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method</a:t>
            </a:r>
            <a:r>
              <a:rPr sz="1100" spc="35" dirty="0">
                <a:latin typeface="Georgia"/>
                <a:cs typeface="Georgia"/>
              </a:rPr>
              <a:t> </a:t>
            </a:r>
            <a:r>
              <a:rPr sz="1100" dirty="0">
                <a:latin typeface="Georgia"/>
                <a:cs typeface="Georgia"/>
              </a:rPr>
              <a:t>is</a:t>
            </a:r>
            <a:r>
              <a:rPr sz="1100" spc="35" dirty="0">
                <a:latin typeface="Georgia"/>
                <a:cs typeface="Georgia"/>
              </a:rPr>
              <a:t> </a:t>
            </a:r>
            <a:r>
              <a:rPr sz="1100" dirty="0">
                <a:latin typeface="Georgia"/>
                <a:cs typeface="Georgia"/>
              </a:rPr>
              <a:t>also</a:t>
            </a:r>
            <a:r>
              <a:rPr sz="1100" spc="40" dirty="0">
                <a:latin typeface="Georgia"/>
                <a:cs typeface="Georgia"/>
              </a:rPr>
              <a:t> </a:t>
            </a:r>
            <a:r>
              <a:rPr sz="1100" spc="-25" dirty="0">
                <a:latin typeface="Georgia"/>
                <a:cs typeface="Georgia"/>
              </a:rPr>
              <a:t>sensitive</a:t>
            </a:r>
            <a:r>
              <a:rPr sz="1100" spc="35" dirty="0">
                <a:latin typeface="Georgia"/>
                <a:cs typeface="Georgia"/>
              </a:rPr>
              <a:t> </a:t>
            </a:r>
            <a:r>
              <a:rPr sz="1100" dirty="0">
                <a:latin typeface="Georgia"/>
                <a:cs typeface="Georgia"/>
              </a:rPr>
              <a:t>to</a:t>
            </a:r>
            <a:r>
              <a:rPr sz="1100" spc="35" dirty="0">
                <a:latin typeface="Georgia"/>
                <a:cs typeface="Georgia"/>
              </a:rPr>
              <a:t> </a:t>
            </a:r>
            <a:r>
              <a:rPr sz="1100" dirty="0">
                <a:latin typeface="Georgia"/>
                <a:cs typeface="Georgia"/>
              </a:rPr>
              <a:t>the</a:t>
            </a:r>
            <a:r>
              <a:rPr sz="1100" spc="35" dirty="0">
                <a:latin typeface="Georgia"/>
                <a:cs typeface="Georgia"/>
              </a:rPr>
              <a:t> </a:t>
            </a:r>
            <a:r>
              <a:rPr sz="1100" spc="-30" dirty="0">
                <a:latin typeface="Georgia"/>
                <a:cs typeface="Georgia"/>
              </a:rPr>
              <a:t>choice</a:t>
            </a:r>
            <a:r>
              <a:rPr sz="1100" spc="35" dirty="0">
                <a:latin typeface="Georgia"/>
                <a:cs typeface="Georgia"/>
              </a:rPr>
              <a:t> </a:t>
            </a:r>
            <a:r>
              <a:rPr sz="1100" dirty="0">
                <a:latin typeface="Georgia"/>
                <a:cs typeface="Georgia"/>
              </a:rPr>
              <a:t>of</a:t>
            </a:r>
            <a:r>
              <a:rPr sz="1100" spc="35" dirty="0">
                <a:latin typeface="Georgia"/>
                <a:cs typeface="Georgia"/>
              </a:rPr>
              <a:t> </a:t>
            </a:r>
            <a:r>
              <a:rPr sz="1100" spc="-25" dirty="0">
                <a:latin typeface="Georgia"/>
                <a:cs typeface="Georgia"/>
              </a:rPr>
              <a:t>parameter</a:t>
            </a:r>
            <a:r>
              <a:rPr sz="1100" spc="35" dirty="0">
                <a:latin typeface="Georgia"/>
                <a:cs typeface="Georgia"/>
              </a:rPr>
              <a:t> </a:t>
            </a:r>
            <a:r>
              <a:rPr sz="1100" i="1" spc="-25" dirty="0">
                <a:latin typeface="Calibri"/>
                <a:cs typeface="Calibri"/>
              </a:rPr>
              <a:t>b</a:t>
            </a:r>
            <a:r>
              <a:rPr sz="1100" spc="-25" dirty="0">
                <a:latin typeface="Georgia"/>
                <a:cs typeface="Georgia"/>
              </a:rPr>
              <a:t>.</a:t>
            </a:r>
            <a:endParaRPr sz="1100">
              <a:latin typeface="Georgia"/>
              <a:cs typeface="Georgia"/>
            </a:endParaRPr>
          </a:p>
          <a:p>
            <a:pPr marL="88900" marR="55880">
              <a:lnSpc>
                <a:spcPts val="1150"/>
              </a:lnSpc>
              <a:spcBef>
                <a:spcPts val="735"/>
              </a:spcBef>
            </a:pPr>
            <a:r>
              <a:rPr sz="1100" dirty="0">
                <a:latin typeface="Georgia"/>
                <a:cs typeface="Georgia"/>
              </a:rPr>
              <a:t>The</a:t>
            </a:r>
            <a:r>
              <a:rPr sz="1100" spc="5" dirty="0">
                <a:latin typeface="Georgia"/>
                <a:cs typeface="Georgia"/>
              </a:rPr>
              <a:t> </a:t>
            </a:r>
            <a:r>
              <a:rPr sz="1100" spc="-25" dirty="0">
                <a:latin typeface="Georgia"/>
                <a:cs typeface="Georgia"/>
              </a:rPr>
              <a:t>example</a:t>
            </a:r>
            <a:r>
              <a:rPr sz="1100" spc="5" dirty="0">
                <a:latin typeface="Georgia"/>
                <a:cs typeface="Georgia"/>
              </a:rPr>
              <a:t> </a:t>
            </a:r>
            <a:r>
              <a:rPr sz="1100" dirty="0">
                <a:latin typeface="Georgia"/>
                <a:cs typeface="Georgia"/>
              </a:rPr>
              <a:t>in</a:t>
            </a:r>
            <a:r>
              <a:rPr sz="1100" spc="5" dirty="0">
                <a:latin typeface="Georgia"/>
                <a:cs typeface="Georgia"/>
              </a:rPr>
              <a:t> </a:t>
            </a:r>
            <a:r>
              <a:rPr sz="1100" dirty="0">
                <a:latin typeface="Georgia"/>
                <a:cs typeface="Georgia"/>
              </a:rPr>
              <a:t>the</a:t>
            </a:r>
            <a:r>
              <a:rPr sz="1100" spc="10" dirty="0">
                <a:latin typeface="Georgia"/>
                <a:cs typeface="Georgia"/>
              </a:rPr>
              <a:t> </a:t>
            </a:r>
            <a:r>
              <a:rPr sz="1100" dirty="0">
                <a:latin typeface="Georgia"/>
                <a:cs typeface="Georgia"/>
              </a:rPr>
              <a:t>next</a:t>
            </a:r>
            <a:r>
              <a:rPr sz="1100" spc="5" dirty="0">
                <a:latin typeface="Georgia"/>
                <a:cs typeface="Georgia"/>
              </a:rPr>
              <a:t> </a:t>
            </a:r>
            <a:r>
              <a:rPr sz="1100" spc="-20" dirty="0">
                <a:latin typeface="Georgia"/>
                <a:cs typeface="Georgia"/>
              </a:rPr>
              <a:t>slide</a:t>
            </a:r>
            <a:r>
              <a:rPr sz="1100" spc="5" dirty="0">
                <a:latin typeface="Georgia"/>
                <a:cs typeface="Georgia"/>
              </a:rPr>
              <a:t> </a:t>
            </a:r>
            <a:r>
              <a:rPr sz="1100" spc="-35" dirty="0">
                <a:latin typeface="Georgia"/>
                <a:cs typeface="Georgia"/>
              </a:rPr>
              <a:t>shows</a:t>
            </a:r>
            <a:r>
              <a:rPr sz="1100" spc="10" dirty="0">
                <a:latin typeface="Georgia"/>
                <a:cs typeface="Georgia"/>
              </a:rPr>
              <a:t> </a:t>
            </a:r>
            <a:r>
              <a:rPr sz="1100" dirty="0">
                <a:latin typeface="Georgia"/>
                <a:cs typeface="Georgia"/>
              </a:rPr>
              <a:t>the</a:t>
            </a:r>
            <a:r>
              <a:rPr sz="1100" spc="5" dirty="0">
                <a:latin typeface="Georgia"/>
                <a:cs typeface="Georgia"/>
              </a:rPr>
              <a:t> </a:t>
            </a:r>
            <a:r>
              <a:rPr sz="1100" spc="-25" dirty="0">
                <a:latin typeface="Georgia"/>
                <a:cs typeface="Georgia"/>
              </a:rPr>
              <a:t>empirical</a:t>
            </a:r>
            <a:r>
              <a:rPr sz="1100" spc="5" dirty="0">
                <a:latin typeface="Georgia"/>
                <a:cs typeface="Georgia"/>
              </a:rPr>
              <a:t> </a:t>
            </a:r>
            <a:r>
              <a:rPr sz="1100" dirty="0">
                <a:latin typeface="Georgia"/>
                <a:cs typeface="Georgia"/>
              </a:rPr>
              <a:t>joint</a:t>
            </a:r>
            <a:r>
              <a:rPr sz="1100" spc="5" dirty="0">
                <a:latin typeface="Georgia"/>
                <a:cs typeface="Georgia"/>
              </a:rPr>
              <a:t> </a:t>
            </a:r>
            <a:r>
              <a:rPr sz="1100" spc="-10" dirty="0">
                <a:latin typeface="Georgia"/>
                <a:cs typeface="Georgia"/>
              </a:rPr>
              <a:t>probability</a:t>
            </a:r>
            <a:r>
              <a:rPr sz="1100" spc="10" dirty="0">
                <a:latin typeface="Georgia"/>
                <a:cs typeface="Georgia"/>
              </a:rPr>
              <a:t> </a:t>
            </a:r>
            <a:r>
              <a:rPr sz="1100" spc="-25" dirty="0">
                <a:latin typeface="Georgia"/>
                <a:cs typeface="Georgia"/>
              </a:rPr>
              <a:t>mass</a:t>
            </a:r>
            <a:r>
              <a:rPr sz="1100" spc="5" dirty="0">
                <a:latin typeface="Georgia"/>
                <a:cs typeface="Georgia"/>
              </a:rPr>
              <a:t> </a:t>
            </a:r>
            <a:r>
              <a:rPr sz="1100" spc="-20" dirty="0">
                <a:latin typeface="Georgia"/>
                <a:cs typeface="Georgia"/>
              </a:rPr>
              <a:t>function</a:t>
            </a:r>
            <a:r>
              <a:rPr sz="1100" spc="5" dirty="0">
                <a:latin typeface="Georgia"/>
                <a:cs typeface="Georgia"/>
              </a:rPr>
              <a:t> </a:t>
            </a:r>
            <a:r>
              <a:rPr sz="1100" spc="-25" dirty="0">
                <a:latin typeface="Georgia"/>
                <a:cs typeface="Georgia"/>
              </a:rPr>
              <a:t>for </a:t>
            </a:r>
            <a:r>
              <a:rPr sz="1100" dirty="0">
                <a:latin typeface="Georgia"/>
                <a:cs typeface="Georgia"/>
              </a:rPr>
              <a:t>the</a:t>
            </a:r>
            <a:r>
              <a:rPr sz="1100" spc="45" dirty="0">
                <a:latin typeface="Georgia"/>
                <a:cs typeface="Georgia"/>
              </a:rPr>
              <a:t> </a:t>
            </a:r>
            <a:r>
              <a:rPr sz="1100" spc="-10" dirty="0">
                <a:latin typeface="Georgia"/>
                <a:cs typeface="Georgia"/>
              </a:rPr>
              <a:t>Iris</a:t>
            </a:r>
            <a:r>
              <a:rPr sz="1100" spc="50" dirty="0">
                <a:latin typeface="Georgia"/>
                <a:cs typeface="Georgia"/>
              </a:rPr>
              <a:t> </a:t>
            </a:r>
            <a:r>
              <a:rPr sz="1100" spc="-20" dirty="0">
                <a:latin typeface="Georgia"/>
                <a:cs typeface="Georgia"/>
              </a:rPr>
              <a:t>principal</a:t>
            </a:r>
            <a:r>
              <a:rPr sz="1100" spc="50" dirty="0">
                <a:latin typeface="Georgia"/>
                <a:cs typeface="Georgia"/>
              </a:rPr>
              <a:t> </a:t>
            </a:r>
            <a:r>
              <a:rPr sz="1100" spc="-35" dirty="0">
                <a:latin typeface="Georgia"/>
                <a:cs typeface="Georgia"/>
              </a:rPr>
              <a:t>components</a:t>
            </a:r>
            <a:r>
              <a:rPr sz="1100" spc="50" dirty="0">
                <a:latin typeface="Georgia"/>
                <a:cs typeface="Georgia"/>
              </a:rPr>
              <a:t> </a:t>
            </a:r>
            <a:r>
              <a:rPr sz="1100" dirty="0">
                <a:latin typeface="Georgia"/>
                <a:cs typeface="Georgia"/>
              </a:rPr>
              <a:t>dataset</a:t>
            </a:r>
            <a:r>
              <a:rPr sz="1100" spc="50" dirty="0">
                <a:latin typeface="Georgia"/>
                <a:cs typeface="Georgia"/>
              </a:rPr>
              <a:t> </a:t>
            </a:r>
            <a:r>
              <a:rPr sz="1100" dirty="0">
                <a:latin typeface="Georgia"/>
                <a:cs typeface="Georgia"/>
              </a:rPr>
              <a:t>that</a:t>
            </a:r>
            <a:r>
              <a:rPr sz="1100" spc="50" dirty="0">
                <a:latin typeface="Georgia"/>
                <a:cs typeface="Georgia"/>
              </a:rPr>
              <a:t> </a:t>
            </a:r>
            <a:r>
              <a:rPr sz="1100" dirty="0">
                <a:latin typeface="Georgia"/>
                <a:cs typeface="Georgia"/>
              </a:rPr>
              <a:t>has</a:t>
            </a:r>
            <a:r>
              <a:rPr sz="1100" spc="50" dirty="0">
                <a:latin typeface="Georgia"/>
                <a:cs typeface="Georgia"/>
              </a:rPr>
              <a:t> </a:t>
            </a:r>
            <a:r>
              <a:rPr sz="1100" i="1" spc="90" dirty="0">
                <a:latin typeface="Calibri"/>
                <a:cs typeface="Calibri"/>
              </a:rPr>
              <a:t>n</a:t>
            </a:r>
            <a:r>
              <a:rPr sz="1100" i="1" spc="10" dirty="0">
                <a:latin typeface="Calibri"/>
                <a:cs typeface="Calibri"/>
              </a:rPr>
              <a:t> </a:t>
            </a:r>
            <a:r>
              <a:rPr sz="1100" spc="295" dirty="0">
                <a:latin typeface="Calibri"/>
                <a:cs typeface="Calibri"/>
              </a:rPr>
              <a:t>=</a:t>
            </a:r>
            <a:r>
              <a:rPr sz="1100" spc="20" dirty="0">
                <a:latin typeface="Calibri"/>
                <a:cs typeface="Calibri"/>
              </a:rPr>
              <a:t> </a:t>
            </a:r>
            <a:r>
              <a:rPr sz="1100" dirty="0">
                <a:latin typeface="Calibri"/>
                <a:cs typeface="Calibri"/>
              </a:rPr>
              <a:t>150</a:t>
            </a:r>
            <a:r>
              <a:rPr sz="1100" spc="65" dirty="0">
                <a:latin typeface="Calibri"/>
                <a:cs typeface="Calibri"/>
              </a:rPr>
              <a:t> </a:t>
            </a:r>
            <a:r>
              <a:rPr sz="1100" spc="-10" dirty="0">
                <a:latin typeface="Georgia"/>
                <a:cs typeface="Georgia"/>
              </a:rPr>
              <a:t>points</a:t>
            </a:r>
            <a:r>
              <a:rPr sz="1100" spc="45" dirty="0">
                <a:latin typeface="Georgia"/>
                <a:cs typeface="Georgia"/>
              </a:rPr>
              <a:t> </a:t>
            </a:r>
            <a:r>
              <a:rPr sz="1100" dirty="0">
                <a:latin typeface="Georgia"/>
                <a:cs typeface="Georgia"/>
              </a:rPr>
              <a:t>in</a:t>
            </a:r>
            <a:r>
              <a:rPr sz="1100" spc="50" dirty="0">
                <a:latin typeface="Georgia"/>
                <a:cs typeface="Georgia"/>
              </a:rPr>
              <a:t> </a:t>
            </a:r>
            <a:r>
              <a:rPr sz="1100" i="1" dirty="0">
                <a:latin typeface="Calibri"/>
                <a:cs typeface="Calibri"/>
              </a:rPr>
              <a:t>d</a:t>
            </a:r>
            <a:r>
              <a:rPr sz="1100" i="1" spc="15" dirty="0">
                <a:latin typeface="Calibri"/>
                <a:cs typeface="Calibri"/>
              </a:rPr>
              <a:t> </a:t>
            </a:r>
            <a:r>
              <a:rPr sz="1100" spc="190" dirty="0">
                <a:latin typeface="Calibri"/>
                <a:cs typeface="Calibri"/>
              </a:rPr>
              <a:t>=</a:t>
            </a:r>
            <a:r>
              <a:rPr sz="1100" spc="-35" dirty="0">
                <a:latin typeface="Calibri"/>
                <a:cs typeface="Calibri"/>
              </a:rPr>
              <a:t> </a:t>
            </a:r>
            <a:r>
              <a:rPr sz="1100" spc="140" dirty="0">
                <a:latin typeface="Calibri"/>
                <a:cs typeface="Calibri"/>
              </a:rPr>
              <a:t>2</a:t>
            </a:r>
            <a:r>
              <a:rPr sz="1100" spc="65" dirty="0">
                <a:latin typeface="Calibri"/>
                <a:cs typeface="Calibri"/>
              </a:rPr>
              <a:t> </a:t>
            </a:r>
            <a:r>
              <a:rPr sz="1100" spc="-10" dirty="0">
                <a:latin typeface="Georgia"/>
                <a:cs typeface="Georgia"/>
              </a:rPr>
              <a:t>dimensions.</a:t>
            </a:r>
            <a:endParaRPr sz="1100">
              <a:latin typeface="Georgia"/>
              <a:cs typeface="Georgia"/>
            </a:endParaRPr>
          </a:p>
          <a:p>
            <a:pPr marL="88900" marR="212725">
              <a:lnSpc>
                <a:spcPts val="1150"/>
              </a:lnSpc>
              <a:spcBef>
                <a:spcPts val="730"/>
              </a:spcBef>
            </a:pPr>
            <a:r>
              <a:rPr sz="1100" dirty="0">
                <a:latin typeface="Georgia"/>
                <a:cs typeface="Georgia"/>
              </a:rPr>
              <a:t>It</a:t>
            </a:r>
            <a:r>
              <a:rPr sz="1100" spc="35" dirty="0">
                <a:latin typeface="Georgia"/>
                <a:cs typeface="Georgia"/>
              </a:rPr>
              <a:t> </a:t>
            </a:r>
            <a:r>
              <a:rPr sz="1100" dirty="0">
                <a:latin typeface="Georgia"/>
                <a:cs typeface="Georgia"/>
              </a:rPr>
              <a:t>also</a:t>
            </a:r>
            <a:r>
              <a:rPr sz="1100" spc="40" dirty="0">
                <a:latin typeface="Georgia"/>
                <a:cs typeface="Georgia"/>
              </a:rPr>
              <a:t> </a:t>
            </a:r>
            <a:r>
              <a:rPr sz="1100" spc="-30" dirty="0">
                <a:latin typeface="Georgia"/>
                <a:cs typeface="Georgia"/>
              </a:rPr>
              <a:t>shows</a:t>
            </a:r>
            <a:r>
              <a:rPr sz="1100" spc="40"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EPMF</a:t>
            </a:r>
            <a:r>
              <a:rPr sz="1100" spc="40" dirty="0">
                <a:latin typeface="Georgia"/>
                <a:cs typeface="Georgia"/>
              </a:rPr>
              <a:t> </a:t>
            </a:r>
            <a:r>
              <a:rPr sz="1100" dirty="0">
                <a:latin typeface="Georgia"/>
                <a:cs typeface="Georgia"/>
              </a:rPr>
              <a:t>for</a:t>
            </a:r>
            <a:r>
              <a:rPr sz="1100" spc="40" dirty="0">
                <a:latin typeface="Georgia"/>
                <a:cs typeface="Georgia"/>
              </a:rPr>
              <a:t> </a:t>
            </a:r>
            <a:r>
              <a:rPr sz="1100" spc="-20" dirty="0">
                <a:latin typeface="Georgia"/>
                <a:cs typeface="Georgia"/>
              </a:rPr>
              <a:t>one</a:t>
            </a:r>
            <a:r>
              <a:rPr sz="1100" spc="40" dirty="0">
                <a:latin typeface="Georgia"/>
                <a:cs typeface="Georgia"/>
              </a:rPr>
              <a:t> </a:t>
            </a:r>
            <a:r>
              <a:rPr sz="1100" dirty="0">
                <a:latin typeface="Georgia"/>
                <a:cs typeface="Georgia"/>
              </a:rPr>
              <a:t>of</a:t>
            </a:r>
            <a:r>
              <a:rPr sz="1100" spc="35" dirty="0">
                <a:latin typeface="Georgia"/>
                <a:cs typeface="Georgia"/>
              </a:rPr>
              <a:t> </a:t>
            </a:r>
            <a:r>
              <a:rPr sz="1100" dirty="0">
                <a:latin typeface="Georgia"/>
                <a:cs typeface="Georgia"/>
              </a:rPr>
              <a:t>the</a:t>
            </a:r>
            <a:r>
              <a:rPr sz="1100" spc="40" dirty="0">
                <a:latin typeface="Georgia"/>
                <a:cs typeface="Georgia"/>
              </a:rPr>
              <a:t> </a:t>
            </a:r>
            <a:r>
              <a:rPr sz="1100" spc="-10" dirty="0">
                <a:latin typeface="Georgia"/>
                <a:cs typeface="Georgia"/>
              </a:rPr>
              <a:t>datasets</a:t>
            </a:r>
            <a:r>
              <a:rPr sz="1100" spc="40" dirty="0">
                <a:latin typeface="Georgia"/>
                <a:cs typeface="Georgia"/>
              </a:rPr>
              <a:t> </a:t>
            </a:r>
            <a:r>
              <a:rPr sz="1100" spc="-25" dirty="0">
                <a:latin typeface="Georgia"/>
                <a:cs typeface="Georgia"/>
              </a:rPr>
              <a:t>generated</a:t>
            </a:r>
            <a:r>
              <a:rPr sz="1100" spc="40" dirty="0">
                <a:latin typeface="Georgia"/>
                <a:cs typeface="Georgia"/>
              </a:rPr>
              <a:t> </a:t>
            </a:r>
            <a:r>
              <a:rPr sz="1100" spc="-25" dirty="0">
                <a:latin typeface="Georgia"/>
                <a:cs typeface="Georgia"/>
              </a:rPr>
              <a:t>uniformly</a:t>
            </a:r>
            <a:r>
              <a:rPr sz="1100" spc="35" dirty="0">
                <a:latin typeface="Georgia"/>
                <a:cs typeface="Georgia"/>
              </a:rPr>
              <a:t> </a:t>
            </a:r>
            <a:r>
              <a:rPr sz="1100" dirty="0">
                <a:latin typeface="Georgia"/>
                <a:cs typeface="Georgia"/>
              </a:rPr>
              <a:t>at</a:t>
            </a:r>
            <a:r>
              <a:rPr sz="1100" spc="40" dirty="0">
                <a:latin typeface="Georgia"/>
                <a:cs typeface="Georgia"/>
              </a:rPr>
              <a:t> </a:t>
            </a:r>
            <a:r>
              <a:rPr sz="1100" spc="-30" dirty="0">
                <a:latin typeface="Georgia"/>
                <a:cs typeface="Georgia"/>
              </a:rPr>
              <a:t>random</a:t>
            </a:r>
            <a:r>
              <a:rPr sz="1100" spc="40" dirty="0">
                <a:latin typeface="Georgia"/>
                <a:cs typeface="Georgia"/>
              </a:rPr>
              <a:t> </a:t>
            </a:r>
            <a:r>
              <a:rPr sz="1100" spc="-25" dirty="0">
                <a:latin typeface="Georgia"/>
                <a:cs typeface="Georgia"/>
              </a:rPr>
              <a:t>in </a:t>
            </a:r>
            <a:r>
              <a:rPr sz="1100" dirty="0">
                <a:latin typeface="Georgia"/>
                <a:cs typeface="Georgia"/>
              </a:rPr>
              <a:t>the</a:t>
            </a:r>
            <a:r>
              <a:rPr sz="1100" spc="25" dirty="0">
                <a:latin typeface="Georgia"/>
                <a:cs typeface="Georgia"/>
              </a:rPr>
              <a:t> </a:t>
            </a:r>
            <a:r>
              <a:rPr sz="1100" spc="-25" dirty="0">
                <a:latin typeface="Georgia"/>
                <a:cs typeface="Georgia"/>
              </a:rPr>
              <a:t>same</a:t>
            </a:r>
            <a:r>
              <a:rPr sz="1100" spc="30" dirty="0">
                <a:latin typeface="Georgia"/>
                <a:cs typeface="Georgia"/>
              </a:rPr>
              <a:t> </a:t>
            </a:r>
            <a:r>
              <a:rPr sz="1100" dirty="0">
                <a:latin typeface="Georgia"/>
                <a:cs typeface="Georgia"/>
              </a:rPr>
              <a:t>data</a:t>
            </a:r>
            <a:r>
              <a:rPr sz="1100" spc="25" dirty="0">
                <a:latin typeface="Georgia"/>
                <a:cs typeface="Georgia"/>
              </a:rPr>
              <a:t> </a:t>
            </a:r>
            <a:r>
              <a:rPr sz="1100" dirty="0">
                <a:latin typeface="Georgia"/>
                <a:cs typeface="Georgia"/>
              </a:rPr>
              <a:t>space.</a:t>
            </a:r>
            <a:r>
              <a:rPr sz="1100" spc="125" dirty="0">
                <a:latin typeface="Georgia"/>
                <a:cs typeface="Georgia"/>
              </a:rPr>
              <a:t> </a:t>
            </a:r>
            <a:r>
              <a:rPr sz="1100" dirty="0">
                <a:latin typeface="Georgia"/>
                <a:cs typeface="Georgia"/>
              </a:rPr>
              <a:t>Both</a:t>
            </a:r>
            <a:r>
              <a:rPr sz="1100" spc="25" dirty="0">
                <a:latin typeface="Georgia"/>
                <a:cs typeface="Georgia"/>
              </a:rPr>
              <a:t> </a:t>
            </a:r>
            <a:r>
              <a:rPr sz="1100" dirty="0">
                <a:latin typeface="Georgia"/>
                <a:cs typeface="Georgia"/>
              </a:rPr>
              <a:t>EPMFs</a:t>
            </a:r>
            <a:r>
              <a:rPr sz="1100" spc="30" dirty="0">
                <a:latin typeface="Georgia"/>
                <a:cs typeface="Georgia"/>
              </a:rPr>
              <a:t> </a:t>
            </a:r>
            <a:r>
              <a:rPr sz="1100" spc="-30" dirty="0">
                <a:latin typeface="Georgia"/>
                <a:cs typeface="Georgia"/>
              </a:rPr>
              <a:t>were</a:t>
            </a:r>
            <a:r>
              <a:rPr sz="1100" spc="30" dirty="0">
                <a:latin typeface="Georgia"/>
                <a:cs typeface="Georgia"/>
              </a:rPr>
              <a:t> </a:t>
            </a:r>
            <a:r>
              <a:rPr sz="1100" spc="-25" dirty="0">
                <a:latin typeface="Georgia"/>
                <a:cs typeface="Georgia"/>
              </a:rPr>
              <a:t>computed</a:t>
            </a:r>
            <a:r>
              <a:rPr sz="1100" spc="25" dirty="0">
                <a:latin typeface="Georgia"/>
                <a:cs typeface="Georgia"/>
              </a:rPr>
              <a:t> </a:t>
            </a:r>
            <a:r>
              <a:rPr sz="1100" spc="-20" dirty="0">
                <a:latin typeface="Georgia"/>
                <a:cs typeface="Georgia"/>
              </a:rPr>
              <a:t>using</a:t>
            </a:r>
            <a:r>
              <a:rPr sz="1100" spc="30" dirty="0">
                <a:latin typeface="Georgia"/>
                <a:cs typeface="Georgia"/>
              </a:rPr>
              <a:t> </a:t>
            </a:r>
            <a:r>
              <a:rPr sz="1100" i="1" dirty="0">
                <a:latin typeface="Calibri"/>
                <a:cs typeface="Calibri"/>
              </a:rPr>
              <a:t>b</a:t>
            </a:r>
            <a:r>
              <a:rPr sz="1100" i="1" spc="-5" dirty="0">
                <a:latin typeface="Calibri"/>
                <a:cs typeface="Calibri"/>
              </a:rPr>
              <a:t> </a:t>
            </a:r>
            <a:r>
              <a:rPr sz="1100" spc="190" dirty="0">
                <a:latin typeface="Calibri"/>
                <a:cs typeface="Calibri"/>
              </a:rPr>
              <a:t>=</a:t>
            </a:r>
            <a:r>
              <a:rPr sz="1100" spc="-45" dirty="0">
                <a:latin typeface="Calibri"/>
                <a:cs typeface="Calibri"/>
              </a:rPr>
              <a:t> </a:t>
            </a:r>
            <a:r>
              <a:rPr sz="1100" spc="140" dirty="0">
                <a:latin typeface="Calibri"/>
                <a:cs typeface="Calibri"/>
              </a:rPr>
              <a:t>5</a:t>
            </a:r>
            <a:r>
              <a:rPr sz="1100" spc="40" dirty="0">
                <a:latin typeface="Calibri"/>
                <a:cs typeface="Calibri"/>
              </a:rPr>
              <a:t> </a:t>
            </a:r>
            <a:r>
              <a:rPr sz="1100" spc="-10" dirty="0">
                <a:latin typeface="Georgia"/>
                <a:cs typeface="Georgia"/>
              </a:rPr>
              <a:t>bins</a:t>
            </a:r>
            <a:r>
              <a:rPr sz="1100" spc="30" dirty="0">
                <a:latin typeface="Georgia"/>
                <a:cs typeface="Georgia"/>
              </a:rPr>
              <a:t> </a:t>
            </a:r>
            <a:r>
              <a:rPr sz="1100" dirty="0">
                <a:latin typeface="Georgia"/>
                <a:cs typeface="Georgia"/>
              </a:rPr>
              <a:t>in</a:t>
            </a:r>
            <a:r>
              <a:rPr sz="1100" spc="25" dirty="0">
                <a:latin typeface="Georgia"/>
                <a:cs typeface="Georgia"/>
              </a:rPr>
              <a:t> </a:t>
            </a:r>
            <a:r>
              <a:rPr sz="1100" spc="-20" dirty="0">
                <a:latin typeface="Georgia"/>
                <a:cs typeface="Georgia"/>
              </a:rPr>
              <a:t>each </a:t>
            </a:r>
            <a:r>
              <a:rPr sz="1100" spc="-35" dirty="0">
                <a:latin typeface="Georgia"/>
                <a:cs typeface="Georgia"/>
              </a:rPr>
              <a:t>dimension,</a:t>
            </a:r>
            <a:r>
              <a:rPr sz="1100" spc="35" dirty="0">
                <a:latin typeface="Georgia"/>
                <a:cs typeface="Georgia"/>
              </a:rPr>
              <a:t> </a:t>
            </a:r>
            <a:r>
              <a:rPr sz="1100" dirty="0">
                <a:latin typeface="Georgia"/>
                <a:cs typeface="Georgia"/>
              </a:rPr>
              <a:t>for</a:t>
            </a:r>
            <a:r>
              <a:rPr sz="1100" spc="35" dirty="0">
                <a:latin typeface="Georgia"/>
                <a:cs typeface="Georgia"/>
              </a:rPr>
              <a:t> </a:t>
            </a:r>
            <a:r>
              <a:rPr sz="1100" dirty="0">
                <a:latin typeface="Georgia"/>
                <a:cs typeface="Georgia"/>
              </a:rPr>
              <a:t>a</a:t>
            </a:r>
            <a:r>
              <a:rPr sz="1100" spc="40" dirty="0">
                <a:latin typeface="Georgia"/>
                <a:cs typeface="Georgia"/>
              </a:rPr>
              <a:t> </a:t>
            </a:r>
            <a:r>
              <a:rPr sz="1100" dirty="0">
                <a:latin typeface="Georgia"/>
                <a:cs typeface="Georgia"/>
              </a:rPr>
              <a:t>total</a:t>
            </a:r>
            <a:r>
              <a:rPr sz="1100" spc="35" dirty="0">
                <a:latin typeface="Georgia"/>
                <a:cs typeface="Georgia"/>
              </a:rPr>
              <a:t> </a:t>
            </a:r>
            <a:r>
              <a:rPr sz="1100" dirty="0">
                <a:latin typeface="Georgia"/>
                <a:cs typeface="Georgia"/>
              </a:rPr>
              <a:t>of</a:t>
            </a:r>
            <a:r>
              <a:rPr sz="1100" spc="35" dirty="0">
                <a:latin typeface="Georgia"/>
                <a:cs typeface="Georgia"/>
              </a:rPr>
              <a:t> </a:t>
            </a:r>
            <a:r>
              <a:rPr sz="1100" dirty="0">
                <a:latin typeface="Calibri"/>
                <a:cs typeface="Calibri"/>
              </a:rPr>
              <a:t>25</a:t>
            </a:r>
            <a:r>
              <a:rPr sz="1100" spc="55" dirty="0">
                <a:latin typeface="Calibri"/>
                <a:cs typeface="Calibri"/>
              </a:rPr>
              <a:t> </a:t>
            </a:r>
            <a:r>
              <a:rPr sz="1100" dirty="0">
                <a:latin typeface="Georgia"/>
                <a:cs typeface="Georgia"/>
              </a:rPr>
              <a:t>spatial</a:t>
            </a:r>
            <a:r>
              <a:rPr sz="1100" spc="35" dirty="0">
                <a:latin typeface="Georgia"/>
                <a:cs typeface="Georgia"/>
              </a:rPr>
              <a:t> </a:t>
            </a:r>
            <a:r>
              <a:rPr sz="1100" spc="-10" dirty="0">
                <a:latin typeface="Georgia"/>
                <a:cs typeface="Georgia"/>
              </a:rPr>
              <a:t>cells.</a:t>
            </a:r>
            <a:endParaRPr sz="1100">
              <a:latin typeface="Georgia"/>
              <a:cs typeface="Georgia"/>
            </a:endParaRPr>
          </a:p>
          <a:p>
            <a:pPr marL="88900">
              <a:lnSpc>
                <a:spcPts val="1235"/>
              </a:lnSpc>
              <a:spcBef>
                <a:spcPts val="550"/>
              </a:spcBef>
              <a:tabLst>
                <a:tab pos="4588510" algn="l"/>
                <a:tab pos="4838700" algn="l"/>
              </a:tabLst>
            </a:pPr>
            <a:r>
              <a:rPr sz="1100" dirty="0">
                <a:latin typeface="Georgia"/>
                <a:cs typeface="Georgia"/>
              </a:rPr>
              <a:t>With</a:t>
            </a:r>
            <a:r>
              <a:rPr sz="1100" spc="60" dirty="0">
                <a:latin typeface="Georgia"/>
                <a:cs typeface="Georgia"/>
              </a:rPr>
              <a:t> </a:t>
            </a:r>
            <a:r>
              <a:rPr sz="1100" i="1" dirty="0">
                <a:latin typeface="Calibri"/>
                <a:cs typeface="Calibri"/>
              </a:rPr>
              <a:t>t</a:t>
            </a:r>
            <a:r>
              <a:rPr sz="1100" i="1" spc="20" dirty="0">
                <a:latin typeface="Calibri"/>
                <a:cs typeface="Calibri"/>
              </a:rPr>
              <a:t> </a:t>
            </a:r>
            <a:r>
              <a:rPr sz="1100" spc="295" dirty="0">
                <a:latin typeface="Calibri"/>
                <a:cs typeface="Calibri"/>
              </a:rPr>
              <a:t>=</a:t>
            </a:r>
            <a:r>
              <a:rPr sz="1100" spc="25" dirty="0">
                <a:latin typeface="Calibri"/>
                <a:cs typeface="Calibri"/>
              </a:rPr>
              <a:t> </a:t>
            </a:r>
            <a:r>
              <a:rPr sz="1100" dirty="0">
                <a:latin typeface="Calibri"/>
                <a:cs typeface="Calibri"/>
              </a:rPr>
              <a:t>500</a:t>
            </a:r>
            <a:r>
              <a:rPr sz="1100" dirty="0">
                <a:latin typeface="Georgia"/>
                <a:cs typeface="Georgia"/>
              </a:rPr>
              <a:t>,</a:t>
            </a:r>
            <a:r>
              <a:rPr sz="1100" spc="60" dirty="0">
                <a:latin typeface="Georgia"/>
                <a:cs typeface="Georgia"/>
              </a:rPr>
              <a:t> </a:t>
            </a:r>
            <a:r>
              <a:rPr sz="1100" dirty="0">
                <a:latin typeface="Georgia"/>
                <a:cs typeface="Georgia"/>
              </a:rPr>
              <a:t>and</a:t>
            </a:r>
            <a:r>
              <a:rPr sz="1100" spc="65" dirty="0">
                <a:latin typeface="Georgia"/>
                <a:cs typeface="Georgia"/>
              </a:rPr>
              <a:t> </a:t>
            </a:r>
            <a:r>
              <a:rPr sz="1100" spc="-25" dirty="0">
                <a:latin typeface="Georgia"/>
                <a:cs typeface="Georgia"/>
              </a:rPr>
              <a:t>computed</a:t>
            </a:r>
            <a:r>
              <a:rPr sz="1100" spc="60" dirty="0">
                <a:latin typeface="Georgia"/>
                <a:cs typeface="Georgia"/>
              </a:rPr>
              <a:t> </a:t>
            </a:r>
            <a:r>
              <a:rPr sz="1100" dirty="0">
                <a:latin typeface="Georgia"/>
                <a:cs typeface="Georgia"/>
              </a:rPr>
              <a:t>the</a:t>
            </a:r>
            <a:r>
              <a:rPr sz="1100" spc="60" dirty="0">
                <a:latin typeface="Georgia"/>
                <a:cs typeface="Georgia"/>
              </a:rPr>
              <a:t> </a:t>
            </a:r>
            <a:r>
              <a:rPr sz="1100" dirty="0">
                <a:latin typeface="Georgia"/>
                <a:cs typeface="Georgia"/>
              </a:rPr>
              <a:t>KL</a:t>
            </a:r>
            <a:r>
              <a:rPr sz="1100" spc="60" dirty="0">
                <a:latin typeface="Georgia"/>
                <a:cs typeface="Georgia"/>
              </a:rPr>
              <a:t> </a:t>
            </a:r>
            <a:r>
              <a:rPr sz="1100" spc="-35" dirty="0">
                <a:latin typeface="Georgia"/>
                <a:cs typeface="Georgia"/>
              </a:rPr>
              <a:t>divergence</a:t>
            </a:r>
            <a:r>
              <a:rPr sz="1100" spc="60" dirty="0">
                <a:latin typeface="Georgia"/>
                <a:cs typeface="Georgia"/>
              </a:rPr>
              <a:t> </a:t>
            </a:r>
            <a:r>
              <a:rPr sz="1100" spc="-25" dirty="0">
                <a:latin typeface="Georgia"/>
                <a:cs typeface="Georgia"/>
              </a:rPr>
              <a:t>from</a:t>
            </a:r>
            <a:r>
              <a:rPr sz="1100" spc="60" dirty="0">
                <a:latin typeface="Georgia"/>
                <a:cs typeface="Georgia"/>
              </a:rPr>
              <a:t> </a:t>
            </a:r>
            <a:r>
              <a:rPr sz="1100" i="1" spc="195" dirty="0">
                <a:latin typeface="Calibri"/>
                <a:cs typeface="Calibri"/>
              </a:rPr>
              <a:t>f</a:t>
            </a:r>
            <a:r>
              <a:rPr sz="1100" i="1" spc="185" dirty="0">
                <a:latin typeface="Calibri"/>
                <a:cs typeface="Calibri"/>
              </a:rPr>
              <a:t> </a:t>
            </a:r>
            <a:r>
              <a:rPr sz="1100" dirty="0">
                <a:latin typeface="Georgia"/>
                <a:cs typeface="Georgia"/>
              </a:rPr>
              <a:t>to</a:t>
            </a:r>
            <a:r>
              <a:rPr sz="1100" spc="60" dirty="0">
                <a:latin typeface="Georgia"/>
                <a:cs typeface="Georgia"/>
              </a:rPr>
              <a:t> </a:t>
            </a:r>
            <a:r>
              <a:rPr sz="1100" i="1" spc="50" dirty="0">
                <a:latin typeface="Calibri"/>
                <a:cs typeface="Calibri"/>
              </a:rPr>
              <a:t>g</a:t>
            </a:r>
            <a:r>
              <a:rPr sz="1200" i="1" spc="75" baseline="-10416" dirty="0">
                <a:latin typeface="Calibri"/>
                <a:cs typeface="Calibri"/>
              </a:rPr>
              <a:t>j</a:t>
            </a:r>
            <a:r>
              <a:rPr sz="1200" i="1" spc="337" baseline="-10416" dirty="0">
                <a:latin typeface="Calibri"/>
                <a:cs typeface="Calibri"/>
              </a:rPr>
              <a:t> </a:t>
            </a:r>
            <a:r>
              <a:rPr sz="1100" dirty="0">
                <a:latin typeface="Georgia"/>
                <a:cs typeface="Georgia"/>
              </a:rPr>
              <a:t>for</a:t>
            </a:r>
            <a:r>
              <a:rPr sz="1100" spc="60" dirty="0">
                <a:latin typeface="Georgia"/>
                <a:cs typeface="Georgia"/>
              </a:rPr>
              <a:t> </a:t>
            </a:r>
            <a:r>
              <a:rPr sz="1100" spc="-10" dirty="0">
                <a:latin typeface="Georgia"/>
                <a:cs typeface="Georgia"/>
              </a:rPr>
              <a:t>each</a:t>
            </a:r>
            <a:r>
              <a:rPr sz="1100" spc="60" dirty="0">
                <a:latin typeface="Georgia"/>
                <a:cs typeface="Georgia"/>
              </a:rPr>
              <a:t> </a:t>
            </a:r>
            <a:r>
              <a:rPr sz="1100" spc="-50" dirty="0">
                <a:latin typeface="Calibri"/>
                <a:cs typeface="Calibri"/>
              </a:rPr>
              <a:t>1</a:t>
            </a:r>
            <a:r>
              <a:rPr sz="1100" dirty="0">
                <a:latin typeface="Calibri"/>
                <a:cs typeface="Calibri"/>
              </a:rPr>
              <a:t>	</a:t>
            </a:r>
            <a:r>
              <a:rPr sz="1100" i="1" spc="130" dirty="0">
                <a:latin typeface="Calibri"/>
                <a:cs typeface="Calibri"/>
              </a:rPr>
              <a:t>j</a:t>
            </a:r>
            <a:r>
              <a:rPr sz="1100" i="1" dirty="0">
                <a:latin typeface="Calibri"/>
                <a:cs typeface="Calibri"/>
              </a:rPr>
              <a:t>	</a:t>
            </a:r>
            <a:r>
              <a:rPr sz="1100" i="1" spc="-50" dirty="0">
                <a:latin typeface="Calibri"/>
                <a:cs typeface="Calibri"/>
              </a:rPr>
              <a:t>t</a:t>
            </a:r>
            <a:endParaRPr sz="1100">
              <a:latin typeface="Calibri"/>
              <a:cs typeface="Calibri"/>
            </a:endParaRPr>
          </a:p>
          <a:p>
            <a:pPr marL="88900">
              <a:lnSpc>
                <a:spcPts val="1235"/>
              </a:lnSpc>
            </a:pPr>
            <a:r>
              <a:rPr sz="1100" spc="-10" dirty="0">
                <a:latin typeface="Georgia"/>
                <a:cs typeface="Georgia"/>
              </a:rPr>
              <a:t>(using</a:t>
            </a:r>
            <a:r>
              <a:rPr sz="1100" spc="15" dirty="0">
                <a:latin typeface="Georgia"/>
                <a:cs typeface="Georgia"/>
              </a:rPr>
              <a:t> </a:t>
            </a:r>
            <a:r>
              <a:rPr sz="1100" spc="-20" dirty="0">
                <a:latin typeface="Georgia"/>
                <a:cs typeface="Georgia"/>
              </a:rPr>
              <a:t>logarithm</a:t>
            </a:r>
            <a:r>
              <a:rPr sz="1100" spc="15" dirty="0">
                <a:latin typeface="Georgia"/>
                <a:cs typeface="Georgia"/>
              </a:rPr>
              <a:t> </a:t>
            </a:r>
            <a:r>
              <a:rPr sz="1100" dirty="0">
                <a:latin typeface="Georgia"/>
                <a:cs typeface="Georgia"/>
              </a:rPr>
              <a:t>with</a:t>
            </a:r>
            <a:r>
              <a:rPr sz="1100" spc="15" dirty="0">
                <a:latin typeface="Georgia"/>
                <a:cs typeface="Georgia"/>
              </a:rPr>
              <a:t> </a:t>
            </a:r>
            <a:r>
              <a:rPr sz="1100" spc="-10" dirty="0">
                <a:latin typeface="Georgia"/>
                <a:cs typeface="Georgia"/>
              </a:rPr>
              <a:t>base</a:t>
            </a:r>
            <a:r>
              <a:rPr sz="1100" spc="15" dirty="0">
                <a:latin typeface="Georgia"/>
                <a:cs typeface="Georgia"/>
              </a:rPr>
              <a:t> </a:t>
            </a:r>
            <a:r>
              <a:rPr sz="1100" spc="-25" dirty="0">
                <a:latin typeface="Georgia"/>
                <a:cs typeface="Georgia"/>
              </a:rPr>
              <a:t>2).</a:t>
            </a:r>
            <a:endParaRPr sz="1100">
              <a:latin typeface="Georgia"/>
              <a:cs typeface="Georgia"/>
            </a:endParaRPr>
          </a:p>
          <a:p>
            <a:pPr marL="88900" marR="259079">
              <a:lnSpc>
                <a:spcPts val="1150"/>
              </a:lnSpc>
              <a:spcBef>
                <a:spcPts val="735"/>
              </a:spcBef>
            </a:pPr>
            <a:r>
              <a:rPr sz="1100" dirty="0">
                <a:latin typeface="Georgia"/>
                <a:cs typeface="Georgia"/>
              </a:rPr>
              <a:t>The</a:t>
            </a:r>
            <a:r>
              <a:rPr sz="1100" spc="70" dirty="0">
                <a:latin typeface="Georgia"/>
                <a:cs typeface="Georgia"/>
              </a:rPr>
              <a:t> </a:t>
            </a:r>
            <a:r>
              <a:rPr sz="1100" spc="-25" dirty="0">
                <a:latin typeface="Georgia"/>
                <a:cs typeface="Georgia"/>
              </a:rPr>
              <a:t>mean</a:t>
            </a:r>
            <a:r>
              <a:rPr sz="1100" spc="75" dirty="0">
                <a:latin typeface="Georgia"/>
                <a:cs typeface="Georgia"/>
              </a:rPr>
              <a:t> </a:t>
            </a:r>
            <a:r>
              <a:rPr sz="1100" dirty="0">
                <a:latin typeface="Georgia"/>
                <a:cs typeface="Georgia"/>
              </a:rPr>
              <a:t>KL</a:t>
            </a:r>
            <a:r>
              <a:rPr sz="1100" spc="75" dirty="0">
                <a:latin typeface="Georgia"/>
                <a:cs typeface="Georgia"/>
              </a:rPr>
              <a:t> </a:t>
            </a:r>
            <a:r>
              <a:rPr sz="1100" spc="-10" dirty="0">
                <a:latin typeface="Georgia"/>
                <a:cs typeface="Georgia"/>
              </a:rPr>
              <a:t>value</a:t>
            </a:r>
            <a:r>
              <a:rPr sz="1100" spc="70" dirty="0">
                <a:latin typeface="Georgia"/>
                <a:cs typeface="Georgia"/>
              </a:rPr>
              <a:t> </a:t>
            </a:r>
            <a:r>
              <a:rPr sz="1100" spc="-10" dirty="0">
                <a:latin typeface="Georgia"/>
                <a:cs typeface="Georgia"/>
              </a:rPr>
              <a:t>was</a:t>
            </a:r>
            <a:r>
              <a:rPr sz="1100" spc="75" dirty="0">
                <a:latin typeface="Georgia"/>
                <a:cs typeface="Georgia"/>
              </a:rPr>
              <a:t> </a:t>
            </a:r>
            <a:r>
              <a:rPr sz="1100" i="1" spc="70" dirty="0">
                <a:latin typeface="Calibri"/>
                <a:cs typeface="Calibri"/>
              </a:rPr>
              <a:t>µ</a:t>
            </a:r>
            <a:r>
              <a:rPr sz="1200" spc="104" baseline="-10416" dirty="0">
                <a:latin typeface="Georgia"/>
                <a:cs typeface="Georgia"/>
              </a:rPr>
              <a:t>KL</a:t>
            </a:r>
            <a:r>
              <a:rPr sz="1200" spc="195" baseline="-10416" dirty="0">
                <a:latin typeface="Georgia"/>
                <a:cs typeface="Georgia"/>
              </a:rPr>
              <a:t> </a:t>
            </a:r>
            <a:r>
              <a:rPr sz="1100" spc="295" dirty="0">
                <a:latin typeface="Calibri"/>
                <a:cs typeface="Calibri"/>
              </a:rPr>
              <a:t>=</a:t>
            </a:r>
            <a:r>
              <a:rPr sz="1100" spc="35" dirty="0">
                <a:latin typeface="Calibri"/>
                <a:cs typeface="Calibri"/>
              </a:rPr>
              <a:t> </a:t>
            </a:r>
            <a:r>
              <a:rPr sz="1100" b="1" dirty="0">
                <a:latin typeface="Georgia"/>
                <a:cs typeface="Georgia"/>
              </a:rPr>
              <a:t>1.17</a:t>
            </a:r>
            <a:r>
              <a:rPr sz="1100" dirty="0">
                <a:latin typeface="Georgia"/>
                <a:cs typeface="Georgia"/>
              </a:rPr>
              <a:t>,</a:t>
            </a:r>
            <a:r>
              <a:rPr sz="1100" spc="75" dirty="0">
                <a:latin typeface="Georgia"/>
                <a:cs typeface="Georgia"/>
              </a:rPr>
              <a:t> </a:t>
            </a:r>
            <a:r>
              <a:rPr sz="1100" dirty="0">
                <a:latin typeface="Georgia"/>
                <a:cs typeface="Georgia"/>
              </a:rPr>
              <a:t>with</a:t>
            </a:r>
            <a:r>
              <a:rPr sz="1100" spc="70" dirty="0">
                <a:latin typeface="Georgia"/>
                <a:cs typeface="Georgia"/>
              </a:rPr>
              <a:t> </a:t>
            </a:r>
            <a:r>
              <a:rPr sz="1100" dirty="0">
                <a:latin typeface="Georgia"/>
                <a:cs typeface="Georgia"/>
              </a:rPr>
              <a:t>a</a:t>
            </a:r>
            <a:r>
              <a:rPr sz="1100" spc="75" dirty="0">
                <a:latin typeface="Georgia"/>
                <a:cs typeface="Georgia"/>
              </a:rPr>
              <a:t> </a:t>
            </a:r>
            <a:r>
              <a:rPr sz="1100" spc="-10" dirty="0">
                <a:latin typeface="Georgia"/>
                <a:cs typeface="Georgia"/>
              </a:rPr>
              <a:t>standard</a:t>
            </a:r>
            <a:r>
              <a:rPr sz="1100" spc="75" dirty="0">
                <a:latin typeface="Georgia"/>
                <a:cs typeface="Georgia"/>
              </a:rPr>
              <a:t> </a:t>
            </a:r>
            <a:r>
              <a:rPr sz="1100" spc="-10" dirty="0">
                <a:latin typeface="Georgia"/>
                <a:cs typeface="Georgia"/>
              </a:rPr>
              <a:t>deviation</a:t>
            </a:r>
            <a:r>
              <a:rPr sz="1100" spc="75" dirty="0">
                <a:latin typeface="Georgia"/>
                <a:cs typeface="Georgia"/>
              </a:rPr>
              <a:t> </a:t>
            </a:r>
            <a:r>
              <a:rPr sz="1100" dirty="0">
                <a:latin typeface="Georgia"/>
                <a:cs typeface="Georgia"/>
              </a:rPr>
              <a:t>of</a:t>
            </a:r>
            <a:r>
              <a:rPr sz="1100" spc="70" dirty="0">
                <a:latin typeface="Georgia"/>
                <a:cs typeface="Georgia"/>
              </a:rPr>
              <a:t> </a:t>
            </a:r>
            <a:r>
              <a:rPr sz="1100" i="1" dirty="0">
                <a:latin typeface="Arial"/>
                <a:cs typeface="Arial"/>
              </a:rPr>
              <a:t>σ</a:t>
            </a:r>
            <a:r>
              <a:rPr sz="1200" baseline="-10416" dirty="0">
                <a:latin typeface="Georgia"/>
                <a:cs typeface="Georgia"/>
              </a:rPr>
              <a:t>KL</a:t>
            </a:r>
            <a:r>
              <a:rPr sz="1200" spc="195" baseline="-10416" dirty="0">
                <a:latin typeface="Georgia"/>
                <a:cs typeface="Georgia"/>
              </a:rPr>
              <a:t> </a:t>
            </a:r>
            <a:r>
              <a:rPr sz="1100" spc="295" dirty="0">
                <a:latin typeface="Calibri"/>
                <a:cs typeface="Calibri"/>
              </a:rPr>
              <a:t>=</a:t>
            </a:r>
            <a:r>
              <a:rPr sz="1100" spc="35" dirty="0">
                <a:latin typeface="Calibri"/>
                <a:cs typeface="Calibri"/>
              </a:rPr>
              <a:t> </a:t>
            </a:r>
            <a:r>
              <a:rPr sz="1100" b="1" spc="-10" dirty="0">
                <a:latin typeface="Georgia"/>
                <a:cs typeface="Georgia"/>
              </a:rPr>
              <a:t>0.18</a:t>
            </a:r>
            <a:r>
              <a:rPr sz="1100" spc="-10" dirty="0">
                <a:latin typeface="Georgia"/>
                <a:cs typeface="Georgia"/>
              </a:rPr>
              <a:t>, </a:t>
            </a:r>
            <a:r>
              <a:rPr sz="1100" spc="-20" dirty="0">
                <a:latin typeface="Georgia"/>
                <a:cs typeface="Georgia"/>
              </a:rPr>
              <a:t>indicating</a:t>
            </a:r>
            <a:r>
              <a:rPr sz="1100" spc="25" dirty="0">
                <a:latin typeface="Georgia"/>
                <a:cs typeface="Georgia"/>
              </a:rPr>
              <a:t> </a:t>
            </a:r>
            <a:r>
              <a:rPr sz="1100" dirty="0">
                <a:latin typeface="Georgia"/>
                <a:cs typeface="Georgia"/>
              </a:rPr>
              <a:t>that</a:t>
            </a:r>
            <a:r>
              <a:rPr sz="1100" spc="35" dirty="0">
                <a:latin typeface="Georgia"/>
                <a:cs typeface="Georgia"/>
              </a:rPr>
              <a:t> </a:t>
            </a:r>
            <a:r>
              <a:rPr sz="1100" dirty="0">
                <a:latin typeface="Georgia"/>
                <a:cs typeface="Georgia"/>
              </a:rPr>
              <a:t>the</a:t>
            </a:r>
            <a:r>
              <a:rPr sz="1100" spc="40" dirty="0">
                <a:latin typeface="Georgia"/>
                <a:cs typeface="Georgia"/>
              </a:rPr>
              <a:t> </a:t>
            </a:r>
            <a:r>
              <a:rPr sz="1100" spc="-10" dirty="0">
                <a:latin typeface="Georgia"/>
                <a:cs typeface="Georgia"/>
              </a:rPr>
              <a:t>Iris</a:t>
            </a:r>
            <a:r>
              <a:rPr sz="1100" spc="35" dirty="0">
                <a:latin typeface="Georgia"/>
                <a:cs typeface="Georgia"/>
              </a:rPr>
              <a:t> </a:t>
            </a:r>
            <a:r>
              <a:rPr sz="1100" dirty="0">
                <a:latin typeface="Georgia"/>
                <a:cs typeface="Georgia"/>
              </a:rPr>
              <a:t>data</a:t>
            </a:r>
            <a:r>
              <a:rPr sz="1100" spc="35" dirty="0">
                <a:latin typeface="Georgia"/>
                <a:cs typeface="Georgia"/>
              </a:rPr>
              <a:t> </a:t>
            </a:r>
            <a:r>
              <a:rPr sz="1100" dirty="0">
                <a:latin typeface="Georgia"/>
                <a:cs typeface="Georgia"/>
              </a:rPr>
              <a:t>is</a:t>
            </a:r>
            <a:r>
              <a:rPr sz="1100" spc="40" dirty="0">
                <a:latin typeface="Georgia"/>
                <a:cs typeface="Georgia"/>
              </a:rPr>
              <a:t> </a:t>
            </a:r>
            <a:r>
              <a:rPr sz="1100" spc="-30" dirty="0">
                <a:latin typeface="Georgia"/>
                <a:cs typeface="Georgia"/>
              </a:rPr>
              <a:t>indeed</a:t>
            </a:r>
            <a:r>
              <a:rPr sz="1100" spc="35" dirty="0">
                <a:latin typeface="Georgia"/>
                <a:cs typeface="Georgia"/>
              </a:rPr>
              <a:t> </a:t>
            </a:r>
            <a:r>
              <a:rPr sz="1100" dirty="0">
                <a:latin typeface="Georgia"/>
                <a:cs typeface="Georgia"/>
              </a:rPr>
              <a:t>far</a:t>
            </a:r>
            <a:r>
              <a:rPr sz="1100" spc="40" dirty="0">
                <a:latin typeface="Georgia"/>
                <a:cs typeface="Georgia"/>
              </a:rPr>
              <a:t> </a:t>
            </a:r>
            <a:r>
              <a:rPr sz="1100" spc="-25" dirty="0">
                <a:latin typeface="Georgia"/>
                <a:cs typeface="Georgia"/>
              </a:rPr>
              <a:t>from</a:t>
            </a:r>
            <a:r>
              <a:rPr sz="1100" spc="35"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randomly</a:t>
            </a:r>
            <a:r>
              <a:rPr sz="1100" spc="40" dirty="0">
                <a:latin typeface="Georgia"/>
                <a:cs typeface="Georgia"/>
              </a:rPr>
              <a:t> </a:t>
            </a:r>
            <a:r>
              <a:rPr sz="1100" spc="-25" dirty="0">
                <a:latin typeface="Georgia"/>
                <a:cs typeface="Georgia"/>
              </a:rPr>
              <a:t>generated</a:t>
            </a:r>
            <a:r>
              <a:rPr sz="1100" spc="35" dirty="0">
                <a:latin typeface="Georgia"/>
                <a:cs typeface="Georgia"/>
              </a:rPr>
              <a:t> </a:t>
            </a:r>
            <a:r>
              <a:rPr sz="1100" dirty="0">
                <a:latin typeface="Georgia"/>
                <a:cs typeface="Georgia"/>
              </a:rPr>
              <a:t>data,</a:t>
            </a:r>
            <a:r>
              <a:rPr sz="1100" spc="40" dirty="0">
                <a:latin typeface="Georgia"/>
                <a:cs typeface="Georgia"/>
              </a:rPr>
              <a:t> </a:t>
            </a:r>
            <a:r>
              <a:rPr sz="1100" spc="-25" dirty="0">
                <a:latin typeface="Georgia"/>
                <a:cs typeface="Georgia"/>
              </a:rPr>
              <a:t>and </a:t>
            </a:r>
            <a:r>
              <a:rPr sz="1100" dirty="0">
                <a:latin typeface="Georgia"/>
                <a:cs typeface="Georgia"/>
              </a:rPr>
              <a:t>thus</a:t>
            </a:r>
            <a:r>
              <a:rPr sz="1100" spc="-5" dirty="0">
                <a:latin typeface="Georgia"/>
                <a:cs typeface="Georgia"/>
              </a:rPr>
              <a:t> </a:t>
            </a:r>
            <a:r>
              <a:rPr sz="1100" dirty="0">
                <a:latin typeface="Georgia"/>
                <a:cs typeface="Georgia"/>
              </a:rPr>
              <a:t>is </a:t>
            </a:r>
            <a:r>
              <a:rPr sz="1100" spc="-10" dirty="0">
                <a:latin typeface="Georgia"/>
                <a:cs typeface="Georgia"/>
              </a:rPr>
              <a:t>clusterable.</a:t>
            </a:r>
            <a:endParaRPr sz="1100">
              <a:latin typeface="Georgia"/>
              <a:cs typeface="Georgia"/>
            </a:endParaRPr>
          </a:p>
        </p:txBody>
      </p:sp>
      <p:grpSp>
        <p:nvGrpSpPr>
          <p:cNvPr id="11" name="object 11"/>
          <p:cNvGrpSpPr/>
          <p:nvPr/>
        </p:nvGrpSpPr>
        <p:grpSpPr>
          <a:xfrm>
            <a:off x="0" y="3121545"/>
            <a:ext cx="5760085" cy="118745"/>
            <a:chOff x="0" y="3121545"/>
            <a:chExt cx="5760085" cy="118745"/>
          </a:xfrm>
        </p:grpSpPr>
        <p:sp>
          <p:nvSpPr>
            <p:cNvPr id="12" name="object 12"/>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3" name="object 13"/>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5" name="object 15"/>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16" name="object 16"/>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26</a:t>
            </a:fld>
            <a:r>
              <a:rPr spc="15" dirty="0"/>
              <a:t> </a:t>
            </a:r>
            <a:r>
              <a:rPr spc="75" dirty="0"/>
              <a:t>/</a:t>
            </a:r>
            <a:r>
              <a:rPr spc="15" dirty="0"/>
              <a:t> </a:t>
            </a:r>
            <a:r>
              <a:rPr spc="35" dirty="0"/>
              <a:t>135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3155950"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Times New Roman"/>
                <a:cs typeface="Times New Roman"/>
              </a:rPr>
              <a:t>Example</a:t>
            </a:r>
            <a:r>
              <a:rPr sz="1400" spc="200" dirty="0">
                <a:solidFill>
                  <a:srgbClr val="CC0000"/>
                </a:solidFill>
                <a:latin typeface="Times New Roman"/>
                <a:cs typeface="Times New Roman"/>
              </a:rPr>
              <a:t> </a:t>
            </a:r>
            <a:r>
              <a:rPr sz="1400" dirty="0">
                <a:solidFill>
                  <a:srgbClr val="CC0000"/>
                </a:solidFill>
                <a:latin typeface="Times New Roman"/>
                <a:cs typeface="Times New Roman"/>
              </a:rPr>
              <a:t>of</a:t>
            </a:r>
            <a:r>
              <a:rPr sz="1400" spc="200" dirty="0">
                <a:solidFill>
                  <a:srgbClr val="CC0000"/>
                </a:solidFill>
                <a:latin typeface="Times New Roman"/>
                <a:cs typeface="Times New Roman"/>
              </a:rPr>
              <a:t> </a:t>
            </a:r>
            <a:r>
              <a:rPr sz="1400" dirty="0">
                <a:solidFill>
                  <a:srgbClr val="CC0000"/>
                </a:solidFill>
                <a:latin typeface="Times New Roman"/>
                <a:cs typeface="Times New Roman"/>
              </a:rPr>
              <a:t>spatial</a:t>
            </a:r>
            <a:r>
              <a:rPr sz="1400" spc="204" dirty="0">
                <a:solidFill>
                  <a:srgbClr val="CC0000"/>
                </a:solidFill>
                <a:latin typeface="Times New Roman"/>
                <a:cs typeface="Times New Roman"/>
              </a:rPr>
              <a:t> </a:t>
            </a:r>
            <a:r>
              <a:rPr sz="1400" dirty="0">
                <a:solidFill>
                  <a:srgbClr val="CC0000"/>
                </a:solidFill>
                <a:latin typeface="Times New Roman"/>
                <a:cs typeface="Times New Roman"/>
              </a:rPr>
              <a:t>histogram</a:t>
            </a:r>
            <a:r>
              <a:rPr sz="1400" spc="204" dirty="0">
                <a:solidFill>
                  <a:srgbClr val="CC0000"/>
                </a:solidFill>
                <a:latin typeface="Times New Roman"/>
                <a:cs typeface="Times New Roman"/>
              </a:rPr>
              <a:t> </a:t>
            </a:r>
            <a:r>
              <a:rPr sz="1400" spc="-20" dirty="0">
                <a:solidFill>
                  <a:srgbClr val="CC0000"/>
                </a:solidFill>
                <a:latin typeface="Times New Roman"/>
                <a:cs typeface="Times New Roman"/>
              </a:rPr>
              <a:t>[</a:t>
            </a:r>
            <a:r>
              <a:rPr sz="1400" spc="-20" dirty="0">
                <a:solidFill>
                  <a:srgbClr val="CC0000"/>
                </a:solidFill>
                <a:latin typeface="Times New Roman"/>
                <a:cs typeface="Times New Roman"/>
                <a:hlinkClick r:id="rId2" action="ppaction://hlinksldjump"/>
              </a:rPr>
              <a:t>4</a:t>
            </a:r>
            <a:r>
              <a:rPr sz="1400" spc="-20" dirty="0">
                <a:solidFill>
                  <a:srgbClr val="CC0000"/>
                </a:solidFill>
                <a:latin typeface="Times New Roman"/>
                <a:cs typeface="Times New Roman"/>
              </a:rPr>
              <a:t>]</a:t>
            </a:r>
            <a:r>
              <a:rPr sz="1400" spc="210" dirty="0">
                <a:solidFill>
                  <a:srgbClr val="CC0000"/>
                </a:solidFill>
                <a:latin typeface="Times New Roman"/>
                <a:cs typeface="Times New Roman"/>
              </a:rPr>
              <a:t> </a:t>
            </a:r>
            <a:r>
              <a:rPr sz="1400" spc="-10" dirty="0">
                <a:solidFill>
                  <a:srgbClr val="CC0000"/>
                </a:solidFill>
                <a:latin typeface="Times New Roman"/>
                <a:cs typeface="Times New Roman"/>
              </a:rPr>
              <a:t>(cont’d)</a:t>
            </a:r>
            <a:endParaRPr sz="1400">
              <a:latin typeface="Times New Roman"/>
              <a:cs typeface="Times New Roman"/>
            </a:endParaRPr>
          </a:p>
        </p:txBody>
      </p:sp>
      <p:pic>
        <p:nvPicPr>
          <p:cNvPr id="3" name="object 3"/>
          <p:cNvPicPr/>
          <p:nvPr/>
        </p:nvPicPr>
        <p:blipFill>
          <a:blip r:embed="rId3" cstate="print"/>
          <a:stretch>
            <a:fillRect/>
          </a:stretch>
        </p:blipFill>
        <p:spPr>
          <a:xfrm>
            <a:off x="1110119" y="394817"/>
            <a:ext cx="3536441" cy="1350518"/>
          </a:xfrm>
          <a:prstGeom prst="rect">
            <a:avLst/>
          </a:prstGeom>
        </p:spPr>
      </p:pic>
      <p:pic>
        <p:nvPicPr>
          <p:cNvPr id="4" name="object 4"/>
          <p:cNvPicPr/>
          <p:nvPr/>
        </p:nvPicPr>
        <p:blipFill>
          <a:blip r:embed="rId4" cstate="print"/>
          <a:stretch>
            <a:fillRect/>
          </a:stretch>
        </p:blipFill>
        <p:spPr>
          <a:xfrm>
            <a:off x="365785" y="1859356"/>
            <a:ext cx="2220277" cy="1188720"/>
          </a:xfrm>
          <a:prstGeom prst="rect">
            <a:avLst/>
          </a:prstGeom>
        </p:spPr>
      </p:pic>
      <p:pic>
        <p:nvPicPr>
          <p:cNvPr id="5" name="object 5"/>
          <p:cNvPicPr/>
          <p:nvPr/>
        </p:nvPicPr>
        <p:blipFill>
          <a:blip r:embed="rId5" cstate="print"/>
          <a:stretch>
            <a:fillRect/>
          </a:stretch>
        </p:blipFill>
        <p:spPr>
          <a:xfrm>
            <a:off x="3322548" y="1916506"/>
            <a:ext cx="1951672" cy="1051560"/>
          </a:xfrm>
          <a:prstGeom prst="rect">
            <a:avLst/>
          </a:prstGeom>
        </p:spPr>
      </p:pic>
      <p:grpSp>
        <p:nvGrpSpPr>
          <p:cNvPr id="6" name="object 6"/>
          <p:cNvGrpSpPr/>
          <p:nvPr/>
        </p:nvGrpSpPr>
        <p:grpSpPr>
          <a:xfrm>
            <a:off x="0" y="3121545"/>
            <a:ext cx="5760085" cy="118745"/>
            <a:chOff x="0" y="3121545"/>
            <a:chExt cx="5760085" cy="118745"/>
          </a:xfrm>
        </p:grpSpPr>
        <p:sp>
          <p:nvSpPr>
            <p:cNvPr id="7" name="object 7"/>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8" name="object 8"/>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0" name="object 10"/>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6" action="ppaction://hlinksldjump"/>
              </a:rPr>
              <a:t>data</a:t>
            </a:r>
            <a:r>
              <a:rPr sz="600" spc="110" dirty="0">
                <a:solidFill>
                  <a:srgbClr val="7A0000"/>
                </a:solidFill>
                <a:latin typeface="Georgia"/>
                <a:cs typeface="Georgia"/>
                <a:hlinkClick r:id="rId6" action="ppaction://hlinksldjump"/>
              </a:rPr>
              <a:t> </a:t>
            </a:r>
            <a:r>
              <a:rPr sz="600" spc="-10" dirty="0">
                <a:solidFill>
                  <a:srgbClr val="7A0000"/>
                </a:solidFill>
                <a:latin typeface="Georgia"/>
                <a:cs typeface="Georgia"/>
                <a:hlinkClick r:id="rId6" action="ppaction://hlinksldjump"/>
              </a:rPr>
              <a:t>clustering</a:t>
            </a:r>
            <a:endParaRPr sz="600">
              <a:latin typeface="Georgia"/>
              <a:cs typeface="Georgia"/>
            </a:endParaRPr>
          </a:p>
        </p:txBody>
      </p:sp>
      <p:sp>
        <p:nvSpPr>
          <p:cNvPr id="11" name="object 11"/>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27</a:t>
            </a:fld>
            <a:r>
              <a:rPr spc="15" dirty="0"/>
              <a:t> </a:t>
            </a:r>
            <a:r>
              <a:rPr spc="75" dirty="0"/>
              <a:t>/</a:t>
            </a:r>
            <a:r>
              <a:rPr spc="15" dirty="0"/>
              <a:t> </a:t>
            </a:r>
            <a:r>
              <a:rPr spc="35" dirty="0"/>
              <a:t>135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260" dirty="0"/>
              <a:t> </a:t>
            </a:r>
            <a:r>
              <a:rPr dirty="0"/>
              <a:t>cluster</a:t>
            </a:r>
            <a:r>
              <a:rPr spc="265" dirty="0"/>
              <a:t> </a:t>
            </a:r>
            <a:r>
              <a:rPr dirty="0"/>
              <a:t>tendency</a:t>
            </a:r>
            <a:r>
              <a:rPr spc="270" dirty="0"/>
              <a:t> </a:t>
            </a:r>
            <a:r>
              <a:rPr dirty="0"/>
              <a:t>with</a:t>
            </a:r>
            <a:r>
              <a:rPr spc="260" dirty="0"/>
              <a:t> </a:t>
            </a:r>
            <a:r>
              <a:rPr dirty="0"/>
              <a:t>cell–based</a:t>
            </a:r>
            <a:r>
              <a:rPr spc="265" dirty="0"/>
              <a:t> </a:t>
            </a:r>
            <a:r>
              <a:rPr spc="-10" dirty="0"/>
              <a:t>entropy</a:t>
            </a:r>
          </a:p>
        </p:txBody>
      </p:sp>
      <p:pic>
        <p:nvPicPr>
          <p:cNvPr id="3" name="object 3"/>
          <p:cNvPicPr/>
          <p:nvPr/>
        </p:nvPicPr>
        <p:blipFill>
          <a:blip r:embed="rId2" cstate="print"/>
          <a:stretch>
            <a:fillRect/>
          </a:stretch>
        </p:blipFill>
        <p:spPr>
          <a:xfrm>
            <a:off x="374548" y="527405"/>
            <a:ext cx="5020056" cy="1616202"/>
          </a:xfrm>
          <a:prstGeom prst="rect">
            <a:avLst/>
          </a:prstGeom>
        </p:spPr>
      </p:pic>
      <p:sp>
        <p:nvSpPr>
          <p:cNvPr id="4" name="object 4"/>
          <p:cNvSpPr/>
          <p:nvPr/>
        </p:nvSpPr>
        <p:spPr>
          <a:xfrm>
            <a:off x="337972" y="238679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5" name="object 5"/>
              <p:cNvSpPr txBox="1"/>
              <p:nvPr/>
            </p:nvSpPr>
            <p:spPr>
              <a:xfrm>
                <a:off x="454177" y="2295193"/>
                <a:ext cx="4950460" cy="180819"/>
              </a:xfrm>
              <a:prstGeom prst="rect">
                <a:avLst/>
              </a:prstGeom>
            </p:spPr>
            <p:txBody>
              <a:bodyPr vert="horz" wrap="square" lIns="0" tIns="11430" rIns="0" bIns="0" rtlCol="0">
                <a:spAutoFit/>
              </a:bodyPr>
              <a:lstStyle/>
              <a:p>
                <a:pPr marL="12700">
                  <a:lnSpc>
                    <a:spcPct val="100000"/>
                  </a:lnSpc>
                  <a:spcBef>
                    <a:spcPts val="90"/>
                  </a:spcBef>
                </a:pPr>
                <a:r>
                  <a:rPr sz="1100" dirty="0">
                    <a:latin typeface="Georgia"/>
                    <a:cs typeface="Georgia"/>
                  </a:rPr>
                  <a:t>The</a:t>
                </a:r>
                <a:r>
                  <a:rPr sz="1100" spc="30" dirty="0">
                    <a:latin typeface="Georgia"/>
                    <a:cs typeface="Georgia"/>
                  </a:rPr>
                  <a:t> </a:t>
                </a:r>
                <a:r>
                  <a:rPr sz="1100" dirty="0">
                    <a:latin typeface="Georgia"/>
                    <a:cs typeface="Georgia"/>
                  </a:rPr>
                  <a:t>data</a:t>
                </a:r>
                <a:r>
                  <a:rPr sz="1100" spc="30" dirty="0">
                    <a:latin typeface="Georgia"/>
                    <a:cs typeface="Georgia"/>
                  </a:rPr>
                  <a:t> </a:t>
                </a:r>
                <a:r>
                  <a:rPr sz="1100" spc="-10" dirty="0">
                    <a:latin typeface="Georgia"/>
                    <a:cs typeface="Georgia"/>
                  </a:rPr>
                  <a:t>space</a:t>
                </a:r>
                <a:r>
                  <a:rPr sz="1100" spc="30" dirty="0">
                    <a:latin typeface="Georgia"/>
                    <a:cs typeface="Georgia"/>
                  </a:rPr>
                  <a:t> </a:t>
                </a:r>
                <a:r>
                  <a:rPr sz="1100" dirty="0">
                    <a:latin typeface="Georgia"/>
                    <a:cs typeface="Georgia"/>
                  </a:rPr>
                  <a:t>is</a:t>
                </a:r>
                <a:r>
                  <a:rPr sz="1100" spc="35" dirty="0">
                    <a:latin typeface="Georgia"/>
                    <a:cs typeface="Georgia"/>
                  </a:rPr>
                  <a:t> </a:t>
                </a:r>
                <a:r>
                  <a:rPr sz="1100" spc="-20" dirty="0">
                    <a:latin typeface="Georgia"/>
                    <a:cs typeface="Georgia"/>
                  </a:rPr>
                  <a:t>divided</a:t>
                </a:r>
                <a:r>
                  <a:rPr sz="1100" spc="30" dirty="0">
                    <a:latin typeface="Georgia"/>
                    <a:cs typeface="Georgia"/>
                  </a:rPr>
                  <a:t> </a:t>
                </a:r>
                <a:r>
                  <a:rPr sz="1100" dirty="0">
                    <a:latin typeface="Georgia"/>
                    <a:cs typeface="Georgia"/>
                  </a:rPr>
                  <a:t>into</a:t>
                </a:r>
                <a:r>
                  <a:rPr sz="1100" spc="30" dirty="0">
                    <a:latin typeface="Georgia"/>
                    <a:cs typeface="Georgia"/>
                  </a:rPr>
                  <a:t> </a:t>
                </a:r>
                <a:r>
                  <a:rPr sz="1100" dirty="0">
                    <a:latin typeface="Georgia"/>
                    <a:cs typeface="Georgia"/>
                  </a:rPr>
                  <a:t>a</a:t>
                </a:r>
                <a:r>
                  <a:rPr sz="1100" spc="30" dirty="0">
                    <a:latin typeface="Georgia"/>
                    <a:cs typeface="Georgia"/>
                  </a:rPr>
                  <a:t> </a:t>
                </a:r>
                <a:r>
                  <a:rPr sz="1100" dirty="0">
                    <a:latin typeface="Georgia"/>
                    <a:cs typeface="Georgia"/>
                  </a:rPr>
                  <a:t>grid</a:t>
                </a:r>
                <a:r>
                  <a:rPr sz="1100" spc="35" dirty="0">
                    <a:latin typeface="Georgia"/>
                    <a:cs typeface="Georgia"/>
                  </a:rPr>
                  <a:t> </a:t>
                </a:r>
                <a:r>
                  <a:rPr sz="1100" dirty="0">
                    <a:latin typeface="Georgia"/>
                    <a:cs typeface="Georgia"/>
                  </a:rPr>
                  <a:t>of</a:t>
                </a:r>
                <a:r>
                  <a:rPr sz="1100" spc="30" dirty="0">
                    <a:latin typeface="Georgia"/>
                    <a:cs typeface="Georgia"/>
                  </a:rPr>
                  <a:t> </a:t>
                </a:r>
                <a:r>
                  <a:rPr sz="1100" i="1" dirty="0">
                    <a:latin typeface="Calibri"/>
                    <a:cs typeface="Calibri"/>
                  </a:rPr>
                  <a:t>k</a:t>
                </a:r>
                <a14:m>
                  <m:oMath xmlns:m="http://schemas.openxmlformats.org/officeDocument/2006/math">
                    <m:r>
                      <a:rPr lang="en-US" sz="1100" i="1" dirty="0">
                        <a:latin typeface="Cambria Math" panose="02040503050406030204" pitchFamily="18" charset="0"/>
                        <a:ea typeface="Cambria Math" panose="02040503050406030204" pitchFamily="18" charset="0"/>
                        <a:cs typeface="Calibri"/>
                      </a:rPr>
                      <m:t>×</m:t>
                    </m:r>
                  </m:oMath>
                </a14:m>
                <a:r>
                  <a:rPr sz="1100" i="1" dirty="0">
                    <a:latin typeface="Calibri"/>
                    <a:cs typeface="Calibri"/>
                  </a:rPr>
                  <a:t>k</a:t>
                </a:r>
                <a:r>
                  <a:rPr sz="1100" i="1" spc="75" dirty="0">
                    <a:latin typeface="Calibri"/>
                    <a:cs typeface="Calibri"/>
                  </a:rPr>
                  <a:t> </a:t>
                </a:r>
                <a:r>
                  <a:rPr sz="1100" dirty="0">
                    <a:latin typeface="Georgia"/>
                    <a:cs typeface="Georgia"/>
                  </a:rPr>
                  <a:t>cells.</a:t>
                </a:r>
                <a:r>
                  <a:rPr sz="1100" spc="125" dirty="0">
                    <a:latin typeface="Georgia"/>
                    <a:cs typeface="Georgia"/>
                  </a:rPr>
                  <a:t> </a:t>
                </a:r>
                <a:r>
                  <a:rPr sz="1100" spc="-10" dirty="0">
                    <a:latin typeface="Georgia"/>
                    <a:cs typeface="Georgia"/>
                  </a:rPr>
                  <a:t>For</a:t>
                </a:r>
                <a:r>
                  <a:rPr sz="1100" spc="30" dirty="0">
                    <a:latin typeface="Georgia"/>
                    <a:cs typeface="Georgia"/>
                  </a:rPr>
                  <a:t> </a:t>
                </a:r>
                <a:r>
                  <a:rPr sz="1100" spc="-20" dirty="0">
                    <a:latin typeface="Georgia"/>
                    <a:cs typeface="Georgia"/>
                  </a:rPr>
                  <a:t>instance,</a:t>
                </a:r>
                <a:r>
                  <a:rPr sz="1100" spc="30" dirty="0">
                    <a:latin typeface="Georgia"/>
                    <a:cs typeface="Georgia"/>
                  </a:rPr>
                  <a:t> </a:t>
                </a:r>
                <a:r>
                  <a:rPr sz="1100" i="1" spc="65" dirty="0">
                    <a:latin typeface="Calibri"/>
                    <a:cs typeface="Calibri"/>
                  </a:rPr>
                  <a:t>k</a:t>
                </a:r>
                <a:r>
                  <a:rPr sz="1100" i="1" spc="30" dirty="0">
                    <a:latin typeface="Calibri"/>
                    <a:cs typeface="Calibri"/>
                  </a:rPr>
                  <a:t> </a:t>
                </a:r>
                <a:r>
                  <a:rPr sz="1100" spc="295" dirty="0">
                    <a:latin typeface="Calibri"/>
                    <a:cs typeface="Calibri"/>
                  </a:rPr>
                  <a:t>=</a:t>
                </a:r>
                <a:r>
                  <a:rPr sz="1100" dirty="0">
                    <a:latin typeface="Calibri"/>
                    <a:cs typeface="Calibri"/>
                  </a:rPr>
                  <a:t> 10</a:t>
                </a:r>
                <a:r>
                  <a:rPr sz="1100" dirty="0">
                    <a:latin typeface="Georgia"/>
                    <a:cs typeface="Georgia"/>
                  </a:rPr>
                  <a:t>,</a:t>
                </a:r>
                <a:r>
                  <a:rPr sz="1100" spc="30" dirty="0">
                    <a:latin typeface="Georgia"/>
                    <a:cs typeface="Georgia"/>
                  </a:rPr>
                  <a:t> </a:t>
                </a:r>
                <a:r>
                  <a:rPr sz="1100" dirty="0">
                    <a:latin typeface="Georgia"/>
                    <a:cs typeface="Georgia"/>
                  </a:rPr>
                  <a:t>and</a:t>
                </a:r>
                <a:r>
                  <a:rPr sz="1100" spc="30" dirty="0">
                    <a:latin typeface="Georgia"/>
                    <a:cs typeface="Georgia"/>
                  </a:rPr>
                  <a:t> </a:t>
                </a:r>
                <a:r>
                  <a:rPr sz="1100" spc="-20" dirty="0">
                    <a:latin typeface="Georgia"/>
                    <a:cs typeface="Georgia"/>
                  </a:rPr>
                  <a:t>then</a:t>
                </a:r>
                <a:endParaRPr sz="1100">
                  <a:latin typeface="Georgia"/>
                  <a:cs typeface="Georgia"/>
                </a:endParaRPr>
              </a:p>
            </p:txBody>
          </p:sp>
        </mc:Choice>
        <mc:Fallback>
          <p:sp>
            <p:nvSpPr>
              <p:cNvPr id="5" name="object 5"/>
              <p:cNvSpPr txBox="1">
                <a:spLocks noRot="1" noChangeAspect="1" noMove="1" noResize="1" noEditPoints="1" noAdjustHandles="1" noChangeArrowheads="1" noChangeShapeType="1" noTextEdit="1"/>
              </p:cNvSpPr>
              <p:nvPr/>
            </p:nvSpPr>
            <p:spPr>
              <a:xfrm>
                <a:off x="454177" y="2295193"/>
                <a:ext cx="4950460" cy="180819"/>
              </a:xfrm>
              <a:prstGeom prst="rect">
                <a:avLst/>
              </a:prstGeom>
              <a:blipFill>
                <a:blip r:embed="rId3"/>
                <a:stretch>
                  <a:fillRect l="-1538" t="-20000" b="-46667"/>
                </a:stretch>
              </a:blipFill>
            </p:spPr>
            <p:txBody>
              <a:bodyPr/>
              <a:lstStyle/>
              <a:p>
                <a:r>
                  <a:rPr lang="en-VN">
                    <a:noFill/>
                  </a:rPr>
                  <a:t> </a:t>
                </a:r>
              </a:p>
            </p:txBody>
          </p:sp>
        </mc:Fallback>
      </mc:AlternateContent>
      <p:sp>
        <p:nvSpPr>
          <p:cNvPr id="6" name="object 6"/>
          <p:cNvSpPr txBox="1"/>
          <p:nvPr/>
        </p:nvSpPr>
        <p:spPr>
          <a:xfrm>
            <a:off x="454177" y="2369500"/>
            <a:ext cx="4931410" cy="502284"/>
          </a:xfrm>
          <a:prstGeom prst="rect">
            <a:avLst/>
          </a:prstGeom>
        </p:spPr>
        <p:txBody>
          <a:bodyPr vert="horz" wrap="square" lIns="0" tIns="83185" rIns="0" bIns="0" rtlCol="0">
            <a:spAutoFit/>
          </a:bodyPr>
          <a:lstStyle/>
          <a:p>
            <a:pPr marL="12700">
              <a:lnSpc>
                <a:spcPct val="100000"/>
              </a:lnSpc>
              <a:spcBef>
                <a:spcPts val="655"/>
              </a:spcBef>
            </a:pPr>
            <a:r>
              <a:rPr sz="1100" dirty="0">
                <a:latin typeface="Georgia"/>
                <a:cs typeface="Georgia"/>
              </a:rPr>
              <a:t>the</a:t>
            </a:r>
            <a:r>
              <a:rPr sz="1100" spc="40" dirty="0">
                <a:latin typeface="Georgia"/>
                <a:cs typeface="Georgia"/>
              </a:rPr>
              <a:t> </a:t>
            </a:r>
            <a:r>
              <a:rPr sz="1100" dirty="0">
                <a:latin typeface="Georgia"/>
                <a:cs typeface="Georgia"/>
              </a:rPr>
              <a:t>total</a:t>
            </a:r>
            <a:r>
              <a:rPr sz="1100" spc="45" dirty="0">
                <a:latin typeface="Georgia"/>
                <a:cs typeface="Georgia"/>
              </a:rPr>
              <a:t> </a:t>
            </a:r>
            <a:r>
              <a:rPr sz="1100" spc="-40" dirty="0">
                <a:latin typeface="Georgia"/>
                <a:cs typeface="Georgia"/>
              </a:rPr>
              <a:t>number</a:t>
            </a:r>
            <a:r>
              <a:rPr sz="1100" spc="45" dirty="0">
                <a:latin typeface="Georgia"/>
                <a:cs typeface="Georgia"/>
              </a:rPr>
              <a:t> </a:t>
            </a:r>
            <a:r>
              <a:rPr sz="1100" dirty="0">
                <a:latin typeface="Georgia"/>
                <a:cs typeface="Georgia"/>
              </a:rPr>
              <a:t>of</a:t>
            </a:r>
            <a:r>
              <a:rPr sz="1100" spc="45" dirty="0">
                <a:latin typeface="Georgia"/>
                <a:cs typeface="Georgia"/>
              </a:rPr>
              <a:t> </a:t>
            </a:r>
            <a:r>
              <a:rPr sz="1100" spc="-10" dirty="0">
                <a:latin typeface="Georgia"/>
                <a:cs typeface="Georgia"/>
              </a:rPr>
              <a:t>cells</a:t>
            </a:r>
            <a:r>
              <a:rPr sz="1100" spc="45" dirty="0">
                <a:latin typeface="Georgia"/>
                <a:cs typeface="Georgia"/>
              </a:rPr>
              <a:t> </a:t>
            </a:r>
            <a:r>
              <a:rPr sz="1100" dirty="0">
                <a:latin typeface="Georgia"/>
                <a:cs typeface="Georgia"/>
              </a:rPr>
              <a:t>is</a:t>
            </a:r>
            <a:r>
              <a:rPr sz="1100" spc="45" dirty="0">
                <a:latin typeface="Georgia"/>
                <a:cs typeface="Georgia"/>
              </a:rPr>
              <a:t> </a:t>
            </a:r>
            <a:r>
              <a:rPr sz="1100" i="1" spc="75" dirty="0">
                <a:latin typeface="Calibri"/>
                <a:cs typeface="Calibri"/>
              </a:rPr>
              <a:t>m</a:t>
            </a:r>
            <a:r>
              <a:rPr sz="1100" i="1" spc="10" dirty="0">
                <a:latin typeface="Calibri"/>
                <a:cs typeface="Calibri"/>
              </a:rPr>
              <a:t> </a:t>
            </a:r>
            <a:r>
              <a:rPr sz="1100" spc="295" dirty="0">
                <a:latin typeface="Calibri"/>
                <a:cs typeface="Calibri"/>
              </a:rPr>
              <a:t>=</a:t>
            </a:r>
            <a:r>
              <a:rPr sz="1100" spc="10" dirty="0">
                <a:latin typeface="Calibri"/>
                <a:cs typeface="Calibri"/>
              </a:rPr>
              <a:t> </a:t>
            </a:r>
            <a:r>
              <a:rPr sz="1100" dirty="0">
                <a:latin typeface="Calibri"/>
                <a:cs typeface="Calibri"/>
              </a:rPr>
              <a:t>100</a:t>
            </a:r>
            <a:r>
              <a:rPr sz="1100" spc="60" dirty="0">
                <a:latin typeface="Calibri"/>
                <a:cs typeface="Calibri"/>
              </a:rPr>
              <a:t> </a:t>
            </a:r>
            <a:r>
              <a:rPr sz="1100" spc="-10" dirty="0">
                <a:latin typeface="Georgia"/>
                <a:cs typeface="Georgia"/>
              </a:rPr>
              <a:t>cells.</a:t>
            </a:r>
            <a:endParaRPr sz="1100">
              <a:latin typeface="Georgia"/>
              <a:cs typeface="Georgia"/>
            </a:endParaRPr>
          </a:p>
          <a:p>
            <a:pPr marL="12700">
              <a:lnSpc>
                <a:spcPct val="100000"/>
              </a:lnSpc>
              <a:spcBef>
                <a:spcPts val="555"/>
              </a:spcBef>
            </a:pPr>
            <a:r>
              <a:rPr sz="1100" spc="-10" dirty="0">
                <a:latin typeface="Georgia"/>
                <a:cs typeface="Georgia"/>
              </a:rPr>
              <a:t>Counting</a:t>
            </a:r>
            <a:r>
              <a:rPr sz="1100" spc="15" dirty="0">
                <a:latin typeface="Georgia"/>
                <a:cs typeface="Georgia"/>
              </a:rPr>
              <a:t> </a:t>
            </a:r>
            <a:r>
              <a:rPr sz="1100" dirty="0">
                <a:latin typeface="Georgia"/>
                <a:cs typeface="Georgia"/>
              </a:rPr>
              <a:t>the</a:t>
            </a:r>
            <a:r>
              <a:rPr sz="1100" spc="20" dirty="0">
                <a:latin typeface="Georgia"/>
                <a:cs typeface="Georgia"/>
              </a:rPr>
              <a:t> </a:t>
            </a:r>
            <a:r>
              <a:rPr sz="1100" spc="-40" dirty="0">
                <a:latin typeface="Georgia"/>
                <a:cs typeface="Georgia"/>
              </a:rPr>
              <a:t>number</a:t>
            </a:r>
            <a:r>
              <a:rPr sz="1100" spc="20" dirty="0">
                <a:latin typeface="Georgia"/>
                <a:cs typeface="Georgia"/>
              </a:rPr>
              <a:t> </a:t>
            </a:r>
            <a:r>
              <a:rPr sz="1100" dirty="0">
                <a:latin typeface="Georgia"/>
                <a:cs typeface="Georgia"/>
              </a:rPr>
              <a:t>of</a:t>
            </a:r>
            <a:r>
              <a:rPr sz="1100" spc="15" dirty="0">
                <a:latin typeface="Georgia"/>
                <a:cs typeface="Georgia"/>
              </a:rPr>
              <a:t> </a:t>
            </a:r>
            <a:r>
              <a:rPr sz="1100" dirty="0">
                <a:latin typeface="Georgia"/>
                <a:cs typeface="Georgia"/>
              </a:rPr>
              <a:t>data</a:t>
            </a:r>
            <a:r>
              <a:rPr sz="1100" spc="20" dirty="0">
                <a:latin typeface="Georgia"/>
                <a:cs typeface="Georgia"/>
              </a:rPr>
              <a:t> </a:t>
            </a:r>
            <a:r>
              <a:rPr sz="1100" spc="-10" dirty="0">
                <a:latin typeface="Georgia"/>
                <a:cs typeface="Georgia"/>
              </a:rPr>
              <a:t>points</a:t>
            </a:r>
            <a:r>
              <a:rPr sz="1100" spc="20" dirty="0">
                <a:latin typeface="Georgia"/>
                <a:cs typeface="Georgia"/>
              </a:rPr>
              <a:t> </a:t>
            </a:r>
            <a:r>
              <a:rPr sz="1100" dirty="0">
                <a:latin typeface="Georgia"/>
                <a:cs typeface="Georgia"/>
              </a:rPr>
              <a:t>in</a:t>
            </a:r>
            <a:r>
              <a:rPr sz="1100" spc="15" dirty="0">
                <a:latin typeface="Georgia"/>
                <a:cs typeface="Georgia"/>
              </a:rPr>
              <a:t> </a:t>
            </a:r>
            <a:r>
              <a:rPr sz="1100" spc="-10" dirty="0">
                <a:latin typeface="Georgia"/>
                <a:cs typeface="Georgia"/>
              </a:rPr>
              <a:t>each</a:t>
            </a:r>
            <a:r>
              <a:rPr sz="1100" spc="20" dirty="0">
                <a:latin typeface="Georgia"/>
                <a:cs typeface="Georgia"/>
              </a:rPr>
              <a:t> </a:t>
            </a:r>
            <a:r>
              <a:rPr sz="1100" spc="-10" dirty="0">
                <a:latin typeface="Georgia"/>
                <a:cs typeface="Georgia"/>
              </a:rPr>
              <a:t>cells</a:t>
            </a:r>
            <a:r>
              <a:rPr sz="1100" spc="20" dirty="0">
                <a:latin typeface="Georgia"/>
                <a:cs typeface="Georgia"/>
              </a:rPr>
              <a:t> </a:t>
            </a:r>
            <a:r>
              <a:rPr sz="1100" dirty="0">
                <a:latin typeface="Georgia"/>
                <a:cs typeface="Georgia"/>
              </a:rPr>
              <a:t>for</a:t>
            </a:r>
            <a:r>
              <a:rPr sz="1100" spc="15" dirty="0">
                <a:latin typeface="Georgia"/>
                <a:cs typeface="Georgia"/>
              </a:rPr>
              <a:t> </a:t>
            </a:r>
            <a:r>
              <a:rPr sz="1100" spc="-10" dirty="0">
                <a:latin typeface="Georgia"/>
                <a:cs typeface="Georgia"/>
              </a:rPr>
              <a:t>three</a:t>
            </a:r>
            <a:r>
              <a:rPr sz="1100" spc="20" dirty="0">
                <a:latin typeface="Georgia"/>
                <a:cs typeface="Georgia"/>
              </a:rPr>
              <a:t> </a:t>
            </a:r>
            <a:r>
              <a:rPr sz="1100" spc="-20" dirty="0">
                <a:latin typeface="Georgia"/>
                <a:cs typeface="Georgia"/>
              </a:rPr>
              <a:t>cases</a:t>
            </a:r>
            <a:r>
              <a:rPr sz="1100" spc="20" dirty="0">
                <a:latin typeface="Georgia"/>
                <a:cs typeface="Georgia"/>
              </a:rPr>
              <a:t> </a:t>
            </a:r>
            <a:r>
              <a:rPr sz="1100" dirty="0">
                <a:latin typeface="Georgia"/>
                <a:cs typeface="Georgia"/>
              </a:rPr>
              <a:t>(a),</a:t>
            </a:r>
            <a:r>
              <a:rPr sz="1100" spc="15" dirty="0">
                <a:latin typeface="Georgia"/>
                <a:cs typeface="Georgia"/>
              </a:rPr>
              <a:t> </a:t>
            </a:r>
            <a:r>
              <a:rPr sz="1100" dirty="0">
                <a:latin typeface="Georgia"/>
                <a:cs typeface="Georgia"/>
              </a:rPr>
              <a:t>(b),</a:t>
            </a:r>
            <a:r>
              <a:rPr sz="1100" spc="20" dirty="0">
                <a:latin typeface="Georgia"/>
                <a:cs typeface="Georgia"/>
              </a:rPr>
              <a:t> </a:t>
            </a:r>
            <a:r>
              <a:rPr sz="1100" dirty="0">
                <a:latin typeface="Georgia"/>
                <a:cs typeface="Georgia"/>
              </a:rPr>
              <a:t>and</a:t>
            </a:r>
            <a:r>
              <a:rPr sz="1100" spc="20" dirty="0">
                <a:latin typeface="Georgia"/>
                <a:cs typeface="Georgia"/>
              </a:rPr>
              <a:t> </a:t>
            </a:r>
            <a:r>
              <a:rPr sz="1100" spc="-20" dirty="0">
                <a:latin typeface="Georgia"/>
                <a:cs typeface="Georgia"/>
              </a:rPr>
              <a:t>(c).</a:t>
            </a:r>
            <a:endParaRPr sz="1100">
              <a:latin typeface="Georgia"/>
              <a:cs typeface="Georgia"/>
            </a:endParaRPr>
          </a:p>
        </p:txBody>
      </p:sp>
      <p:sp>
        <p:nvSpPr>
          <p:cNvPr id="7" name="object 7"/>
          <p:cNvSpPr/>
          <p:nvPr/>
        </p:nvSpPr>
        <p:spPr>
          <a:xfrm>
            <a:off x="337972" y="277127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8" name="object 8"/>
          <p:cNvGrpSpPr/>
          <p:nvPr/>
        </p:nvGrpSpPr>
        <p:grpSpPr>
          <a:xfrm>
            <a:off x="0" y="3121545"/>
            <a:ext cx="5760085" cy="118745"/>
            <a:chOff x="0" y="3121545"/>
            <a:chExt cx="5760085" cy="118745"/>
          </a:xfrm>
        </p:grpSpPr>
        <p:sp>
          <p:nvSpPr>
            <p:cNvPr id="9" name="object 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0" name="object 1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2" name="object 1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28</a:t>
            </a:fld>
            <a:r>
              <a:rPr spc="15" dirty="0"/>
              <a:t> </a:t>
            </a:r>
            <a:r>
              <a:rPr spc="75" dirty="0"/>
              <a:t>/</a:t>
            </a:r>
            <a:r>
              <a:rPr spc="15" dirty="0"/>
              <a:t> </a:t>
            </a:r>
            <a:r>
              <a:rPr spc="35" dirty="0"/>
              <a:t>135</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270" dirty="0"/>
              <a:t> </a:t>
            </a:r>
            <a:r>
              <a:rPr dirty="0"/>
              <a:t>cluster</a:t>
            </a:r>
            <a:r>
              <a:rPr spc="270" dirty="0"/>
              <a:t> </a:t>
            </a:r>
            <a:r>
              <a:rPr dirty="0"/>
              <a:t>tendency</a:t>
            </a:r>
            <a:r>
              <a:rPr spc="275" dirty="0"/>
              <a:t> </a:t>
            </a:r>
            <a:r>
              <a:rPr dirty="0"/>
              <a:t>with</a:t>
            </a:r>
            <a:r>
              <a:rPr spc="270" dirty="0"/>
              <a:t> </a:t>
            </a:r>
            <a:r>
              <a:rPr dirty="0"/>
              <a:t>cell–based</a:t>
            </a:r>
            <a:r>
              <a:rPr spc="270" dirty="0"/>
              <a:t> </a:t>
            </a:r>
            <a:r>
              <a:rPr dirty="0"/>
              <a:t>entropy</a:t>
            </a:r>
            <a:r>
              <a:rPr spc="280" dirty="0"/>
              <a:t> </a:t>
            </a:r>
            <a:r>
              <a:rPr spc="-10" dirty="0"/>
              <a:t>(cont’d)</a:t>
            </a:r>
          </a:p>
        </p:txBody>
      </p:sp>
      <p:pic>
        <p:nvPicPr>
          <p:cNvPr id="3" name="object 3"/>
          <p:cNvPicPr/>
          <p:nvPr/>
        </p:nvPicPr>
        <p:blipFill>
          <a:blip r:embed="rId3" cstate="print"/>
          <a:stretch>
            <a:fillRect/>
          </a:stretch>
        </p:blipFill>
        <p:spPr>
          <a:xfrm>
            <a:off x="262686" y="497674"/>
            <a:ext cx="1482852" cy="952119"/>
          </a:xfrm>
          <a:prstGeom prst="rect">
            <a:avLst/>
          </a:prstGeom>
        </p:spPr>
      </p:pic>
      <p:pic>
        <p:nvPicPr>
          <p:cNvPr id="4" name="object 4"/>
          <p:cNvPicPr/>
          <p:nvPr/>
        </p:nvPicPr>
        <p:blipFill>
          <a:blip r:embed="rId4" cstate="print"/>
          <a:stretch>
            <a:fillRect/>
          </a:stretch>
        </p:blipFill>
        <p:spPr>
          <a:xfrm>
            <a:off x="2146579" y="497674"/>
            <a:ext cx="1474851" cy="952119"/>
          </a:xfrm>
          <a:prstGeom prst="rect">
            <a:avLst/>
          </a:prstGeom>
        </p:spPr>
      </p:pic>
      <p:pic>
        <p:nvPicPr>
          <p:cNvPr id="5" name="object 5"/>
          <p:cNvPicPr/>
          <p:nvPr/>
        </p:nvPicPr>
        <p:blipFill>
          <a:blip r:embed="rId5" cstate="print"/>
          <a:stretch>
            <a:fillRect/>
          </a:stretch>
        </p:blipFill>
        <p:spPr>
          <a:xfrm>
            <a:off x="4030471" y="495007"/>
            <a:ext cx="1474851" cy="957452"/>
          </a:xfrm>
          <a:prstGeom prst="rect">
            <a:avLst/>
          </a:prstGeom>
        </p:spPr>
      </p:pic>
      <p:sp>
        <p:nvSpPr>
          <p:cNvPr id="6" name="object 6"/>
          <p:cNvSpPr/>
          <p:nvPr/>
        </p:nvSpPr>
        <p:spPr>
          <a:xfrm>
            <a:off x="337972" y="162224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txBox="1"/>
          <p:nvPr/>
        </p:nvSpPr>
        <p:spPr>
          <a:xfrm>
            <a:off x="454177" y="1484886"/>
            <a:ext cx="3678554" cy="392430"/>
          </a:xfrm>
          <a:prstGeom prst="rect">
            <a:avLst/>
          </a:prstGeom>
        </p:spPr>
        <p:txBody>
          <a:bodyPr vert="horz" wrap="square" lIns="0" tIns="57150" rIns="0" bIns="0" rtlCol="0">
            <a:spAutoFit/>
          </a:bodyPr>
          <a:lstStyle/>
          <a:p>
            <a:pPr marL="12700">
              <a:lnSpc>
                <a:spcPct val="100000"/>
              </a:lnSpc>
              <a:spcBef>
                <a:spcPts val="450"/>
              </a:spcBef>
            </a:pPr>
            <a:r>
              <a:rPr sz="1100" dirty="0">
                <a:latin typeface="Georgia"/>
                <a:cs typeface="Georgia"/>
              </a:rPr>
              <a:t>Calculate</a:t>
            </a:r>
            <a:r>
              <a:rPr sz="1100" spc="20" dirty="0">
                <a:latin typeface="Georgia"/>
                <a:cs typeface="Georgia"/>
              </a:rPr>
              <a:t> </a:t>
            </a:r>
            <a:r>
              <a:rPr sz="1100" dirty="0">
                <a:latin typeface="Georgia"/>
                <a:cs typeface="Georgia"/>
              </a:rPr>
              <a:t>the</a:t>
            </a:r>
            <a:r>
              <a:rPr sz="1100" spc="20" dirty="0">
                <a:latin typeface="Georgia"/>
                <a:cs typeface="Georgia"/>
              </a:rPr>
              <a:t> </a:t>
            </a:r>
            <a:r>
              <a:rPr sz="1100" spc="-20" dirty="0">
                <a:latin typeface="Georgia"/>
                <a:cs typeface="Georgia"/>
              </a:rPr>
              <a:t>entropy</a:t>
            </a:r>
            <a:r>
              <a:rPr sz="1100" spc="20" dirty="0">
                <a:latin typeface="Georgia"/>
                <a:cs typeface="Georgia"/>
              </a:rPr>
              <a:t> </a:t>
            </a:r>
            <a:r>
              <a:rPr sz="1100" dirty="0">
                <a:latin typeface="Georgia"/>
                <a:cs typeface="Georgia"/>
              </a:rPr>
              <a:t>of</a:t>
            </a:r>
            <a:r>
              <a:rPr sz="1100" spc="25" dirty="0">
                <a:latin typeface="Georgia"/>
                <a:cs typeface="Georgia"/>
              </a:rPr>
              <a:t> </a:t>
            </a:r>
            <a:r>
              <a:rPr sz="1100" dirty="0">
                <a:latin typeface="Georgia"/>
                <a:cs typeface="Georgia"/>
              </a:rPr>
              <a:t>the</a:t>
            </a:r>
            <a:r>
              <a:rPr sz="1100" spc="20" dirty="0">
                <a:latin typeface="Georgia"/>
                <a:cs typeface="Georgia"/>
              </a:rPr>
              <a:t> </a:t>
            </a:r>
            <a:r>
              <a:rPr sz="1100" dirty="0">
                <a:latin typeface="Georgia"/>
                <a:cs typeface="Georgia"/>
              </a:rPr>
              <a:t>point</a:t>
            </a:r>
            <a:r>
              <a:rPr sz="1100" spc="20" dirty="0">
                <a:latin typeface="Georgia"/>
                <a:cs typeface="Georgia"/>
              </a:rPr>
              <a:t> </a:t>
            </a:r>
            <a:r>
              <a:rPr sz="1100" spc="-20" dirty="0">
                <a:latin typeface="Georgia"/>
                <a:cs typeface="Georgia"/>
              </a:rPr>
              <a:t>distribution</a:t>
            </a:r>
            <a:r>
              <a:rPr sz="1100" spc="25" dirty="0">
                <a:latin typeface="Georgia"/>
                <a:cs typeface="Georgia"/>
              </a:rPr>
              <a:t> </a:t>
            </a:r>
            <a:r>
              <a:rPr sz="1100" spc="-20" dirty="0">
                <a:latin typeface="Georgia"/>
                <a:cs typeface="Georgia"/>
              </a:rPr>
              <a:t>over</a:t>
            </a:r>
            <a:r>
              <a:rPr sz="1100" spc="20" dirty="0">
                <a:latin typeface="Georgia"/>
                <a:cs typeface="Georgia"/>
              </a:rPr>
              <a:t> </a:t>
            </a:r>
            <a:r>
              <a:rPr sz="1100" spc="-10" dirty="0">
                <a:latin typeface="Georgia"/>
                <a:cs typeface="Georgia"/>
              </a:rPr>
              <a:t>cells,</a:t>
            </a:r>
            <a:r>
              <a:rPr sz="1100" spc="20" dirty="0">
                <a:latin typeface="Georgia"/>
                <a:cs typeface="Georgia"/>
              </a:rPr>
              <a:t> </a:t>
            </a:r>
            <a:r>
              <a:rPr sz="1100" i="1" spc="95" dirty="0">
                <a:latin typeface="Calibri"/>
                <a:cs typeface="Calibri"/>
              </a:rPr>
              <a:t>H</a:t>
            </a:r>
            <a:r>
              <a:rPr sz="1100" spc="95" dirty="0">
                <a:latin typeface="Georgia"/>
                <a:cs typeface="Georgia"/>
              </a:rPr>
              <a:t>:</a:t>
            </a:r>
            <a:endParaRPr sz="1100">
              <a:latin typeface="Georgia"/>
              <a:cs typeface="Georgia"/>
            </a:endParaRPr>
          </a:p>
          <a:p>
            <a:pPr marL="2428240">
              <a:lnSpc>
                <a:spcPct val="100000"/>
              </a:lnSpc>
              <a:spcBef>
                <a:spcPts val="259"/>
              </a:spcBef>
            </a:pPr>
            <a:endParaRPr sz="800">
              <a:latin typeface="Calibri"/>
              <a:cs typeface="Calibri"/>
            </a:endParaRPr>
          </a:p>
        </p:txBody>
      </p:sp>
      <p:sp>
        <p:nvSpPr>
          <p:cNvPr id="11" name="object 11"/>
          <p:cNvSpPr txBox="1"/>
          <p:nvPr/>
        </p:nvSpPr>
        <p:spPr>
          <a:xfrm>
            <a:off x="5381459" y="1866174"/>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(5)</a:t>
            </a:r>
            <a:endParaRPr sz="1100">
              <a:latin typeface="Georgia"/>
              <a:cs typeface="Georgia"/>
            </a:endParaRPr>
          </a:p>
        </p:txBody>
      </p:sp>
      <p:sp>
        <p:nvSpPr>
          <p:cNvPr id="12" name="object 12"/>
          <p:cNvSpPr txBox="1"/>
          <p:nvPr/>
        </p:nvSpPr>
        <p:spPr>
          <a:xfrm>
            <a:off x="416077" y="2038855"/>
            <a:ext cx="5176520" cy="784830"/>
          </a:xfrm>
          <a:prstGeom prst="rect">
            <a:avLst/>
          </a:prstGeom>
        </p:spPr>
        <p:txBody>
          <a:bodyPr vert="horz" wrap="square" lIns="0" tIns="43180" rIns="0" bIns="0" rtlCol="0">
            <a:spAutoFit/>
          </a:bodyPr>
          <a:lstStyle/>
          <a:p>
            <a:pPr marR="139065" algn="ctr">
              <a:lnSpc>
                <a:spcPct val="100000"/>
              </a:lnSpc>
              <a:spcBef>
                <a:spcPts val="340"/>
              </a:spcBef>
            </a:pPr>
            <a:endParaRPr sz="800">
              <a:latin typeface="Calibri"/>
              <a:cs typeface="Calibri"/>
            </a:endParaRPr>
          </a:p>
          <a:p>
            <a:pPr marL="50800" marR="286385">
              <a:lnSpc>
                <a:spcPts val="1150"/>
              </a:lnSpc>
              <a:spcBef>
                <a:spcPts val="500"/>
              </a:spcBef>
            </a:pPr>
            <a:r>
              <a:rPr sz="1100" spc="-30" dirty="0">
                <a:latin typeface="Georgia"/>
                <a:cs typeface="Georgia"/>
              </a:rPr>
              <a:t>where</a:t>
            </a:r>
            <a:r>
              <a:rPr sz="1100" spc="35" dirty="0">
                <a:latin typeface="Georgia"/>
                <a:cs typeface="Georgia"/>
              </a:rPr>
              <a:t> </a:t>
            </a:r>
            <a:r>
              <a:rPr sz="1100" i="1" dirty="0">
                <a:latin typeface="Calibri"/>
                <a:cs typeface="Calibri"/>
              </a:rPr>
              <a:t>p</a:t>
            </a:r>
            <a:r>
              <a:rPr sz="1200" i="1" baseline="-10416" dirty="0">
                <a:latin typeface="Calibri"/>
                <a:cs typeface="Calibri"/>
              </a:rPr>
              <a:t>i</a:t>
            </a:r>
            <a:r>
              <a:rPr sz="1200" i="1" spc="187" baseline="-10416" dirty="0">
                <a:latin typeface="Calibri"/>
                <a:cs typeface="Calibri"/>
              </a:rPr>
              <a:t> </a:t>
            </a:r>
            <a:r>
              <a:rPr sz="1100" spc="295" dirty="0">
                <a:latin typeface="Calibri"/>
                <a:cs typeface="Calibri"/>
              </a:rPr>
              <a:t>=</a:t>
            </a:r>
            <a:r>
              <a:rPr sz="1100" spc="15" dirty="0">
                <a:latin typeface="Calibri"/>
                <a:cs typeface="Calibri"/>
              </a:rPr>
              <a:t> </a:t>
            </a:r>
            <a:r>
              <a:rPr sz="1100" i="1" spc="90" dirty="0">
                <a:latin typeface="Calibri"/>
                <a:cs typeface="Calibri"/>
              </a:rPr>
              <a:t>c</a:t>
            </a:r>
            <a:r>
              <a:rPr sz="1200" i="1" spc="135" baseline="-10416" dirty="0">
                <a:latin typeface="Calibri"/>
                <a:cs typeface="Calibri"/>
              </a:rPr>
              <a:t>i</a:t>
            </a:r>
            <a:r>
              <a:rPr sz="1100" i="1" spc="90" dirty="0">
                <a:latin typeface="Calibri"/>
                <a:cs typeface="Calibri"/>
              </a:rPr>
              <a:t>/n</a:t>
            </a:r>
            <a:r>
              <a:rPr sz="1100" i="1" spc="65" dirty="0">
                <a:latin typeface="Calibri"/>
                <a:cs typeface="Calibri"/>
              </a:rPr>
              <a:t> </a:t>
            </a:r>
            <a:r>
              <a:rPr sz="1100" dirty="0">
                <a:latin typeface="Georgia"/>
                <a:cs typeface="Georgia"/>
              </a:rPr>
              <a:t>with</a:t>
            </a:r>
            <a:r>
              <a:rPr sz="1100" spc="50" dirty="0">
                <a:latin typeface="Georgia"/>
                <a:cs typeface="Georgia"/>
              </a:rPr>
              <a:t> </a:t>
            </a:r>
            <a:r>
              <a:rPr sz="1100" i="1" spc="50" dirty="0">
                <a:latin typeface="Calibri"/>
                <a:cs typeface="Calibri"/>
              </a:rPr>
              <a:t>c</a:t>
            </a:r>
            <a:r>
              <a:rPr sz="1200" i="1" spc="75" baseline="-10416" dirty="0">
                <a:latin typeface="Calibri"/>
                <a:cs typeface="Calibri"/>
              </a:rPr>
              <a:t>i</a:t>
            </a:r>
            <a:r>
              <a:rPr sz="1200" i="1" spc="262" baseline="-10416" dirty="0">
                <a:latin typeface="Calibri"/>
                <a:cs typeface="Calibri"/>
              </a:rPr>
              <a:t> </a:t>
            </a:r>
            <a:r>
              <a:rPr sz="1100" dirty="0">
                <a:latin typeface="Georgia"/>
                <a:cs typeface="Georgia"/>
              </a:rPr>
              <a:t>is</a:t>
            </a:r>
            <a:r>
              <a:rPr sz="1100" spc="50" dirty="0">
                <a:latin typeface="Georgia"/>
                <a:cs typeface="Georgia"/>
              </a:rPr>
              <a:t> </a:t>
            </a:r>
            <a:r>
              <a:rPr sz="1100" dirty="0">
                <a:latin typeface="Georgia"/>
                <a:cs typeface="Georgia"/>
              </a:rPr>
              <a:t>the</a:t>
            </a:r>
            <a:r>
              <a:rPr sz="1100" spc="50" dirty="0">
                <a:latin typeface="Georgia"/>
                <a:cs typeface="Georgia"/>
              </a:rPr>
              <a:t> </a:t>
            </a:r>
            <a:r>
              <a:rPr sz="1100" spc="-40" dirty="0">
                <a:latin typeface="Georgia"/>
                <a:cs typeface="Georgia"/>
              </a:rPr>
              <a:t>number</a:t>
            </a:r>
            <a:r>
              <a:rPr sz="1100" spc="50" dirty="0">
                <a:latin typeface="Georgia"/>
                <a:cs typeface="Georgia"/>
              </a:rPr>
              <a:t> </a:t>
            </a:r>
            <a:r>
              <a:rPr sz="1100" dirty="0">
                <a:latin typeface="Georgia"/>
                <a:cs typeface="Georgia"/>
              </a:rPr>
              <a:t>of</a:t>
            </a:r>
            <a:r>
              <a:rPr sz="1100" spc="50" dirty="0">
                <a:latin typeface="Georgia"/>
                <a:cs typeface="Georgia"/>
              </a:rPr>
              <a:t> </a:t>
            </a:r>
            <a:r>
              <a:rPr sz="1100" dirty="0">
                <a:latin typeface="Georgia"/>
                <a:cs typeface="Georgia"/>
              </a:rPr>
              <a:t>data</a:t>
            </a:r>
            <a:r>
              <a:rPr sz="1100" spc="50" dirty="0">
                <a:latin typeface="Georgia"/>
                <a:cs typeface="Georgia"/>
              </a:rPr>
              <a:t> </a:t>
            </a:r>
            <a:r>
              <a:rPr sz="1100" spc="-10" dirty="0">
                <a:latin typeface="Georgia"/>
                <a:cs typeface="Georgia"/>
              </a:rPr>
              <a:t>points</a:t>
            </a:r>
            <a:r>
              <a:rPr sz="1100" spc="50" dirty="0">
                <a:latin typeface="Georgia"/>
                <a:cs typeface="Georgia"/>
              </a:rPr>
              <a:t> </a:t>
            </a:r>
            <a:r>
              <a:rPr sz="1100" dirty="0">
                <a:latin typeface="Georgia"/>
                <a:cs typeface="Georgia"/>
              </a:rPr>
              <a:t>in</a:t>
            </a:r>
            <a:r>
              <a:rPr sz="1100" spc="50" dirty="0">
                <a:latin typeface="Georgia"/>
                <a:cs typeface="Georgia"/>
              </a:rPr>
              <a:t> </a:t>
            </a:r>
            <a:r>
              <a:rPr sz="1100" dirty="0">
                <a:latin typeface="Georgia"/>
                <a:cs typeface="Georgia"/>
              </a:rPr>
              <a:t>the</a:t>
            </a:r>
            <a:r>
              <a:rPr sz="1100" spc="50" dirty="0">
                <a:latin typeface="Georgia"/>
                <a:cs typeface="Georgia"/>
              </a:rPr>
              <a:t> </a:t>
            </a:r>
            <a:r>
              <a:rPr sz="1100" i="1" spc="60" dirty="0">
                <a:latin typeface="Calibri"/>
                <a:cs typeface="Calibri"/>
              </a:rPr>
              <a:t>i</a:t>
            </a:r>
            <a:r>
              <a:rPr sz="1200" spc="89" baseline="27777" dirty="0">
                <a:latin typeface="Georgia"/>
                <a:cs typeface="Georgia"/>
              </a:rPr>
              <a:t>th</a:t>
            </a:r>
            <a:r>
              <a:rPr sz="1200" spc="240" baseline="27777" dirty="0">
                <a:latin typeface="Georgia"/>
                <a:cs typeface="Georgia"/>
              </a:rPr>
              <a:t> </a:t>
            </a:r>
            <a:r>
              <a:rPr sz="1100" dirty="0">
                <a:latin typeface="Georgia"/>
                <a:cs typeface="Georgia"/>
              </a:rPr>
              <a:t>cell,</a:t>
            </a:r>
            <a:r>
              <a:rPr sz="1100" spc="50" dirty="0">
                <a:latin typeface="Georgia"/>
                <a:cs typeface="Georgia"/>
              </a:rPr>
              <a:t> </a:t>
            </a:r>
            <a:r>
              <a:rPr sz="1100" dirty="0">
                <a:latin typeface="Georgia"/>
                <a:cs typeface="Georgia"/>
              </a:rPr>
              <a:t>and</a:t>
            </a:r>
            <a:r>
              <a:rPr sz="1100" spc="50" dirty="0">
                <a:latin typeface="Georgia"/>
                <a:cs typeface="Georgia"/>
              </a:rPr>
              <a:t> </a:t>
            </a:r>
            <a:r>
              <a:rPr sz="1100" i="1" spc="90" dirty="0">
                <a:latin typeface="Calibri"/>
                <a:cs typeface="Calibri"/>
              </a:rPr>
              <a:t>n</a:t>
            </a:r>
            <a:r>
              <a:rPr sz="1100" i="1" spc="65" dirty="0">
                <a:latin typeface="Calibri"/>
                <a:cs typeface="Calibri"/>
              </a:rPr>
              <a:t> </a:t>
            </a:r>
            <a:r>
              <a:rPr sz="1100" dirty="0">
                <a:latin typeface="Georgia"/>
                <a:cs typeface="Georgia"/>
              </a:rPr>
              <a:t>is</a:t>
            </a:r>
            <a:r>
              <a:rPr sz="1100" spc="50" dirty="0">
                <a:latin typeface="Georgia"/>
                <a:cs typeface="Georgia"/>
              </a:rPr>
              <a:t> </a:t>
            </a:r>
            <a:r>
              <a:rPr sz="1100" spc="-25" dirty="0">
                <a:latin typeface="Georgia"/>
                <a:cs typeface="Georgia"/>
              </a:rPr>
              <a:t>the </a:t>
            </a:r>
            <a:r>
              <a:rPr sz="1100" dirty="0">
                <a:latin typeface="Georgia"/>
                <a:cs typeface="Georgia"/>
              </a:rPr>
              <a:t>total</a:t>
            </a:r>
            <a:r>
              <a:rPr sz="1100" spc="35" dirty="0">
                <a:latin typeface="Georgia"/>
                <a:cs typeface="Georgia"/>
              </a:rPr>
              <a:t> </a:t>
            </a:r>
            <a:r>
              <a:rPr sz="1100" spc="-35" dirty="0">
                <a:latin typeface="Georgia"/>
                <a:cs typeface="Georgia"/>
              </a:rPr>
              <a:t>number</a:t>
            </a:r>
            <a:r>
              <a:rPr sz="1100" spc="40" dirty="0">
                <a:latin typeface="Georgia"/>
                <a:cs typeface="Georgia"/>
              </a:rPr>
              <a:t> </a:t>
            </a:r>
            <a:r>
              <a:rPr sz="1100" dirty="0">
                <a:latin typeface="Georgia"/>
                <a:cs typeface="Georgia"/>
              </a:rPr>
              <a:t>of</a:t>
            </a:r>
            <a:r>
              <a:rPr sz="1100" spc="35" dirty="0">
                <a:latin typeface="Georgia"/>
                <a:cs typeface="Georgia"/>
              </a:rPr>
              <a:t> </a:t>
            </a:r>
            <a:r>
              <a:rPr sz="1100" dirty="0">
                <a:latin typeface="Georgia"/>
                <a:cs typeface="Georgia"/>
              </a:rPr>
              <a:t>data</a:t>
            </a:r>
            <a:r>
              <a:rPr sz="1100" spc="40" dirty="0">
                <a:latin typeface="Georgia"/>
                <a:cs typeface="Georgia"/>
              </a:rPr>
              <a:t> </a:t>
            </a:r>
            <a:r>
              <a:rPr sz="1100" spc="-10" dirty="0">
                <a:latin typeface="Georgia"/>
                <a:cs typeface="Georgia"/>
              </a:rPr>
              <a:t>points</a:t>
            </a:r>
            <a:r>
              <a:rPr sz="1100" spc="35" dirty="0">
                <a:latin typeface="Georgia"/>
                <a:cs typeface="Georgia"/>
              </a:rPr>
              <a:t> </a:t>
            </a:r>
            <a:r>
              <a:rPr sz="1100" dirty="0">
                <a:latin typeface="Georgia"/>
                <a:cs typeface="Georgia"/>
              </a:rPr>
              <a:t>in</a:t>
            </a:r>
            <a:r>
              <a:rPr sz="1100" spc="40" dirty="0">
                <a:latin typeface="Georgia"/>
                <a:cs typeface="Georgia"/>
              </a:rPr>
              <a:t> </a:t>
            </a:r>
            <a:r>
              <a:rPr sz="1100" dirty="0">
                <a:latin typeface="Georgia"/>
                <a:cs typeface="Georgia"/>
              </a:rPr>
              <a:t>all</a:t>
            </a:r>
            <a:r>
              <a:rPr sz="1100" spc="35" dirty="0">
                <a:latin typeface="Georgia"/>
                <a:cs typeface="Georgia"/>
              </a:rPr>
              <a:t> </a:t>
            </a:r>
            <a:r>
              <a:rPr sz="1100" spc="-10" dirty="0">
                <a:latin typeface="Georgia"/>
                <a:cs typeface="Georgia"/>
              </a:rPr>
              <a:t>cells.</a:t>
            </a:r>
            <a:endParaRPr sz="1100">
              <a:latin typeface="Georgia"/>
              <a:cs typeface="Georgia"/>
            </a:endParaRPr>
          </a:p>
          <a:p>
            <a:pPr marL="50800">
              <a:lnSpc>
                <a:spcPct val="100000"/>
              </a:lnSpc>
              <a:spcBef>
                <a:spcPts val="550"/>
              </a:spcBef>
            </a:pPr>
            <a:r>
              <a:rPr sz="1100" dirty="0">
                <a:latin typeface="Georgia"/>
                <a:cs typeface="Georgia"/>
              </a:rPr>
              <a:t>With</a:t>
            </a:r>
            <a:r>
              <a:rPr sz="1100" spc="60" dirty="0">
                <a:latin typeface="Georgia"/>
                <a:cs typeface="Georgia"/>
              </a:rPr>
              <a:t> </a:t>
            </a:r>
            <a:r>
              <a:rPr sz="1100" i="1" spc="75" dirty="0">
                <a:latin typeface="Calibri"/>
                <a:cs typeface="Calibri"/>
              </a:rPr>
              <a:t>m</a:t>
            </a:r>
            <a:r>
              <a:rPr sz="1100" i="1" spc="20" dirty="0">
                <a:latin typeface="Calibri"/>
                <a:cs typeface="Calibri"/>
              </a:rPr>
              <a:t> </a:t>
            </a:r>
            <a:r>
              <a:rPr sz="1100" spc="295" dirty="0">
                <a:latin typeface="Calibri"/>
                <a:cs typeface="Calibri"/>
              </a:rPr>
              <a:t>=</a:t>
            </a:r>
            <a:r>
              <a:rPr sz="1100" spc="30" dirty="0">
                <a:latin typeface="Calibri"/>
                <a:cs typeface="Calibri"/>
              </a:rPr>
              <a:t> </a:t>
            </a:r>
            <a:r>
              <a:rPr sz="1100" dirty="0">
                <a:latin typeface="Calibri"/>
                <a:cs typeface="Calibri"/>
              </a:rPr>
              <a:t>100</a:t>
            </a:r>
            <a:r>
              <a:rPr sz="1100" spc="75" dirty="0">
                <a:latin typeface="Calibri"/>
                <a:cs typeface="Calibri"/>
              </a:rPr>
              <a:t> </a:t>
            </a:r>
            <a:r>
              <a:rPr sz="1100" spc="-10" dirty="0">
                <a:latin typeface="Georgia"/>
                <a:cs typeface="Georgia"/>
              </a:rPr>
              <a:t>cells,</a:t>
            </a:r>
            <a:r>
              <a:rPr sz="1100" spc="60" dirty="0">
                <a:latin typeface="Georgia"/>
                <a:cs typeface="Georgia"/>
              </a:rPr>
              <a:t> </a:t>
            </a:r>
            <a:r>
              <a:rPr sz="1100" dirty="0">
                <a:latin typeface="Georgia"/>
                <a:cs typeface="Georgia"/>
              </a:rPr>
              <a:t>the</a:t>
            </a:r>
            <a:r>
              <a:rPr sz="1100" spc="60" dirty="0">
                <a:latin typeface="Georgia"/>
                <a:cs typeface="Georgia"/>
              </a:rPr>
              <a:t> </a:t>
            </a:r>
            <a:r>
              <a:rPr sz="1100" spc="-35" dirty="0">
                <a:latin typeface="Georgia"/>
                <a:cs typeface="Georgia"/>
              </a:rPr>
              <a:t>maximum</a:t>
            </a:r>
            <a:r>
              <a:rPr sz="1100" spc="65" dirty="0">
                <a:latin typeface="Georgia"/>
                <a:cs typeface="Georgia"/>
              </a:rPr>
              <a:t> </a:t>
            </a:r>
            <a:r>
              <a:rPr sz="1100" spc="-20" dirty="0">
                <a:latin typeface="Georgia"/>
                <a:cs typeface="Georgia"/>
              </a:rPr>
              <a:t>entropy</a:t>
            </a:r>
            <a:r>
              <a:rPr sz="1100" spc="60" dirty="0">
                <a:latin typeface="Georgia"/>
                <a:cs typeface="Georgia"/>
              </a:rPr>
              <a:t> </a:t>
            </a:r>
            <a:r>
              <a:rPr sz="1100" spc="-10" dirty="0">
                <a:latin typeface="Georgia"/>
                <a:cs typeface="Georgia"/>
              </a:rPr>
              <a:t>value</a:t>
            </a:r>
            <a:r>
              <a:rPr sz="1100" spc="60" dirty="0">
                <a:latin typeface="Georgia"/>
                <a:cs typeface="Georgia"/>
              </a:rPr>
              <a:t> </a:t>
            </a:r>
            <a:r>
              <a:rPr sz="1100" dirty="0">
                <a:latin typeface="Georgia"/>
                <a:cs typeface="Georgia"/>
              </a:rPr>
              <a:t>is</a:t>
            </a:r>
            <a:r>
              <a:rPr sz="1100" spc="65" dirty="0">
                <a:latin typeface="Georgia"/>
                <a:cs typeface="Georgia"/>
              </a:rPr>
              <a:t> </a:t>
            </a:r>
            <a:r>
              <a:rPr sz="1100" dirty="0">
                <a:latin typeface="Calibri"/>
                <a:cs typeface="Calibri"/>
              </a:rPr>
              <a:t>log</a:t>
            </a:r>
            <a:r>
              <a:rPr sz="1200" baseline="-17361" dirty="0">
                <a:latin typeface="Calibri"/>
                <a:cs typeface="Calibri"/>
              </a:rPr>
              <a:t>2</a:t>
            </a:r>
            <a:r>
              <a:rPr sz="1200" spc="37" baseline="-17361" dirty="0">
                <a:latin typeface="Calibri"/>
                <a:cs typeface="Calibri"/>
              </a:rPr>
              <a:t> </a:t>
            </a:r>
            <a:r>
              <a:rPr sz="1100" i="1" spc="75" dirty="0">
                <a:latin typeface="Calibri"/>
                <a:cs typeface="Calibri"/>
              </a:rPr>
              <a:t>m</a:t>
            </a:r>
            <a:r>
              <a:rPr sz="1100" i="1" spc="25" dirty="0">
                <a:latin typeface="Calibri"/>
                <a:cs typeface="Calibri"/>
              </a:rPr>
              <a:t> </a:t>
            </a:r>
            <a:r>
              <a:rPr sz="1100" spc="295" dirty="0">
                <a:latin typeface="Calibri"/>
                <a:cs typeface="Calibri"/>
              </a:rPr>
              <a:t>=</a:t>
            </a:r>
            <a:r>
              <a:rPr sz="1100" spc="25" dirty="0">
                <a:latin typeface="Calibri"/>
                <a:cs typeface="Calibri"/>
              </a:rPr>
              <a:t> </a:t>
            </a:r>
            <a:r>
              <a:rPr sz="1100" dirty="0">
                <a:latin typeface="Calibri"/>
                <a:cs typeface="Calibri"/>
              </a:rPr>
              <a:t>log</a:t>
            </a:r>
            <a:r>
              <a:rPr sz="1200" baseline="-17361" dirty="0">
                <a:latin typeface="Calibri"/>
                <a:cs typeface="Calibri"/>
              </a:rPr>
              <a:t>2</a:t>
            </a:r>
            <a:r>
              <a:rPr sz="1200" spc="44" baseline="-17361" dirty="0">
                <a:latin typeface="Calibri"/>
                <a:cs typeface="Calibri"/>
              </a:rPr>
              <a:t> </a:t>
            </a:r>
            <a:r>
              <a:rPr sz="1100" dirty="0">
                <a:latin typeface="Calibri"/>
                <a:cs typeface="Calibri"/>
              </a:rPr>
              <a:t>100</a:t>
            </a:r>
            <a:r>
              <a:rPr sz="1100" spc="20" dirty="0">
                <a:latin typeface="Calibri"/>
                <a:cs typeface="Calibri"/>
              </a:rPr>
              <a:t> </a:t>
            </a:r>
            <a:r>
              <a:rPr sz="1100" spc="295" dirty="0">
                <a:latin typeface="Calibri"/>
                <a:cs typeface="Calibri"/>
              </a:rPr>
              <a:t>=</a:t>
            </a:r>
            <a:r>
              <a:rPr sz="1100" spc="30" dirty="0">
                <a:latin typeface="Calibri"/>
                <a:cs typeface="Calibri"/>
              </a:rPr>
              <a:t> </a:t>
            </a:r>
            <a:r>
              <a:rPr sz="1100" dirty="0">
                <a:latin typeface="Calibri"/>
                <a:cs typeface="Calibri"/>
              </a:rPr>
              <a:t>6</a:t>
            </a:r>
            <a:r>
              <a:rPr sz="1100" i="1" dirty="0">
                <a:latin typeface="Calibri"/>
                <a:cs typeface="Calibri"/>
              </a:rPr>
              <a:t>.</a:t>
            </a:r>
            <a:r>
              <a:rPr sz="1100" dirty="0">
                <a:latin typeface="Calibri"/>
                <a:cs typeface="Calibri"/>
              </a:rPr>
              <a:t>6439</a:t>
            </a:r>
            <a:r>
              <a:rPr sz="1100" dirty="0">
                <a:latin typeface="Georgia"/>
                <a:cs typeface="Georgia"/>
              </a:rPr>
              <a:t>.</a:t>
            </a:r>
            <a:r>
              <a:rPr sz="1100" spc="165" dirty="0">
                <a:latin typeface="Georgia"/>
                <a:cs typeface="Georgia"/>
              </a:rPr>
              <a:t> </a:t>
            </a:r>
            <a:r>
              <a:rPr sz="1100" spc="-25" dirty="0">
                <a:latin typeface="Georgia"/>
                <a:cs typeface="Georgia"/>
              </a:rPr>
              <a:t>The</a:t>
            </a:r>
            <a:endParaRPr sz="1100">
              <a:latin typeface="Georgia"/>
              <a:cs typeface="Georgia"/>
            </a:endParaRPr>
          </a:p>
        </p:txBody>
      </p:sp>
      <p:sp>
        <p:nvSpPr>
          <p:cNvPr id="13" name="object 13"/>
          <p:cNvSpPr/>
          <p:nvPr/>
        </p:nvSpPr>
        <p:spPr>
          <a:xfrm>
            <a:off x="337972" y="270949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4" name="object 14"/>
          <p:cNvGrpSpPr/>
          <p:nvPr/>
        </p:nvGrpSpPr>
        <p:grpSpPr>
          <a:xfrm>
            <a:off x="0" y="3121545"/>
            <a:ext cx="5760085" cy="118745"/>
            <a:chOff x="0" y="3121545"/>
            <a:chExt cx="5760085" cy="118745"/>
          </a:xfrm>
        </p:grpSpPr>
        <p:sp>
          <p:nvSpPr>
            <p:cNvPr id="15" name="object 1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6" name="object 1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7" name="object 17"/>
          <p:cNvSpPr txBox="1"/>
          <p:nvPr/>
        </p:nvSpPr>
        <p:spPr>
          <a:xfrm>
            <a:off x="454177" y="2772189"/>
            <a:ext cx="3347720" cy="214629"/>
          </a:xfrm>
          <a:prstGeom prst="rect">
            <a:avLst/>
          </a:prstGeom>
        </p:spPr>
        <p:txBody>
          <a:bodyPr vert="horz" wrap="square" lIns="0" tIns="3175" rIns="0" bIns="0" rtlCol="0">
            <a:spAutoFit/>
          </a:bodyPr>
          <a:lstStyle/>
          <a:p>
            <a:pPr marL="12700">
              <a:lnSpc>
                <a:spcPct val="100000"/>
              </a:lnSpc>
              <a:spcBef>
                <a:spcPts val="25"/>
              </a:spcBef>
            </a:pPr>
            <a:r>
              <a:rPr sz="1100" spc="-20" dirty="0">
                <a:latin typeface="Georgia"/>
                <a:cs typeface="Georgia"/>
              </a:rPr>
              <a:t>entropy</a:t>
            </a:r>
            <a:r>
              <a:rPr sz="1100" spc="30" dirty="0">
                <a:latin typeface="Georgia"/>
                <a:cs typeface="Georgia"/>
              </a:rPr>
              <a:t> </a:t>
            </a:r>
            <a:r>
              <a:rPr sz="1100" dirty="0">
                <a:latin typeface="Georgia"/>
                <a:cs typeface="Georgia"/>
              </a:rPr>
              <a:t>can</a:t>
            </a:r>
            <a:r>
              <a:rPr sz="1100" spc="60" dirty="0">
                <a:latin typeface="Georgia"/>
                <a:cs typeface="Georgia"/>
              </a:rPr>
              <a:t> </a:t>
            </a:r>
            <a:r>
              <a:rPr sz="1100" dirty="0">
                <a:latin typeface="Georgia"/>
                <a:cs typeface="Georgia"/>
              </a:rPr>
              <a:t>be</a:t>
            </a:r>
            <a:r>
              <a:rPr sz="1100" spc="65" dirty="0">
                <a:latin typeface="Georgia"/>
                <a:cs typeface="Georgia"/>
              </a:rPr>
              <a:t> </a:t>
            </a:r>
            <a:r>
              <a:rPr sz="1100" spc="-30" dirty="0">
                <a:latin typeface="Georgia"/>
                <a:cs typeface="Georgia"/>
              </a:rPr>
              <a:t>normalized</a:t>
            </a:r>
            <a:r>
              <a:rPr sz="1100" spc="65" dirty="0">
                <a:latin typeface="Georgia"/>
                <a:cs typeface="Georgia"/>
              </a:rPr>
              <a:t> </a:t>
            </a:r>
            <a:r>
              <a:rPr sz="1100" dirty="0">
                <a:latin typeface="Georgia"/>
                <a:cs typeface="Georgia"/>
              </a:rPr>
              <a:t>to</a:t>
            </a:r>
            <a:r>
              <a:rPr sz="1100" spc="60" dirty="0">
                <a:latin typeface="Georgia"/>
                <a:cs typeface="Georgia"/>
              </a:rPr>
              <a:t> </a:t>
            </a:r>
            <a:r>
              <a:rPr sz="1100" spc="-20" dirty="0">
                <a:latin typeface="Calibri"/>
                <a:cs typeface="Calibri"/>
              </a:rPr>
              <a:t>[0</a:t>
            </a:r>
            <a:r>
              <a:rPr sz="1100" i="1" spc="-20" dirty="0">
                <a:latin typeface="Calibri"/>
                <a:cs typeface="Calibri"/>
              </a:rPr>
              <a:t>,</a:t>
            </a:r>
            <a:r>
              <a:rPr sz="1100" i="1" spc="-70" dirty="0">
                <a:latin typeface="Calibri"/>
                <a:cs typeface="Calibri"/>
              </a:rPr>
              <a:t> </a:t>
            </a:r>
            <a:r>
              <a:rPr sz="1100" dirty="0">
                <a:latin typeface="Calibri"/>
                <a:cs typeface="Calibri"/>
              </a:rPr>
              <a:t>1]</a:t>
            </a:r>
            <a:r>
              <a:rPr sz="1100" spc="80" dirty="0">
                <a:latin typeface="Calibri"/>
                <a:cs typeface="Calibri"/>
              </a:rPr>
              <a:t> </a:t>
            </a:r>
            <a:r>
              <a:rPr sz="1100" dirty="0">
                <a:latin typeface="Georgia"/>
                <a:cs typeface="Georgia"/>
              </a:rPr>
              <a:t>by</a:t>
            </a:r>
            <a:r>
              <a:rPr sz="1100" spc="65" dirty="0">
                <a:latin typeface="Georgia"/>
                <a:cs typeface="Georgia"/>
              </a:rPr>
              <a:t> </a:t>
            </a:r>
            <a:r>
              <a:rPr sz="1100" spc="-20" dirty="0">
                <a:latin typeface="Georgia"/>
                <a:cs typeface="Georgia"/>
              </a:rPr>
              <a:t>using</a:t>
            </a:r>
            <a:r>
              <a:rPr sz="1100" spc="60" dirty="0">
                <a:latin typeface="Georgia"/>
                <a:cs typeface="Georgia"/>
              </a:rPr>
              <a:t> </a:t>
            </a:r>
            <a:r>
              <a:rPr sz="1100" i="1" spc="175" dirty="0">
                <a:latin typeface="Calibri"/>
                <a:cs typeface="Calibri"/>
              </a:rPr>
              <a:t>H/</a:t>
            </a:r>
            <a:r>
              <a:rPr sz="1100" i="1" spc="-70" dirty="0">
                <a:latin typeface="Calibri"/>
                <a:cs typeface="Calibri"/>
              </a:rPr>
              <a:t> </a:t>
            </a:r>
            <a:r>
              <a:rPr sz="1100" dirty="0">
                <a:latin typeface="Calibri"/>
                <a:cs typeface="Calibri"/>
              </a:rPr>
              <a:t>log</a:t>
            </a:r>
            <a:r>
              <a:rPr sz="1200" baseline="-17361" dirty="0">
                <a:latin typeface="Calibri"/>
                <a:cs typeface="Calibri"/>
              </a:rPr>
              <a:t>2</a:t>
            </a:r>
            <a:r>
              <a:rPr sz="1200" spc="44" baseline="-17361" dirty="0">
                <a:latin typeface="Calibri"/>
                <a:cs typeface="Calibri"/>
              </a:rPr>
              <a:t> </a:t>
            </a:r>
            <a:r>
              <a:rPr sz="1100" i="1" spc="-25" dirty="0">
                <a:latin typeface="Calibri"/>
                <a:cs typeface="Calibri"/>
              </a:rPr>
              <a:t>m</a:t>
            </a:r>
            <a:r>
              <a:rPr sz="1100" spc="-25" dirty="0">
                <a:latin typeface="Georgia"/>
                <a:cs typeface="Georgia"/>
              </a:rPr>
              <a:t>.</a:t>
            </a:r>
            <a:endParaRPr sz="1100">
              <a:latin typeface="Georgia"/>
              <a:cs typeface="Georgia"/>
            </a:endParaRPr>
          </a:p>
        </p:txBody>
      </p:sp>
      <p:sp>
        <p:nvSpPr>
          <p:cNvPr id="18" name="object 1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9" name="object 1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6" action="ppaction://hlinksldjump"/>
              </a:rPr>
              <a:t>data</a:t>
            </a:r>
            <a:r>
              <a:rPr sz="600" spc="110" dirty="0">
                <a:solidFill>
                  <a:srgbClr val="7A0000"/>
                </a:solidFill>
                <a:latin typeface="Georgia"/>
                <a:cs typeface="Georgia"/>
                <a:hlinkClick r:id="rId6" action="ppaction://hlinksldjump"/>
              </a:rPr>
              <a:t> </a:t>
            </a:r>
            <a:r>
              <a:rPr sz="600" spc="-10" dirty="0">
                <a:solidFill>
                  <a:srgbClr val="7A0000"/>
                </a:solidFill>
                <a:latin typeface="Georgia"/>
                <a:cs typeface="Georgia"/>
                <a:hlinkClick r:id="rId6" action="ppaction://hlinksldjump"/>
              </a:rPr>
              <a:t>clustering</a:t>
            </a:r>
            <a:endParaRPr sz="600">
              <a:latin typeface="Georgia"/>
              <a:cs typeface="Georgia"/>
            </a:endParaRPr>
          </a:p>
        </p:txBody>
      </p:sp>
      <p:sp>
        <p:nvSpPr>
          <p:cNvPr id="20" name="object 2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29</a:t>
            </a:fld>
            <a:r>
              <a:rPr spc="-10" dirty="0"/>
              <a:t> </a:t>
            </a:r>
            <a:r>
              <a:rPr spc="75" dirty="0"/>
              <a:t>/</a:t>
            </a:r>
            <a:r>
              <a:rPr spc="-10" dirty="0"/>
              <a:t> </a:t>
            </a:r>
            <a:r>
              <a:rPr spc="35" dirty="0"/>
              <a:t>135</a:t>
            </a:r>
          </a:p>
        </p:txBody>
      </p:sp>
      <p:pic>
        <p:nvPicPr>
          <p:cNvPr id="21" name="Picture 20">
            <a:extLst>
              <a:ext uri="{FF2B5EF4-FFF2-40B4-BE49-F238E27FC236}">
                <a16:creationId xmlns:a16="http://schemas.microsoft.com/office/drawing/2014/main" id="{BAE166BD-B144-7E5D-EE9A-2CA5D67741AC}"/>
              </a:ext>
            </a:extLst>
          </p:cNvPr>
          <p:cNvPicPr>
            <a:picLocks noChangeAspect="1"/>
          </p:cNvPicPr>
          <p:nvPr/>
        </p:nvPicPr>
        <p:blipFill>
          <a:blip r:embed="rId7"/>
          <a:stretch>
            <a:fillRect/>
          </a:stretch>
        </p:blipFill>
        <p:spPr>
          <a:xfrm>
            <a:off x="2157763" y="1740995"/>
            <a:ext cx="1255149" cy="45301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270" dirty="0"/>
              <a:t> </a:t>
            </a:r>
            <a:r>
              <a:rPr dirty="0"/>
              <a:t>cluster</a:t>
            </a:r>
            <a:r>
              <a:rPr spc="270" dirty="0"/>
              <a:t> </a:t>
            </a:r>
            <a:r>
              <a:rPr dirty="0"/>
              <a:t>tendency</a:t>
            </a:r>
            <a:r>
              <a:rPr spc="275" dirty="0"/>
              <a:t> </a:t>
            </a:r>
            <a:r>
              <a:rPr dirty="0"/>
              <a:t>with</a:t>
            </a:r>
            <a:r>
              <a:rPr spc="270" dirty="0"/>
              <a:t> </a:t>
            </a:r>
            <a:r>
              <a:rPr dirty="0"/>
              <a:t>cell–based</a:t>
            </a:r>
            <a:r>
              <a:rPr spc="270" dirty="0"/>
              <a:t> </a:t>
            </a:r>
            <a:r>
              <a:rPr dirty="0"/>
              <a:t>entropy</a:t>
            </a:r>
            <a:r>
              <a:rPr spc="280" dirty="0"/>
              <a:t> </a:t>
            </a:r>
            <a:r>
              <a:rPr spc="-10" dirty="0"/>
              <a:t>(cont’d)</a:t>
            </a:r>
          </a:p>
        </p:txBody>
      </p:sp>
      <p:sp>
        <p:nvSpPr>
          <p:cNvPr id="3" name="object 3"/>
          <p:cNvSpPr/>
          <p:nvPr/>
        </p:nvSpPr>
        <p:spPr>
          <a:xfrm>
            <a:off x="337972" y="476453"/>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620229" y="690003"/>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5" name="object 5"/>
          <p:cNvSpPr/>
          <p:nvPr/>
        </p:nvSpPr>
        <p:spPr>
          <a:xfrm>
            <a:off x="620229" y="873061"/>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6" name="object 6"/>
          <p:cNvSpPr/>
          <p:nvPr/>
        </p:nvSpPr>
        <p:spPr>
          <a:xfrm>
            <a:off x="337972" y="1114196"/>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620229" y="1327734"/>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8" name="object 8"/>
          <p:cNvSpPr/>
          <p:nvPr/>
        </p:nvSpPr>
        <p:spPr>
          <a:xfrm>
            <a:off x="620229" y="1510791"/>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9" name="object 9"/>
          <p:cNvSpPr/>
          <p:nvPr/>
        </p:nvSpPr>
        <p:spPr>
          <a:xfrm>
            <a:off x="337972" y="175192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0" name="object 10"/>
          <p:cNvSpPr/>
          <p:nvPr/>
        </p:nvSpPr>
        <p:spPr>
          <a:xfrm>
            <a:off x="620229" y="1965464"/>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1" name="object 11"/>
          <p:cNvSpPr/>
          <p:nvPr/>
        </p:nvSpPr>
        <p:spPr>
          <a:xfrm>
            <a:off x="620229" y="2148522"/>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12" name="object 12"/>
              <p:cNvSpPr txBox="1"/>
              <p:nvPr/>
            </p:nvSpPr>
            <p:spPr>
              <a:xfrm>
                <a:off x="454177" y="325568"/>
                <a:ext cx="4920615" cy="2566035"/>
              </a:xfrm>
              <a:prstGeom prst="rect">
                <a:avLst/>
              </a:prstGeom>
            </p:spPr>
            <p:txBody>
              <a:bodyPr vert="horz" wrap="square" lIns="0" tIns="70485" rIns="0" bIns="0" rtlCol="0">
                <a:spAutoFit/>
              </a:bodyPr>
              <a:lstStyle/>
              <a:p>
                <a:pPr marL="12700">
                  <a:lnSpc>
                    <a:spcPct val="100000"/>
                  </a:lnSpc>
                  <a:spcBef>
                    <a:spcPts val="555"/>
                  </a:spcBef>
                </a:pPr>
                <a:r>
                  <a:rPr sz="1100" dirty="0">
                    <a:latin typeface="Georgia"/>
                    <a:cs typeface="Georgia"/>
                  </a:rPr>
                  <a:t>Case</a:t>
                </a:r>
                <a:r>
                  <a:rPr sz="1100" spc="35" dirty="0">
                    <a:latin typeface="Georgia"/>
                    <a:cs typeface="Georgia"/>
                  </a:rPr>
                  <a:t> </a:t>
                </a:r>
                <a:r>
                  <a:rPr sz="1100" spc="-20" dirty="0">
                    <a:latin typeface="Georgia"/>
                    <a:cs typeface="Georgia"/>
                  </a:rPr>
                  <a:t>(a):</a:t>
                </a:r>
                <a:endParaRPr sz="1100">
                  <a:latin typeface="Georgia"/>
                  <a:cs typeface="Georgia"/>
                </a:endParaRPr>
              </a:p>
              <a:p>
                <a:pPr marL="289560">
                  <a:lnSpc>
                    <a:spcPct val="100000"/>
                  </a:lnSpc>
                  <a:spcBef>
                    <a:spcPts val="420"/>
                  </a:spcBef>
                </a:pPr>
                <a:r>
                  <a:rPr sz="1000" dirty="0">
                    <a:latin typeface="Georgia"/>
                    <a:cs typeface="Georgia"/>
                  </a:rPr>
                  <a:t>Entropy</a:t>
                </a:r>
                <a:r>
                  <a:rPr sz="1000" spc="35" dirty="0">
                    <a:latin typeface="Georgia"/>
                    <a:cs typeface="Georgia"/>
                  </a:rPr>
                  <a:t> </a:t>
                </a:r>
                <a:r>
                  <a:rPr sz="1000" spc="130" dirty="0">
                    <a:latin typeface="Georgia"/>
                    <a:cs typeface="Georgia"/>
                  </a:rPr>
                  <a:t>=</a:t>
                </a:r>
                <a:r>
                  <a:rPr sz="1000" spc="30" dirty="0">
                    <a:latin typeface="Georgia"/>
                    <a:cs typeface="Georgia"/>
                  </a:rPr>
                  <a:t> </a:t>
                </a:r>
                <a:r>
                  <a:rPr sz="1000" spc="-10" dirty="0">
                    <a:latin typeface="Georgia"/>
                    <a:cs typeface="Georgia"/>
                  </a:rPr>
                  <a:t>6.5539</a:t>
                </a:r>
                <a:endParaRPr sz="1000">
                  <a:latin typeface="Georgia"/>
                  <a:cs typeface="Georgia"/>
                </a:endParaRPr>
              </a:p>
              <a:p>
                <a:pPr marL="289560">
                  <a:lnSpc>
                    <a:spcPct val="100000"/>
                  </a:lnSpc>
                  <a:spcBef>
                    <a:spcPts val="244"/>
                  </a:spcBef>
                </a:pPr>
                <a:r>
                  <a:rPr sz="1000" spc="-25" dirty="0">
                    <a:latin typeface="Georgia"/>
                    <a:cs typeface="Georgia"/>
                  </a:rPr>
                  <a:t>Normalized</a:t>
                </a:r>
                <a:r>
                  <a:rPr sz="1000" spc="50" dirty="0">
                    <a:latin typeface="Georgia"/>
                    <a:cs typeface="Georgia"/>
                  </a:rPr>
                  <a:t> </a:t>
                </a:r>
                <a:r>
                  <a:rPr sz="1000" spc="-10" dirty="0">
                    <a:latin typeface="Georgia"/>
                    <a:cs typeface="Georgia"/>
                  </a:rPr>
                  <a:t>entropy</a:t>
                </a:r>
                <a:r>
                  <a:rPr sz="1000" spc="50" dirty="0">
                    <a:latin typeface="Georgia"/>
                    <a:cs typeface="Georgia"/>
                  </a:rPr>
                  <a:t> </a:t>
                </a:r>
                <a:r>
                  <a:rPr sz="1000" spc="130" dirty="0">
                    <a:latin typeface="Georgia"/>
                    <a:cs typeface="Georgia"/>
                  </a:rPr>
                  <a:t>=</a:t>
                </a:r>
                <a:r>
                  <a:rPr sz="1000" spc="50" dirty="0">
                    <a:latin typeface="Georgia"/>
                    <a:cs typeface="Georgia"/>
                  </a:rPr>
                  <a:t> </a:t>
                </a:r>
                <a:r>
                  <a:rPr sz="1000" b="1" spc="-75" dirty="0">
                    <a:latin typeface="Georgia"/>
                    <a:cs typeface="Georgia"/>
                  </a:rPr>
                  <a:t>0.9864</a:t>
                </a:r>
                <a:r>
                  <a:rPr sz="1000" b="1" spc="35" dirty="0">
                    <a:latin typeface="Georgia"/>
                    <a:cs typeface="Georgia"/>
                  </a:rPr>
                  <a:t> </a:t>
                </a:r>
                <a14:m>
                  <m:oMath xmlns:m="http://schemas.openxmlformats.org/officeDocument/2006/math">
                    <m:r>
                      <a:rPr lang="en-VN" sz="1000" i="1" spc="245" dirty="0">
                        <a:latin typeface="Cambria Math" panose="02040503050406030204" pitchFamily="18" charset="0"/>
                        <a:ea typeface="Cambria Math" panose="02040503050406030204" pitchFamily="18" charset="0"/>
                        <a:cs typeface="Lucida Sans Unicode"/>
                      </a:rPr>
                      <m:t>≈</m:t>
                    </m:r>
                  </m:oMath>
                </a14:m>
                <a:r>
                  <a:rPr sz="1000" spc="-70" dirty="0">
                    <a:latin typeface="Lucida Sans Unicode"/>
                    <a:cs typeface="Lucida Sans Unicode"/>
                  </a:rPr>
                  <a:t> </a:t>
                </a:r>
                <a:r>
                  <a:rPr sz="1000" spc="-25" dirty="0">
                    <a:latin typeface="Calibri"/>
                    <a:cs typeface="Calibri"/>
                  </a:rPr>
                  <a:t>1</a:t>
                </a:r>
                <a:r>
                  <a:rPr sz="1000" i="1" spc="-25" dirty="0">
                    <a:latin typeface="Calibri"/>
                    <a:cs typeface="Calibri"/>
                  </a:rPr>
                  <a:t>.</a:t>
                </a:r>
                <a:r>
                  <a:rPr sz="1000" spc="-25" dirty="0">
                    <a:latin typeface="Calibri"/>
                    <a:cs typeface="Calibri"/>
                  </a:rPr>
                  <a:t>0</a:t>
                </a:r>
                <a:endParaRPr sz="1000">
                  <a:latin typeface="Calibri"/>
                  <a:cs typeface="Calibri"/>
                </a:endParaRPr>
              </a:p>
              <a:p>
                <a:pPr marL="12700">
                  <a:lnSpc>
                    <a:spcPct val="100000"/>
                  </a:lnSpc>
                  <a:spcBef>
                    <a:spcPts val="640"/>
                  </a:spcBef>
                </a:pPr>
                <a:r>
                  <a:rPr sz="1100" dirty="0">
                    <a:latin typeface="Georgia"/>
                    <a:cs typeface="Georgia"/>
                  </a:rPr>
                  <a:t>Case</a:t>
                </a:r>
                <a:r>
                  <a:rPr sz="1100" spc="35" dirty="0">
                    <a:latin typeface="Georgia"/>
                    <a:cs typeface="Georgia"/>
                  </a:rPr>
                  <a:t> </a:t>
                </a:r>
                <a:r>
                  <a:rPr sz="1100" spc="-20" dirty="0">
                    <a:latin typeface="Georgia"/>
                    <a:cs typeface="Georgia"/>
                  </a:rPr>
                  <a:t>(b):</a:t>
                </a:r>
                <a:endParaRPr sz="1100">
                  <a:latin typeface="Georgia"/>
                  <a:cs typeface="Georgia"/>
                </a:endParaRPr>
              </a:p>
              <a:p>
                <a:pPr marL="289560">
                  <a:lnSpc>
                    <a:spcPct val="100000"/>
                  </a:lnSpc>
                  <a:spcBef>
                    <a:spcPts val="420"/>
                  </a:spcBef>
                </a:pPr>
                <a:r>
                  <a:rPr sz="1000" dirty="0">
                    <a:latin typeface="Georgia"/>
                    <a:cs typeface="Georgia"/>
                  </a:rPr>
                  <a:t>Entropy</a:t>
                </a:r>
                <a:r>
                  <a:rPr sz="1000" spc="35" dirty="0">
                    <a:latin typeface="Georgia"/>
                    <a:cs typeface="Georgia"/>
                  </a:rPr>
                  <a:t> </a:t>
                </a:r>
                <a:r>
                  <a:rPr sz="1000" spc="130" dirty="0">
                    <a:latin typeface="Georgia"/>
                    <a:cs typeface="Georgia"/>
                  </a:rPr>
                  <a:t>=</a:t>
                </a:r>
                <a:r>
                  <a:rPr sz="1000" spc="30" dirty="0">
                    <a:latin typeface="Georgia"/>
                    <a:cs typeface="Georgia"/>
                  </a:rPr>
                  <a:t> </a:t>
                </a:r>
                <a:r>
                  <a:rPr sz="1000" spc="-10" dirty="0">
                    <a:latin typeface="Georgia"/>
                    <a:cs typeface="Georgia"/>
                  </a:rPr>
                  <a:t>5.5318</a:t>
                </a:r>
                <a:endParaRPr sz="1000">
                  <a:latin typeface="Georgia"/>
                  <a:cs typeface="Georgia"/>
                </a:endParaRPr>
              </a:p>
              <a:p>
                <a:pPr marL="289560">
                  <a:lnSpc>
                    <a:spcPct val="100000"/>
                  </a:lnSpc>
                  <a:spcBef>
                    <a:spcPts val="240"/>
                  </a:spcBef>
                </a:pPr>
                <a:r>
                  <a:rPr sz="1000" spc="-25" dirty="0">
                    <a:latin typeface="Georgia"/>
                    <a:cs typeface="Georgia"/>
                  </a:rPr>
                  <a:t>Normalized</a:t>
                </a:r>
                <a:r>
                  <a:rPr sz="1000" spc="45" dirty="0">
                    <a:latin typeface="Georgia"/>
                    <a:cs typeface="Georgia"/>
                  </a:rPr>
                  <a:t> </a:t>
                </a:r>
                <a:r>
                  <a:rPr sz="1000" spc="-10" dirty="0">
                    <a:latin typeface="Georgia"/>
                    <a:cs typeface="Georgia"/>
                  </a:rPr>
                  <a:t>entropy</a:t>
                </a:r>
                <a:r>
                  <a:rPr sz="1000" spc="45" dirty="0">
                    <a:latin typeface="Georgia"/>
                    <a:cs typeface="Georgia"/>
                  </a:rPr>
                  <a:t> </a:t>
                </a:r>
                <a:r>
                  <a:rPr sz="1000" spc="130" dirty="0">
                    <a:latin typeface="Georgia"/>
                    <a:cs typeface="Georgia"/>
                  </a:rPr>
                  <a:t>=</a:t>
                </a:r>
                <a:r>
                  <a:rPr sz="1000" spc="45" dirty="0">
                    <a:latin typeface="Georgia"/>
                    <a:cs typeface="Georgia"/>
                  </a:rPr>
                  <a:t> </a:t>
                </a:r>
                <a:r>
                  <a:rPr sz="1000" b="1" spc="-10" dirty="0">
                    <a:latin typeface="Georgia"/>
                    <a:cs typeface="Georgia"/>
                  </a:rPr>
                  <a:t>0.8326</a:t>
                </a:r>
                <a:endParaRPr sz="1000">
                  <a:latin typeface="Georgia"/>
                  <a:cs typeface="Georgia"/>
                </a:endParaRPr>
              </a:p>
              <a:p>
                <a:pPr marL="12700">
                  <a:lnSpc>
                    <a:spcPct val="100000"/>
                  </a:lnSpc>
                  <a:spcBef>
                    <a:spcPts val="640"/>
                  </a:spcBef>
                </a:pPr>
                <a:r>
                  <a:rPr sz="1100" dirty="0">
                    <a:latin typeface="Georgia"/>
                    <a:cs typeface="Georgia"/>
                  </a:rPr>
                  <a:t>Case</a:t>
                </a:r>
                <a:r>
                  <a:rPr sz="1100" spc="35" dirty="0">
                    <a:latin typeface="Georgia"/>
                    <a:cs typeface="Georgia"/>
                  </a:rPr>
                  <a:t> </a:t>
                </a:r>
                <a:r>
                  <a:rPr sz="1100" spc="-20" dirty="0">
                    <a:latin typeface="Georgia"/>
                    <a:cs typeface="Georgia"/>
                  </a:rPr>
                  <a:t>(c):</a:t>
                </a:r>
                <a:endParaRPr sz="1100">
                  <a:latin typeface="Georgia"/>
                  <a:cs typeface="Georgia"/>
                </a:endParaRPr>
              </a:p>
              <a:p>
                <a:pPr marL="289560">
                  <a:lnSpc>
                    <a:spcPct val="100000"/>
                  </a:lnSpc>
                  <a:spcBef>
                    <a:spcPts val="420"/>
                  </a:spcBef>
                </a:pPr>
                <a:r>
                  <a:rPr sz="1000" dirty="0">
                    <a:latin typeface="Georgia"/>
                    <a:cs typeface="Georgia"/>
                  </a:rPr>
                  <a:t>Entropy</a:t>
                </a:r>
                <a:r>
                  <a:rPr sz="1000" spc="35" dirty="0">
                    <a:latin typeface="Georgia"/>
                    <a:cs typeface="Georgia"/>
                  </a:rPr>
                  <a:t> </a:t>
                </a:r>
                <a:r>
                  <a:rPr sz="1000" spc="130" dirty="0">
                    <a:latin typeface="Georgia"/>
                    <a:cs typeface="Georgia"/>
                  </a:rPr>
                  <a:t>=</a:t>
                </a:r>
                <a:r>
                  <a:rPr sz="1000" spc="30" dirty="0">
                    <a:latin typeface="Georgia"/>
                    <a:cs typeface="Georgia"/>
                  </a:rPr>
                  <a:t> </a:t>
                </a:r>
                <a:r>
                  <a:rPr sz="1000" spc="-10" dirty="0">
                    <a:latin typeface="Georgia"/>
                    <a:cs typeface="Georgia"/>
                  </a:rPr>
                  <a:t>4.8118</a:t>
                </a:r>
                <a:endParaRPr sz="1000">
                  <a:latin typeface="Georgia"/>
                  <a:cs typeface="Georgia"/>
                </a:endParaRPr>
              </a:p>
              <a:p>
                <a:pPr marL="289560">
                  <a:lnSpc>
                    <a:spcPct val="100000"/>
                  </a:lnSpc>
                  <a:spcBef>
                    <a:spcPts val="240"/>
                  </a:spcBef>
                </a:pPr>
                <a:r>
                  <a:rPr sz="1000" spc="-25" dirty="0">
                    <a:latin typeface="Georgia"/>
                    <a:cs typeface="Georgia"/>
                  </a:rPr>
                  <a:t>Normalized</a:t>
                </a:r>
                <a:r>
                  <a:rPr sz="1000" spc="45" dirty="0">
                    <a:latin typeface="Georgia"/>
                    <a:cs typeface="Georgia"/>
                  </a:rPr>
                  <a:t> </a:t>
                </a:r>
                <a:r>
                  <a:rPr sz="1000" spc="-10" dirty="0">
                    <a:latin typeface="Georgia"/>
                    <a:cs typeface="Georgia"/>
                  </a:rPr>
                  <a:t>entropy</a:t>
                </a:r>
                <a:r>
                  <a:rPr sz="1000" spc="45" dirty="0">
                    <a:latin typeface="Georgia"/>
                    <a:cs typeface="Georgia"/>
                  </a:rPr>
                  <a:t> </a:t>
                </a:r>
                <a:r>
                  <a:rPr sz="1000" spc="130" dirty="0">
                    <a:latin typeface="Georgia"/>
                    <a:cs typeface="Georgia"/>
                  </a:rPr>
                  <a:t>=</a:t>
                </a:r>
                <a:r>
                  <a:rPr sz="1000" spc="45" dirty="0">
                    <a:latin typeface="Georgia"/>
                    <a:cs typeface="Georgia"/>
                  </a:rPr>
                  <a:t> </a:t>
                </a:r>
                <a:r>
                  <a:rPr sz="1000" b="1" spc="-10" dirty="0">
                    <a:latin typeface="Georgia"/>
                    <a:cs typeface="Georgia"/>
                  </a:rPr>
                  <a:t>0.7242</a:t>
                </a:r>
                <a:endParaRPr sz="1000">
                  <a:latin typeface="Georgia"/>
                  <a:cs typeface="Georgia"/>
                </a:endParaRPr>
              </a:p>
              <a:p>
                <a:pPr marL="12700" marR="31115">
                  <a:lnSpc>
                    <a:spcPts val="1150"/>
                  </a:lnSpc>
                  <a:spcBef>
                    <a:spcPts val="955"/>
                  </a:spcBef>
                </a:pPr>
                <a:r>
                  <a:rPr sz="1100" dirty="0">
                    <a:latin typeface="Georgia"/>
                    <a:cs typeface="Georgia"/>
                  </a:rPr>
                  <a:t>The</a:t>
                </a:r>
                <a:r>
                  <a:rPr sz="1100" spc="30" dirty="0">
                    <a:latin typeface="Georgia"/>
                    <a:cs typeface="Georgia"/>
                  </a:rPr>
                  <a:t> </a:t>
                </a:r>
                <a:r>
                  <a:rPr sz="1100" spc="-25" dirty="0">
                    <a:latin typeface="Georgia"/>
                    <a:cs typeface="Georgia"/>
                  </a:rPr>
                  <a:t>smaller</a:t>
                </a:r>
                <a:r>
                  <a:rPr sz="1100" spc="35" dirty="0">
                    <a:latin typeface="Georgia"/>
                    <a:cs typeface="Georgia"/>
                  </a:rPr>
                  <a:t> </a:t>
                </a:r>
                <a:r>
                  <a:rPr sz="1100" spc="-20" dirty="0">
                    <a:latin typeface="Georgia"/>
                    <a:cs typeface="Georgia"/>
                  </a:rPr>
                  <a:t>entropy</a:t>
                </a:r>
                <a:r>
                  <a:rPr sz="1100" spc="30" dirty="0">
                    <a:latin typeface="Georgia"/>
                    <a:cs typeface="Georgia"/>
                  </a:rPr>
                  <a:t> </a:t>
                </a:r>
                <a:r>
                  <a:rPr sz="1100" spc="-10" dirty="0">
                    <a:latin typeface="Georgia"/>
                    <a:cs typeface="Georgia"/>
                  </a:rPr>
                  <a:t>value,</a:t>
                </a:r>
                <a:r>
                  <a:rPr sz="1100" spc="35" dirty="0">
                    <a:latin typeface="Georgia"/>
                    <a:cs typeface="Georgia"/>
                  </a:rPr>
                  <a:t> </a:t>
                </a:r>
                <a:r>
                  <a:rPr sz="1100" dirty="0">
                    <a:latin typeface="Georgia"/>
                    <a:cs typeface="Georgia"/>
                  </a:rPr>
                  <a:t>the</a:t>
                </a:r>
                <a:r>
                  <a:rPr sz="1100" spc="30" dirty="0">
                    <a:latin typeface="Georgia"/>
                    <a:cs typeface="Georgia"/>
                  </a:rPr>
                  <a:t> </a:t>
                </a:r>
                <a:r>
                  <a:rPr sz="1100" spc="-30" dirty="0">
                    <a:latin typeface="Georgia"/>
                    <a:cs typeface="Georgia"/>
                  </a:rPr>
                  <a:t>more</a:t>
                </a:r>
                <a:r>
                  <a:rPr sz="1100" spc="35" dirty="0">
                    <a:latin typeface="Georgia"/>
                    <a:cs typeface="Georgia"/>
                  </a:rPr>
                  <a:t> </a:t>
                </a:r>
                <a:r>
                  <a:rPr sz="1100" spc="-25" dirty="0">
                    <a:latin typeface="Georgia"/>
                    <a:cs typeface="Georgia"/>
                  </a:rPr>
                  <a:t>clustered</a:t>
                </a:r>
                <a:r>
                  <a:rPr sz="1100" spc="30"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data</a:t>
                </a:r>
                <a:r>
                  <a:rPr sz="1100" spc="30" dirty="0">
                    <a:latin typeface="Georgia"/>
                    <a:cs typeface="Georgia"/>
                  </a:rPr>
                  <a:t> </a:t>
                </a:r>
                <a:r>
                  <a:rPr sz="1100" dirty="0">
                    <a:latin typeface="Georgia"/>
                    <a:cs typeface="Georgia"/>
                  </a:rPr>
                  <a:t>is.</a:t>
                </a:r>
                <a:r>
                  <a:rPr sz="1100" spc="130" dirty="0">
                    <a:latin typeface="Georgia"/>
                    <a:cs typeface="Georgia"/>
                  </a:rPr>
                  <a:t> </a:t>
                </a:r>
                <a:r>
                  <a:rPr sz="1100" spc="-10" dirty="0">
                    <a:latin typeface="Georgia"/>
                    <a:cs typeface="Georgia"/>
                  </a:rPr>
                  <a:t>Entropy</a:t>
                </a:r>
                <a:r>
                  <a:rPr sz="1100" spc="30" dirty="0">
                    <a:latin typeface="Georgia"/>
                    <a:cs typeface="Georgia"/>
                  </a:rPr>
                  <a:t> </a:t>
                </a:r>
                <a:r>
                  <a:rPr sz="1100" spc="125" dirty="0">
                    <a:latin typeface="Georgia"/>
                    <a:cs typeface="Georgia"/>
                  </a:rPr>
                  <a:t>=</a:t>
                </a:r>
                <a:r>
                  <a:rPr sz="1100" spc="35" dirty="0">
                    <a:latin typeface="Georgia"/>
                    <a:cs typeface="Georgia"/>
                  </a:rPr>
                  <a:t> </a:t>
                </a:r>
                <a:r>
                  <a:rPr sz="1100" spc="-10" dirty="0">
                    <a:latin typeface="Georgia"/>
                    <a:cs typeface="Georgia"/>
                  </a:rPr>
                  <a:t>0</a:t>
                </a:r>
                <a:r>
                  <a:rPr sz="1100" spc="30" dirty="0">
                    <a:latin typeface="Georgia"/>
                    <a:cs typeface="Georgia"/>
                  </a:rPr>
                  <a:t> </a:t>
                </a:r>
                <a:r>
                  <a:rPr sz="1100" spc="-20" dirty="0">
                    <a:latin typeface="Georgia"/>
                    <a:cs typeface="Georgia"/>
                  </a:rPr>
                  <a:t>when</a:t>
                </a:r>
                <a:r>
                  <a:rPr sz="1100" spc="35" dirty="0">
                    <a:latin typeface="Georgia"/>
                    <a:cs typeface="Georgia"/>
                  </a:rPr>
                  <a:t> </a:t>
                </a:r>
                <a:r>
                  <a:rPr sz="1100" spc="-25" dirty="0">
                    <a:latin typeface="Georgia"/>
                    <a:cs typeface="Georgia"/>
                  </a:rPr>
                  <a:t>all </a:t>
                </a:r>
                <a:r>
                  <a:rPr sz="1100" dirty="0">
                    <a:latin typeface="Georgia"/>
                    <a:cs typeface="Georgia"/>
                  </a:rPr>
                  <a:t>data</a:t>
                </a:r>
                <a:r>
                  <a:rPr sz="1100" spc="10" dirty="0">
                    <a:latin typeface="Georgia"/>
                    <a:cs typeface="Georgia"/>
                  </a:rPr>
                  <a:t> </a:t>
                </a:r>
                <a:r>
                  <a:rPr sz="1100" spc="-10" dirty="0">
                    <a:latin typeface="Georgia"/>
                    <a:cs typeface="Georgia"/>
                  </a:rPr>
                  <a:t>points</a:t>
                </a:r>
                <a:r>
                  <a:rPr sz="1100" spc="15" dirty="0">
                    <a:latin typeface="Georgia"/>
                    <a:cs typeface="Georgia"/>
                  </a:rPr>
                  <a:t> </a:t>
                </a:r>
                <a:r>
                  <a:rPr sz="1100" dirty="0">
                    <a:latin typeface="Georgia"/>
                    <a:cs typeface="Georgia"/>
                  </a:rPr>
                  <a:t>fall</a:t>
                </a:r>
                <a:r>
                  <a:rPr sz="1100" spc="10" dirty="0">
                    <a:latin typeface="Georgia"/>
                    <a:cs typeface="Georgia"/>
                  </a:rPr>
                  <a:t> </a:t>
                </a:r>
                <a:r>
                  <a:rPr sz="1100" dirty="0">
                    <a:latin typeface="Georgia"/>
                    <a:cs typeface="Georgia"/>
                  </a:rPr>
                  <a:t>into</a:t>
                </a:r>
                <a:r>
                  <a:rPr sz="1100" spc="15" dirty="0">
                    <a:latin typeface="Georgia"/>
                    <a:cs typeface="Georgia"/>
                  </a:rPr>
                  <a:t> </a:t>
                </a:r>
                <a:r>
                  <a:rPr sz="1100" spc="-20" dirty="0">
                    <a:latin typeface="Georgia"/>
                    <a:cs typeface="Georgia"/>
                  </a:rPr>
                  <a:t>one</a:t>
                </a:r>
                <a:r>
                  <a:rPr sz="1100" spc="10" dirty="0">
                    <a:latin typeface="Georgia"/>
                    <a:cs typeface="Georgia"/>
                  </a:rPr>
                  <a:t> </a:t>
                </a:r>
                <a:r>
                  <a:rPr sz="1100" spc="-20" dirty="0">
                    <a:latin typeface="Georgia"/>
                    <a:cs typeface="Georgia"/>
                  </a:rPr>
                  <a:t>cell.</a:t>
                </a:r>
                <a:endParaRPr sz="1100">
                  <a:latin typeface="Georgia"/>
                  <a:cs typeface="Georgia"/>
                </a:endParaRPr>
              </a:p>
              <a:p>
                <a:pPr marL="12700">
                  <a:lnSpc>
                    <a:spcPct val="100000"/>
                  </a:lnSpc>
                  <a:spcBef>
                    <a:spcPts val="550"/>
                  </a:spcBef>
                </a:pPr>
                <a:r>
                  <a:rPr sz="1100" dirty="0">
                    <a:latin typeface="Georgia"/>
                    <a:cs typeface="Georgia"/>
                  </a:rPr>
                  <a:t>This</a:t>
                </a:r>
                <a:r>
                  <a:rPr sz="1100" spc="10" dirty="0">
                    <a:latin typeface="Georgia"/>
                    <a:cs typeface="Georgia"/>
                  </a:rPr>
                  <a:t> </a:t>
                </a:r>
                <a:r>
                  <a:rPr sz="1100" spc="-20" dirty="0">
                    <a:latin typeface="Georgia"/>
                    <a:cs typeface="Georgia"/>
                  </a:rPr>
                  <a:t>method</a:t>
                </a:r>
                <a:r>
                  <a:rPr sz="1100" spc="15" dirty="0">
                    <a:latin typeface="Georgia"/>
                    <a:cs typeface="Georgia"/>
                  </a:rPr>
                  <a:t> </a:t>
                </a:r>
                <a:r>
                  <a:rPr sz="1100" dirty="0">
                    <a:latin typeface="Georgia"/>
                    <a:cs typeface="Georgia"/>
                  </a:rPr>
                  <a:t>also</a:t>
                </a:r>
                <a:r>
                  <a:rPr sz="1100" spc="15" dirty="0">
                    <a:latin typeface="Georgia"/>
                    <a:cs typeface="Georgia"/>
                  </a:rPr>
                  <a:t> </a:t>
                </a:r>
                <a:r>
                  <a:rPr sz="1100" spc="-30" dirty="0">
                    <a:latin typeface="Georgia"/>
                    <a:cs typeface="Georgia"/>
                  </a:rPr>
                  <a:t>depends</a:t>
                </a:r>
                <a:r>
                  <a:rPr sz="1100" spc="15" dirty="0">
                    <a:latin typeface="Georgia"/>
                    <a:cs typeface="Georgia"/>
                  </a:rPr>
                  <a:t> </a:t>
                </a:r>
                <a:r>
                  <a:rPr sz="1100" dirty="0">
                    <a:latin typeface="Georgia"/>
                    <a:cs typeface="Georgia"/>
                  </a:rPr>
                  <a:t>on</a:t>
                </a:r>
                <a:r>
                  <a:rPr sz="1100" spc="10" dirty="0">
                    <a:latin typeface="Georgia"/>
                    <a:cs typeface="Georgia"/>
                  </a:rPr>
                  <a:t> </a:t>
                </a:r>
                <a:r>
                  <a:rPr sz="1100" dirty="0">
                    <a:latin typeface="Georgia"/>
                    <a:cs typeface="Georgia"/>
                  </a:rPr>
                  <a:t>the</a:t>
                </a:r>
                <a:r>
                  <a:rPr sz="1100" spc="15" dirty="0">
                    <a:latin typeface="Georgia"/>
                    <a:cs typeface="Georgia"/>
                  </a:rPr>
                  <a:t> </a:t>
                </a:r>
                <a:r>
                  <a:rPr sz="1100" dirty="0">
                    <a:latin typeface="Georgia"/>
                    <a:cs typeface="Georgia"/>
                  </a:rPr>
                  <a:t>way</a:t>
                </a:r>
                <a:r>
                  <a:rPr sz="1100" spc="15" dirty="0">
                    <a:latin typeface="Georgia"/>
                    <a:cs typeface="Georgia"/>
                  </a:rPr>
                  <a:t> </a:t>
                </a:r>
                <a:r>
                  <a:rPr sz="1100" spc="-10" dirty="0">
                    <a:latin typeface="Georgia"/>
                    <a:cs typeface="Georgia"/>
                  </a:rPr>
                  <a:t>we</a:t>
                </a:r>
                <a:r>
                  <a:rPr sz="1100" spc="15" dirty="0">
                    <a:latin typeface="Georgia"/>
                    <a:cs typeface="Georgia"/>
                  </a:rPr>
                  <a:t> </a:t>
                </a:r>
                <a:r>
                  <a:rPr sz="1100" spc="-10" dirty="0">
                    <a:latin typeface="Georgia"/>
                    <a:cs typeface="Georgia"/>
                  </a:rPr>
                  <a:t>divide</a:t>
                </a:r>
                <a:r>
                  <a:rPr sz="1100" spc="10" dirty="0">
                    <a:latin typeface="Georgia"/>
                    <a:cs typeface="Georgia"/>
                  </a:rPr>
                  <a:t> </a:t>
                </a:r>
                <a:r>
                  <a:rPr sz="1100" dirty="0">
                    <a:latin typeface="Georgia"/>
                    <a:cs typeface="Georgia"/>
                  </a:rPr>
                  <a:t>the</a:t>
                </a:r>
                <a:r>
                  <a:rPr sz="1100" spc="15" dirty="0">
                    <a:latin typeface="Georgia"/>
                    <a:cs typeface="Georgia"/>
                  </a:rPr>
                  <a:t> </a:t>
                </a:r>
                <a:r>
                  <a:rPr sz="1100" dirty="0">
                    <a:latin typeface="Georgia"/>
                    <a:cs typeface="Georgia"/>
                  </a:rPr>
                  <a:t>data</a:t>
                </a:r>
                <a:r>
                  <a:rPr sz="1100" spc="15" dirty="0">
                    <a:latin typeface="Georgia"/>
                    <a:cs typeface="Georgia"/>
                  </a:rPr>
                  <a:t> </a:t>
                </a:r>
                <a:r>
                  <a:rPr sz="1100" spc="-10" dirty="0">
                    <a:latin typeface="Georgia"/>
                    <a:cs typeface="Georgia"/>
                  </a:rPr>
                  <a:t>space</a:t>
                </a:r>
                <a:r>
                  <a:rPr sz="1100" spc="15" dirty="0">
                    <a:latin typeface="Georgia"/>
                    <a:cs typeface="Georgia"/>
                  </a:rPr>
                  <a:t> </a:t>
                </a:r>
                <a:r>
                  <a:rPr sz="1100" dirty="0">
                    <a:latin typeface="Georgia"/>
                    <a:cs typeface="Georgia"/>
                  </a:rPr>
                  <a:t>into</a:t>
                </a:r>
                <a:r>
                  <a:rPr sz="1100" spc="15" dirty="0">
                    <a:latin typeface="Georgia"/>
                    <a:cs typeface="Georgia"/>
                  </a:rPr>
                  <a:t> </a:t>
                </a:r>
                <a:r>
                  <a:rPr sz="1100" spc="-10" dirty="0">
                    <a:latin typeface="Georgia"/>
                    <a:cs typeface="Georgia"/>
                  </a:rPr>
                  <a:t>cells,</a:t>
                </a:r>
                <a:r>
                  <a:rPr sz="1100" spc="10" dirty="0">
                    <a:latin typeface="Georgia"/>
                    <a:cs typeface="Georgia"/>
                  </a:rPr>
                  <a:t> </a:t>
                </a:r>
                <a:r>
                  <a:rPr sz="1100" dirty="0">
                    <a:latin typeface="Georgia"/>
                    <a:cs typeface="Georgia"/>
                  </a:rPr>
                  <a:t>i.e,</a:t>
                </a:r>
                <a:r>
                  <a:rPr sz="1100" spc="15" dirty="0">
                    <a:latin typeface="Georgia"/>
                    <a:cs typeface="Georgia"/>
                  </a:rPr>
                  <a:t> </a:t>
                </a:r>
                <a:r>
                  <a:rPr sz="1100" spc="-25" dirty="0">
                    <a:latin typeface="Georgia"/>
                    <a:cs typeface="Georgia"/>
                  </a:rPr>
                  <a:t>the</a:t>
                </a:r>
                <a:endParaRPr sz="1100">
                  <a:latin typeface="Georgia"/>
                  <a:cs typeface="Georgia"/>
                </a:endParaRPr>
              </a:p>
            </p:txBody>
          </p:sp>
        </mc:Choice>
        <mc:Fallback>
          <p:sp>
            <p:nvSpPr>
              <p:cNvPr id="12" name="object 12"/>
              <p:cNvSpPr txBox="1">
                <a:spLocks noRot="1" noChangeAspect="1" noMove="1" noResize="1" noEditPoints="1" noAdjustHandles="1" noChangeArrowheads="1" noChangeShapeType="1" noTextEdit="1"/>
              </p:cNvSpPr>
              <p:nvPr/>
            </p:nvSpPr>
            <p:spPr>
              <a:xfrm>
                <a:off x="454177" y="325568"/>
                <a:ext cx="4920615" cy="2566035"/>
              </a:xfrm>
              <a:prstGeom prst="rect">
                <a:avLst/>
              </a:prstGeom>
              <a:blipFill>
                <a:blip r:embed="rId2"/>
                <a:stretch>
                  <a:fillRect l="-1546" r="-515" b="-2463"/>
                </a:stretch>
              </a:blipFill>
            </p:spPr>
            <p:txBody>
              <a:bodyPr/>
              <a:lstStyle/>
              <a:p>
                <a:r>
                  <a:rPr lang="en-VN">
                    <a:noFill/>
                  </a:rPr>
                  <a:t> </a:t>
                </a:r>
              </a:p>
            </p:txBody>
          </p:sp>
        </mc:Fallback>
      </mc:AlternateContent>
      <p:sp>
        <p:nvSpPr>
          <p:cNvPr id="13" name="object 13"/>
          <p:cNvSpPr/>
          <p:nvPr/>
        </p:nvSpPr>
        <p:spPr>
          <a:xfrm>
            <a:off x="337972" y="240686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4" name="object 14"/>
          <p:cNvSpPr/>
          <p:nvPr/>
        </p:nvSpPr>
        <p:spPr>
          <a:xfrm>
            <a:off x="337972" y="279134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5" name="object 15"/>
          <p:cNvGrpSpPr/>
          <p:nvPr/>
        </p:nvGrpSpPr>
        <p:grpSpPr>
          <a:xfrm>
            <a:off x="0" y="3121545"/>
            <a:ext cx="5760085" cy="118745"/>
            <a:chOff x="0" y="3121545"/>
            <a:chExt cx="5760085" cy="118745"/>
          </a:xfrm>
        </p:grpSpPr>
        <p:sp>
          <p:nvSpPr>
            <p:cNvPr id="16" name="object 1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7" name="object 1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8" name="object 18"/>
          <p:cNvSpPr txBox="1"/>
          <p:nvPr/>
        </p:nvSpPr>
        <p:spPr>
          <a:xfrm>
            <a:off x="454177" y="2854040"/>
            <a:ext cx="2331085" cy="386715"/>
          </a:xfrm>
          <a:prstGeom prst="rect">
            <a:avLst/>
          </a:prstGeom>
        </p:spPr>
        <p:txBody>
          <a:bodyPr vert="horz" wrap="square" lIns="0" tIns="3175" rIns="0" bIns="0" rtlCol="0">
            <a:spAutoFit/>
          </a:bodyPr>
          <a:lstStyle/>
          <a:p>
            <a:pPr marL="12700">
              <a:lnSpc>
                <a:spcPct val="100000"/>
              </a:lnSpc>
              <a:spcBef>
                <a:spcPts val="25"/>
              </a:spcBef>
            </a:pPr>
            <a:r>
              <a:rPr sz="1100" dirty="0">
                <a:latin typeface="Georgia"/>
                <a:cs typeface="Georgia"/>
              </a:rPr>
              <a:t>total</a:t>
            </a:r>
            <a:r>
              <a:rPr sz="1100" spc="40" dirty="0">
                <a:latin typeface="Georgia"/>
                <a:cs typeface="Georgia"/>
              </a:rPr>
              <a:t> </a:t>
            </a:r>
            <a:r>
              <a:rPr sz="1100" spc="-35" dirty="0">
                <a:latin typeface="Georgia"/>
                <a:cs typeface="Georgia"/>
              </a:rPr>
              <a:t>number</a:t>
            </a:r>
            <a:r>
              <a:rPr sz="1100" spc="40" dirty="0">
                <a:latin typeface="Georgia"/>
                <a:cs typeface="Georgia"/>
              </a:rPr>
              <a:t> </a:t>
            </a:r>
            <a:r>
              <a:rPr sz="1100" dirty="0">
                <a:latin typeface="Georgia"/>
                <a:cs typeface="Georgia"/>
              </a:rPr>
              <a:t>of</a:t>
            </a:r>
            <a:r>
              <a:rPr sz="1100" spc="40" dirty="0">
                <a:latin typeface="Georgia"/>
                <a:cs typeface="Georgia"/>
              </a:rPr>
              <a:t> </a:t>
            </a:r>
            <a:r>
              <a:rPr sz="1100" spc="-10" dirty="0">
                <a:latin typeface="Georgia"/>
                <a:cs typeface="Georgia"/>
              </a:rPr>
              <a:t>cells.</a:t>
            </a:r>
            <a:endParaRPr sz="1100">
              <a:latin typeface="Georgia"/>
              <a:cs typeface="Georgia"/>
            </a:endParaRPr>
          </a:p>
          <a:p>
            <a:pPr marL="180975">
              <a:lnSpc>
                <a:spcPct val="100000"/>
              </a:lnSpc>
              <a:spcBef>
                <a:spcPts val="805"/>
              </a:spcBef>
            </a:pPr>
            <a:r>
              <a:rPr sz="600" spc="60" dirty="0">
                <a:solidFill>
                  <a:srgbClr val="CC0000"/>
                </a:solidFill>
                <a:latin typeface="Georgia"/>
                <a:cs typeface="Georgia"/>
              </a:rPr>
              <a:t>data</a:t>
            </a:r>
            <a:r>
              <a:rPr sz="600" spc="160" dirty="0">
                <a:solidFill>
                  <a:srgbClr val="CC0000"/>
                </a:solidFill>
                <a:latin typeface="Georgia"/>
                <a:cs typeface="Georgia"/>
              </a:rPr>
              <a:t> </a:t>
            </a:r>
            <a:r>
              <a:rPr sz="600" spc="45" dirty="0">
                <a:solidFill>
                  <a:srgbClr val="CC0000"/>
                </a:solidFill>
                <a:latin typeface="Georgia"/>
                <a:cs typeface="Georgia"/>
              </a:rPr>
              <a:t>analysis</a:t>
            </a:r>
            <a:r>
              <a:rPr sz="600" spc="165" dirty="0">
                <a:solidFill>
                  <a:srgbClr val="CC0000"/>
                </a:solidFill>
                <a:latin typeface="Georgia"/>
                <a:cs typeface="Georgia"/>
              </a:rPr>
              <a:t> </a:t>
            </a:r>
            <a:r>
              <a:rPr sz="600" spc="50" dirty="0">
                <a:solidFill>
                  <a:srgbClr val="CC0000"/>
                </a:solidFill>
                <a:latin typeface="Georgia"/>
                <a:cs typeface="Georgia"/>
              </a:rPr>
              <a:t>and</a:t>
            </a:r>
            <a:r>
              <a:rPr sz="600" spc="165" dirty="0">
                <a:solidFill>
                  <a:srgbClr val="CC0000"/>
                </a:solidFill>
                <a:latin typeface="Georgia"/>
                <a:cs typeface="Georgia"/>
              </a:rPr>
              <a:t> </a:t>
            </a:r>
            <a:r>
              <a:rPr sz="600" spc="10" dirty="0">
                <a:solidFill>
                  <a:srgbClr val="CC0000"/>
                </a:solidFill>
                <a:latin typeface="Georgia"/>
                <a:cs typeface="Georgia"/>
              </a:rPr>
              <a:t>mining</a:t>
            </a:r>
            <a:r>
              <a:rPr sz="600" spc="165" dirty="0">
                <a:solidFill>
                  <a:srgbClr val="CC0000"/>
                </a:solidFill>
                <a:latin typeface="Georgia"/>
                <a:cs typeface="Georgia"/>
              </a:rPr>
              <a:t> </a:t>
            </a:r>
            <a:r>
              <a:rPr sz="600" spc="10" dirty="0">
                <a:solidFill>
                  <a:srgbClr val="CC0000"/>
                </a:solidFill>
                <a:latin typeface="Georgia"/>
                <a:cs typeface="Georgia"/>
              </a:rPr>
              <a:t>course</a:t>
            </a:r>
            <a:r>
              <a:rPr sz="600" spc="165" dirty="0">
                <a:solidFill>
                  <a:srgbClr val="CC0000"/>
                </a:solidFill>
                <a:latin typeface="Georgia"/>
                <a:cs typeface="Georgia"/>
              </a:rPr>
              <a:t> </a:t>
            </a:r>
            <a:r>
              <a:rPr sz="600" spc="10" dirty="0">
                <a:solidFill>
                  <a:srgbClr val="CC0000"/>
                </a:solidFill>
                <a:latin typeface="Georgia"/>
                <a:cs typeface="Georgia"/>
              </a:rPr>
              <a:t>@</a:t>
            </a:r>
            <a:r>
              <a:rPr sz="600" spc="165" dirty="0">
                <a:solidFill>
                  <a:srgbClr val="CC0000"/>
                </a:solidFill>
                <a:latin typeface="Georgia"/>
                <a:cs typeface="Georgia"/>
              </a:rPr>
              <a:t> </a:t>
            </a:r>
            <a:r>
              <a:rPr sz="600" spc="45" dirty="0">
                <a:solidFill>
                  <a:srgbClr val="CC0000"/>
                </a:solidFill>
                <a:latin typeface="Georgia"/>
                <a:cs typeface="Georgia"/>
              </a:rPr>
              <a:t>Xuan–Hieu</a:t>
            </a:r>
            <a:r>
              <a:rPr sz="600" spc="160" dirty="0">
                <a:solidFill>
                  <a:srgbClr val="CC0000"/>
                </a:solidFill>
                <a:latin typeface="Georgia"/>
                <a:cs typeface="Georgia"/>
              </a:rPr>
              <a:t> </a:t>
            </a:r>
            <a:r>
              <a:rPr sz="600" spc="50" dirty="0">
                <a:solidFill>
                  <a:srgbClr val="CC0000"/>
                </a:solidFill>
                <a:latin typeface="Georgia"/>
                <a:cs typeface="Georgia"/>
              </a:rPr>
              <a:t>Phan</a:t>
            </a:r>
            <a:endParaRPr sz="600">
              <a:latin typeface="Georgia"/>
              <a:cs typeface="Georgia"/>
            </a:endParaRPr>
          </a:p>
        </p:txBody>
      </p:sp>
      <p:sp>
        <p:nvSpPr>
          <p:cNvPr id="19" name="object 1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20" name="object 2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30</a:t>
            </a:fld>
            <a:r>
              <a:rPr dirty="0"/>
              <a:t> </a:t>
            </a:r>
            <a:r>
              <a:rPr spc="75" dirty="0"/>
              <a:t>/</a:t>
            </a:r>
            <a:r>
              <a:rPr spc="5" dirty="0"/>
              <a:t> </a:t>
            </a:r>
            <a:r>
              <a:rPr spc="35" dirty="0"/>
              <a:t>135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300" dirty="0"/>
              <a:t> </a:t>
            </a:r>
            <a:r>
              <a:rPr dirty="0"/>
              <a:t>cluster</a:t>
            </a:r>
            <a:r>
              <a:rPr spc="300" dirty="0"/>
              <a:t> </a:t>
            </a:r>
            <a:r>
              <a:rPr dirty="0"/>
              <a:t>tendency</a:t>
            </a:r>
            <a:r>
              <a:rPr spc="305" dirty="0"/>
              <a:t> </a:t>
            </a:r>
            <a:r>
              <a:rPr dirty="0"/>
              <a:t>with</a:t>
            </a:r>
            <a:r>
              <a:rPr spc="305" dirty="0"/>
              <a:t> </a:t>
            </a:r>
            <a:r>
              <a:rPr dirty="0"/>
              <a:t>distance</a:t>
            </a:r>
            <a:r>
              <a:rPr spc="300" dirty="0"/>
              <a:t> </a:t>
            </a:r>
            <a:r>
              <a:rPr spc="-10" dirty="0"/>
              <a:t>distribution</a:t>
            </a:r>
          </a:p>
        </p:txBody>
      </p:sp>
      <p:sp>
        <p:nvSpPr>
          <p:cNvPr id="3" name="object 3"/>
          <p:cNvSpPr/>
          <p:nvPr/>
        </p:nvSpPr>
        <p:spPr>
          <a:xfrm>
            <a:off x="337972" y="51464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16077" y="423035"/>
            <a:ext cx="5029200" cy="630555"/>
          </a:xfrm>
          <a:prstGeom prst="rect">
            <a:avLst/>
          </a:prstGeom>
        </p:spPr>
        <p:txBody>
          <a:bodyPr vert="horz" wrap="square" lIns="0" tIns="34290" rIns="0" bIns="0" rtlCol="0">
            <a:spAutoFit/>
          </a:bodyPr>
          <a:lstStyle/>
          <a:p>
            <a:pPr marL="50800" marR="17780">
              <a:lnSpc>
                <a:spcPts val="1150"/>
              </a:lnSpc>
              <a:spcBef>
                <a:spcPts val="270"/>
              </a:spcBef>
            </a:pPr>
            <a:r>
              <a:rPr sz="1100" spc="-20" dirty="0">
                <a:latin typeface="Georgia"/>
                <a:cs typeface="Georgia"/>
              </a:rPr>
              <a:t>Instead</a:t>
            </a:r>
            <a:r>
              <a:rPr sz="1100" spc="40" dirty="0">
                <a:latin typeface="Georgia"/>
                <a:cs typeface="Georgia"/>
              </a:rPr>
              <a:t> </a:t>
            </a:r>
            <a:r>
              <a:rPr sz="1100" dirty="0">
                <a:latin typeface="Georgia"/>
                <a:cs typeface="Georgia"/>
              </a:rPr>
              <a:t>of</a:t>
            </a:r>
            <a:r>
              <a:rPr sz="1100" spc="45" dirty="0">
                <a:latin typeface="Georgia"/>
                <a:cs typeface="Georgia"/>
              </a:rPr>
              <a:t> </a:t>
            </a:r>
            <a:r>
              <a:rPr sz="1100" dirty="0">
                <a:latin typeface="Georgia"/>
                <a:cs typeface="Georgia"/>
              </a:rPr>
              <a:t>trying</a:t>
            </a:r>
            <a:r>
              <a:rPr sz="1100" spc="45" dirty="0">
                <a:latin typeface="Georgia"/>
                <a:cs typeface="Georgia"/>
              </a:rPr>
              <a:t> </a:t>
            </a:r>
            <a:r>
              <a:rPr sz="1100" dirty="0">
                <a:latin typeface="Georgia"/>
                <a:cs typeface="Georgia"/>
              </a:rPr>
              <a:t>to</a:t>
            </a:r>
            <a:r>
              <a:rPr sz="1100" spc="45" dirty="0">
                <a:latin typeface="Georgia"/>
                <a:cs typeface="Georgia"/>
              </a:rPr>
              <a:t> </a:t>
            </a:r>
            <a:r>
              <a:rPr sz="1100" spc="-20" dirty="0">
                <a:latin typeface="Georgia"/>
                <a:cs typeface="Georgia"/>
              </a:rPr>
              <a:t>estimate</a:t>
            </a:r>
            <a:r>
              <a:rPr sz="1100" spc="45" dirty="0">
                <a:latin typeface="Georgia"/>
                <a:cs typeface="Georgia"/>
              </a:rPr>
              <a:t> </a:t>
            </a:r>
            <a:r>
              <a:rPr sz="1100" dirty="0">
                <a:latin typeface="Georgia"/>
                <a:cs typeface="Georgia"/>
              </a:rPr>
              <a:t>the</a:t>
            </a:r>
            <a:r>
              <a:rPr sz="1100" spc="45" dirty="0">
                <a:latin typeface="Georgia"/>
                <a:cs typeface="Georgia"/>
              </a:rPr>
              <a:t> </a:t>
            </a:r>
            <a:r>
              <a:rPr sz="1100" spc="-25" dirty="0">
                <a:latin typeface="Georgia"/>
                <a:cs typeface="Georgia"/>
              </a:rPr>
              <a:t>density,</a:t>
            </a:r>
            <a:r>
              <a:rPr sz="1100" spc="45" dirty="0">
                <a:latin typeface="Georgia"/>
                <a:cs typeface="Georgia"/>
              </a:rPr>
              <a:t> </a:t>
            </a:r>
            <a:r>
              <a:rPr sz="1100" spc="-20" dirty="0">
                <a:latin typeface="Georgia"/>
                <a:cs typeface="Georgia"/>
              </a:rPr>
              <a:t>another</a:t>
            </a:r>
            <a:r>
              <a:rPr sz="1100" spc="45" dirty="0">
                <a:latin typeface="Georgia"/>
                <a:cs typeface="Georgia"/>
              </a:rPr>
              <a:t> </a:t>
            </a:r>
            <a:r>
              <a:rPr sz="1100" spc="-25" dirty="0">
                <a:latin typeface="Georgia"/>
                <a:cs typeface="Georgia"/>
              </a:rPr>
              <a:t>approach</a:t>
            </a:r>
            <a:r>
              <a:rPr sz="1100" spc="45" dirty="0">
                <a:latin typeface="Georgia"/>
                <a:cs typeface="Georgia"/>
              </a:rPr>
              <a:t> </a:t>
            </a:r>
            <a:r>
              <a:rPr sz="1100" dirty="0">
                <a:latin typeface="Georgia"/>
                <a:cs typeface="Georgia"/>
              </a:rPr>
              <a:t>to</a:t>
            </a:r>
            <a:r>
              <a:rPr sz="1100" spc="40" dirty="0">
                <a:latin typeface="Georgia"/>
                <a:cs typeface="Georgia"/>
              </a:rPr>
              <a:t> </a:t>
            </a:r>
            <a:r>
              <a:rPr sz="1100" spc="-10" dirty="0">
                <a:latin typeface="Georgia"/>
                <a:cs typeface="Georgia"/>
              </a:rPr>
              <a:t>determine clusterability</a:t>
            </a:r>
            <a:r>
              <a:rPr sz="1100" spc="30" dirty="0">
                <a:latin typeface="Georgia"/>
                <a:cs typeface="Georgia"/>
              </a:rPr>
              <a:t> </a:t>
            </a:r>
            <a:r>
              <a:rPr sz="1100" dirty="0">
                <a:latin typeface="Georgia"/>
                <a:cs typeface="Georgia"/>
              </a:rPr>
              <a:t>is</a:t>
            </a:r>
            <a:r>
              <a:rPr sz="1100" spc="30" dirty="0">
                <a:latin typeface="Georgia"/>
                <a:cs typeface="Georgia"/>
              </a:rPr>
              <a:t> </a:t>
            </a:r>
            <a:r>
              <a:rPr sz="1100" dirty="0">
                <a:latin typeface="Georgia"/>
                <a:cs typeface="Georgia"/>
              </a:rPr>
              <a:t>to</a:t>
            </a:r>
            <a:r>
              <a:rPr sz="1100" spc="35" dirty="0">
                <a:latin typeface="Georgia"/>
                <a:cs typeface="Georgia"/>
              </a:rPr>
              <a:t> </a:t>
            </a:r>
            <a:r>
              <a:rPr sz="1100" spc="-30" dirty="0">
                <a:latin typeface="Georgia"/>
                <a:cs typeface="Georgia"/>
              </a:rPr>
              <a:t>compare</a:t>
            </a:r>
            <a:r>
              <a:rPr sz="1100" spc="30" dirty="0">
                <a:latin typeface="Georgia"/>
                <a:cs typeface="Georgia"/>
              </a:rPr>
              <a:t> </a:t>
            </a:r>
            <a:r>
              <a:rPr sz="1100" dirty="0">
                <a:latin typeface="Georgia"/>
                <a:cs typeface="Georgia"/>
              </a:rPr>
              <a:t>the</a:t>
            </a:r>
            <a:r>
              <a:rPr sz="1100" spc="30" dirty="0">
                <a:latin typeface="Georgia"/>
                <a:cs typeface="Georgia"/>
              </a:rPr>
              <a:t> </a:t>
            </a:r>
            <a:r>
              <a:rPr sz="1100" spc="-40" dirty="0">
                <a:latin typeface="Georgia"/>
                <a:cs typeface="Georgia"/>
              </a:rPr>
              <a:t>pair–wise</a:t>
            </a:r>
            <a:r>
              <a:rPr sz="1100" spc="35" dirty="0">
                <a:latin typeface="Georgia"/>
                <a:cs typeface="Georgia"/>
              </a:rPr>
              <a:t> </a:t>
            </a:r>
            <a:r>
              <a:rPr sz="1100" dirty="0">
                <a:latin typeface="Georgia"/>
                <a:cs typeface="Georgia"/>
              </a:rPr>
              <a:t>point</a:t>
            </a:r>
            <a:r>
              <a:rPr sz="1100" spc="30" dirty="0">
                <a:latin typeface="Georgia"/>
                <a:cs typeface="Georgia"/>
              </a:rPr>
              <a:t> </a:t>
            </a:r>
            <a:r>
              <a:rPr sz="1100" spc="-25" dirty="0">
                <a:latin typeface="Georgia"/>
                <a:cs typeface="Georgia"/>
              </a:rPr>
              <a:t>distances</a:t>
            </a:r>
            <a:r>
              <a:rPr sz="1100" spc="30" dirty="0">
                <a:latin typeface="Georgia"/>
                <a:cs typeface="Georgia"/>
              </a:rPr>
              <a:t> </a:t>
            </a:r>
            <a:r>
              <a:rPr sz="1100" spc="-25" dirty="0">
                <a:latin typeface="Georgia"/>
                <a:cs typeface="Georgia"/>
              </a:rPr>
              <a:t>from</a:t>
            </a:r>
            <a:r>
              <a:rPr sz="1100" spc="35" dirty="0">
                <a:latin typeface="Georgia"/>
                <a:cs typeface="Georgia"/>
              </a:rPr>
              <a:t> </a:t>
            </a:r>
            <a:r>
              <a:rPr sz="1100" spc="70" dirty="0">
                <a:latin typeface="Cambria"/>
                <a:cs typeface="Cambria"/>
              </a:rPr>
              <a:t>D</a:t>
            </a:r>
            <a:r>
              <a:rPr sz="1100" spc="70" dirty="0">
                <a:latin typeface="Georgia"/>
                <a:cs typeface="Georgia"/>
              </a:rPr>
              <a:t>,</a:t>
            </a:r>
            <a:r>
              <a:rPr sz="1100" spc="30" dirty="0">
                <a:latin typeface="Georgia"/>
                <a:cs typeface="Georgia"/>
              </a:rPr>
              <a:t> </a:t>
            </a:r>
            <a:r>
              <a:rPr sz="1100" dirty="0">
                <a:latin typeface="Georgia"/>
                <a:cs typeface="Georgia"/>
              </a:rPr>
              <a:t>with</a:t>
            </a:r>
            <a:r>
              <a:rPr sz="1100" spc="30" dirty="0">
                <a:latin typeface="Georgia"/>
                <a:cs typeface="Georgia"/>
              </a:rPr>
              <a:t> </a:t>
            </a:r>
            <a:r>
              <a:rPr sz="1100" spc="-10" dirty="0">
                <a:latin typeface="Georgia"/>
                <a:cs typeface="Georgia"/>
              </a:rPr>
              <a:t>those</a:t>
            </a:r>
            <a:r>
              <a:rPr sz="1100" spc="35" dirty="0">
                <a:latin typeface="Georgia"/>
                <a:cs typeface="Georgia"/>
              </a:rPr>
              <a:t> </a:t>
            </a:r>
            <a:r>
              <a:rPr sz="1100" spc="-20" dirty="0">
                <a:latin typeface="Georgia"/>
                <a:cs typeface="Georgia"/>
              </a:rPr>
              <a:t>from </a:t>
            </a:r>
            <a:r>
              <a:rPr sz="1100" dirty="0">
                <a:latin typeface="Georgia"/>
                <a:cs typeface="Georgia"/>
              </a:rPr>
              <a:t>the</a:t>
            </a:r>
            <a:r>
              <a:rPr sz="1100" spc="30" dirty="0">
                <a:latin typeface="Georgia"/>
                <a:cs typeface="Georgia"/>
              </a:rPr>
              <a:t> </a:t>
            </a:r>
            <a:r>
              <a:rPr sz="1100" spc="-20" dirty="0">
                <a:latin typeface="Georgia"/>
                <a:cs typeface="Georgia"/>
              </a:rPr>
              <a:t>randomly</a:t>
            </a:r>
            <a:r>
              <a:rPr sz="1100" spc="30" dirty="0">
                <a:latin typeface="Georgia"/>
                <a:cs typeface="Georgia"/>
              </a:rPr>
              <a:t> </a:t>
            </a:r>
            <a:r>
              <a:rPr sz="1100" spc="-25" dirty="0">
                <a:latin typeface="Georgia"/>
                <a:cs typeface="Georgia"/>
              </a:rPr>
              <a:t>generated</a:t>
            </a:r>
            <a:r>
              <a:rPr sz="1100" spc="30" dirty="0">
                <a:latin typeface="Georgia"/>
                <a:cs typeface="Georgia"/>
              </a:rPr>
              <a:t> </a:t>
            </a:r>
            <a:r>
              <a:rPr sz="1100" spc="-30" dirty="0">
                <a:latin typeface="Georgia"/>
                <a:cs typeface="Georgia"/>
              </a:rPr>
              <a:t>samples</a:t>
            </a:r>
            <a:r>
              <a:rPr sz="1100" spc="30" dirty="0">
                <a:latin typeface="Georgia"/>
                <a:cs typeface="Georgia"/>
              </a:rPr>
              <a:t> </a:t>
            </a:r>
            <a:r>
              <a:rPr sz="1100" spc="170" dirty="0">
                <a:latin typeface="Cambria"/>
                <a:cs typeface="Cambria"/>
              </a:rPr>
              <a:t>R</a:t>
            </a:r>
            <a:r>
              <a:rPr sz="1200" i="1" spc="254" baseline="-10416" dirty="0">
                <a:latin typeface="Calibri"/>
                <a:cs typeface="Calibri"/>
              </a:rPr>
              <a:t>i</a:t>
            </a:r>
            <a:r>
              <a:rPr sz="1200" i="1" spc="232" baseline="-10416" dirty="0">
                <a:latin typeface="Calibri"/>
                <a:cs typeface="Calibri"/>
              </a:rPr>
              <a:t> </a:t>
            </a:r>
            <a:r>
              <a:rPr sz="1100" spc="-25" dirty="0">
                <a:latin typeface="Georgia"/>
                <a:cs typeface="Georgia"/>
              </a:rPr>
              <a:t>from</a:t>
            </a:r>
            <a:r>
              <a:rPr sz="1100" spc="30"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null</a:t>
            </a:r>
            <a:r>
              <a:rPr sz="1100" spc="30" dirty="0">
                <a:latin typeface="Georgia"/>
                <a:cs typeface="Georgia"/>
              </a:rPr>
              <a:t> </a:t>
            </a:r>
            <a:r>
              <a:rPr sz="1100" spc="-20" dirty="0">
                <a:latin typeface="Georgia"/>
                <a:cs typeface="Georgia"/>
              </a:rPr>
              <a:t>distribution</a:t>
            </a:r>
            <a:r>
              <a:rPr sz="1100" spc="30" dirty="0">
                <a:latin typeface="Georgia"/>
                <a:cs typeface="Georgia"/>
              </a:rPr>
              <a:t> </a:t>
            </a:r>
            <a:r>
              <a:rPr sz="1100" dirty="0">
                <a:latin typeface="Georgia"/>
                <a:cs typeface="Georgia"/>
              </a:rPr>
              <a:t>(i.e.,</a:t>
            </a:r>
            <a:r>
              <a:rPr sz="1100" spc="30" dirty="0">
                <a:latin typeface="Georgia"/>
                <a:cs typeface="Georgia"/>
              </a:rPr>
              <a:t> </a:t>
            </a:r>
            <a:r>
              <a:rPr sz="1100" spc="-10" dirty="0">
                <a:latin typeface="Georgia"/>
                <a:cs typeface="Georgia"/>
              </a:rPr>
              <a:t>uniformly </a:t>
            </a:r>
            <a:r>
              <a:rPr sz="1100" spc="-20" dirty="0">
                <a:latin typeface="Georgia"/>
                <a:cs typeface="Georgia"/>
              </a:rPr>
              <a:t>distributed</a:t>
            </a:r>
            <a:r>
              <a:rPr sz="1100" spc="75" dirty="0">
                <a:latin typeface="Georgia"/>
                <a:cs typeface="Georgia"/>
              </a:rPr>
              <a:t> </a:t>
            </a:r>
            <a:r>
              <a:rPr sz="1100" spc="-10" dirty="0">
                <a:latin typeface="Georgia"/>
                <a:cs typeface="Georgia"/>
              </a:rPr>
              <a:t>data).</a:t>
            </a:r>
            <a:endParaRPr sz="1100">
              <a:latin typeface="Georgia"/>
              <a:cs typeface="Georgia"/>
            </a:endParaRPr>
          </a:p>
        </p:txBody>
      </p:sp>
      <p:sp>
        <p:nvSpPr>
          <p:cNvPr id="5" name="object 5"/>
          <p:cNvSpPr/>
          <p:nvPr/>
        </p:nvSpPr>
        <p:spPr>
          <a:xfrm>
            <a:off x="337972" y="1191653"/>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txBox="1"/>
          <p:nvPr/>
        </p:nvSpPr>
        <p:spPr>
          <a:xfrm>
            <a:off x="454177" y="1100047"/>
            <a:ext cx="5055870" cy="191770"/>
          </a:xfrm>
          <a:prstGeom prst="rect">
            <a:avLst/>
          </a:prstGeom>
        </p:spPr>
        <p:txBody>
          <a:bodyPr vert="horz" wrap="square" lIns="0" tIns="11430" rIns="0" bIns="0" rtlCol="0">
            <a:spAutoFit/>
          </a:bodyPr>
          <a:lstStyle/>
          <a:p>
            <a:pPr marL="12700">
              <a:lnSpc>
                <a:spcPct val="100000"/>
              </a:lnSpc>
              <a:spcBef>
                <a:spcPts val="90"/>
              </a:spcBef>
            </a:pPr>
            <a:r>
              <a:rPr sz="1100" dirty="0">
                <a:latin typeface="Georgia"/>
                <a:cs typeface="Georgia"/>
              </a:rPr>
              <a:t>First,</a:t>
            </a:r>
            <a:r>
              <a:rPr sz="1100" spc="20" dirty="0">
                <a:latin typeface="Georgia"/>
                <a:cs typeface="Georgia"/>
              </a:rPr>
              <a:t> </a:t>
            </a:r>
            <a:r>
              <a:rPr sz="1100" spc="-20" dirty="0">
                <a:latin typeface="Georgia"/>
                <a:cs typeface="Georgia"/>
              </a:rPr>
              <a:t>compute</a:t>
            </a:r>
            <a:r>
              <a:rPr sz="1100" spc="25" dirty="0">
                <a:latin typeface="Georgia"/>
                <a:cs typeface="Georgia"/>
              </a:rPr>
              <a:t> </a:t>
            </a:r>
            <a:r>
              <a:rPr sz="1100" dirty="0">
                <a:latin typeface="Georgia"/>
                <a:cs typeface="Georgia"/>
              </a:rPr>
              <a:t>the</a:t>
            </a:r>
            <a:r>
              <a:rPr sz="1100" spc="25" dirty="0">
                <a:latin typeface="Georgia"/>
                <a:cs typeface="Georgia"/>
              </a:rPr>
              <a:t> </a:t>
            </a:r>
            <a:r>
              <a:rPr sz="1100" spc="-40" dirty="0">
                <a:latin typeface="Georgia"/>
                <a:cs typeface="Georgia"/>
              </a:rPr>
              <a:t>pair–wise</a:t>
            </a:r>
            <a:r>
              <a:rPr sz="1100" spc="20" dirty="0">
                <a:latin typeface="Georgia"/>
                <a:cs typeface="Georgia"/>
              </a:rPr>
              <a:t> </a:t>
            </a:r>
            <a:r>
              <a:rPr sz="1100" spc="-20" dirty="0">
                <a:latin typeface="Georgia"/>
                <a:cs typeface="Georgia"/>
              </a:rPr>
              <a:t>distance</a:t>
            </a:r>
            <a:r>
              <a:rPr sz="1100" spc="25" dirty="0">
                <a:latin typeface="Georgia"/>
                <a:cs typeface="Georgia"/>
              </a:rPr>
              <a:t> </a:t>
            </a:r>
            <a:r>
              <a:rPr sz="1100" spc="-25" dirty="0">
                <a:latin typeface="Georgia"/>
                <a:cs typeface="Georgia"/>
              </a:rPr>
              <a:t>values</a:t>
            </a:r>
            <a:r>
              <a:rPr sz="1100" spc="25" dirty="0">
                <a:latin typeface="Georgia"/>
                <a:cs typeface="Georgia"/>
              </a:rPr>
              <a:t> </a:t>
            </a:r>
            <a:r>
              <a:rPr sz="1100" dirty="0">
                <a:latin typeface="Georgia"/>
                <a:cs typeface="Georgia"/>
              </a:rPr>
              <a:t>for</a:t>
            </a:r>
            <a:r>
              <a:rPr sz="1100" spc="20" dirty="0">
                <a:latin typeface="Georgia"/>
                <a:cs typeface="Georgia"/>
              </a:rPr>
              <a:t> </a:t>
            </a:r>
            <a:r>
              <a:rPr sz="1100" dirty="0">
                <a:latin typeface="Georgia"/>
                <a:cs typeface="Georgia"/>
              </a:rPr>
              <a:t>every</a:t>
            </a:r>
            <a:r>
              <a:rPr sz="1100" spc="25" dirty="0">
                <a:latin typeface="Georgia"/>
                <a:cs typeface="Georgia"/>
              </a:rPr>
              <a:t> </a:t>
            </a:r>
            <a:r>
              <a:rPr sz="1100" dirty="0">
                <a:latin typeface="Georgia"/>
                <a:cs typeface="Georgia"/>
              </a:rPr>
              <a:t>pair</a:t>
            </a:r>
            <a:r>
              <a:rPr sz="1100" spc="25" dirty="0">
                <a:latin typeface="Georgia"/>
                <a:cs typeface="Georgia"/>
              </a:rPr>
              <a:t> </a:t>
            </a:r>
            <a:r>
              <a:rPr sz="1100" dirty="0">
                <a:latin typeface="Georgia"/>
                <a:cs typeface="Georgia"/>
              </a:rPr>
              <a:t>of</a:t>
            </a:r>
            <a:r>
              <a:rPr sz="1100" spc="25" dirty="0">
                <a:latin typeface="Georgia"/>
                <a:cs typeface="Georgia"/>
              </a:rPr>
              <a:t> </a:t>
            </a:r>
            <a:r>
              <a:rPr sz="1100" spc="-10" dirty="0">
                <a:latin typeface="Georgia"/>
                <a:cs typeface="Georgia"/>
              </a:rPr>
              <a:t>points</a:t>
            </a:r>
            <a:r>
              <a:rPr sz="1100" spc="20" dirty="0">
                <a:latin typeface="Georgia"/>
                <a:cs typeface="Georgia"/>
              </a:rPr>
              <a:t> </a:t>
            </a:r>
            <a:r>
              <a:rPr sz="1100" dirty="0">
                <a:latin typeface="Georgia"/>
                <a:cs typeface="Georgia"/>
              </a:rPr>
              <a:t>in</a:t>
            </a:r>
            <a:r>
              <a:rPr sz="1100" spc="25" dirty="0">
                <a:latin typeface="Georgia"/>
                <a:cs typeface="Georgia"/>
              </a:rPr>
              <a:t> </a:t>
            </a:r>
            <a:r>
              <a:rPr sz="1100" spc="114" dirty="0">
                <a:latin typeface="Cambria"/>
                <a:cs typeface="Cambria"/>
              </a:rPr>
              <a:t>D</a:t>
            </a:r>
            <a:r>
              <a:rPr sz="1100" spc="65" dirty="0">
                <a:latin typeface="Cambria"/>
                <a:cs typeface="Cambria"/>
              </a:rPr>
              <a:t> </a:t>
            </a:r>
            <a:r>
              <a:rPr sz="1100" dirty="0">
                <a:latin typeface="Georgia"/>
                <a:cs typeface="Georgia"/>
              </a:rPr>
              <a:t>to</a:t>
            </a:r>
            <a:r>
              <a:rPr sz="1100" spc="25" dirty="0">
                <a:latin typeface="Georgia"/>
                <a:cs typeface="Georgia"/>
              </a:rPr>
              <a:t> </a:t>
            </a:r>
            <a:r>
              <a:rPr sz="1100" spc="-25" dirty="0">
                <a:latin typeface="Georgia"/>
                <a:cs typeface="Georgia"/>
              </a:rPr>
              <a:t>form</a:t>
            </a:r>
            <a:r>
              <a:rPr sz="1100" spc="20" dirty="0">
                <a:latin typeface="Georgia"/>
                <a:cs typeface="Georgia"/>
              </a:rPr>
              <a:t> </a:t>
            </a:r>
            <a:r>
              <a:rPr sz="1100" spc="-50" dirty="0">
                <a:latin typeface="Georgia"/>
                <a:cs typeface="Georgia"/>
              </a:rPr>
              <a:t>a</a:t>
            </a:r>
            <a:endParaRPr sz="1100">
              <a:latin typeface="Georgia"/>
              <a:cs typeface="Georgia"/>
            </a:endParaRPr>
          </a:p>
        </p:txBody>
      </p:sp>
      <p:sp>
        <p:nvSpPr>
          <p:cNvPr id="7" name="object 7"/>
          <p:cNvSpPr txBox="1"/>
          <p:nvPr/>
        </p:nvSpPr>
        <p:spPr>
          <a:xfrm>
            <a:off x="428777" y="1174341"/>
            <a:ext cx="5129530" cy="648335"/>
          </a:xfrm>
          <a:prstGeom prst="rect">
            <a:avLst/>
          </a:prstGeom>
        </p:spPr>
        <p:txBody>
          <a:bodyPr vert="horz" wrap="square" lIns="0" tIns="83185" rIns="0" bIns="0" rtlCol="0">
            <a:spAutoFit/>
          </a:bodyPr>
          <a:lstStyle/>
          <a:p>
            <a:pPr marL="38100">
              <a:lnSpc>
                <a:spcPct val="100000"/>
              </a:lnSpc>
              <a:spcBef>
                <a:spcPts val="655"/>
              </a:spcBef>
            </a:pPr>
            <a:r>
              <a:rPr sz="1100" spc="-10" dirty="0">
                <a:latin typeface="Georgia"/>
                <a:cs typeface="Georgia"/>
              </a:rPr>
              <a:t>proximity</a:t>
            </a:r>
            <a:r>
              <a:rPr sz="1100" spc="40" dirty="0">
                <a:latin typeface="Georgia"/>
                <a:cs typeface="Georgia"/>
              </a:rPr>
              <a:t> </a:t>
            </a:r>
            <a:r>
              <a:rPr sz="1100" dirty="0">
                <a:latin typeface="Georgia"/>
                <a:cs typeface="Georgia"/>
              </a:rPr>
              <a:t>matrix</a:t>
            </a:r>
            <a:r>
              <a:rPr sz="1100" spc="55" dirty="0">
                <a:latin typeface="Georgia"/>
                <a:cs typeface="Georgia"/>
              </a:rPr>
              <a:t> </a:t>
            </a:r>
            <a:r>
              <a:rPr sz="1100" spc="280" dirty="0">
                <a:latin typeface="Cambria"/>
                <a:cs typeface="Cambria"/>
              </a:rPr>
              <a:t>W</a:t>
            </a:r>
            <a:r>
              <a:rPr sz="1100" spc="40" dirty="0">
                <a:latin typeface="Cambria"/>
                <a:cs typeface="Cambria"/>
              </a:rPr>
              <a:t> </a:t>
            </a:r>
            <a:r>
              <a:rPr sz="1100" spc="295" dirty="0">
                <a:latin typeface="Calibri"/>
                <a:cs typeface="Calibri"/>
              </a:rPr>
              <a:t>=</a:t>
            </a:r>
            <a:r>
              <a:rPr sz="1100" spc="20" dirty="0">
                <a:latin typeface="Calibri"/>
                <a:cs typeface="Calibri"/>
              </a:rPr>
              <a:t> </a:t>
            </a:r>
            <a:r>
              <a:rPr sz="1100" dirty="0">
                <a:latin typeface="Cambria"/>
                <a:cs typeface="Cambria"/>
              </a:rPr>
              <a:t>{</a:t>
            </a:r>
            <a:r>
              <a:rPr sz="1100" i="1" dirty="0">
                <a:latin typeface="Calibri"/>
                <a:cs typeface="Calibri"/>
              </a:rPr>
              <a:t>w</a:t>
            </a:r>
            <a:r>
              <a:rPr sz="1200" i="1" baseline="-10416" dirty="0">
                <a:latin typeface="Calibri"/>
                <a:cs typeface="Calibri"/>
              </a:rPr>
              <a:t>pq</a:t>
            </a:r>
            <a:r>
              <a:rPr sz="1200" i="1" spc="-157" baseline="-10416" dirty="0">
                <a:latin typeface="Calibri"/>
                <a:cs typeface="Calibri"/>
              </a:rPr>
              <a:t> </a:t>
            </a:r>
            <a:r>
              <a:rPr sz="1100" spc="65" dirty="0">
                <a:latin typeface="Cambria"/>
                <a:cs typeface="Cambria"/>
              </a:rPr>
              <a:t>}</a:t>
            </a:r>
            <a:r>
              <a:rPr sz="1200" i="1" spc="97" baseline="-10416" dirty="0">
                <a:latin typeface="Calibri"/>
                <a:cs typeface="Calibri"/>
              </a:rPr>
              <a:t>p,q</a:t>
            </a:r>
            <a:r>
              <a:rPr sz="1200" spc="97" baseline="-10416" dirty="0">
                <a:latin typeface="Calibri"/>
                <a:cs typeface="Calibri"/>
              </a:rPr>
              <a:t>=1</a:t>
            </a:r>
            <a:r>
              <a:rPr sz="1200" i="1" spc="97" baseline="-10416" dirty="0">
                <a:latin typeface="Calibri"/>
                <a:cs typeface="Calibri"/>
              </a:rPr>
              <a:t>..n</a:t>
            </a:r>
            <a:r>
              <a:rPr sz="1200" i="1" spc="262" baseline="-10416" dirty="0">
                <a:latin typeface="Calibri"/>
                <a:cs typeface="Calibri"/>
              </a:rPr>
              <a:t> </a:t>
            </a:r>
            <a:r>
              <a:rPr sz="1100" spc="-20" dirty="0">
                <a:latin typeface="Georgia"/>
                <a:cs typeface="Georgia"/>
              </a:rPr>
              <a:t>using</a:t>
            </a:r>
            <a:r>
              <a:rPr sz="1100" spc="55" dirty="0">
                <a:latin typeface="Georgia"/>
                <a:cs typeface="Georgia"/>
              </a:rPr>
              <a:t> </a:t>
            </a:r>
            <a:r>
              <a:rPr sz="1100" spc="-35" dirty="0">
                <a:latin typeface="Georgia"/>
                <a:cs typeface="Georgia"/>
              </a:rPr>
              <a:t>some</a:t>
            </a:r>
            <a:r>
              <a:rPr sz="1100" spc="50" dirty="0">
                <a:latin typeface="Georgia"/>
                <a:cs typeface="Georgia"/>
              </a:rPr>
              <a:t> </a:t>
            </a:r>
            <a:r>
              <a:rPr sz="1100" spc="-20" dirty="0">
                <a:latin typeface="Georgia"/>
                <a:cs typeface="Georgia"/>
              </a:rPr>
              <a:t>distance</a:t>
            </a:r>
            <a:r>
              <a:rPr sz="1100" spc="55" dirty="0">
                <a:latin typeface="Georgia"/>
                <a:cs typeface="Georgia"/>
              </a:rPr>
              <a:t> </a:t>
            </a:r>
            <a:r>
              <a:rPr sz="1100" spc="-10" dirty="0">
                <a:latin typeface="Georgia"/>
                <a:cs typeface="Georgia"/>
              </a:rPr>
              <a:t>measure.</a:t>
            </a:r>
            <a:endParaRPr sz="1100">
              <a:latin typeface="Georgia"/>
              <a:cs typeface="Georgia"/>
            </a:endParaRPr>
          </a:p>
          <a:p>
            <a:pPr marL="38100">
              <a:lnSpc>
                <a:spcPts val="1235"/>
              </a:lnSpc>
              <a:spcBef>
                <a:spcPts val="555"/>
              </a:spcBef>
            </a:pPr>
            <a:r>
              <a:rPr sz="1100" dirty="0">
                <a:latin typeface="Georgia"/>
                <a:cs typeface="Georgia"/>
              </a:rPr>
              <a:t>Then</a:t>
            </a:r>
            <a:r>
              <a:rPr sz="1100" spc="45" dirty="0">
                <a:latin typeface="Georgia"/>
                <a:cs typeface="Georgia"/>
              </a:rPr>
              <a:t> </a:t>
            </a:r>
            <a:r>
              <a:rPr sz="1100" spc="-10" dirty="0">
                <a:latin typeface="Georgia"/>
                <a:cs typeface="Georgia"/>
              </a:rPr>
              <a:t>create</a:t>
            </a:r>
            <a:r>
              <a:rPr sz="1100" spc="45" dirty="0">
                <a:latin typeface="Georgia"/>
                <a:cs typeface="Georgia"/>
              </a:rPr>
              <a:t> </a:t>
            </a:r>
            <a:r>
              <a:rPr sz="1100" dirty="0">
                <a:latin typeface="Georgia"/>
                <a:cs typeface="Georgia"/>
              </a:rPr>
              <a:t>the</a:t>
            </a:r>
            <a:r>
              <a:rPr sz="1100" spc="45" dirty="0">
                <a:latin typeface="Georgia"/>
                <a:cs typeface="Georgia"/>
              </a:rPr>
              <a:t> </a:t>
            </a:r>
            <a:r>
              <a:rPr sz="1100" dirty="0">
                <a:latin typeface="Georgia"/>
                <a:cs typeface="Georgia"/>
              </a:rPr>
              <a:t>EPMF</a:t>
            </a:r>
            <a:r>
              <a:rPr sz="1100" spc="45" dirty="0">
                <a:latin typeface="Georgia"/>
                <a:cs typeface="Georgia"/>
              </a:rPr>
              <a:t> </a:t>
            </a:r>
            <a:r>
              <a:rPr sz="1100" spc="-25" dirty="0">
                <a:latin typeface="Georgia"/>
                <a:cs typeface="Georgia"/>
              </a:rPr>
              <a:t>from</a:t>
            </a:r>
            <a:r>
              <a:rPr sz="1100" spc="50" dirty="0">
                <a:latin typeface="Georgia"/>
                <a:cs typeface="Georgia"/>
              </a:rPr>
              <a:t> </a:t>
            </a:r>
            <a:r>
              <a:rPr sz="1100" dirty="0">
                <a:latin typeface="Georgia"/>
                <a:cs typeface="Georgia"/>
              </a:rPr>
              <a:t>the</a:t>
            </a:r>
            <a:r>
              <a:rPr sz="1100" spc="45" dirty="0">
                <a:latin typeface="Georgia"/>
                <a:cs typeface="Georgia"/>
              </a:rPr>
              <a:t> </a:t>
            </a:r>
            <a:r>
              <a:rPr sz="1100" spc="-10" dirty="0">
                <a:latin typeface="Georgia"/>
                <a:cs typeface="Georgia"/>
              </a:rPr>
              <a:t>proximity</a:t>
            </a:r>
            <a:r>
              <a:rPr sz="1100" spc="45" dirty="0">
                <a:latin typeface="Georgia"/>
                <a:cs typeface="Georgia"/>
              </a:rPr>
              <a:t> </a:t>
            </a:r>
            <a:r>
              <a:rPr sz="1100" dirty="0">
                <a:latin typeface="Georgia"/>
                <a:cs typeface="Georgia"/>
              </a:rPr>
              <a:t>matrix</a:t>
            </a:r>
            <a:r>
              <a:rPr sz="1100" spc="45" dirty="0">
                <a:latin typeface="Georgia"/>
                <a:cs typeface="Georgia"/>
              </a:rPr>
              <a:t> </a:t>
            </a:r>
            <a:r>
              <a:rPr sz="1100" spc="280" dirty="0">
                <a:latin typeface="Cambria"/>
                <a:cs typeface="Cambria"/>
              </a:rPr>
              <a:t>W</a:t>
            </a:r>
            <a:r>
              <a:rPr sz="1100" spc="80" dirty="0">
                <a:latin typeface="Cambria"/>
                <a:cs typeface="Cambria"/>
              </a:rPr>
              <a:t> </a:t>
            </a:r>
            <a:r>
              <a:rPr sz="1100" dirty="0">
                <a:latin typeface="Georgia"/>
                <a:cs typeface="Georgia"/>
              </a:rPr>
              <a:t>by</a:t>
            </a:r>
            <a:r>
              <a:rPr sz="1100" spc="45" dirty="0">
                <a:latin typeface="Georgia"/>
                <a:cs typeface="Georgia"/>
              </a:rPr>
              <a:t> </a:t>
            </a:r>
            <a:r>
              <a:rPr sz="1100" spc="-25" dirty="0">
                <a:latin typeface="Georgia"/>
                <a:cs typeface="Georgia"/>
              </a:rPr>
              <a:t>binning</a:t>
            </a:r>
            <a:r>
              <a:rPr sz="1100" spc="45" dirty="0">
                <a:latin typeface="Georgia"/>
                <a:cs typeface="Georgia"/>
              </a:rPr>
              <a:t> </a:t>
            </a:r>
            <a:r>
              <a:rPr sz="1100" dirty="0">
                <a:latin typeface="Georgia"/>
                <a:cs typeface="Georgia"/>
              </a:rPr>
              <a:t>the</a:t>
            </a:r>
            <a:r>
              <a:rPr sz="1100" spc="50" dirty="0">
                <a:latin typeface="Georgia"/>
                <a:cs typeface="Georgia"/>
              </a:rPr>
              <a:t> </a:t>
            </a:r>
            <a:r>
              <a:rPr sz="1100" spc="-25" dirty="0">
                <a:latin typeface="Georgia"/>
                <a:cs typeface="Georgia"/>
              </a:rPr>
              <a:t>distances</a:t>
            </a:r>
            <a:r>
              <a:rPr sz="1100" spc="45" dirty="0">
                <a:latin typeface="Georgia"/>
                <a:cs typeface="Georgia"/>
              </a:rPr>
              <a:t> </a:t>
            </a:r>
            <a:r>
              <a:rPr sz="1100" spc="-20" dirty="0">
                <a:latin typeface="Georgia"/>
                <a:cs typeface="Georgia"/>
              </a:rPr>
              <a:t>into</a:t>
            </a:r>
            <a:endParaRPr sz="1100">
              <a:latin typeface="Georgia"/>
              <a:cs typeface="Georgia"/>
            </a:endParaRPr>
          </a:p>
          <a:p>
            <a:pPr marL="38100">
              <a:lnSpc>
                <a:spcPts val="1235"/>
              </a:lnSpc>
            </a:pPr>
            <a:r>
              <a:rPr sz="1100" i="1" dirty="0">
                <a:latin typeface="Calibri"/>
                <a:cs typeface="Calibri"/>
              </a:rPr>
              <a:t>b</a:t>
            </a:r>
            <a:r>
              <a:rPr sz="1100" i="1" spc="10" dirty="0">
                <a:latin typeface="Calibri"/>
                <a:cs typeface="Calibri"/>
              </a:rPr>
              <a:t> </a:t>
            </a:r>
            <a:r>
              <a:rPr sz="1100" spc="-10" dirty="0">
                <a:latin typeface="Georgia"/>
                <a:cs typeface="Georgia"/>
              </a:rPr>
              <a:t>bins:</a:t>
            </a:r>
            <a:endParaRPr sz="1100">
              <a:latin typeface="Georgia"/>
              <a:cs typeface="Georgia"/>
            </a:endParaRPr>
          </a:p>
        </p:txBody>
      </p:sp>
      <p:sp>
        <p:nvSpPr>
          <p:cNvPr id="8" name="object 8"/>
          <p:cNvSpPr/>
          <p:nvPr/>
        </p:nvSpPr>
        <p:spPr>
          <a:xfrm>
            <a:off x="337972" y="157614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txBox="1"/>
          <p:nvPr/>
        </p:nvSpPr>
        <p:spPr>
          <a:xfrm>
            <a:off x="1209332" y="1916123"/>
            <a:ext cx="1795780" cy="191770"/>
          </a:xfrm>
          <a:prstGeom prst="rect">
            <a:avLst/>
          </a:prstGeom>
        </p:spPr>
        <p:txBody>
          <a:bodyPr vert="horz" wrap="square" lIns="0" tIns="11430" rIns="0" bIns="0" rtlCol="0">
            <a:spAutoFit/>
          </a:bodyPr>
          <a:lstStyle/>
          <a:p>
            <a:pPr marL="38100">
              <a:lnSpc>
                <a:spcPct val="100000"/>
              </a:lnSpc>
              <a:spcBef>
                <a:spcPts val="90"/>
              </a:spcBef>
            </a:pPr>
            <a:r>
              <a:rPr sz="1100" i="1" spc="195" dirty="0">
                <a:latin typeface="Calibri"/>
                <a:cs typeface="Calibri"/>
              </a:rPr>
              <a:t>f</a:t>
            </a:r>
            <a:r>
              <a:rPr sz="1100" i="1" spc="-135" dirty="0">
                <a:latin typeface="Calibri"/>
                <a:cs typeface="Calibri"/>
              </a:rPr>
              <a:t> </a:t>
            </a:r>
            <a:r>
              <a:rPr sz="1100" spc="135" dirty="0">
                <a:latin typeface="Calibri"/>
                <a:cs typeface="Calibri"/>
              </a:rPr>
              <a:t>(</a:t>
            </a:r>
            <a:r>
              <a:rPr sz="1100" i="1" spc="135" dirty="0">
                <a:latin typeface="Calibri"/>
                <a:cs typeface="Calibri"/>
              </a:rPr>
              <a:t>i</a:t>
            </a:r>
            <a:r>
              <a:rPr sz="1100" spc="135" dirty="0">
                <a:latin typeface="Calibri"/>
                <a:cs typeface="Calibri"/>
              </a:rPr>
              <a:t>)</a:t>
            </a:r>
            <a:r>
              <a:rPr sz="1100" spc="-30" dirty="0">
                <a:latin typeface="Calibri"/>
                <a:cs typeface="Calibri"/>
              </a:rPr>
              <a:t> </a:t>
            </a:r>
            <a:r>
              <a:rPr sz="1100" spc="235" dirty="0">
                <a:latin typeface="Calibri"/>
                <a:cs typeface="Calibri"/>
              </a:rPr>
              <a:t>=</a:t>
            </a:r>
            <a:r>
              <a:rPr sz="1100" spc="50" dirty="0">
                <a:latin typeface="Calibri"/>
                <a:cs typeface="Calibri"/>
              </a:rPr>
              <a:t> </a:t>
            </a:r>
            <a:r>
              <a:rPr sz="1100" i="1" spc="135" dirty="0">
                <a:latin typeface="Calibri"/>
                <a:cs typeface="Calibri"/>
              </a:rPr>
              <a:t>P</a:t>
            </a:r>
            <a:r>
              <a:rPr sz="1100" i="1" spc="-100" dirty="0">
                <a:latin typeface="Calibri"/>
                <a:cs typeface="Calibri"/>
              </a:rPr>
              <a:t> </a:t>
            </a:r>
            <a:r>
              <a:rPr sz="1100" dirty="0">
                <a:latin typeface="Calibri"/>
                <a:cs typeface="Calibri"/>
              </a:rPr>
              <a:t>(</a:t>
            </a:r>
            <a:r>
              <a:rPr sz="1100" i="1" dirty="0">
                <a:latin typeface="Calibri"/>
                <a:cs typeface="Calibri"/>
              </a:rPr>
              <a:t>w</a:t>
            </a:r>
            <a:r>
              <a:rPr sz="1200" i="1" baseline="-10416" dirty="0">
                <a:latin typeface="Calibri"/>
                <a:cs typeface="Calibri"/>
              </a:rPr>
              <a:t>pq</a:t>
            </a:r>
            <a:r>
              <a:rPr sz="1200" i="1" spc="277" baseline="-10416"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dirty="0">
                <a:latin typeface="Georgia"/>
                <a:cs typeface="Georgia"/>
              </a:rPr>
              <a:t>bin</a:t>
            </a:r>
            <a:r>
              <a:rPr sz="1100" spc="85" dirty="0">
                <a:latin typeface="Georgia"/>
                <a:cs typeface="Georgia"/>
              </a:rPr>
              <a:t> </a:t>
            </a:r>
            <a:r>
              <a:rPr sz="1100" i="1" spc="125" dirty="0">
                <a:latin typeface="Calibri"/>
                <a:cs typeface="Calibri"/>
              </a:rPr>
              <a:t>i</a:t>
            </a:r>
            <a:r>
              <a:rPr sz="1100" i="1" spc="100" dirty="0">
                <a:latin typeface="Calibri"/>
                <a:cs typeface="Calibri"/>
              </a:rPr>
              <a:t> </a:t>
            </a:r>
            <a:r>
              <a:rPr sz="1100" dirty="0">
                <a:latin typeface="Cambria"/>
                <a:cs typeface="Cambria"/>
              </a:rPr>
              <a:t>|</a:t>
            </a:r>
            <a:r>
              <a:rPr sz="1100" spc="114" dirty="0">
                <a:latin typeface="Cambria"/>
                <a:cs typeface="Cambria"/>
              </a:rPr>
              <a:t> </a:t>
            </a:r>
            <a:r>
              <a:rPr sz="1100" spc="65" dirty="0">
                <a:latin typeface="Cambria"/>
                <a:cs typeface="Cambria"/>
              </a:rPr>
              <a:t>x</a:t>
            </a:r>
            <a:r>
              <a:rPr sz="1200" i="1" spc="97" baseline="-10416" dirty="0">
                <a:latin typeface="Calibri"/>
                <a:cs typeface="Calibri"/>
              </a:rPr>
              <a:t>p</a:t>
            </a:r>
            <a:r>
              <a:rPr sz="1100" i="1" spc="65" dirty="0">
                <a:latin typeface="Calibri"/>
                <a:cs typeface="Calibri"/>
              </a:rPr>
              <a:t>,</a:t>
            </a:r>
            <a:r>
              <a:rPr sz="1100" i="1" spc="-70" dirty="0">
                <a:latin typeface="Calibri"/>
                <a:cs typeface="Calibri"/>
              </a:rPr>
              <a:t> </a:t>
            </a:r>
            <a:r>
              <a:rPr sz="1100" spc="-25" dirty="0">
                <a:latin typeface="Cambria"/>
                <a:cs typeface="Cambria"/>
              </a:rPr>
              <a:t>x</a:t>
            </a:r>
            <a:r>
              <a:rPr sz="1200" i="1" spc="-37" baseline="-10416" dirty="0">
                <a:latin typeface="Calibri"/>
                <a:cs typeface="Calibri"/>
              </a:rPr>
              <a:t>q</a:t>
            </a:r>
            <a:endParaRPr sz="1200" baseline="-10416">
              <a:latin typeface="Calibri"/>
              <a:cs typeface="Calibri"/>
            </a:endParaRPr>
          </a:p>
        </p:txBody>
      </p:sp>
      <p:sp>
        <p:nvSpPr>
          <p:cNvPr id="10" name="object 10"/>
          <p:cNvSpPr txBox="1"/>
          <p:nvPr/>
        </p:nvSpPr>
        <p:spPr>
          <a:xfrm>
            <a:off x="2977032" y="1821623"/>
            <a:ext cx="1835785" cy="191770"/>
          </a:xfrm>
          <a:prstGeom prst="rect">
            <a:avLst/>
          </a:prstGeom>
        </p:spPr>
        <p:txBody>
          <a:bodyPr vert="horz" wrap="square" lIns="0" tIns="11430" rIns="0" bIns="0" rtlCol="0">
            <a:spAutoFit/>
          </a:bodyPr>
          <a:lstStyle/>
          <a:p>
            <a:pPr marL="38100">
              <a:lnSpc>
                <a:spcPct val="100000"/>
              </a:lnSpc>
              <a:spcBef>
                <a:spcPts val="90"/>
              </a:spcBef>
            </a:pPr>
            <a:r>
              <a:rPr sz="1650" spc="-232" baseline="-37878" dirty="0">
                <a:latin typeface="Lucida Sans Unicode"/>
                <a:cs typeface="Lucida Sans Unicode"/>
              </a:rPr>
              <a:t>∈</a:t>
            </a:r>
            <a:r>
              <a:rPr sz="1650" spc="-67" baseline="-37878" dirty="0">
                <a:latin typeface="Lucida Sans Unicode"/>
                <a:cs typeface="Lucida Sans Unicode"/>
              </a:rPr>
              <a:t> </a:t>
            </a:r>
            <a:r>
              <a:rPr sz="1650" spc="165" baseline="-37878" dirty="0">
                <a:latin typeface="Cambria"/>
                <a:cs typeface="Cambria"/>
              </a:rPr>
              <a:t>D</a:t>
            </a:r>
            <a:r>
              <a:rPr sz="1650" i="1" spc="165" baseline="-37878" dirty="0">
                <a:latin typeface="Calibri"/>
                <a:cs typeface="Calibri"/>
              </a:rPr>
              <a:t>,p</a:t>
            </a:r>
            <a:r>
              <a:rPr sz="1650" i="1" spc="52" baseline="-37878" dirty="0">
                <a:latin typeface="Calibri"/>
                <a:cs typeface="Calibri"/>
              </a:rPr>
              <a:t> </a:t>
            </a:r>
            <a:r>
              <a:rPr sz="1650" i="1" spc="442" baseline="-37878" dirty="0">
                <a:latin typeface="Calibri"/>
                <a:cs typeface="Calibri"/>
              </a:rPr>
              <a:t>&gt;</a:t>
            </a:r>
            <a:r>
              <a:rPr sz="1650" i="1" spc="82" baseline="-37878" dirty="0">
                <a:latin typeface="Calibri"/>
                <a:cs typeface="Calibri"/>
              </a:rPr>
              <a:t> </a:t>
            </a:r>
            <a:r>
              <a:rPr sz="1650" i="1" spc="120" baseline="-37878" dirty="0">
                <a:latin typeface="Calibri"/>
                <a:cs typeface="Calibri"/>
              </a:rPr>
              <a:t>q</a:t>
            </a:r>
            <a:r>
              <a:rPr sz="1650" spc="120" baseline="-37878" dirty="0">
                <a:latin typeface="Calibri"/>
                <a:cs typeface="Calibri"/>
              </a:rPr>
              <a:t>)</a:t>
            </a:r>
            <a:r>
              <a:rPr sz="1650" spc="-7" baseline="-37878" dirty="0">
                <a:latin typeface="Calibri"/>
                <a:cs typeface="Calibri"/>
              </a:rPr>
              <a:t> </a:t>
            </a:r>
            <a:r>
              <a:rPr sz="1650" spc="352" baseline="-37878" dirty="0">
                <a:latin typeface="Calibri"/>
                <a:cs typeface="Calibri"/>
              </a:rPr>
              <a:t>=</a:t>
            </a:r>
            <a:r>
              <a:rPr sz="1650" spc="254" baseline="-37878" dirty="0">
                <a:latin typeface="Calibri"/>
                <a:cs typeface="Calibri"/>
              </a:rPr>
              <a:t> </a:t>
            </a:r>
            <a:r>
              <a:rPr sz="1100" u="sng" dirty="0">
                <a:uFill>
                  <a:solidFill>
                    <a:srgbClr val="000000"/>
                  </a:solidFill>
                </a:uFill>
                <a:latin typeface="Cambria"/>
                <a:cs typeface="Cambria"/>
              </a:rPr>
              <a:t>|{</a:t>
            </a:r>
            <a:r>
              <a:rPr sz="1100" i="1" u="sng" dirty="0">
                <a:uFill>
                  <a:solidFill>
                    <a:srgbClr val="000000"/>
                  </a:solidFill>
                </a:uFill>
                <a:latin typeface="Calibri"/>
                <a:cs typeface="Calibri"/>
              </a:rPr>
              <a:t>w</a:t>
            </a:r>
            <a:r>
              <a:rPr sz="1200" i="1" u="sng" baseline="-10416" dirty="0">
                <a:uFill>
                  <a:solidFill>
                    <a:srgbClr val="000000"/>
                  </a:solidFill>
                </a:uFill>
                <a:latin typeface="Calibri"/>
                <a:cs typeface="Calibri"/>
              </a:rPr>
              <a:t>pq</a:t>
            </a:r>
            <a:r>
              <a:rPr sz="1200" i="1" u="sng" spc="284" baseline="-10416" dirty="0">
                <a:uFill>
                  <a:solidFill>
                    <a:srgbClr val="000000"/>
                  </a:solidFill>
                </a:uFill>
                <a:latin typeface="Calibri"/>
                <a:cs typeface="Calibri"/>
              </a:rPr>
              <a:t> </a:t>
            </a:r>
            <a:r>
              <a:rPr sz="1100" u="sng" spc="-155" dirty="0">
                <a:uFill>
                  <a:solidFill>
                    <a:srgbClr val="000000"/>
                  </a:solidFill>
                </a:uFill>
                <a:latin typeface="Lucida Sans Unicode"/>
                <a:cs typeface="Lucida Sans Unicode"/>
              </a:rPr>
              <a:t>∈</a:t>
            </a:r>
            <a:r>
              <a:rPr sz="1100" u="sng" spc="-45" dirty="0">
                <a:uFill>
                  <a:solidFill>
                    <a:srgbClr val="000000"/>
                  </a:solidFill>
                </a:uFill>
                <a:latin typeface="Lucida Sans Unicode"/>
                <a:cs typeface="Lucida Sans Unicode"/>
              </a:rPr>
              <a:t> </a:t>
            </a:r>
            <a:r>
              <a:rPr sz="1100" u="sng" dirty="0">
                <a:uFill>
                  <a:solidFill>
                    <a:srgbClr val="000000"/>
                  </a:solidFill>
                </a:uFill>
                <a:latin typeface="Georgia"/>
                <a:cs typeface="Georgia"/>
              </a:rPr>
              <a:t>bin</a:t>
            </a:r>
            <a:r>
              <a:rPr sz="1100" u="sng" spc="90" dirty="0">
                <a:uFill>
                  <a:solidFill>
                    <a:srgbClr val="000000"/>
                  </a:solidFill>
                </a:uFill>
                <a:latin typeface="Georgia"/>
                <a:cs typeface="Georgia"/>
              </a:rPr>
              <a:t> </a:t>
            </a:r>
            <a:r>
              <a:rPr sz="1100" i="1" u="sng" spc="35" dirty="0">
                <a:uFill>
                  <a:solidFill>
                    <a:srgbClr val="000000"/>
                  </a:solidFill>
                </a:uFill>
                <a:latin typeface="Calibri"/>
                <a:cs typeface="Calibri"/>
              </a:rPr>
              <a:t>i</a:t>
            </a:r>
            <a:r>
              <a:rPr sz="1100" u="sng" spc="35" dirty="0">
                <a:uFill>
                  <a:solidFill>
                    <a:srgbClr val="000000"/>
                  </a:solidFill>
                </a:uFill>
                <a:latin typeface="Cambria"/>
                <a:cs typeface="Cambria"/>
              </a:rPr>
              <a:t>}|</a:t>
            </a:r>
            <a:endParaRPr sz="1100">
              <a:latin typeface="Cambria"/>
              <a:cs typeface="Cambria"/>
            </a:endParaRPr>
          </a:p>
        </p:txBody>
      </p:sp>
      <p:sp>
        <p:nvSpPr>
          <p:cNvPr id="11" name="object 11"/>
          <p:cNvSpPr txBox="1"/>
          <p:nvPr/>
        </p:nvSpPr>
        <p:spPr>
          <a:xfrm>
            <a:off x="3995585" y="2011158"/>
            <a:ext cx="676910" cy="191770"/>
          </a:xfrm>
          <a:prstGeom prst="rect">
            <a:avLst/>
          </a:prstGeom>
        </p:spPr>
        <p:txBody>
          <a:bodyPr vert="horz" wrap="square" lIns="0" tIns="11430" rIns="0" bIns="0" rtlCol="0">
            <a:spAutoFit/>
          </a:bodyPr>
          <a:lstStyle/>
          <a:p>
            <a:pPr marL="12700">
              <a:lnSpc>
                <a:spcPct val="100000"/>
              </a:lnSpc>
              <a:spcBef>
                <a:spcPts val="90"/>
              </a:spcBef>
            </a:pPr>
            <a:r>
              <a:rPr sz="1100" i="1" spc="85" dirty="0">
                <a:latin typeface="Calibri"/>
                <a:cs typeface="Calibri"/>
              </a:rPr>
              <a:t>n</a:t>
            </a:r>
            <a:r>
              <a:rPr sz="1100" spc="85" dirty="0">
                <a:latin typeface="Calibri"/>
                <a:cs typeface="Calibri"/>
              </a:rPr>
              <a:t>(</a:t>
            </a:r>
            <a:r>
              <a:rPr sz="1100" i="1" spc="85" dirty="0">
                <a:latin typeface="Calibri"/>
                <a:cs typeface="Calibri"/>
              </a:rPr>
              <a:t>n</a:t>
            </a:r>
            <a:r>
              <a:rPr sz="1100" i="1" spc="-5" dirty="0">
                <a:latin typeface="Calibri"/>
                <a:cs typeface="Calibri"/>
              </a:rPr>
              <a:t> </a:t>
            </a:r>
            <a:r>
              <a:rPr sz="1100" spc="-254" dirty="0">
                <a:latin typeface="Lucida Sans Unicode"/>
                <a:cs typeface="Lucida Sans Unicode"/>
              </a:rPr>
              <a:t>—</a:t>
            </a:r>
            <a:r>
              <a:rPr sz="1100" spc="-100" dirty="0">
                <a:latin typeface="Lucida Sans Unicode"/>
                <a:cs typeface="Lucida Sans Unicode"/>
              </a:rPr>
              <a:t> </a:t>
            </a:r>
            <a:r>
              <a:rPr sz="1100" spc="-20" dirty="0">
                <a:latin typeface="Calibri"/>
                <a:cs typeface="Calibri"/>
              </a:rPr>
              <a:t>1)</a:t>
            </a:r>
            <a:r>
              <a:rPr sz="1100" i="1" spc="-20" dirty="0">
                <a:latin typeface="Calibri"/>
                <a:cs typeface="Calibri"/>
              </a:rPr>
              <a:t>/</a:t>
            </a:r>
            <a:r>
              <a:rPr sz="1100" spc="-20" dirty="0">
                <a:latin typeface="Calibri"/>
                <a:cs typeface="Calibri"/>
              </a:rPr>
              <a:t>2</a:t>
            </a:r>
            <a:endParaRPr sz="1100">
              <a:latin typeface="Calibri"/>
              <a:cs typeface="Calibri"/>
            </a:endParaRPr>
          </a:p>
        </p:txBody>
      </p:sp>
      <p:sp>
        <p:nvSpPr>
          <p:cNvPr id="12" name="object 12"/>
          <p:cNvSpPr txBox="1"/>
          <p:nvPr/>
        </p:nvSpPr>
        <p:spPr>
          <a:xfrm>
            <a:off x="5381459" y="1916123"/>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(6)</a:t>
            </a:r>
            <a:endParaRPr sz="1100">
              <a:latin typeface="Georgia"/>
              <a:cs typeface="Georgia"/>
            </a:endParaRPr>
          </a:p>
        </p:txBody>
      </p:sp>
      <p:sp>
        <p:nvSpPr>
          <p:cNvPr id="13" name="object 13"/>
          <p:cNvSpPr/>
          <p:nvPr/>
        </p:nvSpPr>
        <p:spPr>
          <a:xfrm>
            <a:off x="337972" y="234845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4" name="object 14"/>
          <p:cNvSpPr txBox="1"/>
          <p:nvPr/>
        </p:nvSpPr>
        <p:spPr>
          <a:xfrm>
            <a:off x="428777" y="2256852"/>
            <a:ext cx="5109210" cy="722630"/>
          </a:xfrm>
          <a:prstGeom prst="rect">
            <a:avLst/>
          </a:prstGeom>
        </p:spPr>
        <p:txBody>
          <a:bodyPr vert="horz" wrap="square" lIns="0" tIns="34290" rIns="0" bIns="0" rtlCol="0">
            <a:spAutoFit/>
          </a:bodyPr>
          <a:lstStyle/>
          <a:p>
            <a:pPr marL="38100" marR="348615">
              <a:lnSpc>
                <a:spcPts val="1150"/>
              </a:lnSpc>
              <a:spcBef>
                <a:spcPts val="270"/>
              </a:spcBef>
            </a:pPr>
            <a:r>
              <a:rPr sz="1100" spc="-25" dirty="0">
                <a:latin typeface="Georgia"/>
                <a:cs typeface="Georgia"/>
              </a:rPr>
              <a:t>Likewise,</a:t>
            </a:r>
            <a:r>
              <a:rPr sz="1100" spc="40" dirty="0">
                <a:latin typeface="Georgia"/>
                <a:cs typeface="Georgia"/>
              </a:rPr>
              <a:t> </a:t>
            </a:r>
            <a:r>
              <a:rPr sz="1100" dirty="0">
                <a:latin typeface="Georgia"/>
                <a:cs typeface="Georgia"/>
              </a:rPr>
              <a:t>for</a:t>
            </a:r>
            <a:r>
              <a:rPr sz="1100" spc="40" dirty="0">
                <a:latin typeface="Georgia"/>
                <a:cs typeface="Georgia"/>
              </a:rPr>
              <a:t> </a:t>
            </a:r>
            <a:r>
              <a:rPr sz="1100" spc="-10" dirty="0">
                <a:latin typeface="Georgia"/>
                <a:cs typeface="Georgia"/>
              </a:rPr>
              <a:t>each</a:t>
            </a:r>
            <a:r>
              <a:rPr sz="1100" spc="40" dirty="0">
                <a:latin typeface="Georgia"/>
                <a:cs typeface="Georgia"/>
              </a:rPr>
              <a:t> </a:t>
            </a:r>
            <a:r>
              <a:rPr sz="1100" dirty="0">
                <a:latin typeface="Georgia"/>
                <a:cs typeface="Georgia"/>
              </a:rPr>
              <a:t>of</a:t>
            </a:r>
            <a:r>
              <a:rPr sz="1100" spc="40" dirty="0">
                <a:latin typeface="Georgia"/>
                <a:cs typeface="Georgia"/>
              </a:rPr>
              <a:t> </a:t>
            </a:r>
            <a:r>
              <a:rPr sz="1100" dirty="0">
                <a:latin typeface="Georgia"/>
                <a:cs typeface="Georgia"/>
              </a:rPr>
              <a:t>the</a:t>
            </a:r>
            <a:r>
              <a:rPr sz="1100" spc="40" dirty="0">
                <a:latin typeface="Georgia"/>
                <a:cs typeface="Georgia"/>
              </a:rPr>
              <a:t> </a:t>
            </a:r>
            <a:r>
              <a:rPr sz="1100" spc="-25" dirty="0">
                <a:latin typeface="Georgia"/>
                <a:cs typeface="Georgia"/>
              </a:rPr>
              <a:t>(uniformly</a:t>
            </a:r>
            <a:r>
              <a:rPr sz="1100" spc="40" dirty="0">
                <a:latin typeface="Georgia"/>
                <a:cs typeface="Georgia"/>
              </a:rPr>
              <a:t> </a:t>
            </a:r>
            <a:r>
              <a:rPr sz="1100" spc="-10" dirty="0">
                <a:latin typeface="Georgia"/>
                <a:cs typeface="Georgia"/>
              </a:rPr>
              <a:t>distributed)</a:t>
            </a:r>
            <a:r>
              <a:rPr sz="1100" spc="40" dirty="0">
                <a:latin typeface="Georgia"/>
                <a:cs typeface="Georgia"/>
              </a:rPr>
              <a:t> </a:t>
            </a:r>
            <a:r>
              <a:rPr sz="1100" spc="-30" dirty="0">
                <a:latin typeface="Georgia"/>
                <a:cs typeface="Georgia"/>
              </a:rPr>
              <a:t>samples</a:t>
            </a:r>
            <a:r>
              <a:rPr sz="1100" spc="40" dirty="0">
                <a:latin typeface="Georgia"/>
                <a:cs typeface="Georgia"/>
              </a:rPr>
              <a:t> </a:t>
            </a:r>
            <a:r>
              <a:rPr sz="1100" i="1" spc="190" dirty="0">
                <a:latin typeface="Calibri"/>
                <a:cs typeface="Calibri"/>
              </a:rPr>
              <a:t>R</a:t>
            </a:r>
            <a:r>
              <a:rPr sz="1200" i="1" spc="284" baseline="-10416" dirty="0">
                <a:latin typeface="Calibri"/>
                <a:cs typeface="Calibri"/>
              </a:rPr>
              <a:t>j</a:t>
            </a:r>
            <a:r>
              <a:rPr sz="1200" i="1" spc="292" baseline="-10416" dirty="0">
                <a:latin typeface="Calibri"/>
                <a:cs typeface="Calibri"/>
              </a:rPr>
              <a:t> </a:t>
            </a:r>
            <a:r>
              <a:rPr sz="1100" spc="90" dirty="0">
                <a:latin typeface="Georgia"/>
                <a:cs typeface="Georgia"/>
              </a:rPr>
              <a:t>(</a:t>
            </a:r>
            <a:r>
              <a:rPr sz="1100" i="1" spc="90" dirty="0">
                <a:latin typeface="Calibri"/>
                <a:cs typeface="Calibri"/>
              </a:rPr>
              <a:t>j</a:t>
            </a:r>
            <a:r>
              <a:rPr sz="1100" i="1" spc="60" dirty="0">
                <a:latin typeface="Calibri"/>
                <a:cs typeface="Calibri"/>
              </a:rPr>
              <a:t> </a:t>
            </a:r>
            <a:r>
              <a:rPr sz="1100" spc="295" dirty="0">
                <a:latin typeface="Calibri"/>
                <a:cs typeface="Calibri"/>
              </a:rPr>
              <a:t>=</a:t>
            </a:r>
            <a:r>
              <a:rPr sz="1100" spc="10" dirty="0">
                <a:latin typeface="Calibri"/>
                <a:cs typeface="Calibri"/>
              </a:rPr>
              <a:t> </a:t>
            </a:r>
            <a:r>
              <a:rPr sz="1100" dirty="0">
                <a:latin typeface="Calibri"/>
                <a:cs typeface="Calibri"/>
              </a:rPr>
              <a:t>1</a:t>
            </a:r>
            <a:r>
              <a:rPr sz="1100" i="1" dirty="0">
                <a:latin typeface="Calibri"/>
                <a:cs typeface="Calibri"/>
              </a:rPr>
              <a:t>..t</a:t>
            </a:r>
            <a:r>
              <a:rPr sz="1100" dirty="0">
                <a:latin typeface="Georgia"/>
                <a:cs typeface="Georgia"/>
              </a:rPr>
              <a:t>),</a:t>
            </a:r>
            <a:r>
              <a:rPr sz="1100" spc="40" dirty="0">
                <a:latin typeface="Georgia"/>
                <a:cs typeface="Georgia"/>
              </a:rPr>
              <a:t> </a:t>
            </a:r>
            <a:r>
              <a:rPr sz="1100" dirty="0">
                <a:latin typeface="Georgia"/>
                <a:cs typeface="Georgia"/>
              </a:rPr>
              <a:t>we</a:t>
            </a:r>
            <a:r>
              <a:rPr sz="1100" spc="40" dirty="0">
                <a:latin typeface="Georgia"/>
                <a:cs typeface="Georgia"/>
              </a:rPr>
              <a:t> </a:t>
            </a:r>
            <a:r>
              <a:rPr sz="1100" spc="-25" dirty="0">
                <a:latin typeface="Georgia"/>
                <a:cs typeface="Georgia"/>
              </a:rPr>
              <a:t>can </a:t>
            </a:r>
            <a:r>
              <a:rPr sz="1100" spc="-35" dirty="0">
                <a:latin typeface="Georgia"/>
                <a:cs typeface="Georgia"/>
              </a:rPr>
              <a:t>determine</a:t>
            </a:r>
            <a:r>
              <a:rPr sz="1100" spc="30" dirty="0">
                <a:latin typeface="Georgia"/>
                <a:cs typeface="Georgia"/>
              </a:rPr>
              <a:t> </a:t>
            </a:r>
            <a:r>
              <a:rPr sz="1100" dirty="0">
                <a:latin typeface="Georgia"/>
                <a:cs typeface="Georgia"/>
              </a:rPr>
              <a:t>the</a:t>
            </a:r>
            <a:r>
              <a:rPr sz="1100" spc="50" dirty="0">
                <a:latin typeface="Georgia"/>
                <a:cs typeface="Georgia"/>
              </a:rPr>
              <a:t> </a:t>
            </a:r>
            <a:r>
              <a:rPr sz="1100" dirty="0">
                <a:latin typeface="Georgia"/>
                <a:cs typeface="Georgia"/>
              </a:rPr>
              <a:t>EPMF</a:t>
            </a:r>
            <a:r>
              <a:rPr sz="1100" spc="45" dirty="0">
                <a:latin typeface="Georgia"/>
                <a:cs typeface="Georgia"/>
              </a:rPr>
              <a:t> </a:t>
            </a:r>
            <a:r>
              <a:rPr sz="1100" dirty="0">
                <a:latin typeface="Georgia"/>
                <a:cs typeface="Georgia"/>
              </a:rPr>
              <a:t>for</a:t>
            </a:r>
            <a:r>
              <a:rPr sz="1100" spc="45" dirty="0">
                <a:latin typeface="Georgia"/>
                <a:cs typeface="Georgia"/>
              </a:rPr>
              <a:t> </a:t>
            </a:r>
            <a:r>
              <a:rPr sz="1100" dirty="0">
                <a:latin typeface="Georgia"/>
                <a:cs typeface="Georgia"/>
              </a:rPr>
              <a:t>the</a:t>
            </a:r>
            <a:r>
              <a:rPr sz="1100" spc="45" dirty="0">
                <a:latin typeface="Georgia"/>
                <a:cs typeface="Georgia"/>
              </a:rPr>
              <a:t> </a:t>
            </a:r>
            <a:r>
              <a:rPr sz="1100" spc="-40" dirty="0">
                <a:latin typeface="Georgia"/>
                <a:cs typeface="Georgia"/>
              </a:rPr>
              <a:t>pair–wise</a:t>
            </a:r>
            <a:r>
              <a:rPr sz="1100" spc="50" dirty="0">
                <a:latin typeface="Georgia"/>
                <a:cs typeface="Georgia"/>
              </a:rPr>
              <a:t> </a:t>
            </a:r>
            <a:r>
              <a:rPr sz="1100" spc="-20" dirty="0">
                <a:latin typeface="Georgia"/>
                <a:cs typeface="Georgia"/>
              </a:rPr>
              <a:t>distances,</a:t>
            </a:r>
            <a:r>
              <a:rPr sz="1100" spc="45" dirty="0">
                <a:latin typeface="Georgia"/>
                <a:cs typeface="Georgia"/>
              </a:rPr>
              <a:t> </a:t>
            </a:r>
            <a:r>
              <a:rPr sz="1100" spc="-25" dirty="0">
                <a:latin typeface="Georgia"/>
                <a:cs typeface="Georgia"/>
              </a:rPr>
              <a:t>denoted</a:t>
            </a:r>
            <a:r>
              <a:rPr sz="1100" spc="45" dirty="0">
                <a:latin typeface="Georgia"/>
                <a:cs typeface="Georgia"/>
              </a:rPr>
              <a:t> </a:t>
            </a:r>
            <a:r>
              <a:rPr sz="1100" i="1" spc="50" dirty="0">
                <a:latin typeface="Calibri"/>
                <a:cs typeface="Calibri"/>
              </a:rPr>
              <a:t>g</a:t>
            </a:r>
            <a:r>
              <a:rPr sz="1200" i="1" spc="75" baseline="-10416" dirty="0">
                <a:latin typeface="Calibri"/>
                <a:cs typeface="Calibri"/>
              </a:rPr>
              <a:t>j</a:t>
            </a:r>
            <a:r>
              <a:rPr sz="1200" i="1" spc="-127" baseline="-10416" dirty="0">
                <a:latin typeface="Calibri"/>
                <a:cs typeface="Calibri"/>
              </a:rPr>
              <a:t> </a:t>
            </a:r>
            <a:r>
              <a:rPr sz="1100" spc="-50" dirty="0">
                <a:latin typeface="Georgia"/>
                <a:cs typeface="Georgia"/>
              </a:rPr>
              <a:t>.</a:t>
            </a:r>
            <a:endParaRPr sz="1100">
              <a:latin typeface="Georgia"/>
              <a:cs typeface="Georgia"/>
            </a:endParaRPr>
          </a:p>
          <a:p>
            <a:pPr marL="38100" marR="30480">
              <a:lnSpc>
                <a:spcPts val="1150"/>
              </a:lnSpc>
              <a:spcBef>
                <a:spcPts val="725"/>
              </a:spcBef>
            </a:pPr>
            <a:r>
              <a:rPr sz="1100" spc="-10" dirty="0">
                <a:latin typeface="Georgia"/>
                <a:cs typeface="Georgia"/>
              </a:rPr>
              <a:t>Finally,</a:t>
            </a:r>
            <a:r>
              <a:rPr sz="1100" spc="70" dirty="0">
                <a:latin typeface="Georgia"/>
                <a:cs typeface="Georgia"/>
              </a:rPr>
              <a:t> </a:t>
            </a:r>
            <a:r>
              <a:rPr sz="1100" spc="-25" dirty="0">
                <a:latin typeface="Georgia"/>
                <a:cs typeface="Georgia"/>
              </a:rPr>
              <a:t>compute</a:t>
            </a:r>
            <a:r>
              <a:rPr sz="1100" spc="70" dirty="0">
                <a:latin typeface="Georgia"/>
                <a:cs typeface="Georgia"/>
              </a:rPr>
              <a:t> </a:t>
            </a:r>
            <a:r>
              <a:rPr sz="1100" dirty="0">
                <a:latin typeface="Georgia"/>
                <a:cs typeface="Georgia"/>
              </a:rPr>
              <a:t>the</a:t>
            </a:r>
            <a:r>
              <a:rPr sz="1100" spc="70" dirty="0">
                <a:latin typeface="Georgia"/>
                <a:cs typeface="Georgia"/>
              </a:rPr>
              <a:t> </a:t>
            </a:r>
            <a:r>
              <a:rPr sz="1100" dirty="0">
                <a:latin typeface="Georgia"/>
                <a:cs typeface="Georgia"/>
              </a:rPr>
              <a:t>KL</a:t>
            </a:r>
            <a:r>
              <a:rPr sz="1100" spc="70" dirty="0">
                <a:latin typeface="Georgia"/>
                <a:cs typeface="Georgia"/>
              </a:rPr>
              <a:t> </a:t>
            </a:r>
            <a:r>
              <a:rPr sz="1100" spc="-35" dirty="0">
                <a:latin typeface="Georgia"/>
                <a:cs typeface="Georgia"/>
              </a:rPr>
              <a:t>divergences</a:t>
            </a:r>
            <a:r>
              <a:rPr sz="1100" spc="70" dirty="0">
                <a:latin typeface="Georgia"/>
                <a:cs typeface="Georgia"/>
              </a:rPr>
              <a:t> </a:t>
            </a:r>
            <a:r>
              <a:rPr sz="1100" spc="-25" dirty="0">
                <a:latin typeface="Georgia"/>
                <a:cs typeface="Georgia"/>
              </a:rPr>
              <a:t>between</a:t>
            </a:r>
            <a:r>
              <a:rPr sz="1100" spc="70" dirty="0">
                <a:latin typeface="Georgia"/>
                <a:cs typeface="Georgia"/>
              </a:rPr>
              <a:t> </a:t>
            </a:r>
            <a:r>
              <a:rPr sz="1100" i="1" spc="195" dirty="0">
                <a:latin typeface="Calibri"/>
                <a:cs typeface="Calibri"/>
              </a:rPr>
              <a:t>f </a:t>
            </a:r>
            <a:r>
              <a:rPr sz="1100" dirty="0">
                <a:latin typeface="Georgia"/>
                <a:cs typeface="Georgia"/>
              </a:rPr>
              <a:t>and</a:t>
            </a:r>
            <a:r>
              <a:rPr sz="1100" spc="70" dirty="0">
                <a:latin typeface="Georgia"/>
                <a:cs typeface="Georgia"/>
              </a:rPr>
              <a:t> </a:t>
            </a:r>
            <a:r>
              <a:rPr sz="1100" i="1" spc="50" dirty="0">
                <a:latin typeface="Calibri"/>
                <a:cs typeface="Calibri"/>
              </a:rPr>
              <a:t>g</a:t>
            </a:r>
            <a:r>
              <a:rPr sz="1200" i="1" spc="75" baseline="-10416" dirty="0">
                <a:latin typeface="Calibri"/>
                <a:cs typeface="Calibri"/>
              </a:rPr>
              <a:t>j</a:t>
            </a:r>
            <a:r>
              <a:rPr sz="1200" i="1" spc="352" baseline="-10416" dirty="0">
                <a:latin typeface="Calibri"/>
                <a:cs typeface="Calibri"/>
              </a:rPr>
              <a:t> </a:t>
            </a:r>
            <a:r>
              <a:rPr sz="1100" dirty="0">
                <a:latin typeface="Georgia"/>
                <a:cs typeface="Georgia"/>
              </a:rPr>
              <a:t>(for</a:t>
            </a:r>
            <a:r>
              <a:rPr sz="1100" spc="70" dirty="0">
                <a:latin typeface="Georgia"/>
                <a:cs typeface="Georgia"/>
              </a:rPr>
              <a:t> </a:t>
            </a:r>
            <a:r>
              <a:rPr sz="1100" i="1" spc="180" dirty="0">
                <a:latin typeface="Calibri"/>
                <a:cs typeface="Calibri"/>
              </a:rPr>
              <a:t>j</a:t>
            </a:r>
            <a:r>
              <a:rPr sz="1100" i="1" spc="90" dirty="0">
                <a:latin typeface="Calibri"/>
                <a:cs typeface="Calibri"/>
              </a:rPr>
              <a:t> </a:t>
            </a:r>
            <a:r>
              <a:rPr sz="1100" spc="295" dirty="0">
                <a:latin typeface="Calibri"/>
                <a:cs typeface="Calibri"/>
              </a:rPr>
              <a:t>=</a:t>
            </a:r>
            <a:r>
              <a:rPr sz="1100" spc="35" dirty="0">
                <a:latin typeface="Calibri"/>
                <a:cs typeface="Calibri"/>
              </a:rPr>
              <a:t> </a:t>
            </a:r>
            <a:r>
              <a:rPr sz="1100" dirty="0">
                <a:latin typeface="Calibri"/>
                <a:cs typeface="Calibri"/>
              </a:rPr>
              <a:t>1</a:t>
            </a:r>
            <a:r>
              <a:rPr sz="1100" i="1" dirty="0">
                <a:latin typeface="Calibri"/>
                <a:cs typeface="Calibri"/>
              </a:rPr>
              <a:t>..t</a:t>
            </a:r>
            <a:r>
              <a:rPr sz="1100" dirty="0">
                <a:latin typeface="Georgia"/>
                <a:cs typeface="Georgia"/>
              </a:rPr>
              <a:t>).</a:t>
            </a:r>
            <a:r>
              <a:rPr sz="1100" spc="180" dirty="0">
                <a:latin typeface="Georgia"/>
                <a:cs typeface="Georgia"/>
              </a:rPr>
              <a:t> </a:t>
            </a:r>
            <a:r>
              <a:rPr sz="1100" dirty="0">
                <a:latin typeface="Georgia"/>
                <a:cs typeface="Georgia"/>
              </a:rPr>
              <a:t>And</a:t>
            </a:r>
            <a:r>
              <a:rPr sz="1100" spc="70" dirty="0">
                <a:latin typeface="Georgia"/>
                <a:cs typeface="Georgia"/>
              </a:rPr>
              <a:t> </a:t>
            </a:r>
            <a:r>
              <a:rPr sz="1100" spc="-10" dirty="0">
                <a:latin typeface="Georgia"/>
                <a:cs typeface="Georgia"/>
              </a:rPr>
              <a:t>compute </a:t>
            </a:r>
            <a:r>
              <a:rPr sz="1100" dirty="0">
                <a:latin typeface="Georgia"/>
                <a:cs typeface="Georgia"/>
              </a:rPr>
              <a:t>the</a:t>
            </a:r>
            <a:r>
              <a:rPr sz="1100" spc="45" dirty="0">
                <a:latin typeface="Georgia"/>
                <a:cs typeface="Georgia"/>
              </a:rPr>
              <a:t> </a:t>
            </a:r>
            <a:r>
              <a:rPr sz="1100" spc="-10" dirty="0">
                <a:latin typeface="Georgia"/>
                <a:cs typeface="Georgia"/>
              </a:rPr>
              <a:t>expectation</a:t>
            </a:r>
            <a:r>
              <a:rPr sz="1100" spc="50" dirty="0">
                <a:latin typeface="Georgia"/>
                <a:cs typeface="Georgia"/>
              </a:rPr>
              <a:t> </a:t>
            </a:r>
            <a:r>
              <a:rPr sz="1100" dirty="0">
                <a:latin typeface="Georgia"/>
                <a:cs typeface="Georgia"/>
              </a:rPr>
              <a:t>and</a:t>
            </a:r>
            <a:r>
              <a:rPr sz="1100" spc="50" dirty="0">
                <a:latin typeface="Georgia"/>
                <a:cs typeface="Georgia"/>
              </a:rPr>
              <a:t> </a:t>
            </a:r>
            <a:r>
              <a:rPr sz="1100" dirty="0">
                <a:latin typeface="Georgia"/>
                <a:cs typeface="Georgia"/>
              </a:rPr>
              <a:t>the</a:t>
            </a:r>
            <a:r>
              <a:rPr sz="1100" spc="45" dirty="0">
                <a:latin typeface="Georgia"/>
                <a:cs typeface="Georgia"/>
              </a:rPr>
              <a:t> </a:t>
            </a:r>
            <a:r>
              <a:rPr sz="1100" spc="-25" dirty="0">
                <a:latin typeface="Georgia"/>
                <a:cs typeface="Georgia"/>
              </a:rPr>
              <a:t>variance</a:t>
            </a:r>
            <a:r>
              <a:rPr sz="1100" spc="50" dirty="0">
                <a:latin typeface="Georgia"/>
                <a:cs typeface="Georgia"/>
              </a:rPr>
              <a:t> </a:t>
            </a:r>
            <a:r>
              <a:rPr sz="1100" dirty="0">
                <a:latin typeface="Georgia"/>
                <a:cs typeface="Georgia"/>
              </a:rPr>
              <a:t>of</a:t>
            </a:r>
            <a:r>
              <a:rPr sz="1100" spc="50" dirty="0">
                <a:latin typeface="Georgia"/>
                <a:cs typeface="Georgia"/>
              </a:rPr>
              <a:t> </a:t>
            </a:r>
            <a:r>
              <a:rPr sz="1100" dirty="0">
                <a:latin typeface="Georgia"/>
                <a:cs typeface="Georgia"/>
              </a:rPr>
              <a:t>the</a:t>
            </a:r>
            <a:r>
              <a:rPr sz="1100" spc="50" dirty="0">
                <a:latin typeface="Georgia"/>
                <a:cs typeface="Georgia"/>
              </a:rPr>
              <a:t> </a:t>
            </a:r>
            <a:r>
              <a:rPr sz="1100" dirty="0">
                <a:latin typeface="Georgia"/>
                <a:cs typeface="Georgia"/>
              </a:rPr>
              <a:t>KL</a:t>
            </a:r>
            <a:r>
              <a:rPr sz="1100" spc="45" dirty="0">
                <a:latin typeface="Georgia"/>
                <a:cs typeface="Georgia"/>
              </a:rPr>
              <a:t> </a:t>
            </a:r>
            <a:r>
              <a:rPr sz="1100" spc="-35" dirty="0">
                <a:latin typeface="Georgia"/>
                <a:cs typeface="Georgia"/>
              </a:rPr>
              <a:t>divergence</a:t>
            </a:r>
            <a:r>
              <a:rPr sz="1100" spc="50" dirty="0">
                <a:latin typeface="Georgia"/>
                <a:cs typeface="Georgia"/>
              </a:rPr>
              <a:t> </a:t>
            </a:r>
            <a:r>
              <a:rPr sz="1100" spc="-10" dirty="0">
                <a:latin typeface="Georgia"/>
                <a:cs typeface="Georgia"/>
              </a:rPr>
              <a:t>values.</a:t>
            </a:r>
            <a:endParaRPr sz="1100">
              <a:latin typeface="Georgia"/>
              <a:cs typeface="Georgia"/>
            </a:endParaRPr>
          </a:p>
        </p:txBody>
      </p:sp>
      <p:sp>
        <p:nvSpPr>
          <p:cNvPr id="15" name="object 15"/>
          <p:cNvSpPr/>
          <p:nvPr/>
        </p:nvSpPr>
        <p:spPr>
          <a:xfrm>
            <a:off x="337972" y="273293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6" name="object 16"/>
          <p:cNvGrpSpPr/>
          <p:nvPr/>
        </p:nvGrpSpPr>
        <p:grpSpPr>
          <a:xfrm>
            <a:off x="0" y="3121545"/>
            <a:ext cx="5760085" cy="118745"/>
            <a:chOff x="0" y="3121545"/>
            <a:chExt cx="5760085" cy="118745"/>
          </a:xfrm>
        </p:grpSpPr>
        <p:sp>
          <p:nvSpPr>
            <p:cNvPr id="17" name="object 17"/>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8" name="object 18"/>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9" name="object 19"/>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20" name="object 20"/>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21" name="object 21"/>
          <p:cNvSpPr txBox="1"/>
          <p:nvPr/>
        </p:nvSpPr>
        <p:spPr>
          <a:xfrm>
            <a:off x="4456523" y="3118867"/>
            <a:ext cx="334645" cy="121920"/>
          </a:xfrm>
          <a:prstGeom prst="rect">
            <a:avLst/>
          </a:prstGeom>
        </p:spPr>
        <p:txBody>
          <a:bodyPr vert="horz" wrap="square" lIns="0" tIns="8255" rIns="0" bIns="0" rtlCol="0">
            <a:spAutoFit/>
          </a:bodyPr>
          <a:lstStyle/>
          <a:p>
            <a:pPr marL="12700">
              <a:lnSpc>
                <a:spcPct val="100000"/>
              </a:lnSpc>
              <a:spcBef>
                <a:spcPts val="65"/>
              </a:spcBef>
            </a:pPr>
            <a:r>
              <a:rPr sz="600" dirty="0">
                <a:solidFill>
                  <a:srgbClr val="7A0000"/>
                </a:solidFill>
                <a:latin typeface="Georgia"/>
                <a:cs typeface="Georgia"/>
              </a:rPr>
              <a:t>30</a:t>
            </a:r>
            <a:r>
              <a:rPr sz="600" spc="-5" dirty="0">
                <a:solidFill>
                  <a:srgbClr val="7A0000"/>
                </a:solidFill>
                <a:latin typeface="Georgia"/>
                <a:cs typeface="Georgia"/>
              </a:rPr>
              <a:t> </a:t>
            </a:r>
            <a:r>
              <a:rPr sz="600" spc="75" dirty="0">
                <a:solidFill>
                  <a:srgbClr val="7A0000"/>
                </a:solidFill>
                <a:latin typeface="Georgia"/>
                <a:cs typeface="Georgia"/>
              </a:rPr>
              <a:t>/</a:t>
            </a:r>
            <a:r>
              <a:rPr sz="600" spc="-5" dirty="0">
                <a:solidFill>
                  <a:srgbClr val="7A0000"/>
                </a:solidFill>
                <a:latin typeface="Georgia"/>
                <a:cs typeface="Georgia"/>
              </a:rPr>
              <a:t> </a:t>
            </a:r>
            <a:r>
              <a:rPr sz="600" spc="35" dirty="0">
                <a:solidFill>
                  <a:srgbClr val="7A0000"/>
                </a:solidFill>
                <a:latin typeface="Georgia"/>
                <a:cs typeface="Georgia"/>
              </a:rPr>
              <a:t>135</a:t>
            </a:r>
            <a:endParaRPr sz="600">
              <a:latin typeface="Georgia"/>
              <a:cs typeface="Georgi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Example</a:t>
            </a:r>
            <a:r>
              <a:rPr spc="229" dirty="0"/>
              <a:t> </a:t>
            </a:r>
            <a:r>
              <a:rPr spc="10" dirty="0"/>
              <a:t>of</a:t>
            </a:r>
            <a:r>
              <a:rPr spc="235" dirty="0"/>
              <a:t> </a:t>
            </a:r>
            <a:r>
              <a:rPr spc="10" dirty="0"/>
              <a:t>distance</a:t>
            </a:r>
            <a:r>
              <a:rPr spc="235" dirty="0"/>
              <a:t> </a:t>
            </a:r>
            <a:r>
              <a:rPr spc="10" dirty="0"/>
              <a:t>distribution</a:t>
            </a:r>
            <a:r>
              <a:rPr spc="235" dirty="0"/>
              <a:t> </a:t>
            </a:r>
            <a:r>
              <a:rPr spc="-25" dirty="0"/>
              <a:t>[</a:t>
            </a:r>
            <a:r>
              <a:rPr spc="-25" dirty="0">
                <a:hlinkClick r:id="rId2" action="ppaction://hlinksldjump"/>
              </a:rPr>
              <a:t>4</a:t>
            </a:r>
            <a:r>
              <a:rPr spc="-25" dirty="0"/>
              <a:t>]</a:t>
            </a:r>
          </a:p>
        </p:txBody>
      </p:sp>
      <p:pic>
        <p:nvPicPr>
          <p:cNvPr id="3" name="object 3"/>
          <p:cNvPicPr/>
          <p:nvPr/>
        </p:nvPicPr>
        <p:blipFill>
          <a:blip r:embed="rId3" cstate="print"/>
          <a:stretch>
            <a:fillRect/>
          </a:stretch>
        </p:blipFill>
        <p:spPr>
          <a:xfrm>
            <a:off x="408647" y="511251"/>
            <a:ext cx="2131695" cy="1151572"/>
          </a:xfrm>
          <a:prstGeom prst="rect">
            <a:avLst/>
          </a:prstGeom>
        </p:spPr>
      </p:pic>
      <p:pic>
        <p:nvPicPr>
          <p:cNvPr id="4" name="object 4"/>
          <p:cNvPicPr/>
          <p:nvPr/>
        </p:nvPicPr>
        <p:blipFill>
          <a:blip r:embed="rId4" cstate="print"/>
          <a:stretch>
            <a:fillRect/>
          </a:stretch>
        </p:blipFill>
        <p:spPr>
          <a:xfrm>
            <a:off x="3268255" y="551256"/>
            <a:ext cx="2045970" cy="1062989"/>
          </a:xfrm>
          <a:prstGeom prst="rect">
            <a:avLst/>
          </a:prstGeom>
        </p:spPr>
      </p:pic>
      <p:sp>
        <p:nvSpPr>
          <p:cNvPr id="5" name="object 5"/>
          <p:cNvSpPr/>
          <p:nvPr/>
        </p:nvSpPr>
        <p:spPr>
          <a:xfrm>
            <a:off x="337972" y="1837601"/>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txBox="1"/>
          <p:nvPr/>
        </p:nvSpPr>
        <p:spPr>
          <a:xfrm>
            <a:off x="428777" y="1674035"/>
            <a:ext cx="5032375" cy="1325245"/>
          </a:xfrm>
          <a:prstGeom prst="rect">
            <a:avLst/>
          </a:prstGeom>
        </p:spPr>
        <p:txBody>
          <a:bodyPr vert="horz" wrap="square" lIns="0" tIns="83185" rIns="0" bIns="0" rtlCol="0">
            <a:spAutoFit/>
          </a:bodyPr>
          <a:lstStyle/>
          <a:p>
            <a:pPr marL="38100">
              <a:lnSpc>
                <a:spcPct val="100000"/>
              </a:lnSpc>
              <a:spcBef>
                <a:spcPts val="655"/>
              </a:spcBef>
            </a:pPr>
            <a:r>
              <a:rPr sz="1100" spc="-30" dirty="0">
                <a:latin typeface="Georgia"/>
                <a:cs typeface="Georgia"/>
              </a:rPr>
              <a:t>Number</a:t>
            </a:r>
            <a:r>
              <a:rPr sz="1100" spc="35" dirty="0">
                <a:latin typeface="Georgia"/>
                <a:cs typeface="Georgia"/>
              </a:rPr>
              <a:t> </a:t>
            </a:r>
            <a:r>
              <a:rPr sz="1100" dirty="0">
                <a:latin typeface="Georgia"/>
                <a:cs typeface="Georgia"/>
              </a:rPr>
              <a:t>of</a:t>
            </a:r>
            <a:r>
              <a:rPr sz="1100" spc="35" dirty="0">
                <a:latin typeface="Georgia"/>
                <a:cs typeface="Georgia"/>
              </a:rPr>
              <a:t> </a:t>
            </a:r>
            <a:r>
              <a:rPr sz="1100" spc="-10" dirty="0">
                <a:latin typeface="Georgia"/>
                <a:cs typeface="Georgia"/>
              </a:rPr>
              <a:t>bins</a:t>
            </a:r>
            <a:r>
              <a:rPr sz="1100" spc="35" dirty="0">
                <a:latin typeface="Georgia"/>
                <a:cs typeface="Georgia"/>
              </a:rPr>
              <a:t> </a:t>
            </a:r>
            <a:r>
              <a:rPr sz="1100" i="1" dirty="0">
                <a:latin typeface="Calibri"/>
                <a:cs typeface="Calibri"/>
              </a:rPr>
              <a:t>b</a:t>
            </a:r>
            <a:r>
              <a:rPr sz="1100" i="1" spc="5" dirty="0">
                <a:latin typeface="Calibri"/>
                <a:cs typeface="Calibri"/>
              </a:rPr>
              <a:t> </a:t>
            </a:r>
            <a:r>
              <a:rPr sz="1100" spc="295" dirty="0">
                <a:latin typeface="Calibri"/>
                <a:cs typeface="Calibri"/>
              </a:rPr>
              <a:t>=</a:t>
            </a:r>
            <a:r>
              <a:rPr sz="1100" spc="5" dirty="0">
                <a:latin typeface="Calibri"/>
                <a:cs typeface="Calibri"/>
              </a:rPr>
              <a:t> </a:t>
            </a:r>
            <a:r>
              <a:rPr sz="1100" dirty="0">
                <a:latin typeface="Calibri"/>
                <a:cs typeface="Calibri"/>
              </a:rPr>
              <a:t>25</a:t>
            </a:r>
            <a:r>
              <a:rPr sz="1100" dirty="0">
                <a:latin typeface="Georgia"/>
                <a:cs typeface="Georgia"/>
              </a:rPr>
              <a:t>;</a:t>
            </a:r>
            <a:r>
              <a:rPr sz="1100" spc="35" dirty="0">
                <a:latin typeface="Georgia"/>
                <a:cs typeface="Georgia"/>
              </a:rPr>
              <a:t> </a:t>
            </a:r>
            <a:r>
              <a:rPr sz="1100" i="1" dirty="0">
                <a:latin typeface="Calibri"/>
                <a:cs typeface="Calibri"/>
              </a:rPr>
              <a:t>t </a:t>
            </a:r>
            <a:r>
              <a:rPr sz="1100" spc="295" dirty="0">
                <a:latin typeface="Calibri"/>
                <a:cs typeface="Calibri"/>
              </a:rPr>
              <a:t>=</a:t>
            </a:r>
            <a:r>
              <a:rPr sz="1100" spc="5" dirty="0">
                <a:latin typeface="Calibri"/>
                <a:cs typeface="Calibri"/>
              </a:rPr>
              <a:t> </a:t>
            </a:r>
            <a:r>
              <a:rPr sz="1100" dirty="0">
                <a:latin typeface="Calibri"/>
                <a:cs typeface="Calibri"/>
              </a:rPr>
              <a:t>500</a:t>
            </a:r>
            <a:r>
              <a:rPr sz="1100" spc="50" dirty="0">
                <a:latin typeface="Calibri"/>
                <a:cs typeface="Calibri"/>
              </a:rPr>
              <a:t> </a:t>
            </a:r>
            <a:r>
              <a:rPr sz="1100" spc="-10" dirty="0">
                <a:latin typeface="Georgia"/>
                <a:cs typeface="Georgia"/>
              </a:rPr>
              <a:t>samples.</a:t>
            </a:r>
            <a:endParaRPr sz="1100">
              <a:latin typeface="Georgia"/>
              <a:cs typeface="Georgia"/>
            </a:endParaRPr>
          </a:p>
          <a:p>
            <a:pPr marL="38100">
              <a:lnSpc>
                <a:spcPts val="1235"/>
              </a:lnSpc>
              <a:spcBef>
                <a:spcPts val="555"/>
              </a:spcBef>
            </a:pPr>
            <a:r>
              <a:rPr sz="1100" dirty="0">
                <a:latin typeface="Georgia"/>
                <a:cs typeface="Georgia"/>
              </a:rPr>
              <a:t>KL</a:t>
            </a:r>
            <a:r>
              <a:rPr sz="1100" spc="55" dirty="0">
                <a:latin typeface="Georgia"/>
                <a:cs typeface="Georgia"/>
              </a:rPr>
              <a:t> </a:t>
            </a:r>
            <a:r>
              <a:rPr sz="1100" spc="-35" dirty="0">
                <a:latin typeface="Georgia"/>
                <a:cs typeface="Georgia"/>
              </a:rPr>
              <a:t>divergence</a:t>
            </a:r>
            <a:r>
              <a:rPr sz="1100" spc="55" dirty="0">
                <a:latin typeface="Georgia"/>
                <a:cs typeface="Georgia"/>
              </a:rPr>
              <a:t> </a:t>
            </a:r>
            <a:r>
              <a:rPr sz="1100" spc="-25" dirty="0">
                <a:latin typeface="Georgia"/>
                <a:cs typeface="Georgia"/>
              </a:rPr>
              <a:t>computed</a:t>
            </a:r>
            <a:r>
              <a:rPr sz="1100" spc="55" dirty="0">
                <a:latin typeface="Georgia"/>
                <a:cs typeface="Georgia"/>
              </a:rPr>
              <a:t> </a:t>
            </a:r>
            <a:r>
              <a:rPr sz="1100" spc="-20" dirty="0">
                <a:latin typeface="Georgia"/>
                <a:cs typeface="Georgia"/>
              </a:rPr>
              <a:t>using</a:t>
            </a:r>
            <a:r>
              <a:rPr sz="1100" spc="60" dirty="0">
                <a:latin typeface="Georgia"/>
                <a:cs typeface="Georgia"/>
              </a:rPr>
              <a:t> </a:t>
            </a:r>
            <a:r>
              <a:rPr sz="1100" spc="-20" dirty="0">
                <a:latin typeface="Georgia"/>
                <a:cs typeface="Georgia"/>
              </a:rPr>
              <a:t>logarithm</a:t>
            </a:r>
            <a:r>
              <a:rPr sz="1100" spc="55" dirty="0">
                <a:latin typeface="Georgia"/>
                <a:cs typeface="Georgia"/>
              </a:rPr>
              <a:t> </a:t>
            </a:r>
            <a:r>
              <a:rPr sz="1100" dirty="0">
                <a:latin typeface="Georgia"/>
                <a:cs typeface="Georgia"/>
              </a:rPr>
              <a:t>with</a:t>
            </a:r>
            <a:r>
              <a:rPr sz="1100" spc="55" dirty="0">
                <a:latin typeface="Georgia"/>
                <a:cs typeface="Georgia"/>
              </a:rPr>
              <a:t> </a:t>
            </a:r>
            <a:r>
              <a:rPr sz="1100" spc="-10" dirty="0">
                <a:latin typeface="Georgia"/>
                <a:cs typeface="Georgia"/>
              </a:rPr>
              <a:t>base</a:t>
            </a:r>
            <a:r>
              <a:rPr sz="1100" spc="55" dirty="0">
                <a:latin typeface="Georgia"/>
                <a:cs typeface="Georgia"/>
              </a:rPr>
              <a:t> </a:t>
            </a:r>
            <a:r>
              <a:rPr sz="1100" dirty="0">
                <a:latin typeface="Calibri"/>
                <a:cs typeface="Calibri"/>
              </a:rPr>
              <a:t>2</a:t>
            </a:r>
            <a:r>
              <a:rPr sz="1100" dirty="0">
                <a:latin typeface="Georgia"/>
                <a:cs typeface="Georgia"/>
              </a:rPr>
              <a:t>.</a:t>
            </a:r>
            <a:r>
              <a:rPr sz="1100" spc="160" dirty="0">
                <a:latin typeface="Georgia"/>
                <a:cs typeface="Georgia"/>
              </a:rPr>
              <a:t> </a:t>
            </a:r>
            <a:r>
              <a:rPr sz="1100" dirty="0">
                <a:latin typeface="Georgia"/>
                <a:cs typeface="Georgia"/>
              </a:rPr>
              <a:t>The</a:t>
            </a:r>
            <a:r>
              <a:rPr sz="1100" spc="60" dirty="0">
                <a:latin typeface="Georgia"/>
                <a:cs typeface="Georgia"/>
              </a:rPr>
              <a:t> </a:t>
            </a:r>
            <a:r>
              <a:rPr sz="1100" spc="-25" dirty="0">
                <a:latin typeface="Georgia"/>
                <a:cs typeface="Georgia"/>
              </a:rPr>
              <a:t>mean</a:t>
            </a:r>
            <a:r>
              <a:rPr sz="1100" spc="55" dirty="0">
                <a:latin typeface="Georgia"/>
                <a:cs typeface="Georgia"/>
              </a:rPr>
              <a:t> </a:t>
            </a:r>
            <a:r>
              <a:rPr sz="1100" spc="-35" dirty="0">
                <a:latin typeface="Georgia"/>
                <a:cs typeface="Georgia"/>
              </a:rPr>
              <a:t>divergence</a:t>
            </a:r>
            <a:r>
              <a:rPr sz="1100" spc="55" dirty="0">
                <a:latin typeface="Georgia"/>
                <a:cs typeface="Georgia"/>
              </a:rPr>
              <a:t> </a:t>
            </a:r>
            <a:r>
              <a:rPr sz="1100" spc="-25" dirty="0">
                <a:latin typeface="Georgia"/>
                <a:cs typeface="Georgia"/>
              </a:rPr>
              <a:t>is</a:t>
            </a:r>
            <a:endParaRPr sz="1100">
              <a:latin typeface="Georgia"/>
              <a:cs typeface="Georgia"/>
            </a:endParaRPr>
          </a:p>
          <a:p>
            <a:pPr marL="38100">
              <a:lnSpc>
                <a:spcPts val="1235"/>
              </a:lnSpc>
            </a:pPr>
            <a:r>
              <a:rPr sz="1100" i="1" spc="70" dirty="0">
                <a:latin typeface="Calibri"/>
                <a:cs typeface="Calibri"/>
              </a:rPr>
              <a:t>µ</a:t>
            </a:r>
            <a:r>
              <a:rPr sz="1200" spc="104" baseline="-10416" dirty="0">
                <a:latin typeface="Georgia"/>
                <a:cs typeface="Georgia"/>
              </a:rPr>
              <a:t>KL</a:t>
            </a:r>
            <a:r>
              <a:rPr sz="1200" spc="179" baseline="-10416" dirty="0">
                <a:latin typeface="Georgia"/>
                <a:cs typeface="Georgia"/>
              </a:rPr>
              <a:t> </a:t>
            </a:r>
            <a:r>
              <a:rPr sz="1100" spc="295" dirty="0">
                <a:latin typeface="Calibri"/>
                <a:cs typeface="Calibri"/>
              </a:rPr>
              <a:t>=</a:t>
            </a:r>
            <a:r>
              <a:rPr sz="1100" spc="30" dirty="0">
                <a:latin typeface="Calibri"/>
                <a:cs typeface="Calibri"/>
              </a:rPr>
              <a:t> </a:t>
            </a:r>
            <a:r>
              <a:rPr sz="1100" dirty="0">
                <a:latin typeface="Calibri"/>
                <a:cs typeface="Calibri"/>
              </a:rPr>
              <a:t>0</a:t>
            </a:r>
            <a:r>
              <a:rPr sz="1100" i="1" dirty="0">
                <a:latin typeface="Calibri"/>
                <a:cs typeface="Calibri"/>
              </a:rPr>
              <a:t>.</a:t>
            </a:r>
            <a:r>
              <a:rPr sz="1100" dirty="0">
                <a:latin typeface="Calibri"/>
                <a:cs typeface="Calibri"/>
              </a:rPr>
              <a:t>18</a:t>
            </a:r>
            <a:r>
              <a:rPr sz="1100" dirty="0">
                <a:latin typeface="Georgia"/>
                <a:cs typeface="Georgia"/>
              </a:rPr>
              <a:t>,</a:t>
            </a:r>
            <a:r>
              <a:rPr sz="1100" spc="70" dirty="0">
                <a:latin typeface="Georgia"/>
                <a:cs typeface="Georgia"/>
              </a:rPr>
              <a:t> </a:t>
            </a:r>
            <a:r>
              <a:rPr sz="1100" dirty="0">
                <a:latin typeface="Georgia"/>
                <a:cs typeface="Georgia"/>
              </a:rPr>
              <a:t>with</a:t>
            </a:r>
            <a:r>
              <a:rPr sz="1100" spc="65" dirty="0">
                <a:latin typeface="Georgia"/>
                <a:cs typeface="Georgia"/>
              </a:rPr>
              <a:t> </a:t>
            </a:r>
            <a:r>
              <a:rPr sz="1100" spc="-10" dirty="0">
                <a:latin typeface="Georgia"/>
                <a:cs typeface="Georgia"/>
              </a:rPr>
              <a:t>standard</a:t>
            </a:r>
            <a:r>
              <a:rPr sz="1100" spc="65" dirty="0">
                <a:latin typeface="Georgia"/>
                <a:cs typeface="Georgia"/>
              </a:rPr>
              <a:t> </a:t>
            </a:r>
            <a:r>
              <a:rPr sz="1100" spc="-10" dirty="0">
                <a:latin typeface="Georgia"/>
                <a:cs typeface="Georgia"/>
              </a:rPr>
              <a:t>deviation</a:t>
            </a:r>
            <a:r>
              <a:rPr sz="1100" spc="70" dirty="0">
                <a:latin typeface="Georgia"/>
                <a:cs typeface="Georgia"/>
              </a:rPr>
              <a:t> </a:t>
            </a:r>
            <a:r>
              <a:rPr sz="1100" i="1" dirty="0">
                <a:latin typeface="Arial"/>
                <a:cs typeface="Arial"/>
              </a:rPr>
              <a:t>σ</a:t>
            </a:r>
            <a:r>
              <a:rPr sz="1200" baseline="-10416" dirty="0">
                <a:latin typeface="Georgia"/>
                <a:cs typeface="Georgia"/>
              </a:rPr>
              <a:t>KL</a:t>
            </a:r>
            <a:r>
              <a:rPr sz="1200" spc="179" baseline="-10416" dirty="0">
                <a:latin typeface="Georgia"/>
                <a:cs typeface="Georgia"/>
              </a:rPr>
              <a:t> </a:t>
            </a:r>
            <a:r>
              <a:rPr sz="1100" spc="295" dirty="0">
                <a:latin typeface="Calibri"/>
                <a:cs typeface="Calibri"/>
              </a:rPr>
              <a:t>=</a:t>
            </a:r>
            <a:r>
              <a:rPr sz="1100" spc="30" dirty="0">
                <a:latin typeface="Calibri"/>
                <a:cs typeface="Calibri"/>
              </a:rPr>
              <a:t> </a:t>
            </a:r>
            <a:r>
              <a:rPr sz="1100" spc="-10" dirty="0">
                <a:latin typeface="Calibri"/>
                <a:cs typeface="Calibri"/>
              </a:rPr>
              <a:t>0</a:t>
            </a:r>
            <a:r>
              <a:rPr sz="1100" i="1" spc="-10" dirty="0">
                <a:latin typeface="Calibri"/>
                <a:cs typeface="Calibri"/>
              </a:rPr>
              <a:t>.</a:t>
            </a:r>
            <a:r>
              <a:rPr sz="1100" spc="-10" dirty="0">
                <a:latin typeface="Calibri"/>
                <a:cs typeface="Calibri"/>
              </a:rPr>
              <a:t>017</a:t>
            </a:r>
            <a:r>
              <a:rPr sz="1100" spc="-10" dirty="0">
                <a:latin typeface="Georgia"/>
                <a:cs typeface="Georgia"/>
              </a:rPr>
              <a:t>.</a:t>
            </a:r>
            <a:endParaRPr sz="1100">
              <a:latin typeface="Georgia"/>
              <a:cs typeface="Georgia"/>
            </a:endParaRPr>
          </a:p>
          <a:p>
            <a:pPr marL="38100" marR="30480">
              <a:lnSpc>
                <a:spcPts val="1150"/>
              </a:lnSpc>
              <a:spcBef>
                <a:spcPts val="735"/>
              </a:spcBef>
            </a:pPr>
            <a:r>
              <a:rPr sz="1100" dirty="0">
                <a:latin typeface="Georgia"/>
                <a:cs typeface="Georgia"/>
              </a:rPr>
              <a:t>Even</a:t>
            </a:r>
            <a:r>
              <a:rPr sz="1100" spc="35" dirty="0">
                <a:latin typeface="Georgia"/>
                <a:cs typeface="Georgia"/>
              </a:rPr>
              <a:t> </a:t>
            </a:r>
            <a:r>
              <a:rPr sz="1100" spc="-10" dirty="0">
                <a:latin typeface="Georgia"/>
                <a:cs typeface="Georgia"/>
              </a:rPr>
              <a:t>though</a:t>
            </a:r>
            <a:r>
              <a:rPr sz="1100" spc="35"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Iris</a:t>
            </a:r>
            <a:r>
              <a:rPr sz="1100" spc="35" dirty="0">
                <a:latin typeface="Georgia"/>
                <a:cs typeface="Georgia"/>
              </a:rPr>
              <a:t> </a:t>
            </a:r>
            <a:r>
              <a:rPr sz="1100" dirty="0">
                <a:latin typeface="Georgia"/>
                <a:cs typeface="Georgia"/>
              </a:rPr>
              <a:t>dataset</a:t>
            </a:r>
            <a:r>
              <a:rPr sz="1100" spc="35" dirty="0">
                <a:latin typeface="Georgia"/>
                <a:cs typeface="Georgia"/>
              </a:rPr>
              <a:t> </a:t>
            </a:r>
            <a:r>
              <a:rPr sz="1100" dirty="0">
                <a:latin typeface="Georgia"/>
                <a:cs typeface="Georgia"/>
              </a:rPr>
              <a:t>has</a:t>
            </a:r>
            <a:r>
              <a:rPr sz="1100" spc="35" dirty="0">
                <a:latin typeface="Georgia"/>
                <a:cs typeface="Georgia"/>
              </a:rPr>
              <a:t> </a:t>
            </a:r>
            <a:r>
              <a:rPr sz="1100" dirty="0">
                <a:latin typeface="Georgia"/>
                <a:cs typeface="Georgia"/>
              </a:rPr>
              <a:t>a</a:t>
            </a:r>
            <a:r>
              <a:rPr sz="1100" spc="35" dirty="0">
                <a:latin typeface="Georgia"/>
                <a:cs typeface="Georgia"/>
              </a:rPr>
              <a:t> </a:t>
            </a:r>
            <a:r>
              <a:rPr sz="1100" dirty="0">
                <a:latin typeface="Georgia"/>
                <a:cs typeface="Georgia"/>
              </a:rPr>
              <a:t>good</a:t>
            </a:r>
            <a:r>
              <a:rPr sz="1100" spc="35" dirty="0">
                <a:latin typeface="Georgia"/>
                <a:cs typeface="Georgia"/>
              </a:rPr>
              <a:t> </a:t>
            </a:r>
            <a:r>
              <a:rPr sz="1100" spc="-20" dirty="0">
                <a:latin typeface="Georgia"/>
                <a:cs typeface="Georgia"/>
              </a:rPr>
              <a:t>clustering</a:t>
            </a:r>
            <a:r>
              <a:rPr sz="1100" spc="35" dirty="0">
                <a:latin typeface="Georgia"/>
                <a:cs typeface="Georgia"/>
              </a:rPr>
              <a:t> </a:t>
            </a:r>
            <a:r>
              <a:rPr sz="1100" spc="-25" dirty="0">
                <a:latin typeface="Georgia"/>
                <a:cs typeface="Georgia"/>
              </a:rPr>
              <a:t>tendency,</a:t>
            </a:r>
            <a:r>
              <a:rPr sz="1100" spc="35"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KL</a:t>
            </a:r>
            <a:r>
              <a:rPr sz="1100" spc="35" dirty="0">
                <a:latin typeface="Georgia"/>
                <a:cs typeface="Georgia"/>
              </a:rPr>
              <a:t> </a:t>
            </a:r>
            <a:r>
              <a:rPr sz="1100" spc="-35" dirty="0">
                <a:latin typeface="Georgia"/>
                <a:cs typeface="Georgia"/>
              </a:rPr>
              <a:t>divergence</a:t>
            </a:r>
            <a:r>
              <a:rPr sz="1100" spc="35" dirty="0">
                <a:latin typeface="Georgia"/>
                <a:cs typeface="Georgia"/>
              </a:rPr>
              <a:t> </a:t>
            </a:r>
            <a:r>
              <a:rPr sz="1100" spc="-25" dirty="0">
                <a:latin typeface="Georgia"/>
                <a:cs typeface="Georgia"/>
              </a:rPr>
              <a:t>is </a:t>
            </a:r>
            <a:r>
              <a:rPr sz="1100" dirty="0">
                <a:latin typeface="Georgia"/>
                <a:cs typeface="Georgia"/>
              </a:rPr>
              <a:t>not</a:t>
            </a:r>
            <a:r>
              <a:rPr sz="1100" spc="25" dirty="0">
                <a:latin typeface="Georgia"/>
                <a:cs typeface="Georgia"/>
              </a:rPr>
              <a:t> </a:t>
            </a:r>
            <a:r>
              <a:rPr sz="1100" dirty="0">
                <a:latin typeface="Georgia"/>
                <a:cs typeface="Georgia"/>
              </a:rPr>
              <a:t>very</a:t>
            </a:r>
            <a:r>
              <a:rPr sz="1100" spc="30" dirty="0">
                <a:latin typeface="Georgia"/>
                <a:cs typeface="Georgia"/>
              </a:rPr>
              <a:t> </a:t>
            </a:r>
            <a:r>
              <a:rPr sz="1100" dirty="0">
                <a:latin typeface="Georgia"/>
                <a:cs typeface="Georgia"/>
              </a:rPr>
              <a:t>large.</a:t>
            </a:r>
            <a:r>
              <a:rPr sz="1100" spc="125" dirty="0">
                <a:latin typeface="Georgia"/>
                <a:cs typeface="Georgia"/>
              </a:rPr>
              <a:t> </a:t>
            </a:r>
            <a:r>
              <a:rPr sz="1100" dirty="0">
                <a:latin typeface="Georgia"/>
                <a:cs typeface="Georgia"/>
              </a:rPr>
              <a:t>We</a:t>
            </a:r>
            <a:r>
              <a:rPr sz="1100" spc="25" dirty="0">
                <a:latin typeface="Georgia"/>
                <a:cs typeface="Georgia"/>
              </a:rPr>
              <a:t> </a:t>
            </a:r>
            <a:r>
              <a:rPr sz="1100" spc="-30" dirty="0">
                <a:latin typeface="Georgia"/>
                <a:cs typeface="Georgia"/>
              </a:rPr>
              <a:t>conclude</a:t>
            </a:r>
            <a:r>
              <a:rPr sz="1100" spc="30" dirty="0">
                <a:latin typeface="Georgia"/>
                <a:cs typeface="Georgia"/>
              </a:rPr>
              <a:t> </a:t>
            </a:r>
            <a:r>
              <a:rPr sz="1100" dirty="0">
                <a:latin typeface="Georgia"/>
                <a:cs typeface="Georgia"/>
              </a:rPr>
              <a:t>that,</a:t>
            </a:r>
            <a:r>
              <a:rPr sz="1100" spc="30" dirty="0">
                <a:latin typeface="Georgia"/>
                <a:cs typeface="Georgia"/>
              </a:rPr>
              <a:t> </a:t>
            </a:r>
            <a:r>
              <a:rPr sz="1100" dirty="0">
                <a:latin typeface="Georgia"/>
                <a:cs typeface="Georgia"/>
              </a:rPr>
              <a:t>at</a:t>
            </a:r>
            <a:r>
              <a:rPr sz="1100" spc="30" dirty="0">
                <a:latin typeface="Georgia"/>
                <a:cs typeface="Georgia"/>
              </a:rPr>
              <a:t> </a:t>
            </a:r>
            <a:r>
              <a:rPr sz="1100" dirty="0">
                <a:latin typeface="Georgia"/>
                <a:cs typeface="Georgia"/>
              </a:rPr>
              <a:t>least</a:t>
            </a:r>
            <a:r>
              <a:rPr sz="1100" spc="30" dirty="0">
                <a:latin typeface="Georgia"/>
                <a:cs typeface="Georgia"/>
              </a:rPr>
              <a:t> </a:t>
            </a:r>
            <a:r>
              <a:rPr sz="1100" dirty="0">
                <a:latin typeface="Georgia"/>
                <a:cs typeface="Georgia"/>
              </a:rPr>
              <a:t>for</a:t>
            </a:r>
            <a:r>
              <a:rPr sz="1100" spc="25"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Iris</a:t>
            </a:r>
            <a:r>
              <a:rPr sz="1100" spc="30" dirty="0">
                <a:latin typeface="Georgia"/>
                <a:cs typeface="Georgia"/>
              </a:rPr>
              <a:t> </a:t>
            </a:r>
            <a:r>
              <a:rPr sz="1100" dirty="0">
                <a:latin typeface="Georgia"/>
                <a:cs typeface="Georgia"/>
              </a:rPr>
              <a:t>dataset,</a:t>
            </a:r>
            <a:r>
              <a:rPr sz="1100" spc="30"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distance </a:t>
            </a:r>
            <a:r>
              <a:rPr sz="1100" spc="-20" dirty="0">
                <a:latin typeface="Georgia"/>
                <a:cs typeface="Georgia"/>
              </a:rPr>
              <a:t>distribution</a:t>
            </a:r>
            <a:r>
              <a:rPr sz="1100" spc="35" dirty="0">
                <a:latin typeface="Georgia"/>
                <a:cs typeface="Georgia"/>
              </a:rPr>
              <a:t> </a:t>
            </a:r>
            <a:r>
              <a:rPr sz="1100" dirty="0">
                <a:latin typeface="Georgia"/>
                <a:cs typeface="Georgia"/>
              </a:rPr>
              <a:t>is</a:t>
            </a:r>
            <a:r>
              <a:rPr sz="1100" spc="40" dirty="0">
                <a:latin typeface="Georgia"/>
                <a:cs typeface="Georgia"/>
              </a:rPr>
              <a:t> </a:t>
            </a:r>
            <a:r>
              <a:rPr sz="1100" dirty="0">
                <a:latin typeface="Georgia"/>
                <a:cs typeface="Georgia"/>
              </a:rPr>
              <a:t>not</a:t>
            </a:r>
            <a:r>
              <a:rPr sz="1100" spc="40" dirty="0">
                <a:latin typeface="Georgia"/>
                <a:cs typeface="Georgia"/>
              </a:rPr>
              <a:t> </a:t>
            </a:r>
            <a:r>
              <a:rPr sz="1100" dirty="0">
                <a:latin typeface="Georgia"/>
                <a:cs typeface="Georgia"/>
              </a:rPr>
              <a:t>as</a:t>
            </a:r>
            <a:r>
              <a:rPr sz="1100" spc="40" dirty="0">
                <a:latin typeface="Georgia"/>
                <a:cs typeface="Georgia"/>
              </a:rPr>
              <a:t> </a:t>
            </a:r>
            <a:r>
              <a:rPr sz="1100" spc="-30" dirty="0">
                <a:latin typeface="Georgia"/>
                <a:cs typeface="Georgia"/>
              </a:rPr>
              <a:t>discriminative</a:t>
            </a:r>
            <a:r>
              <a:rPr sz="1100" spc="40" dirty="0">
                <a:latin typeface="Georgia"/>
                <a:cs typeface="Georgia"/>
              </a:rPr>
              <a:t> </a:t>
            </a:r>
            <a:r>
              <a:rPr sz="1100" dirty="0">
                <a:latin typeface="Georgia"/>
                <a:cs typeface="Georgia"/>
              </a:rPr>
              <a:t>as</a:t>
            </a:r>
            <a:r>
              <a:rPr sz="1100" spc="40" dirty="0">
                <a:latin typeface="Georgia"/>
                <a:cs typeface="Georgia"/>
              </a:rPr>
              <a:t> </a:t>
            </a:r>
            <a:r>
              <a:rPr sz="1100" dirty="0">
                <a:latin typeface="Georgia"/>
                <a:cs typeface="Georgia"/>
              </a:rPr>
              <a:t>the</a:t>
            </a:r>
            <a:r>
              <a:rPr sz="1100" spc="40" dirty="0">
                <a:latin typeface="Georgia"/>
                <a:cs typeface="Georgia"/>
              </a:rPr>
              <a:t> </a:t>
            </a:r>
            <a:r>
              <a:rPr sz="1100" dirty="0">
                <a:latin typeface="Georgia"/>
                <a:cs typeface="Georgia"/>
              </a:rPr>
              <a:t>spatial</a:t>
            </a:r>
            <a:r>
              <a:rPr sz="1100" spc="40" dirty="0">
                <a:latin typeface="Georgia"/>
                <a:cs typeface="Georgia"/>
              </a:rPr>
              <a:t> </a:t>
            </a:r>
            <a:r>
              <a:rPr sz="1100" spc="-25" dirty="0">
                <a:latin typeface="Georgia"/>
                <a:cs typeface="Georgia"/>
              </a:rPr>
              <a:t>histogram</a:t>
            </a:r>
            <a:r>
              <a:rPr sz="1100" spc="40" dirty="0">
                <a:latin typeface="Georgia"/>
                <a:cs typeface="Georgia"/>
              </a:rPr>
              <a:t> </a:t>
            </a:r>
            <a:r>
              <a:rPr sz="1100" spc="-20" dirty="0">
                <a:latin typeface="Georgia"/>
                <a:cs typeface="Georgia"/>
              </a:rPr>
              <a:t>approach</a:t>
            </a:r>
            <a:r>
              <a:rPr sz="1100" spc="40" dirty="0">
                <a:latin typeface="Georgia"/>
                <a:cs typeface="Georgia"/>
              </a:rPr>
              <a:t> </a:t>
            </a:r>
            <a:r>
              <a:rPr sz="1100" spc="-25" dirty="0">
                <a:latin typeface="Georgia"/>
                <a:cs typeface="Georgia"/>
              </a:rPr>
              <a:t>for </a:t>
            </a:r>
            <a:r>
              <a:rPr sz="1100" spc="-10" dirty="0">
                <a:latin typeface="Georgia"/>
                <a:cs typeface="Georgia"/>
              </a:rPr>
              <a:t>clusterability</a:t>
            </a:r>
            <a:r>
              <a:rPr sz="1100" spc="15" dirty="0">
                <a:latin typeface="Georgia"/>
                <a:cs typeface="Georgia"/>
              </a:rPr>
              <a:t> </a:t>
            </a:r>
            <a:r>
              <a:rPr sz="1100" spc="-10" dirty="0">
                <a:latin typeface="Georgia"/>
                <a:cs typeface="Georgia"/>
              </a:rPr>
              <a:t>analysis.</a:t>
            </a:r>
            <a:endParaRPr sz="1100">
              <a:latin typeface="Georgia"/>
              <a:cs typeface="Georgia"/>
            </a:endParaRPr>
          </a:p>
        </p:txBody>
      </p:sp>
      <p:sp>
        <p:nvSpPr>
          <p:cNvPr id="7" name="object 7"/>
          <p:cNvSpPr/>
          <p:nvPr/>
        </p:nvSpPr>
        <p:spPr>
          <a:xfrm>
            <a:off x="337972" y="207581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246029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5" action="ppaction://hlinksldjump"/>
              </a:rPr>
              <a:t>data</a:t>
            </a:r>
            <a:r>
              <a:rPr sz="600" spc="110" dirty="0">
                <a:solidFill>
                  <a:srgbClr val="7A0000"/>
                </a:solidFill>
                <a:latin typeface="Georgia"/>
                <a:cs typeface="Georgia"/>
                <a:hlinkClick r:id="rId5" action="ppaction://hlinksldjump"/>
              </a:rPr>
              <a:t> </a:t>
            </a:r>
            <a:r>
              <a:rPr sz="600" spc="-10" dirty="0">
                <a:solidFill>
                  <a:srgbClr val="7A0000"/>
                </a:solidFill>
                <a:latin typeface="Georgia"/>
                <a:cs typeface="Georgia"/>
                <a:hlinkClick r:id="rId5"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32</a:t>
            </a:fld>
            <a:r>
              <a:rPr spc="-25" dirty="0"/>
              <a:t> </a:t>
            </a:r>
            <a:r>
              <a:rPr spc="75" dirty="0"/>
              <a:t>/</a:t>
            </a:r>
            <a:r>
              <a:rPr spc="-25" dirty="0"/>
              <a:t> </a:t>
            </a:r>
            <a:r>
              <a:rPr spc="35" dirty="0"/>
              <a:t>135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265" dirty="0"/>
              <a:t> </a:t>
            </a:r>
            <a:r>
              <a:rPr dirty="0"/>
              <a:t>cluster</a:t>
            </a:r>
            <a:r>
              <a:rPr spc="270" dirty="0"/>
              <a:t> </a:t>
            </a:r>
            <a:r>
              <a:rPr dirty="0"/>
              <a:t>tendency</a:t>
            </a:r>
            <a:r>
              <a:rPr spc="275" dirty="0"/>
              <a:t> </a:t>
            </a:r>
            <a:r>
              <a:rPr dirty="0"/>
              <a:t>with</a:t>
            </a:r>
            <a:r>
              <a:rPr spc="265" dirty="0"/>
              <a:t> </a:t>
            </a:r>
            <a:r>
              <a:rPr dirty="0"/>
              <a:t>Hopkins</a:t>
            </a:r>
            <a:r>
              <a:rPr spc="275" dirty="0"/>
              <a:t> </a:t>
            </a:r>
            <a:r>
              <a:rPr spc="-10" dirty="0"/>
              <a:t>statistic</a:t>
            </a:r>
          </a:p>
        </p:txBody>
      </p:sp>
      <p:sp>
        <p:nvSpPr>
          <p:cNvPr id="3" name="object 3"/>
          <p:cNvSpPr/>
          <p:nvPr/>
        </p:nvSpPr>
        <p:spPr>
          <a:xfrm>
            <a:off x="337972" y="741311"/>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16077" y="556143"/>
            <a:ext cx="4970780" cy="545465"/>
          </a:xfrm>
          <a:prstGeom prst="rect">
            <a:avLst/>
          </a:prstGeom>
        </p:spPr>
        <p:txBody>
          <a:bodyPr vert="horz" wrap="square" lIns="0" tIns="104775" rIns="0" bIns="0" rtlCol="0">
            <a:spAutoFit/>
          </a:bodyPr>
          <a:lstStyle/>
          <a:p>
            <a:pPr marL="50800">
              <a:lnSpc>
                <a:spcPct val="100000"/>
              </a:lnSpc>
              <a:spcBef>
                <a:spcPts val="825"/>
              </a:spcBef>
            </a:pPr>
            <a:r>
              <a:rPr sz="1100" dirty="0">
                <a:latin typeface="Georgia"/>
                <a:cs typeface="Georgia"/>
              </a:rPr>
              <a:t>Let</a:t>
            </a:r>
            <a:r>
              <a:rPr sz="1100" spc="40" dirty="0">
                <a:latin typeface="Georgia"/>
                <a:cs typeface="Georgia"/>
              </a:rPr>
              <a:t> </a:t>
            </a:r>
            <a:r>
              <a:rPr sz="1100" spc="114" dirty="0">
                <a:latin typeface="Cambria"/>
                <a:cs typeface="Cambria"/>
              </a:rPr>
              <a:t>D</a:t>
            </a:r>
            <a:r>
              <a:rPr sz="1100" spc="75" dirty="0">
                <a:latin typeface="Cambria"/>
                <a:cs typeface="Cambria"/>
              </a:rPr>
              <a:t> </a:t>
            </a:r>
            <a:r>
              <a:rPr sz="1100" spc="295" dirty="0">
                <a:latin typeface="Calibri"/>
                <a:cs typeface="Calibri"/>
              </a:rPr>
              <a:t>=</a:t>
            </a:r>
            <a:r>
              <a:rPr sz="1100" spc="35" dirty="0">
                <a:latin typeface="Calibri"/>
                <a:cs typeface="Calibri"/>
              </a:rPr>
              <a:t> </a:t>
            </a:r>
            <a:r>
              <a:rPr sz="1100" spc="80" dirty="0">
                <a:latin typeface="Cambria"/>
                <a:cs typeface="Cambria"/>
              </a:rPr>
              <a:t>{x</a:t>
            </a:r>
            <a:r>
              <a:rPr sz="1200" spc="120" baseline="-10416" dirty="0">
                <a:latin typeface="Calibri"/>
                <a:cs typeface="Calibri"/>
              </a:rPr>
              <a:t>1</a:t>
            </a:r>
            <a:r>
              <a:rPr sz="1100" i="1" spc="80" dirty="0">
                <a:latin typeface="Calibri"/>
                <a:cs typeface="Calibri"/>
              </a:rPr>
              <a:t>,</a:t>
            </a:r>
            <a:r>
              <a:rPr sz="1100" i="1" spc="-70" dirty="0">
                <a:latin typeface="Calibri"/>
                <a:cs typeface="Calibri"/>
              </a:rPr>
              <a:t> </a:t>
            </a:r>
            <a:r>
              <a:rPr sz="1100" spc="100" dirty="0">
                <a:latin typeface="Cambria"/>
                <a:cs typeface="Cambria"/>
              </a:rPr>
              <a:t>x</a:t>
            </a:r>
            <a:r>
              <a:rPr sz="1200" spc="150" baseline="-10416" dirty="0">
                <a:latin typeface="Calibri"/>
                <a:cs typeface="Calibri"/>
              </a:rPr>
              <a:t>2</a:t>
            </a:r>
            <a:r>
              <a:rPr sz="1100" i="1" spc="10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25" dirty="0">
                <a:latin typeface="Cambria"/>
                <a:cs typeface="Cambria"/>
              </a:rPr>
              <a:t>x</a:t>
            </a:r>
            <a:r>
              <a:rPr sz="1200" i="1" spc="187" baseline="-10416" dirty="0">
                <a:latin typeface="Calibri"/>
                <a:cs typeface="Calibri"/>
              </a:rPr>
              <a:t>n</a:t>
            </a:r>
            <a:r>
              <a:rPr sz="1100" spc="125" dirty="0">
                <a:latin typeface="Cambria"/>
                <a:cs typeface="Cambria"/>
              </a:rPr>
              <a:t>}</a:t>
            </a:r>
            <a:r>
              <a:rPr sz="1100" spc="95" dirty="0">
                <a:latin typeface="Cambria"/>
                <a:cs typeface="Cambria"/>
              </a:rPr>
              <a:t> </a:t>
            </a:r>
            <a:r>
              <a:rPr sz="1100" dirty="0">
                <a:latin typeface="Georgia"/>
                <a:cs typeface="Georgia"/>
              </a:rPr>
              <a:t>be</a:t>
            </a:r>
            <a:r>
              <a:rPr sz="1100" spc="75" dirty="0">
                <a:latin typeface="Georgia"/>
                <a:cs typeface="Georgia"/>
              </a:rPr>
              <a:t> </a:t>
            </a:r>
            <a:r>
              <a:rPr sz="1100" dirty="0">
                <a:latin typeface="Georgia"/>
                <a:cs typeface="Georgia"/>
              </a:rPr>
              <a:t>a</a:t>
            </a:r>
            <a:r>
              <a:rPr sz="1100" spc="75" dirty="0">
                <a:latin typeface="Georgia"/>
                <a:cs typeface="Georgia"/>
              </a:rPr>
              <a:t> </a:t>
            </a:r>
            <a:r>
              <a:rPr sz="1100" dirty="0">
                <a:latin typeface="Georgia"/>
                <a:cs typeface="Georgia"/>
              </a:rPr>
              <a:t>set</a:t>
            </a:r>
            <a:r>
              <a:rPr sz="1100" spc="75" dirty="0">
                <a:latin typeface="Georgia"/>
                <a:cs typeface="Georgia"/>
              </a:rPr>
              <a:t> </a:t>
            </a:r>
            <a:r>
              <a:rPr sz="1100" dirty="0">
                <a:latin typeface="Georgia"/>
                <a:cs typeface="Georgia"/>
              </a:rPr>
              <a:t>of</a:t>
            </a:r>
            <a:r>
              <a:rPr sz="1100" spc="75" dirty="0">
                <a:latin typeface="Georgia"/>
                <a:cs typeface="Georgia"/>
              </a:rPr>
              <a:t> </a:t>
            </a:r>
            <a:r>
              <a:rPr sz="1100" i="1" spc="90" dirty="0">
                <a:latin typeface="Calibri"/>
                <a:cs typeface="Calibri"/>
              </a:rPr>
              <a:t>n </a:t>
            </a:r>
            <a:r>
              <a:rPr sz="1100" dirty="0">
                <a:latin typeface="Georgia"/>
                <a:cs typeface="Georgia"/>
              </a:rPr>
              <a:t>data</a:t>
            </a:r>
            <a:r>
              <a:rPr sz="1100" spc="75" dirty="0">
                <a:latin typeface="Georgia"/>
                <a:cs typeface="Georgia"/>
              </a:rPr>
              <a:t> </a:t>
            </a:r>
            <a:r>
              <a:rPr sz="1100" spc="-25" dirty="0">
                <a:latin typeface="Georgia"/>
                <a:cs typeface="Georgia"/>
              </a:rPr>
              <a:t>instances</a:t>
            </a:r>
            <a:r>
              <a:rPr sz="1100" spc="75" dirty="0">
                <a:latin typeface="Georgia"/>
                <a:cs typeface="Georgia"/>
              </a:rPr>
              <a:t> </a:t>
            </a:r>
            <a:r>
              <a:rPr sz="1100" dirty="0">
                <a:latin typeface="Georgia"/>
                <a:cs typeface="Georgia"/>
              </a:rPr>
              <a:t>in</a:t>
            </a:r>
            <a:r>
              <a:rPr sz="1100" spc="75" dirty="0">
                <a:latin typeface="Georgia"/>
                <a:cs typeface="Georgia"/>
              </a:rPr>
              <a:t> </a:t>
            </a:r>
            <a:r>
              <a:rPr sz="1100" spc="-25" dirty="0">
                <a:latin typeface="Arial MT"/>
                <a:cs typeface="Arial MT"/>
              </a:rPr>
              <a:t>R</a:t>
            </a:r>
            <a:r>
              <a:rPr sz="1200" i="1" spc="-37" baseline="27777" dirty="0">
                <a:latin typeface="Calibri"/>
                <a:cs typeface="Calibri"/>
              </a:rPr>
              <a:t>m</a:t>
            </a:r>
            <a:r>
              <a:rPr sz="1100" spc="-25" dirty="0">
                <a:latin typeface="Georgia"/>
                <a:cs typeface="Georgia"/>
              </a:rPr>
              <a:t>.</a:t>
            </a:r>
            <a:endParaRPr sz="1100">
              <a:latin typeface="Georgia"/>
              <a:cs typeface="Georgia"/>
            </a:endParaRPr>
          </a:p>
          <a:p>
            <a:pPr marL="50800">
              <a:lnSpc>
                <a:spcPct val="100000"/>
              </a:lnSpc>
              <a:spcBef>
                <a:spcPts val="725"/>
              </a:spcBef>
            </a:pPr>
            <a:r>
              <a:rPr sz="1100" spc="-10" dirty="0">
                <a:latin typeface="Georgia"/>
                <a:cs typeface="Georgia"/>
              </a:rPr>
              <a:t>Randomly</a:t>
            </a:r>
            <a:r>
              <a:rPr sz="1100" spc="15" dirty="0">
                <a:latin typeface="Georgia"/>
                <a:cs typeface="Georgia"/>
              </a:rPr>
              <a:t> </a:t>
            </a:r>
            <a:r>
              <a:rPr sz="1100" spc="-30" dirty="0">
                <a:latin typeface="Georgia"/>
                <a:cs typeface="Georgia"/>
              </a:rPr>
              <a:t>choose</a:t>
            </a:r>
            <a:r>
              <a:rPr sz="1100" spc="60" dirty="0">
                <a:latin typeface="Georgia"/>
                <a:cs typeface="Georgia"/>
              </a:rPr>
              <a:t> </a:t>
            </a:r>
            <a:r>
              <a:rPr sz="1100" i="1" spc="60" dirty="0">
                <a:latin typeface="Calibri"/>
                <a:cs typeface="Calibri"/>
              </a:rPr>
              <a:t>h</a:t>
            </a:r>
            <a:r>
              <a:rPr sz="1100" i="1" spc="80" dirty="0">
                <a:latin typeface="Calibri"/>
                <a:cs typeface="Calibri"/>
              </a:rPr>
              <a:t> </a:t>
            </a:r>
            <a:r>
              <a:rPr sz="1100" spc="150" dirty="0">
                <a:latin typeface="Georgia"/>
                <a:cs typeface="Georgia"/>
              </a:rPr>
              <a:t>(</a:t>
            </a:r>
            <a:r>
              <a:rPr sz="1100" i="1" spc="150" dirty="0">
                <a:latin typeface="Calibri"/>
                <a:cs typeface="Calibri"/>
              </a:rPr>
              <a:t>&lt;</a:t>
            </a:r>
            <a:r>
              <a:rPr sz="1100" i="1" spc="25" dirty="0">
                <a:latin typeface="Calibri"/>
                <a:cs typeface="Calibri"/>
              </a:rPr>
              <a:t> </a:t>
            </a:r>
            <a:r>
              <a:rPr sz="1100" i="1" dirty="0">
                <a:latin typeface="Calibri"/>
                <a:cs typeface="Calibri"/>
              </a:rPr>
              <a:t>n</a:t>
            </a:r>
            <a:r>
              <a:rPr sz="1100" dirty="0">
                <a:latin typeface="Georgia"/>
                <a:cs typeface="Georgia"/>
              </a:rPr>
              <a:t>)</a:t>
            </a:r>
            <a:r>
              <a:rPr sz="1100" spc="65" dirty="0">
                <a:latin typeface="Georgia"/>
                <a:cs typeface="Georgia"/>
              </a:rPr>
              <a:t> </a:t>
            </a:r>
            <a:r>
              <a:rPr sz="1100" dirty="0">
                <a:latin typeface="Georgia"/>
                <a:cs typeface="Georgia"/>
              </a:rPr>
              <a:t>data</a:t>
            </a:r>
            <a:r>
              <a:rPr sz="1100" spc="65" dirty="0">
                <a:latin typeface="Georgia"/>
                <a:cs typeface="Georgia"/>
              </a:rPr>
              <a:t> </a:t>
            </a:r>
            <a:r>
              <a:rPr sz="1100" spc="-25" dirty="0">
                <a:latin typeface="Georgia"/>
                <a:cs typeface="Georgia"/>
              </a:rPr>
              <a:t>instances</a:t>
            </a:r>
            <a:r>
              <a:rPr sz="1100" spc="65" dirty="0">
                <a:latin typeface="Georgia"/>
                <a:cs typeface="Georgia"/>
              </a:rPr>
              <a:t> </a:t>
            </a:r>
            <a:r>
              <a:rPr sz="1100" spc="80" dirty="0">
                <a:latin typeface="Cambria"/>
                <a:cs typeface="Cambria"/>
              </a:rPr>
              <a:t>{x</a:t>
            </a:r>
            <a:r>
              <a:rPr sz="1200" spc="120" baseline="27777" dirty="0">
                <a:latin typeface="Calibri"/>
                <a:cs typeface="Calibri"/>
              </a:rPr>
              <a:t>1</a:t>
            </a:r>
            <a:r>
              <a:rPr sz="1100" i="1" spc="80" dirty="0">
                <a:latin typeface="Calibri"/>
                <a:cs typeface="Calibri"/>
              </a:rPr>
              <a:t>,</a:t>
            </a:r>
            <a:r>
              <a:rPr sz="1100" i="1" spc="-70" dirty="0">
                <a:latin typeface="Calibri"/>
                <a:cs typeface="Calibri"/>
              </a:rPr>
              <a:t> </a:t>
            </a:r>
            <a:r>
              <a:rPr sz="1100" spc="100" dirty="0">
                <a:latin typeface="Cambria"/>
                <a:cs typeface="Cambria"/>
              </a:rPr>
              <a:t>x</a:t>
            </a:r>
            <a:r>
              <a:rPr sz="1200" spc="150" baseline="27777" dirty="0">
                <a:latin typeface="Calibri"/>
                <a:cs typeface="Calibri"/>
              </a:rPr>
              <a:t>2</a:t>
            </a:r>
            <a:r>
              <a:rPr sz="1100" i="1" spc="10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20" dirty="0">
                <a:latin typeface="Cambria"/>
                <a:cs typeface="Cambria"/>
              </a:rPr>
              <a:t>x</a:t>
            </a:r>
            <a:r>
              <a:rPr sz="1200" i="1" spc="179" baseline="27777" dirty="0">
                <a:latin typeface="Calibri"/>
                <a:cs typeface="Calibri"/>
              </a:rPr>
              <a:t>h</a:t>
            </a:r>
            <a:r>
              <a:rPr sz="1100" spc="120" dirty="0">
                <a:latin typeface="Cambria"/>
                <a:cs typeface="Cambria"/>
              </a:rPr>
              <a:t>}</a:t>
            </a:r>
            <a:r>
              <a:rPr sz="1100" spc="85" dirty="0">
                <a:latin typeface="Cambria"/>
                <a:cs typeface="Cambria"/>
              </a:rPr>
              <a:t> </a:t>
            </a:r>
            <a:r>
              <a:rPr sz="1100" spc="-25" dirty="0">
                <a:latin typeface="Georgia"/>
                <a:cs typeface="Georgia"/>
              </a:rPr>
              <a:t>from</a:t>
            </a:r>
            <a:r>
              <a:rPr sz="1100" spc="65" dirty="0">
                <a:latin typeface="Georgia"/>
                <a:cs typeface="Georgia"/>
              </a:rPr>
              <a:t> </a:t>
            </a:r>
            <a:r>
              <a:rPr sz="1100" spc="70" dirty="0">
                <a:latin typeface="Cambria"/>
                <a:cs typeface="Cambria"/>
              </a:rPr>
              <a:t>D</a:t>
            </a:r>
            <a:r>
              <a:rPr sz="1100" spc="70" dirty="0">
                <a:latin typeface="Georgia"/>
                <a:cs typeface="Georgia"/>
              </a:rPr>
              <a:t>.</a:t>
            </a:r>
            <a:r>
              <a:rPr sz="1100" spc="170" dirty="0">
                <a:latin typeface="Georgia"/>
                <a:cs typeface="Georgia"/>
              </a:rPr>
              <a:t> </a:t>
            </a:r>
            <a:r>
              <a:rPr sz="1100" spc="-10" dirty="0">
                <a:latin typeface="Georgia"/>
                <a:cs typeface="Georgia"/>
              </a:rPr>
              <a:t>For</a:t>
            </a:r>
            <a:r>
              <a:rPr sz="1100" spc="60" dirty="0">
                <a:latin typeface="Georgia"/>
                <a:cs typeface="Georgia"/>
              </a:rPr>
              <a:t> </a:t>
            </a:r>
            <a:r>
              <a:rPr sz="1100" spc="-10" dirty="0">
                <a:latin typeface="Georgia"/>
                <a:cs typeface="Georgia"/>
              </a:rPr>
              <a:t>each</a:t>
            </a:r>
            <a:r>
              <a:rPr sz="1100" spc="65" dirty="0">
                <a:latin typeface="Georgia"/>
                <a:cs typeface="Georgia"/>
              </a:rPr>
              <a:t> </a:t>
            </a:r>
            <a:r>
              <a:rPr sz="1100" spc="-20" dirty="0">
                <a:latin typeface="Georgia"/>
                <a:cs typeface="Georgia"/>
              </a:rPr>
              <a:t>data</a:t>
            </a:r>
            <a:endParaRPr sz="1100">
              <a:latin typeface="Georgia"/>
              <a:cs typeface="Georgia"/>
            </a:endParaRPr>
          </a:p>
        </p:txBody>
      </p:sp>
      <p:sp>
        <p:nvSpPr>
          <p:cNvPr id="5" name="object 5"/>
          <p:cNvSpPr/>
          <p:nvPr/>
        </p:nvSpPr>
        <p:spPr>
          <a:xfrm>
            <a:off x="337972" y="100112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txBox="1"/>
          <p:nvPr/>
        </p:nvSpPr>
        <p:spPr>
          <a:xfrm>
            <a:off x="428777" y="1073999"/>
            <a:ext cx="3702050" cy="484505"/>
          </a:xfrm>
          <a:prstGeom prst="rect">
            <a:avLst/>
          </a:prstGeom>
        </p:spPr>
        <p:txBody>
          <a:bodyPr vert="horz" wrap="square" lIns="0" tIns="11430" rIns="0" bIns="0" rtlCol="0">
            <a:spAutoFit/>
          </a:bodyPr>
          <a:lstStyle/>
          <a:p>
            <a:pPr marL="38100">
              <a:lnSpc>
                <a:spcPct val="100000"/>
              </a:lnSpc>
              <a:spcBef>
                <a:spcPts val="90"/>
              </a:spcBef>
            </a:pPr>
            <a:r>
              <a:rPr sz="1100" spc="-20" dirty="0">
                <a:latin typeface="Georgia"/>
                <a:cs typeface="Georgia"/>
              </a:rPr>
              <a:t>instance</a:t>
            </a:r>
            <a:r>
              <a:rPr sz="1100" spc="40" dirty="0">
                <a:latin typeface="Georgia"/>
                <a:cs typeface="Georgia"/>
              </a:rPr>
              <a:t> </a:t>
            </a:r>
            <a:r>
              <a:rPr sz="1100" spc="85" dirty="0">
                <a:latin typeface="Cambria"/>
                <a:cs typeface="Cambria"/>
              </a:rPr>
              <a:t>x</a:t>
            </a:r>
            <a:r>
              <a:rPr sz="1200" i="1" spc="127" baseline="27777" dirty="0">
                <a:latin typeface="Calibri"/>
                <a:cs typeface="Calibri"/>
              </a:rPr>
              <a:t>i</a:t>
            </a:r>
            <a:r>
              <a:rPr sz="1100" spc="85" dirty="0">
                <a:latin typeface="Georgia"/>
                <a:cs typeface="Georgia"/>
              </a:rPr>
              <a:t>,</a:t>
            </a:r>
            <a:r>
              <a:rPr sz="1100" spc="45" dirty="0">
                <a:latin typeface="Georgia"/>
                <a:cs typeface="Georgia"/>
              </a:rPr>
              <a:t> </a:t>
            </a:r>
            <a:r>
              <a:rPr sz="1100" spc="-30" dirty="0">
                <a:latin typeface="Georgia"/>
                <a:cs typeface="Georgia"/>
              </a:rPr>
              <a:t>finding</a:t>
            </a:r>
            <a:r>
              <a:rPr sz="1100" spc="45" dirty="0">
                <a:latin typeface="Georgia"/>
                <a:cs typeface="Georgia"/>
              </a:rPr>
              <a:t> </a:t>
            </a:r>
            <a:r>
              <a:rPr sz="1100" dirty="0">
                <a:latin typeface="Georgia"/>
                <a:cs typeface="Georgia"/>
              </a:rPr>
              <a:t>the</a:t>
            </a:r>
            <a:r>
              <a:rPr sz="1100" spc="45" dirty="0">
                <a:latin typeface="Georgia"/>
                <a:cs typeface="Georgia"/>
              </a:rPr>
              <a:t> </a:t>
            </a:r>
            <a:r>
              <a:rPr sz="1100" spc="-20" dirty="0">
                <a:latin typeface="Georgia"/>
                <a:cs typeface="Georgia"/>
              </a:rPr>
              <a:t>distance</a:t>
            </a:r>
            <a:r>
              <a:rPr sz="1100" spc="45" dirty="0">
                <a:latin typeface="Georgia"/>
                <a:cs typeface="Georgia"/>
              </a:rPr>
              <a:t> </a:t>
            </a:r>
            <a:r>
              <a:rPr sz="1100" dirty="0">
                <a:latin typeface="Georgia"/>
                <a:cs typeface="Georgia"/>
              </a:rPr>
              <a:t>to</a:t>
            </a:r>
            <a:r>
              <a:rPr sz="1100" spc="45" dirty="0">
                <a:latin typeface="Georgia"/>
                <a:cs typeface="Georgia"/>
              </a:rPr>
              <a:t> </a:t>
            </a:r>
            <a:r>
              <a:rPr sz="1100" dirty="0">
                <a:latin typeface="Georgia"/>
                <a:cs typeface="Georgia"/>
              </a:rPr>
              <a:t>its</a:t>
            </a:r>
            <a:r>
              <a:rPr sz="1100" spc="45" dirty="0">
                <a:latin typeface="Georgia"/>
                <a:cs typeface="Georgia"/>
              </a:rPr>
              <a:t> </a:t>
            </a:r>
            <a:r>
              <a:rPr sz="1100" spc="-20" dirty="0">
                <a:latin typeface="Georgia"/>
                <a:cs typeface="Georgia"/>
              </a:rPr>
              <a:t>closest</a:t>
            </a:r>
            <a:r>
              <a:rPr sz="1100" spc="45" dirty="0">
                <a:latin typeface="Georgia"/>
                <a:cs typeface="Georgia"/>
              </a:rPr>
              <a:t> </a:t>
            </a:r>
            <a:r>
              <a:rPr sz="1100" spc="-20" dirty="0">
                <a:latin typeface="Georgia"/>
                <a:cs typeface="Georgia"/>
              </a:rPr>
              <a:t>instance</a:t>
            </a:r>
            <a:r>
              <a:rPr sz="1100" spc="45" dirty="0">
                <a:latin typeface="Georgia"/>
                <a:cs typeface="Georgia"/>
              </a:rPr>
              <a:t> </a:t>
            </a:r>
            <a:r>
              <a:rPr sz="1100" dirty="0">
                <a:latin typeface="Georgia"/>
                <a:cs typeface="Georgia"/>
              </a:rPr>
              <a:t>in</a:t>
            </a:r>
            <a:r>
              <a:rPr sz="1100" spc="45" dirty="0">
                <a:latin typeface="Georgia"/>
                <a:cs typeface="Georgia"/>
              </a:rPr>
              <a:t> </a:t>
            </a:r>
            <a:r>
              <a:rPr sz="1100" spc="45" dirty="0">
                <a:latin typeface="Cambria"/>
                <a:cs typeface="Cambria"/>
              </a:rPr>
              <a:t>D</a:t>
            </a:r>
            <a:r>
              <a:rPr sz="1100" spc="45" dirty="0">
                <a:latin typeface="Georgia"/>
                <a:cs typeface="Georgia"/>
              </a:rPr>
              <a:t>.</a:t>
            </a:r>
            <a:endParaRPr sz="1100">
              <a:latin typeface="Georgia"/>
              <a:cs typeface="Georgia"/>
            </a:endParaRPr>
          </a:p>
          <a:p>
            <a:pPr marL="1956435">
              <a:lnSpc>
                <a:spcPct val="100000"/>
              </a:lnSpc>
              <a:spcBef>
                <a:spcPts val="985"/>
              </a:spcBef>
            </a:pPr>
            <a:endParaRPr sz="1100">
              <a:latin typeface="Calibri"/>
              <a:cs typeface="Calibri"/>
            </a:endParaRPr>
          </a:p>
        </p:txBody>
      </p:sp>
      <p:sp>
        <p:nvSpPr>
          <p:cNvPr id="7" name="object 7"/>
          <p:cNvSpPr txBox="1"/>
          <p:nvPr/>
        </p:nvSpPr>
        <p:spPr>
          <a:xfrm>
            <a:off x="5381459" y="1366531"/>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(7)</a:t>
            </a:r>
            <a:endParaRPr sz="1100">
              <a:latin typeface="Georgia"/>
              <a:cs typeface="Georgia"/>
            </a:endParaRPr>
          </a:p>
        </p:txBody>
      </p:sp>
      <p:sp>
        <p:nvSpPr>
          <p:cNvPr id="8" name="object 8"/>
          <p:cNvSpPr/>
          <p:nvPr/>
        </p:nvSpPr>
        <p:spPr>
          <a:xfrm>
            <a:off x="337972" y="180018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txBox="1"/>
          <p:nvPr/>
        </p:nvSpPr>
        <p:spPr>
          <a:xfrm>
            <a:off x="403377" y="1708580"/>
            <a:ext cx="5170170" cy="630555"/>
          </a:xfrm>
          <a:prstGeom prst="rect">
            <a:avLst/>
          </a:prstGeom>
        </p:spPr>
        <p:txBody>
          <a:bodyPr vert="horz" wrap="square" lIns="0" tIns="34290" rIns="0" bIns="0" rtlCol="0">
            <a:spAutoFit/>
          </a:bodyPr>
          <a:lstStyle/>
          <a:p>
            <a:pPr marL="63500" marR="55880">
              <a:lnSpc>
                <a:spcPts val="1150"/>
              </a:lnSpc>
              <a:spcBef>
                <a:spcPts val="270"/>
              </a:spcBef>
            </a:pPr>
            <a:r>
              <a:rPr sz="1100" spc="-10" dirty="0">
                <a:latin typeface="Georgia"/>
                <a:cs typeface="Georgia"/>
              </a:rPr>
              <a:t>Randomly</a:t>
            </a:r>
            <a:r>
              <a:rPr sz="1100" spc="25" dirty="0">
                <a:latin typeface="Georgia"/>
                <a:cs typeface="Georgia"/>
              </a:rPr>
              <a:t> </a:t>
            </a:r>
            <a:r>
              <a:rPr sz="1100" spc="-25" dirty="0">
                <a:latin typeface="Georgia"/>
                <a:cs typeface="Georgia"/>
              </a:rPr>
              <a:t>generate</a:t>
            </a:r>
            <a:r>
              <a:rPr sz="1100" spc="70" dirty="0">
                <a:latin typeface="Georgia"/>
                <a:cs typeface="Georgia"/>
              </a:rPr>
              <a:t> </a:t>
            </a:r>
            <a:r>
              <a:rPr sz="1100" i="1" spc="60" dirty="0">
                <a:latin typeface="Calibri"/>
                <a:cs typeface="Calibri"/>
              </a:rPr>
              <a:t>h</a:t>
            </a:r>
            <a:r>
              <a:rPr sz="1100" i="1" spc="85" dirty="0">
                <a:latin typeface="Calibri"/>
                <a:cs typeface="Calibri"/>
              </a:rPr>
              <a:t> </a:t>
            </a:r>
            <a:r>
              <a:rPr sz="1100" spc="-30" dirty="0">
                <a:latin typeface="Georgia"/>
                <a:cs typeface="Georgia"/>
              </a:rPr>
              <a:t>pseudo</a:t>
            </a:r>
            <a:r>
              <a:rPr sz="1100" spc="65" dirty="0">
                <a:latin typeface="Georgia"/>
                <a:cs typeface="Georgia"/>
              </a:rPr>
              <a:t> </a:t>
            </a:r>
            <a:r>
              <a:rPr sz="1100" dirty="0">
                <a:latin typeface="Georgia"/>
                <a:cs typeface="Georgia"/>
              </a:rPr>
              <a:t>data</a:t>
            </a:r>
            <a:r>
              <a:rPr sz="1100" spc="70" dirty="0">
                <a:latin typeface="Georgia"/>
                <a:cs typeface="Georgia"/>
              </a:rPr>
              <a:t> </a:t>
            </a:r>
            <a:r>
              <a:rPr sz="1100" spc="-25" dirty="0">
                <a:latin typeface="Georgia"/>
                <a:cs typeface="Georgia"/>
              </a:rPr>
              <a:t>instances</a:t>
            </a:r>
            <a:r>
              <a:rPr sz="1100" spc="70" dirty="0">
                <a:latin typeface="Georgia"/>
                <a:cs typeface="Georgia"/>
              </a:rPr>
              <a:t> </a:t>
            </a:r>
            <a:r>
              <a:rPr sz="1100" spc="80" dirty="0">
                <a:latin typeface="Cambria"/>
                <a:cs typeface="Cambria"/>
              </a:rPr>
              <a:t>{y</a:t>
            </a:r>
            <a:r>
              <a:rPr sz="1200" spc="120" baseline="27777" dirty="0">
                <a:latin typeface="Calibri"/>
                <a:cs typeface="Calibri"/>
              </a:rPr>
              <a:t>1</a:t>
            </a:r>
            <a:r>
              <a:rPr sz="1100" i="1" spc="80" dirty="0">
                <a:latin typeface="Calibri"/>
                <a:cs typeface="Calibri"/>
              </a:rPr>
              <a:t>,</a:t>
            </a:r>
            <a:r>
              <a:rPr sz="1100" i="1" spc="-70" dirty="0">
                <a:latin typeface="Calibri"/>
                <a:cs typeface="Calibri"/>
              </a:rPr>
              <a:t> </a:t>
            </a:r>
            <a:r>
              <a:rPr sz="1100" spc="105" dirty="0">
                <a:latin typeface="Cambria"/>
                <a:cs typeface="Cambria"/>
              </a:rPr>
              <a:t>y</a:t>
            </a:r>
            <a:r>
              <a:rPr sz="1200" spc="157" baseline="27777" dirty="0">
                <a:latin typeface="Calibri"/>
                <a:cs typeface="Calibri"/>
              </a:rPr>
              <a:t>2</a:t>
            </a:r>
            <a:r>
              <a:rPr sz="1100" i="1" spc="10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20" dirty="0">
                <a:latin typeface="Cambria"/>
                <a:cs typeface="Cambria"/>
              </a:rPr>
              <a:t>y</a:t>
            </a:r>
            <a:r>
              <a:rPr sz="1200" i="1" spc="179" baseline="27777" dirty="0">
                <a:latin typeface="Calibri"/>
                <a:cs typeface="Calibri"/>
              </a:rPr>
              <a:t>h</a:t>
            </a:r>
            <a:r>
              <a:rPr sz="1100" spc="120" dirty="0">
                <a:latin typeface="Cambria"/>
                <a:cs typeface="Cambria"/>
              </a:rPr>
              <a:t>}</a:t>
            </a:r>
            <a:r>
              <a:rPr sz="1100" spc="85" dirty="0">
                <a:latin typeface="Cambria"/>
                <a:cs typeface="Cambria"/>
              </a:rPr>
              <a:t> </a:t>
            </a:r>
            <a:r>
              <a:rPr sz="1100" dirty="0">
                <a:latin typeface="Georgia"/>
                <a:cs typeface="Georgia"/>
              </a:rPr>
              <a:t>in</a:t>
            </a:r>
            <a:r>
              <a:rPr sz="1100" spc="70" dirty="0">
                <a:latin typeface="Georgia"/>
                <a:cs typeface="Georgia"/>
              </a:rPr>
              <a:t> </a:t>
            </a:r>
            <a:r>
              <a:rPr sz="1100" dirty="0">
                <a:latin typeface="Arial MT"/>
                <a:cs typeface="Arial MT"/>
              </a:rPr>
              <a:t>R</a:t>
            </a:r>
            <a:r>
              <a:rPr sz="1200" i="1" baseline="27777" dirty="0">
                <a:latin typeface="Calibri"/>
                <a:cs typeface="Calibri"/>
              </a:rPr>
              <a:t>m</a:t>
            </a:r>
            <a:r>
              <a:rPr sz="1200" i="1" spc="292" baseline="27777" dirty="0">
                <a:latin typeface="Calibri"/>
                <a:cs typeface="Calibri"/>
              </a:rPr>
              <a:t> </a:t>
            </a:r>
            <a:r>
              <a:rPr sz="1100" spc="-25" dirty="0">
                <a:latin typeface="Georgia"/>
                <a:cs typeface="Georgia"/>
              </a:rPr>
              <a:t>according</a:t>
            </a:r>
            <a:r>
              <a:rPr sz="1100" spc="70" dirty="0">
                <a:latin typeface="Georgia"/>
                <a:cs typeface="Georgia"/>
              </a:rPr>
              <a:t> </a:t>
            </a:r>
            <a:r>
              <a:rPr sz="1100" spc="-25" dirty="0">
                <a:latin typeface="Georgia"/>
                <a:cs typeface="Georgia"/>
              </a:rPr>
              <a:t>to </a:t>
            </a:r>
            <a:r>
              <a:rPr sz="1100" spc="-35" dirty="0">
                <a:latin typeface="Georgia"/>
                <a:cs typeface="Georgia"/>
              </a:rPr>
              <a:t>uniform</a:t>
            </a:r>
            <a:r>
              <a:rPr sz="1100" spc="20" dirty="0">
                <a:latin typeface="Georgia"/>
                <a:cs typeface="Georgia"/>
              </a:rPr>
              <a:t> </a:t>
            </a:r>
            <a:r>
              <a:rPr sz="1100" spc="-20" dirty="0">
                <a:latin typeface="Georgia"/>
                <a:cs typeface="Georgia"/>
              </a:rPr>
              <a:t>distribution</a:t>
            </a:r>
            <a:r>
              <a:rPr sz="1100" spc="25"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all</a:t>
            </a:r>
            <a:r>
              <a:rPr sz="1100" spc="20" dirty="0">
                <a:latin typeface="Georgia"/>
                <a:cs typeface="Georgia"/>
              </a:rPr>
              <a:t> </a:t>
            </a:r>
            <a:r>
              <a:rPr sz="1100" i="1" spc="75" dirty="0">
                <a:latin typeface="Calibri"/>
                <a:cs typeface="Calibri"/>
              </a:rPr>
              <a:t>m</a:t>
            </a:r>
            <a:r>
              <a:rPr sz="1100" i="1" spc="40" dirty="0">
                <a:latin typeface="Calibri"/>
                <a:cs typeface="Calibri"/>
              </a:rPr>
              <a:t> </a:t>
            </a:r>
            <a:r>
              <a:rPr sz="1100" spc="-40" dirty="0">
                <a:latin typeface="Georgia"/>
                <a:cs typeface="Georgia"/>
              </a:rPr>
              <a:t>dimensions</a:t>
            </a:r>
            <a:r>
              <a:rPr sz="1100" spc="25" dirty="0">
                <a:latin typeface="Georgia"/>
                <a:cs typeface="Georgia"/>
              </a:rPr>
              <a:t> </a:t>
            </a:r>
            <a:r>
              <a:rPr sz="1100" dirty="0">
                <a:latin typeface="Georgia"/>
                <a:cs typeface="Georgia"/>
              </a:rPr>
              <a:t>and</a:t>
            </a:r>
            <a:r>
              <a:rPr sz="1100" spc="20"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value</a:t>
            </a:r>
            <a:r>
              <a:rPr sz="1100" spc="25" dirty="0">
                <a:latin typeface="Georgia"/>
                <a:cs typeface="Georgia"/>
              </a:rPr>
              <a:t> </a:t>
            </a:r>
            <a:r>
              <a:rPr sz="1100" spc="-20" dirty="0">
                <a:latin typeface="Georgia"/>
                <a:cs typeface="Georgia"/>
              </a:rPr>
              <a:t>range</a:t>
            </a:r>
            <a:r>
              <a:rPr sz="1100" spc="20" dirty="0">
                <a:latin typeface="Georgia"/>
                <a:cs typeface="Georgia"/>
              </a:rPr>
              <a:t> </a:t>
            </a:r>
            <a:r>
              <a:rPr sz="1100" dirty="0">
                <a:latin typeface="Georgia"/>
                <a:cs typeface="Georgia"/>
              </a:rPr>
              <a:t>for</a:t>
            </a:r>
            <a:r>
              <a:rPr sz="1100" spc="25" dirty="0">
                <a:latin typeface="Georgia"/>
                <a:cs typeface="Georgia"/>
              </a:rPr>
              <a:t> </a:t>
            </a:r>
            <a:r>
              <a:rPr sz="1100" spc="-10" dirty="0">
                <a:latin typeface="Georgia"/>
                <a:cs typeface="Georgia"/>
              </a:rPr>
              <a:t>each</a:t>
            </a:r>
            <a:r>
              <a:rPr sz="1100" spc="25" dirty="0">
                <a:latin typeface="Georgia"/>
                <a:cs typeface="Georgia"/>
              </a:rPr>
              <a:t> </a:t>
            </a:r>
            <a:r>
              <a:rPr sz="1100" spc="-40" dirty="0">
                <a:latin typeface="Georgia"/>
                <a:cs typeface="Georgia"/>
              </a:rPr>
              <a:t>dimension</a:t>
            </a:r>
            <a:r>
              <a:rPr sz="1100" spc="20" dirty="0">
                <a:latin typeface="Georgia"/>
                <a:cs typeface="Georgia"/>
              </a:rPr>
              <a:t> </a:t>
            </a:r>
            <a:r>
              <a:rPr sz="1100" spc="-25" dirty="0">
                <a:latin typeface="Georgia"/>
                <a:cs typeface="Georgia"/>
              </a:rPr>
              <a:t>is </a:t>
            </a:r>
            <a:r>
              <a:rPr sz="1100" dirty="0">
                <a:latin typeface="Georgia"/>
                <a:cs typeface="Georgia"/>
              </a:rPr>
              <a:t>the</a:t>
            </a:r>
            <a:r>
              <a:rPr sz="1100" spc="40" dirty="0">
                <a:latin typeface="Georgia"/>
                <a:cs typeface="Georgia"/>
              </a:rPr>
              <a:t> </a:t>
            </a:r>
            <a:r>
              <a:rPr sz="1100" spc="-25" dirty="0">
                <a:latin typeface="Georgia"/>
                <a:cs typeface="Georgia"/>
              </a:rPr>
              <a:t>same</a:t>
            </a:r>
            <a:r>
              <a:rPr sz="1100" spc="45" dirty="0">
                <a:latin typeface="Georgia"/>
                <a:cs typeface="Georgia"/>
              </a:rPr>
              <a:t> </a:t>
            </a:r>
            <a:r>
              <a:rPr sz="1100" dirty="0">
                <a:latin typeface="Georgia"/>
                <a:cs typeface="Georgia"/>
              </a:rPr>
              <a:t>as</a:t>
            </a:r>
            <a:r>
              <a:rPr sz="1100" spc="40" dirty="0">
                <a:latin typeface="Georgia"/>
                <a:cs typeface="Georgia"/>
              </a:rPr>
              <a:t> </a:t>
            </a:r>
            <a:r>
              <a:rPr sz="1100" dirty="0">
                <a:latin typeface="Georgia"/>
                <a:cs typeface="Georgia"/>
              </a:rPr>
              <a:t>data</a:t>
            </a:r>
            <a:r>
              <a:rPr sz="1100" spc="45" dirty="0">
                <a:latin typeface="Georgia"/>
                <a:cs typeface="Georgia"/>
              </a:rPr>
              <a:t> </a:t>
            </a:r>
            <a:r>
              <a:rPr sz="1100" dirty="0">
                <a:latin typeface="Georgia"/>
                <a:cs typeface="Georgia"/>
              </a:rPr>
              <a:t>in</a:t>
            </a:r>
            <a:r>
              <a:rPr sz="1100" spc="40" dirty="0">
                <a:latin typeface="Georgia"/>
                <a:cs typeface="Georgia"/>
              </a:rPr>
              <a:t> </a:t>
            </a:r>
            <a:r>
              <a:rPr sz="1100" spc="70" dirty="0">
                <a:latin typeface="Cambria"/>
                <a:cs typeface="Cambria"/>
              </a:rPr>
              <a:t>D</a:t>
            </a:r>
            <a:r>
              <a:rPr sz="1100" spc="70" dirty="0">
                <a:latin typeface="Georgia"/>
                <a:cs typeface="Georgia"/>
              </a:rPr>
              <a:t>.</a:t>
            </a:r>
            <a:r>
              <a:rPr sz="1100" spc="140" dirty="0">
                <a:latin typeface="Georgia"/>
                <a:cs typeface="Georgia"/>
              </a:rPr>
              <a:t> </a:t>
            </a:r>
            <a:r>
              <a:rPr sz="1100" spc="-10" dirty="0">
                <a:latin typeface="Georgia"/>
                <a:cs typeface="Georgia"/>
              </a:rPr>
              <a:t>For</a:t>
            </a:r>
            <a:r>
              <a:rPr sz="1100" spc="45" dirty="0">
                <a:latin typeface="Georgia"/>
                <a:cs typeface="Georgia"/>
              </a:rPr>
              <a:t> </a:t>
            </a:r>
            <a:r>
              <a:rPr sz="1100" spc="-10" dirty="0">
                <a:latin typeface="Georgia"/>
                <a:cs typeface="Georgia"/>
              </a:rPr>
              <a:t>each</a:t>
            </a:r>
            <a:r>
              <a:rPr sz="1100" spc="40" dirty="0">
                <a:latin typeface="Georgia"/>
                <a:cs typeface="Georgia"/>
              </a:rPr>
              <a:t> </a:t>
            </a:r>
            <a:r>
              <a:rPr sz="1100" dirty="0">
                <a:latin typeface="Georgia"/>
                <a:cs typeface="Georgia"/>
              </a:rPr>
              <a:t>data</a:t>
            </a:r>
            <a:r>
              <a:rPr sz="1100" spc="45" dirty="0">
                <a:latin typeface="Georgia"/>
                <a:cs typeface="Georgia"/>
              </a:rPr>
              <a:t> </a:t>
            </a:r>
            <a:r>
              <a:rPr sz="1100" spc="-20" dirty="0">
                <a:latin typeface="Georgia"/>
                <a:cs typeface="Georgia"/>
              </a:rPr>
              <a:t>instance</a:t>
            </a:r>
            <a:r>
              <a:rPr sz="1100" spc="40" dirty="0">
                <a:latin typeface="Georgia"/>
                <a:cs typeface="Georgia"/>
              </a:rPr>
              <a:t> </a:t>
            </a:r>
            <a:r>
              <a:rPr sz="1100" spc="90" dirty="0">
                <a:latin typeface="Cambria"/>
                <a:cs typeface="Cambria"/>
              </a:rPr>
              <a:t>y</a:t>
            </a:r>
            <a:r>
              <a:rPr sz="1200" i="1" spc="135" baseline="27777" dirty="0">
                <a:latin typeface="Calibri"/>
                <a:cs typeface="Calibri"/>
              </a:rPr>
              <a:t>i</a:t>
            </a:r>
            <a:r>
              <a:rPr sz="1100" spc="90" dirty="0">
                <a:latin typeface="Georgia"/>
                <a:cs typeface="Georgia"/>
              </a:rPr>
              <a:t>,</a:t>
            </a:r>
            <a:r>
              <a:rPr sz="1100" spc="45" dirty="0">
                <a:latin typeface="Georgia"/>
                <a:cs typeface="Georgia"/>
              </a:rPr>
              <a:t> </a:t>
            </a:r>
            <a:r>
              <a:rPr sz="1100" spc="-30" dirty="0">
                <a:latin typeface="Georgia"/>
                <a:cs typeface="Georgia"/>
              </a:rPr>
              <a:t>finding</a:t>
            </a:r>
            <a:r>
              <a:rPr sz="1100" spc="40" dirty="0">
                <a:latin typeface="Georgia"/>
                <a:cs typeface="Georgia"/>
              </a:rPr>
              <a:t> </a:t>
            </a:r>
            <a:r>
              <a:rPr sz="1100" dirty="0">
                <a:latin typeface="Georgia"/>
                <a:cs typeface="Georgia"/>
              </a:rPr>
              <a:t>the</a:t>
            </a:r>
            <a:r>
              <a:rPr sz="1100" spc="45" dirty="0">
                <a:latin typeface="Georgia"/>
                <a:cs typeface="Georgia"/>
              </a:rPr>
              <a:t> </a:t>
            </a:r>
            <a:r>
              <a:rPr sz="1100" spc="-20" dirty="0">
                <a:latin typeface="Georgia"/>
                <a:cs typeface="Georgia"/>
              </a:rPr>
              <a:t>distance</a:t>
            </a:r>
            <a:r>
              <a:rPr sz="1100" spc="45" dirty="0">
                <a:latin typeface="Georgia"/>
                <a:cs typeface="Georgia"/>
              </a:rPr>
              <a:t> </a:t>
            </a:r>
            <a:r>
              <a:rPr sz="1100" dirty="0">
                <a:latin typeface="Georgia"/>
                <a:cs typeface="Georgia"/>
              </a:rPr>
              <a:t>to</a:t>
            </a:r>
            <a:r>
              <a:rPr sz="1100" spc="40" dirty="0">
                <a:latin typeface="Georgia"/>
                <a:cs typeface="Georgia"/>
              </a:rPr>
              <a:t> </a:t>
            </a:r>
            <a:r>
              <a:rPr sz="1100" dirty="0">
                <a:latin typeface="Georgia"/>
                <a:cs typeface="Georgia"/>
              </a:rPr>
              <a:t>its</a:t>
            </a:r>
            <a:r>
              <a:rPr sz="1100" spc="45" dirty="0">
                <a:latin typeface="Georgia"/>
                <a:cs typeface="Georgia"/>
              </a:rPr>
              <a:t> </a:t>
            </a:r>
            <a:r>
              <a:rPr sz="1100" spc="-10" dirty="0">
                <a:latin typeface="Georgia"/>
                <a:cs typeface="Georgia"/>
              </a:rPr>
              <a:t>closest </a:t>
            </a:r>
            <a:r>
              <a:rPr sz="1100" spc="-20" dirty="0">
                <a:latin typeface="Georgia"/>
                <a:cs typeface="Georgia"/>
              </a:rPr>
              <a:t>instance</a:t>
            </a:r>
            <a:r>
              <a:rPr sz="1100" spc="20" dirty="0">
                <a:latin typeface="Georgia"/>
                <a:cs typeface="Georgia"/>
              </a:rPr>
              <a:t> </a:t>
            </a:r>
            <a:r>
              <a:rPr sz="1100" dirty="0">
                <a:latin typeface="Georgia"/>
                <a:cs typeface="Georgia"/>
              </a:rPr>
              <a:t>in</a:t>
            </a:r>
            <a:r>
              <a:rPr sz="1100" spc="20" dirty="0">
                <a:latin typeface="Georgia"/>
                <a:cs typeface="Georgia"/>
              </a:rPr>
              <a:t> </a:t>
            </a:r>
            <a:r>
              <a:rPr sz="1100" spc="45" dirty="0">
                <a:latin typeface="Cambria"/>
                <a:cs typeface="Cambria"/>
              </a:rPr>
              <a:t>D</a:t>
            </a:r>
            <a:r>
              <a:rPr sz="1100" spc="45" dirty="0">
                <a:latin typeface="Georgia"/>
                <a:cs typeface="Georgia"/>
              </a:rPr>
              <a:t>.</a:t>
            </a:r>
            <a:endParaRPr sz="1100">
              <a:latin typeface="Georgia"/>
              <a:cs typeface="Georgia"/>
            </a:endParaRPr>
          </a:p>
        </p:txBody>
      </p:sp>
      <p:sp>
        <p:nvSpPr>
          <p:cNvPr id="11" name="object 11"/>
          <p:cNvSpPr txBox="1"/>
          <p:nvPr/>
        </p:nvSpPr>
        <p:spPr>
          <a:xfrm>
            <a:off x="5381459" y="2439897"/>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(8)</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33</a:t>
            </a:fld>
            <a:r>
              <a:rPr spc="-25" dirty="0"/>
              <a:t> </a:t>
            </a:r>
            <a:r>
              <a:rPr spc="75" dirty="0"/>
              <a:t>/</a:t>
            </a:r>
            <a:r>
              <a:rPr spc="-25" dirty="0"/>
              <a:t> </a:t>
            </a:r>
            <a:r>
              <a:rPr spc="35" dirty="0"/>
              <a:t>135</a:t>
            </a:r>
          </a:p>
        </p:txBody>
      </p:sp>
      <p:pic>
        <p:nvPicPr>
          <p:cNvPr id="18" name="Picture 17">
            <a:extLst>
              <a:ext uri="{FF2B5EF4-FFF2-40B4-BE49-F238E27FC236}">
                <a16:creationId xmlns:a16="http://schemas.microsoft.com/office/drawing/2014/main" id="{2C2B90A9-EF1F-2384-2271-26F7E901A654}"/>
              </a:ext>
            </a:extLst>
          </p:cNvPr>
          <p:cNvPicPr>
            <a:picLocks noChangeAspect="1"/>
          </p:cNvPicPr>
          <p:nvPr/>
        </p:nvPicPr>
        <p:blipFill>
          <a:blip r:embed="rId4"/>
          <a:stretch>
            <a:fillRect/>
          </a:stretch>
        </p:blipFill>
        <p:spPr>
          <a:xfrm>
            <a:off x="2337969" y="1357026"/>
            <a:ext cx="1308100" cy="224960"/>
          </a:xfrm>
          <a:prstGeom prst="rect">
            <a:avLst/>
          </a:prstGeom>
        </p:spPr>
      </p:pic>
      <p:pic>
        <p:nvPicPr>
          <p:cNvPr id="19" name="Picture 18">
            <a:extLst>
              <a:ext uri="{FF2B5EF4-FFF2-40B4-BE49-F238E27FC236}">
                <a16:creationId xmlns:a16="http://schemas.microsoft.com/office/drawing/2014/main" id="{326D7253-4438-D930-A905-4159DA5040E7}"/>
              </a:ext>
            </a:extLst>
          </p:cNvPr>
          <p:cNvPicPr>
            <a:picLocks noChangeAspect="1"/>
          </p:cNvPicPr>
          <p:nvPr/>
        </p:nvPicPr>
        <p:blipFill>
          <a:blip r:embed="rId5"/>
          <a:stretch>
            <a:fillRect/>
          </a:stretch>
        </p:blipFill>
        <p:spPr>
          <a:xfrm>
            <a:off x="2306973" y="2396394"/>
            <a:ext cx="1308100" cy="27877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Validating</a:t>
            </a:r>
            <a:r>
              <a:rPr spc="305" dirty="0"/>
              <a:t> </a:t>
            </a:r>
            <a:r>
              <a:rPr dirty="0"/>
              <a:t>cluster</a:t>
            </a:r>
            <a:r>
              <a:rPr spc="305" dirty="0"/>
              <a:t> </a:t>
            </a:r>
            <a:r>
              <a:rPr dirty="0"/>
              <a:t>tendency</a:t>
            </a:r>
            <a:r>
              <a:rPr spc="310" dirty="0"/>
              <a:t> </a:t>
            </a:r>
            <a:r>
              <a:rPr dirty="0"/>
              <a:t>with</a:t>
            </a:r>
            <a:r>
              <a:rPr spc="310" dirty="0"/>
              <a:t> </a:t>
            </a:r>
            <a:r>
              <a:rPr dirty="0"/>
              <a:t>Hopkins</a:t>
            </a:r>
            <a:r>
              <a:rPr spc="310" dirty="0"/>
              <a:t> </a:t>
            </a:r>
            <a:r>
              <a:rPr dirty="0"/>
              <a:t>statistic</a:t>
            </a:r>
            <a:r>
              <a:rPr spc="305" dirty="0"/>
              <a:t> </a:t>
            </a:r>
            <a:r>
              <a:rPr spc="-10" dirty="0"/>
              <a:t>(cont’d)</a:t>
            </a:r>
          </a:p>
        </p:txBody>
      </p:sp>
      <p:sp>
        <p:nvSpPr>
          <p:cNvPr id="3" name="object 3"/>
          <p:cNvSpPr/>
          <p:nvPr/>
        </p:nvSpPr>
        <p:spPr>
          <a:xfrm>
            <a:off x="337972" y="1033119"/>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941513"/>
            <a:ext cx="2268220" cy="191770"/>
          </a:xfrm>
          <a:prstGeom prst="rect">
            <a:avLst/>
          </a:prstGeom>
        </p:spPr>
        <p:txBody>
          <a:bodyPr vert="horz" wrap="square" lIns="0" tIns="11430" rIns="0" bIns="0" rtlCol="0">
            <a:spAutoFit/>
          </a:bodyPr>
          <a:lstStyle/>
          <a:p>
            <a:pPr marL="12700">
              <a:lnSpc>
                <a:spcPct val="100000"/>
              </a:lnSpc>
              <a:spcBef>
                <a:spcPts val="90"/>
              </a:spcBef>
            </a:pPr>
            <a:r>
              <a:rPr sz="1100" spc="-35" dirty="0">
                <a:latin typeface="Georgia"/>
                <a:cs typeface="Georgia"/>
              </a:rPr>
              <a:t>Hopkins</a:t>
            </a:r>
            <a:r>
              <a:rPr sz="1100" spc="40" dirty="0">
                <a:latin typeface="Georgia"/>
                <a:cs typeface="Georgia"/>
              </a:rPr>
              <a:t> </a:t>
            </a:r>
            <a:r>
              <a:rPr sz="1100" dirty="0">
                <a:latin typeface="Georgia"/>
                <a:cs typeface="Georgia"/>
              </a:rPr>
              <a:t>statistic,</a:t>
            </a:r>
            <a:r>
              <a:rPr sz="1100" spc="45" dirty="0">
                <a:latin typeface="Georgia"/>
                <a:cs typeface="Georgia"/>
              </a:rPr>
              <a:t> </a:t>
            </a:r>
            <a:r>
              <a:rPr sz="1100" i="1" spc="145" dirty="0">
                <a:latin typeface="Calibri"/>
                <a:cs typeface="Calibri"/>
              </a:rPr>
              <a:t>H</a:t>
            </a:r>
            <a:r>
              <a:rPr sz="1100" spc="145" dirty="0">
                <a:latin typeface="Georgia"/>
                <a:cs typeface="Georgia"/>
              </a:rPr>
              <a:t>,</a:t>
            </a:r>
            <a:r>
              <a:rPr sz="1100" spc="45" dirty="0">
                <a:latin typeface="Georgia"/>
                <a:cs typeface="Georgia"/>
              </a:rPr>
              <a:t> </a:t>
            </a:r>
            <a:r>
              <a:rPr sz="1100" dirty="0">
                <a:latin typeface="Georgia"/>
                <a:cs typeface="Georgia"/>
              </a:rPr>
              <a:t>is</a:t>
            </a:r>
            <a:r>
              <a:rPr sz="1100" spc="40" dirty="0">
                <a:latin typeface="Georgia"/>
                <a:cs typeface="Georgia"/>
              </a:rPr>
              <a:t> </a:t>
            </a:r>
            <a:r>
              <a:rPr sz="1100" spc="-25" dirty="0">
                <a:latin typeface="Georgia"/>
                <a:cs typeface="Georgia"/>
              </a:rPr>
              <a:t>computed</a:t>
            </a:r>
            <a:r>
              <a:rPr sz="1100" spc="45" dirty="0">
                <a:latin typeface="Georgia"/>
                <a:cs typeface="Georgia"/>
              </a:rPr>
              <a:t> </a:t>
            </a:r>
            <a:r>
              <a:rPr sz="1100" spc="-25" dirty="0">
                <a:latin typeface="Georgia"/>
                <a:cs typeface="Georgia"/>
              </a:rPr>
              <a:t>as:</a:t>
            </a:r>
            <a:endParaRPr sz="1100">
              <a:latin typeface="Georgia"/>
              <a:cs typeface="Georgia"/>
            </a:endParaRPr>
          </a:p>
        </p:txBody>
      </p:sp>
      <p:sp>
        <p:nvSpPr>
          <p:cNvPr id="16" name="object 16"/>
          <p:cNvSpPr txBox="1"/>
          <p:nvPr/>
        </p:nvSpPr>
        <p:spPr>
          <a:xfrm>
            <a:off x="5381459" y="1329548"/>
            <a:ext cx="20193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(9)</a:t>
            </a:r>
            <a:endParaRPr sz="1100">
              <a:latin typeface="Georgia"/>
              <a:cs typeface="Georgia"/>
            </a:endParaRPr>
          </a:p>
        </p:txBody>
      </p:sp>
      <p:sp>
        <p:nvSpPr>
          <p:cNvPr id="17" name="object 17"/>
          <p:cNvSpPr/>
          <p:nvPr/>
        </p:nvSpPr>
        <p:spPr>
          <a:xfrm>
            <a:off x="337972" y="186329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8" name="object 18"/>
          <p:cNvSpPr txBox="1"/>
          <p:nvPr/>
        </p:nvSpPr>
        <p:spPr>
          <a:xfrm>
            <a:off x="454177" y="1699727"/>
            <a:ext cx="5057140" cy="502284"/>
          </a:xfrm>
          <a:prstGeom prst="rect">
            <a:avLst/>
          </a:prstGeom>
        </p:spPr>
        <p:txBody>
          <a:bodyPr vert="horz" wrap="square" lIns="0" tIns="83185" rIns="0" bIns="0" rtlCol="0">
            <a:spAutoFit/>
          </a:bodyPr>
          <a:lstStyle/>
          <a:p>
            <a:pPr marL="12700">
              <a:lnSpc>
                <a:spcPct val="100000"/>
              </a:lnSpc>
              <a:spcBef>
                <a:spcPts val="655"/>
              </a:spcBef>
            </a:pPr>
            <a:r>
              <a:rPr sz="1100" dirty="0">
                <a:latin typeface="Georgia"/>
                <a:cs typeface="Georgia"/>
              </a:rPr>
              <a:t>If</a:t>
            </a:r>
            <a:r>
              <a:rPr sz="1100" spc="35" dirty="0">
                <a:latin typeface="Georgia"/>
                <a:cs typeface="Georgia"/>
              </a:rPr>
              <a:t> </a:t>
            </a:r>
            <a:r>
              <a:rPr sz="1100" dirty="0">
                <a:latin typeface="Georgia"/>
                <a:cs typeface="Georgia"/>
              </a:rPr>
              <a:t>data</a:t>
            </a:r>
            <a:r>
              <a:rPr sz="1100" spc="40" dirty="0">
                <a:latin typeface="Georgia"/>
                <a:cs typeface="Georgia"/>
              </a:rPr>
              <a:t> </a:t>
            </a:r>
            <a:r>
              <a:rPr sz="1100" dirty="0">
                <a:latin typeface="Georgia"/>
                <a:cs typeface="Georgia"/>
              </a:rPr>
              <a:t>in</a:t>
            </a:r>
            <a:r>
              <a:rPr sz="1100" spc="40" dirty="0">
                <a:latin typeface="Georgia"/>
                <a:cs typeface="Georgia"/>
              </a:rPr>
              <a:t> </a:t>
            </a:r>
            <a:r>
              <a:rPr sz="1100" spc="114" dirty="0">
                <a:latin typeface="Cambria"/>
                <a:cs typeface="Cambria"/>
              </a:rPr>
              <a:t>D</a:t>
            </a:r>
            <a:r>
              <a:rPr sz="1100" spc="80" dirty="0">
                <a:latin typeface="Cambria"/>
                <a:cs typeface="Cambria"/>
              </a:rPr>
              <a:t> </a:t>
            </a:r>
            <a:r>
              <a:rPr sz="1100" dirty="0">
                <a:latin typeface="Georgia"/>
                <a:cs typeface="Georgia"/>
              </a:rPr>
              <a:t>is</a:t>
            </a:r>
            <a:r>
              <a:rPr sz="1100" spc="40" dirty="0">
                <a:latin typeface="Georgia"/>
                <a:cs typeface="Georgia"/>
              </a:rPr>
              <a:t> </a:t>
            </a:r>
            <a:r>
              <a:rPr sz="1100" spc="-25" dirty="0">
                <a:latin typeface="Georgia"/>
                <a:cs typeface="Georgia"/>
              </a:rPr>
              <a:t>uniformly</a:t>
            </a:r>
            <a:r>
              <a:rPr sz="1100" spc="40" dirty="0">
                <a:latin typeface="Georgia"/>
                <a:cs typeface="Georgia"/>
              </a:rPr>
              <a:t> </a:t>
            </a:r>
            <a:r>
              <a:rPr sz="1100" dirty="0">
                <a:latin typeface="Georgia"/>
                <a:cs typeface="Georgia"/>
              </a:rPr>
              <a:t>or</a:t>
            </a:r>
            <a:r>
              <a:rPr sz="1100" spc="40" dirty="0">
                <a:latin typeface="Georgia"/>
                <a:cs typeface="Georgia"/>
              </a:rPr>
              <a:t> </a:t>
            </a:r>
            <a:r>
              <a:rPr sz="1100" spc="-45" dirty="0">
                <a:latin typeface="Georgia"/>
                <a:cs typeface="Georgia"/>
              </a:rPr>
              <a:t>near–uniformly</a:t>
            </a:r>
            <a:r>
              <a:rPr sz="1100" spc="40" dirty="0">
                <a:latin typeface="Georgia"/>
                <a:cs typeface="Georgia"/>
              </a:rPr>
              <a:t> </a:t>
            </a:r>
            <a:r>
              <a:rPr sz="1100" spc="-10" dirty="0">
                <a:latin typeface="Georgia"/>
                <a:cs typeface="Georgia"/>
              </a:rPr>
              <a:t>distributed,</a:t>
            </a:r>
            <a:r>
              <a:rPr sz="1100" spc="40" dirty="0">
                <a:latin typeface="Georgia"/>
                <a:cs typeface="Georgia"/>
              </a:rPr>
              <a:t> </a:t>
            </a:r>
            <a:r>
              <a:rPr sz="1100" i="1" spc="210" dirty="0">
                <a:latin typeface="Calibri"/>
                <a:cs typeface="Calibri"/>
              </a:rPr>
              <a:t>H</a:t>
            </a:r>
            <a:r>
              <a:rPr sz="1100" i="1" spc="130" dirty="0">
                <a:latin typeface="Calibri"/>
                <a:cs typeface="Calibri"/>
              </a:rPr>
              <a:t> </a:t>
            </a:r>
            <a:r>
              <a:rPr sz="1100" dirty="0">
                <a:latin typeface="Georgia"/>
                <a:cs typeface="Georgia"/>
              </a:rPr>
              <a:t>will</a:t>
            </a:r>
            <a:r>
              <a:rPr sz="1100" spc="40" dirty="0">
                <a:latin typeface="Georgia"/>
                <a:cs typeface="Georgia"/>
              </a:rPr>
              <a:t> </a:t>
            </a:r>
            <a:r>
              <a:rPr sz="1100" dirty="0">
                <a:latin typeface="Georgia"/>
                <a:cs typeface="Georgia"/>
              </a:rPr>
              <a:t>be</a:t>
            </a:r>
            <a:r>
              <a:rPr sz="1100" spc="40" dirty="0">
                <a:latin typeface="Georgia"/>
                <a:cs typeface="Georgia"/>
              </a:rPr>
              <a:t> </a:t>
            </a:r>
            <a:r>
              <a:rPr sz="1100" spc="-10" dirty="0">
                <a:latin typeface="Georgia"/>
                <a:cs typeface="Georgia"/>
              </a:rPr>
              <a:t>near</a:t>
            </a:r>
            <a:r>
              <a:rPr sz="1100" spc="40" dirty="0">
                <a:latin typeface="Georgia"/>
                <a:cs typeface="Georgia"/>
              </a:rPr>
              <a:t> </a:t>
            </a:r>
            <a:r>
              <a:rPr sz="1100" spc="-20" dirty="0">
                <a:latin typeface="Calibri"/>
                <a:cs typeface="Calibri"/>
              </a:rPr>
              <a:t>0</a:t>
            </a:r>
            <a:r>
              <a:rPr sz="1100" i="1" spc="-20" dirty="0">
                <a:latin typeface="Calibri"/>
                <a:cs typeface="Calibri"/>
              </a:rPr>
              <a:t>.</a:t>
            </a:r>
            <a:r>
              <a:rPr sz="1100" spc="-20" dirty="0">
                <a:latin typeface="Calibri"/>
                <a:cs typeface="Calibri"/>
              </a:rPr>
              <a:t>5</a:t>
            </a:r>
            <a:r>
              <a:rPr sz="1100" spc="-20" dirty="0">
                <a:latin typeface="Georgia"/>
                <a:cs typeface="Georgia"/>
              </a:rPr>
              <a:t>.</a:t>
            </a:r>
            <a:endParaRPr sz="1100">
              <a:latin typeface="Georgia"/>
              <a:cs typeface="Georgia"/>
            </a:endParaRPr>
          </a:p>
          <a:p>
            <a:pPr marL="12700">
              <a:lnSpc>
                <a:spcPct val="100000"/>
              </a:lnSpc>
              <a:spcBef>
                <a:spcPts val="555"/>
              </a:spcBef>
            </a:pPr>
            <a:r>
              <a:rPr sz="1100" dirty="0">
                <a:latin typeface="Georgia"/>
                <a:cs typeface="Georgia"/>
              </a:rPr>
              <a:t>If</a:t>
            </a:r>
            <a:r>
              <a:rPr sz="1100" spc="25" dirty="0">
                <a:latin typeface="Georgia"/>
                <a:cs typeface="Georgia"/>
              </a:rPr>
              <a:t> </a:t>
            </a:r>
            <a:r>
              <a:rPr sz="1100" i="1" spc="210" dirty="0">
                <a:latin typeface="Calibri"/>
                <a:cs typeface="Calibri"/>
              </a:rPr>
              <a:t>H</a:t>
            </a:r>
            <a:r>
              <a:rPr sz="1100" i="1" spc="130" dirty="0">
                <a:latin typeface="Calibri"/>
                <a:cs typeface="Calibri"/>
              </a:rPr>
              <a:t> </a:t>
            </a:r>
            <a:r>
              <a:rPr sz="1100" dirty="0">
                <a:latin typeface="Georgia"/>
                <a:cs typeface="Georgia"/>
              </a:rPr>
              <a:t>is</a:t>
            </a:r>
            <a:r>
              <a:rPr sz="1100" spc="35" dirty="0">
                <a:latin typeface="Georgia"/>
                <a:cs typeface="Georgia"/>
              </a:rPr>
              <a:t> </a:t>
            </a:r>
            <a:r>
              <a:rPr sz="1100" spc="-20" dirty="0">
                <a:latin typeface="Georgia"/>
                <a:cs typeface="Georgia"/>
              </a:rPr>
              <a:t>close</a:t>
            </a:r>
            <a:r>
              <a:rPr sz="1100" spc="40" dirty="0">
                <a:latin typeface="Georgia"/>
                <a:cs typeface="Georgia"/>
              </a:rPr>
              <a:t> </a:t>
            </a:r>
            <a:r>
              <a:rPr sz="1100" dirty="0">
                <a:latin typeface="Georgia"/>
                <a:cs typeface="Georgia"/>
              </a:rPr>
              <a:t>to</a:t>
            </a:r>
            <a:r>
              <a:rPr sz="1100" spc="35" dirty="0">
                <a:latin typeface="Georgia"/>
                <a:cs typeface="Georgia"/>
              </a:rPr>
              <a:t> </a:t>
            </a:r>
            <a:r>
              <a:rPr sz="1100" dirty="0">
                <a:latin typeface="Calibri"/>
                <a:cs typeface="Calibri"/>
              </a:rPr>
              <a:t>1</a:t>
            </a:r>
            <a:r>
              <a:rPr sz="1100" i="1" dirty="0">
                <a:latin typeface="Calibri"/>
                <a:cs typeface="Calibri"/>
              </a:rPr>
              <a:t>.</a:t>
            </a:r>
            <a:r>
              <a:rPr sz="1100" dirty="0">
                <a:latin typeface="Calibri"/>
                <a:cs typeface="Calibri"/>
              </a:rPr>
              <a:t>0</a:t>
            </a:r>
            <a:r>
              <a:rPr sz="1100" dirty="0">
                <a:latin typeface="Georgia"/>
                <a:cs typeface="Georgia"/>
              </a:rPr>
              <a:t>,</a:t>
            </a:r>
            <a:r>
              <a:rPr sz="1100" spc="40" dirty="0">
                <a:latin typeface="Georgia"/>
                <a:cs typeface="Georgia"/>
              </a:rPr>
              <a:t> </a:t>
            </a:r>
            <a:r>
              <a:rPr sz="1100" spc="114" dirty="0">
                <a:latin typeface="Cambria"/>
                <a:cs typeface="Cambria"/>
              </a:rPr>
              <a:t>D</a:t>
            </a:r>
            <a:r>
              <a:rPr sz="1100" spc="80" dirty="0">
                <a:latin typeface="Cambria"/>
                <a:cs typeface="Cambria"/>
              </a:rPr>
              <a:t> </a:t>
            </a:r>
            <a:r>
              <a:rPr sz="1100" dirty="0">
                <a:latin typeface="Georgia"/>
                <a:cs typeface="Georgia"/>
              </a:rPr>
              <a:t>has</a:t>
            </a:r>
            <a:r>
              <a:rPr sz="1100" spc="35" dirty="0">
                <a:latin typeface="Georgia"/>
                <a:cs typeface="Georgia"/>
              </a:rPr>
              <a:t> </a:t>
            </a:r>
            <a:r>
              <a:rPr sz="1100" spc="-10" dirty="0">
                <a:latin typeface="Georgia"/>
                <a:cs typeface="Georgia"/>
              </a:rPr>
              <a:t>cluster</a:t>
            </a:r>
            <a:r>
              <a:rPr sz="1100" spc="40" dirty="0">
                <a:latin typeface="Georgia"/>
                <a:cs typeface="Georgia"/>
              </a:rPr>
              <a:t> </a:t>
            </a:r>
            <a:r>
              <a:rPr sz="1100" spc="-20" dirty="0">
                <a:latin typeface="Georgia"/>
                <a:cs typeface="Georgia"/>
              </a:rPr>
              <a:t>structures,</a:t>
            </a:r>
            <a:r>
              <a:rPr sz="1100" spc="40" dirty="0">
                <a:latin typeface="Georgia"/>
                <a:cs typeface="Georgia"/>
              </a:rPr>
              <a:t> </a:t>
            </a:r>
            <a:r>
              <a:rPr sz="1100" dirty="0">
                <a:latin typeface="Georgia"/>
                <a:cs typeface="Georgia"/>
              </a:rPr>
              <a:t>i.e.,</a:t>
            </a:r>
            <a:r>
              <a:rPr sz="1100" spc="35" dirty="0">
                <a:latin typeface="Georgia"/>
                <a:cs typeface="Georgia"/>
              </a:rPr>
              <a:t> </a:t>
            </a:r>
            <a:r>
              <a:rPr sz="1100" dirty="0">
                <a:latin typeface="Georgia"/>
                <a:cs typeface="Georgia"/>
              </a:rPr>
              <a:t>far</a:t>
            </a:r>
            <a:r>
              <a:rPr sz="1100" spc="40" dirty="0">
                <a:latin typeface="Georgia"/>
                <a:cs typeface="Georgia"/>
              </a:rPr>
              <a:t> </a:t>
            </a:r>
            <a:r>
              <a:rPr sz="1100" spc="-25" dirty="0">
                <a:latin typeface="Georgia"/>
                <a:cs typeface="Georgia"/>
              </a:rPr>
              <a:t>from</a:t>
            </a:r>
            <a:r>
              <a:rPr sz="1100" spc="35" dirty="0">
                <a:latin typeface="Georgia"/>
                <a:cs typeface="Georgia"/>
              </a:rPr>
              <a:t> </a:t>
            </a:r>
            <a:r>
              <a:rPr sz="1100" dirty="0">
                <a:latin typeface="Georgia"/>
                <a:cs typeface="Georgia"/>
              </a:rPr>
              <a:t>the</a:t>
            </a:r>
            <a:r>
              <a:rPr sz="1100" spc="40" dirty="0">
                <a:latin typeface="Georgia"/>
                <a:cs typeface="Georgia"/>
              </a:rPr>
              <a:t> </a:t>
            </a:r>
            <a:r>
              <a:rPr sz="1100" spc="-35" dirty="0">
                <a:latin typeface="Georgia"/>
                <a:cs typeface="Georgia"/>
              </a:rPr>
              <a:t>uniform</a:t>
            </a:r>
            <a:r>
              <a:rPr sz="1100" spc="40" dirty="0">
                <a:latin typeface="Georgia"/>
                <a:cs typeface="Georgia"/>
              </a:rPr>
              <a:t> </a:t>
            </a:r>
            <a:r>
              <a:rPr sz="1100" spc="-10" dirty="0">
                <a:latin typeface="Georgia"/>
                <a:cs typeface="Georgia"/>
              </a:rPr>
              <a:t>distribution.</a:t>
            </a:r>
            <a:endParaRPr sz="1100">
              <a:latin typeface="Georgia"/>
              <a:cs typeface="Georgia"/>
            </a:endParaRPr>
          </a:p>
        </p:txBody>
      </p:sp>
      <p:sp>
        <p:nvSpPr>
          <p:cNvPr id="19" name="object 19"/>
          <p:cNvSpPr/>
          <p:nvPr/>
        </p:nvSpPr>
        <p:spPr>
          <a:xfrm>
            <a:off x="337972" y="210150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20" name="object 20"/>
          <p:cNvGrpSpPr/>
          <p:nvPr/>
        </p:nvGrpSpPr>
        <p:grpSpPr>
          <a:xfrm>
            <a:off x="0" y="3121545"/>
            <a:ext cx="5760085" cy="118745"/>
            <a:chOff x="0" y="3121545"/>
            <a:chExt cx="5760085" cy="118745"/>
          </a:xfrm>
        </p:grpSpPr>
        <p:sp>
          <p:nvSpPr>
            <p:cNvPr id="21" name="object 21"/>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22" name="object 22"/>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23" name="object 23"/>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24" name="object 24"/>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25" name="object 25"/>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34</a:t>
            </a:fld>
            <a:r>
              <a:rPr spc="-25" dirty="0"/>
              <a:t> </a:t>
            </a:r>
            <a:r>
              <a:rPr spc="75" dirty="0"/>
              <a:t>/</a:t>
            </a:r>
            <a:r>
              <a:rPr spc="-25" dirty="0"/>
              <a:t> </a:t>
            </a:r>
            <a:r>
              <a:rPr spc="35" dirty="0"/>
              <a:t>135</a:t>
            </a:r>
          </a:p>
        </p:txBody>
      </p:sp>
      <p:pic>
        <p:nvPicPr>
          <p:cNvPr id="26" name="Picture 25">
            <a:extLst>
              <a:ext uri="{FF2B5EF4-FFF2-40B4-BE49-F238E27FC236}">
                <a16:creationId xmlns:a16="http://schemas.microsoft.com/office/drawing/2014/main" id="{EFFB57F5-551D-F8B2-28AB-57092A6A31A7}"/>
              </a:ext>
            </a:extLst>
          </p:cNvPr>
          <p:cNvPicPr>
            <a:picLocks noChangeAspect="1"/>
          </p:cNvPicPr>
          <p:nvPr/>
        </p:nvPicPr>
        <p:blipFill>
          <a:blip r:embed="rId4"/>
          <a:stretch>
            <a:fillRect/>
          </a:stretch>
        </p:blipFill>
        <p:spPr>
          <a:xfrm>
            <a:off x="2115413" y="1233091"/>
            <a:ext cx="1339850" cy="42578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Example</a:t>
            </a:r>
            <a:r>
              <a:rPr spc="220" dirty="0"/>
              <a:t> </a:t>
            </a:r>
            <a:r>
              <a:rPr spc="10" dirty="0"/>
              <a:t>of</a:t>
            </a:r>
            <a:r>
              <a:rPr spc="220" dirty="0"/>
              <a:t> </a:t>
            </a:r>
            <a:r>
              <a:rPr spc="10" dirty="0"/>
              <a:t>Hopkins</a:t>
            </a:r>
            <a:r>
              <a:rPr spc="229" dirty="0"/>
              <a:t> </a:t>
            </a:r>
            <a:r>
              <a:rPr spc="10" dirty="0"/>
              <a:t>statistic</a:t>
            </a:r>
            <a:r>
              <a:rPr spc="225" dirty="0"/>
              <a:t> </a:t>
            </a:r>
            <a:r>
              <a:rPr spc="10" dirty="0"/>
              <a:t>with</a:t>
            </a:r>
            <a:r>
              <a:rPr spc="220" dirty="0"/>
              <a:t> </a:t>
            </a:r>
            <a:r>
              <a:rPr spc="10" dirty="0"/>
              <a:t>uniformly</a:t>
            </a:r>
            <a:r>
              <a:rPr spc="229" dirty="0"/>
              <a:t> </a:t>
            </a:r>
            <a:r>
              <a:rPr spc="10" dirty="0"/>
              <a:t>distributed</a:t>
            </a:r>
            <a:r>
              <a:rPr spc="220" dirty="0"/>
              <a:t> </a:t>
            </a:r>
            <a:r>
              <a:rPr spc="50" dirty="0"/>
              <a:t>data</a:t>
            </a:r>
          </a:p>
        </p:txBody>
      </p:sp>
      <p:pic>
        <p:nvPicPr>
          <p:cNvPr id="3" name="object 3"/>
          <p:cNvPicPr/>
          <p:nvPr/>
        </p:nvPicPr>
        <p:blipFill>
          <a:blip r:embed="rId2" cstate="print"/>
          <a:stretch>
            <a:fillRect/>
          </a:stretch>
        </p:blipFill>
        <p:spPr>
          <a:xfrm>
            <a:off x="375691" y="500672"/>
            <a:ext cx="4999482" cy="1579626"/>
          </a:xfrm>
          <a:prstGeom prst="rect">
            <a:avLst/>
          </a:prstGeom>
        </p:spPr>
      </p:pic>
      <p:sp>
        <p:nvSpPr>
          <p:cNvPr id="4" name="object 4"/>
          <p:cNvSpPr/>
          <p:nvPr/>
        </p:nvSpPr>
        <p:spPr>
          <a:xfrm>
            <a:off x="337972" y="231434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454177" y="2222739"/>
            <a:ext cx="3908425" cy="191770"/>
          </a:xfrm>
          <a:prstGeom prst="rect">
            <a:avLst/>
          </a:prstGeom>
        </p:spPr>
        <p:txBody>
          <a:bodyPr vert="horz" wrap="square" lIns="0" tIns="11430" rIns="0" bIns="0" rtlCol="0">
            <a:spAutoFit/>
          </a:bodyPr>
          <a:lstStyle/>
          <a:p>
            <a:pPr marL="12700">
              <a:lnSpc>
                <a:spcPct val="100000"/>
              </a:lnSpc>
              <a:spcBef>
                <a:spcPts val="90"/>
              </a:spcBef>
            </a:pPr>
            <a:r>
              <a:rPr sz="1100" spc="114" dirty="0">
                <a:latin typeface="Cambria"/>
                <a:cs typeface="Cambria"/>
              </a:rPr>
              <a:t>D</a:t>
            </a:r>
            <a:r>
              <a:rPr sz="1100" spc="100" dirty="0">
                <a:latin typeface="Cambria"/>
                <a:cs typeface="Cambria"/>
              </a:rPr>
              <a:t> </a:t>
            </a:r>
            <a:r>
              <a:rPr sz="1100" spc="-25" dirty="0">
                <a:latin typeface="Georgia"/>
                <a:cs typeface="Georgia"/>
              </a:rPr>
              <a:t>consists</a:t>
            </a:r>
            <a:r>
              <a:rPr sz="1100" spc="65" dirty="0">
                <a:latin typeface="Georgia"/>
                <a:cs typeface="Georgia"/>
              </a:rPr>
              <a:t> </a:t>
            </a:r>
            <a:r>
              <a:rPr sz="1100" dirty="0">
                <a:latin typeface="Georgia"/>
                <a:cs typeface="Georgia"/>
              </a:rPr>
              <a:t>of</a:t>
            </a:r>
            <a:r>
              <a:rPr sz="1100" spc="60" dirty="0">
                <a:latin typeface="Georgia"/>
                <a:cs typeface="Georgia"/>
              </a:rPr>
              <a:t> </a:t>
            </a:r>
            <a:r>
              <a:rPr sz="1100" i="1" spc="90" dirty="0">
                <a:latin typeface="Calibri"/>
                <a:cs typeface="Calibri"/>
              </a:rPr>
              <a:t>n</a:t>
            </a:r>
            <a:r>
              <a:rPr sz="1100" i="1" spc="20" dirty="0">
                <a:latin typeface="Calibri"/>
                <a:cs typeface="Calibri"/>
              </a:rPr>
              <a:t> </a:t>
            </a:r>
            <a:r>
              <a:rPr sz="1100" spc="295" dirty="0">
                <a:latin typeface="Calibri"/>
                <a:cs typeface="Calibri"/>
              </a:rPr>
              <a:t>=</a:t>
            </a:r>
            <a:r>
              <a:rPr sz="1100" spc="25" dirty="0">
                <a:latin typeface="Calibri"/>
                <a:cs typeface="Calibri"/>
              </a:rPr>
              <a:t> </a:t>
            </a:r>
            <a:r>
              <a:rPr sz="1100" dirty="0">
                <a:latin typeface="Calibri"/>
                <a:cs typeface="Calibri"/>
              </a:rPr>
              <a:t>600</a:t>
            </a:r>
            <a:r>
              <a:rPr sz="1100" spc="75" dirty="0">
                <a:latin typeface="Calibri"/>
                <a:cs typeface="Calibri"/>
              </a:rPr>
              <a:t> </a:t>
            </a:r>
            <a:r>
              <a:rPr sz="1100" spc="-25" dirty="0">
                <a:latin typeface="Georgia"/>
                <a:cs typeface="Georgia"/>
              </a:rPr>
              <a:t>uniformly</a:t>
            </a:r>
            <a:r>
              <a:rPr sz="1100" spc="65" dirty="0">
                <a:latin typeface="Georgia"/>
                <a:cs typeface="Georgia"/>
              </a:rPr>
              <a:t> </a:t>
            </a:r>
            <a:r>
              <a:rPr sz="1100" spc="-20" dirty="0">
                <a:latin typeface="Georgia"/>
                <a:cs typeface="Georgia"/>
              </a:rPr>
              <a:t>distributed</a:t>
            </a:r>
            <a:r>
              <a:rPr sz="1100" spc="60" dirty="0">
                <a:latin typeface="Georgia"/>
                <a:cs typeface="Georgia"/>
              </a:rPr>
              <a:t> </a:t>
            </a:r>
            <a:r>
              <a:rPr sz="1100" dirty="0">
                <a:latin typeface="Georgia"/>
                <a:cs typeface="Georgia"/>
              </a:rPr>
              <a:t>data</a:t>
            </a:r>
            <a:r>
              <a:rPr sz="1100" spc="60" dirty="0">
                <a:latin typeface="Georgia"/>
                <a:cs typeface="Georgia"/>
              </a:rPr>
              <a:t> </a:t>
            </a:r>
            <a:r>
              <a:rPr sz="1100" spc="-10" dirty="0">
                <a:latin typeface="Georgia"/>
                <a:cs typeface="Georgia"/>
              </a:rPr>
              <a:t>points,</a:t>
            </a:r>
            <a:r>
              <a:rPr sz="1100" spc="60" dirty="0">
                <a:latin typeface="Georgia"/>
                <a:cs typeface="Georgia"/>
              </a:rPr>
              <a:t> </a:t>
            </a:r>
            <a:r>
              <a:rPr sz="1100" i="1" spc="60" dirty="0">
                <a:latin typeface="Calibri"/>
                <a:cs typeface="Calibri"/>
              </a:rPr>
              <a:t>h</a:t>
            </a:r>
            <a:r>
              <a:rPr sz="1100" i="1" spc="25" dirty="0">
                <a:latin typeface="Calibri"/>
                <a:cs typeface="Calibri"/>
              </a:rPr>
              <a:t> </a:t>
            </a:r>
            <a:r>
              <a:rPr sz="1100" spc="295" dirty="0">
                <a:latin typeface="Calibri"/>
                <a:cs typeface="Calibri"/>
              </a:rPr>
              <a:t>=</a:t>
            </a:r>
            <a:r>
              <a:rPr sz="1100" spc="25" dirty="0">
                <a:latin typeface="Calibri"/>
                <a:cs typeface="Calibri"/>
              </a:rPr>
              <a:t> </a:t>
            </a:r>
            <a:r>
              <a:rPr sz="1100" spc="-25" dirty="0">
                <a:latin typeface="Calibri"/>
                <a:cs typeface="Calibri"/>
              </a:rPr>
              <a:t>90</a:t>
            </a:r>
            <a:r>
              <a:rPr sz="1100" spc="-25" dirty="0">
                <a:latin typeface="Georgia"/>
                <a:cs typeface="Georgia"/>
              </a:rPr>
              <a:t>.</a:t>
            </a:r>
            <a:endParaRPr sz="1100">
              <a:latin typeface="Georgia"/>
              <a:cs typeface="Georgia"/>
            </a:endParaRPr>
          </a:p>
        </p:txBody>
      </p:sp>
      <p:sp>
        <p:nvSpPr>
          <p:cNvPr id="6" name="object 6"/>
          <p:cNvSpPr/>
          <p:nvPr/>
        </p:nvSpPr>
        <p:spPr>
          <a:xfrm>
            <a:off x="337972" y="258001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txBox="1"/>
          <p:nvPr/>
        </p:nvSpPr>
        <p:spPr>
          <a:xfrm>
            <a:off x="600417" y="2461893"/>
            <a:ext cx="200025" cy="252095"/>
          </a:xfrm>
          <a:prstGeom prst="rect">
            <a:avLst/>
          </a:prstGeom>
        </p:spPr>
        <p:txBody>
          <a:bodyPr vert="horz" wrap="square" lIns="0" tIns="29209" rIns="0" bIns="0" rtlCol="0">
            <a:spAutoFit/>
          </a:bodyPr>
          <a:lstStyle/>
          <a:p>
            <a:pPr marL="12700" marR="5080">
              <a:lnSpc>
                <a:spcPts val="830"/>
              </a:lnSpc>
              <a:spcBef>
                <a:spcPts val="229"/>
              </a:spcBef>
            </a:pPr>
            <a:r>
              <a:rPr sz="800" i="1" spc="20" dirty="0">
                <a:latin typeface="Calibri"/>
                <a:cs typeface="Calibri"/>
              </a:rPr>
              <a:t>h</a:t>
            </a:r>
            <a:r>
              <a:rPr sz="800" i="1" spc="100" dirty="0">
                <a:latin typeface="Calibri"/>
                <a:cs typeface="Calibri"/>
              </a:rPr>
              <a:t> i</a:t>
            </a:r>
            <a:r>
              <a:rPr sz="800" spc="100" dirty="0">
                <a:latin typeface="Calibri"/>
                <a:cs typeface="Calibri"/>
              </a:rPr>
              <a:t>=1</a:t>
            </a:r>
            <a:endParaRPr sz="800">
              <a:latin typeface="Calibri"/>
              <a:cs typeface="Calibri"/>
            </a:endParaRPr>
          </a:p>
        </p:txBody>
      </p:sp>
      <p:sp>
        <p:nvSpPr>
          <p:cNvPr id="8" name="object 8"/>
          <p:cNvSpPr txBox="1"/>
          <p:nvPr/>
        </p:nvSpPr>
        <p:spPr>
          <a:xfrm>
            <a:off x="877112" y="2546513"/>
            <a:ext cx="62230" cy="147320"/>
          </a:xfrm>
          <a:prstGeom prst="rect">
            <a:avLst/>
          </a:prstGeom>
        </p:spPr>
        <p:txBody>
          <a:bodyPr vert="horz" wrap="square" lIns="0" tIns="12065" rIns="0" bIns="0" rtlCol="0">
            <a:spAutoFit/>
          </a:bodyPr>
          <a:lstStyle/>
          <a:p>
            <a:pPr marL="12700">
              <a:lnSpc>
                <a:spcPct val="100000"/>
              </a:lnSpc>
              <a:spcBef>
                <a:spcPts val="95"/>
              </a:spcBef>
            </a:pPr>
            <a:r>
              <a:rPr sz="800" i="1" spc="45" dirty="0">
                <a:latin typeface="Calibri"/>
                <a:cs typeface="Calibri"/>
              </a:rPr>
              <a:t>i</a:t>
            </a:r>
            <a:endParaRPr sz="800">
              <a:latin typeface="Calibri"/>
              <a:cs typeface="Calibri"/>
            </a:endParaRPr>
          </a:p>
        </p:txBody>
      </p:sp>
      <p:sp>
        <p:nvSpPr>
          <p:cNvPr id="9" name="object 9"/>
          <p:cNvSpPr txBox="1"/>
          <p:nvPr/>
        </p:nvSpPr>
        <p:spPr>
          <a:xfrm>
            <a:off x="803871" y="2488411"/>
            <a:ext cx="1048385" cy="191770"/>
          </a:xfrm>
          <a:prstGeom prst="rect">
            <a:avLst/>
          </a:prstGeom>
        </p:spPr>
        <p:txBody>
          <a:bodyPr vert="horz" wrap="square" lIns="0" tIns="11430" rIns="0" bIns="0" rtlCol="0">
            <a:spAutoFit/>
          </a:bodyPr>
          <a:lstStyle/>
          <a:p>
            <a:pPr marL="12700">
              <a:lnSpc>
                <a:spcPct val="100000"/>
              </a:lnSpc>
              <a:spcBef>
                <a:spcPts val="90"/>
              </a:spcBef>
            </a:pPr>
            <a:r>
              <a:rPr sz="1100" i="1" dirty="0">
                <a:latin typeface="Calibri"/>
                <a:cs typeface="Calibri"/>
              </a:rPr>
              <a:t>a</a:t>
            </a:r>
            <a:r>
              <a:rPr sz="1100" i="1" spc="340" dirty="0">
                <a:latin typeface="Calibri"/>
                <a:cs typeface="Calibri"/>
              </a:rPr>
              <a:t> </a:t>
            </a:r>
            <a:r>
              <a:rPr sz="1100" spc="295" dirty="0">
                <a:latin typeface="Calibri"/>
                <a:cs typeface="Calibri"/>
              </a:rPr>
              <a:t>=</a:t>
            </a:r>
            <a:r>
              <a:rPr sz="1100" spc="35" dirty="0">
                <a:latin typeface="Calibri"/>
                <a:cs typeface="Calibri"/>
              </a:rPr>
              <a:t> </a:t>
            </a:r>
            <a:r>
              <a:rPr sz="1100" dirty="0">
                <a:latin typeface="Calibri"/>
                <a:cs typeface="Calibri"/>
              </a:rPr>
              <a:t>18</a:t>
            </a:r>
            <a:r>
              <a:rPr sz="1100" i="1" dirty="0">
                <a:latin typeface="Calibri"/>
                <a:cs typeface="Calibri"/>
              </a:rPr>
              <a:t>.</a:t>
            </a:r>
            <a:r>
              <a:rPr sz="1100" dirty="0">
                <a:latin typeface="Calibri"/>
                <a:cs typeface="Calibri"/>
              </a:rPr>
              <a:t>4981</a:t>
            </a:r>
            <a:r>
              <a:rPr sz="1100" spc="80" dirty="0">
                <a:latin typeface="Calibri"/>
                <a:cs typeface="Calibri"/>
              </a:rPr>
              <a:t> </a:t>
            </a:r>
            <a:r>
              <a:rPr sz="1100" spc="-25" dirty="0">
                <a:latin typeface="Georgia"/>
                <a:cs typeface="Georgia"/>
              </a:rPr>
              <a:t>and</a:t>
            </a:r>
            <a:endParaRPr sz="1100">
              <a:latin typeface="Georgia"/>
              <a:cs typeface="Georgia"/>
            </a:endParaRPr>
          </a:p>
        </p:txBody>
      </p:sp>
      <p:sp>
        <p:nvSpPr>
          <p:cNvPr id="11" name="object 11"/>
          <p:cNvSpPr txBox="1"/>
          <p:nvPr/>
        </p:nvSpPr>
        <p:spPr>
          <a:xfrm>
            <a:off x="2018944" y="2461893"/>
            <a:ext cx="200025" cy="252095"/>
          </a:xfrm>
          <a:prstGeom prst="rect">
            <a:avLst/>
          </a:prstGeom>
        </p:spPr>
        <p:txBody>
          <a:bodyPr vert="horz" wrap="square" lIns="0" tIns="29209" rIns="0" bIns="0" rtlCol="0">
            <a:spAutoFit/>
          </a:bodyPr>
          <a:lstStyle/>
          <a:p>
            <a:pPr marL="12700" marR="5080">
              <a:lnSpc>
                <a:spcPts val="830"/>
              </a:lnSpc>
              <a:spcBef>
                <a:spcPts val="229"/>
              </a:spcBef>
            </a:pPr>
            <a:r>
              <a:rPr sz="800" i="1" spc="20" dirty="0">
                <a:latin typeface="Calibri"/>
                <a:cs typeface="Calibri"/>
              </a:rPr>
              <a:t>h</a:t>
            </a:r>
            <a:r>
              <a:rPr sz="800" i="1" spc="100" dirty="0">
                <a:latin typeface="Calibri"/>
                <a:cs typeface="Calibri"/>
              </a:rPr>
              <a:t> i</a:t>
            </a:r>
            <a:r>
              <a:rPr sz="800" spc="100" dirty="0">
                <a:latin typeface="Calibri"/>
                <a:cs typeface="Calibri"/>
              </a:rPr>
              <a:t>=1</a:t>
            </a:r>
            <a:endParaRPr sz="800">
              <a:latin typeface="Calibri"/>
              <a:cs typeface="Calibri"/>
            </a:endParaRPr>
          </a:p>
        </p:txBody>
      </p:sp>
      <p:sp>
        <p:nvSpPr>
          <p:cNvPr id="12" name="object 12"/>
          <p:cNvSpPr txBox="1"/>
          <p:nvPr/>
        </p:nvSpPr>
        <p:spPr>
          <a:xfrm>
            <a:off x="2197011" y="2488411"/>
            <a:ext cx="855980" cy="191770"/>
          </a:xfrm>
          <a:prstGeom prst="rect">
            <a:avLst/>
          </a:prstGeom>
        </p:spPr>
        <p:txBody>
          <a:bodyPr vert="horz" wrap="square" lIns="0" tIns="11430" rIns="0" bIns="0" rtlCol="0">
            <a:spAutoFit/>
          </a:bodyPr>
          <a:lstStyle/>
          <a:p>
            <a:pPr marL="38100">
              <a:lnSpc>
                <a:spcPct val="100000"/>
              </a:lnSpc>
              <a:spcBef>
                <a:spcPts val="90"/>
              </a:spcBef>
            </a:pPr>
            <a:r>
              <a:rPr sz="1100" i="1" dirty="0">
                <a:latin typeface="Calibri"/>
                <a:cs typeface="Calibri"/>
              </a:rPr>
              <a:t>b</a:t>
            </a:r>
            <a:r>
              <a:rPr sz="1200" i="1" baseline="-10416" dirty="0">
                <a:latin typeface="Calibri"/>
                <a:cs typeface="Calibri"/>
              </a:rPr>
              <a:t>i</a:t>
            </a:r>
            <a:r>
              <a:rPr sz="1200" i="1" spc="247" baseline="-10416" dirty="0">
                <a:latin typeface="Calibri"/>
                <a:cs typeface="Calibri"/>
              </a:rPr>
              <a:t> </a:t>
            </a:r>
            <a:r>
              <a:rPr sz="1100" spc="295" dirty="0">
                <a:latin typeface="Calibri"/>
                <a:cs typeface="Calibri"/>
              </a:rPr>
              <a:t>=</a:t>
            </a:r>
            <a:r>
              <a:rPr sz="1100" spc="60" dirty="0">
                <a:latin typeface="Calibri"/>
                <a:cs typeface="Calibri"/>
              </a:rPr>
              <a:t> </a:t>
            </a:r>
            <a:r>
              <a:rPr sz="1100" spc="-10" dirty="0">
                <a:latin typeface="Calibri"/>
                <a:cs typeface="Calibri"/>
              </a:rPr>
              <a:t>19</a:t>
            </a:r>
            <a:r>
              <a:rPr sz="1100" i="1" spc="-10" dirty="0">
                <a:latin typeface="Calibri"/>
                <a:cs typeface="Calibri"/>
              </a:rPr>
              <a:t>.</a:t>
            </a:r>
            <a:r>
              <a:rPr sz="1100" spc="-10" dirty="0">
                <a:latin typeface="Calibri"/>
                <a:cs typeface="Calibri"/>
              </a:rPr>
              <a:t>9432</a:t>
            </a:r>
            <a:r>
              <a:rPr sz="1100" spc="-10" dirty="0">
                <a:latin typeface="Georgia"/>
                <a:cs typeface="Georgia"/>
              </a:rPr>
              <a:t>.</a:t>
            </a:r>
            <a:endParaRPr sz="1100">
              <a:latin typeface="Georgia"/>
              <a:cs typeface="Georgia"/>
            </a:endParaRPr>
          </a:p>
        </p:txBody>
      </p:sp>
      <p:sp>
        <p:nvSpPr>
          <p:cNvPr id="13" name="object 13"/>
          <p:cNvSpPr/>
          <p:nvPr/>
        </p:nvSpPr>
        <p:spPr>
          <a:xfrm>
            <a:off x="337972" y="281824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14" name="object 14"/>
              <p:cNvSpPr txBox="1"/>
              <p:nvPr/>
            </p:nvSpPr>
            <p:spPr>
              <a:xfrm>
                <a:off x="454177" y="2726637"/>
                <a:ext cx="4166235" cy="180819"/>
              </a:xfrm>
              <a:prstGeom prst="rect">
                <a:avLst/>
              </a:prstGeom>
            </p:spPr>
            <p:txBody>
              <a:bodyPr vert="horz" wrap="square" lIns="0" tIns="11430" rIns="0" bIns="0" rtlCol="0">
                <a:spAutoFit/>
              </a:bodyPr>
              <a:lstStyle/>
              <a:p>
                <a:pPr marL="12700">
                  <a:lnSpc>
                    <a:spcPct val="100000"/>
                  </a:lnSpc>
                  <a:spcBef>
                    <a:spcPts val="90"/>
                  </a:spcBef>
                </a:pPr>
                <a:r>
                  <a:rPr sz="1100" spc="-35" dirty="0">
                    <a:latin typeface="Georgia"/>
                    <a:cs typeface="Georgia"/>
                  </a:rPr>
                  <a:t>Hopkins</a:t>
                </a:r>
                <a:r>
                  <a:rPr sz="1100" spc="80" dirty="0">
                    <a:latin typeface="Georgia"/>
                    <a:cs typeface="Georgia"/>
                  </a:rPr>
                  <a:t> </a:t>
                </a:r>
                <a:r>
                  <a:rPr sz="1100" dirty="0">
                    <a:latin typeface="Georgia"/>
                    <a:cs typeface="Georgia"/>
                  </a:rPr>
                  <a:t>statistic:</a:t>
                </a:r>
                <a:r>
                  <a:rPr sz="1100" spc="190" dirty="0">
                    <a:latin typeface="Georgia"/>
                    <a:cs typeface="Georgia"/>
                  </a:rPr>
                  <a:t> </a:t>
                </a:r>
                <a:r>
                  <a:rPr sz="1100" i="1" spc="210" dirty="0">
                    <a:latin typeface="Calibri"/>
                    <a:cs typeface="Calibri"/>
                  </a:rPr>
                  <a:t>H</a:t>
                </a:r>
                <a:r>
                  <a:rPr sz="1100" i="1" spc="125" dirty="0">
                    <a:latin typeface="Calibri"/>
                    <a:cs typeface="Calibri"/>
                  </a:rPr>
                  <a:t> </a:t>
                </a:r>
                <a:r>
                  <a:rPr sz="1100" spc="295" dirty="0">
                    <a:latin typeface="Calibri"/>
                    <a:cs typeface="Calibri"/>
                  </a:rPr>
                  <a:t>=</a:t>
                </a:r>
                <a:r>
                  <a:rPr sz="1100" spc="45" dirty="0">
                    <a:latin typeface="Calibri"/>
                    <a:cs typeface="Calibri"/>
                  </a:rPr>
                  <a:t> </a:t>
                </a:r>
                <a:r>
                  <a:rPr sz="1100" dirty="0">
                    <a:latin typeface="Calibri"/>
                    <a:cs typeface="Calibri"/>
                  </a:rPr>
                  <a:t>19</a:t>
                </a:r>
                <a:r>
                  <a:rPr sz="1100" i="1" dirty="0">
                    <a:latin typeface="Calibri"/>
                    <a:cs typeface="Calibri"/>
                  </a:rPr>
                  <a:t>.</a:t>
                </a:r>
                <a:r>
                  <a:rPr sz="1100" dirty="0">
                    <a:latin typeface="Calibri"/>
                    <a:cs typeface="Calibri"/>
                  </a:rPr>
                  <a:t>9432</a:t>
                </a:r>
                <a:r>
                  <a:rPr sz="1100" i="1" dirty="0">
                    <a:latin typeface="Calibri"/>
                    <a:cs typeface="Calibri"/>
                  </a:rPr>
                  <a:t>/</a:t>
                </a:r>
                <a:r>
                  <a:rPr sz="1100" dirty="0">
                    <a:latin typeface="Calibri"/>
                    <a:cs typeface="Calibri"/>
                  </a:rPr>
                  <a:t>(19</a:t>
                </a:r>
                <a:r>
                  <a:rPr sz="1100" i="1" dirty="0">
                    <a:latin typeface="Calibri"/>
                    <a:cs typeface="Calibri"/>
                  </a:rPr>
                  <a:t>.</a:t>
                </a:r>
                <a:r>
                  <a:rPr sz="1100" dirty="0">
                    <a:latin typeface="Calibri"/>
                    <a:cs typeface="Calibri"/>
                  </a:rPr>
                  <a:t>9432</a:t>
                </a:r>
                <a:r>
                  <a:rPr sz="1100" spc="-20" dirty="0">
                    <a:latin typeface="Calibri"/>
                    <a:cs typeface="Calibri"/>
                  </a:rPr>
                  <a:t> </a:t>
                </a:r>
                <a:r>
                  <a:rPr sz="1100" spc="295" dirty="0">
                    <a:latin typeface="Calibri"/>
                    <a:cs typeface="Calibri"/>
                  </a:rPr>
                  <a:t>+</a:t>
                </a:r>
                <a:r>
                  <a:rPr sz="1100" spc="-15" dirty="0">
                    <a:latin typeface="Calibri"/>
                    <a:cs typeface="Calibri"/>
                  </a:rPr>
                  <a:t> </a:t>
                </a:r>
                <a:r>
                  <a:rPr sz="1100" dirty="0">
                    <a:latin typeface="Calibri"/>
                    <a:cs typeface="Calibri"/>
                  </a:rPr>
                  <a:t>18</a:t>
                </a:r>
                <a:r>
                  <a:rPr sz="1100" i="1" dirty="0">
                    <a:latin typeface="Calibri"/>
                    <a:cs typeface="Calibri"/>
                  </a:rPr>
                  <a:t>.</a:t>
                </a:r>
                <a:r>
                  <a:rPr sz="1100" dirty="0">
                    <a:latin typeface="Calibri"/>
                    <a:cs typeface="Calibri"/>
                  </a:rPr>
                  <a:t>4981)</a:t>
                </a:r>
                <a:r>
                  <a:rPr sz="1100" spc="40" dirty="0">
                    <a:latin typeface="Calibri"/>
                    <a:cs typeface="Calibri"/>
                  </a:rPr>
                  <a:t> </a:t>
                </a:r>
                <a:r>
                  <a:rPr sz="1100" spc="295" dirty="0">
                    <a:latin typeface="Calibri"/>
                    <a:cs typeface="Calibri"/>
                  </a:rPr>
                  <a:t>=</a:t>
                </a:r>
                <a:r>
                  <a:rPr sz="1100" spc="40" dirty="0">
                    <a:latin typeface="Calibri"/>
                    <a:cs typeface="Calibri"/>
                  </a:rPr>
                  <a:t> </a:t>
                </a:r>
                <a:r>
                  <a:rPr sz="1100" dirty="0">
                    <a:latin typeface="Cambria"/>
                    <a:cs typeface="Cambria"/>
                  </a:rPr>
                  <a:t>0</a:t>
                </a:r>
                <a:r>
                  <a:rPr sz="1100" i="1" dirty="0">
                    <a:latin typeface="Calibri"/>
                    <a:cs typeface="Calibri"/>
                  </a:rPr>
                  <a:t>.</a:t>
                </a:r>
                <a:r>
                  <a:rPr sz="1100" dirty="0">
                    <a:latin typeface="Cambria"/>
                    <a:cs typeface="Cambria"/>
                  </a:rPr>
                  <a:t>5188</a:t>
                </a:r>
                <a:r>
                  <a:rPr sz="1100" spc="50" dirty="0">
                    <a:latin typeface="Cambria"/>
                    <a:cs typeface="Cambria"/>
                  </a:rPr>
                  <a:t> </a:t>
                </a:r>
                <a14:m>
                  <m:oMath xmlns:m="http://schemas.openxmlformats.org/officeDocument/2006/math">
                    <m:r>
                      <a:rPr lang="en-US" sz="1100" i="1" spc="50" dirty="0">
                        <a:latin typeface="Cambria Math" panose="02040503050406030204" pitchFamily="18" charset="0"/>
                        <a:ea typeface="Cambria Math" panose="02040503050406030204" pitchFamily="18" charset="0"/>
                        <a:cs typeface="Cambria"/>
                      </a:rPr>
                      <m:t>≈</m:t>
                    </m:r>
                  </m:oMath>
                </a14:m>
                <a:r>
                  <a:rPr sz="1100" b="1" spc="-25" dirty="0">
                    <a:solidFill>
                      <a:srgbClr val="FF0000"/>
                    </a:solidFill>
                    <a:latin typeface="Georgia"/>
                    <a:cs typeface="Georgia"/>
                  </a:rPr>
                  <a:t>0.5</a:t>
                </a:r>
                <a:endParaRPr sz="1100">
                  <a:latin typeface="Georgia"/>
                  <a:cs typeface="Georgia"/>
                </a:endParaRPr>
              </a:p>
            </p:txBody>
          </p:sp>
        </mc:Choice>
        <mc:Fallback>
          <p:sp>
            <p:nvSpPr>
              <p:cNvPr id="14" name="object 14"/>
              <p:cNvSpPr txBox="1">
                <a:spLocks noRot="1" noChangeAspect="1" noMove="1" noResize="1" noEditPoints="1" noAdjustHandles="1" noChangeArrowheads="1" noChangeShapeType="1" noTextEdit="1"/>
              </p:cNvSpPr>
              <p:nvPr/>
            </p:nvSpPr>
            <p:spPr>
              <a:xfrm>
                <a:off x="454177" y="2726637"/>
                <a:ext cx="4166235" cy="180819"/>
              </a:xfrm>
              <a:prstGeom prst="rect">
                <a:avLst/>
              </a:prstGeom>
              <a:blipFill>
                <a:blip r:embed="rId3"/>
                <a:stretch>
                  <a:fillRect l="-1829" t="-20000" r="-610" b="-46667"/>
                </a:stretch>
              </a:blipFill>
            </p:spPr>
            <p:txBody>
              <a:bodyPr/>
              <a:lstStyle/>
              <a:p>
                <a:r>
                  <a:rPr lang="en-VN">
                    <a:noFill/>
                  </a:rPr>
                  <a:t> </a:t>
                </a:r>
              </a:p>
            </p:txBody>
          </p:sp>
        </mc:Fallback>
      </mc:AlternateContent>
      <p:grpSp>
        <p:nvGrpSpPr>
          <p:cNvPr id="15" name="object 15"/>
          <p:cNvGrpSpPr/>
          <p:nvPr/>
        </p:nvGrpSpPr>
        <p:grpSpPr>
          <a:xfrm>
            <a:off x="0" y="3121545"/>
            <a:ext cx="5760085" cy="118745"/>
            <a:chOff x="0" y="3121545"/>
            <a:chExt cx="5760085" cy="118745"/>
          </a:xfrm>
        </p:grpSpPr>
        <p:sp>
          <p:nvSpPr>
            <p:cNvPr id="16" name="object 1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7" name="object 1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9" name="object 1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20" name="object 2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0" dirty="0"/>
              <a:t>35</a:t>
            </a:fld>
            <a:r>
              <a:rPr spc="-25" dirty="0"/>
              <a:t> </a:t>
            </a:r>
            <a:r>
              <a:rPr spc="75" dirty="0"/>
              <a:t>/</a:t>
            </a:r>
            <a:r>
              <a:rPr spc="-25" dirty="0"/>
              <a:t> </a:t>
            </a:r>
            <a:r>
              <a:rPr spc="35" dirty="0"/>
              <a:t>135</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6D4E51B8-A006-94C4-43A6-14543FE6A7ED}"/>
                  </a:ext>
                </a:extLst>
              </p:cNvPr>
              <p:cNvSpPr txBox="1"/>
              <p:nvPr/>
            </p:nvSpPr>
            <p:spPr>
              <a:xfrm>
                <a:off x="361595" y="2401959"/>
                <a:ext cx="202755" cy="3904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nary>
                        <m:naryPr>
                          <m:chr m:val="∑"/>
                          <m:subHide m:val="on"/>
                          <m:supHide m:val="on"/>
                          <m:ctrlPr>
                            <a:rPr lang="en-VN" sz="800" i="1">
                              <a:latin typeface="Cambria Math" panose="02040503050406030204" pitchFamily="18" charset="0"/>
                            </a:rPr>
                          </m:ctrlPr>
                        </m:naryPr>
                        <m:sub/>
                        <m:sup/>
                        <m:e/>
                      </m:nary>
                    </m:oMath>
                  </m:oMathPara>
                </a14:m>
                <a:endParaRPr lang="en-VN" sz="800"/>
              </a:p>
            </p:txBody>
          </p:sp>
        </mc:Choice>
        <mc:Fallback>
          <p:sp>
            <p:nvSpPr>
              <p:cNvPr id="21" name="TextBox 20">
                <a:extLst>
                  <a:ext uri="{FF2B5EF4-FFF2-40B4-BE49-F238E27FC236}">
                    <a16:creationId xmlns:a16="http://schemas.microsoft.com/office/drawing/2014/main" id="{6D4E51B8-A006-94C4-43A6-14543FE6A7ED}"/>
                  </a:ext>
                </a:extLst>
              </p:cNvPr>
              <p:cNvSpPr txBox="1">
                <a:spLocks noRot="1" noChangeAspect="1" noMove="1" noResize="1" noEditPoints="1" noAdjustHandles="1" noChangeArrowheads="1" noChangeShapeType="1" noTextEdit="1"/>
              </p:cNvSpPr>
              <p:nvPr/>
            </p:nvSpPr>
            <p:spPr>
              <a:xfrm>
                <a:off x="361595" y="2401959"/>
                <a:ext cx="202755" cy="390492"/>
              </a:xfrm>
              <a:prstGeom prst="rect">
                <a:avLst/>
              </a:prstGeom>
              <a:blipFill>
                <a:blip r:embed="rId5"/>
                <a:stretch>
                  <a:fillRect l="-135294" t="-100000" r="-129412" b="-14193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A3B53270-2531-7B80-30DB-4DD61F1FEF36}"/>
                  </a:ext>
                </a:extLst>
              </p:cNvPr>
              <p:cNvSpPr txBox="1"/>
              <p:nvPr/>
            </p:nvSpPr>
            <p:spPr>
              <a:xfrm>
                <a:off x="1803845" y="2401959"/>
                <a:ext cx="202755" cy="3904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nary>
                        <m:naryPr>
                          <m:chr m:val="∑"/>
                          <m:subHide m:val="on"/>
                          <m:supHide m:val="on"/>
                          <m:ctrlPr>
                            <a:rPr lang="en-VN" sz="800" i="1">
                              <a:latin typeface="Cambria Math" panose="02040503050406030204" pitchFamily="18" charset="0"/>
                            </a:rPr>
                          </m:ctrlPr>
                        </m:naryPr>
                        <m:sub/>
                        <m:sup/>
                        <m:e/>
                      </m:nary>
                    </m:oMath>
                  </m:oMathPara>
                </a14:m>
                <a:endParaRPr lang="en-VN" sz="800"/>
              </a:p>
            </p:txBody>
          </p:sp>
        </mc:Choice>
        <mc:Fallback>
          <p:sp>
            <p:nvSpPr>
              <p:cNvPr id="22" name="TextBox 21">
                <a:extLst>
                  <a:ext uri="{FF2B5EF4-FFF2-40B4-BE49-F238E27FC236}">
                    <a16:creationId xmlns:a16="http://schemas.microsoft.com/office/drawing/2014/main" id="{A3B53270-2531-7B80-30DB-4DD61F1FEF36}"/>
                  </a:ext>
                </a:extLst>
              </p:cNvPr>
              <p:cNvSpPr txBox="1">
                <a:spLocks noRot="1" noChangeAspect="1" noMove="1" noResize="1" noEditPoints="1" noAdjustHandles="1" noChangeArrowheads="1" noChangeShapeType="1" noTextEdit="1"/>
              </p:cNvSpPr>
              <p:nvPr/>
            </p:nvSpPr>
            <p:spPr>
              <a:xfrm>
                <a:off x="1803845" y="2401959"/>
                <a:ext cx="202755" cy="390492"/>
              </a:xfrm>
              <a:prstGeom prst="rect">
                <a:avLst/>
              </a:prstGeom>
              <a:blipFill>
                <a:blip r:embed="rId6"/>
                <a:stretch>
                  <a:fillRect l="-143750" t="-100000" r="-137500" b="-141935"/>
                </a:stretch>
              </a:blipFill>
            </p:spPr>
            <p:txBody>
              <a:bodyPr/>
              <a:lstStyle/>
              <a:p>
                <a:r>
                  <a:rPr lang="en-VN">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Example</a:t>
            </a:r>
            <a:r>
              <a:rPr spc="225" dirty="0"/>
              <a:t> </a:t>
            </a:r>
            <a:r>
              <a:rPr spc="10" dirty="0"/>
              <a:t>of</a:t>
            </a:r>
            <a:r>
              <a:rPr spc="229" dirty="0"/>
              <a:t> </a:t>
            </a:r>
            <a:r>
              <a:rPr spc="10" dirty="0"/>
              <a:t>Hopkins</a:t>
            </a:r>
            <a:r>
              <a:rPr spc="235" dirty="0"/>
              <a:t> </a:t>
            </a:r>
            <a:r>
              <a:rPr spc="10" dirty="0"/>
              <a:t>statistic</a:t>
            </a:r>
            <a:r>
              <a:rPr spc="225" dirty="0"/>
              <a:t> </a:t>
            </a:r>
            <a:r>
              <a:rPr spc="10" dirty="0"/>
              <a:t>with</a:t>
            </a:r>
            <a:r>
              <a:rPr spc="229" dirty="0"/>
              <a:t> </a:t>
            </a:r>
            <a:r>
              <a:rPr spc="10" dirty="0"/>
              <a:t>normal</a:t>
            </a:r>
            <a:r>
              <a:rPr spc="235" dirty="0"/>
              <a:t> </a:t>
            </a:r>
            <a:r>
              <a:rPr spc="10" dirty="0"/>
              <a:t>distribution</a:t>
            </a:r>
            <a:r>
              <a:rPr spc="235" dirty="0"/>
              <a:t> </a:t>
            </a:r>
            <a:r>
              <a:rPr spc="-10" dirty="0"/>
              <a:t>clusters</a:t>
            </a:r>
          </a:p>
        </p:txBody>
      </p:sp>
      <p:pic>
        <p:nvPicPr>
          <p:cNvPr id="3" name="object 3"/>
          <p:cNvPicPr/>
          <p:nvPr/>
        </p:nvPicPr>
        <p:blipFill>
          <a:blip r:embed="rId2" cstate="print"/>
          <a:stretch>
            <a:fillRect/>
          </a:stretch>
        </p:blipFill>
        <p:spPr>
          <a:xfrm>
            <a:off x="355183" y="517733"/>
            <a:ext cx="5047350" cy="1543552"/>
          </a:xfrm>
          <a:prstGeom prst="rect">
            <a:avLst/>
          </a:prstGeom>
        </p:spPr>
      </p:pic>
      <p:sp>
        <p:nvSpPr>
          <p:cNvPr id="4" name="object 4"/>
          <p:cNvSpPr/>
          <p:nvPr/>
        </p:nvSpPr>
        <p:spPr>
          <a:xfrm>
            <a:off x="337972" y="229487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454177" y="2203270"/>
            <a:ext cx="3908425" cy="191770"/>
          </a:xfrm>
          <a:prstGeom prst="rect">
            <a:avLst/>
          </a:prstGeom>
        </p:spPr>
        <p:txBody>
          <a:bodyPr vert="horz" wrap="square" lIns="0" tIns="11430" rIns="0" bIns="0" rtlCol="0">
            <a:spAutoFit/>
          </a:bodyPr>
          <a:lstStyle/>
          <a:p>
            <a:pPr marL="12700">
              <a:lnSpc>
                <a:spcPct val="100000"/>
              </a:lnSpc>
              <a:spcBef>
                <a:spcPts val="90"/>
              </a:spcBef>
            </a:pPr>
            <a:r>
              <a:rPr sz="1100" spc="114" dirty="0">
                <a:latin typeface="Cambria"/>
                <a:cs typeface="Cambria"/>
              </a:rPr>
              <a:t>D</a:t>
            </a:r>
            <a:r>
              <a:rPr sz="1100" spc="100" dirty="0">
                <a:latin typeface="Cambria"/>
                <a:cs typeface="Cambria"/>
              </a:rPr>
              <a:t> </a:t>
            </a:r>
            <a:r>
              <a:rPr sz="1100" spc="-25" dirty="0">
                <a:latin typeface="Georgia"/>
                <a:cs typeface="Georgia"/>
              </a:rPr>
              <a:t>consists</a:t>
            </a:r>
            <a:r>
              <a:rPr sz="1100" spc="65" dirty="0">
                <a:latin typeface="Georgia"/>
                <a:cs typeface="Georgia"/>
              </a:rPr>
              <a:t> </a:t>
            </a:r>
            <a:r>
              <a:rPr sz="1100" dirty="0">
                <a:latin typeface="Georgia"/>
                <a:cs typeface="Georgia"/>
              </a:rPr>
              <a:t>of</a:t>
            </a:r>
            <a:r>
              <a:rPr sz="1100" spc="60" dirty="0">
                <a:latin typeface="Georgia"/>
                <a:cs typeface="Georgia"/>
              </a:rPr>
              <a:t> </a:t>
            </a:r>
            <a:r>
              <a:rPr sz="1100" i="1" spc="90" dirty="0">
                <a:latin typeface="Calibri"/>
                <a:cs typeface="Calibri"/>
              </a:rPr>
              <a:t>n</a:t>
            </a:r>
            <a:r>
              <a:rPr sz="1100" i="1" spc="20" dirty="0">
                <a:latin typeface="Calibri"/>
                <a:cs typeface="Calibri"/>
              </a:rPr>
              <a:t> </a:t>
            </a:r>
            <a:r>
              <a:rPr sz="1100" spc="295" dirty="0">
                <a:latin typeface="Calibri"/>
                <a:cs typeface="Calibri"/>
              </a:rPr>
              <a:t>=</a:t>
            </a:r>
            <a:r>
              <a:rPr sz="1100" spc="25" dirty="0">
                <a:latin typeface="Calibri"/>
                <a:cs typeface="Calibri"/>
              </a:rPr>
              <a:t> </a:t>
            </a:r>
            <a:r>
              <a:rPr sz="1100" dirty="0">
                <a:latin typeface="Calibri"/>
                <a:cs typeface="Calibri"/>
              </a:rPr>
              <a:t>600</a:t>
            </a:r>
            <a:r>
              <a:rPr sz="1100" spc="75" dirty="0">
                <a:latin typeface="Calibri"/>
                <a:cs typeface="Calibri"/>
              </a:rPr>
              <a:t> </a:t>
            </a:r>
            <a:r>
              <a:rPr sz="1100" spc="-25" dirty="0">
                <a:latin typeface="Georgia"/>
                <a:cs typeface="Georgia"/>
              </a:rPr>
              <a:t>uniformly</a:t>
            </a:r>
            <a:r>
              <a:rPr sz="1100" spc="65" dirty="0">
                <a:latin typeface="Georgia"/>
                <a:cs typeface="Georgia"/>
              </a:rPr>
              <a:t> </a:t>
            </a:r>
            <a:r>
              <a:rPr sz="1100" spc="-20" dirty="0">
                <a:latin typeface="Georgia"/>
                <a:cs typeface="Georgia"/>
              </a:rPr>
              <a:t>distributed</a:t>
            </a:r>
            <a:r>
              <a:rPr sz="1100" spc="60" dirty="0">
                <a:latin typeface="Georgia"/>
                <a:cs typeface="Georgia"/>
              </a:rPr>
              <a:t> </a:t>
            </a:r>
            <a:r>
              <a:rPr sz="1100" dirty="0">
                <a:latin typeface="Georgia"/>
                <a:cs typeface="Georgia"/>
              </a:rPr>
              <a:t>data</a:t>
            </a:r>
            <a:r>
              <a:rPr sz="1100" spc="60" dirty="0">
                <a:latin typeface="Georgia"/>
                <a:cs typeface="Georgia"/>
              </a:rPr>
              <a:t> </a:t>
            </a:r>
            <a:r>
              <a:rPr sz="1100" spc="-10" dirty="0">
                <a:latin typeface="Georgia"/>
                <a:cs typeface="Georgia"/>
              </a:rPr>
              <a:t>points,</a:t>
            </a:r>
            <a:r>
              <a:rPr sz="1100" spc="60" dirty="0">
                <a:latin typeface="Georgia"/>
                <a:cs typeface="Georgia"/>
              </a:rPr>
              <a:t> </a:t>
            </a:r>
            <a:r>
              <a:rPr sz="1100" i="1" spc="60" dirty="0">
                <a:latin typeface="Calibri"/>
                <a:cs typeface="Calibri"/>
              </a:rPr>
              <a:t>h</a:t>
            </a:r>
            <a:r>
              <a:rPr sz="1100" i="1" spc="25" dirty="0">
                <a:latin typeface="Calibri"/>
                <a:cs typeface="Calibri"/>
              </a:rPr>
              <a:t> </a:t>
            </a:r>
            <a:r>
              <a:rPr sz="1100" spc="295" dirty="0">
                <a:latin typeface="Calibri"/>
                <a:cs typeface="Calibri"/>
              </a:rPr>
              <a:t>=</a:t>
            </a:r>
            <a:r>
              <a:rPr sz="1100" spc="25" dirty="0">
                <a:latin typeface="Calibri"/>
                <a:cs typeface="Calibri"/>
              </a:rPr>
              <a:t> </a:t>
            </a:r>
            <a:r>
              <a:rPr sz="1100" spc="-25" dirty="0">
                <a:latin typeface="Calibri"/>
                <a:cs typeface="Calibri"/>
              </a:rPr>
              <a:t>90</a:t>
            </a:r>
            <a:r>
              <a:rPr sz="1100" spc="-25" dirty="0">
                <a:latin typeface="Georgia"/>
                <a:cs typeface="Georgia"/>
              </a:rPr>
              <a:t>.</a:t>
            </a:r>
            <a:endParaRPr sz="1100">
              <a:latin typeface="Georgia"/>
              <a:cs typeface="Georgia"/>
            </a:endParaRPr>
          </a:p>
        </p:txBody>
      </p:sp>
      <p:sp>
        <p:nvSpPr>
          <p:cNvPr id="6" name="object 6"/>
          <p:cNvSpPr/>
          <p:nvPr/>
        </p:nvSpPr>
        <p:spPr>
          <a:xfrm>
            <a:off x="337972" y="256054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txBox="1"/>
          <p:nvPr/>
        </p:nvSpPr>
        <p:spPr>
          <a:xfrm>
            <a:off x="600417" y="2442424"/>
            <a:ext cx="200025" cy="252095"/>
          </a:xfrm>
          <a:prstGeom prst="rect">
            <a:avLst/>
          </a:prstGeom>
        </p:spPr>
        <p:txBody>
          <a:bodyPr vert="horz" wrap="square" lIns="0" tIns="29209" rIns="0" bIns="0" rtlCol="0">
            <a:spAutoFit/>
          </a:bodyPr>
          <a:lstStyle/>
          <a:p>
            <a:pPr marL="12700" marR="5080">
              <a:lnSpc>
                <a:spcPts val="830"/>
              </a:lnSpc>
              <a:spcBef>
                <a:spcPts val="229"/>
              </a:spcBef>
            </a:pPr>
            <a:r>
              <a:rPr sz="800" i="1" spc="20" dirty="0">
                <a:latin typeface="Calibri"/>
                <a:cs typeface="Calibri"/>
              </a:rPr>
              <a:t>h</a:t>
            </a:r>
            <a:r>
              <a:rPr sz="800" i="1" spc="100" dirty="0">
                <a:latin typeface="Calibri"/>
                <a:cs typeface="Calibri"/>
              </a:rPr>
              <a:t> i</a:t>
            </a:r>
            <a:r>
              <a:rPr sz="800" spc="100" dirty="0">
                <a:latin typeface="Calibri"/>
                <a:cs typeface="Calibri"/>
              </a:rPr>
              <a:t>=1</a:t>
            </a:r>
            <a:endParaRPr sz="800">
              <a:latin typeface="Calibri"/>
              <a:cs typeface="Calibri"/>
            </a:endParaRPr>
          </a:p>
        </p:txBody>
      </p:sp>
      <p:sp>
        <p:nvSpPr>
          <p:cNvPr id="8" name="object 8"/>
          <p:cNvSpPr txBox="1"/>
          <p:nvPr/>
        </p:nvSpPr>
        <p:spPr>
          <a:xfrm>
            <a:off x="877112" y="2527057"/>
            <a:ext cx="62230" cy="147320"/>
          </a:xfrm>
          <a:prstGeom prst="rect">
            <a:avLst/>
          </a:prstGeom>
        </p:spPr>
        <p:txBody>
          <a:bodyPr vert="horz" wrap="square" lIns="0" tIns="12065" rIns="0" bIns="0" rtlCol="0">
            <a:spAutoFit/>
          </a:bodyPr>
          <a:lstStyle/>
          <a:p>
            <a:pPr marL="12700">
              <a:lnSpc>
                <a:spcPct val="100000"/>
              </a:lnSpc>
              <a:spcBef>
                <a:spcPts val="95"/>
              </a:spcBef>
            </a:pPr>
            <a:r>
              <a:rPr sz="800" i="1" spc="45" dirty="0">
                <a:latin typeface="Calibri"/>
                <a:cs typeface="Calibri"/>
              </a:rPr>
              <a:t>i</a:t>
            </a:r>
            <a:endParaRPr sz="800">
              <a:latin typeface="Calibri"/>
              <a:cs typeface="Calibri"/>
            </a:endParaRPr>
          </a:p>
        </p:txBody>
      </p:sp>
      <p:sp>
        <p:nvSpPr>
          <p:cNvPr id="9" name="object 9"/>
          <p:cNvSpPr txBox="1"/>
          <p:nvPr/>
        </p:nvSpPr>
        <p:spPr>
          <a:xfrm>
            <a:off x="803871" y="2468942"/>
            <a:ext cx="1048385" cy="191770"/>
          </a:xfrm>
          <a:prstGeom prst="rect">
            <a:avLst/>
          </a:prstGeom>
        </p:spPr>
        <p:txBody>
          <a:bodyPr vert="horz" wrap="square" lIns="0" tIns="11430" rIns="0" bIns="0" rtlCol="0">
            <a:spAutoFit/>
          </a:bodyPr>
          <a:lstStyle/>
          <a:p>
            <a:pPr marL="12700">
              <a:lnSpc>
                <a:spcPct val="100000"/>
              </a:lnSpc>
              <a:spcBef>
                <a:spcPts val="90"/>
              </a:spcBef>
            </a:pPr>
            <a:r>
              <a:rPr sz="1100" i="1" dirty="0">
                <a:latin typeface="Calibri"/>
                <a:cs typeface="Calibri"/>
              </a:rPr>
              <a:t>a</a:t>
            </a:r>
            <a:r>
              <a:rPr sz="1100" i="1" spc="340" dirty="0">
                <a:latin typeface="Calibri"/>
                <a:cs typeface="Calibri"/>
              </a:rPr>
              <a:t> </a:t>
            </a:r>
            <a:r>
              <a:rPr sz="1100" spc="295" dirty="0">
                <a:latin typeface="Calibri"/>
                <a:cs typeface="Calibri"/>
              </a:rPr>
              <a:t>=</a:t>
            </a:r>
            <a:r>
              <a:rPr sz="1100" spc="35" dirty="0">
                <a:latin typeface="Calibri"/>
                <a:cs typeface="Calibri"/>
              </a:rPr>
              <a:t> </a:t>
            </a:r>
            <a:r>
              <a:rPr sz="1100" dirty="0">
                <a:latin typeface="Calibri"/>
                <a:cs typeface="Calibri"/>
              </a:rPr>
              <a:t>13</a:t>
            </a:r>
            <a:r>
              <a:rPr sz="1100" i="1" dirty="0">
                <a:latin typeface="Calibri"/>
                <a:cs typeface="Calibri"/>
              </a:rPr>
              <a:t>.</a:t>
            </a:r>
            <a:r>
              <a:rPr sz="1100" dirty="0">
                <a:latin typeface="Calibri"/>
                <a:cs typeface="Calibri"/>
              </a:rPr>
              <a:t>2464</a:t>
            </a:r>
            <a:r>
              <a:rPr sz="1100" spc="80" dirty="0">
                <a:latin typeface="Calibri"/>
                <a:cs typeface="Calibri"/>
              </a:rPr>
              <a:t> </a:t>
            </a:r>
            <a:r>
              <a:rPr sz="1100" spc="-25" dirty="0">
                <a:latin typeface="Georgia"/>
                <a:cs typeface="Georgia"/>
              </a:rPr>
              <a:t>and</a:t>
            </a:r>
            <a:endParaRPr sz="1100">
              <a:latin typeface="Georgia"/>
              <a:cs typeface="Georgia"/>
            </a:endParaRPr>
          </a:p>
        </p:txBody>
      </p:sp>
      <p:sp>
        <p:nvSpPr>
          <p:cNvPr id="11" name="object 11"/>
          <p:cNvSpPr txBox="1"/>
          <p:nvPr/>
        </p:nvSpPr>
        <p:spPr>
          <a:xfrm>
            <a:off x="2018944" y="2442424"/>
            <a:ext cx="200025" cy="252095"/>
          </a:xfrm>
          <a:prstGeom prst="rect">
            <a:avLst/>
          </a:prstGeom>
        </p:spPr>
        <p:txBody>
          <a:bodyPr vert="horz" wrap="square" lIns="0" tIns="29209" rIns="0" bIns="0" rtlCol="0">
            <a:spAutoFit/>
          </a:bodyPr>
          <a:lstStyle/>
          <a:p>
            <a:pPr marL="12700" marR="5080">
              <a:lnSpc>
                <a:spcPts val="830"/>
              </a:lnSpc>
              <a:spcBef>
                <a:spcPts val="229"/>
              </a:spcBef>
            </a:pPr>
            <a:r>
              <a:rPr sz="800" i="1" spc="20" dirty="0">
                <a:latin typeface="Calibri"/>
                <a:cs typeface="Calibri"/>
              </a:rPr>
              <a:t>h</a:t>
            </a:r>
            <a:r>
              <a:rPr sz="800" i="1" spc="100" dirty="0">
                <a:latin typeface="Calibri"/>
                <a:cs typeface="Calibri"/>
              </a:rPr>
              <a:t> i</a:t>
            </a:r>
            <a:r>
              <a:rPr sz="800" spc="100" dirty="0">
                <a:latin typeface="Calibri"/>
                <a:cs typeface="Calibri"/>
              </a:rPr>
              <a:t>=1</a:t>
            </a:r>
            <a:endParaRPr sz="800">
              <a:latin typeface="Calibri"/>
              <a:cs typeface="Calibri"/>
            </a:endParaRPr>
          </a:p>
        </p:txBody>
      </p:sp>
      <p:sp>
        <p:nvSpPr>
          <p:cNvPr id="12" name="object 12"/>
          <p:cNvSpPr txBox="1"/>
          <p:nvPr/>
        </p:nvSpPr>
        <p:spPr>
          <a:xfrm>
            <a:off x="2197011" y="2468942"/>
            <a:ext cx="855980" cy="191770"/>
          </a:xfrm>
          <a:prstGeom prst="rect">
            <a:avLst/>
          </a:prstGeom>
        </p:spPr>
        <p:txBody>
          <a:bodyPr vert="horz" wrap="square" lIns="0" tIns="11430" rIns="0" bIns="0" rtlCol="0">
            <a:spAutoFit/>
          </a:bodyPr>
          <a:lstStyle/>
          <a:p>
            <a:pPr marL="38100">
              <a:lnSpc>
                <a:spcPct val="100000"/>
              </a:lnSpc>
              <a:spcBef>
                <a:spcPts val="90"/>
              </a:spcBef>
            </a:pPr>
            <a:r>
              <a:rPr sz="1100" i="1" dirty="0">
                <a:latin typeface="Calibri"/>
                <a:cs typeface="Calibri"/>
              </a:rPr>
              <a:t>b</a:t>
            </a:r>
            <a:r>
              <a:rPr sz="1200" i="1" baseline="-10416" dirty="0">
                <a:latin typeface="Calibri"/>
                <a:cs typeface="Calibri"/>
              </a:rPr>
              <a:t>i</a:t>
            </a:r>
            <a:r>
              <a:rPr sz="1200" i="1" spc="247" baseline="-10416" dirty="0">
                <a:latin typeface="Calibri"/>
                <a:cs typeface="Calibri"/>
              </a:rPr>
              <a:t> </a:t>
            </a:r>
            <a:r>
              <a:rPr sz="1100" spc="295" dirty="0">
                <a:latin typeface="Calibri"/>
                <a:cs typeface="Calibri"/>
              </a:rPr>
              <a:t>=</a:t>
            </a:r>
            <a:r>
              <a:rPr sz="1100" spc="60" dirty="0">
                <a:latin typeface="Calibri"/>
                <a:cs typeface="Calibri"/>
              </a:rPr>
              <a:t> </a:t>
            </a:r>
            <a:r>
              <a:rPr sz="1100" spc="-10" dirty="0">
                <a:latin typeface="Calibri"/>
                <a:cs typeface="Calibri"/>
              </a:rPr>
              <a:t>45</a:t>
            </a:r>
            <a:r>
              <a:rPr sz="1100" i="1" spc="-10" dirty="0">
                <a:latin typeface="Calibri"/>
                <a:cs typeface="Calibri"/>
              </a:rPr>
              <a:t>.</a:t>
            </a:r>
            <a:r>
              <a:rPr sz="1100" spc="-10" dirty="0">
                <a:latin typeface="Calibri"/>
                <a:cs typeface="Calibri"/>
              </a:rPr>
              <a:t>1340</a:t>
            </a:r>
            <a:r>
              <a:rPr sz="1100" spc="-10" dirty="0">
                <a:latin typeface="Georgia"/>
                <a:cs typeface="Georgia"/>
              </a:rPr>
              <a:t>.</a:t>
            </a:r>
            <a:endParaRPr sz="1100">
              <a:latin typeface="Georgia"/>
              <a:cs typeface="Georgia"/>
            </a:endParaRPr>
          </a:p>
        </p:txBody>
      </p:sp>
      <p:sp>
        <p:nvSpPr>
          <p:cNvPr id="13" name="object 13"/>
          <p:cNvSpPr/>
          <p:nvPr/>
        </p:nvSpPr>
        <p:spPr>
          <a:xfrm>
            <a:off x="337972" y="279877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4" name="object 14"/>
          <p:cNvSpPr txBox="1"/>
          <p:nvPr/>
        </p:nvSpPr>
        <p:spPr>
          <a:xfrm>
            <a:off x="454177" y="2707168"/>
            <a:ext cx="3779520" cy="191770"/>
          </a:xfrm>
          <a:prstGeom prst="rect">
            <a:avLst/>
          </a:prstGeom>
        </p:spPr>
        <p:txBody>
          <a:bodyPr vert="horz" wrap="square" lIns="0" tIns="11430" rIns="0" bIns="0" rtlCol="0">
            <a:spAutoFit/>
          </a:bodyPr>
          <a:lstStyle/>
          <a:p>
            <a:pPr marL="12700">
              <a:lnSpc>
                <a:spcPct val="100000"/>
              </a:lnSpc>
              <a:spcBef>
                <a:spcPts val="90"/>
              </a:spcBef>
            </a:pPr>
            <a:r>
              <a:rPr sz="1100" spc="-35" dirty="0">
                <a:latin typeface="Georgia"/>
                <a:cs typeface="Georgia"/>
              </a:rPr>
              <a:t>Hopkins</a:t>
            </a:r>
            <a:r>
              <a:rPr sz="1100" spc="65" dirty="0">
                <a:latin typeface="Georgia"/>
                <a:cs typeface="Georgia"/>
              </a:rPr>
              <a:t> </a:t>
            </a:r>
            <a:r>
              <a:rPr sz="1100" dirty="0">
                <a:latin typeface="Georgia"/>
                <a:cs typeface="Georgia"/>
              </a:rPr>
              <a:t>statistic:</a:t>
            </a:r>
            <a:r>
              <a:rPr sz="1100" spc="175" dirty="0">
                <a:latin typeface="Georgia"/>
                <a:cs typeface="Georgia"/>
              </a:rPr>
              <a:t> </a:t>
            </a:r>
            <a:r>
              <a:rPr sz="1100" i="1" spc="210" dirty="0">
                <a:latin typeface="Calibri"/>
                <a:cs typeface="Calibri"/>
              </a:rPr>
              <a:t>H</a:t>
            </a:r>
            <a:r>
              <a:rPr sz="1100" i="1" spc="105" dirty="0">
                <a:latin typeface="Calibri"/>
                <a:cs typeface="Calibri"/>
              </a:rPr>
              <a:t> </a:t>
            </a:r>
            <a:r>
              <a:rPr sz="1100" spc="295" dirty="0">
                <a:latin typeface="Calibri"/>
                <a:cs typeface="Calibri"/>
              </a:rPr>
              <a:t>=</a:t>
            </a:r>
            <a:r>
              <a:rPr sz="1100" spc="35" dirty="0">
                <a:latin typeface="Calibri"/>
                <a:cs typeface="Calibri"/>
              </a:rPr>
              <a:t> </a:t>
            </a:r>
            <a:r>
              <a:rPr sz="1100" dirty="0">
                <a:latin typeface="Calibri"/>
                <a:cs typeface="Calibri"/>
              </a:rPr>
              <a:t>45</a:t>
            </a:r>
            <a:r>
              <a:rPr sz="1100" i="1" dirty="0">
                <a:latin typeface="Calibri"/>
                <a:cs typeface="Calibri"/>
              </a:rPr>
              <a:t>.</a:t>
            </a:r>
            <a:r>
              <a:rPr sz="1100" dirty="0">
                <a:latin typeface="Calibri"/>
                <a:cs typeface="Calibri"/>
              </a:rPr>
              <a:t>1340</a:t>
            </a:r>
            <a:r>
              <a:rPr sz="1100" i="1" dirty="0">
                <a:latin typeface="Calibri"/>
                <a:cs typeface="Calibri"/>
              </a:rPr>
              <a:t>/</a:t>
            </a:r>
            <a:r>
              <a:rPr sz="1100" dirty="0">
                <a:latin typeface="Calibri"/>
                <a:cs typeface="Calibri"/>
              </a:rPr>
              <a:t>(45</a:t>
            </a:r>
            <a:r>
              <a:rPr sz="1100" i="1" dirty="0">
                <a:latin typeface="Calibri"/>
                <a:cs typeface="Calibri"/>
              </a:rPr>
              <a:t>.</a:t>
            </a:r>
            <a:r>
              <a:rPr sz="1100" dirty="0">
                <a:latin typeface="Calibri"/>
                <a:cs typeface="Calibri"/>
              </a:rPr>
              <a:t>1340</a:t>
            </a:r>
            <a:r>
              <a:rPr sz="1100" spc="-30" dirty="0">
                <a:latin typeface="Calibri"/>
                <a:cs typeface="Calibri"/>
              </a:rPr>
              <a:t> </a:t>
            </a:r>
            <a:r>
              <a:rPr sz="1100" spc="295" dirty="0">
                <a:latin typeface="Calibri"/>
                <a:cs typeface="Calibri"/>
              </a:rPr>
              <a:t>+</a:t>
            </a:r>
            <a:r>
              <a:rPr sz="1100" spc="-30" dirty="0">
                <a:latin typeface="Calibri"/>
                <a:cs typeface="Calibri"/>
              </a:rPr>
              <a:t> </a:t>
            </a:r>
            <a:r>
              <a:rPr sz="1100" dirty="0">
                <a:latin typeface="Calibri"/>
                <a:cs typeface="Calibri"/>
              </a:rPr>
              <a:t>13</a:t>
            </a:r>
            <a:r>
              <a:rPr sz="1100" i="1" dirty="0">
                <a:latin typeface="Calibri"/>
                <a:cs typeface="Calibri"/>
              </a:rPr>
              <a:t>.</a:t>
            </a:r>
            <a:r>
              <a:rPr sz="1100" dirty="0">
                <a:latin typeface="Calibri"/>
                <a:cs typeface="Calibri"/>
              </a:rPr>
              <a:t>2464)</a:t>
            </a:r>
            <a:r>
              <a:rPr sz="1100" spc="30" dirty="0">
                <a:latin typeface="Calibri"/>
                <a:cs typeface="Calibri"/>
              </a:rPr>
              <a:t> </a:t>
            </a:r>
            <a:r>
              <a:rPr sz="1100" spc="295" dirty="0">
                <a:latin typeface="Calibri"/>
                <a:cs typeface="Calibri"/>
              </a:rPr>
              <a:t>=</a:t>
            </a:r>
            <a:r>
              <a:rPr sz="1100" spc="30" dirty="0">
                <a:latin typeface="Calibri"/>
                <a:cs typeface="Calibri"/>
              </a:rPr>
              <a:t> </a:t>
            </a:r>
            <a:r>
              <a:rPr sz="1100" spc="-10" dirty="0">
                <a:latin typeface="Cambria"/>
                <a:cs typeface="Cambria"/>
              </a:rPr>
              <a:t>0</a:t>
            </a:r>
            <a:r>
              <a:rPr sz="1100" i="1" spc="-10" dirty="0">
                <a:latin typeface="Calibri"/>
                <a:cs typeface="Calibri"/>
              </a:rPr>
              <a:t>.</a:t>
            </a:r>
            <a:r>
              <a:rPr sz="1100" spc="-10" dirty="0">
                <a:latin typeface="Cambria"/>
                <a:cs typeface="Cambria"/>
              </a:rPr>
              <a:t>7731</a:t>
            </a:r>
            <a:endParaRPr sz="1100">
              <a:latin typeface="Cambria"/>
              <a:cs typeface="Cambria"/>
            </a:endParaRPr>
          </a:p>
        </p:txBody>
      </p:sp>
      <p:grpSp>
        <p:nvGrpSpPr>
          <p:cNvPr id="15" name="object 15"/>
          <p:cNvGrpSpPr/>
          <p:nvPr/>
        </p:nvGrpSpPr>
        <p:grpSpPr>
          <a:xfrm>
            <a:off x="0" y="3121545"/>
            <a:ext cx="5760085" cy="118745"/>
            <a:chOff x="0" y="3121545"/>
            <a:chExt cx="5760085" cy="118745"/>
          </a:xfrm>
        </p:grpSpPr>
        <p:sp>
          <p:nvSpPr>
            <p:cNvPr id="16" name="object 1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7" name="object 1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9" name="object 1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20" name="object 20"/>
          <p:cNvSpPr txBox="1"/>
          <p:nvPr/>
        </p:nvSpPr>
        <p:spPr>
          <a:xfrm>
            <a:off x="4456523" y="3118867"/>
            <a:ext cx="334645" cy="121920"/>
          </a:xfrm>
          <a:prstGeom prst="rect">
            <a:avLst/>
          </a:prstGeom>
        </p:spPr>
        <p:txBody>
          <a:bodyPr vert="horz" wrap="square" lIns="0" tIns="8255" rIns="0" bIns="0" rtlCol="0">
            <a:spAutoFit/>
          </a:bodyPr>
          <a:lstStyle/>
          <a:p>
            <a:pPr marL="12700">
              <a:lnSpc>
                <a:spcPct val="100000"/>
              </a:lnSpc>
              <a:spcBef>
                <a:spcPts val="65"/>
              </a:spcBef>
            </a:pPr>
            <a:r>
              <a:rPr sz="600" dirty="0">
                <a:solidFill>
                  <a:srgbClr val="7A0000"/>
                </a:solidFill>
                <a:latin typeface="Georgia"/>
                <a:cs typeface="Georgia"/>
              </a:rPr>
              <a:t>35</a:t>
            </a:r>
            <a:r>
              <a:rPr sz="600" spc="20" dirty="0">
                <a:solidFill>
                  <a:srgbClr val="7A0000"/>
                </a:solidFill>
                <a:latin typeface="Georgia"/>
                <a:cs typeface="Georgia"/>
              </a:rPr>
              <a:t> </a:t>
            </a:r>
            <a:r>
              <a:rPr sz="600" spc="75" dirty="0">
                <a:solidFill>
                  <a:srgbClr val="7A0000"/>
                </a:solidFill>
                <a:latin typeface="Georgia"/>
                <a:cs typeface="Georgia"/>
              </a:rPr>
              <a:t>/</a:t>
            </a:r>
            <a:r>
              <a:rPr sz="600" spc="20" dirty="0">
                <a:solidFill>
                  <a:srgbClr val="7A0000"/>
                </a:solidFill>
                <a:latin typeface="Georgia"/>
                <a:cs typeface="Georgia"/>
              </a:rPr>
              <a:t> </a:t>
            </a:r>
            <a:r>
              <a:rPr sz="600" spc="35" dirty="0">
                <a:solidFill>
                  <a:srgbClr val="7A0000"/>
                </a:solidFill>
                <a:latin typeface="Georgia"/>
                <a:cs typeface="Georgia"/>
              </a:rPr>
              <a:t>135</a:t>
            </a:r>
            <a:endParaRPr sz="600">
              <a:latin typeface="Georgia"/>
              <a:cs typeface="Georgia"/>
            </a:endParaRP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1A2D5BC3-3914-BAC7-B91E-9DFDB11E4BFE}"/>
                  </a:ext>
                </a:extLst>
              </p:cNvPr>
              <p:cNvSpPr txBox="1"/>
              <p:nvPr/>
            </p:nvSpPr>
            <p:spPr>
              <a:xfrm>
                <a:off x="361595" y="2401959"/>
                <a:ext cx="202755" cy="3904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nary>
                        <m:naryPr>
                          <m:chr m:val="∑"/>
                          <m:subHide m:val="on"/>
                          <m:supHide m:val="on"/>
                          <m:ctrlPr>
                            <a:rPr lang="en-VN" sz="800" i="1">
                              <a:latin typeface="Cambria Math" panose="02040503050406030204" pitchFamily="18" charset="0"/>
                            </a:rPr>
                          </m:ctrlPr>
                        </m:naryPr>
                        <m:sub/>
                        <m:sup/>
                        <m:e/>
                      </m:nary>
                    </m:oMath>
                  </m:oMathPara>
                </a14:m>
                <a:endParaRPr lang="en-VN" sz="800"/>
              </a:p>
            </p:txBody>
          </p:sp>
        </mc:Choice>
        <mc:Fallback>
          <p:sp>
            <p:nvSpPr>
              <p:cNvPr id="22" name="TextBox 21">
                <a:extLst>
                  <a:ext uri="{FF2B5EF4-FFF2-40B4-BE49-F238E27FC236}">
                    <a16:creationId xmlns:a16="http://schemas.microsoft.com/office/drawing/2014/main" id="{1A2D5BC3-3914-BAC7-B91E-9DFDB11E4BFE}"/>
                  </a:ext>
                </a:extLst>
              </p:cNvPr>
              <p:cNvSpPr txBox="1">
                <a:spLocks noRot="1" noChangeAspect="1" noMove="1" noResize="1" noEditPoints="1" noAdjustHandles="1" noChangeArrowheads="1" noChangeShapeType="1" noTextEdit="1"/>
              </p:cNvSpPr>
              <p:nvPr/>
            </p:nvSpPr>
            <p:spPr>
              <a:xfrm>
                <a:off x="361595" y="2401959"/>
                <a:ext cx="202755" cy="390492"/>
              </a:xfrm>
              <a:prstGeom prst="rect">
                <a:avLst/>
              </a:prstGeom>
              <a:blipFill>
                <a:blip r:embed="rId4"/>
                <a:stretch>
                  <a:fillRect l="-135294" t="-100000" r="-129412" b="-14193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E74D4F53-EF43-878D-0D8D-6C315AD7C98F}"/>
                  </a:ext>
                </a:extLst>
              </p:cNvPr>
              <p:cNvSpPr txBox="1"/>
              <p:nvPr/>
            </p:nvSpPr>
            <p:spPr>
              <a:xfrm>
                <a:off x="1787931" y="2368582"/>
                <a:ext cx="202755" cy="3904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nary>
                        <m:naryPr>
                          <m:chr m:val="∑"/>
                          <m:subHide m:val="on"/>
                          <m:supHide m:val="on"/>
                          <m:ctrlPr>
                            <a:rPr lang="en-VN" sz="800" i="1">
                              <a:latin typeface="Cambria Math" panose="02040503050406030204" pitchFamily="18" charset="0"/>
                            </a:rPr>
                          </m:ctrlPr>
                        </m:naryPr>
                        <m:sub/>
                        <m:sup/>
                        <m:e/>
                      </m:nary>
                    </m:oMath>
                  </m:oMathPara>
                </a14:m>
                <a:endParaRPr lang="en-VN" sz="800"/>
              </a:p>
            </p:txBody>
          </p:sp>
        </mc:Choice>
        <mc:Fallback>
          <p:sp>
            <p:nvSpPr>
              <p:cNvPr id="23" name="TextBox 22">
                <a:extLst>
                  <a:ext uri="{FF2B5EF4-FFF2-40B4-BE49-F238E27FC236}">
                    <a16:creationId xmlns:a16="http://schemas.microsoft.com/office/drawing/2014/main" id="{E74D4F53-EF43-878D-0D8D-6C315AD7C98F}"/>
                  </a:ext>
                </a:extLst>
              </p:cNvPr>
              <p:cNvSpPr txBox="1">
                <a:spLocks noRot="1" noChangeAspect="1" noMove="1" noResize="1" noEditPoints="1" noAdjustHandles="1" noChangeArrowheads="1" noChangeShapeType="1" noTextEdit="1"/>
              </p:cNvSpPr>
              <p:nvPr/>
            </p:nvSpPr>
            <p:spPr>
              <a:xfrm>
                <a:off x="1787931" y="2368582"/>
                <a:ext cx="202755" cy="390492"/>
              </a:xfrm>
              <a:prstGeom prst="rect">
                <a:avLst/>
              </a:prstGeom>
              <a:blipFill>
                <a:blip r:embed="rId5"/>
                <a:stretch>
                  <a:fillRect l="-135294" t="-93750" r="-129412" b="-137500"/>
                </a:stretch>
              </a:blipFill>
            </p:spPr>
            <p:txBody>
              <a:bodyPr/>
              <a:lstStyle/>
              <a:p>
                <a:r>
                  <a:rPr lang="en-VN">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Example</a:t>
            </a:r>
            <a:r>
              <a:rPr spc="210" dirty="0"/>
              <a:t> </a:t>
            </a:r>
            <a:r>
              <a:rPr spc="10" dirty="0"/>
              <a:t>of</a:t>
            </a:r>
            <a:r>
              <a:rPr spc="215" dirty="0"/>
              <a:t> </a:t>
            </a:r>
            <a:r>
              <a:rPr spc="10" dirty="0"/>
              <a:t>Hopkins</a:t>
            </a:r>
            <a:r>
              <a:rPr spc="220" dirty="0"/>
              <a:t> </a:t>
            </a:r>
            <a:r>
              <a:rPr spc="10" dirty="0"/>
              <a:t>statistic</a:t>
            </a:r>
            <a:r>
              <a:rPr spc="215" dirty="0"/>
              <a:t> </a:t>
            </a:r>
            <a:r>
              <a:rPr spc="10" dirty="0"/>
              <a:t>with</a:t>
            </a:r>
            <a:r>
              <a:rPr spc="215" dirty="0"/>
              <a:t> </a:t>
            </a:r>
            <a:r>
              <a:rPr spc="10" dirty="0"/>
              <a:t>normal</a:t>
            </a:r>
            <a:r>
              <a:rPr spc="220" dirty="0"/>
              <a:t> </a:t>
            </a:r>
            <a:r>
              <a:rPr spc="10" dirty="0"/>
              <a:t>distribution</a:t>
            </a:r>
            <a:r>
              <a:rPr spc="220" dirty="0"/>
              <a:t> </a:t>
            </a:r>
            <a:r>
              <a:rPr spc="70" dirty="0"/>
              <a:t>data</a:t>
            </a:r>
            <a:r>
              <a:rPr spc="215" dirty="0"/>
              <a:t> </a:t>
            </a:r>
            <a:r>
              <a:rPr spc="-10" dirty="0"/>
              <a:t>(cont’d)</a:t>
            </a:r>
          </a:p>
        </p:txBody>
      </p:sp>
      <p:pic>
        <p:nvPicPr>
          <p:cNvPr id="3" name="object 3"/>
          <p:cNvPicPr/>
          <p:nvPr/>
        </p:nvPicPr>
        <p:blipFill>
          <a:blip r:embed="rId2" cstate="print"/>
          <a:stretch>
            <a:fillRect/>
          </a:stretch>
        </p:blipFill>
        <p:spPr>
          <a:xfrm>
            <a:off x="380263" y="497928"/>
            <a:ext cx="4990338" cy="1579626"/>
          </a:xfrm>
          <a:prstGeom prst="rect">
            <a:avLst/>
          </a:prstGeom>
        </p:spPr>
      </p:pic>
      <p:sp>
        <p:nvSpPr>
          <p:cNvPr id="4" name="object 4"/>
          <p:cNvSpPr/>
          <p:nvPr/>
        </p:nvSpPr>
        <p:spPr>
          <a:xfrm>
            <a:off x="337972" y="232531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454177" y="2233712"/>
            <a:ext cx="3908425" cy="191770"/>
          </a:xfrm>
          <a:prstGeom prst="rect">
            <a:avLst/>
          </a:prstGeom>
        </p:spPr>
        <p:txBody>
          <a:bodyPr vert="horz" wrap="square" lIns="0" tIns="11430" rIns="0" bIns="0" rtlCol="0">
            <a:spAutoFit/>
          </a:bodyPr>
          <a:lstStyle/>
          <a:p>
            <a:pPr marL="12700">
              <a:lnSpc>
                <a:spcPct val="100000"/>
              </a:lnSpc>
              <a:spcBef>
                <a:spcPts val="90"/>
              </a:spcBef>
            </a:pPr>
            <a:r>
              <a:rPr sz="1100" spc="114" dirty="0">
                <a:latin typeface="Cambria"/>
                <a:cs typeface="Cambria"/>
              </a:rPr>
              <a:t>D</a:t>
            </a:r>
            <a:r>
              <a:rPr sz="1100" spc="100" dirty="0">
                <a:latin typeface="Cambria"/>
                <a:cs typeface="Cambria"/>
              </a:rPr>
              <a:t> </a:t>
            </a:r>
            <a:r>
              <a:rPr sz="1100" spc="-25" dirty="0">
                <a:latin typeface="Georgia"/>
                <a:cs typeface="Georgia"/>
              </a:rPr>
              <a:t>consists</a:t>
            </a:r>
            <a:r>
              <a:rPr sz="1100" spc="65" dirty="0">
                <a:latin typeface="Georgia"/>
                <a:cs typeface="Georgia"/>
              </a:rPr>
              <a:t> </a:t>
            </a:r>
            <a:r>
              <a:rPr sz="1100" dirty="0">
                <a:latin typeface="Georgia"/>
                <a:cs typeface="Georgia"/>
              </a:rPr>
              <a:t>of</a:t>
            </a:r>
            <a:r>
              <a:rPr sz="1100" spc="60" dirty="0">
                <a:latin typeface="Georgia"/>
                <a:cs typeface="Georgia"/>
              </a:rPr>
              <a:t> </a:t>
            </a:r>
            <a:r>
              <a:rPr sz="1100" i="1" spc="90" dirty="0">
                <a:latin typeface="Calibri"/>
                <a:cs typeface="Calibri"/>
              </a:rPr>
              <a:t>n</a:t>
            </a:r>
            <a:r>
              <a:rPr sz="1100" i="1" spc="20" dirty="0">
                <a:latin typeface="Calibri"/>
                <a:cs typeface="Calibri"/>
              </a:rPr>
              <a:t> </a:t>
            </a:r>
            <a:r>
              <a:rPr sz="1100" spc="295" dirty="0">
                <a:latin typeface="Calibri"/>
                <a:cs typeface="Calibri"/>
              </a:rPr>
              <a:t>=</a:t>
            </a:r>
            <a:r>
              <a:rPr sz="1100" spc="25" dirty="0">
                <a:latin typeface="Calibri"/>
                <a:cs typeface="Calibri"/>
              </a:rPr>
              <a:t> </a:t>
            </a:r>
            <a:r>
              <a:rPr sz="1100" dirty="0">
                <a:latin typeface="Calibri"/>
                <a:cs typeface="Calibri"/>
              </a:rPr>
              <a:t>600</a:t>
            </a:r>
            <a:r>
              <a:rPr sz="1100" spc="75" dirty="0">
                <a:latin typeface="Calibri"/>
                <a:cs typeface="Calibri"/>
              </a:rPr>
              <a:t> </a:t>
            </a:r>
            <a:r>
              <a:rPr sz="1100" spc="-25" dirty="0">
                <a:latin typeface="Georgia"/>
                <a:cs typeface="Georgia"/>
              </a:rPr>
              <a:t>uniformly</a:t>
            </a:r>
            <a:r>
              <a:rPr sz="1100" spc="65" dirty="0">
                <a:latin typeface="Georgia"/>
                <a:cs typeface="Georgia"/>
              </a:rPr>
              <a:t> </a:t>
            </a:r>
            <a:r>
              <a:rPr sz="1100" spc="-20" dirty="0">
                <a:latin typeface="Georgia"/>
                <a:cs typeface="Georgia"/>
              </a:rPr>
              <a:t>distributed</a:t>
            </a:r>
            <a:r>
              <a:rPr sz="1100" spc="60" dirty="0">
                <a:latin typeface="Georgia"/>
                <a:cs typeface="Georgia"/>
              </a:rPr>
              <a:t> </a:t>
            </a:r>
            <a:r>
              <a:rPr sz="1100" dirty="0">
                <a:latin typeface="Georgia"/>
                <a:cs typeface="Georgia"/>
              </a:rPr>
              <a:t>data</a:t>
            </a:r>
            <a:r>
              <a:rPr sz="1100" spc="60" dirty="0">
                <a:latin typeface="Georgia"/>
                <a:cs typeface="Georgia"/>
              </a:rPr>
              <a:t> </a:t>
            </a:r>
            <a:r>
              <a:rPr sz="1100" spc="-10" dirty="0">
                <a:latin typeface="Georgia"/>
                <a:cs typeface="Georgia"/>
              </a:rPr>
              <a:t>points,</a:t>
            </a:r>
            <a:r>
              <a:rPr sz="1100" spc="60" dirty="0">
                <a:latin typeface="Georgia"/>
                <a:cs typeface="Georgia"/>
              </a:rPr>
              <a:t> </a:t>
            </a:r>
            <a:r>
              <a:rPr sz="1100" i="1" spc="60" dirty="0">
                <a:latin typeface="Calibri"/>
                <a:cs typeface="Calibri"/>
              </a:rPr>
              <a:t>h</a:t>
            </a:r>
            <a:r>
              <a:rPr sz="1100" i="1" spc="25" dirty="0">
                <a:latin typeface="Calibri"/>
                <a:cs typeface="Calibri"/>
              </a:rPr>
              <a:t> </a:t>
            </a:r>
            <a:r>
              <a:rPr sz="1100" spc="295" dirty="0">
                <a:latin typeface="Calibri"/>
                <a:cs typeface="Calibri"/>
              </a:rPr>
              <a:t>=</a:t>
            </a:r>
            <a:r>
              <a:rPr sz="1100" spc="25" dirty="0">
                <a:latin typeface="Calibri"/>
                <a:cs typeface="Calibri"/>
              </a:rPr>
              <a:t> </a:t>
            </a:r>
            <a:r>
              <a:rPr sz="1100" spc="-25" dirty="0">
                <a:latin typeface="Calibri"/>
                <a:cs typeface="Calibri"/>
              </a:rPr>
              <a:t>90</a:t>
            </a:r>
            <a:r>
              <a:rPr sz="1100" spc="-25" dirty="0">
                <a:latin typeface="Georgia"/>
                <a:cs typeface="Georgia"/>
              </a:rPr>
              <a:t>.</a:t>
            </a:r>
            <a:endParaRPr sz="1100">
              <a:latin typeface="Georgia"/>
              <a:cs typeface="Georgia"/>
            </a:endParaRPr>
          </a:p>
        </p:txBody>
      </p:sp>
      <p:sp>
        <p:nvSpPr>
          <p:cNvPr id="6" name="object 6"/>
          <p:cNvSpPr/>
          <p:nvPr/>
        </p:nvSpPr>
        <p:spPr>
          <a:xfrm>
            <a:off x="337972" y="2590990"/>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txBox="1"/>
          <p:nvPr/>
        </p:nvSpPr>
        <p:spPr>
          <a:xfrm>
            <a:off x="600417" y="2472866"/>
            <a:ext cx="200025" cy="252095"/>
          </a:xfrm>
          <a:prstGeom prst="rect">
            <a:avLst/>
          </a:prstGeom>
        </p:spPr>
        <p:txBody>
          <a:bodyPr vert="horz" wrap="square" lIns="0" tIns="29209" rIns="0" bIns="0" rtlCol="0">
            <a:spAutoFit/>
          </a:bodyPr>
          <a:lstStyle/>
          <a:p>
            <a:pPr marL="12700" marR="5080">
              <a:lnSpc>
                <a:spcPts val="830"/>
              </a:lnSpc>
              <a:spcBef>
                <a:spcPts val="229"/>
              </a:spcBef>
            </a:pPr>
            <a:r>
              <a:rPr sz="800" i="1" spc="20" dirty="0">
                <a:latin typeface="Calibri"/>
                <a:cs typeface="Calibri"/>
              </a:rPr>
              <a:t>h</a:t>
            </a:r>
            <a:r>
              <a:rPr sz="800" i="1" spc="100" dirty="0">
                <a:latin typeface="Calibri"/>
                <a:cs typeface="Calibri"/>
              </a:rPr>
              <a:t> i</a:t>
            </a:r>
            <a:r>
              <a:rPr sz="800" spc="100" dirty="0">
                <a:latin typeface="Calibri"/>
                <a:cs typeface="Calibri"/>
              </a:rPr>
              <a:t>=1</a:t>
            </a:r>
            <a:endParaRPr sz="800">
              <a:latin typeface="Calibri"/>
              <a:cs typeface="Calibri"/>
            </a:endParaRPr>
          </a:p>
        </p:txBody>
      </p:sp>
      <p:sp>
        <p:nvSpPr>
          <p:cNvPr id="8" name="object 8"/>
          <p:cNvSpPr txBox="1"/>
          <p:nvPr/>
        </p:nvSpPr>
        <p:spPr>
          <a:xfrm>
            <a:off x="877112" y="2557486"/>
            <a:ext cx="62230" cy="147320"/>
          </a:xfrm>
          <a:prstGeom prst="rect">
            <a:avLst/>
          </a:prstGeom>
        </p:spPr>
        <p:txBody>
          <a:bodyPr vert="horz" wrap="square" lIns="0" tIns="12065" rIns="0" bIns="0" rtlCol="0">
            <a:spAutoFit/>
          </a:bodyPr>
          <a:lstStyle/>
          <a:p>
            <a:pPr marL="12700">
              <a:lnSpc>
                <a:spcPct val="100000"/>
              </a:lnSpc>
              <a:spcBef>
                <a:spcPts val="95"/>
              </a:spcBef>
            </a:pPr>
            <a:r>
              <a:rPr sz="800" i="1" spc="45" dirty="0">
                <a:latin typeface="Calibri"/>
                <a:cs typeface="Calibri"/>
              </a:rPr>
              <a:t>i</a:t>
            </a:r>
            <a:endParaRPr sz="800">
              <a:latin typeface="Calibri"/>
              <a:cs typeface="Calibri"/>
            </a:endParaRPr>
          </a:p>
        </p:txBody>
      </p:sp>
      <p:sp>
        <p:nvSpPr>
          <p:cNvPr id="9" name="object 9"/>
          <p:cNvSpPr txBox="1"/>
          <p:nvPr/>
        </p:nvSpPr>
        <p:spPr>
          <a:xfrm>
            <a:off x="803871" y="2499384"/>
            <a:ext cx="979169" cy="191770"/>
          </a:xfrm>
          <a:prstGeom prst="rect">
            <a:avLst/>
          </a:prstGeom>
        </p:spPr>
        <p:txBody>
          <a:bodyPr vert="horz" wrap="square" lIns="0" tIns="11430" rIns="0" bIns="0" rtlCol="0">
            <a:spAutoFit/>
          </a:bodyPr>
          <a:lstStyle/>
          <a:p>
            <a:pPr marL="12700">
              <a:lnSpc>
                <a:spcPct val="100000"/>
              </a:lnSpc>
              <a:spcBef>
                <a:spcPts val="90"/>
              </a:spcBef>
            </a:pPr>
            <a:r>
              <a:rPr sz="1100" i="1" dirty="0">
                <a:latin typeface="Calibri"/>
                <a:cs typeface="Calibri"/>
              </a:rPr>
              <a:t>a</a:t>
            </a:r>
            <a:r>
              <a:rPr sz="1100" i="1" spc="355" dirty="0">
                <a:latin typeface="Calibri"/>
                <a:cs typeface="Calibri"/>
              </a:rPr>
              <a:t> </a:t>
            </a:r>
            <a:r>
              <a:rPr sz="1100" spc="295" dirty="0">
                <a:latin typeface="Calibri"/>
                <a:cs typeface="Calibri"/>
              </a:rPr>
              <a:t>=</a:t>
            </a:r>
            <a:r>
              <a:rPr sz="1100" spc="35" dirty="0">
                <a:latin typeface="Calibri"/>
                <a:cs typeface="Calibri"/>
              </a:rPr>
              <a:t> </a:t>
            </a:r>
            <a:r>
              <a:rPr sz="1100" dirty="0">
                <a:latin typeface="Calibri"/>
                <a:cs typeface="Calibri"/>
              </a:rPr>
              <a:t>9</a:t>
            </a:r>
            <a:r>
              <a:rPr sz="1100" i="1" dirty="0">
                <a:latin typeface="Calibri"/>
                <a:cs typeface="Calibri"/>
              </a:rPr>
              <a:t>.</a:t>
            </a:r>
            <a:r>
              <a:rPr sz="1100" dirty="0">
                <a:latin typeface="Calibri"/>
                <a:cs typeface="Calibri"/>
              </a:rPr>
              <a:t>3838</a:t>
            </a:r>
            <a:r>
              <a:rPr sz="1100" spc="90" dirty="0">
                <a:latin typeface="Calibri"/>
                <a:cs typeface="Calibri"/>
              </a:rPr>
              <a:t> </a:t>
            </a:r>
            <a:r>
              <a:rPr sz="1100" spc="-25" dirty="0">
                <a:latin typeface="Georgia"/>
                <a:cs typeface="Georgia"/>
              </a:rPr>
              <a:t>and</a:t>
            </a:r>
            <a:endParaRPr sz="1100">
              <a:latin typeface="Georgia"/>
              <a:cs typeface="Georgia"/>
            </a:endParaRPr>
          </a:p>
        </p:txBody>
      </p:sp>
      <p:sp>
        <p:nvSpPr>
          <p:cNvPr id="11" name="object 11"/>
          <p:cNvSpPr txBox="1"/>
          <p:nvPr/>
        </p:nvSpPr>
        <p:spPr>
          <a:xfrm>
            <a:off x="1949678" y="2472866"/>
            <a:ext cx="200025" cy="252095"/>
          </a:xfrm>
          <a:prstGeom prst="rect">
            <a:avLst/>
          </a:prstGeom>
        </p:spPr>
        <p:txBody>
          <a:bodyPr vert="horz" wrap="square" lIns="0" tIns="29209" rIns="0" bIns="0" rtlCol="0">
            <a:spAutoFit/>
          </a:bodyPr>
          <a:lstStyle/>
          <a:p>
            <a:pPr marL="12700" marR="5080">
              <a:lnSpc>
                <a:spcPts val="830"/>
              </a:lnSpc>
              <a:spcBef>
                <a:spcPts val="229"/>
              </a:spcBef>
            </a:pPr>
            <a:r>
              <a:rPr sz="800" i="1" spc="20" dirty="0">
                <a:latin typeface="Calibri"/>
                <a:cs typeface="Calibri"/>
              </a:rPr>
              <a:t>h</a:t>
            </a:r>
            <a:r>
              <a:rPr sz="800" i="1" spc="100" dirty="0">
                <a:latin typeface="Calibri"/>
                <a:cs typeface="Calibri"/>
              </a:rPr>
              <a:t> i</a:t>
            </a:r>
            <a:r>
              <a:rPr sz="800" spc="100" dirty="0">
                <a:latin typeface="Calibri"/>
                <a:cs typeface="Calibri"/>
              </a:rPr>
              <a:t>=1</a:t>
            </a:r>
            <a:endParaRPr sz="800">
              <a:latin typeface="Calibri"/>
              <a:cs typeface="Calibri"/>
            </a:endParaRPr>
          </a:p>
        </p:txBody>
      </p:sp>
      <p:sp>
        <p:nvSpPr>
          <p:cNvPr id="12" name="object 12"/>
          <p:cNvSpPr txBox="1"/>
          <p:nvPr/>
        </p:nvSpPr>
        <p:spPr>
          <a:xfrm>
            <a:off x="2127732" y="2499384"/>
            <a:ext cx="855980" cy="191770"/>
          </a:xfrm>
          <a:prstGeom prst="rect">
            <a:avLst/>
          </a:prstGeom>
        </p:spPr>
        <p:txBody>
          <a:bodyPr vert="horz" wrap="square" lIns="0" tIns="11430" rIns="0" bIns="0" rtlCol="0">
            <a:spAutoFit/>
          </a:bodyPr>
          <a:lstStyle/>
          <a:p>
            <a:pPr marL="38100">
              <a:lnSpc>
                <a:spcPct val="100000"/>
              </a:lnSpc>
              <a:spcBef>
                <a:spcPts val="90"/>
              </a:spcBef>
            </a:pPr>
            <a:r>
              <a:rPr sz="1100" i="1" dirty="0">
                <a:latin typeface="Calibri"/>
                <a:cs typeface="Calibri"/>
              </a:rPr>
              <a:t>b</a:t>
            </a:r>
            <a:r>
              <a:rPr sz="1200" i="1" baseline="-10416" dirty="0">
                <a:latin typeface="Calibri"/>
                <a:cs typeface="Calibri"/>
              </a:rPr>
              <a:t>i</a:t>
            </a:r>
            <a:r>
              <a:rPr sz="1200" i="1" spc="247" baseline="-10416" dirty="0">
                <a:latin typeface="Calibri"/>
                <a:cs typeface="Calibri"/>
              </a:rPr>
              <a:t> </a:t>
            </a:r>
            <a:r>
              <a:rPr sz="1100" spc="295" dirty="0">
                <a:latin typeface="Calibri"/>
                <a:cs typeface="Calibri"/>
              </a:rPr>
              <a:t>=</a:t>
            </a:r>
            <a:r>
              <a:rPr sz="1100" spc="60" dirty="0">
                <a:latin typeface="Calibri"/>
                <a:cs typeface="Calibri"/>
              </a:rPr>
              <a:t> </a:t>
            </a:r>
            <a:r>
              <a:rPr sz="1100" spc="-10" dirty="0">
                <a:latin typeface="Calibri"/>
                <a:cs typeface="Calibri"/>
              </a:rPr>
              <a:t>81</a:t>
            </a:r>
            <a:r>
              <a:rPr sz="1100" i="1" spc="-10" dirty="0">
                <a:latin typeface="Calibri"/>
                <a:cs typeface="Calibri"/>
              </a:rPr>
              <a:t>.</a:t>
            </a:r>
            <a:r>
              <a:rPr sz="1100" spc="-10" dirty="0">
                <a:latin typeface="Calibri"/>
                <a:cs typeface="Calibri"/>
              </a:rPr>
              <a:t>5614</a:t>
            </a:r>
            <a:r>
              <a:rPr sz="1100" spc="-10" dirty="0">
                <a:latin typeface="Georgia"/>
                <a:cs typeface="Georgia"/>
              </a:rPr>
              <a:t>.</a:t>
            </a:r>
            <a:endParaRPr sz="1100">
              <a:latin typeface="Georgia"/>
              <a:cs typeface="Georgia"/>
            </a:endParaRPr>
          </a:p>
        </p:txBody>
      </p:sp>
      <p:sp>
        <p:nvSpPr>
          <p:cNvPr id="13" name="object 13"/>
          <p:cNvSpPr/>
          <p:nvPr/>
        </p:nvSpPr>
        <p:spPr>
          <a:xfrm>
            <a:off x="337972" y="282920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4" name="object 14"/>
          <p:cNvSpPr txBox="1"/>
          <p:nvPr/>
        </p:nvSpPr>
        <p:spPr>
          <a:xfrm>
            <a:off x="454177" y="2737598"/>
            <a:ext cx="3709670" cy="191770"/>
          </a:xfrm>
          <a:prstGeom prst="rect">
            <a:avLst/>
          </a:prstGeom>
        </p:spPr>
        <p:txBody>
          <a:bodyPr vert="horz" wrap="square" lIns="0" tIns="11430" rIns="0" bIns="0" rtlCol="0">
            <a:spAutoFit/>
          </a:bodyPr>
          <a:lstStyle/>
          <a:p>
            <a:pPr marL="12700">
              <a:lnSpc>
                <a:spcPct val="100000"/>
              </a:lnSpc>
              <a:spcBef>
                <a:spcPts val="90"/>
              </a:spcBef>
            </a:pPr>
            <a:r>
              <a:rPr sz="1100" spc="-35" dirty="0">
                <a:latin typeface="Georgia"/>
                <a:cs typeface="Georgia"/>
              </a:rPr>
              <a:t>Hopkins</a:t>
            </a:r>
            <a:r>
              <a:rPr sz="1100" spc="70" dirty="0">
                <a:latin typeface="Georgia"/>
                <a:cs typeface="Georgia"/>
              </a:rPr>
              <a:t> </a:t>
            </a:r>
            <a:r>
              <a:rPr sz="1100" dirty="0">
                <a:latin typeface="Georgia"/>
                <a:cs typeface="Georgia"/>
              </a:rPr>
              <a:t>statistic:</a:t>
            </a:r>
            <a:r>
              <a:rPr sz="1100" spc="175" dirty="0">
                <a:latin typeface="Georgia"/>
                <a:cs typeface="Georgia"/>
              </a:rPr>
              <a:t> </a:t>
            </a:r>
            <a:r>
              <a:rPr sz="1100" i="1" spc="210" dirty="0">
                <a:latin typeface="Calibri"/>
                <a:cs typeface="Calibri"/>
              </a:rPr>
              <a:t>H</a:t>
            </a:r>
            <a:r>
              <a:rPr sz="1100" i="1" spc="114" dirty="0">
                <a:latin typeface="Calibri"/>
                <a:cs typeface="Calibri"/>
              </a:rPr>
              <a:t> </a:t>
            </a:r>
            <a:r>
              <a:rPr sz="1100" spc="295" dirty="0">
                <a:latin typeface="Calibri"/>
                <a:cs typeface="Calibri"/>
              </a:rPr>
              <a:t>=</a:t>
            </a:r>
            <a:r>
              <a:rPr sz="1100" spc="30" dirty="0">
                <a:latin typeface="Calibri"/>
                <a:cs typeface="Calibri"/>
              </a:rPr>
              <a:t> </a:t>
            </a:r>
            <a:r>
              <a:rPr sz="1100" dirty="0">
                <a:latin typeface="Calibri"/>
                <a:cs typeface="Calibri"/>
              </a:rPr>
              <a:t>81</a:t>
            </a:r>
            <a:r>
              <a:rPr sz="1100" i="1" dirty="0">
                <a:latin typeface="Calibri"/>
                <a:cs typeface="Calibri"/>
              </a:rPr>
              <a:t>.</a:t>
            </a:r>
            <a:r>
              <a:rPr sz="1100" dirty="0">
                <a:latin typeface="Calibri"/>
                <a:cs typeface="Calibri"/>
              </a:rPr>
              <a:t>5614</a:t>
            </a:r>
            <a:r>
              <a:rPr sz="1100" i="1" dirty="0">
                <a:latin typeface="Calibri"/>
                <a:cs typeface="Calibri"/>
              </a:rPr>
              <a:t>/</a:t>
            </a:r>
            <a:r>
              <a:rPr sz="1100" dirty="0">
                <a:latin typeface="Calibri"/>
                <a:cs typeface="Calibri"/>
              </a:rPr>
              <a:t>(81</a:t>
            </a:r>
            <a:r>
              <a:rPr sz="1100" i="1" dirty="0">
                <a:latin typeface="Calibri"/>
                <a:cs typeface="Calibri"/>
              </a:rPr>
              <a:t>.</a:t>
            </a:r>
            <a:r>
              <a:rPr sz="1100" dirty="0">
                <a:latin typeface="Calibri"/>
                <a:cs typeface="Calibri"/>
              </a:rPr>
              <a:t>5614</a:t>
            </a:r>
            <a:r>
              <a:rPr sz="1100" spc="-25" dirty="0">
                <a:latin typeface="Calibri"/>
                <a:cs typeface="Calibri"/>
              </a:rPr>
              <a:t> </a:t>
            </a:r>
            <a:r>
              <a:rPr sz="1100" spc="295" dirty="0">
                <a:latin typeface="Calibri"/>
                <a:cs typeface="Calibri"/>
              </a:rPr>
              <a:t>+</a:t>
            </a:r>
            <a:r>
              <a:rPr sz="1100" spc="-25" dirty="0">
                <a:latin typeface="Calibri"/>
                <a:cs typeface="Calibri"/>
              </a:rPr>
              <a:t> </a:t>
            </a:r>
            <a:r>
              <a:rPr sz="1100" dirty="0">
                <a:latin typeface="Calibri"/>
                <a:cs typeface="Calibri"/>
              </a:rPr>
              <a:t>9</a:t>
            </a:r>
            <a:r>
              <a:rPr sz="1100" i="1" dirty="0">
                <a:latin typeface="Calibri"/>
                <a:cs typeface="Calibri"/>
              </a:rPr>
              <a:t>.</a:t>
            </a:r>
            <a:r>
              <a:rPr sz="1100" dirty="0">
                <a:latin typeface="Calibri"/>
                <a:cs typeface="Calibri"/>
              </a:rPr>
              <a:t>3838)</a:t>
            </a:r>
            <a:r>
              <a:rPr sz="1100" spc="30" dirty="0">
                <a:latin typeface="Calibri"/>
                <a:cs typeface="Calibri"/>
              </a:rPr>
              <a:t> </a:t>
            </a:r>
            <a:r>
              <a:rPr sz="1100" spc="295" dirty="0">
                <a:latin typeface="Calibri"/>
                <a:cs typeface="Calibri"/>
              </a:rPr>
              <a:t>=</a:t>
            </a:r>
            <a:r>
              <a:rPr sz="1100" spc="30" dirty="0">
                <a:latin typeface="Calibri"/>
                <a:cs typeface="Calibri"/>
              </a:rPr>
              <a:t> </a:t>
            </a:r>
            <a:r>
              <a:rPr sz="1100" spc="-10" dirty="0">
                <a:latin typeface="Cambria"/>
                <a:cs typeface="Cambria"/>
              </a:rPr>
              <a:t>0</a:t>
            </a:r>
            <a:r>
              <a:rPr sz="1100" i="1" spc="-10" dirty="0">
                <a:latin typeface="Calibri"/>
                <a:cs typeface="Calibri"/>
              </a:rPr>
              <a:t>.</a:t>
            </a:r>
            <a:r>
              <a:rPr sz="1100" spc="-10" dirty="0">
                <a:latin typeface="Cambria"/>
                <a:cs typeface="Cambria"/>
              </a:rPr>
              <a:t>8968</a:t>
            </a:r>
            <a:endParaRPr sz="1100">
              <a:latin typeface="Cambria"/>
              <a:cs typeface="Cambria"/>
            </a:endParaRPr>
          </a:p>
        </p:txBody>
      </p:sp>
      <p:grpSp>
        <p:nvGrpSpPr>
          <p:cNvPr id="15" name="object 15"/>
          <p:cNvGrpSpPr/>
          <p:nvPr/>
        </p:nvGrpSpPr>
        <p:grpSpPr>
          <a:xfrm>
            <a:off x="0" y="3121545"/>
            <a:ext cx="5760085" cy="118745"/>
            <a:chOff x="0" y="3121545"/>
            <a:chExt cx="5760085" cy="118745"/>
          </a:xfrm>
        </p:grpSpPr>
        <p:sp>
          <p:nvSpPr>
            <p:cNvPr id="16" name="object 1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7" name="object 1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8" name="object 1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9" name="object 1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20" name="object 2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37</a:t>
            </a:fld>
            <a:r>
              <a:rPr spc="5" dirty="0"/>
              <a:t> </a:t>
            </a:r>
            <a:r>
              <a:rPr spc="75" dirty="0"/>
              <a:t>/</a:t>
            </a:r>
            <a:r>
              <a:rPr spc="10" dirty="0"/>
              <a:t> </a:t>
            </a:r>
            <a:r>
              <a:rPr spc="35" dirty="0"/>
              <a:t>135</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5A2861DF-C7F5-DED6-7609-4B454F36E4BF}"/>
                  </a:ext>
                </a:extLst>
              </p:cNvPr>
              <p:cNvSpPr txBox="1"/>
              <p:nvPr/>
            </p:nvSpPr>
            <p:spPr>
              <a:xfrm>
                <a:off x="367817" y="2405652"/>
                <a:ext cx="202755" cy="3904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nary>
                        <m:naryPr>
                          <m:chr m:val="∑"/>
                          <m:subHide m:val="on"/>
                          <m:supHide m:val="on"/>
                          <m:ctrlPr>
                            <a:rPr lang="en-VN" sz="800" i="1">
                              <a:latin typeface="Cambria Math" panose="02040503050406030204" pitchFamily="18" charset="0"/>
                            </a:rPr>
                          </m:ctrlPr>
                        </m:naryPr>
                        <m:sub/>
                        <m:sup/>
                        <m:e/>
                      </m:nary>
                    </m:oMath>
                  </m:oMathPara>
                </a14:m>
                <a:endParaRPr lang="en-VN" sz="800"/>
              </a:p>
            </p:txBody>
          </p:sp>
        </mc:Choice>
        <mc:Fallback>
          <p:sp>
            <p:nvSpPr>
              <p:cNvPr id="21" name="TextBox 20">
                <a:extLst>
                  <a:ext uri="{FF2B5EF4-FFF2-40B4-BE49-F238E27FC236}">
                    <a16:creationId xmlns:a16="http://schemas.microsoft.com/office/drawing/2014/main" id="{5A2861DF-C7F5-DED6-7609-4B454F36E4BF}"/>
                  </a:ext>
                </a:extLst>
              </p:cNvPr>
              <p:cNvSpPr txBox="1">
                <a:spLocks noRot="1" noChangeAspect="1" noMove="1" noResize="1" noEditPoints="1" noAdjustHandles="1" noChangeArrowheads="1" noChangeShapeType="1" noTextEdit="1"/>
              </p:cNvSpPr>
              <p:nvPr/>
            </p:nvSpPr>
            <p:spPr>
              <a:xfrm>
                <a:off x="367817" y="2405652"/>
                <a:ext cx="202755" cy="390492"/>
              </a:xfrm>
              <a:prstGeom prst="rect">
                <a:avLst/>
              </a:prstGeom>
              <a:blipFill>
                <a:blip r:embed="rId4"/>
                <a:stretch>
                  <a:fillRect l="-127778" t="-96875" r="-116667" b="-1375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19C4AC6C-CC77-D42C-3A73-B5CE6ED6C542}"/>
                  </a:ext>
                </a:extLst>
              </p:cNvPr>
              <p:cNvSpPr txBox="1"/>
              <p:nvPr/>
            </p:nvSpPr>
            <p:spPr>
              <a:xfrm>
                <a:off x="1719808" y="2402955"/>
                <a:ext cx="202755" cy="390492"/>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nary>
                        <m:naryPr>
                          <m:chr m:val="∑"/>
                          <m:subHide m:val="on"/>
                          <m:supHide m:val="on"/>
                          <m:ctrlPr>
                            <a:rPr lang="en-VN" sz="800" i="1">
                              <a:latin typeface="Cambria Math" panose="02040503050406030204" pitchFamily="18" charset="0"/>
                            </a:rPr>
                          </m:ctrlPr>
                        </m:naryPr>
                        <m:sub/>
                        <m:sup/>
                        <m:e/>
                      </m:nary>
                    </m:oMath>
                  </m:oMathPara>
                </a14:m>
                <a:endParaRPr lang="en-VN" sz="800"/>
              </a:p>
            </p:txBody>
          </p:sp>
        </mc:Choice>
        <mc:Fallback>
          <p:sp>
            <p:nvSpPr>
              <p:cNvPr id="22" name="TextBox 21">
                <a:extLst>
                  <a:ext uri="{FF2B5EF4-FFF2-40B4-BE49-F238E27FC236}">
                    <a16:creationId xmlns:a16="http://schemas.microsoft.com/office/drawing/2014/main" id="{19C4AC6C-CC77-D42C-3A73-B5CE6ED6C542}"/>
                  </a:ext>
                </a:extLst>
              </p:cNvPr>
              <p:cNvSpPr txBox="1">
                <a:spLocks noRot="1" noChangeAspect="1" noMove="1" noResize="1" noEditPoints="1" noAdjustHandles="1" noChangeArrowheads="1" noChangeShapeType="1" noTextEdit="1"/>
              </p:cNvSpPr>
              <p:nvPr/>
            </p:nvSpPr>
            <p:spPr>
              <a:xfrm>
                <a:off x="1719808" y="2402955"/>
                <a:ext cx="202755" cy="390492"/>
              </a:xfrm>
              <a:prstGeom prst="rect">
                <a:avLst/>
              </a:prstGeom>
              <a:blipFill>
                <a:blip r:embed="rId5"/>
                <a:stretch>
                  <a:fillRect l="-135294" t="-100000" r="-129412" b="-141935"/>
                </a:stretch>
              </a:blipFill>
            </p:spPr>
            <p:txBody>
              <a:bodyPr/>
              <a:lstStyle/>
              <a:p>
                <a:r>
                  <a:rPr lang="en-VN">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Outline</a:t>
            </a:r>
          </a:p>
        </p:txBody>
      </p:sp>
      <p:sp>
        <p:nvSpPr>
          <p:cNvPr id="3" name="object 3"/>
          <p:cNvSpPr/>
          <p:nvPr/>
        </p:nvSpPr>
        <p:spPr>
          <a:xfrm>
            <a:off x="171615" y="515531"/>
            <a:ext cx="122555" cy="122555"/>
          </a:xfrm>
          <a:custGeom>
            <a:avLst/>
            <a:gdLst/>
            <a:ahLst/>
            <a:cxnLst/>
            <a:rect l="l" t="t" r="r" b="b"/>
            <a:pathLst>
              <a:path w="122554" h="122554">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4" name="object 4"/>
          <p:cNvSpPr/>
          <p:nvPr/>
        </p:nvSpPr>
        <p:spPr>
          <a:xfrm>
            <a:off x="171615" y="819784"/>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5" name="object 5"/>
          <p:cNvSpPr/>
          <p:nvPr/>
        </p:nvSpPr>
        <p:spPr>
          <a:xfrm>
            <a:off x="171615" y="1124038"/>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6" name="object 6"/>
          <p:cNvSpPr/>
          <p:nvPr/>
        </p:nvSpPr>
        <p:spPr>
          <a:xfrm>
            <a:off x="171615" y="1428280"/>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7" name="object 7"/>
          <p:cNvSpPr/>
          <p:nvPr/>
        </p:nvSpPr>
        <p:spPr>
          <a:xfrm>
            <a:off x="171615" y="1732533"/>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8" name="object 8"/>
          <p:cNvSpPr/>
          <p:nvPr/>
        </p:nvSpPr>
        <p:spPr>
          <a:xfrm>
            <a:off x="171615" y="2036787"/>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9" name="object 9"/>
          <p:cNvSpPr/>
          <p:nvPr/>
        </p:nvSpPr>
        <p:spPr>
          <a:xfrm>
            <a:off x="171615" y="2341041"/>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0" name="object 10"/>
          <p:cNvSpPr/>
          <p:nvPr/>
        </p:nvSpPr>
        <p:spPr>
          <a:xfrm>
            <a:off x="171615" y="2645282"/>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1" name="object 11"/>
          <p:cNvSpPr txBox="1"/>
          <p:nvPr/>
        </p:nvSpPr>
        <p:spPr>
          <a:xfrm>
            <a:off x="188556" y="465047"/>
            <a:ext cx="2435225" cy="2321560"/>
          </a:xfrm>
          <a:prstGeom prst="rect">
            <a:avLst/>
          </a:prstGeom>
        </p:spPr>
        <p:txBody>
          <a:bodyPr vert="horz" wrap="square" lIns="0" tIns="11430" rIns="0" bIns="0" rtlCol="0">
            <a:spAutoFit/>
          </a:bodyPr>
          <a:lstStyle/>
          <a:p>
            <a:pPr marL="178435" indent="-165735">
              <a:lnSpc>
                <a:spcPct val="100000"/>
              </a:lnSpc>
              <a:spcBef>
                <a:spcPts val="90"/>
              </a:spcBef>
              <a:buClr>
                <a:srgbClr val="FFFFFF"/>
              </a:buClr>
              <a:buSzPct val="90909"/>
              <a:buAutoNum type="arabicPlain"/>
              <a:tabLst>
                <a:tab pos="178435" algn="l"/>
              </a:tabLst>
            </a:pPr>
            <a:r>
              <a:rPr sz="1100" dirty="0">
                <a:solidFill>
                  <a:srgbClr val="CCCCCC"/>
                </a:solidFill>
                <a:latin typeface="Georgia"/>
                <a:cs typeface="Georgia"/>
                <a:hlinkClick r:id="rId2" action="ppaction://hlinksldjump"/>
              </a:rPr>
              <a:t>Data</a:t>
            </a:r>
            <a:r>
              <a:rPr sz="1100" spc="90" dirty="0">
                <a:solidFill>
                  <a:srgbClr val="CCCCCC"/>
                </a:solidFill>
                <a:latin typeface="Georgia"/>
                <a:cs typeface="Georgia"/>
                <a:hlinkClick r:id="rId2" action="ppaction://hlinksldjump"/>
              </a:rPr>
              <a:t> </a:t>
            </a:r>
            <a:r>
              <a:rPr sz="1100" spc="-25" dirty="0">
                <a:solidFill>
                  <a:srgbClr val="CCCCCC"/>
                </a:solidFill>
                <a:latin typeface="Georgia"/>
                <a:cs typeface="Georgia"/>
                <a:hlinkClick r:id="rId2" action="ppaction://hlinksldjump"/>
              </a:rPr>
              <a:t>clustering</a:t>
            </a:r>
            <a:r>
              <a:rPr sz="1100" spc="90" dirty="0">
                <a:solidFill>
                  <a:srgbClr val="CCCCCC"/>
                </a:solidFill>
                <a:latin typeface="Georgia"/>
                <a:cs typeface="Georgia"/>
                <a:hlinkClick r:id="rId2" action="ppaction://hlinksldjump"/>
              </a:rPr>
              <a:t> </a:t>
            </a:r>
            <a:r>
              <a:rPr sz="1100" spc="-10" dirty="0">
                <a:solidFill>
                  <a:srgbClr val="CCCCCC"/>
                </a:solidFill>
                <a:latin typeface="Georgia"/>
                <a:cs typeface="Georgia"/>
                <a:hlinkClick r:id="rId2" action="ppaction://hlinksldjump"/>
              </a:rPr>
              <a:t>concepts</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dirty="0">
                <a:solidFill>
                  <a:srgbClr val="CCCCCC"/>
                </a:solidFill>
                <a:latin typeface="Georgia"/>
                <a:cs typeface="Georgia"/>
                <a:hlinkClick r:id="rId3" action="ppaction://hlinksldjump"/>
              </a:rPr>
              <a:t>Data</a:t>
            </a:r>
            <a:r>
              <a:rPr sz="1100" spc="60" dirty="0">
                <a:solidFill>
                  <a:srgbClr val="CCCCCC"/>
                </a:solidFill>
                <a:latin typeface="Georgia"/>
                <a:cs typeface="Georgia"/>
                <a:hlinkClick r:id="rId3" action="ppaction://hlinksldjump"/>
              </a:rPr>
              <a:t> </a:t>
            </a:r>
            <a:r>
              <a:rPr sz="1100" spc="-30" dirty="0">
                <a:solidFill>
                  <a:srgbClr val="CCCCCC"/>
                </a:solidFill>
                <a:latin typeface="Georgia"/>
                <a:cs typeface="Georgia"/>
                <a:hlinkClick r:id="rId3" action="ppaction://hlinksldjump"/>
              </a:rPr>
              <a:t>understanding</a:t>
            </a:r>
            <a:r>
              <a:rPr sz="1100" spc="65" dirty="0">
                <a:solidFill>
                  <a:srgbClr val="CCCCCC"/>
                </a:solidFill>
                <a:latin typeface="Georgia"/>
                <a:cs typeface="Georgia"/>
                <a:hlinkClick r:id="rId3" action="ppaction://hlinksldjump"/>
              </a:rPr>
              <a:t> </a:t>
            </a:r>
            <a:r>
              <a:rPr sz="1100" spc="-25" dirty="0">
                <a:solidFill>
                  <a:srgbClr val="CCCCCC"/>
                </a:solidFill>
                <a:latin typeface="Georgia"/>
                <a:cs typeface="Georgia"/>
                <a:hlinkClick r:id="rId3" action="ppaction://hlinksldjump"/>
              </a:rPr>
              <a:t>before</a:t>
            </a:r>
            <a:r>
              <a:rPr sz="1100" spc="60" dirty="0">
                <a:solidFill>
                  <a:srgbClr val="CCCCCC"/>
                </a:solidFill>
                <a:latin typeface="Georgia"/>
                <a:cs typeface="Georgia"/>
                <a:hlinkClick r:id="rId3" action="ppaction://hlinksldjump"/>
              </a:rPr>
              <a:t> </a:t>
            </a:r>
            <a:r>
              <a:rPr sz="1100" spc="-10" dirty="0">
                <a:solidFill>
                  <a:srgbClr val="CCCCCC"/>
                </a:solidFill>
                <a:latin typeface="Georgia"/>
                <a:cs typeface="Georgia"/>
                <a:hlinkClick r:id="rId3"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0" dirty="0">
                <a:latin typeface="Georgia"/>
                <a:cs typeface="Georgia"/>
                <a:hlinkClick r:id="rId4" action="ppaction://hlinksldjump"/>
              </a:rPr>
              <a:t>Hierarchical</a:t>
            </a:r>
            <a:r>
              <a:rPr sz="1100" spc="30" dirty="0">
                <a:latin typeface="Georgia"/>
                <a:cs typeface="Georgia"/>
                <a:hlinkClick r:id="rId4" action="ppaction://hlinksldjump"/>
              </a:rPr>
              <a:t> </a:t>
            </a:r>
            <a:r>
              <a:rPr sz="1100" spc="-10" dirty="0">
                <a:latin typeface="Georgia"/>
                <a:cs typeface="Georgia"/>
                <a:hlinkClick r:id="rId4"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rId5" action="ppaction://hlinksldjump"/>
              </a:rPr>
              <a:t>Partitioning</a:t>
            </a:r>
            <a:r>
              <a:rPr sz="1100" spc="20" dirty="0">
                <a:solidFill>
                  <a:srgbClr val="CCCCCC"/>
                </a:solidFill>
                <a:latin typeface="Georgia"/>
                <a:cs typeface="Georgia"/>
                <a:hlinkClick r:id="rId5" action="ppaction://hlinksldjump"/>
              </a:rPr>
              <a:t> </a:t>
            </a:r>
            <a:r>
              <a:rPr sz="1100" spc="-10" dirty="0">
                <a:solidFill>
                  <a:srgbClr val="CCCCCC"/>
                </a:solidFill>
                <a:latin typeface="Georgia"/>
                <a:cs typeface="Georgia"/>
                <a:hlinkClick r:id="rId5"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rId6" action="ppaction://hlinksldjump"/>
              </a:rPr>
              <a:t>Distribution–based</a:t>
            </a:r>
            <a:r>
              <a:rPr sz="1100" spc="145" dirty="0">
                <a:solidFill>
                  <a:srgbClr val="CCCCCC"/>
                </a:solidFill>
                <a:latin typeface="Georgia"/>
                <a:cs typeface="Georgia"/>
                <a:hlinkClick r:id="rId6" action="ppaction://hlinksldjump"/>
              </a:rPr>
              <a:t> </a:t>
            </a:r>
            <a:r>
              <a:rPr sz="1100" spc="-10" dirty="0">
                <a:solidFill>
                  <a:srgbClr val="CCCCCC"/>
                </a:solidFill>
                <a:latin typeface="Georgia"/>
                <a:cs typeface="Georgia"/>
                <a:hlinkClick r:id="rId6" action="ppaction://hlinksldjump"/>
              </a:rPr>
              <a:t>clustering</a:t>
            </a:r>
            <a:endParaRPr sz="1100">
              <a:latin typeface="Georgia"/>
              <a:cs typeface="Georgia"/>
            </a:endParaRPr>
          </a:p>
          <a:p>
            <a:pPr marL="178435" indent="-165735">
              <a:lnSpc>
                <a:spcPct val="100000"/>
              </a:lnSpc>
              <a:spcBef>
                <a:spcPts val="1080"/>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Density–based</a:t>
            </a:r>
            <a:r>
              <a:rPr sz="1100" spc="7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 action="ppaction://noaction"/>
              </a:rPr>
              <a:t>Clustering</a:t>
            </a:r>
            <a:r>
              <a:rPr sz="1100" spc="20" dirty="0">
                <a:solidFill>
                  <a:srgbClr val="CCCCCC"/>
                </a:solidFill>
                <a:latin typeface="Georgia"/>
                <a:cs typeface="Georgia"/>
                <a:hlinkClick r:id="" action="ppaction://noaction"/>
              </a:rPr>
              <a:t> </a:t>
            </a:r>
            <a:r>
              <a:rPr sz="1100" spc="-20" dirty="0">
                <a:solidFill>
                  <a:srgbClr val="CCCCCC"/>
                </a:solidFill>
                <a:latin typeface="Georgia"/>
                <a:cs typeface="Georgia"/>
                <a:hlinkClick r:id="" action="ppaction://noaction"/>
              </a:rPr>
              <a:t>validation</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evaluation</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References</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5"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Summary</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7" action="ppaction://hlinksldjump"/>
              </a:rPr>
              <a:t>data</a:t>
            </a:r>
            <a:r>
              <a:rPr sz="600" spc="110" dirty="0">
                <a:solidFill>
                  <a:srgbClr val="7A0000"/>
                </a:solidFill>
                <a:latin typeface="Georgia"/>
                <a:cs typeface="Georgia"/>
                <a:hlinkClick r:id="rId7" action="ppaction://hlinksldjump"/>
              </a:rPr>
              <a:t> </a:t>
            </a:r>
            <a:r>
              <a:rPr sz="600" spc="-10" dirty="0">
                <a:solidFill>
                  <a:srgbClr val="7A0000"/>
                </a:solidFill>
                <a:latin typeface="Georgia"/>
                <a:cs typeface="Georgia"/>
                <a:hlinkClick r:id="rId7"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38</a:t>
            </a:fld>
            <a:r>
              <a:rPr spc="5" dirty="0"/>
              <a:t> </a:t>
            </a:r>
            <a:r>
              <a:rPr spc="75" dirty="0"/>
              <a:t>/</a:t>
            </a:r>
            <a:r>
              <a:rPr spc="10" dirty="0"/>
              <a:t> </a:t>
            </a:r>
            <a:r>
              <a:rPr spc="35" dirty="0"/>
              <a:t>135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Hierarchical</a:t>
            </a:r>
            <a:r>
              <a:rPr spc="265" dirty="0"/>
              <a:t> </a:t>
            </a:r>
            <a:r>
              <a:rPr spc="-10" dirty="0"/>
              <a:t>clustering</a:t>
            </a:r>
          </a:p>
        </p:txBody>
      </p:sp>
      <p:sp>
        <p:nvSpPr>
          <p:cNvPr id="3" name="object 3"/>
          <p:cNvSpPr/>
          <p:nvPr/>
        </p:nvSpPr>
        <p:spPr>
          <a:xfrm>
            <a:off x="337972" y="76198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95718" rIns="0" bIns="0" rtlCol="0">
            <a:spAutoFit/>
          </a:bodyPr>
          <a:lstStyle/>
          <a:p>
            <a:pPr marL="12700" marR="57150">
              <a:lnSpc>
                <a:spcPts val="1150"/>
              </a:lnSpc>
              <a:spcBef>
                <a:spcPts val="270"/>
              </a:spcBef>
            </a:pPr>
            <a:r>
              <a:rPr dirty="0"/>
              <a:t>Given</a:t>
            </a:r>
            <a:r>
              <a:rPr spc="35" dirty="0"/>
              <a:t> </a:t>
            </a:r>
            <a:r>
              <a:rPr dirty="0"/>
              <a:t>dataset</a:t>
            </a:r>
            <a:r>
              <a:rPr spc="40" dirty="0"/>
              <a:t> </a:t>
            </a:r>
            <a:r>
              <a:rPr spc="114" dirty="0">
                <a:latin typeface="Cambria"/>
                <a:cs typeface="Cambria"/>
              </a:rPr>
              <a:t>D</a:t>
            </a:r>
            <a:r>
              <a:rPr spc="80" dirty="0">
                <a:latin typeface="Cambria"/>
                <a:cs typeface="Cambria"/>
              </a:rPr>
              <a:t> </a:t>
            </a:r>
            <a:r>
              <a:rPr spc="-25" dirty="0"/>
              <a:t>consisting</a:t>
            </a:r>
            <a:r>
              <a:rPr spc="40" dirty="0"/>
              <a:t> </a:t>
            </a:r>
            <a:r>
              <a:rPr dirty="0"/>
              <a:t>of</a:t>
            </a:r>
            <a:r>
              <a:rPr spc="35" dirty="0"/>
              <a:t> </a:t>
            </a:r>
            <a:r>
              <a:rPr i="1" spc="90" dirty="0">
                <a:latin typeface="Calibri"/>
                <a:cs typeface="Calibri"/>
              </a:rPr>
              <a:t>n</a:t>
            </a:r>
            <a:r>
              <a:rPr i="1" spc="55" dirty="0">
                <a:latin typeface="Calibri"/>
                <a:cs typeface="Calibri"/>
              </a:rPr>
              <a:t> </a:t>
            </a:r>
            <a:r>
              <a:rPr dirty="0"/>
              <a:t>data</a:t>
            </a:r>
            <a:r>
              <a:rPr spc="40" dirty="0"/>
              <a:t> </a:t>
            </a:r>
            <a:r>
              <a:rPr spc="-10" dirty="0"/>
              <a:t>points</a:t>
            </a:r>
            <a:r>
              <a:rPr spc="35" dirty="0"/>
              <a:t> </a:t>
            </a:r>
            <a:r>
              <a:rPr dirty="0"/>
              <a:t>in</a:t>
            </a:r>
            <a:r>
              <a:rPr spc="40" dirty="0"/>
              <a:t> </a:t>
            </a:r>
            <a:r>
              <a:rPr dirty="0"/>
              <a:t>a</a:t>
            </a:r>
            <a:r>
              <a:rPr spc="40" dirty="0"/>
              <a:t> </a:t>
            </a:r>
            <a:r>
              <a:rPr i="1" spc="-45" dirty="0">
                <a:latin typeface="Calibri"/>
                <a:cs typeface="Calibri"/>
              </a:rPr>
              <a:t>d</a:t>
            </a:r>
            <a:r>
              <a:rPr spc="-45" dirty="0"/>
              <a:t>–dimensional</a:t>
            </a:r>
            <a:r>
              <a:rPr spc="40" dirty="0"/>
              <a:t> </a:t>
            </a:r>
            <a:r>
              <a:rPr spc="-10" dirty="0"/>
              <a:t>space,</a:t>
            </a:r>
            <a:r>
              <a:rPr spc="35" dirty="0"/>
              <a:t> </a:t>
            </a:r>
            <a:r>
              <a:rPr dirty="0"/>
              <a:t>the</a:t>
            </a:r>
            <a:r>
              <a:rPr spc="40" dirty="0"/>
              <a:t> </a:t>
            </a:r>
            <a:r>
              <a:rPr dirty="0"/>
              <a:t>goal</a:t>
            </a:r>
            <a:r>
              <a:rPr spc="40" dirty="0"/>
              <a:t> </a:t>
            </a:r>
            <a:r>
              <a:rPr spc="-25" dirty="0"/>
              <a:t>of </a:t>
            </a:r>
            <a:r>
              <a:rPr b="1" spc="-50" dirty="0">
                <a:latin typeface="Georgia"/>
                <a:cs typeface="Georgia"/>
              </a:rPr>
              <a:t>hierarchical</a:t>
            </a:r>
            <a:r>
              <a:rPr b="1" spc="65" dirty="0">
                <a:latin typeface="Georgia"/>
                <a:cs typeface="Georgia"/>
              </a:rPr>
              <a:t> </a:t>
            </a:r>
            <a:r>
              <a:rPr b="1" spc="-40" dirty="0">
                <a:latin typeface="Georgia"/>
                <a:cs typeface="Georgia"/>
              </a:rPr>
              <a:t>clustering</a:t>
            </a:r>
            <a:r>
              <a:rPr b="1" spc="30" dirty="0">
                <a:latin typeface="Georgia"/>
                <a:cs typeface="Georgia"/>
              </a:rPr>
              <a:t> </a:t>
            </a:r>
            <a:r>
              <a:rPr dirty="0"/>
              <a:t>is</a:t>
            </a:r>
            <a:r>
              <a:rPr spc="35" dirty="0"/>
              <a:t> </a:t>
            </a:r>
            <a:r>
              <a:rPr dirty="0"/>
              <a:t>to</a:t>
            </a:r>
            <a:r>
              <a:rPr spc="35" dirty="0"/>
              <a:t> </a:t>
            </a:r>
            <a:r>
              <a:rPr spc="-10" dirty="0"/>
              <a:t>create</a:t>
            </a:r>
            <a:r>
              <a:rPr spc="30" dirty="0"/>
              <a:t> </a:t>
            </a:r>
            <a:r>
              <a:rPr dirty="0"/>
              <a:t>a</a:t>
            </a:r>
            <a:r>
              <a:rPr spc="35" dirty="0"/>
              <a:t> </a:t>
            </a:r>
            <a:r>
              <a:rPr spc="-40" dirty="0"/>
              <a:t>sequence</a:t>
            </a:r>
            <a:r>
              <a:rPr spc="35" dirty="0"/>
              <a:t> </a:t>
            </a:r>
            <a:r>
              <a:rPr dirty="0"/>
              <a:t>of</a:t>
            </a:r>
            <a:r>
              <a:rPr spc="35" dirty="0"/>
              <a:t> </a:t>
            </a:r>
            <a:r>
              <a:rPr spc="-25" dirty="0"/>
              <a:t>nested</a:t>
            </a:r>
            <a:r>
              <a:rPr spc="35" dirty="0"/>
              <a:t> </a:t>
            </a:r>
            <a:r>
              <a:rPr spc="-10" dirty="0"/>
              <a:t>partitions,</a:t>
            </a:r>
            <a:r>
              <a:rPr spc="30" dirty="0"/>
              <a:t> </a:t>
            </a:r>
            <a:r>
              <a:rPr spc="-20" dirty="0"/>
              <a:t>which</a:t>
            </a:r>
            <a:r>
              <a:rPr spc="35" dirty="0"/>
              <a:t> </a:t>
            </a:r>
            <a:r>
              <a:rPr dirty="0"/>
              <a:t>can</a:t>
            </a:r>
            <a:r>
              <a:rPr spc="35" dirty="0"/>
              <a:t> </a:t>
            </a:r>
            <a:r>
              <a:rPr spc="-25" dirty="0"/>
              <a:t>be </a:t>
            </a:r>
            <a:r>
              <a:rPr spc="-30" dirty="0"/>
              <a:t>conveniently</a:t>
            </a:r>
            <a:r>
              <a:rPr spc="30" dirty="0"/>
              <a:t> </a:t>
            </a:r>
            <a:r>
              <a:rPr spc="-20" dirty="0"/>
              <a:t>visualized</a:t>
            </a:r>
            <a:r>
              <a:rPr spc="35" dirty="0"/>
              <a:t> </a:t>
            </a:r>
            <a:r>
              <a:rPr dirty="0"/>
              <a:t>via</a:t>
            </a:r>
            <a:r>
              <a:rPr spc="30" dirty="0"/>
              <a:t> </a:t>
            </a:r>
            <a:r>
              <a:rPr dirty="0"/>
              <a:t>a</a:t>
            </a:r>
            <a:r>
              <a:rPr spc="35" dirty="0"/>
              <a:t> </a:t>
            </a:r>
            <a:r>
              <a:rPr dirty="0"/>
              <a:t>tree</a:t>
            </a:r>
            <a:r>
              <a:rPr spc="35" dirty="0"/>
              <a:t> </a:t>
            </a:r>
            <a:r>
              <a:rPr dirty="0"/>
              <a:t>or</a:t>
            </a:r>
            <a:r>
              <a:rPr spc="30" dirty="0"/>
              <a:t> </a:t>
            </a:r>
            <a:r>
              <a:rPr spc="-25" dirty="0"/>
              <a:t>hierarchy</a:t>
            </a:r>
            <a:r>
              <a:rPr spc="35" dirty="0"/>
              <a:t> </a:t>
            </a:r>
            <a:r>
              <a:rPr dirty="0"/>
              <a:t>of</a:t>
            </a:r>
            <a:r>
              <a:rPr spc="35" dirty="0"/>
              <a:t> </a:t>
            </a:r>
            <a:r>
              <a:rPr spc="-20" dirty="0"/>
              <a:t>clusters,</a:t>
            </a:r>
            <a:r>
              <a:rPr spc="30" dirty="0"/>
              <a:t> </a:t>
            </a:r>
            <a:r>
              <a:rPr dirty="0"/>
              <a:t>also</a:t>
            </a:r>
            <a:r>
              <a:rPr spc="35" dirty="0"/>
              <a:t> </a:t>
            </a:r>
            <a:r>
              <a:rPr spc="-10" dirty="0"/>
              <a:t>called</a:t>
            </a:r>
            <a:r>
              <a:rPr spc="35" dirty="0"/>
              <a:t> </a:t>
            </a:r>
            <a:r>
              <a:rPr dirty="0"/>
              <a:t>the</a:t>
            </a:r>
            <a:r>
              <a:rPr spc="30" dirty="0"/>
              <a:t> </a:t>
            </a:r>
            <a:r>
              <a:rPr spc="-10" dirty="0"/>
              <a:t>cluster </a:t>
            </a:r>
            <a:r>
              <a:rPr b="1" spc="-10" dirty="0">
                <a:latin typeface="Georgia"/>
                <a:cs typeface="Georgia"/>
              </a:rPr>
              <a:t>dendrogram</a:t>
            </a:r>
            <a:r>
              <a:rPr spc="-10" dirty="0"/>
              <a:t>.</a:t>
            </a:r>
          </a:p>
          <a:p>
            <a:pPr marL="12700" marR="5080">
              <a:lnSpc>
                <a:spcPts val="1150"/>
              </a:lnSpc>
              <a:spcBef>
                <a:spcPts val="730"/>
              </a:spcBef>
            </a:pPr>
            <a:r>
              <a:rPr dirty="0"/>
              <a:t>The</a:t>
            </a:r>
            <a:r>
              <a:rPr spc="40" dirty="0"/>
              <a:t> </a:t>
            </a:r>
            <a:r>
              <a:rPr spc="-20" dirty="0"/>
              <a:t>clusters</a:t>
            </a:r>
            <a:r>
              <a:rPr spc="40" dirty="0"/>
              <a:t> </a:t>
            </a:r>
            <a:r>
              <a:rPr dirty="0"/>
              <a:t>in</a:t>
            </a:r>
            <a:r>
              <a:rPr spc="45" dirty="0"/>
              <a:t> </a:t>
            </a:r>
            <a:r>
              <a:rPr dirty="0"/>
              <a:t>the</a:t>
            </a:r>
            <a:r>
              <a:rPr spc="40" dirty="0"/>
              <a:t> </a:t>
            </a:r>
            <a:r>
              <a:rPr spc="-25" dirty="0"/>
              <a:t>hierarchy</a:t>
            </a:r>
            <a:r>
              <a:rPr spc="40" dirty="0"/>
              <a:t> </a:t>
            </a:r>
            <a:r>
              <a:rPr spc="-20" dirty="0"/>
              <a:t>range</a:t>
            </a:r>
            <a:r>
              <a:rPr spc="45" dirty="0"/>
              <a:t> </a:t>
            </a:r>
            <a:r>
              <a:rPr spc="-25" dirty="0"/>
              <a:t>from</a:t>
            </a:r>
            <a:r>
              <a:rPr spc="40" dirty="0"/>
              <a:t> </a:t>
            </a:r>
            <a:r>
              <a:rPr dirty="0"/>
              <a:t>the</a:t>
            </a:r>
            <a:r>
              <a:rPr spc="40" dirty="0"/>
              <a:t> </a:t>
            </a:r>
            <a:r>
              <a:rPr b="1" spc="-65" dirty="0">
                <a:latin typeface="Georgia"/>
                <a:cs typeface="Georgia"/>
              </a:rPr>
              <a:t>fine–grained</a:t>
            </a:r>
            <a:r>
              <a:rPr b="1" spc="30" dirty="0">
                <a:latin typeface="Georgia"/>
                <a:cs typeface="Georgia"/>
              </a:rPr>
              <a:t> </a:t>
            </a:r>
            <a:r>
              <a:rPr dirty="0"/>
              <a:t>to</a:t>
            </a:r>
            <a:r>
              <a:rPr spc="40" dirty="0"/>
              <a:t> </a:t>
            </a:r>
            <a:r>
              <a:rPr dirty="0"/>
              <a:t>the</a:t>
            </a:r>
            <a:r>
              <a:rPr spc="40" dirty="0"/>
              <a:t> </a:t>
            </a:r>
            <a:r>
              <a:rPr b="1" spc="-50" dirty="0">
                <a:latin typeface="Georgia"/>
                <a:cs typeface="Georgia"/>
              </a:rPr>
              <a:t>coarse–grained</a:t>
            </a:r>
            <a:r>
              <a:rPr spc="-50" dirty="0"/>
              <a:t>: </a:t>
            </a:r>
            <a:r>
              <a:rPr dirty="0"/>
              <a:t>the</a:t>
            </a:r>
            <a:r>
              <a:rPr spc="40" dirty="0"/>
              <a:t> </a:t>
            </a:r>
            <a:r>
              <a:rPr spc="-25" dirty="0"/>
              <a:t>lowest</a:t>
            </a:r>
            <a:r>
              <a:rPr spc="40" dirty="0"/>
              <a:t> </a:t>
            </a:r>
            <a:r>
              <a:rPr spc="-10" dirty="0"/>
              <a:t>level</a:t>
            </a:r>
            <a:r>
              <a:rPr spc="40" dirty="0"/>
              <a:t> </a:t>
            </a:r>
            <a:r>
              <a:rPr dirty="0"/>
              <a:t>of</a:t>
            </a:r>
            <a:r>
              <a:rPr spc="40" dirty="0"/>
              <a:t> </a:t>
            </a:r>
            <a:r>
              <a:rPr dirty="0"/>
              <a:t>the</a:t>
            </a:r>
            <a:r>
              <a:rPr spc="40" dirty="0"/>
              <a:t> </a:t>
            </a:r>
            <a:r>
              <a:rPr dirty="0"/>
              <a:t>tree</a:t>
            </a:r>
            <a:r>
              <a:rPr spc="40" dirty="0"/>
              <a:t> </a:t>
            </a:r>
            <a:r>
              <a:rPr dirty="0"/>
              <a:t>(</a:t>
            </a:r>
            <a:r>
              <a:rPr i="1" dirty="0">
                <a:latin typeface="Palatino Linotype"/>
                <a:cs typeface="Palatino Linotype"/>
              </a:rPr>
              <a:t>the</a:t>
            </a:r>
            <a:r>
              <a:rPr i="1" spc="55" dirty="0">
                <a:latin typeface="Palatino Linotype"/>
                <a:cs typeface="Palatino Linotype"/>
              </a:rPr>
              <a:t> </a:t>
            </a:r>
            <a:r>
              <a:rPr i="1" dirty="0">
                <a:latin typeface="Palatino Linotype"/>
                <a:cs typeface="Palatino Linotype"/>
              </a:rPr>
              <a:t>leaves</a:t>
            </a:r>
            <a:r>
              <a:rPr dirty="0"/>
              <a:t>)</a:t>
            </a:r>
            <a:r>
              <a:rPr spc="40" dirty="0"/>
              <a:t> </a:t>
            </a:r>
            <a:r>
              <a:rPr spc="-25" dirty="0"/>
              <a:t>consists</a:t>
            </a:r>
            <a:r>
              <a:rPr spc="40" dirty="0"/>
              <a:t> </a:t>
            </a:r>
            <a:r>
              <a:rPr dirty="0"/>
              <a:t>of</a:t>
            </a:r>
            <a:r>
              <a:rPr spc="40" dirty="0"/>
              <a:t> </a:t>
            </a:r>
            <a:r>
              <a:rPr spc="-10" dirty="0"/>
              <a:t>each</a:t>
            </a:r>
            <a:r>
              <a:rPr spc="40" dirty="0"/>
              <a:t> </a:t>
            </a:r>
            <a:r>
              <a:rPr dirty="0"/>
              <a:t>point</a:t>
            </a:r>
            <a:r>
              <a:rPr spc="40" dirty="0"/>
              <a:t> </a:t>
            </a:r>
            <a:r>
              <a:rPr dirty="0"/>
              <a:t>in</a:t>
            </a:r>
            <a:r>
              <a:rPr spc="40" dirty="0"/>
              <a:t> </a:t>
            </a:r>
            <a:r>
              <a:rPr dirty="0"/>
              <a:t>its</a:t>
            </a:r>
            <a:r>
              <a:rPr spc="45" dirty="0"/>
              <a:t> </a:t>
            </a:r>
            <a:r>
              <a:rPr spc="-20" dirty="0"/>
              <a:t>own</a:t>
            </a:r>
            <a:r>
              <a:rPr spc="40" dirty="0"/>
              <a:t> </a:t>
            </a:r>
            <a:r>
              <a:rPr spc="-10" dirty="0"/>
              <a:t>cluster, </a:t>
            </a:r>
            <a:r>
              <a:rPr spc="-30" dirty="0"/>
              <a:t>whereas</a:t>
            </a:r>
            <a:r>
              <a:rPr spc="20" dirty="0"/>
              <a:t> </a:t>
            </a:r>
            <a:r>
              <a:rPr dirty="0"/>
              <a:t>the</a:t>
            </a:r>
            <a:r>
              <a:rPr spc="40" dirty="0"/>
              <a:t> </a:t>
            </a:r>
            <a:r>
              <a:rPr spc="-10" dirty="0"/>
              <a:t>highest</a:t>
            </a:r>
            <a:r>
              <a:rPr spc="40" dirty="0"/>
              <a:t> </a:t>
            </a:r>
            <a:r>
              <a:rPr spc="-10" dirty="0"/>
              <a:t>level</a:t>
            </a:r>
            <a:r>
              <a:rPr spc="40" dirty="0"/>
              <a:t> </a:t>
            </a:r>
            <a:r>
              <a:rPr dirty="0"/>
              <a:t>(</a:t>
            </a:r>
            <a:r>
              <a:rPr i="1" dirty="0">
                <a:latin typeface="Palatino Linotype"/>
                <a:cs typeface="Palatino Linotype"/>
              </a:rPr>
              <a:t>the</a:t>
            </a:r>
            <a:r>
              <a:rPr i="1" spc="50" dirty="0">
                <a:latin typeface="Palatino Linotype"/>
                <a:cs typeface="Palatino Linotype"/>
              </a:rPr>
              <a:t> </a:t>
            </a:r>
            <a:r>
              <a:rPr i="1" dirty="0">
                <a:latin typeface="Palatino Linotype"/>
                <a:cs typeface="Palatino Linotype"/>
              </a:rPr>
              <a:t>root</a:t>
            </a:r>
            <a:r>
              <a:rPr i="1" spc="-175" dirty="0">
                <a:latin typeface="Palatino Linotype"/>
                <a:cs typeface="Palatino Linotype"/>
              </a:rPr>
              <a:t> </a:t>
            </a:r>
            <a:r>
              <a:rPr dirty="0"/>
              <a:t>)</a:t>
            </a:r>
            <a:r>
              <a:rPr spc="35" dirty="0"/>
              <a:t> </a:t>
            </a:r>
            <a:r>
              <a:rPr spc="-25" dirty="0"/>
              <a:t>consists</a:t>
            </a:r>
            <a:r>
              <a:rPr spc="40" dirty="0"/>
              <a:t> </a:t>
            </a:r>
            <a:r>
              <a:rPr dirty="0"/>
              <a:t>of</a:t>
            </a:r>
            <a:r>
              <a:rPr spc="40" dirty="0"/>
              <a:t> </a:t>
            </a:r>
            <a:r>
              <a:rPr dirty="0"/>
              <a:t>all</a:t>
            </a:r>
            <a:r>
              <a:rPr spc="40" dirty="0"/>
              <a:t> </a:t>
            </a:r>
            <a:r>
              <a:rPr spc="-10" dirty="0"/>
              <a:t>points</a:t>
            </a:r>
            <a:r>
              <a:rPr spc="40" dirty="0"/>
              <a:t> </a:t>
            </a:r>
            <a:r>
              <a:rPr dirty="0"/>
              <a:t>in</a:t>
            </a:r>
            <a:r>
              <a:rPr spc="35" dirty="0"/>
              <a:t> </a:t>
            </a:r>
            <a:r>
              <a:rPr spc="-20" dirty="0"/>
              <a:t>one</a:t>
            </a:r>
            <a:r>
              <a:rPr spc="40" dirty="0"/>
              <a:t> </a:t>
            </a:r>
            <a:r>
              <a:rPr spc="-10" dirty="0"/>
              <a:t>cluster.</a:t>
            </a:r>
          </a:p>
          <a:p>
            <a:pPr marL="12700" marR="28575">
              <a:lnSpc>
                <a:spcPts val="1150"/>
              </a:lnSpc>
              <a:spcBef>
                <a:spcPts val="730"/>
              </a:spcBef>
            </a:pPr>
            <a:r>
              <a:rPr dirty="0"/>
              <a:t>At</a:t>
            </a:r>
            <a:r>
              <a:rPr spc="30" dirty="0"/>
              <a:t> </a:t>
            </a:r>
            <a:r>
              <a:rPr spc="-35" dirty="0"/>
              <a:t>some</a:t>
            </a:r>
            <a:r>
              <a:rPr spc="30" dirty="0"/>
              <a:t> </a:t>
            </a:r>
            <a:r>
              <a:rPr spc="-30" dirty="0"/>
              <a:t>intermediate</a:t>
            </a:r>
            <a:r>
              <a:rPr spc="30" dirty="0"/>
              <a:t> </a:t>
            </a:r>
            <a:r>
              <a:rPr spc="-10" dirty="0"/>
              <a:t>level,</a:t>
            </a:r>
            <a:r>
              <a:rPr spc="30" dirty="0"/>
              <a:t> </a:t>
            </a:r>
            <a:r>
              <a:rPr spc="-10" dirty="0"/>
              <a:t>we</a:t>
            </a:r>
            <a:r>
              <a:rPr spc="30" dirty="0"/>
              <a:t> </a:t>
            </a:r>
            <a:r>
              <a:rPr dirty="0"/>
              <a:t>may</a:t>
            </a:r>
            <a:r>
              <a:rPr spc="30" dirty="0"/>
              <a:t> </a:t>
            </a:r>
            <a:r>
              <a:rPr spc="-20" dirty="0"/>
              <a:t>find</a:t>
            </a:r>
            <a:r>
              <a:rPr spc="35" dirty="0"/>
              <a:t> </a:t>
            </a:r>
            <a:r>
              <a:rPr spc="-35" dirty="0"/>
              <a:t>meaningful</a:t>
            </a:r>
            <a:r>
              <a:rPr spc="30" dirty="0"/>
              <a:t> </a:t>
            </a:r>
            <a:r>
              <a:rPr spc="-10" dirty="0"/>
              <a:t>clusters.</a:t>
            </a:r>
            <a:r>
              <a:rPr spc="125" dirty="0"/>
              <a:t> </a:t>
            </a:r>
            <a:r>
              <a:rPr dirty="0"/>
              <a:t>If</a:t>
            </a:r>
            <a:r>
              <a:rPr spc="30" dirty="0"/>
              <a:t> </a:t>
            </a:r>
            <a:r>
              <a:rPr dirty="0"/>
              <a:t>the</a:t>
            </a:r>
            <a:r>
              <a:rPr spc="30" dirty="0"/>
              <a:t> </a:t>
            </a:r>
            <a:r>
              <a:rPr spc="-20" dirty="0"/>
              <a:t>user</a:t>
            </a:r>
            <a:r>
              <a:rPr spc="30" dirty="0"/>
              <a:t> </a:t>
            </a:r>
            <a:r>
              <a:rPr spc="-30" dirty="0"/>
              <a:t>supplies</a:t>
            </a:r>
            <a:r>
              <a:rPr spc="30" dirty="0"/>
              <a:t> </a:t>
            </a:r>
            <a:r>
              <a:rPr i="1" spc="25" dirty="0">
                <a:latin typeface="Calibri"/>
                <a:cs typeface="Calibri"/>
              </a:rPr>
              <a:t>k</a:t>
            </a:r>
            <a:r>
              <a:rPr spc="25" dirty="0"/>
              <a:t>, </a:t>
            </a:r>
            <a:r>
              <a:rPr dirty="0"/>
              <a:t>the </a:t>
            </a:r>
            <a:r>
              <a:rPr spc="-35" dirty="0"/>
              <a:t>desired</a:t>
            </a:r>
            <a:r>
              <a:rPr spc="-5" dirty="0"/>
              <a:t> </a:t>
            </a:r>
            <a:r>
              <a:rPr spc="-40" dirty="0"/>
              <a:t>number</a:t>
            </a:r>
            <a:r>
              <a:rPr spc="5" dirty="0"/>
              <a:t> </a:t>
            </a:r>
            <a:r>
              <a:rPr dirty="0"/>
              <a:t>of </a:t>
            </a:r>
            <a:r>
              <a:rPr spc="-20" dirty="0"/>
              <a:t>clusters,</a:t>
            </a:r>
            <a:r>
              <a:rPr spc="5" dirty="0"/>
              <a:t> </a:t>
            </a:r>
            <a:r>
              <a:rPr spc="-10" dirty="0"/>
              <a:t>we</a:t>
            </a:r>
            <a:r>
              <a:rPr spc="5" dirty="0"/>
              <a:t> </a:t>
            </a:r>
            <a:r>
              <a:rPr dirty="0"/>
              <a:t>can </a:t>
            </a:r>
            <a:r>
              <a:rPr spc="-35" dirty="0"/>
              <a:t>choose</a:t>
            </a:r>
            <a:r>
              <a:rPr spc="5" dirty="0"/>
              <a:t> </a:t>
            </a:r>
            <a:r>
              <a:rPr dirty="0"/>
              <a:t>the </a:t>
            </a:r>
            <a:r>
              <a:rPr spc="-10" dirty="0"/>
              <a:t>level</a:t>
            </a:r>
            <a:r>
              <a:rPr dirty="0"/>
              <a:t> at</a:t>
            </a:r>
            <a:r>
              <a:rPr spc="5" dirty="0"/>
              <a:t> </a:t>
            </a:r>
            <a:r>
              <a:rPr spc="-25" dirty="0"/>
              <a:t>which</a:t>
            </a:r>
            <a:r>
              <a:rPr dirty="0"/>
              <a:t> </a:t>
            </a:r>
            <a:r>
              <a:rPr spc="-10" dirty="0"/>
              <a:t>there</a:t>
            </a:r>
            <a:r>
              <a:rPr spc="5" dirty="0"/>
              <a:t> </a:t>
            </a:r>
            <a:r>
              <a:rPr dirty="0"/>
              <a:t>are</a:t>
            </a:r>
            <a:r>
              <a:rPr spc="-5" dirty="0"/>
              <a:t> </a:t>
            </a:r>
            <a:r>
              <a:rPr i="1" spc="65" dirty="0">
                <a:latin typeface="Calibri"/>
                <a:cs typeface="Calibri"/>
              </a:rPr>
              <a:t>k</a:t>
            </a:r>
            <a:r>
              <a:rPr i="1" spc="45" dirty="0">
                <a:latin typeface="Calibri"/>
                <a:cs typeface="Calibri"/>
              </a:rPr>
              <a:t> </a:t>
            </a:r>
            <a:r>
              <a:rPr spc="-10" dirty="0"/>
              <a:t>clusters.</a:t>
            </a:r>
          </a:p>
          <a:p>
            <a:pPr marL="12700">
              <a:lnSpc>
                <a:spcPts val="1235"/>
              </a:lnSpc>
              <a:spcBef>
                <a:spcPts val="545"/>
              </a:spcBef>
            </a:pPr>
            <a:r>
              <a:rPr dirty="0"/>
              <a:t>There</a:t>
            </a:r>
            <a:r>
              <a:rPr spc="25" dirty="0"/>
              <a:t> </a:t>
            </a:r>
            <a:r>
              <a:rPr dirty="0"/>
              <a:t>are</a:t>
            </a:r>
            <a:r>
              <a:rPr spc="25" dirty="0"/>
              <a:t> </a:t>
            </a:r>
            <a:r>
              <a:rPr dirty="0"/>
              <a:t>two</a:t>
            </a:r>
            <a:r>
              <a:rPr spc="30" dirty="0"/>
              <a:t> </a:t>
            </a:r>
            <a:r>
              <a:rPr spc="-20" dirty="0"/>
              <a:t>main</a:t>
            </a:r>
            <a:r>
              <a:rPr spc="25" dirty="0"/>
              <a:t> </a:t>
            </a:r>
            <a:r>
              <a:rPr spc="-20" dirty="0"/>
              <a:t>algorithmic</a:t>
            </a:r>
            <a:r>
              <a:rPr spc="30" dirty="0"/>
              <a:t> </a:t>
            </a:r>
            <a:r>
              <a:rPr spc="-30" dirty="0"/>
              <a:t>approaches</a:t>
            </a:r>
            <a:r>
              <a:rPr spc="25" dirty="0"/>
              <a:t> </a:t>
            </a:r>
            <a:r>
              <a:rPr dirty="0"/>
              <a:t>to</a:t>
            </a:r>
            <a:r>
              <a:rPr spc="30" dirty="0"/>
              <a:t> </a:t>
            </a:r>
            <a:r>
              <a:rPr spc="-30" dirty="0"/>
              <a:t>mine</a:t>
            </a:r>
            <a:r>
              <a:rPr spc="25" dirty="0"/>
              <a:t> </a:t>
            </a:r>
            <a:r>
              <a:rPr spc="-30" dirty="0"/>
              <a:t>hierarchical</a:t>
            </a:r>
            <a:r>
              <a:rPr spc="30" dirty="0"/>
              <a:t> </a:t>
            </a:r>
            <a:r>
              <a:rPr spc="-10" dirty="0"/>
              <a:t>clusters:</a:t>
            </a:r>
          </a:p>
          <a:p>
            <a:pPr marL="12700">
              <a:lnSpc>
                <a:spcPts val="1235"/>
              </a:lnSpc>
            </a:pPr>
            <a:r>
              <a:rPr b="1" spc="-40" dirty="0">
                <a:latin typeface="Georgia"/>
                <a:cs typeface="Georgia"/>
              </a:rPr>
              <a:t>agglomerative</a:t>
            </a:r>
            <a:r>
              <a:rPr b="1" spc="15" dirty="0">
                <a:latin typeface="Georgia"/>
                <a:cs typeface="Georgia"/>
              </a:rPr>
              <a:t> </a:t>
            </a:r>
            <a:r>
              <a:rPr spc="-25" dirty="0"/>
              <a:t>(bottom–up)</a:t>
            </a:r>
            <a:r>
              <a:rPr spc="35" dirty="0"/>
              <a:t> </a:t>
            </a:r>
            <a:r>
              <a:rPr dirty="0"/>
              <a:t>and</a:t>
            </a:r>
            <a:r>
              <a:rPr spc="35" dirty="0"/>
              <a:t> </a:t>
            </a:r>
            <a:r>
              <a:rPr b="1" spc="-25" dirty="0">
                <a:latin typeface="Georgia"/>
                <a:cs typeface="Georgia"/>
              </a:rPr>
              <a:t>divisive</a:t>
            </a:r>
            <a:r>
              <a:rPr b="1" spc="15" dirty="0">
                <a:latin typeface="Georgia"/>
                <a:cs typeface="Georgia"/>
              </a:rPr>
              <a:t> </a:t>
            </a:r>
            <a:r>
              <a:rPr spc="-10" dirty="0"/>
              <a:t>(top–down).</a:t>
            </a:r>
          </a:p>
        </p:txBody>
      </p:sp>
      <p:sp>
        <p:nvSpPr>
          <p:cNvPr id="5" name="object 5"/>
          <p:cNvSpPr/>
          <p:nvPr/>
        </p:nvSpPr>
        <p:spPr>
          <a:xfrm>
            <a:off x="337972" y="143899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96974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235423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8" name="object 8"/>
          <p:cNvGrpSpPr/>
          <p:nvPr/>
        </p:nvGrpSpPr>
        <p:grpSpPr>
          <a:xfrm>
            <a:off x="0" y="3121545"/>
            <a:ext cx="5760085" cy="118745"/>
            <a:chOff x="0" y="3121545"/>
            <a:chExt cx="5760085" cy="118745"/>
          </a:xfrm>
        </p:grpSpPr>
        <p:sp>
          <p:nvSpPr>
            <p:cNvPr id="9" name="object 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0" name="object 1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2" name="object 1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39</a:t>
            </a:fld>
            <a:r>
              <a:rPr spc="5" dirty="0"/>
              <a:t> </a:t>
            </a:r>
            <a:r>
              <a:rPr spc="75" dirty="0"/>
              <a:t>/</a:t>
            </a:r>
            <a:r>
              <a:rPr spc="10" dirty="0"/>
              <a:t> </a:t>
            </a:r>
            <a:r>
              <a:rPr spc="35" dirty="0"/>
              <a:t>135</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Hierarchical</a:t>
            </a:r>
            <a:r>
              <a:rPr spc="285" dirty="0"/>
              <a:t> </a:t>
            </a:r>
            <a:r>
              <a:rPr dirty="0"/>
              <a:t>clustering</a:t>
            </a:r>
            <a:r>
              <a:rPr spc="285" dirty="0"/>
              <a:t> </a:t>
            </a:r>
            <a:r>
              <a:rPr spc="-10" dirty="0"/>
              <a:t>(cont’d)</a:t>
            </a:r>
          </a:p>
        </p:txBody>
      </p:sp>
      <p:sp>
        <p:nvSpPr>
          <p:cNvPr id="3" name="object 3"/>
          <p:cNvSpPr/>
          <p:nvPr/>
        </p:nvSpPr>
        <p:spPr>
          <a:xfrm>
            <a:off x="337972" y="54735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107810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337972" y="160884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txBox="1"/>
          <p:nvPr/>
        </p:nvSpPr>
        <p:spPr>
          <a:xfrm>
            <a:off x="339877" y="455750"/>
            <a:ext cx="5357495" cy="1399540"/>
          </a:xfrm>
          <a:prstGeom prst="rect">
            <a:avLst/>
          </a:prstGeom>
        </p:spPr>
        <p:txBody>
          <a:bodyPr vert="horz" wrap="square" lIns="0" tIns="34290" rIns="0" bIns="0" rtlCol="0">
            <a:spAutoFit/>
          </a:bodyPr>
          <a:lstStyle/>
          <a:p>
            <a:pPr marL="127000" marR="119380">
              <a:lnSpc>
                <a:spcPts val="1150"/>
              </a:lnSpc>
              <a:spcBef>
                <a:spcPts val="270"/>
              </a:spcBef>
            </a:pPr>
            <a:r>
              <a:rPr sz="1100" dirty="0">
                <a:latin typeface="Georgia"/>
                <a:cs typeface="Georgia"/>
              </a:rPr>
              <a:t>Given</a:t>
            </a:r>
            <a:r>
              <a:rPr sz="1100" spc="30" dirty="0">
                <a:latin typeface="Georgia"/>
                <a:cs typeface="Georgia"/>
              </a:rPr>
              <a:t> </a:t>
            </a:r>
            <a:r>
              <a:rPr sz="1100" spc="114" dirty="0">
                <a:latin typeface="Cambria"/>
                <a:cs typeface="Cambria"/>
              </a:rPr>
              <a:t>D</a:t>
            </a:r>
            <a:r>
              <a:rPr sz="1100" spc="75" dirty="0">
                <a:latin typeface="Cambria"/>
                <a:cs typeface="Cambria"/>
              </a:rPr>
              <a:t> </a:t>
            </a:r>
            <a:r>
              <a:rPr sz="1100" spc="295" dirty="0">
                <a:latin typeface="Calibri"/>
                <a:cs typeface="Calibri"/>
              </a:rPr>
              <a:t>=</a:t>
            </a:r>
            <a:r>
              <a:rPr sz="1100" spc="45" dirty="0">
                <a:latin typeface="Calibri"/>
                <a:cs typeface="Calibri"/>
              </a:rPr>
              <a:t> </a:t>
            </a:r>
            <a:r>
              <a:rPr sz="1100" spc="80" dirty="0">
                <a:latin typeface="Cambria"/>
                <a:cs typeface="Cambria"/>
              </a:rPr>
              <a:t>{x</a:t>
            </a:r>
            <a:r>
              <a:rPr sz="1200" spc="120" baseline="-10416" dirty="0">
                <a:latin typeface="Calibri"/>
                <a:cs typeface="Calibri"/>
              </a:rPr>
              <a:t>1</a:t>
            </a:r>
            <a:r>
              <a:rPr sz="1100" i="1" spc="80" dirty="0">
                <a:latin typeface="Calibri"/>
                <a:cs typeface="Calibri"/>
              </a:rPr>
              <a:t>,</a:t>
            </a:r>
            <a:r>
              <a:rPr sz="1100" i="1" spc="-70" dirty="0">
                <a:latin typeface="Calibri"/>
                <a:cs typeface="Calibri"/>
              </a:rPr>
              <a:t> </a:t>
            </a:r>
            <a:r>
              <a:rPr sz="1100" spc="100" dirty="0">
                <a:latin typeface="Cambria"/>
                <a:cs typeface="Cambria"/>
              </a:rPr>
              <a:t>x</a:t>
            </a:r>
            <a:r>
              <a:rPr sz="1200" spc="150" baseline="-10416" dirty="0">
                <a:latin typeface="Calibri"/>
                <a:cs typeface="Calibri"/>
              </a:rPr>
              <a:t>2</a:t>
            </a:r>
            <a:r>
              <a:rPr sz="1100" i="1" spc="10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95" dirty="0">
                <a:latin typeface="Cambria"/>
                <a:cs typeface="Cambria"/>
              </a:rPr>
              <a:t>x</a:t>
            </a:r>
            <a:r>
              <a:rPr sz="1200" i="1" spc="142" baseline="-10416" dirty="0">
                <a:latin typeface="Calibri"/>
                <a:cs typeface="Calibri"/>
              </a:rPr>
              <a:t>n</a:t>
            </a:r>
            <a:r>
              <a:rPr sz="1100" spc="95" dirty="0">
                <a:latin typeface="Cambria"/>
                <a:cs typeface="Cambria"/>
              </a:rPr>
              <a:t>}</a:t>
            </a:r>
            <a:r>
              <a:rPr sz="1100" spc="95" dirty="0">
                <a:latin typeface="Georgia"/>
                <a:cs typeface="Georgia"/>
              </a:rPr>
              <a:t>,</a:t>
            </a:r>
            <a:r>
              <a:rPr sz="1100" spc="85" dirty="0">
                <a:latin typeface="Georgia"/>
                <a:cs typeface="Georgia"/>
              </a:rPr>
              <a:t> </a:t>
            </a:r>
            <a:r>
              <a:rPr sz="1100" spc="-30" dirty="0">
                <a:latin typeface="Georgia"/>
                <a:cs typeface="Georgia"/>
              </a:rPr>
              <a:t>where</a:t>
            </a:r>
            <a:r>
              <a:rPr sz="1100" spc="80" dirty="0">
                <a:latin typeface="Georgia"/>
                <a:cs typeface="Georgia"/>
              </a:rPr>
              <a:t> </a:t>
            </a:r>
            <a:r>
              <a:rPr sz="1100" spc="105" dirty="0">
                <a:latin typeface="Cambria"/>
                <a:cs typeface="Cambria"/>
              </a:rPr>
              <a:t>x</a:t>
            </a:r>
            <a:r>
              <a:rPr sz="1200" i="1" spc="157" baseline="-10416" dirty="0">
                <a:latin typeface="Calibri"/>
                <a:cs typeface="Calibri"/>
              </a:rPr>
              <a:t>i</a:t>
            </a:r>
            <a:r>
              <a:rPr sz="1200" i="1" spc="225" baseline="-10416"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dirty="0">
                <a:latin typeface="Arial MT"/>
                <a:cs typeface="Arial MT"/>
              </a:rPr>
              <a:t>R</a:t>
            </a:r>
            <a:r>
              <a:rPr sz="1200" i="1" baseline="27777" dirty="0">
                <a:latin typeface="Calibri"/>
                <a:cs typeface="Calibri"/>
              </a:rPr>
              <a:t>d</a:t>
            </a:r>
            <a:r>
              <a:rPr sz="1100" dirty="0">
                <a:latin typeface="Georgia"/>
                <a:cs typeface="Georgia"/>
              </a:rPr>
              <a:t>,</a:t>
            </a:r>
            <a:r>
              <a:rPr sz="1100" spc="85" dirty="0">
                <a:latin typeface="Georgia"/>
                <a:cs typeface="Georgia"/>
              </a:rPr>
              <a:t> </a:t>
            </a:r>
            <a:r>
              <a:rPr sz="1100" dirty="0">
                <a:latin typeface="Georgia"/>
                <a:cs typeface="Georgia"/>
              </a:rPr>
              <a:t>a</a:t>
            </a:r>
            <a:r>
              <a:rPr sz="1100" spc="80" dirty="0">
                <a:latin typeface="Georgia"/>
                <a:cs typeface="Georgia"/>
              </a:rPr>
              <a:t> </a:t>
            </a:r>
            <a:r>
              <a:rPr sz="1100" spc="-20" dirty="0">
                <a:latin typeface="Georgia"/>
                <a:cs typeface="Georgia"/>
              </a:rPr>
              <a:t>clustering</a:t>
            </a:r>
            <a:r>
              <a:rPr sz="1100" spc="85" dirty="0">
                <a:latin typeface="Georgia"/>
                <a:cs typeface="Georgia"/>
              </a:rPr>
              <a:t> </a:t>
            </a:r>
            <a:r>
              <a:rPr sz="1100" dirty="0">
                <a:latin typeface="Cambria"/>
                <a:cs typeface="Cambria"/>
              </a:rPr>
              <a:t>C</a:t>
            </a:r>
            <a:r>
              <a:rPr sz="1100" spc="100" dirty="0">
                <a:latin typeface="Cambria"/>
                <a:cs typeface="Cambria"/>
              </a:rPr>
              <a:t> </a:t>
            </a:r>
            <a:r>
              <a:rPr sz="1100" spc="295" dirty="0">
                <a:latin typeface="Calibri"/>
                <a:cs typeface="Calibri"/>
              </a:rPr>
              <a:t>=</a:t>
            </a:r>
            <a:r>
              <a:rPr sz="1100" spc="45" dirty="0">
                <a:latin typeface="Calibri"/>
                <a:cs typeface="Calibri"/>
              </a:rPr>
              <a:t> </a:t>
            </a:r>
            <a:r>
              <a:rPr sz="1100" spc="100" dirty="0">
                <a:latin typeface="Cambria"/>
                <a:cs typeface="Cambria"/>
              </a:rPr>
              <a:t>{</a:t>
            </a:r>
            <a:r>
              <a:rPr sz="1100" i="1" spc="100" dirty="0">
                <a:latin typeface="Calibri"/>
                <a:cs typeface="Calibri"/>
              </a:rPr>
              <a:t>C</a:t>
            </a:r>
            <a:r>
              <a:rPr sz="1200" spc="150" baseline="-10416" dirty="0">
                <a:latin typeface="Calibri"/>
                <a:cs typeface="Calibri"/>
              </a:rPr>
              <a:t>1</a:t>
            </a:r>
            <a:r>
              <a:rPr sz="1100" i="1" spc="100" dirty="0">
                <a:latin typeface="Calibri"/>
                <a:cs typeface="Calibri"/>
              </a:rPr>
              <a:t>,</a:t>
            </a:r>
            <a:r>
              <a:rPr sz="1100" i="1" spc="-70" dirty="0">
                <a:latin typeface="Calibri"/>
                <a:cs typeface="Calibri"/>
              </a:rPr>
              <a:t> </a:t>
            </a:r>
            <a:r>
              <a:rPr sz="1100" i="1" spc="95" dirty="0">
                <a:latin typeface="Calibri"/>
                <a:cs typeface="Calibri"/>
              </a:rPr>
              <a:t>C</a:t>
            </a:r>
            <a:r>
              <a:rPr sz="1100" spc="95" dirty="0">
                <a:latin typeface="Calibri"/>
                <a:cs typeface="Calibri"/>
              </a:rPr>
              <a:t>2</a:t>
            </a:r>
            <a:r>
              <a:rPr sz="1200" i="1" spc="142" baseline="-10416" dirty="0">
                <a:latin typeface="Calibri"/>
                <a:cs typeface="Calibri"/>
              </a:rPr>
              <a:t>,</a:t>
            </a:r>
            <a:r>
              <a:rPr sz="1200" i="1" spc="60" baseline="-10416" dirty="0">
                <a:latin typeface="Calibri"/>
                <a:cs typeface="Calibri"/>
              </a:rPr>
              <a:t> </a:t>
            </a:r>
            <a:r>
              <a:rPr sz="1100" i="1" spc="110" dirty="0">
                <a:latin typeface="Calibri"/>
                <a:cs typeface="Calibri"/>
              </a:rPr>
              <a:t>..</a:t>
            </a:r>
            <a:r>
              <a:rPr sz="1100" i="1" spc="-70" dirty="0">
                <a:latin typeface="Calibri"/>
                <a:cs typeface="Calibri"/>
              </a:rPr>
              <a:t> </a:t>
            </a:r>
            <a:r>
              <a:rPr sz="1100" i="1" spc="110" dirty="0">
                <a:latin typeface="Calibri"/>
                <a:cs typeface="Calibri"/>
              </a:rPr>
              <a:t>.,</a:t>
            </a:r>
            <a:r>
              <a:rPr sz="1100" i="1" spc="-70" dirty="0">
                <a:latin typeface="Calibri"/>
                <a:cs typeface="Calibri"/>
              </a:rPr>
              <a:t> </a:t>
            </a:r>
            <a:r>
              <a:rPr sz="1100" i="1" spc="155" dirty="0">
                <a:latin typeface="Calibri"/>
                <a:cs typeface="Calibri"/>
              </a:rPr>
              <a:t>C</a:t>
            </a:r>
            <a:r>
              <a:rPr sz="1200" i="1" spc="232" baseline="-13888" dirty="0">
                <a:latin typeface="Calibri"/>
                <a:cs typeface="Calibri"/>
              </a:rPr>
              <a:t>k</a:t>
            </a:r>
            <a:r>
              <a:rPr sz="1100" spc="155" dirty="0">
                <a:latin typeface="Cambria"/>
                <a:cs typeface="Cambria"/>
              </a:rPr>
              <a:t>}</a:t>
            </a:r>
            <a:r>
              <a:rPr sz="1100" spc="105" dirty="0">
                <a:latin typeface="Cambria"/>
                <a:cs typeface="Cambria"/>
              </a:rPr>
              <a:t> </a:t>
            </a:r>
            <a:r>
              <a:rPr sz="1100" dirty="0">
                <a:latin typeface="Georgia"/>
                <a:cs typeface="Georgia"/>
              </a:rPr>
              <a:t>is</a:t>
            </a:r>
            <a:r>
              <a:rPr sz="1100" spc="80" dirty="0">
                <a:latin typeface="Georgia"/>
                <a:cs typeface="Georgia"/>
              </a:rPr>
              <a:t> </a:t>
            </a:r>
            <a:r>
              <a:rPr sz="1100" spc="-50" dirty="0">
                <a:latin typeface="Georgia"/>
                <a:cs typeface="Georgia"/>
              </a:rPr>
              <a:t>a </a:t>
            </a:r>
            <a:r>
              <a:rPr sz="1100" spc="-10" dirty="0">
                <a:latin typeface="Georgia"/>
                <a:cs typeface="Georgia"/>
              </a:rPr>
              <a:t>partition</a:t>
            </a:r>
            <a:r>
              <a:rPr sz="1100" spc="30" dirty="0">
                <a:latin typeface="Georgia"/>
                <a:cs typeface="Georgia"/>
              </a:rPr>
              <a:t> </a:t>
            </a:r>
            <a:r>
              <a:rPr sz="1100" dirty="0">
                <a:latin typeface="Georgia"/>
                <a:cs typeface="Georgia"/>
              </a:rPr>
              <a:t>of</a:t>
            </a:r>
            <a:r>
              <a:rPr sz="1100" spc="35" dirty="0">
                <a:latin typeface="Georgia"/>
                <a:cs typeface="Georgia"/>
              </a:rPr>
              <a:t> </a:t>
            </a:r>
            <a:r>
              <a:rPr sz="1100" spc="70" dirty="0">
                <a:latin typeface="Cambria"/>
                <a:cs typeface="Cambria"/>
              </a:rPr>
              <a:t>D</a:t>
            </a:r>
            <a:r>
              <a:rPr sz="1100" spc="70" dirty="0">
                <a:latin typeface="Georgia"/>
                <a:cs typeface="Georgia"/>
              </a:rPr>
              <a:t>,</a:t>
            </a:r>
            <a:r>
              <a:rPr sz="1100" spc="40" dirty="0">
                <a:latin typeface="Georgia"/>
                <a:cs typeface="Georgia"/>
              </a:rPr>
              <a:t> </a:t>
            </a:r>
            <a:r>
              <a:rPr sz="1100" dirty="0">
                <a:latin typeface="Georgia"/>
                <a:cs typeface="Georgia"/>
              </a:rPr>
              <a:t>i.e.,</a:t>
            </a:r>
            <a:r>
              <a:rPr sz="1100" spc="35" dirty="0">
                <a:latin typeface="Georgia"/>
                <a:cs typeface="Georgia"/>
              </a:rPr>
              <a:t> </a:t>
            </a:r>
            <a:r>
              <a:rPr sz="1100" spc="-10" dirty="0">
                <a:latin typeface="Georgia"/>
                <a:cs typeface="Georgia"/>
              </a:rPr>
              <a:t>each</a:t>
            </a:r>
            <a:r>
              <a:rPr sz="1100" spc="40" dirty="0">
                <a:latin typeface="Georgia"/>
                <a:cs typeface="Georgia"/>
              </a:rPr>
              <a:t> </a:t>
            </a:r>
            <a:r>
              <a:rPr sz="1100" spc="-10" dirty="0">
                <a:latin typeface="Georgia"/>
                <a:cs typeface="Georgia"/>
              </a:rPr>
              <a:t>cluster</a:t>
            </a:r>
            <a:r>
              <a:rPr sz="1100" spc="35" dirty="0">
                <a:latin typeface="Georgia"/>
                <a:cs typeface="Georgia"/>
              </a:rPr>
              <a:t> </a:t>
            </a:r>
            <a:r>
              <a:rPr sz="1100" dirty="0">
                <a:latin typeface="Georgia"/>
                <a:cs typeface="Georgia"/>
              </a:rPr>
              <a:t>is</a:t>
            </a:r>
            <a:r>
              <a:rPr sz="1100" spc="35" dirty="0">
                <a:latin typeface="Georgia"/>
                <a:cs typeface="Georgia"/>
              </a:rPr>
              <a:t> </a:t>
            </a:r>
            <a:r>
              <a:rPr sz="1100" dirty="0">
                <a:latin typeface="Georgia"/>
                <a:cs typeface="Georgia"/>
              </a:rPr>
              <a:t>a</a:t>
            </a:r>
            <a:r>
              <a:rPr sz="1100" spc="40" dirty="0">
                <a:latin typeface="Georgia"/>
                <a:cs typeface="Georgia"/>
              </a:rPr>
              <a:t> </a:t>
            </a:r>
            <a:r>
              <a:rPr sz="1100" dirty="0">
                <a:latin typeface="Georgia"/>
                <a:cs typeface="Georgia"/>
              </a:rPr>
              <a:t>set</a:t>
            </a:r>
            <a:r>
              <a:rPr sz="1100" spc="40" dirty="0">
                <a:latin typeface="Georgia"/>
                <a:cs typeface="Georgia"/>
              </a:rPr>
              <a:t> </a:t>
            </a:r>
            <a:r>
              <a:rPr sz="1100" dirty="0">
                <a:latin typeface="Georgia"/>
                <a:cs typeface="Georgia"/>
              </a:rPr>
              <a:t>of</a:t>
            </a:r>
            <a:r>
              <a:rPr sz="1100" spc="35" dirty="0">
                <a:latin typeface="Georgia"/>
                <a:cs typeface="Georgia"/>
              </a:rPr>
              <a:t> </a:t>
            </a:r>
            <a:r>
              <a:rPr sz="1100" dirty="0">
                <a:latin typeface="Georgia"/>
                <a:cs typeface="Georgia"/>
              </a:rPr>
              <a:t>data</a:t>
            </a:r>
            <a:r>
              <a:rPr sz="1100" spc="40" dirty="0">
                <a:latin typeface="Georgia"/>
                <a:cs typeface="Georgia"/>
              </a:rPr>
              <a:t> </a:t>
            </a:r>
            <a:r>
              <a:rPr sz="1100" spc="-10" dirty="0">
                <a:latin typeface="Georgia"/>
                <a:cs typeface="Georgia"/>
              </a:rPr>
              <a:t>points</a:t>
            </a:r>
            <a:r>
              <a:rPr sz="1100" spc="35" dirty="0">
                <a:latin typeface="Georgia"/>
                <a:cs typeface="Georgia"/>
              </a:rPr>
              <a:t> </a:t>
            </a:r>
            <a:r>
              <a:rPr sz="1100" i="1" spc="150" dirty="0">
                <a:latin typeface="Calibri"/>
                <a:cs typeface="Calibri"/>
              </a:rPr>
              <a:t>C</a:t>
            </a:r>
            <a:r>
              <a:rPr sz="1200" i="1" spc="225" baseline="-10416" dirty="0">
                <a:latin typeface="Calibri"/>
                <a:cs typeface="Calibri"/>
              </a:rPr>
              <a:t>i</a:t>
            </a:r>
            <a:r>
              <a:rPr sz="1200" i="1" spc="172" baseline="-10416" dirty="0">
                <a:latin typeface="Calibri"/>
                <a:cs typeface="Calibri"/>
              </a:rPr>
              <a:t> </a:t>
            </a:r>
            <a:r>
              <a:rPr sz="1100" dirty="0">
                <a:latin typeface="Lucida Sans Unicode"/>
                <a:cs typeface="Lucida Sans Unicode"/>
              </a:rPr>
              <a:t>⊆</a:t>
            </a:r>
            <a:r>
              <a:rPr sz="1100" spc="-85" dirty="0">
                <a:latin typeface="Lucida Sans Unicode"/>
                <a:cs typeface="Lucida Sans Unicode"/>
              </a:rPr>
              <a:t> </a:t>
            </a:r>
            <a:r>
              <a:rPr sz="1100" spc="70" dirty="0">
                <a:latin typeface="Cambria"/>
                <a:cs typeface="Cambria"/>
              </a:rPr>
              <a:t>D</a:t>
            </a:r>
            <a:r>
              <a:rPr sz="1100" spc="70" dirty="0">
                <a:latin typeface="Georgia"/>
                <a:cs typeface="Georgia"/>
              </a:rPr>
              <a:t>,</a:t>
            </a:r>
            <a:r>
              <a:rPr sz="1100" spc="35" dirty="0">
                <a:latin typeface="Georgia"/>
                <a:cs typeface="Georgia"/>
              </a:rPr>
              <a:t> </a:t>
            </a:r>
            <a:r>
              <a:rPr sz="1100" spc="-20" dirty="0">
                <a:latin typeface="Georgia"/>
                <a:cs typeface="Georgia"/>
              </a:rPr>
              <a:t>such</a:t>
            </a:r>
            <a:r>
              <a:rPr sz="1100" spc="40" dirty="0">
                <a:latin typeface="Georgia"/>
                <a:cs typeface="Georgia"/>
              </a:rPr>
              <a:t> </a:t>
            </a:r>
            <a:r>
              <a:rPr sz="1100" dirty="0">
                <a:latin typeface="Georgia"/>
                <a:cs typeface="Georgia"/>
              </a:rPr>
              <a:t>that</a:t>
            </a:r>
            <a:r>
              <a:rPr sz="1100" spc="40"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clusters </a:t>
            </a:r>
            <a:r>
              <a:rPr sz="1100" dirty="0">
                <a:latin typeface="Georgia"/>
                <a:cs typeface="Georgia"/>
              </a:rPr>
              <a:t>are</a:t>
            </a:r>
            <a:r>
              <a:rPr sz="1100" spc="-15" dirty="0">
                <a:latin typeface="Georgia"/>
                <a:cs typeface="Georgia"/>
              </a:rPr>
              <a:t> </a:t>
            </a:r>
            <a:r>
              <a:rPr sz="1100" spc="-25" dirty="0">
                <a:latin typeface="Georgia"/>
                <a:cs typeface="Georgia"/>
              </a:rPr>
              <a:t>pairwise</a:t>
            </a:r>
            <a:r>
              <a:rPr sz="1100" spc="70" dirty="0">
                <a:latin typeface="Georgia"/>
                <a:cs typeface="Georgia"/>
              </a:rPr>
              <a:t> </a:t>
            </a:r>
            <a:r>
              <a:rPr sz="1100" spc="-20" dirty="0">
                <a:latin typeface="Georgia"/>
                <a:cs typeface="Georgia"/>
              </a:rPr>
              <a:t>disjoint</a:t>
            </a:r>
            <a:r>
              <a:rPr sz="1100" spc="65" dirty="0">
                <a:latin typeface="Georgia"/>
                <a:cs typeface="Georgia"/>
              </a:rPr>
              <a:t> </a:t>
            </a:r>
            <a:r>
              <a:rPr sz="1100" i="1" spc="150" dirty="0">
                <a:latin typeface="Calibri"/>
                <a:cs typeface="Calibri"/>
              </a:rPr>
              <a:t>C</a:t>
            </a:r>
            <a:r>
              <a:rPr sz="1200" i="1" spc="225" baseline="-10416" dirty="0">
                <a:latin typeface="Calibri"/>
                <a:cs typeface="Calibri"/>
              </a:rPr>
              <a:t>i</a:t>
            </a:r>
            <a:r>
              <a:rPr sz="1200" i="1" spc="120" baseline="-10416" dirty="0">
                <a:latin typeface="Calibri"/>
                <a:cs typeface="Calibri"/>
              </a:rPr>
              <a:t> </a:t>
            </a:r>
            <a:r>
              <a:rPr sz="1100" spc="-155" dirty="0">
                <a:latin typeface="Lucida Sans Unicode"/>
                <a:cs typeface="Lucida Sans Unicode"/>
              </a:rPr>
              <a:t>∩</a:t>
            </a:r>
            <a:r>
              <a:rPr sz="1100" spc="-105" dirty="0">
                <a:latin typeface="Lucida Sans Unicode"/>
                <a:cs typeface="Lucida Sans Unicode"/>
              </a:rPr>
              <a:t> </a:t>
            </a:r>
            <a:r>
              <a:rPr sz="1100" i="1" spc="175" dirty="0">
                <a:latin typeface="Calibri"/>
                <a:cs typeface="Calibri"/>
              </a:rPr>
              <a:t>C</a:t>
            </a:r>
            <a:r>
              <a:rPr sz="1200" i="1" spc="262" baseline="-10416" dirty="0">
                <a:latin typeface="Calibri"/>
                <a:cs typeface="Calibri"/>
              </a:rPr>
              <a:t>j</a:t>
            </a:r>
            <a:r>
              <a:rPr sz="1200" i="1" spc="270" baseline="-10416" dirty="0">
                <a:latin typeface="Calibri"/>
                <a:cs typeface="Calibri"/>
              </a:rPr>
              <a:t> </a:t>
            </a:r>
            <a:r>
              <a:rPr sz="1100" spc="295" dirty="0">
                <a:latin typeface="Calibri"/>
                <a:cs typeface="Calibri"/>
              </a:rPr>
              <a:t>=</a:t>
            </a:r>
            <a:r>
              <a:rPr sz="1100" spc="25" dirty="0">
                <a:latin typeface="Calibri"/>
                <a:cs typeface="Calibri"/>
              </a:rPr>
              <a:t> </a:t>
            </a:r>
            <a:r>
              <a:rPr sz="1100" spc="-310" dirty="0">
                <a:latin typeface="Lucida Sans Unicode"/>
                <a:cs typeface="Lucida Sans Unicode"/>
              </a:rPr>
              <a:t>Ø</a:t>
            </a:r>
            <a:r>
              <a:rPr sz="1100" spc="10" dirty="0">
                <a:latin typeface="Lucida Sans Unicode"/>
                <a:cs typeface="Lucida Sans Unicode"/>
              </a:rPr>
              <a:t> </a:t>
            </a:r>
            <a:r>
              <a:rPr sz="1100" dirty="0">
                <a:latin typeface="Georgia"/>
                <a:cs typeface="Georgia"/>
              </a:rPr>
              <a:t>(for</a:t>
            </a:r>
            <a:r>
              <a:rPr sz="1100" spc="70" dirty="0">
                <a:latin typeface="Georgia"/>
                <a:cs typeface="Georgia"/>
              </a:rPr>
              <a:t> </a:t>
            </a:r>
            <a:r>
              <a:rPr sz="1100" dirty="0">
                <a:latin typeface="Georgia"/>
                <a:cs typeface="Georgia"/>
              </a:rPr>
              <a:t>all</a:t>
            </a:r>
            <a:r>
              <a:rPr sz="1100" spc="65" dirty="0">
                <a:latin typeface="Georgia"/>
                <a:cs typeface="Georgia"/>
              </a:rPr>
              <a:t> </a:t>
            </a:r>
            <a:r>
              <a:rPr sz="1100" i="1" spc="125" dirty="0">
                <a:latin typeface="Calibri"/>
                <a:cs typeface="Calibri"/>
              </a:rPr>
              <a:t>i</a:t>
            </a:r>
            <a:r>
              <a:rPr sz="1100" i="1" spc="25" dirty="0">
                <a:latin typeface="Calibri"/>
                <a:cs typeface="Calibri"/>
              </a:rPr>
              <a:t> </a:t>
            </a:r>
            <a:r>
              <a:rPr sz="1100" spc="-440" dirty="0">
                <a:latin typeface="Lucida Sans Unicode"/>
                <a:cs typeface="Lucida Sans Unicode"/>
              </a:rPr>
              <a:t>/</a:t>
            </a:r>
            <a:r>
              <a:rPr sz="1100" spc="145" dirty="0">
                <a:latin typeface="Calibri"/>
                <a:cs typeface="Calibri"/>
              </a:rPr>
              <a:t>=</a:t>
            </a:r>
            <a:r>
              <a:rPr sz="1100" spc="55" dirty="0">
                <a:latin typeface="Calibri"/>
                <a:cs typeface="Calibri"/>
              </a:rPr>
              <a:t> </a:t>
            </a:r>
            <a:r>
              <a:rPr sz="1100" i="1" spc="80" dirty="0">
                <a:latin typeface="Calibri"/>
                <a:cs typeface="Calibri"/>
              </a:rPr>
              <a:t>j</a:t>
            </a:r>
            <a:r>
              <a:rPr sz="1100" spc="80" dirty="0">
                <a:latin typeface="Georgia"/>
                <a:cs typeface="Georgia"/>
              </a:rPr>
              <a:t>),</a:t>
            </a:r>
            <a:r>
              <a:rPr sz="1100" spc="65" dirty="0">
                <a:latin typeface="Georgia"/>
                <a:cs typeface="Georgia"/>
              </a:rPr>
              <a:t> </a:t>
            </a:r>
            <a:r>
              <a:rPr sz="1100" dirty="0">
                <a:latin typeface="Georgia"/>
                <a:cs typeface="Georgia"/>
              </a:rPr>
              <a:t>and</a:t>
            </a:r>
            <a:r>
              <a:rPr sz="1100" spc="65" dirty="0">
                <a:latin typeface="Georgia"/>
                <a:cs typeface="Georgia"/>
              </a:rPr>
              <a:t> </a:t>
            </a:r>
            <a:r>
              <a:rPr sz="1100" spc="50" dirty="0">
                <a:latin typeface="Lucida Sans Unicode"/>
                <a:cs typeface="Lucida Sans Unicode"/>
              </a:rPr>
              <a:t>∪</a:t>
            </a:r>
            <a:r>
              <a:rPr sz="1100" i="1" spc="50" dirty="0">
                <a:latin typeface="Calibri"/>
                <a:cs typeface="Calibri"/>
              </a:rPr>
              <a:t>C</a:t>
            </a:r>
            <a:r>
              <a:rPr sz="1200" i="1" spc="75" baseline="-10416" dirty="0">
                <a:latin typeface="Calibri"/>
                <a:cs typeface="Calibri"/>
              </a:rPr>
              <a:t>i</a:t>
            </a:r>
            <a:r>
              <a:rPr sz="1200" i="1" spc="202" baseline="-10416" dirty="0">
                <a:latin typeface="Calibri"/>
                <a:cs typeface="Calibri"/>
              </a:rPr>
              <a:t> </a:t>
            </a:r>
            <a:r>
              <a:rPr sz="1100" spc="295" dirty="0">
                <a:latin typeface="Calibri"/>
                <a:cs typeface="Calibri"/>
              </a:rPr>
              <a:t>=</a:t>
            </a:r>
            <a:r>
              <a:rPr sz="1100" spc="30" dirty="0">
                <a:latin typeface="Calibri"/>
                <a:cs typeface="Calibri"/>
              </a:rPr>
              <a:t> </a:t>
            </a:r>
            <a:r>
              <a:rPr sz="1100" spc="45" dirty="0">
                <a:latin typeface="Cambria"/>
                <a:cs typeface="Cambria"/>
              </a:rPr>
              <a:t>D</a:t>
            </a:r>
            <a:r>
              <a:rPr sz="1100" spc="45" dirty="0">
                <a:latin typeface="Georgia"/>
                <a:cs typeface="Georgia"/>
              </a:rPr>
              <a:t>.</a:t>
            </a:r>
            <a:endParaRPr sz="1100">
              <a:latin typeface="Georgia"/>
              <a:cs typeface="Georgia"/>
            </a:endParaRPr>
          </a:p>
          <a:p>
            <a:pPr marL="127000">
              <a:lnSpc>
                <a:spcPts val="1235"/>
              </a:lnSpc>
              <a:spcBef>
                <a:spcPts val="550"/>
              </a:spcBef>
            </a:pPr>
            <a:r>
              <a:rPr sz="1100" spc="70" dirty="0">
                <a:latin typeface="Georgia"/>
                <a:cs typeface="Georgia"/>
              </a:rPr>
              <a:t>A</a:t>
            </a:r>
            <a:r>
              <a:rPr sz="1100" spc="10" dirty="0">
                <a:latin typeface="Georgia"/>
                <a:cs typeface="Georgia"/>
              </a:rPr>
              <a:t> </a:t>
            </a:r>
            <a:r>
              <a:rPr sz="1100" spc="-25" dirty="0">
                <a:latin typeface="Georgia"/>
                <a:cs typeface="Georgia"/>
              </a:rPr>
              <a:t>clustering</a:t>
            </a:r>
            <a:r>
              <a:rPr sz="1100" spc="65" dirty="0">
                <a:latin typeface="Georgia"/>
                <a:cs typeface="Georgia"/>
              </a:rPr>
              <a:t> </a:t>
            </a:r>
            <a:r>
              <a:rPr sz="1100" spc="175" dirty="0">
                <a:latin typeface="Cambria"/>
                <a:cs typeface="Cambria"/>
              </a:rPr>
              <a:t>A</a:t>
            </a:r>
            <a:r>
              <a:rPr sz="1100" spc="35" dirty="0">
                <a:latin typeface="Cambria"/>
                <a:cs typeface="Cambria"/>
              </a:rPr>
              <a:t> </a:t>
            </a:r>
            <a:r>
              <a:rPr sz="1100" spc="295" dirty="0">
                <a:latin typeface="Calibri"/>
                <a:cs typeface="Calibri"/>
              </a:rPr>
              <a:t>=</a:t>
            </a:r>
            <a:r>
              <a:rPr sz="1100" spc="25" dirty="0">
                <a:latin typeface="Calibri"/>
                <a:cs typeface="Calibri"/>
              </a:rPr>
              <a:t> </a:t>
            </a:r>
            <a:r>
              <a:rPr sz="1100" spc="95" dirty="0">
                <a:latin typeface="Cambria"/>
                <a:cs typeface="Cambria"/>
              </a:rPr>
              <a:t>{</a:t>
            </a:r>
            <a:r>
              <a:rPr sz="1100" i="1" spc="95" dirty="0">
                <a:latin typeface="Calibri"/>
                <a:cs typeface="Calibri"/>
              </a:rPr>
              <a:t>A</a:t>
            </a:r>
            <a:r>
              <a:rPr sz="1200" spc="142" baseline="-10416" dirty="0">
                <a:latin typeface="Calibri"/>
                <a:cs typeface="Calibri"/>
              </a:rPr>
              <a:t>1</a:t>
            </a:r>
            <a:r>
              <a:rPr sz="1100" i="1" spc="95" dirty="0">
                <a:latin typeface="Calibri"/>
                <a:cs typeface="Calibri"/>
              </a:rPr>
              <a:t>,</a:t>
            </a:r>
            <a:r>
              <a:rPr sz="1100" i="1" spc="-70" dirty="0">
                <a:latin typeface="Calibri"/>
                <a:cs typeface="Calibri"/>
              </a:rPr>
              <a:t> </a:t>
            </a:r>
            <a:r>
              <a:rPr sz="1100" i="1" spc="114" dirty="0">
                <a:latin typeface="Calibri"/>
                <a:cs typeface="Calibri"/>
              </a:rPr>
              <a:t>A</a:t>
            </a:r>
            <a:r>
              <a:rPr sz="1200" spc="172" baseline="-10416" dirty="0">
                <a:latin typeface="Calibri"/>
                <a:cs typeface="Calibri"/>
              </a:rPr>
              <a:t>2</a:t>
            </a:r>
            <a:r>
              <a:rPr sz="1100" i="1" spc="114"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55" dirty="0">
                <a:latin typeface="Calibri"/>
                <a:cs typeface="Calibri"/>
              </a:rPr>
              <a:t>A</a:t>
            </a:r>
            <a:r>
              <a:rPr sz="1200" i="1" spc="232" baseline="-10416" dirty="0">
                <a:latin typeface="Calibri"/>
                <a:cs typeface="Calibri"/>
              </a:rPr>
              <a:t>r</a:t>
            </a:r>
            <a:r>
              <a:rPr sz="1100" spc="155" dirty="0">
                <a:latin typeface="Cambria"/>
                <a:cs typeface="Cambria"/>
              </a:rPr>
              <a:t>}</a:t>
            </a:r>
            <a:r>
              <a:rPr sz="1100" spc="85" dirty="0">
                <a:latin typeface="Cambria"/>
                <a:cs typeface="Cambria"/>
              </a:rPr>
              <a:t> </a:t>
            </a:r>
            <a:r>
              <a:rPr sz="1100" dirty="0">
                <a:latin typeface="Georgia"/>
                <a:cs typeface="Georgia"/>
              </a:rPr>
              <a:t>is</a:t>
            </a:r>
            <a:r>
              <a:rPr sz="1100" spc="60" dirty="0">
                <a:latin typeface="Georgia"/>
                <a:cs typeface="Georgia"/>
              </a:rPr>
              <a:t> </a:t>
            </a:r>
            <a:r>
              <a:rPr sz="1100" dirty="0">
                <a:latin typeface="Georgia"/>
                <a:cs typeface="Georgia"/>
              </a:rPr>
              <a:t>said</a:t>
            </a:r>
            <a:r>
              <a:rPr sz="1100" spc="65" dirty="0">
                <a:latin typeface="Georgia"/>
                <a:cs typeface="Georgia"/>
              </a:rPr>
              <a:t> </a:t>
            </a:r>
            <a:r>
              <a:rPr sz="1100" dirty="0">
                <a:latin typeface="Georgia"/>
                <a:cs typeface="Georgia"/>
              </a:rPr>
              <a:t>to</a:t>
            </a:r>
            <a:r>
              <a:rPr sz="1100" spc="60" dirty="0">
                <a:latin typeface="Georgia"/>
                <a:cs typeface="Georgia"/>
              </a:rPr>
              <a:t> </a:t>
            </a:r>
            <a:r>
              <a:rPr sz="1100" dirty="0">
                <a:latin typeface="Georgia"/>
                <a:cs typeface="Georgia"/>
              </a:rPr>
              <a:t>be</a:t>
            </a:r>
            <a:r>
              <a:rPr sz="1100" spc="65" dirty="0">
                <a:latin typeface="Georgia"/>
                <a:cs typeface="Georgia"/>
              </a:rPr>
              <a:t> </a:t>
            </a:r>
            <a:r>
              <a:rPr sz="1100" spc="-25" dirty="0">
                <a:latin typeface="Georgia"/>
                <a:cs typeface="Georgia"/>
              </a:rPr>
              <a:t>nested</a:t>
            </a:r>
            <a:r>
              <a:rPr sz="1100" spc="65" dirty="0">
                <a:latin typeface="Georgia"/>
                <a:cs typeface="Georgia"/>
              </a:rPr>
              <a:t> </a:t>
            </a:r>
            <a:r>
              <a:rPr sz="1100" dirty="0">
                <a:latin typeface="Georgia"/>
                <a:cs typeface="Georgia"/>
              </a:rPr>
              <a:t>in</a:t>
            </a:r>
            <a:r>
              <a:rPr sz="1100" spc="60" dirty="0">
                <a:latin typeface="Georgia"/>
                <a:cs typeface="Georgia"/>
              </a:rPr>
              <a:t> </a:t>
            </a:r>
            <a:r>
              <a:rPr sz="1100" spc="-20" dirty="0">
                <a:latin typeface="Georgia"/>
                <a:cs typeface="Georgia"/>
              </a:rPr>
              <a:t>another</a:t>
            </a:r>
            <a:r>
              <a:rPr sz="1100" spc="65" dirty="0">
                <a:latin typeface="Georgia"/>
                <a:cs typeface="Georgia"/>
              </a:rPr>
              <a:t> </a:t>
            </a:r>
            <a:r>
              <a:rPr sz="1100" spc="-10" dirty="0">
                <a:latin typeface="Georgia"/>
                <a:cs typeface="Georgia"/>
              </a:rPr>
              <a:t>clustering</a:t>
            </a:r>
            <a:endParaRPr sz="1100">
              <a:latin typeface="Georgia"/>
              <a:cs typeface="Georgia"/>
            </a:endParaRPr>
          </a:p>
          <a:p>
            <a:pPr marL="226060" marR="128270" indent="-99695">
              <a:lnSpc>
                <a:spcPts val="1150"/>
              </a:lnSpc>
              <a:spcBef>
                <a:spcPts val="95"/>
              </a:spcBef>
            </a:pPr>
            <a:r>
              <a:rPr sz="1650" spc="15" baseline="-58080" dirty="0">
                <a:latin typeface="Georgia"/>
                <a:cs typeface="Georgia"/>
              </a:rPr>
              <a:t>c</a:t>
            </a:r>
            <a:r>
              <a:rPr sz="1650" spc="-1214" baseline="-58080" dirty="0">
                <a:latin typeface="Georgia"/>
                <a:cs typeface="Georgia"/>
              </a:rPr>
              <a:t>l</a:t>
            </a:r>
            <a:r>
              <a:rPr sz="1100" spc="10" dirty="0">
                <a:latin typeface="Cambria"/>
                <a:cs typeface="Cambria"/>
              </a:rPr>
              <a:t>B</a:t>
            </a:r>
            <a:r>
              <a:rPr sz="1100" spc="90" dirty="0">
                <a:latin typeface="Cambria"/>
                <a:cs typeface="Cambria"/>
              </a:rPr>
              <a:t> </a:t>
            </a:r>
            <a:r>
              <a:rPr sz="1100" spc="295" dirty="0">
                <a:latin typeface="Calibri"/>
                <a:cs typeface="Calibri"/>
              </a:rPr>
              <a:t>=</a:t>
            </a:r>
            <a:r>
              <a:rPr sz="1100" spc="-55" dirty="0">
                <a:latin typeface="Calibri"/>
                <a:cs typeface="Calibri"/>
              </a:rPr>
              <a:t> </a:t>
            </a:r>
            <a:r>
              <a:rPr sz="1100" spc="105" dirty="0">
                <a:latin typeface="Cambria"/>
                <a:cs typeface="Cambria"/>
              </a:rPr>
              <a:t>{</a:t>
            </a:r>
            <a:r>
              <a:rPr sz="1100" i="1" spc="105" dirty="0">
                <a:latin typeface="Calibri"/>
                <a:cs typeface="Calibri"/>
              </a:rPr>
              <a:t>B</a:t>
            </a:r>
            <a:r>
              <a:rPr sz="1200" spc="157" baseline="-10416" dirty="0">
                <a:latin typeface="Calibri"/>
                <a:cs typeface="Calibri"/>
              </a:rPr>
              <a:t>1</a:t>
            </a:r>
            <a:r>
              <a:rPr sz="1100" i="1" spc="105" dirty="0">
                <a:latin typeface="Calibri"/>
                <a:cs typeface="Calibri"/>
              </a:rPr>
              <a:t>,</a:t>
            </a:r>
            <a:r>
              <a:rPr sz="1100" i="1" spc="-70" dirty="0">
                <a:latin typeface="Calibri"/>
                <a:cs typeface="Calibri"/>
              </a:rPr>
              <a:t> </a:t>
            </a:r>
            <a:r>
              <a:rPr sz="1100" i="1" spc="130" dirty="0">
                <a:latin typeface="Calibri"/>
                <a:cs typeface="Calibri"/>
              </a:rPr>
              <a:t>B</a:t>
            </a:r>
            <a:r>
              <a:rPr sz="1200" spc="195" baseline="-10416" dirty="0">
                <a:latin typeface="Calibri"/>
                <a:cs typeface="Calibri"/>
              </a:rPr>
              <a:t>2</a:t>
            </a:r>
            <a:r>
              <a:rPr sz="1100" i="1" spc="13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55" dirty="0">
                <a:latin typeface="Calibri"/>
                <a:cs typeface="Calibri"/>
              </a:rPr>
              <a:t>B</a:t>
            </a:r>
            <a:r>
              <a:rPr sz="1200" i="1" spc="232" baseline="-10416" dirty="0">
                <a:latin typeface="Calibri"/>
                <a:cs typeface="Calibri"/>
              </a:rPr>
              <a:t>s</a:t>
            </a:r>
            <a:r>
              <a:rPr sz="1100" spc="155" dirty="0">
                <a:latin typeface="Cambria"/>
                <a:cs typeface="Cambria"/>
              </a:rPr>
              <a:t>}</a:t>
            </a:r>
            <a:r>
              <a:rPr sz="1100" spc="15" dirty="0">
                <a:latin typeface="Cambria"/>
                <a:cs typeface="Cambria"/>
              </a:rPr>
              <a:t> </a:t>
            </a:r>
            <a:r>
              <a:rPr sz="1100" dirty="0">
                <a:latin typeface="Georgia"/>
                <a:cs typeface="Georgia"/>
              </a:rPr>
              <a:t>if</a:t>
            </a:r>
            <a:r>
              <a:rPr sz="1100" spc="55" dirty="0">
                <a:latin typeface="Georgia"/>
                <a:cs typeface="Georgia"/>
              </a:rPr>
              <a:t> </a:t>
            </a:r>
            <a:r>
              <a:rPr sz="1100" dirty="0">
                <a:latin typeface="Georgia"/>
                <a:cs typeface="Georgia"/>
              </a:rPr>
              <a:t>and</a:t>
            </a:r>
            <a:r>
              <a:rPr sz="1100" spc="55" dirty="0">
                <a:latin typeface="Georgia"/>
                <a:cs typeface="Georgia"/>
              </a:rPr>
              <a:t> </a:t>
            </a:r>
            <a:r>
              <a:rPr sz="1100" dirty="0">
                <a:latin typeface="Georgia"/>
                <a:cs typeface="Georgia"/>
              </a:rPr>
              <a:t>only</a:t>
            </a:r>
            <a:r>
              <a:rPr sz="1100" spc="55" dirty="0">
                <a:latin typeface="Georgia"/>
                <a:cs typeface="Georgia"/>
              </a:rPr>
              <a:t> </a:t>
            </a:r>
            <a:r>
              <a:rPr sz="1100" dirty="0">
                <a:latin typeface="Georgia"/>
                <a:cs typeface="Georgia"/>
              </a:rPr>
              <a:t>if</a:t>
            </a:r>
            <a:r>
              <a:rPr sz="1100" spc="50" dirty="0">
                <a:latin typeface="Georgia"/>
                <a:cs typeface="Georgia"/>
              </a:rPr>
              <a:t> </a:t>
            </a:r>
            <a:r>
              <a:rPr sz="1100" i="1" spc="250" dirty="0">
                <a:latin typeface="Calibri"/>
                <a:cs typeface="Calibri"/>
              </a:rPr>
              <a:t>r</a:t>
            </a:r>
            <a:r>
              <a:rPr sz="1100" i="1" spc="-25" dirty="0">
                <a:latin typeface="Calibri"/>
                <a:cs typeface="Calibri"/>
              </a:rPr>
              <a:t> </a:t>
            </a:r>
            <a:r>
              <a:rPr sz="1100" i="1" spc="240" dirty="0">
                <a:latin typeface="Calibri"/>
                <a:cs typeface="Calibri"/>
              </a:rPr>
              <a:t>&gt;</a:t>
            </a:r>
            <a:r>
              <a:rPr sz="1100" i="1" spc="15" dirty="0">
                <a:latin typeface="Calibri"/>
                <a:cs typeface="Calibri"/>
              </a:rPr>
              <a:t> </a:t>
            </a:r>
            <a:r>
              <a:rPr sz="1100" i="1" dirty="0">
                <a:latin typeface="Calibri"/>
                <a:cs typeface="Calibri"/>
              </a:rPr>
              <a:t>s</a:t>
            </a:r>
            <a:r>
              <a:rPr sz="1100" dirty="0">
                <a:latin typeface="Georgia"/>
                <a:cs typeface="Georgia"/>
              </a:rPr>
              <a:t>,</a:t>
            </a:r>
            <a:r>
              <a:rPr sz="1100" spc="55" dirty="0">
                <a:latin typeface="Georgia"/>
                <a:cs typeface="Georgia"/>
              </a:rPr>
              <a:t> </a:t>
            </a:r>
            <a:r>
              <a:rPr sz="1100" dirty="0">
                <a:latin typeface="Georgia"/>
                <a:cs typeface="Georgia"/>
              </a:rPr>
              <a:t>and</a:t>
            </a:r>
            <a:r>
              <a:rPr sz="1100" spc="55" dirty="0">
                <a:latin typeface="Georgia"/>
                <a:cs typeface="Georgia"/>
              </a:rPr>
              <a:t> </a:t>
            </a:r>
            <a:r>
              <a:rPr sz="1100" dirty="0">
                <a:latin typeface="Georgia"/>
                <a:cs typeface="Georgia"/>
              </a:rPr>
              <a:t>for</a:t>
            </a:r>
            <a:r>
              <a:rPr sz="1100" spc="55" dirty="0">
                <a:latin typeface="Georgia"/>
                <a:cs typeface="Georgia"/>
              </a:rPr>
              <a:t> </a:t>
            </a:r>
            <a:r>
              <a:rPr sz="1100" spc="-10" dirty="0">
                <a:latin typeface="Georgia"/>
                <a:cs typeface="Georgia"/>
              </a:rPr>
              <a:t>each</a:t>
            </a:r>
            <a:r>
              <a:rPr sz="1100" spc="50" dirty="0">
                <a:latin typeface="Georgia"/>
                <a:cs typeface="Georgia"/>
              </a:rPr>
              <a:t> </a:t>
            </a:r>
            <a:r>
              <a:rPr sz="1100" spc="-10" dirty="0">
                <a:latin typeface="Georgia"/>
                <a:cs typeface="Georgia"/>
              </a:rPr>
              <a:t>cluster</a:t>
            </a:r>
            <a:r>
              <a:rPr sz="1100" spc="55" dirty="0">
                <a:latin typeface="Georgia"/>
                <a:cs typeface="Georgia"/>
              </a:rPr>
              <a:t> </a:t>
            </a:r>
            <a:r>
              <a:rPr sz="1100" i="1" spc="135" dirty="0">
                <a:latin typeface="Calibri"/>
                <a:cs typeface="Calibri"/>
              </a:rPr>
              <a:t>A</a:t>
            </a:r>
            <a:r>
              <a:rPr sz="1200" i="1" spc="202" baseline="-10416" dirty="0">
                <a:latin typeface="Calibri"/>
                <a:cs typeface="Calibri"/>
              </a:rPr>
              <a:t>i</a:t>
            </a:r>
            <a:r>
              <a:rPr sz="1200" i="1" spc="195" baseline="-10416"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spc="85" dirty="0">
                <a:latin typeface="Cambria"/>
                <a:cs typeface="Cambria"/>
              </a:rPr>
              <a:t>A</a:t>
            </a:r>
            <a:r>
              <a:rPr sz="1100" spc="85" dirty="0">
                <a:latin typeface="Georgia"/>
                <a:cs typeface="Georgia"/>
              </a:rPr>
              <a:t>,</a:t>
            </a:r>
            <a:r>
              <a:rPr sz="1100" spc="55" dirty="0">
                <a:latin typeface="Georgia"/>
                <a:cs typeface="Georgia"/>
              </a:rPr>
              <a:t> </a:t>
            </a:r>
            <a:r>
              <a:rPr sz="1100" spc="-10" dirty="0">
                <a:latin typeface="Georgia"/>
                <a:cs typeface="Georgia"/>
              </a:rPr>
              <a:t>there</a:t>
            </a:r>
            <a:r>
              <a:rPr sz="1100" spc="50" dirty="0">
                <a:latin typeface="Georgia"/>
                <a:cs typeface="Georgia"/>
              </a:rPr>
              <a:t> </a:t>
            </a:r>
            <a:r>
              <a:rPr sz="1100" dirty="0">
                <a:latin typeface="Georgia"/>
                <a:cs typeface="Georgia"/>
              </a:rPr>
              <a:t>exists</a:t>
            </a:r>
            <a:r>
              <a:rPr sz="1100" spc="55" dirty="0">
                <a:latin typeface="Georgia"/>
                <a:cs typeface="Georgia"/>
              </a:rPr>
              <a:t> </a:t>
            </a:r>
            <a:r>
              <a:rPr sz="1100" spc="-440" dirty="0">
                <a:latin typeface="Georgia"/>
                <a:cs typeface="Georgia"/>
              </a:rPr>
              <a:t>a</a:t>
            </a:r>
            <a:r>
              <a:rPr sz="1100" spc="-10" dirty="0">
                <a:latin typeface="Georgia"/>
                <a:cs typeface="Georgia"/>
              </a:rPr>
              <a:t> uster</a:t>
            </a:r>
            <a:r>
              <a:rPr sz="1100" spc="70" dirty="0">
                <a:latin typeface="Georgia"/>
                <a:cs typeface="Georgia"/>
              </a:rPr>
              <a:t> </a:t>
            </a:r>
            <a:r>
              <a:rPr sz="1100" i="1" spc="185" dirty="0">
                <a:latin typeface="Calibri"/>
                <a:cs typeface="Calibri"/>
              </a:rPr>
              <a:t>B</a:t>
            </a:r>
            <a:r>
              <a:rPr sz="1200" i="1" spc="277" baseline="-10416" dirty="0">
                <a:latin typeface="Calibri"/>
                <a:cs typeface="Calibri"/>
              </a:rPr>
              <a:t>j</a:t>
            </a:r>
            <a:r>
              <a:rPr sz="1200" i="1" spc="300" baseline="-10416"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dirty="0">
                <a:latin typeface="Cambria"/>
                <a:cs typeface="Cambria"/>
              </a:rPr>
              <a:t>B</a:t>
            </a:r>
            <a:r>
              <a:rPr sz="1100" dirty="0">
                <a:latin typeface="Georgia"/>
                <a:cs typeface="Georgia"/>
              </a:rPr>
              <a:t>,</a:t>
            </a:r>
            <a:r>
              <a:rPr sz="1100" spc="80" dirty="0">
                <a:latin typeface="Georgia"/>
                <a:cs typeface="Georgia"/>
              </a:rPr>
              <a:t> </a:t>
            </a:r>
            <a:r>
              <a:rPr sz="1100" spc="-20" dirty="0">
                <a:latin typeface="Georgia"/>
                <a:cs typeface="Georgia"/>
              </a:rPr>
              <a:t>such</a:t>
            </a:r>
            <a:r>
              <a:rPr sz="1100" spc="85" dirty="0">
                <a:latin typeface="Georgia"/>
                <a:cs typeface="Georgia"/>
              </a:rPr>
              <a:t> </a:t>
            </a:r>
            <a:r>
              <a:rPr sz="1100" dirty="0">
                <a:latin typeface="Georgia"/>
                <a:cs typeface="Georgia"/>
              </a:rPr>
              <a:t>that</a:t>
            </a:r>
            <a:r>
              <a:rPr sz="1100" spc="85" dirty="0">
                <a:latin typeface="Georgia"/>
                <a:cs typeface="Georgia"/>
              </a:rPr>
              <a:t> </a:t>
            </a:r>
            <a:r>
              <a:rPr sz="1100" i="1" spc="135" dirty="0">
                <a:latin typeface="Calibri"/>
                <a:cs typeface="Calibri"/>
              </a:rPr>
              <a:t>A</a:t>
            </a:r>
            <a:r>
              <a:rPr sz="1200" i="1" spc="202" baseline="-10416" dirty="0">
                <a:latin typeface="Calibri"/>
                <a:cs typeface="Calibri"/>
              </a:rPr>
              <a:t>i</a:t>
            </a:r>
            <a:r>
              <a:rPr sz="1200" i="1" spc="232" baseline="-10416" dirty="0">
                <a:latin typeface="Calibri"/>
                <a:cs typeface="Calibri"/>
              </a:rPr>
              <a:t> </a:t>
            </a:r>
            <a:r>
              <a:rPr sz="1100" dirty="0">
                <a:latin typeface="Lucida Sans Unicode"/>
                <a:cs typeface="Lucida Sans Unicode"/>
              </a:rPr>
              <a:t>⊆</a:t>
            </a:r>
            <a:r>
              <a:rPr sz="1100" spc="-55" dirty="0">
                <a:latin typeface="Lucida Sans Unicode"/>
                <a:cs typeface="Lucida Sans Unicode"/>
              </a:rPr>
              <a:t> </a:t>
            </a:r>
            <a:r>
              <a:rPr sz="1100" i="1" spc="185" dirty="0">
                <a:latin typeface="Calibri"/>
                <a:cs typeface="Calibri"/>
              </a:rPr>
              <a:t>B</a:t>
            </a:r>
            <a:r>
              <a:rPr sz="1200" i="1" spc="277" baseline="-10416" dirty="0">
                <a:latin typeface="Calibri"/>
                <a:cs typeface="Calibri"/>
              </a:rPr>
              <a:t>j</a:t>
            </a:r>
            <a:r>
              <a:rPr sz="1200" i="1" spc="-127" baseline="-10416" dirty="0">
                <a:latin typeface="Calibri"/>
                <a:cs typeface="Calibri"/>
              </a:rPr>
              <a:t> </a:t>
            </a:r>
            <a:r>
              <a:rPr sz="1100" spc="-50" dirty="0">
                <a:latin typeface="Georgia"/>
                <a:cs typeface="Georgia"/>
              </a:rPr>
              <a:t>.</a:t>
            </a:r>
            <a:endParaRPr sz="1100">
              <a:latin typeface="Georgia"/>
              <a:cs typeface="Georgia"/>
            </a:endParaRPr>
          </a:p>
          <a:p>
            <a:pPr marL="127000" marR="232410">
              <a:lnSpc>
                <a:spcPts val="1150"/>
              </a:lnSpc>
              <a:spcBef>
                <a:spcPts val="725"/>
              </a:spcBef>
            </a:pPr>
            <a:r>
              <a:rPr sz="1100" spc="-30" dirty="0">
                <a:latin typeface="Georgia"/>
                <a:cs typeface="Georgia"/>
              </a:rPr>
              <a:t>Hierarchical</a:t>
            </a:r>
            <a:r>
              <a:rPr sz="1100" spc="25" dirty="0">
                <a:latin typeface="Georgia"/>
                <a:cs typeface="Georgia"/>
              </a:rPr>
              <a:t> </a:t>
            </a:r>
            <a:r>
              <a:rPr sz="1100" spc="-25" dirty="0">
                <a:latin typeface="Georgia"/>
                <a:cs typeface="Georgia"/>
              </a:rPr>
              <a:t>clustering</a:t>
            </a:r>
            <a:r>
              <a:rPr sz="1100" spc="65" dirty="0">
                <a:latin typeface="Georgia"/>
                <a:cs typeface="Georgia"/>
              </a:rPr>
              <a:t> </a:t>
            </a:r>
            <a:r>
              <a:rPr sz="1100" spc="-10" dirty="0">
                <a:latin typeface="Georgia"/>
                <a:cs typeface="Georgia"/>
              </a:rPr>
              <a:t>yields</a:t>
            </a:r>
            <a:r>
              <a:rPr sz="1100" spc="60" dirty="0">
                <a:latin typeface="Georgia"/>
                <a:cs typeface="Georgia"/>
              </a:rPr>
              <a:t> </a:t>
            </a:r>
            <a:r>
              <a:rPr sz="1100" dirty="0">
                <a:latin typeface="Georgia"/>
                <a:cs typeface="Georgia"/>
              </a:rPr>
              <a:t>a</a:t>
            </a:r>
            <a:r>
              <a:rPr sz="1100" spc="65" dirty="0">
                <a:latin typeface="Georgia"/>
                <a:cs typeface="Georgia"/>
              </a:rPr>
              <a:t> </a:t>
            </a:r>
            <a:r>
              <a:rPr sz="1100" spc="-40" dirty="0">
                <a:latin typeface="Georgia"/>
                <a:cs typeface="Georgia"/>
              </a:rPr>
              <a:t>sequence</a:t>
            </a:r>
            <a:r>
              <a:rPr sz="1100" spc="60" dirty="0">
                <a:latin typeface="Georgia"/>
                <a:cs typeface="Georgia"/>
              </a:rPr>
              <a:t> </a:t>
            </a:r>
            <a:r>
              <a:rPr sz="1100" dirty="0">
                <a:latin typeface="Georgia"/>
                <a:cs typeface="Georgia"/>
              </a:rPr>
              <a:t>of</a:t>
            </a:r>
            <a:r>
              <a:rPr sz="1100" spc="60" dirty="0">
                <a:latin typeface="Georgia"/>
                <a:cs typeface="Georgia"/>
              </a:rPr>
              <a:t> </a:t>
            </a:r>
            <a:r>
              <a:rPr sz="1100" i="1" spc="75" dirty="0">
                <a:latin typeface="Calibri"/>
                <a:cs typeface="Calibri"/>
              </a:rPr>
              <a:t>m</a:t>
            </a:r>
            <a:r>
              <a:rPr sz="1100" i="1" spc="80" dirty="0">
                <a:latin typeface="Calibri"/>
                <a:cs typeface="Calibri"/>
              </a:rPr>
              <a:t> </a:t>
            </a:r>
            <a:r>
              <a:rPr sz="1100" spc="-25" dirty="0">
                <a:latin typeface="Georgia"/>
                <a:cs typeface="Georgia"/>
              </a:rPr>
              <a:t>nested</a:t>
            </a:r>
            <a:r>
              <a:rPr sz="1100" spc="60" dirty="0">
                <a:latin typeface="Georgia"/>
                <a:cs typeface="Georgia"/>
              </a:rPr>
              <a:t> </a:t>
            </a:r>
            <a:r>
              <a:rPr sz="1100" spc="-10" dirty="0">
                <a:latin typeface="Georgia"/>
                <a:cs typeface="Georgia"/>
              </a:rPr>
              <a:t>partitions</a:t>
            </a:r>
            <a:r>
              <a:rPr sz="1100" spc="65" dirty="0">
                <a:latin typeface="Georgia"/>
                <a:cs typeface="Georgia"/>
              </a:rPr>
              <a:t> </a:t>
            </a:r>
            <a:r>
              <a:rPr sz="1100" dirty="0">
                <a:latin typeface="Cambria"/>
                <a:cs typeface="Cambria"/>
              </a:rPr>
              <a:t>C</a:t>
            </a:r>
            <a:r>
              <a:rPr sz="1200" baseline="-10416" dirty="0">
                <a:latin typeface="Calibri"/>
                <a:cs typeface="Calibri"/>
              </a:rPr>
              <a:t>1</a:t>
            </a:r>
            <a:r>
              <a:rPr sz="1100" dirty="0">
                <a:latin typeface="Georgia"/>
                <a:cs typeface="Georgia"/>
              </a:rPr>
              <a:t>,</a:t>
            </a:r>
            <a:r>
              <a:rPr sz="1100" spc="60" dirty="0">
                <a:latin typeface="Georgia"/>
                <a:cs typeface="Georgia"/>
              </a:rPr>
              <a:t> </a:t>
            </a:r>
            <a:r>
              <a:rPr sz="1100" dirty="0">
                <a:latin typeface="Cambria"/>
                <a:cs typeface="Cambria"/>
              </a:rPr>
              <a:t>C</a:t>
            </a:r>
            <a:r>
              <a:rPr sz="1200" baseline="-10416" dirty="0">
                <a:latin typeface="Calibri"/>
                <a:cs typeface="Calibri"/>
              </a:rPr>
              <a:t>2</a:t>
            </a:r>
            <a:r>
              <a:rPr sz="1100" dirty="0">
                <a:latin typeface="Georgia"/>
                <a:cs typeface="Georgia"/>
              </a:rPr>
              <a:t>,</a:t>
            </a:r>
            <a:r>
              <a:rPr sz="1100" spc="60" dirty="0">
                <a:latin typeface="Georgia"/>
                <a:cs typeface="Georgia"/>
              </a:rPr>
              <a:t> </a:t>
            </a:r>
            <a:r>
              <a:rPr sz="1100" i="1" spc="110" dirty="0">
                <a:latin typeface="Calibri"/>
                <a:cs typeface="Calibri"/>
              </a:rPr>
              <a:t>..</a:t>
            </a:r>
            <a:r>
              <a:rPr sz="1100" i="1" spc="-70" dirty="0">
                <a:latin typeface="Calibri"/>
                <a:cs typeface="Calibri"/>
              </a:rPr>
              <a:t> </a:t>
            </a:r>
            <a:r>
              <a:rPr sz="1100" i="1" dirty="0">
                <a:latin typeface="Calibri"/>
                <a:cs typeface="Calibri"/>
              </a:rPr>
              <a:t>.</a:t>
            </a:r>
            <a:r>
              <a:rPr sz="1100" i="1" spc="-70" dirty="0">
                <a:latin typeface="Calibri"/>
                <a:cs typeface="Calibri"/>
              </a:rPr>
              <a:t> </a:t>
            </a:r>
            <a:r>
              <a:rPr sz="1100" dirty="0">
                <a:latin typeface="Georgia"/>
                <a:cs typeface="Georgia"/>
              </a:rPr>
              <a:t>,</a:t>
            </a:r>
            <a:r>
              <a:rPr sz="1100" spc="65" dirty="0">
                <a:latin typeface="Georgia"/>
                <a:cs typeface="Georgia"/>
              </a:rPr>
              <a:t> </a:t>
            </a:r>
            <a:r>
              <a:rPr sz="1100" spc="-25" dirty="0">
                <a:latin typeface="Cambria"/>
                <a:cs typeface="Cambria"/>
              </a:rPr>
              <a:t>C</a:t>
            </a:r>
            <a:r>
              <a:rPr sz="1200" i="1" spc="-37" baseline="-10416" dirty="0">
                <a:latin typeface="Calibri"/>
                <a:cs typeface="Calibri"/>
              </a:rPr>
              <a:t>m</a:t>
            </a:r>
            <a:r>
              <a:rPr sz="1100" spc="-25" dirty="0">
                <a:latin typeface="Georgia"/>
                <a:cs typeface="Georgia"/>
              </a:rPr>
              <a:t>, </a:t>
            </a:r>
            <a:r>
              <a:rPr sz="1100" spc="-20" dirty="0">
                <a:latin typeface="Georgia"/>
                <a:cs typeface="Georgia"/>
              </a:rPr>
              <a:t>ranging</a:t>
            </a:r>
            <a:r>
              <a:rPr sz="1100" spc="-35" dirty="0">
                <a:latin typeface="Georgia"/>
                <a:cs typeface="Georgia"/>
              </a:rPr>
              <a:t> </a:t>
            </a:r>
            <a:r>
              <a:rPr sz="1100" spc="-25" dirty="0">
                <a:latin typeface="Georgia"/>
                <a:cs typeface="Georgia"/>
              </a:rPr>
              <a:t>from</a:t>
            </a:r>
            <a:r>
              <a:rPr sz="1100" spc="40" dirty="0">
                <a:latin typeface="Georgia"/>
                <a:cs typeface="Georgia"/>
              </a:rPr>
              <a:t> </a:t>
            </a:r>
            <a:r>
              <a:rPr sz="1100" dirty="0">
                <a:latin typeface="Georgia"/>
                <a:cs typeface="Georgia"/>
              </a:rPr>
              <a:t>the</a:t>
            </a:r>
            <a:r>
              <a:rPr sz="1100" spc="45" dirty="0">
                <a:latin typeface="Georgia"/>
                <a:cs typeface="Georgia"/>
              </a:rPr>
              <a:t> </a:t>
            </a:r>
            <a:r>
              <a:rPr sz="1100" dirty="0">
                <a:latin typeface="Georgia"/>
                <a:cs typeface="Georgia"/>
              </a:rPr>
              <a:t>trivial</a:t>
            </a:r>
            <a:r>
              <a:rPr sz="1100" spc="40" dirty="0">
                <a:latin typeface="Georgia"/>
                <a:cs typeface="Georgia"/>
              </a:rPr>
              <a:t> </a:t>
            </a:r>
            <a:r>
              <a:rPr sz="1100" spc="-20" dirty="0">
                <a:latin typeface="Georgia"/>
                <a:cs typeface="Georgia"/>
              </a:rPr>
              <a:t>clustering</a:t>
            </a:r>
            <a:r>
              <a:rPr sz="1100" spc="45" dirty="0">
                <a:latin typeface="Georgia"/>
                <a:cs typeface="Georgia"/>
              </a:rPr>
              <a:t> </a:t>
            </a:r>
            <a:r>
              <a:rPr sz="1100" dirty="0">
                <a:latin typeface="Cambria"/>
                <a:cs typeface="Cambria"/>
              </a:rPr>
              <a:t>C</a:t>
            </a:r>
            <a:r>
              <a:rPr sz="1200" baseline="-10416" dirty="0">
                <a:latin typeface="Calibri"/>
                <a:cs typeface="Calibri"/>
              </a:rPr>
              <a:t>1</a:t>
            </a:r>
            <a:r>
              <a:rPr sz="1200" spc="172" baseline="-10416" dirty="0">
                <a:latin typeface="Calibri"/>
                <a:cs typeface="Calibri"/>
              </a:rPr>
              <a:t> </a:t>
            </a:r>
            <a:r>
              <a:rPr sz="1100" spc="295" dirty="0">
                <a:latin typeface="Calibri"/>
                <a:cs typeface="Calibri"/>
              </a:rPr>
              <a:t>=</a:t>
            </a:r>
            <a:r>
              <a:rPr sz="1100" spc="10" dirty="0">
                <a:latin typeface="Calibri"/>
                <a:cs typeface="Calibri"/>
              </a:rPr>
              <a:t> </a:t>
            </a:r>
            <a:r>
              <a:rPr sz="1100" spc="95" dirty="0">
                <a:latin typeface="Cambria"/>
                <a:cs typeface="Cambria"/>
              </a:rPr>
              <a:t>{{x</a:t>
            </a:r>
            <a:r>
              <a:rPr sz="1200" spc="142" baseline="-10416" dirty="0">
                <a:latin typeface="Calibri"/>
                <a:cs typeface="Calibri"/>
              </a:rPr>
              <a:t>1</a:t>
            </a:r>
            <a:r>
              <a:rPr sz="1100" spc="95" dirty="0">
                <a:latin typeface="Cambria"/>
                <a:cs typeface="Cambria"/>
              </a:rPr>
              <a:t>}</a:t>
            </a:r>
            <a:r>
              <a:rPr sz="1100" i="1" spc="95" dirty="0">
                <a:latin typeface="Calibri"/>
                <a:cs typeface="Calibri"/>
              </a:rPr>
              <a:t>,</a:t>
            </a:r>
            <a:r>
              <a:rPr sz="1100" i="1" spc="-70" dirty="0">
                <a:latin typeface="Calibri"/>
                <a:cs typeface="Calibri"/>
              </a:rPr>
              <a:t> </a:t>
            </a:r>
            <a:r>
              <a:rPr sz="1100" spc="105" dirty="0">
                <a:latin typeface="Cambria"/>
                <a:cs typeface="Cambria"/>
              </a:rPr>
              <a:t>{x</a:t>
            </a:r>
            <a:r>
              <a:rPr sz="1200" spc="157" baseline="-10416" dirty="0">
                <a:latin typeface="Calibri"/>
                <a:cs typeface="Calibri"/>
              </a:rPr>
              <a:t>2</a:t>
            </a:r>
            <a:r>
              <a:rPr sz="1100" spc="105" dirty="0">
                <a:latin typeface="Cambria"/>
                <a:cs typeface="Cambria"/>
              </a:rPr>
              <a:t>}</a:t>
            </a:r>
            <a:r>
              <a:rPr sz="1100" i="1" spc="10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20" dirty="0">
                <a:latin typeface="Cambria"/>
                <a:cs typeface="Cambria"/>
              </a:rPr>
              <a:t>{x</a:t>
            </a:r>
            <a:r>
              <a:rPr sz="1200" i="1" spc="179" baseline="-10416" dirty="0">
                <a:latin typeface="Calibri"/>
                <a:cs typeface="Calibri"/>
              </a:rPr>
              <a:t>n</a:t>
            </a:r>
            <a:r>
              <a:rPr sz="1100" spc="120" dirty="0">
                <a:latin typeface="Cambria"/>
                <a:cs typeface="Cambria"/>
              </a:rPr>
              <a:t>}}</a:t>
            </a:r>
            <a:r>
              <a:rPr sz="1100" spc="65" dirty="0">
                <a:latin typeface="Cambria"/>
                <a:cs typeface="Cambria"/>
              </a:rPr>
              <a:t> </a:t>
            </a:r>
            <a:r>
              <a:rPr sz="1100" spc="-30" dirty="0">
                <a:latin typeface="Georgia"/>
                <a:cs typeface="Georgia"/>
              </a:rPr>
              <a:t>where</a:t>
            </a:r>
            <a:r>
              <a:rPr sz="1100" spc="45" dirty="0">
                <a:latin typeface="Georgia"/>
                <a:cs typeface="Georgia"/>
              </a:rPr>
              <a:t> </a:t>
            </a:r>
            <a:r>
              <a:rPr sz="1100" spc="-10" dirty="0">
                <a:latin typeface="Georgia"/>
                <a:cs typeface="Georgia"/>
              </a:rPr>
              <a:t>each</a:t>
            </a:r>
            <a:r>
              <a:rPr sz="1100" spc="45" dirty="0">
                <a:latin typeface="Georgia"/>
                <a:cs typeface="Georgia"/>
              </a:rPr>
              <a:t> </a:t>
            </a:r>
            <a:r>
              <a:rPr sz="1100" dirty="0">
                <a:latin typeface="Georgia"/>
                <a:cs typeface="Georgia"/>
              </a:rPr>
              <a:t>point</a:t>
            </a:r>
            <a:r>
              <a:rPr sz="1100" spc="40" dirty="0">
                <a:latin typeface="Georgia"/>
                <a:cs typeface="Georgia"/>
              </a:rPr>
              <a:t> </a:t>
            </a:r>
            <a:r>
              <a:rPr sz="1100" spc="-25" dirty="0">
                <a:latin typeface="Georgia"/>
                <a:cs typeface="Georgia"/>
              </a:rPr>
              <a:t>is</a:t>
            </a:r>
            <a:endParaRPr sz="1100">
              <a:latin typeface="Georgia"/>
              <a:cs typeface="Georgia"/>
            </a:endParaRPr>
          </a:p>
        </p:txBody>
      </p:sp>
      <p:sp>
        <p:nvSpPr>
          <p:cNvPr id="7" name="object 7"/>
          <p:cNvSpPr txBox="1"/>
          <p:nvPr/>
        </p:nvSpPr>
        <p:spPr>
          <a:xfrm>
            <a:off x="428777" y="1809774"/>
            <a:ext cx="5068570" cy="191770"/>
          </a:xfrm>
          <a:prstGeom prst="rect">
            <a:avLst/>
          </a:prstGeom>
        </p:spPr>
        <p:txBody>
          <a:bodyPr vert="horz" wrap="square" lIns="0" tIns="11430" rIns="0" bIns="0" rtlCol="0">
            <a:spAutoFit/>
          </a:bodyPr>
          <a:lstStyle/>
          <a:p>
            <a:pPr marL="38100">
              <a:lnSpc>
                <a:spcPct val="100000"/>
              </a:lnSpc>
              <a:spcBef>
                <a:spcPts val="90"/>
              </a:spcBef>
            </a:pPr>
            <a:r>
              <a:rPr sz="1100" dirty="0">
                <a:latin typeface="Georgia"/>
                <a:cs typeface="Georgia"/>
              </a:rPr>
              <a:t>in</a:t>
            </a:r>
            <a:r>
              <a:rPr sz="1100" spc="15" dirty="0">
                <a:latin typeface="Georgia"/>
                <a:cs typeface="Georgia"/>
              </a:rPr>
              <a:t> </a:t>
            </a:r>
            <a:r>
              <a:rPr sz="1100" dirty="0">
                <a:latin typeface="Georgia"/>
                <a:cs typeface="Georgia"/>
              </a:rPr>
              <a:t>a</a:t>
            </a:r>
            <a:r>
              <a:rPr sz="1100" spc="65" dirty="0">
                <a:latin typeface="Georgia"/>
                <a:cs typeface="Georgia"/>
              </a:rPr>
              <a:t> </a:t>
            </a:r>
            <a:r>
              <a:rPr sz="1100" spc="-20" dirty="0">
                <a:latin typeface="Georgia"/>
                <a:cs typeface="Georgia"/>
              </a:rPr>
              <a:t>separate</a:t>
            </a:r>
            <a:r>
              <a:rPr sz="1100" spc="65" dirty="0">
                <a:latin typeface="Georgia"/>
                <a:cs typeface="Georgia"/>
              </a:rPr>
              <a:t> </a:t>
            </a:r>
            <a:r>
              <a:rPr sz="1100" spc="-10" dirty="0">
                <a:latin typeface="Georgia"/>
                <a:cs typeface="Georgia"/>
              </a:rPr>
              <a:t>cluster,</a:t>
            </a:r>
            <a:r>
              <a:rPr sz="1100" spc="60" dirty="0">
                <a:latin typeface="Georgia"/>
                <a:cs typeface="Georgia"/>
              </a:rPr>
              <a:t> </a:t>
            </a:r>
            <a:r>
              <a:rPr sz="1100" dirty="0">
                <a:latin typeface="Georgia"/>
                <a:cs typeface="Georgia"/>
              </a:rPr>
              <a:t>to</a:t>
            </a:r>
            <a:r>
              <a:rPr sz="1100" spc="65" dirty="0">
                <a:latin typeface="Georgia"/>
                <a:cs typeface="Georgia"/>
              </a:rPr>
              <a:t> </a:t>
            </a:r>
            <a:r>
              <a:rPr sz="1100" dirty="0">
                <a:latin typeface="Georgia"/>
                <a:cs typeface="Georgia"/>
              </a:rPr>
              <a:t>the</a:t>
            </a:r>
            <a:r>
              <a:rPr sz="1100" spc="65" dirty="0">
                <a:latin typeface="Georgia"/>
                <a:cs typeface="Georgia"/>
              </a:rPr>
              <a:t> </a:t>
            </a:r>
            <a:r>
              <a:rPr sz="1100" spc="-10" dirty="0">
                <a:latin typeface="Georgia"/>
                <a:cs typeface="Georgia"/>
              </a:rPr>
              <a:t>other</a:t>
            </a:r>
            <a:r>
              <a:rPr sz="1100" spc="65" dirty="0">
                <a:latin typeface="Georgia"/>
                <a:cs typeface="Georgia"/>
              </a:rPr>
              <a:t> </a:t>
            </a:r>
            <a:r>
              <a:rPr sz="1100" dirty="0">
                <a:latin typeface="Georgia"/>
                <a:cs typeface="Georgia"/>
              </a:rPr>
              <a:t>trivial</a:t>
            </a:r>
            <a:r>
              <a:rPr sz="1100" spc="65" dirty="0">
                <a:latin typeface="Georgia"/>
                <a:cs typeface="Georgia"/>
              </a:rPr>
              <a:t> </a:t>
            </a:r>
            <a:r>
              <a:rPr sz="1100" spc="-20" dirty="0">
                <a:latin typeface="Georgia"/>
                <a:cs typeface="Georgia"/>
              </a:rPr>
              <a:t>clustering</a:t>
            </a:r>
            <a:r>
              <a:rPr sz="1100" spc="65" dirty="0">
                <a:latin typeface="Georgia"/>
                <a:cs typeface="Georgia"/>
              </a:rPr>
              <a:t> </a:t>
            </a:r>
            <a:r>
              <a:rPr sz="1100" dirty="0">
                <a:latin typeface="Cambria"/>
                <a:cs typeface="Cambria"/>
              </a:rPr>
              <a:t>C</a:t>
            </a:r>
            <a:r>
              <a:rPr sz="1200" i="1" baseline="-10416" dirty="0">
                <a:latin typeface="Calibri"/>
                <a:cs typeface="Calibri"/>
              </a:rPr>
              <a:t>m</a:t>
            </a:r>
            <a:r>
              <a:rPr sz="1200" i="1" spc="202" baseline="-10416" dirty="0">
                <a:latin typeface="Calibri"/>
                <a:cs typeface="Calibri"/>
              </a:rPr>
              <a:t> </a:t>
            </a:r>
            <a:r>
              <a:rPr sz="1100" spc="295" dirty="0">
                <a:latin typeface="Calibri"/>
                <a:cs typeface="Calibri"/>
              </a:rPr>
              <a:t>=</a:t>
            </a:r>
            <a:r>
              <a:rPr sz="1100" spc="25" dirty="0">
                <a:latin typeface="Calibri"/>
                <a:cs typeface="Calibri"/>
              </a:rPr>
              <a:t> </a:t>
            </a:r>
            <a:r>
              <a:rPr sz="1100" spc="90" dirty="0">
                <a:latin typeface="Cambria"/>
                <a:cs typeface="Cambria"/>
              </a:rPr>
              <a:t>{{x</a:t>
            </a:r>
            <a:r>
              <a:rPr sz="1200" spc="135" baseline="-10416" dirty="0">
                <a:latin typeface="Calibri"/>
                <a:cs typeface="Calibri"/>
              </a:rPr>
              <a:t>1</a:t>
            </a:r>
            <a:r>
              <a:rPr sz="1100" i="1" spc="90" dirty="0">
                <a:latin typeface="Calibri"/>
                <a:cs typeface="Calibri"/>
              </a:rPr>
              <a:t>,</a:t>
            </a:r>
            <a:r>
              <a:rPr sz="1100" i="1" spc="-70" dirty="0">
                <a:latin typeface="Calibri"/>
                <a:cs typeface="Calibri"/>
              </a:rPr>
              <a:t> </a:t>
            </a:r>
            <a:r>
              <a:rPr sz="1100" spc="100" dirty="0">
                <a:latin typeface="Cambria"/>
                <a:cs typeface="Cambria"/>
              </a:rPr>
              <a:t>x</a:t>
            </a:r>
            <a:r>
              <a:rPr sz="1200" spc="150" baseline="-10416" dirty="0">
                <a:latin typeface="Calibri"/>
                <a:cs typeface="Calibri"/>
              </a:rPr>
              <a:t>2</a:t>
            </a:r>
            <a:r>
              <a:rPr sz="1100" i="1" spc="10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00" dirty="0">
                <a:latin typeface="Cambria"/>
                <a:cs typeface="Cambria"/>
              </a:rPr>
              <a:t>x</a:t>
            </a:r>
            <a:r>
              <a:rPr sz="1200" i="1" spc="150" baseline="-10416" dirty="0">
                <a:latin typeface="Calibri"/>
                <a:cs typeface="Calibri"/>
              </a:rPr>
              <a:t>n</a:t>
            </a:r>
            <a:r>
              <a:rPr sz="1100" spc="100" dirty="0">
                <a:latin typeface="Cambria"/>
                <a:cs typeface="Cambria"/>
              </a:rPr>
              <a:t>}}</a:t>
            </a:r>
            <a:r>
              <a:rPr sz="1100" spc="100" dirty="0">
                <a:latin typeface="Georgia"/>
                <a:cs typeface="Georgia"/>
              </a:rPr>
              <a:t>,</a:t>
            </a:r>
            <a:r>
              <a:rPr sz="1100" spc="65" dirty="0">
                <a:latin typeface="Georgia"/>
                <a:cs typeface="Georgia"/>
              </a:rPr>
              <a:t> </a:t>
            </a:r>
            <a:r>
              <a:rPr sz="1100" spc="-10" dirty="0">
                <a:latin typeface="Georgia"/>
                <a:cs typeface="Georgia"/>
              </a:rPr>
              <a:t>where</a:t>
            </a:r>
            <a:endParaRPr sz="1100">
              <a:latin typeface="Georgia"/>
              <a:cs typeface="Georgia"/>
            </a:endParaRPr>
          </a:p>
        </p:txBody>
      </p:sp>
      <p:sp>
        <p:nvSpPr>
          <p:cNvPr id="8" name="object 8"/>
          <p:cNvSpPr txBox="1"/>
          <p:nvPr/>
        </p:nvSpPr>
        <p:spPr>
          <a:xfrm>
            <a:off x="428777" y="1884080"/>
            <a:ext cx="4625340" cy="740410"/>
          </a:xfrm>
          <a:prstGeom prst="rect">
            <a:avLst/>
          </a:prstGeom>
        </p:spPr>
        <p:txBody>
          <a:bodyPr vert="horz" wrap="square" lIns="0" tIns="83185" rIns="0" bIns="0" rtlCol="0">
            <a:spAutoFit/>
          </a:bodyPr>
          <a:lstStyle/>
          <a:p>
            <a:pPr marL="38100">
              <a:lnSpc>
                <a:spcPct val="100000"/>
              </a:lnSpc>
              <a:spcBef>
                <a:spcPts val="655"/>
              </a:spcBef>
            </a:pPr>
            <a:r>
              <a:rPr sz="1100" dirty="0">
                <a:latin typeface="Georgia"/>
                <a:cs typeface="Georgia"/>
              </a:rPr>
              <a:t>all</a:t>
            </a:r>
            <a:r>
              <a:rPr sz="1100" spc="10" dirty="0">
                <a:latin typeface="Georgia"/>
                <a:cs typeface="Georgia"/>
              </a:rPr>
              <a:t> </a:t>
            </a:r>
            <a:r>
              <a:rPr sz="1100" spc="-10" dirty="0">
                <a:latin typeface="Georgia"/>
                <a:cs typeface="Georgia"/>
              </a:rPr>
              <a:t>points</a:t>
            </a:r>
            <a:r>
              <a:rPr sz="1100" spc="10" dirty="0">
                <a:latin typeface="Georgia"/>
                <a:cs typeface="Georgia"/>
              </a:rPr>
              <a:t> </a:t>
            </a:r>
            <a:r>
              <a:rPr sz="1100" dirty="0">
                <a:latin typeface="Georgia"/>
                <a:cs typeface="Georgia"/>
              </a:rPr>
              <a:t>are</a:t>
            </a:r>
            <a:r>
              <a:rPr sz="1100" spc="10" dirty="0">
                <a:latin typeface="Georgia"/>
                <a:cs typeface="Georgia"/>
              </a:rPr>
              <a:t> </a:t>
            </a:r>
            <a:r>
              <a:rPr sz="1100" dirty="0">
                <a:latin typeface="Georgia"/>
                <a:cs typeface="Georgia"/>
              </a:rPr>
              <a:t>in</a:t>
            </a:r>
            <a:r>
              <a:rPr sz="1100" spc="10" dirty="0">
                <a:latin typeface="Georgia"/>
                <a:cs typeface="Georgia"/>
              </a:rPr>
              <a:t> </a:t>
            </a:r>
            <a:r>
              <a:rPr sz="1100" spc="-20" dirty="0">
                <a:latin typeface="Georgia"/>
                <a:cs typeface="Georgia"/>
              </a:rPr>
              <a:t>one</a:t>
            </a:r>
            <a:r>
              <a:rPr sz="1100" spc="10" dirty="0">
                <a:latin typeface="Georgia"/>
                <a:cs typeface="Georgia"/>
              </a:rPr>
              <a:t> </a:t>
            </a:r>
            <a:r>
              <a:rPr sz="1100" spc="-10" dirty="0">
                <a:latin typeface="Georgia"/>
                <a:cs typeface="Georgia"/>
              </a:rPr>
              <a:t>cluster.</a:t>
            </a:r>
            <a:endParaRPr sz="1100">
              <a:latin typeface="Georgia"/>
              <a:cs typeface="Georgia"/>
            </a:endParaRPr>
          </a:p>
          <a:p>
            <a:pPr marL="38100">
              <a:lnSpc>
                <a:spcPct val="100000"/>
              </a:lnSpc>
              <a:spcBef>
                <a:spcPts val="555"/>
              </a:spcBef>
            </a:pPr>
            <a:r>
              <a:rPr sz="1100" dirty="0">
                <a:latin typeface="Georgia"/>
                <a:cs typeface="Georgia"/>
              </a:rPr>
              <a:t>In</a:t>
            </a:r>
            <a:r>
              <a:rPr sz="1100" spc="40" dirty="0">
                <a:latin typeface="Georgia"/>
                <a:cs typeface="Georgia"/>
              </a:rPr>
              <a:t> </a:t>
            </a:r>
            <a:r>
              <a:rPr sz="1100" spc="-25" dirty="0">
                <a:latin typeface="Georgia"/>
                <a:cs typeface="Georgia"/>
              </a:rPr>
              <a:t>general,</a:t>
            </a:r>
            <a:r>
              <a:rPr sz="1100" spc="40" dirty="0">
                <a:latin typeface="Georgia"/>
                <a:cs typeface="Georgia"/>
              </a:rPr>
              <a:t> </a:t>
            </a:r>
            <a:r>
              <a:rPr sz="1100" dirty="0">
                <a:latin typeface="Georgia"/>
                <a:cs typeface="Georgia"/>
              </a:rPr>
              <a:t>the</a:t>
            </a:r>
            <a:r>
              <a:rPr sz="1100" spc="45" dirty="0">
                <a:latin typeface="Georgia"/>
                <a:cs typeface="Georgia"/>
              </a:rPr>
              <a:t> </a:t>
            </a:r>
            <a:r>
              <a:rPr sz="1100" spc="-20" dirty="0">
                <a:latin typeface="Georgia"/>
                <a:cs typeface="Georgia"/>
              </a:rPr>
              <a:t>clustering</a:t>
            </a:r>
            <a:r>
              <a:rPr sz="1100" spc="40" dirty="0">
                <a:latin typeface="Georgia"/>
                <a:cs typeface="Georgia"/>
              </a:rPr>
              <a:t> </a:t>
            </a:r>
            <a:r>
              <a:rPr sz="1100" spc="-60" dirty="0">
                <a:latin typeface="Cambria"/>
                <a:cs typeface="Cambria"/>
              </a:rPr>
              <a:t>C</a:t>
            </a:r>
            <a:r>
              <a:rPr sz="1200" i="1" spc="-89" baseline="-10416" dirty="0">
                <a:latin typeface="Calibri"/>
                <a:cs typeface="Calibri"/>
              </a:rPr>
              <a:t>t</a:t>
            </a:r>
            <a:r>
              <a:rPr sz="1200" spc="-89" baseline="-10416" dirty="0">
                <a:latin typeface="Lucida Sans Unicode"/>
                <a:cs typeface="Lucida Sans Unicode"/>
              </a:rPr>
              <a:t>—</a:t>
            </a:r>
            <a:r>
              <a:rPr sz="1200" baseline="-10416" dirty="0">
                <a:latin typeface="Calibri"/>
                <a:cs typeface="Calibri"/>
              </a:rPr>
              <a:t>1</a:t>
            </a:r>
            <a:r>
              <a:rPr sz="1200" spc="247" baseline="-10416" dirty="0">
                <a:latin typeface="Calibri"/>
                <a:cs typeface="Calibri"/>
              </a:rPr>
              <a:t> </a:t>
            </a:r>
            <a:r>
              <a:rPr sz="1100" dirty="0">
                <a:latin typeface="Georgia"/>
                <a:cs typeface="Georgia"/>
              </a:rPr>
              <a:t>is</a:t>
            </a:r>
            <a:r>
              <a:rPr sz="1100" spc="45" dirty="0">
                <a:latin typeface="Georgia"/>
                <a:cs typeface="Georgia"/>
              </a:rPr>
              <a:t> </a:t>
            </a:r>
            <a:r>
              <a:rPr sz="1100" spc="-25" dirty="0">
                <a:latin typeface="Georgia"/>
                <a:cs typeface="Georgia"/>
              </a:rPr>
              <a:t>nested</a:t>
            </a:r>
            <a:r>
              <a:rPr sz="1100" spc="40" dirty="0">
                <a:latin typeface="Georgia"/>
                <a:cs typeface="Georgia"/>
              </a:rPr>
              <a:t> </a:t>
            </a:r>
            <a:r>
              <a:rPr sz="1100" dirty="0">
                <a:latin typeface="Georgia"/>
                <a:cs typeface="Georgia"/>
              </a:rPr>
              <a:t>in</a:t>
            </a:r>
            <a:r>
              <a:rPr sz="1100" spc="45" dirty="0">
                <a:latin typeface="Georgia"/>
                <a:cs typeface="Georgia"/>
              </a:rPr>
              <a:t> </a:t>
            </a:r>
            <a:r>
              <a:rPr sz="1100" dirty="0">
                <a:latin typeface="Georgia"/>
                <a:cs typeface="Georgia"/>
              </a:rPr>
              <a:t>the</a:t>
            </a:r>
            <a:r>
              <a:rPr sz="1100" spc="40" dirty="0">
                <a:latin typeface="Georgia"/>
                <a:cs typeface="Georgia"/>
              </a:rPr>
              <a:t> </a:t>
            </a:r>
            <a:r>
              <a:rPr sz="1100" spc="-25" dirty="0">
                <a:latin typeface="Georgia"/>
                <a:cs typeface="Georgia"/>
              </a:rPr>
              <a:t>clustering</a:t>
            </a:r>
            <a:r>
              <a:rPr sz="1100" spc="45" dirty="0">
                <a:latin typeface="Georgia"/>
                <a:cs typeface="Georgia"/>
              </a:rPr>
              <a:t> </a:t>
            </a:r>
            <a:r>
              <a:rPr sz="1100" spc="-25" dirty="0">
                <a:latin typeface="Cambria"/>
                <a:cs typeface="Cambria"/>
              </a:rPr>
              <a:t>C</a:t>
            </a:r>
            <a:r>
              <a:rPr sz="1200" i="1" spc="-37" baseline="-10416" dirty="0">
                <a:latin typeface="Calibri"/>
                <a:cs typeface="Calibri"/>
              </a:rPr>
              <a:t>t</a:t>
            </a:r>
            <a:r>
              <a:rPr sz="1100" spc="-25" dirty="0">
                <a:latin typeface="Georgia"/>
                <a:cs typeface="Georgia"/>
              </a:rPr>
              <a:t>.</a:t>
            </a:r>
            <a:endParaRPr sz="1100">
              <a:latin typeface="Georgia"/>
              <a:cs typeface="Georgia"/>
            </a:endParaRPr>
          </a:p>
          <a:p>
            <a:pPr marL="38100">
              <a:lnSpc>
                <a:spcPct val="100000"/>
              </a:lnSpc>
              <a:spcBef>
                <a:spcPts val="560"/>
              </a:spcBef>
            </a:pPr>
            <a:r>
              <a:rPr sz="1100" dirty="0">
                <a:latin typeface="Georgia"/>
                <a:cs typeface="Georgia"/>
              </a:rPr>
              <a:t>The</a:t>
            </a:r>
            <a:r>
              <a:rPr sz="1100" spc="30" dirty="0">
                <a:latin typeface="Georgia"/>
                <a:cs typeface="Georgia"/>
              </a:rPr>
              <a:t> </a:t>
            </a:r>
            <a:r>
              <a:rPr sz="1100" spc="-10" dirty="0">
                <a:latin typeface="Georgia"/>
                <a:cs typeface="Georgia"/>
              </a:rPr>
              <a:t>cluster</a:t>
            </a:r>
            <a:r>
              <a:rPr sz="1100" spc="35" dirty="0">
                <a:latin typeface="Georgia"/>
                <a:cs typeface="Georgia"/>
              </a:rPr>
              <a:t> </a:t>
            </a:r>
            <a:r>
              <a:rPr sz="1100" b="1" spc="-55" dirty="0">
                <a:latin typeface="Georgia"/>
                <a:cs typeface="Georgia"/>
              </a:rPr>
              <a:t>dendrogram</a:t>
            </a:r>
            <a:r>
              <a:rPr sz="1100" b="1" spc="15" dirty="0">
                <a:latin typeface="Georgia"/>
                <a:cs typeface="Georgia"/>
              </a:rPr>
              <a:t> </a:t>
            </a:r>
            <a:r>
              <a:rPr sz="1100" dirty="0">
                <a:latin typeface="Georgia"/>
                <a:cs typeface="Georgia"/>
              </a:rPr>
              <a:t>is</a:t>
            </a:r>
            <a:r>
              <a:rPr sz="1100" spc="35" dirty="0">
                <a:latin typeface="Georgia"/>
                <a:cs typeface="Georgia"/>
              </a:rPr>
              <a:t> </a:t>
            </a:r>
            <a:r>
              <a:rPr sz="1100" dirty="0">
                <a:latin typeface="Georgia"/>
                <a:cs typeface="Georgia"/>
              </a:rPr>
              <a:t>a</a:t>
            </a:r>
            <a:r>
              <a:rPr sz="1100" spc="35" dirty="0">
                <a:latin typeface="Georgia"/>
                <a:cs typeface="Georgia"/>
              </a:rPr>
              <a:t> </a:t>
            </a:r>
            <a:r>
              <a:rPr sz="1100" spc="-10" dirty="0">
                <a:latin typeface="Georgia"/>
                <a:cs typeface="Georgia"/>
              </a:rPr>
              <a:t>rooted</a:t>
            </a:r>
            <a:r>
              <a:rPr sz="1100" spc="30" dirty="0">
                <a:latin typeface="Georgia"/>
                <a:cs typeface="Georgia"/>
              </a:rPr>
              <a:t> </a:t>
            </a:r>
            <a:r>
              <a:rPr sz="1100" dirty="0">
                <a:latin typeface="Georgia"/>
                <a:cs typeface="Georgia"/>
              </a:rPr>
              <a:t>binary</a:t>
            </a:r>
            <a:r>
              <a:rPr sz="1100" spc="35" dirty="0">
                <a:latin typeface="Georgia"/>
                <a:cs typeface="Georgia"/>
              </a:rPr>
              <a:t> </a:t>
            </a:r>
            <a:r>
              <a:rPr sz="1100" dirty="0">
                <a:latin typeface="Georgia"/>
                <a:cs typeface="Georgia"/>
              </a:rPr>
              <a:t>tree</a:t>
            </a:r>
            <a:r>
              <a:rPr sz="1100" spc="30" dirty="0">
                <a:latin typeface="Georgia"/>
                <a:cs typeface="Georgia"/>
              </a:rPr>
              <a:t> </a:t>
            </a:r>
            <a:r>
              <a:rPr sz="1100" dirty="0">
                <a:latin typeface="Georgia"/>
                <a:cs typeface="Georgia"/>
              </a:rPr>
              <a:t>that</a:t>
            </a:r>
            <a:r>
              <a:rPr sz="1100" spc="35" dirty="0">
                <a:latin typeface="Georgia"/>
                <a:cs typeface="Georgia"/>
              </a:rPr>
              <a:t> </a:t>
            </a:r>
            <a:r>
              <a:rPr sz="1100" spc="-10" dirty="0">
                <a:latin typeface="Georgia"/>
                <a:cs typeface="Georgia"/>
              </a:rPr>
              <a:t>captures</a:t>
            </a:r>
            <a:r>
              <a:rPr sz="1100" spc="30" dirty="0">
                <a:latin typeface="Georgia"/>
                <a:cs typeface="Georgia"/>
              </a:rPr>
              <a:t> </a:t>
            </a:r>
            <a:r>
              <a:rPr sz="1100" dirty="0">
                <a:latin typeface="Georgia"/>
                <a:cs typeface="Georgia"/>
              </a:rPr>
              <a:t>this</a:t>
            </a:r>
            <a:r>
              <a:rPr sz="1100" spc="35" dirty="0">
                <a:latin typeface="Georgia"/>
                <a:cs typeface="Georgia"/>
              </a:rPr>
              <a:t> </a:t>
            </a:r>
            <a:r>
              <a:rPr sz="1100" spc="-10" dirty="0">
                <a:latin typeface="Georgia"/>
                <a:cs typeface="Georgia"/>
              </a:rPr>
              <a:t>nesting</a:t>
            </a:r>
            <a:endParaRPr sz="1100">
              <a:latin typeface="Georgia"/>
              <a:cs typeface="Georgia"/>
            </a:endParaRPr>
          </a:p>
        </p:txBody>
      </p:sp>
      <p:sp>
        <p:nvSpPr>
          <p:cNvPr id="9" name="object 9"/>
          <p:cNvSpPr/>
          <p:nvPr/>
        </p:nvSpPr>
        <p:spPr>
          <a:xfrm>
            <a:off x="337972" y="2285860"/>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0" name="object 10"/>
          <p:cNvSpPr/>
          <p:nvPr/>
        </p:nvSpPr>
        <p:spPr>
          <a:xfrm>
            <a:off x="337972" y="252408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1" name="object 11"/>
          <p:cNvSpPr txBox="1"/>
          <p:nvPr/>
        </p:nvSpPr>
        <p:spPr>
          <a:xfrm>
            <a:off x="416077" y="2578746"/>
            <a:ext cx="5199380" cy="338455"/>
          </a:xfrm>
          <a:prstGeom prst="rect">
            <a:avLst/>
          </a:prstGeom>
        </p:spPr>
        <p:txBody>
          <a:bodyPr vert="horz" wrap="square" lIns="0" tIns="11430" rIns="0" bIns="0" rtlCol="0">
            <a:spAutoFit/>
          </a:bodyPr>
          <a:lstStyle/>
          <a:p>
            <a:pPr marL="50800">
              <a:lnSpc>
                <a:spcPts val="1235"/>
              </a:lnSpc>
              <a:spcBef>
                <a:spcPts val="90"/>
              </a:spcBef>
            </a:pPr>
            <a:r>
              <a:rPr sz="1100" spc="-10" dirty="0">
                <a:latin typeface="Georgia"/>
                <a:cs typeface="Georgia"/>
              </a:rPr>
              <a:t>structure,</a:t>
            </a:r>
            <a:r>
              <a:rPr sz="1100" spc="-25" dirty="0">
                <a:latin typeface="Georgia"/>
                <a:cs typeface="Georgia"/>
              </a:rPr>
              <a:t> </a:t>
            </a:r>
            <a:r>
              <a:rPr sz="1100" dirty="0">
                <a:latin typeface="Georgia"/>
                <a:cs typeface="Georgia"/>
              </a:rPr>
              <a:t>with</a:t>
            </a:r>
            <a:r>
              <a:rPr sz="1100" spc="50" dirty="0">
                <a:latin typeface="Georgia"/>
                <a:cs typeface="Georgia"/>
              </a:rPr>
              <a:t> </a:t>
            </a:r>
            <a:r>
              <a:rPr sz="1100" spc="-30" dirty="0">
                <a:latin typeface="Georgia"/>
                <a:cs typeface="Georgia"/>
              </a:rPr>
              <a:t>edges</a:t>
            </a:r>
            <a:r>
              <a:rPr sz="1100" spc="55" dirty="0">
                <a:latin typeface="Georgia"/>
                <a:cs typeface="Georgia"/>
              </a:rPr>
              <a:t> </a:t>
            </a:r>
            <a:r>
              <a:rPr sz="1100" spc="-30" dirty="0">
                <a:latin typeface="Georgia"/>
                <a:cs typeface="Georgia"/>
              </a:rPr>
              <a:t>between</a:t>
            </a:r>
            <a:r>
              <a:rPr sz="1100" spc="50" dirty="0">
                <a:latin typeface="Georgia"/>
                <a:cs typeface="Georgia"/>
              </a:rPr>
              <a:t> </a:t>
            </a:r>
            <a:r>
              <a:rPr sz="1100" spc="-10" dirty="0">
                <a:latin typeface="Georgia"/>
                <a:cs typeface="Georgia"/>
              </a:rPr>
              <a:t>cluster</a:t>
            </a:r>
            <a:r>
              <a:rPr sz="1100" spc="50" dirty="0">
                <a:latin typeface="Georgia"/>
                <a:cs typeface="Georgia"/>
              </a:rPr>
              <a:t> </a:t>
            </a:r>
            <a:r>
              <a:rPr sz="1100" i="1" spc="150" dirty="0">
                <a:latin typeface="Calibri"/>
                <a:cs typeface="Calibri"/>
              </a:rPr>
              <a:t>C</a:t>
            </a:r>
            <a:r>
              <a:rPr sz="1200" i="1" spc="225" baseline="-10416" dirty="0">
                <a:latin typeface="Calibri"/>
                <a:cs typeface="Calibri"/>
              </a:rPr>
              <a:t>i</a:t>
            </a:r>
            <a:r>
              <a:rPr sz="1200" i="1" spc="187" baseline="-10416"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spc="-60" dirty="0">
                <a:latin typeface="Cambria"/>
                <a:cs typeface="Cambria"/>
              </a:rPr>
              <a:t>C</a:t>
            </a:r>
            <a:r>
              <a:rPr sz="1200" i="1" spc="-89" baseline="-10416" dirty="0">
                <a:latin typeface="Calibri"/>
                <a:cs typeface="Calibri"/>
              </a:rPr>
              <a:t>t</a:t>
            </a:r>
            <a:r>
              <a:rPr sz="1200" spc="-89" baseline="-10416" dirty="0">
                <a:latin typeface="Lucida Sans Unicode"/>
                <a:cs typeface="Lucida Sans Unicode"/>
              </a:rPr>
              <a:t>—</a:t>
            </a:r>
            <a:r>
              <a:rPr sz="1200" baseline="-10416" dirty="0">
                <a:latin typeface="Calibri"/>
                <a:cs typeface="Calibri"/>
              </a:rPr>
              <a:t>1</a:t>
            </a:r>
            <a:r>
              <a:rPr sz="1200" spc="262" baseline="-10416" dirty="0">
                <a:latin typeface="Calibri"/>
                <a:cs typeface="Calibri"/>
              </a:rPr>
              <a:t> </a:t>
            </a:r>
            <a:r>
              <a:rPr sz="1100" dirty="0">
                <a:latin typeface="Georgia"/>
                <a:cs typeface="Georgia"/>
              </a:rPr>
              <a:t>and</a:t>
            </a:r>
            <a:r>
              <a:rPr sz="1100" spc="55" dirty="0">
                <a:latin typeface="Georgia"/>
                <a:cs typeface="Georgia"/>
              </a:rPr>
              <a:t> </a:t>
            </a:r>
            <a:r>
              <a:rPr sz="1100" spc="-10" dirty="0">
                <a:latin typeface="Georgia"/>
                <a:cs typeface="Georgia"/>
              </a:rPr>
              <a:t>cluster</a:t>
            </a:r>
            <a:r>
              <a:rPr sz="1100" spc="50" dirty="0">
                <a:latin typeface="Georgia"/>
                <a:cs typeface="Georgia"/>
              </a:rPr>
              <a:t> </a:t>
            </a:r>
            <a:r>
              <a:rPr sz="1100" i="1" spc="175" dirty="0">
                <a:latin typeface="Calibri"/>
                <a:cs typeface="Calibri"/>
              </a:rPr>
              <a:t>C</a:t>
            </a:r>
            <a:r>
              <a:rPr sz="1200" i="1" spc="262" baseline="-10416" dirty="0">
                <a:latin typeface="Calibri"/>
                <a:cs typeface="Calibri"/>
              </a:rPr>
              <a:t>j</a:t>
            </a:r>
            <a:r>
              <a:rPr sz="1200" i="1" spc="247" baseline="-10416"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dirty="0">
                <a:latin typeface="Cambria"/>
                <a:cs typeface="Cambria"/>
              </a:rPr>
              <a:t>C</a:t>
            </a:r>
            <a:r>
              <a:rPr sz="1200" i="1" baseline="-10416" dirty="0">
                <a:latin typeface="Calibri"/>
                <a:cs typeface="Calibri"/>
              </a:rPr>
              <a:t>t</a:t>
            </a:r>
            <a:r>
              <a:rPr sz="1200" i="1" spc="262" baseline="-10416" dirty="0">
                <a:latin typeface="Calibri"/>
                <a:cs typeface="Calibri"/>
              </a:rPr>
              <a:t> </a:t>
            </a:r>
            <a:r>
              <a:rPr sz="1100" dirty="0">
                <a:latin typeface="Georgia"/>
                <a:cs typeface="Georgia"/>
              </a:rPr>
              <a:t>if</a:t>
            </a:r>
            <a:r>
              <a:rPr sz="1100" spc="50" dirty="0">
                <a:latin typeface="Georgia"/>
                <a:cs typeface="Georgia"/>
              </a:rPr>
              <a:t> </a:t>
            </a:r>
            <a:r>
              <a:rPr sz="1100" i="1" spc="150" dirty="0">
                <a:latin typeface="Calibri"/>
                <a:cs typeface="Calibri"/>
              </a:rPr>
              <a:t>C</a:t>
            </a:r>
            <a:r>
              <a:rPr sz="1200" i="1" spc="225" baseline="-10416" dirty="0">
                <a:latin typeface="Calibri"/>
                <a:cs typeface="Calibri"/>
              </a:rPr>
              <a:t>i</a:t>
            </a:r>
            <a:r>
              <a:rPr sz="1200" i="1" spc="270" baseline="-10416" dirty="0">
                <a:latin typeface="Calibri"/>
                <a:cs typeface="Calibri"/>
              </a:rPr>
              <a:t> </a:t>
            </a:r>
            <a:r>
              <a:rPr sz="1100" dirty="0">
                <a:latin typeface="Georgia"/>
                <a:cs typeface="Georgia"/>
              </a:rPr>
              <a:t>is</a:t>
            </a:r>
            <a:r>
              <a:rPr sz="1100" spc="50" dirty="0">
                <a:latin typeface="Georgia"/>
                <a:cs typeface="Georgia"/>
              </a:rPr>
              <a:t> </a:t>
            </a:r>
            <a:r>
              <a:rPr sz="1100" spc="-25" dirty="0">
                <a:latin typeface="Georgia"/>
                <a:cs typeface="Georgia"/>
              </a:rPr>
              <a:t>nested</a:t>
            </a:r>
            <a:r>
              <a:rPr sz="1100" spc="50" dirty="0">
                <a:latin typeface="Georgia"/>
                <a:cs typeface="Georgia"/>
              </a:rPr>
              <a:t> </a:t>
            </a:r>
            <a:r>
              <a:rPr sz="1100" spc="-25" dirty="0">
                <a:latin typeface="Georgia"/>
                <a:cs typeface="Georgia"/>
              </a:rPr>
              <a:t>in</a:t>
            </a:r>
            <a:endParaRPr sz="1100">
              <a:latin typeface="Georgia"/>
              <a:cs typeface="Georgia"/>
            </a:endParaRPr>
          </a:p>
          <a:p>
            <a:pPr marL="50800">
              <a:lnSpc>
                <a:spcPts val="1235"/>
              </a:lnSpc>
            </a:pPr>
            <a:r>
              <a:rPr sz="1100" i="1" spc="175" dirty="0">
                <a:latin typeface="Calibri"/>
                <a:cs typeface="Calibri"/>
              </a:rPr>
              <a:t>C</a:t>
            </a:r>
            <a:r>
              <a:rPr sz="1200" i="1" spc="262" baseline="-10416" dirty="0">
                <a:latin typeface="Calibri"/>
                <a:cs typeface="Calibri"/>
              </a:rPr>
              <a:t>j</a:t>
            </a:r>
            <a:r>
              <a:rPr sz="1200" i="1" spc="-127" baseline="-10416" dirty="0">
                <a:latin typeface="Calibri"/>
                <a:cs typeface="Calibri"/>
              </a:rPr>
              <a:t> </a:t>
            </a:r>
            <a:r>
              <a:rPr sz="1100" dirty="0">
                <a:latin typeface="Georgia"/>
                <a:cs typeface="Georgia"/>
              </a:rPr>
              <a:t>,</a:t>
            </a:r>
            <a:r>
              <a:rPr sz="1100" spc="55" dirty="0">
                <a:latin typeface="Georgia"/>
                <a:cs typeface="Georgia"/>
              </a:rPr>
              <a:t> </a:t>
            </a:r>
            <a:r>
              <a:rPr sz="1100" dirty="0">
                <a:latin typeface="Georgia"/>
                <a:cs typeface="Georgia"/>
              </a:rPr>
              <a:t>i.e.,</a:t>
            </a:r>
            <a:r>
              <a:rPr sz="1100" spc="70" dirty="0">
                <a:latin typeface="Georgia"/>
                <a:cs typeface="Georgia"/>
              </a:rPr>
              <a:t> </a:t>
            </a:r>
            <a:r>
              <a:rPr sz="1100" dirty="0">
                <a:latin typeface="Georgia"/>
                <a:cs typeface="Georgia"/>
              </a:rPr>
              <a:t>if</a:t>
            </a:r>
            <a:r>
              <a:rPr sz="1100" spc="70" dirty="0">
                <a:latin typeface="Georgia"/>
                <a:cs typeface="Georgia"/>
              </a:rPr>
              <a:t> </a:t>
            </a:r>
            <a:r>
              <a:rPr sz="1100" i="1" spc="150" dirty="0">
                <a:latin typeface="Calibri"/>
                <a:cs typeface="Calibri"/>
              </a:rPr>
              <a:t>C</a:t>
            </a:r>
            <a:r>
              <a:rPr sz="1200" i="1" spc="225" baseline="-10416" dirty="0">
                <a:latin typeface="Calibri"/>
                <a:cs typeface="Calibri"/>
              </a:rPr>
              <a:t>i</a:t>
            </a:r>
            <a:r>
              <a:rPr sz="1200" i="1" spc="209" baseline="-10416" dirty="0">
                <a:latin typeface="Calibri"/>
                <a:cs typeface="Calibri"/>
              </a:rPr>
              <a:t> </a:t>
            </a:r>
            <a:r>
              <a:rPr sz="1100" spc="280" dirty="0">
                <a:latin typeface="Lucida Sans Unicode"/>
                <a:cs typeface="Lucida Sans Unicode"/>
              </a:rPr>
              <a:t>c</a:t>
            </a:r>
            <a:r>
              <a:rPr sz="1100" spc="-70" dirty="0">
                <a:latin typeface="Lucida Sans Unicode"/>
                <a:cs typeface="Lucida Sans Unicode"/>
              </a:rPr>
              <a:t> </a:t>
            </a:r>
            <a:r>
              <a:rPr sz="1100" i="1" spc="175" dirty="0">
                <a:latin typeface="Calibri"/>
                <a:cs typeface="Calibri"/>
              </a:rPr>
              <a:t>C</a:t>
            </a:r>
            <a:r>
              <a:rPr sz="1200" i="1" spc="262" baseline="-10416" dirty="0">
                <a:latin typeface="Calibri"/>
                <a:cs typeface="Calibri"/>
              </a:rPr>
              <a:t>j</a:t>
            </a:r>
            <a:r>
              <a:rPr sz="1200" i="1" spc="-127" baseline="-10416" dirty="0">
                <a:latin typeface="Calibri"/>
                <a:cs typeface="Calibri"/>
              </a:rPr>
              <a:t> </a:t>
            </a:r>
            <a:r>
              <a:rPr sz="1100" spc="-50" dirty="0">
                <a:latin typeface="Georgia"/>
                <a:cs typeface="Georgia"/>
              </a:rPr>
              <a:t>.</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40</a:t>
            </a:fld>
            <a:r>
              <a:rPr spc="5" dirty="0"/>
              <a:t> </a:t>
            </a:r>
            <a:r>
              <a:rPr spc="75" dirty="0"/>
              <a:t>/</a:t>
            </a:r>
            <a:r>
              <a:rPr spc="10" dirty="0"/>
              <a:t> </a:t>
            </a:r>
            <a:r>
              <a:rPr spc="35" dirty="0"/>
              <a:t>135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50" dirty="0"/>
              <a:t>The</a:t>
            </a:r>
            <a:r>
              <a:rPr spc="240" dirty="0"/>
              <a:t> </a:t>
            </a:r>
            <a:r>
              <a:rPr dirty="0"/>
              <a:t>dendrogram</a:t>
            </a:r>
            <a:r>
              <a:rPr spc="245" dirty="0"/>
              <a:t> </a:t>
            </a:r>
            <a:r>
              <a:rPr spc="50" dirty="0"/>
              <a:t>and</a:t>
            </a:r>
            <a:r>
              <a:rPr spc="245" dirty="0"/>
              <a:t> </a:t>
            </a:r>
            <a:r>
              <a:rPr dirty="0"/>
              <a:t>nested</a:t>
            </a:r>
            <a:r>
              <a:rPr spc="245" dirty="0"/>
              <a:t> </a:t>
            </a:r>
            <a:r>
              <a:rPr dirty="0"/>
              <a:t>clustering</a:t>
            </a:r>
            <a:r>
              <a:rPr spc="240" dirty="0"/>
              <a:t> </a:t>
            </a:r>
            <a:r>
              <a:rPr dirty="0"/>
              <a:t>solutions</a:t>
            </a:r>
            <a:r>
              <a:rPr spc="250" dirty="0"/>
              <a:t> </a:t>
            </a:r>
            <a:r>
              <a:rPr spc="-25" dirty="0"/>
              <a:t>[</a:t>
            </a:r>
            <a:r>
              <a:rPr spc="-25" dirty="0">
                <a:hlinkClick r:id="rId2" action="ppaction://hlinksldjump"/>
              </a:rPr>
              <a:t>4</a:t>
            </a:r>
            <a:r>
              <a:rPr spc="-25" dirty="0"/>
              <a:t>]</a:t>
            </a:r>
          </a:p>
        </p:txBody>
      </p:sp>
      <p:pic>
        <p:nvPicPr>
          <p:cNvPr id="3" name="object 3"/>
          <p:cNvPicPr/>
          <p:nvPr/>
        </p:nvPicPr>
        <p:blipFill>
          <a:blip r:embed="rId3" cstate="print"/>
          <a:stretch>
            <a:fillRect/>
          </a:stretch>
        </p:blipFill>
        <p:spPr>
          <a:xfrm>
            <a:off x="603199" y="622376"/>
            <a:ext cx="1750060" cy="1452880"/>
          </a:xfrm>
          <a:prstGeom prst="rect">
            <a:avLst/>
          </a:prstGeom>
        </p:spPr>
      </p:pic>
      <p:pic>
        <p:nvPicPr>
          <p:cNvPr id="4" name="object 4"/>
          <p:cNvPicPr/>
          <p:nvPr/>
        </p:nvPicPr>
        <p:blipFill>
          <a:blip r:embed="rId4" cstate="print"/>
          <a:stretch>
            <a:fillRect/>
          </a:stretch>
        </p:blipFill>
        <p:spPr>
          <a:xfrm>
            <a:off x="3305009" y="921956"/>
            <a:ext cx="1966722" cy="847090"/>
          </a:xfrm>
          <a:prstGeom prst="rect">
            <a:avLst/>
          </a:prstGeom>
        </p:spPr>
      </p:pic>
      <p:sp>
        <p:nvSpPr>
          <p:cNvPr id="5" name="object 5"/>
          <p:cNvSpPr/>
          <p:nvPr/>
        </p:nvSpPr>
        <p:spPr>
          <a:xfrm>
            <a:off x="337972" y="2347391"/>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txBox="1"/>
          <p:nvPr/>
        </p:nvSpPr>
        <p:spPr>
          <a:xfrm>
            <a:off x="454177" y="2183826"/>
            <a:ext cx="5055870" cy="648335"/>
          </a:xfrm>
          <a:prstGeom prst="rect">
            <a:avLst/>
          </a:prstGeom>
        </p:spPr>
        <p:txBody>
          <a:bodyPr vert="horz" wrap="square" lIns="0" tIns="83185" rIns="0" bIns="0" rtlCol="0">
            <a:spAutoFit/>
          </a:bodyPr>
          <a:lstStyle/>
          <a:p>
            <a:pPr marL="12700">
              <a:lnSpc>
                <a:spcPct val="100000"/>
              </a:lnSpc>
              <a:spcBef>
                <a:spcPts val="655"/>
              </a:spcBef>
            </a:pPr>
            <a:r>
              <a:rPr sz="1100" dirty="0">
                <a:latin typeface="Georgia"/>
                <a:cs typeface="Georgia"/>
              </a:rPr>
              <a:t>The</a:t>
            </a:r>
            <a:r>
              <a:rPr sz="1100" spc="40" dirty="0">
                <a:latin typeface="Georgia"/>
                <a:cs typeface="Georgia"/>
              </a:rPr>
              <a:t> </a:t>
            </a:r>
            <a:r>
              <a:rPr sz="1100" dirty="0">
                <a:latin typeface="Georgia"/>
                <a:cs typeface="Georgia"/>
              </a:rPr>
              <a:t>left</a:t>
            </a:r>
            <a:r>
              <a:rPr sz="1100" spc="45" dirty="0">
                <a:latin typeface="Georgia"/>
                <a:cs typeface="Georgia"/>
              </a:rPr>
              <a:t> </a:t>
            </a:r>
            <a:r>
              <a:rPr sz="1100" spc="-30" dirty="0">
                <a:latin typeface="Georgia"/>
                <a:cs typeface="Georgia"/>
              </a:rPr>
              <a:t>figure</a:t>
            </a:r>
            <a:r>
              <a:rPr sz="1100" spc="40" dirty="0">
                <a:latin typeface="Georgia"/>
                <a:cs typeface="Georgia"/>
              </a:rPr>
              <a:t> </a:t>
            </a:r>
            <a:r>
              <a:rPr sz="1100" dirty="0">
                <a:latin typeface="Georgia"/>
                <a:cs typeface="Georgia"/>
              </a:rPr>
              <a:t>is</a:t>
            </a:r>
            <a:r>
              <a:rPr sz="1100" spc="45" dirty="0">
                <a:latin typeface="Georgia"/>
                <a:cs typeface="Georgia"/>
              </a:rPr>
              <a:t> </a:t>
            </a:r>
            <a:r>
              <a:rPr sz="1100" dirty="0">
                <a:latin typeface="Georgia"/>
                <a:cs typeface="Georgia"/>
              </a:rPr>
              <a:t>the</a:t>
            </a:r>
            <a:r>
              <a:rPr sz="1100" spc="45" dirty="0">
                <a:latin typeface="Georgia"/>
                <a:cs typeface="Georgia"/>
              </a:rPr>
              <a:t> </a:t>
            </a:r>
            <a:r>
              <a:rPr sz="1100" spc="-10" dirty="0">
                <a:latin typeface="Georgia"/>
                <a:cs typeface="Georgia"/>
              </a:rPr>
              <a:t>dendrogram.</a:t>
            </a:r>
            <a:endParaRPr sz="1100">
              <a:latin typeface="Georgia"/>
              <a:cs typeface="Georgia"/>
            </a:endParaRPr>
          </a:p>
          <a:p>
            <a:pPr marL="12700" marR="5080">
              <a:lnSpc>
                <a:spcPts val="1150"/>
              </a:lnSpc>
              <a:spcBef>
                <a:spcPts val="735"/>
              </a:spcBef>
            </a:pPr>
            <a:r>
              <a:rPr sz="1100" dirty="0">
                <a:latin typeface="Georgia"/>
                <a:cs typeface="Georgia"/>
              </a:rPr>
              <a:t>The</a:t>
            </a:r>
            <a:r>
              <a:rPr sz="1100" spc="35" dirty="0">
                <a:latin typeface="Georgia"/>
                <a:cs typeface="Georgia"/>
              </a:rPr>
              <a:t> </a:t>
            </a:r>
            <a:r>
              <a:rPr sz="1100" dirty="0">
                <a:latin typeface="Georgia"/>
                <a:cs typeface="Georgia"/>
              </a:rPr>
              <a:t>right</a:t>
            </a:r>
            <a:r>
              <a:rPr sz="1100" spc="40" dirty="0">
                <a:latin typeface="Georgia"/>
                <a:cs typeface="Georgia"/>
              </a:rPr>
              <a:t> </a:t>
            </a:r>
            <a:r>
              <a:rPr sz="1100" dirty="0">
                <a:latin typeface="Georgia"/>
                <a:cs typeface="Georgia"/>
              </a:rPr>
              <a:t>table</a:t>
            </a:r>
            <a:r>
              <a:rPr sz="1100" spc="40" dirty="0">
                <a:latin typeface="Georgia"/>
                <a:cs typeface="Georgia"/>
              </a:rPr>
              <a:t> </a:t>
            </a:r>
            <a:r>
              <a:rPr sz="1100" dirty="0">
                <a:latin typeface="Georgia"/>
                <a:cs typeface="Georgia"/>
              </a:rPr>
              <a:t>is</a:t>
            </a:r>
            <a:r>
              <a:rPr sz="1100" spc="35" dirty="0">
                <a:latin typeface="Georgia"/>
                <a:cs typeface="Georgia"/>
              </a:rPr>
              <a:t> </a:t>
            </a:r>
            <a:r>
              <a:rPr sz="1100" dirty="0">
                <a:latin typeface="Georgia"/>
                <a:cs typeface="Georgia"/>
              </a:rPr>
              <a:t>the</a:t>
            </a:r>
            <a:r>
              <a:rPr sz="1100" spc="40" dirty="0">
                <a:latin typeface="Georgia"/>
                <a:cs typeface="Georgia"/>
              </a:rPr>
              <a:t> </a:t>
            </a:r>
            <a:r>
              <a:rPr sz="1100" spc="-20" dirty="0">
                <a:latin typeface="Georgia"/>
                <a:cs typeface="Georgia"/>
              </a:rPr>
              <a:t>five</a:t>
            </a:r>
            <a:r>
              <a:rPr sz="1100" spc="40" dirty="0">
                <a:latin typeface="Georgia"/>
                <a:cs typeface="Georgia"/>
              </a:rPr>
              <a:t> </a:t>
            </a:r>
            <a:r>
              <a:rPr sz="1100" spc="-20" dirty="0">
                <a:latin typeface="Georgia"/>
                <a:cs typeface="Georgia"/>
              </a:rPr>
              <a:t>levels</a:t>
            </a:r>
            <a:r>
              <a:rPr sz="1100" spc="35" dirty="0">
                <a:latin typeface="Georgia"/>
                <a:cs typeface="Georgia"/>
              </a:rPr>
              <a:t> </a:t>
            </a:r>
            <a:r>
              <a:rPr sz="1100" dirty="0">
                <a:latin typeface="Georgia"/>
                <a:cs typeface="Georgia"/>
              </a:rPr>
              <a:t>of</a:t>
            </a:r>
            <a:r>
              <a:rPr sz="1100" spc="40" dirty="0">
                <a:latin typeface="Georgia"/>
                <a:cs typeface="Georgia"/>
              </a:rPr>
              <a:t> </a:t>
            </a:r>
            <a:r>
              <a:rPr sz="1100" spc="-25" dirty="0">
                <a:latin typeface="Georgia"/>
                <a:cs typeface="Georgia"/>
              </a:rPr>
              <a:t>nested</a:t>
            </a:r>
            <a:r>
              <a:rPr sz="1100" spc="40" dirty="0">
                <a:latin typeface="Georgia"/>
                <a:cs typeface="Georgia"/>
              </a:rPr>
              <a:t> </a:t>
            </a:r>
            <a:r>
              <a:rPr sz="1100" spc="-20" dirty="0">
                <a:latin typeface="Georgia"/>
                <a:cs typeface="Georgia"/>
              </a:rPr>
              <a:t>clustering</a:t>
            </a:r>
            <a:r>
              <a:rPr sz="1100" spc="35" dirty="0">
                <a:latin typeface="Georgia"/>
                <a:cs typeface="Georgia"/>
              </a:rPr>
              <a:t> </a:t>
            </a:r>
            <a:r>
              <a:rPr sz="1100" spc="-25" dirty="0">
                <a:latin typeface="Georgia"/>
                <a:cs typeface="Georgia"/>
              </a:rPr>
              <a:t>solutions,</a:t>
            </a:r>
            <a:r>
              <a:rPr sz="1100" spc="40" dirty="0">
                <a:latin typeface="Georgia"/>
                <a:cs typeface="Georgia"/>
              </a:rPr>
              <a:t> </a:t>
            </a:r>
            <a:r>
              <a:rPr sz="1100" spc="-35" dirty="0">
                <a:latin typeface="Georgia"/>
                <a:cs typeface="Georgia"/>
              </a:rPr>
              <a:t>corresponding</a:t>
            </a:r>
            <a:r>
              <a:rPr sz="1100" spc="40" dirty="0">
                <a:latin typeface="Georgia"/>
                <a:cs typeface="Georgia"/>
              </a:rPr>
              <a:t> </a:t>
            </a:r>
            <a:r>
              <a:rPr sz="1100" dirty="0">
                <a:latin typeface="Georgia"/>
                <a:cs typeface="Georgia"/>
              </a:rPr>
              <a:t>to</a:t>
            </a:r>
            <a:r>
              <a:rPr sz="1100" spc="40" dirty="0">
                <a:latin typeface="Georgia"/>
                <a:cs typeface="Georgia"/>
              </a:rPr>
              <a:t> </a:t>
            </a:r>
            <a:r>
              <a:rPr sz="1100" spc="-25" dirty="0">
                <a:latin typeface="Georgia"/>
                <a:cs typeface="Georgia"/>
              </a:rPr>
              <a:t>the </a:t>
            </a:r>
            <a:r>
              <a:rPr sz="1100" spc="-35" dirty="0">
                <a:latin typeface="Georgia"/>
                <a:cs typeface="Georgia"/>
              </a:rPr>
              <a:t>dendrogram</a:t>
            </a:r>
            <a:r>
              <a:rPr sz="1100" spc="20" dirty="0">
                <a:latin typeface="Georgia"/>
                <a:cs typeface="Georgia"/>
              </a:rPr>
              <a:t> </a:t>
            </a:r>
            <a:r>
              <a:rPr sz="1100" dirty="0">
                <a:latin typeface="Georgia"/>
                <a:cs typeface="Georgia"/>
              </a:rPr>
              <a:t>on</a:t>
            </a:r>
            <a:r>
              <a:rPr sz="1100" spc="20" dirty="0">
                <a:latin typeface="Georgia"/>
                <a:cs typeface="Georgia"/>
              </a:rPr>
              <a:t> </a:t>
            </a:r>
            <a:r>
              <a:rPr sz="1100" dirty="0">
                <a:latin typeface="Georgia"/>
                <a:cs typeface="Georgia"/>
              </a:rPr>
              <a:t>the</a:t>
            </a:r>
            <a:r>
              <a:rPr sz="1100" spc="20" dirty="0">
                <a:latin typeface="Georgia"/>
                <a:cs typeface="Georgia"/>
              </a:rPr>
              <a:t> </a:t>
            </a:r>
            <a:r>
              <a:rPr sz="1100" spc="-20" dirty="0">
                <a:latin typeface="Georgia"/>
                <a:cs typeface="Georgia"/>
              </a:rPr>
              <a:t>left.</a:t>
            </a:r>
            <a:endParaRPr sz="1100">
              <a:latin typeface="Georgia"/>
              <a:cs typeface="Georgia"/>
            </a:endParaRPr>
          </a:p>
        </p:txBody>
      </p:sp>
      <p:sp>
        <p:nvSpPr>
          <p:cNvPr id="7" name="object 7"/>
          <p:cNvSpPr/>
          <p:nvPr/>
        </p:nvSpPr>
        <p:spPr>
          <a:xfrm>
            <a:off x="337972" y="258560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8" name="object 8"/>
          <p:cNvGrpSpPr/>
          <p:nvPr/>
        </p:nvGrpSpPr>
        <p:grpSpPr>
          <a:xfrm>
            <a:off x="0" y="3121545"/>
            <a:ext cx="5760085" cy="118745"/>
            <a:chOff x="0" y="3121545"/>
            <a:chExt cx="5760085" cy="118745"/>
          </a:xfrm>
        </p:grpSpPr>
        <p:sp>
          <p:nvSpPr>
            <p:cNvPr id="9" name="object 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0" name="object 1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2" name="object 1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5" action="ppaction://hlinksldjump"/>
              </a:rPr>
              <a:t>data</a:t>
            </a:r>
            <a:r>
              <a:rPr sz="600" spc="110" dirty="0">
                <a:solidFill>
                  <a:srgbClr val="7A0000"/>
                </a:solidFill>
                <a:latin typeface="Georgia"/>
                <a:cs typeface="Georgia"/>
                <a:hlinkClick r:id="rId5" action="ppaction://hlinksldjump"/>
              </a:rPr>
              <a:t> </a:t>
            </a:r>
            <a:r>
              <a:rPr sz="600" spc="-10" dirty="0">
                <a:solidFill>
                  <a:srgbClr val="7A0000"/>
                </a:solidFill>
                <a:latin typeface="Georgia"/>
                <a:cs typeface="Georgia"/>
                <a:hlinkClick r:id="rId5" action="ppaction://hlinksldjump"/>
              </a:rPr>
              <a:t>clustering</a:t>
            </a:r>
            <a:endParaRPr sz="600">
              <a:latin typeface="Georgia"/>
              <a:cs typeface="Georgia"/>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41</a:t>
            </a:fld>
            <a:r>
              <a:rPr spc="5" dirty="0"/>
              <a:t> </a:t>
            </a:r>
            <a:r>
              <a:rPr spc="75" dirty="0"/>
              <a:t>/</a:t>
            </a:r>
            <a:r>
              <a:rPr spc="10" dirty="0"/>
              <a:t> </a:t>
            </a:r>
            <a:r>
              <a:rPr spc="35" dirty="0"/>
              <a:t>135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Agglomerative</a:t>
            </a:r>
            <a:r>
              <a:rPr spc="260" dirty="0"/>
              <a:t> </a:t>
            </a:r>
            <a:r>
              <a:rPr dirty="0"/>
              <a:t>hierarchical</a:t>
            </a:r>
            <a:r>
              <a:rPr spc="275" dirty="0"/>
              <a:t> </a:t>
            </a:r>
            <a:r>
              <a:rPr spc="-10" dirty="0"/>
              <a:t>clustering</a:t>
            </a:r>
          </a:p>
        </p:txBody>
      </p:sp>
      <p:sp>
        <p:nvSpPr>
          <p:cNvPr id="3" name="object 3"/>
          <p:cNvSpPr/>
          <p:nvPr/>
        </p:nvSpPr>
        <p:spPr>
          <a:xfrm>
            <a:off x="337972" y="78679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695183"/>
            <a:ext cx="5128895" cy="722630"/>
          </a:xfrm>
          <a:prstGeom prst="rect">
            <a:avLst/>
          </a:prstGeom>
        </p:spPr>
        <p:txBody>
          <a:bodyPr vert="horz" wrap="square" lIns="0" tIns="34290" rIns="0" bIns="0" rtlCol="0">
            <a:spAutoFit/>
          </a:bodyPr>
          <a:lstStyle/>
          <a:p>
            <a:pPr marL="12700" marR="5080">
              <a:lnSpc>
                <a:spcPts val="1150"/>
              </a:lnSpc>
              <a:spcBef>
                <a:spcPts val="270"/>
              </a:spcBef>
            </a:pPr>
            <a:r>
              <a:rPr sz="1100" dirty="0">
                <a:latin typeface="Georgia"/>
                <a:cs typeface="Georgia"/>
              </a:rPr>
              <a:t>In </a:t>
            </a:r>
            <a:r>
              <a:rPr sz="1100" spc="-25" dirty="0">
                <a:latin typeface="Georgia"/>
                <a:cs typeface="Georgia"/>
              </a:rPr>
              <a:t>agglomerative</a:t>
            </a:r>
            <a:r>
              <a:rPr sz="1100" spc="10" dirty="0">
                <a:latin typeface="Georgia"/>
                <a:cs typeface="Georgia"/>
              </a:rPr>
              <a:t> </a:t>
            </a:r>
            <a:r>
              <a:rPr sz="1100" spc="-30" dirty="0">
                <a:latin typeface="Georgia"/>
                <a:cs typeface="Georgia"/>
              </a:rPr>
              <a:t>hierarchical</a:t>
            </a:r>
            <a:r>
              <a:rPr sz="1100" spc="10" dirty="0">
                <a:latin typeface="Georgia"/>
                <a:cs typeface="Georgia"/>
              </a:rPr>
              <a:t> </a:t>
            </a:r>
            <a:r>
              <a:rPr sz="1100" spc="-20" dirty="0">
                <a:latin typeface="Georgia"/>
                <a:cs typeface="Georgia"/>
              </a:rPr>
              <a:t>clustering,</a:t>
            </a:r>
            <a:r>
              <a:rPr sz="1100" spc="20" dirty="0">
                <a:latin typeface="Georgia"/>
                <a:cs typeface="Georgia"/>
              </a:rPr>
              <a:t> </a:t>
            </a:r>
            <a:r>
              <a:rPr sz="1100" spc="-10" dirty="0">
                <a:latin typeface="Georgia"/>
                <a:cs typeface="Georgia"/>
              </a:rPr>
              <a:t>we</a:t>
            </a:r>
            <a:r>
              <a:rPr sz="1100" spc="10" dirty="0">
                <a:latin typeface="Georgia"/>
                <a:cs typeface="Georgia"/>
              </a:rPr>
              <a:t> </a:t>
            </a:r>
            <a:r>
              <a:rPr sz="1100" spc="-10" dirty="0">
                <a:latin typeface="Georgia"/>
                <a:cs typeface="Georgia"/>
              </a:rPr>
              <a:t>begin</a:t>
            </a:r>
            <a:r>
              <a:rPr sz="1100" spc="10" dirty="0">
                <a:latin typeface="Georgia"/>
                <a:cs typeface="Georgia"/>
              </a:rPr>
              <a:t> </a:t>
            </a:r>
            <a:r>
              <a:rPr sz="1100" dirty="0">
                <a:latin typeface="Georgia"/>
                <a:cs typeface="Georgia"/>
              </a:rPr>
              <a:t>with</a:t>
            </a:r>
            <a:r>
              <a:rPr sz="1100" spc="10" dirty="0">
                <a:latin typeface="Georgia"/>
                <a:cs typeface="Georgia"/>
              </a:rPr>
              <a:t> </a:t>
            </a:r>
            <a:r>
              <a:rPr sz="1100" spc="-10" dirty="0">
                <a:latin typeface="Georgia"/>
                <a:cs typeface="Georgia"/>
              </a:rPr>
              <a:t>each</a:t>
            </a:r>
            <a:r>
              <a:rPr sz="1100" spc="15" dirty="0">
                <a:latin typeface="Georgia"/>
                <a:cs typeface="Georgia"/>
              </a:rPr>
              <a:t> </a:t>
            </a:r>
            <a:r>
              <a:rPr sz="1100" dirty="0">
                <a:latin typeface="Georgia"/>
                <a:cs typeface="Georgia"/>
              </a:rPr>
              <a:t>of</a:t>
            </a:r>
            <a:r>
              <a:rPr sz="1100" spc="10" dirty="0">
                <a:latin typeface="Georgia"/>
                <a:cs typeface="Georgia"/>
              </a:rPr>
              <a:t> </a:t>
            </a:r>
            <a:r>
              <a:rPr sz="1100" dirty="0">
                <a:latin typeface="Georgia"/>
                <a:cs typeface="Georgia"/>
              </a:rPr>
              <a:t>the</a:t>
            </a:r>
            <a:r>
              <a:rPr sz="1100" spc="10" dirty="0">
                <a:latin typeface="Georgia"/>
                <a:cs typeface="Georgia"/>
              </a:rPr>
              <a:t> </a:t>
            </a:r>
            <a:r>
              <a:rPr sz="1100" i="1" spc="90" dirty="0">
                <a:latin typeface="Calibri"/>
                <a:cs typeface="Calibri"/>
              </a:rPr>
              <a:t>n</a:t>
            </a:r>
            <a:r>
              <a:rPr sz="1100" i="1" spc="30" dirty="0">
                <a:latin typeface="Calibri"/>
                <a:cs typeface="Calibri"/>
              </a:rPr>
              <a:t> </a:t>
            </a:r>
            <a:r>
              <a:rPr sz="1100" dirty="0">
                <a:latin typeface="Georgia"/>
                <a:cs typeface="Georgia"/>
              </a:rPr>
              <a:t>data</a:t>
            </a:r>
            <a:r>
              <a:rPr sz="1100" spc="10" dirty="0">
                <a:latin typeface="Georgia"/>
                <a:cs typeface="Georgia"/>
              </a:rPr>
              <a:t> </a:t>
            </a:r>
            <a:r>
              <a:rPr sz="1100" spc="-10" dirty="0">
                <a:latin typeface="Georgia"/>
                <a:cs typeface="Georgia"/>
              </a:rPr>
              <a:t>points</a:t>
            </a:r>
            <a:r>
              <a:rPr sz="1100" spc="10" dirty="0">
                <a:latin typeface="Georgia"/>
                <a:cs typeface="Georgia"/>
              </a:rPr>
              <a:t> </a:t>
            </a:r>
            <a:r>
              <a:rPr sz="1100" dirty="0">
                <a:latin typeface="Georgia"/>
                <a:cs typeface="Georgia"/>
              </a:rPr>
              <a:t>in</a:t>
            </a:r>
            <a:r>
              <a:rPr sz="1100" spc="15" dirty="0">
                <a:latin typeface="Georgia"/>
                <a:cs typeface="Georgia"/>
              </a:rPr>
              <a:t> </a:t>
            </a:r>
            <a:r>
              <a:rPr sz="1100" spc="-50" dirty="0">
                <a:latin typeface="Georgia"/>
                <a:cs typeface="Georgia"/>
              </a:rPr>
              <a:t>a </a:t>
            </a:r>
            <a:r>
              <a:rPr sz="1100" spc="-20" dirty="0">
                <a:latin typeface="Georgia"/>
                <a:cs typeface="Georgia"/>
              </a:rPr>
              <a:t>separate</a:t>
            </a:r>
            <a:r>
              <a:rPr sz="1100" spc="45" dirty="0">
                <a:latin typeface="Georgia"/>
                <a:cs typeface="Georgia"/>
              </a:rPr>
              <a:t> </a:t>
            </a:r>
            <a:r>
              <a:rPr sz="1100" spc="-10" dirty="0">
                <a:latin typeface="Georgia"/>
                <a:cs typeface="Georgia"/>
              </a:rPr>
              <a:t>cluster.</a:t>
            </a:r>
            <a:endParaRPr sz="1100">
              <a:latin typeface="Georgia"/>
              <a:cs typeface="Georgia"/>
            </a:endParaRPr>
          </a:p>
          <a:p>
            <a:pPr marL="12700" marR="266065">
              <a:lnSpc>
                <a:spcPts val="1150"/>
              </a:lnSpc>
              <a:spcBef>
                <a:spcPts val="725"/>
              </a:spcBef>
            </a:pPr>
            <a:r>
              <a:rPr sz="1100" dirty="0">
                <a:latin typeface="Georgia"/>
                <a:cs typeface="Georgia"/>
              </a:rPr>
              <a:t>We</a:t>
            </a:r>
            <a:r>
              <a:rPr sz="1100" spc="10" dirty="0">
                <a:latin typeface="Georgia"/>
                <a:cs typeface="Georgia"/>
              </a:rPr>
              <a:t> </a:t>
            </a:r>
            <a:r>
              <a:rPr sz="1100" spc="-10" dirty="0">
                <a:latin typeface="Georgia"/>
                <a:cs typeface="Georgia"/>
              </a:rPr>
              <a:t>repeatedly</a:t>
            </a:r>
            <a:r>
              <a:rPr sz="1100" spc="10" dirty="0">
                <a:latin typeface="Georgia"/>
                <a:cs typeface="Georgia"/>
              </a:rPr>
              <a:t> </a:t>
            </a:r>
            <a:r>
              <a:rPr sz="1100" spc="-35" dirty="0">
                <a:latin typeface="Georgia"/>
                <a:cs typeface="Georgia"/>
              </a:rPr>
              <a:t>merge</a:t>
            </a:r>
            <a:r>
              <a:rPr sz="1100" spc="15" dirty="0">
                <a:latin typeface="Georgia"/>
                <a:cs typeface="Georgia"/>
              </a:rPr>
              <a:t> </a:t>
            </a:r>
            <a:r>
              <a:rPr sz="1100" dirty="0">
                <a:latin typeface="Georgia"/>
                <a:cs typeface="Georgia"/>
              </a:rPr>
              <a:t>the</a:t>
            </a:r>
            <a:r>
              <a:rPr sz="1100" spc="10" dirty="0">
                <a:latin typeface="Georgia"/>
                <a:cs typeface="Georgia"/>
              </a:rPr>
              <a:t> </a:t>
            </a:r>
            <a:r>
              <a:rPr sz="1100" dirty="0">
                <a:latin typeface="Georgia"/>
                <a:cs typeface="Georgia"/>
              </a:rPr>
              <a:t>two</a:t>
            </a:r>
            <a:r>
              <a:rPr sz="1100" spc="10" dirty="0">
                <a:latin typeface="Georgia"/>
                <a:cs typeface="Georgia"/>
              </a:rPr>
              <a:t> </a:t>
            </a:r>
            <a:r>
              <a:rPr sz="1100" spc="-20" dirty="0">
                <a:latin typeface="Georgia"/>
                <a:cs typeface="Georgia"/>
              </a:rPr>
              <a:t>closest</a:t>
            </a:r>
            <a:r>
              <a:rPr sz="1100" spc="15" dirty="0">
                <a:latin typeface="Georgia"/>
                <a:cs typeface="Georgia"/>
              </a:rPr>
              <a:t> </a:t>
            </a:r>
            <a:r>
              <a:rPr sz="1100" spc="-20" dirty="0">
                <a:latin typeface="Georgia"/>
                <a:cs typeface="Georgia"/>
              </a:rPr>
              <a:t>clusters</a:t>
            </a:r>
            <a:r>
              <a:rPr sz="1100" spc="10" dirty="0">
                <a:latin typeface="Georgia"/>
                <a:cs typeface="Georgia"/>
              </a:rPr>
              <a:t> </a:t>
            </a:r>
            <a:r>
              <a:rPr sz="1100" dirty="0">
                <a:latin typeface="Georgia"/>
                <a:cs typeface="Georgia"/>
              </a:rPr>
              <a:t>until</a:t>
            </a:r>
            <a:r>
              <a:rPr sz="1100" spc="15" dirty="0">
                <a:latin typeface="Georgia"/>
                <a:cs typeface="Georgia"/>
              </a:rPr>
              <a:t> </a:t>
            </a:r>
            <a:r>
              <a:rPr sz="1100" dirty="0">
                <a:latin typeface="Georgia"/>
                <a:cs typeface="Georgia"/>
              </a:rPr>
              <a:t>all</a:t>
            </a:r>
            <a:r>
              <a:rPr sz="1100" spc="10" dirty="0">
                <a:latin typeface="Georgia"/>
                <a:cs typeface="Georgia"/>
              </a:rPr>
              <a:t> </a:t>
            </a:r>
            <a:r>
              <a:rPr sz="1100" spc="-10" dirty="0">
                <a:latin typeface="Georgia"/>
                <a:cs typeface="Georgia"/>
              </a:rPr>
              <a:t>points</a:t>
            </a:r>
            <a:r>
              <a:rPr sz="1100" spc="10" dirty="0">
                <a:latin typeface="Georgia"/>
                <a:cs typeface="Georgia"/>
              </a:rPr>
              <a:t> </a:t>
            </a:r>
            <a:r>
              <a:rPr sz="1100" dirty="0">
                <a:latin typeface="Georgia"/>
                <a:cs typeface="Georgia"/>
              </a:rPr>
              <a:t>are</a:t>
            </a:r>
            <a:r>
              <a:rPr sz="1100" spc="15" dirty="0">
                <a:latin typeface="Georgia"/>
                <a:cs typeface="Georgia"/>
              </a:rPr>
              <a:t> </a:t>
            </a:r>
            <a:r>
              <a:rPr sz="1100" spc="-45" dirty="0">
                <a:latin typeface="Georgia"/>
                <a:cs typeface="Georgia"/>
              </a:rPr>
              <a:t>members</a:t>
            </a:r>
            <a:r>
              <a:rPr sz="1100" spc="10" dirty="0">
                <a:latin typeface="Georgia"/>
                <a:cs typeface="Georgia"/>
              </a:rPr>
              <a:t> </a:t>
            </a:r>
            <a:r>
              <a:rPr sz="1100" dirty="0">
                <a:latin typeface="Georgia"/>
                <a:cs typeface="Georgia"/>
              </a:rPr>
              <a:t>of</a:t>
            </a:r>
            <a:r>
              <a:rPr sz="1100" spc="10" dirty="0">
                <a:latin typeface="Georgia"/>
                <a:cs typeface="Georgia"/>
              </a:rPr>
              <a:t> </a:t>
            </a:r>
            <a:r>
              <a:rPr sz="1100" spc="-25" dirty="0">
                <a:latin typeface="Georgia"/>
                <a:cs typeface="Georgia"/>
              </a:rPr>
              <a:t>the same</a:t>
            </a:r>
            <a:r>
              <a:rPr sz="1100" spc="20" dirty="0">
                <a:latin typeface="Georgia"/>
                <a:cs typeface="Georgia"/>
              </a:rPr>
              <a:t> </a:t>
            </a:r>
            <a:r>
              <a:rPr sz="1100" spc="-10" dirty="0">
                <a:latin typeface="Georgia"/>
                <a:cs typeface="Georgia"/>
              </a:rPr>
              <a:t>cluster,</a:t>
            </a:r>
            <a:r>
              <a:rPr sz="1100" spc="20" dirty="0">
                <a:latin typeface="Georgia"/>
                <a:cs typeface="Georgia"/>
              </a:rPr>
              <a:t> </a:t>
            </a:r>
            <a:r>
              <a:rPr sz="1100" dirty="0">
                <a:latin typeface="Georgia"/>
                <a:cs typeface="Georgia"/>
              </a:rPr>
              <a:t>as</a:t>
            </a:r>
            <a:r>
              <a:rPr sz="1100" spc="20" dirty="0">
                <a:latin typeface="Georgia"/>
                <a:cs typeface="Georgia"/>
              </a:rPr>
              <a:t> </a:t>
            </a:r>
            <a:r>
              <a:rPr sz="1100" spc="-35" dirty="0">
                <a:latin typeface="Georgia"/>
                <a:cs typeface="Georgia"/>
              </a:rPr>
              <a:t>shown</a:t>
            </a:r>
            <a:r>
              <a:rPr sz="1100" spc="20"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the</a:t>
            </a:r>
            <a:r>
              <a:rPr sz="1100" spc="20" dirty="0">
                <a:latin typeface="Georgia"/>
                <a:cs typeface="Georgia"/>
              </a:rPr>
              <a:t> </a:t>
            </a:r>
            <a:r>
              <a:rPr sz="1100" spc="-30" dirty="0">
                <a:latin typeface="Georgia"/>
                <a:cs typeface="Georgia"/>
              </a:rPr>
              <a:t>pseudo</a:t>
            </a:r>
            <a:r>
              <a:rPr sz="1100" spc="20" dirty="0">
                <a:latin typeface="Georgia"/>
                <a:cs typeface="Georgia"/>
              </a:rPr>
              <a:t> </a:t>
            </a:r>
            <a:r>
              <a:rPr sz="1100" spc="-10" dirty="0">
                <a:latin typeface="Georgia"/>
                <a:cs typeface="Georgia"/>
              </a:rPr>
              <a:t>code</a:t>
            </a:r>
            <a:r>
              <a:rPr sz="1100" spc="20" dirty="0">
                <a:latin typeface="Georgia"/>
                <a:cs typeface="Georgia"/>
              </a:rPr>
              <a:t> </a:t>
            </a:r>
            <a:r>
              <a:rPr sz="1100" dirty="0">
                <a:latin typeface="Georgia"/>
                <a:cs typeface="Georgia"/>
              </a:rPr>
              <a:t>(next</a:t>
            </a:r>
            <a:r>
              <a:rPr sz="1100" spc="25" dirty="0">
                <a:latin typeface="Georgia"/>
                <a:cs typeface="Georgia"/>
              </a:rPr>
              <a:t> </a:t>
            </a:r>
            <a:r>
              <a:rPr sz="1100" spc="-10" dirty="0">
                <a:latin typeface="Georgia"/>
                <a:cs typeface="Georgia"/>
              </a:rPr>
              <a:t>slide).</a:t>
            </a:r>
            <a:endParaRPr sz="1100">
              <a:latin typeface="Georgia"/>
              <a:cs typeface="Georgia"/>
            </a:endParaRPr>
          </a:p>
        </p:txBody>
      </p:sp>
      <p:sp>
        <p:nvSpPr>
          <p:cNvPr id="5" name="object 5"/>
          <p:cNvSpPr/>
          <p:nvPr/>
        </p:nvSpPr>
        <p:spPr>
          <a:xfrm>
            <a:off x="337972" y="117127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55576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txBox="1"/>
          <p:nvPr/>
        </p:nvSpPr>
        <p:spPr>
          <a:xfrm>
            <a:off x="428777" y="1464156"/>
            <a:ext cx="5066665" cy="191770"/>
          </a:xfrm>
          <a:prstGeom prst="rect">
            <a:avLst/>
          </a:prstGeom>
        </p:spPr>
        <p:txBody>
          <a:bodyPr vert="horz" wrap="square" lIns="0" tIns="11430" rIns="0" bIns="0" rtlCol="0">
            <a:spAutoFit/>
          </a:bodyPr>
          <a:lstStyle/>
          <a:p>
            <a:pPr marL="38100">
              <a:lnSpc>
                <a:spcPct val="100000"/>
              </a:lnSpc>
              <a:spcBef>
                <a:spcPts val="90"/>
              </a:spcBef>
            </a:pPr>
            <a:r>
              <a:rPr sz="1100" dirty="0">
                <a:latin typeface="Georgia"/>
                <a:cs typeface="Georgia"/>
              </a:rPr>
              <a:t>Given</a:t>
            </a:r>
            <a:r>
              <a:rPr sz="1100" spc="-35" dirty="0">
                <a:latin typeface="Georgia"/>
                <a:cs typeface="Georgia"/>
              </a:rPr>
              <a:t> </a:t>
            </a:r>
            <a:r>
              <a:rPr sz="1100" dirty="0">
                <a:latin typeface="Georgia"/>
                <a:cs typeface="Georgia"/>
              </a:rPr>
              <a:t>a</a:t>
            </a:r>
            <a:r>
              <a:rPr sz="1100" spc="20" dirty="0">
                <a:latin typeface="Georgia"/>
                <a:cs typeface="Georgia"/>
              </a:rPr>
              <a:t> </a:t>
            </a:r>
            <a:r>
              <a:rPr sz="1100" dirty="0">
                <a:latin typeface="Georgia"/>
                <a:cs typeface="Georgia"/>
              </a:rPr>
              <a:t>set</a:t>
            </a:r>
            <a:r>
              <a:rPr sz="1100" spc="35" dirty="0">
                <a:latin typeface="Georgia"/>
                <a:cs typeface="Georgia"/>
              </a:rPr>
              <a:t> </a:t>
            </a:r>
            <a:r>
              <a:rPr sz="1100" dirty="0">
                <a:latin typeface="Georgia"/>
                <a:cs typeface="Georgia"/>
              </a:rPr>
              <a:t>of</a:t>
            </a:r>
            <a:r>
              <a:rPr sz="1100" spc="40" dirty="0">
                <a:latin typeface="Georgia"/>
                <a:cs typeface="Georgia"/>
              </a:rPr>
              <a:t> </a:t>
            </a:r>
            <a:r>
              <a:rPr sz="1100" spc="-20" dirty="0">
                <a:latin typeface="Georgia"/>
                <a:cs typeface="Georgia"/>
              </a:rPr>
              <a:t>clusters</a:t>
            </a:r>
            <a:r>
              <a:rPr sz="1100" spc="35" dirty="0">
                <a:latin typeface="Georgia"/>
                <a:cs typeface="Georgia"/>
              </a:rPr>
              <a:t> </a:t>
            </a:r>
            <a:r>
              <a:rPr sz="1100" dirty="0">
                <a:latin typeface="Cambria"/>
                <a:cs typeface="Cambria"/>
              </a:rPr>
              <a:t>C</a:t>
            </a:r>
            <a:r>
              <a:rPr sz="1100" spc="60" dirty="0">
                <a:latin typeface="Cambria"/>
                <a:cs typeface="Cambria"/>
              </a:rPr>
              <a:t> </a:t>
            </a:r>
            <a:r>
              <a:rPr sz="1100" spc="295" dirty="0">
                <a:latin typeface="Calibri"/>
                <a:cs typeface="Calibri"/>
              </a:rPr>
              <a:t>=</a:t>
            </a:r>
            <a:r>
              <a:rPr sz="1100" spc="5" dirty="0">
                <a:latin typeface="Calibri"/>
                <a:cs typeface="Calibri"/>
              </a:rPr>
              <a:t> </a:t>
            </a:r>
            <a:r>
              <a:rPr sz="1100" spc="100" dirty="0">
                <a:latin typeface="Cambria"/>
                <a:cs typeface="Cambria"/>
              </a:rPr>
              <a:t>{</a:t>
            </a:r>
            <a:r>
              <a:rPr sz="1100" i="1" spc="100" dirty="0">
                <a:latin typeface="Calibri"/>
                <a:cs typeface="Calibri"/>
              </a:rPr>
              <a:t>C</a:t>
            </a:r>
            <a:r>
              <a:rPr sz="1200" spc="150" baseline="-10416" dirty="0">
                <a:latin typeface="Calibri"/>
                <a:cs typeface="Calibri"/>
              </a:rPr>
              <a:t>1</a:t>
            </a:r>
            <a:r>
              <a:rPr sz="1100" i="1" spc="100" dirty="0">
                <a:latin typeface="Calibri"/>
                <a:cs typeface="Calibri"/>
              </a:rPr>
              <a:t>,</a:t>
            </a:r>
            <a:r>
              <a:rPr sz="1100" i="1" spc="-70" dirty="0">
                <a:latin typeface="Calibri"/>
                <a:cs typeface="Calibri"/>
              </a:rPr>
              <a:t> </a:t>
            </a:r>
            <a:r>
              <a:rPr sz="1100" i="1" spc="125" dirty="0">
                <a:latin typeface="Calibri"/>
                <a:cs typeface="Calibri"/>
              </a:rPr>
              <a:t>C</a:t>
            </a:r>
            <a:r>
              <a:rPr sz="1200" spc="187" baseline="-10416" dirty="0">
                <a:latin typeface="Calibri"/>
                <a:cs typeface="Calibri"/>
              </a:rPr>
              <a:t>2</a:t>
            </a:r>
            <a:r>
              <a:rPr sz="1100" i="1" spc="12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14" dirty="0">
                <a:latin typeface="Calibri"/>
                <a:cs typeface="Calibri"/>
              </a:rPr>
              <a:t>C</a:t>
            </a:r>
            <a:r>
              <a:rPr sz="1200" i="1" spc="172" baseline="-10416" dirty="0">
                <a:latin typeface="Calibri"/>
                <a:cs typeface="Calibri"/>
              </a:rPr>
              <a:t>m</a:t>
            </a:r>
            <a:r>
              <a:rPr sz="1100" spc="114" dirty="0">
                <a:latin typeface="Cambria"/>
                <a:cs typeface="Cambria"/>
              </a:rPr>
              <a:t>}</a:t>
            </a:r>
            <a:r>
              <a:rPr sz="1100" spc="114" dirty="0">
                <a:latin typeface="Georgia"/>
                <a:cs typeface="Georgia"/>
              </a:rPr>
              <a:t>,</a:t>
            </a:r>
            <a:r>
              <a:rPr sz="1100" spc="35" dirty="0">
                <a:latin typeface="Georgia"/>
                <a:cs typeface="Georgia"/>
              </a:rPr>
              <a:t> </a:t>
            </a:r>
            <a:r>
              <a:rPr sz="1100" spc="-10" dirty="0">
                <a:latin typeface="Georgia"/>
                <a:cs typeface="Georgia"/>
              </a:rPr>
              <a:t>we</a:t>
            </a:r>
            <a:r>
              <a:rPr sz="1100" spc="40" dirty="0">
                <a:latin typeface="Georgia"/>
                <a:cs typeface="Georgia"/>
              </a:rPr>
              <a:t> </a:t>
            </a:r>
            <a:r>
              <a:rPr sz="1100" spc="-20" dirty="0">
                <a:latin typeface="Georgia"/>
                <a:cs typeface="Georgia"/>
              </a:rPr>
              <a:t>find</a:t>
            </a:r>
            <a:r>
              <a:rPr sz="1100" spc="35" dirty="0">
                <a:latin typeface="Georgia"/>
                <a:cs typeface="Georgia"/>
              </a:rPr>
              <a:t> </a:t>
            </a:r>
            <a:r>
              <a:rPr sz="1100" dirty="0">
                <a:latin typeface="Georgia"/>
                <a:cs typeface="Georgia"/>
              </a:rPr>
              <a:t>the</a:t>
            </a:r>
            <a:r>
              <a:rPr sz="1100" spc="40" dirty="0">
                <a:latin typeface="Georgia"/>
                <a:cs typeface="Georgia"/>
              </a:rPr>
              <a:t> </a:t>
            </a:r>
            <a:r>
              <a:rPr sz="1100" spc="-10" dirty="0">
                <a:latin typeface="Georgia"/>
                <a:cs typeface="Georgia"/>
              </a:rPr>
              <a:t>closest</a:t>
            </a:r>
            <a:r>
              <a:rPr sz="1100" spc="35" dirty="0">
                <a:latin typeface="Georgia"/>
                <a:cs typeface="Georgia"/>
              </a:rPr>
              <a:t> </a:t>
            </a:r>
            <a:r>
              <a:rPr sz="1100" dirty="0">
                <a:latin typeface="Georgia"/>
                <a:cs typeface="Georgia"/>
              </a:rPr>
              <a:t>pair</a:t>
            </a:r>
            <a:r>
              <a:rPr sz="1100" spc="40" dirty="0">
                <a:latin typeface="Georgia"/>
                <a:cs typeface="Georgia"/>
              </a:rPr>
              <a:t> </a:t>
            </a:r>
            <a:r>
              <a:rPr sz="1100" dirty="0">
                <a:latin typeface="Georgia"/>
                <a:cs typeface="Georgia"/>
              </a:rPr>
              <a:t>of</a:t>
            </a:r>
            <a:r>
              <a:rPr sz="1100" spc="35" dirty="0">
                <a:latin typeface="Georgia"/>
                <a:cs typeface="Georgia"/>
              </a:rPr>
              <a:t> </a:t>
            </a:r>
            <a:r>
              <a:rPr sz="1100" spc="-20" dirty="0">
                <a:latin typeface="Georgia"/>
                <a:cs typeface="Georgia"/>
              </a:rPr>
              <a:t>clusters</a:t>
            </a:r>
            <a:r>
              <a:rPr sz="1100" spc="40" dirty="0">
                <a:latin typeface="Georgia"/>
                <a:cs typeface="Georgia"/>
              </a:rPr>
              <a:t> </a:t>
            </a:r>
            <a:r>
              <a:rPr sz="1100" i="1" spc="125" dirty="0">
                <a:latin typeface="Calibri"/>
                <a:cs typeface="Calibri"/>
              </a:rPr>
              <a:t>C</a:t>
            </a:r>
            <a:r>
              <a:rPr sz="1200" i="1" spc="187" baseline="-10416" dirty="0">
                <a:latin typeface="Calibri"/>
                <a:cs typeface="Calibri"/>
              </a:rPr>
              <a:t>i</a:t>
            </a:r>
            <a:endParaRPr sz="1200" baseline="-10416">
              <a:latin typeface="Calibri"/>
              <a:cs typeface="Calibri"/>
            </a:endParaRPr>
          </a:p>
        </p:txBody>
      </p:sp>
      <p:sp>
        <p:nvSpPr>
          <p:cNvPr id="8" name="object 8"/>
          <p:cNvSpPr txBox="1"/>
          <p:nvPr/>
        </p:nvSpPr>
        <p:spPr>
          <a:xfrm>
            <a:off x="428777" y="1538463"/>
            <a:ext cx="5057140" cy="648335"/>
          </a:xfrm>
          <a:prstGeom prst="rect">
            <a:avLst/>
          </a:prstGeom>
        </p:spPr>
        <p:txBody>
          <a:bodyPr vert="horz" wrap="square" lIns="0" tIns="83185" rIns="0" bIns="0" rtlCol="0">
            <a:spAutoFit/>
          </a:bodyPr>
          <a:lstStyle/>
          <a:p>
            <a:pPr marL="38100">
              <a:lnSpc>
                <a:spcPct val="100000"/>
              </a:lnSpc>
              <a:spcBef>
                <a:spcPts val="655"/>
              </a:spcBef>
            </a:pPr>
            <a:r>
              <a:rPr sz="1100" dirty="0">
                <a:latin typeface="Georgia"/>
                <a:cs typeface="Georgia"/>
              </a:rPr>
              <a:t>and</a:t>
            </a:r>
            <a:r>
              <a:rPr sz="1100" spc="-10" dirty="0">
                <a:latin typeface="Georgia"/>
                <a:cs typeface="Georgia"/>
              </a:rPr>
              <a:t> </a:t>
            </a:r>
            <a:r>
              <a:rPr sz="1100" i="1" spc="175" dirty="0">
                <a:latin typeface="Calibri"/>
                <a:cs typeface="Calibri"/>
              </a:rPr>
              <a:t>C</a:t>
            </a:r>
            <a:r>
              <a:rPr sz="1200" i="1" spc="262" baseline="-10416" dirty="0">
                <a:latin typeface="Calibri"/>
                <a:cs typeface="Calibri"/>
              </a:rPr>
              <a:t>j</a:t>
            </a:r>
            <a:r>
              <a:rPr sz="1200" i="1" spc="300" baseline="-10416" dirty="0">
                <a:latin typeface="Calibri"/>
                <a:cs typeface="Calibri"/>
              </a:rPr>
              <a:t> </a:t>
            </a:r>
            <a:r>
              <a:rPr sz="1100" dirty="0">
                <a:latin typeface="Georgia"/>
                <a:cs typeface="Georgia"/>
              </a:rPr>
              <a:t>and</a:t>
            </a:r>
            <a:r>
              <a:rPr sz="1100" spc="40" dirty="0">
                <a:latin typeface="Georgia"/>
                <a:cs typeface="Georgia"/>
              </a:rPr>
              <a:t> </a:t>
            </a:r>
            <a:r>
              <a:rPr sz="1100" spc="-35" dirty="0">
                <a:latin typeface="Georgia"/>
                <a:cs typeface="Georgia"/>
              </a:rPr>
              <a:t>merge</a:t>
            </a:r>
            <a:r>
              <a:rPr sz="1100" spc="45" dirty="0">
                <a:latin typeface="Georgia"/>
                <a:cs typeface="Georgia"/>
              </a:rPr>
              <a:t> </a:t>
            </a:r>
            <a:r>
              <a:rPr sz="1100" spc="-10" dirty="0">
                <a:latin typeface="Georgia"/>
                <a:cs typeface="Georgia"/>
              </a:rPr>
              <a:t>them</a:t>
            </a:r>
            <a:r>
              <a:rPr sz="1100" spc="40" dirty="0">
                <a:latin typeface="Georgia"/>
                <a:cs typeface="Georgia"/>
              </a:rPr>
              <a:t> </a:t>
            </a:r>
            <a:r>
              <a:rPr sz="1100" dirty="0">
                <a:latin typeface="Georgia"/>
                <a:cs typeface="Georgia"/>
              </a:rPr>
              <a:t>into</a:t>
            </a:r>
            <a:r>
              <a:rPr sz="1100" spc="40" dirty="0">
                <a:latin typeface="Georgia"/>
                <a:cs typeface="Georgia"/>
              </a:rPr>
              <a:t> </a:t>
            </a:r>
            <a:r>
              <a:rPr sz="1100" dirty="0">
                <a:latin typeface="Georgia"/>
                <a:cs typeface="Georgia"/>
              </a:rPr>
              <a:t>a</a:t>
            </a:r>
            <a:r>
              <a:rPr sz="1100" spc="45" dirty="0">
                <a:latin typeface="Georgia"/>
                <a:cs typeface="Georgia"/>
              </a:rPr>
              <a:t> </a:t>
            </a:r>
            <a:r>
              <a:rPr sz="1100" spc="-10" dirty="0">
                <a:latin typeface="Georgia"/>
                <a:cs typeface="Georgia"/>
              </a:rPr>
              <a:t>new</a:t>
            </a:r>
            <a:r>
              <a:rPr sz="1100" spc="40" dirty="0">
                <a:latin typeface="Georgia"/>
                <a:cs typeface="Georgia"/>
              </a:rPr>
              <a:t> </a:t>
            </a:r>
            <a:r>
              <a:rPr sz="1100" spc="-10" dirty="0">
                <a:latin typeface="Georgia"/>
                <a:cs typeface="Georgia"/>
              </a:rPr>
              <a:t>cluster</a:t>
            </a:r>
            <a:r>
              <a:rPr sz="1100" spc="40" dirty="0">
                <a:latin typeface="Georgia"/>
                <a:cs typeface="Georgia"/>
              </a:rPr>
              <a:t> </a:t>
            </a:r>
            <a:r>
              <a:rPr sz="1100" i="1" spc="150" dirty="0">
                <a:latin typeface="Calibri"/>
                <a:cs typeface="Calibri"/>
              </a:rPr>
              <a:t>C</a:t>
            </a:r>
            <a:r>
              <a:rPr sz="1200" i="1" spc="225" baseline="-10416" dirty="0">
                <a:latin typeface="Calibri"/>
                <a:cs typeface="Calibri"/>
              </a:rPr>
              <a:t>ij</a:t>
            </a:r>
            <a:r>
              <a:rPr sz="1200" i="1" spc="232" baseline="-10416" dirty="0">
                <a:latin typeface="Calibri"/>
                <a:cs typeface="Calibri"/>
              </a:rPr>
              <a:t> </a:t>
            </a:r>
            <a:r>
              <a:rPr sz="1100" spc="295" dirty="0">
                <a:latin typeface="Calibri"/>
                <a:cs typeface="Calibri"/>
              </a:rPr>
              <a:t>=</a:t>
            </a:r>
            <a:r>
              <a:rPr sz="1100" spc="10" dirty="0">
                <a:latin typeface="Calibri"/>
                <a:cs typeface="Calibri"/>
              </a:rPr>
              <a:t> </a:t>
            </a:r>
            <a:r>
              <a:rPr sz="1100" i="1" spc="150" dirty="0">
                <a:latin typeface="Calibri"/>
                <a:cs typeface="Calibri"/>
              </a:rPr>
              <a:t>C</a:t>
            </a:r>
            <a:r>
              <a:rPr sz="1200" i="1" spc="225" baseline="-10416" dirty="0">
                <a:latin typeface="Calibri"/>
                <a:cs typeface="Calibri"/>
              </a:rPr>
              <a:t>i</a:t>
            </a:r>
            <a:r>
              <a:rPr sz="1200" i="1" spc="97" baseline="-10416" dirty="0">
                <a:latin typeface="Calibri"/>
                <a:cs typeface="Calibri"/>
              </a:rPr>
              <a:t> </a:t>
            </a:r>
            <a:r>
              <a:rPr sz="1100" spc="-155" dirty="0">
                <a:latin typeface="Lucida Sans Unicode"/>
                <a:cs typeface="Lucida Sans Unicode"/>
              </a:rPr>
              <a:t>∪</a:t>
            </a:r>
            <a:r>
              <a:rPr sz="1100" spc="-105" dirty="0">
                <a:latin typeface="Lucida Sans Unicode"/>
                <a:cs typeface="Lucida Sans Unicode"/>
              </a:rPr>
              <a:t> </a:t>
            </a:r>
            <a:r>
              <a:rPr sz="1100" i="1" spc="175" dirty="0">
                <a:latin typeface="Calibri"/>
                <a:cs typeface="Calibri"/>
              </a:rPr>
              <a:t>C</a:t>
            </a:r>
            <a:r>
              <a:rPr sz="1200" i="1" spc="262" baseline="-10416" dirty="0">
                <a:latin typeface="Calibri"/>
                <a:cs typeface="Calibri"/>
              </a:rPr>
              <a:t>j</a:t>
            </a:r>
            <a:r>
              <a:rPr sz="1200" i="1" spc="-127" baseline="-10416" dirty="0">
                <a:latin typeface="Calibri"/>
                <a:cs typeface="Calibri"/>
              </a:rPr>
              <a:t> </a:t>
            </a:r>
            <a:r>
              <a:rPr sz="1100" spc="-50" dirty="0">
                <a:latin typeface="Georgia"/>
                <a:cs typeface="Georgia"/>
              </a:rPr>
              <a:t>.</a:t>
            </a:r>
            <a:endParaRPr sz="1100">
              <a:latin typeface="Georgia"/>
              <a:cs typeface="Georgia"/>
            </a:endParaRPr>
          </a:p>
          <a:p>
            <a:pPr marL="38100">
              <a:lnSpc>
                <a:spcPts val="1235"/>
              </a:lnSpc>
              <a:spcBef>
                <a:spcPts val="555"/>
              </a:spcBef>
            </a:pPr>
            <a:r>
              <a:rPr sz="1100" dirty="0">
                <a:latin typeface="Georgia"/>
                <a:cs typeface="Georgia"/>
              </a:rPr>
              <a:t>Next,</a:t>
            </a:r>
            <a:r>
              <a:rPr sz="1100" spc="25" dirty="0">
                <a:latin typeface="Georgia"/>
                <a:cs typeface="Georgia"/>
              </a:rPr>
              <a:t> </a:t>
            </a:r>
            <a:r>
              <a:rPr sz="1100" dirty="0">
                <a:latin typeface="Georgia"/>
                <a:cs typeface="Georgia"/>
              </a:rPr>
              <a:t>we</a:t>
            </a:r>
            <a:r>
              <a:rPr sz="1100" spc="40" dirty="0">
                <a:latin typeface="Georgia"/>
                <a:cs typeface="Georgia"/>
              </a:rPr>
              <a:t> </a:t>
            </a:r>
            <a:r>
              <a:rPr sz="1100" dirty="0">
                <a:latin typeface="Georgia"/>
                <a:cs typeface="Georgia"/>
              </a:rPr>
              <a:t>update</a:t>
            </a:r>
            <a:r>
              <a:rPr sz="1100" spc="35" dirty="0">
                <a:latin typeface="Georgia"/>
                <a:cs typeface="Georgia"/>
              </a:rPr>
              <a:t> </a:t>
            </a:r>
            <a:r>
              <a:rPr sz="1100" dirty="0">
                <a:latin typeface="Georgia"/>
                <a:cs typeface="Georgia"/>
              </a:rPr>
              <a:t>the</a:t>
            </a:r>
            <a:r>
              <a:rPr sz="1100" spc="40" dirty="0">
                <a:latin typeface="Georgia"/>
                <a:cs typeface="Georgia"/>
              </a:rPr>
              <a:t> </a:t>
            </a:r>
            <a:r>
              <a:rPr sz="1100" dirty="0">
                <a:latin typeface="Georgia"/>
                <a:cs typeface="Georgia"/>
              </a:rPr>
              <a:t>set</a:t>
            </a:r>
            <a:r>
              <a:rPr sz="1100" spc="40" dirty="0">
                <a:latin typeface="Georgia"/>
                <a:cs typeface="Georgia"/>
              </a:rPr>
              <a:t> </a:t>
            </a:r>
            <a:r>
              <a:rPr sz="1100" dirty="0">
                <a:latin typeface="Georgia"/>
                <a:cs typeface="Georgia"/>
              </a:rPr>
              <a:t>of</a:t>
            </a:r>
            <a:r>
              <a:rPr sz="1100" spc="40" dirty="0">
                <a:latin typeface="Georgia"/>
                <a:cs typeface="Georgia"/>
              </a:rPr>
              <a:t> </a:t>
            </a:r>
            <a:r>
              <a:rPr sz="1100" spc="-20" dirty="0">
                <a:latin typeface="Georgia"/>
                <a:cs typeface="Georgia"/>
              </a:rPr>
              <a:t>clusters</a:t>
            </a:r>
            <a:r>
              <a:rPr sz="1100" spc="40" dirty="0">
                <a:latin typeface="Georgia"/>
                <a:cs typeface="Georgia"/>
              </a:rPr>
              <a:t> </a:t>
            </a:r>
            <a:r>
              <a:rPr sz="1100" dirty="0">
                <a:latin typeface="Georgia"/>
                <a:cs typeface="Georgia"/>
              </a:rPr>
              <a:t>by</a:t>
            </a:r>
            <a:r>
              <a:rPr sz="1100" spc="40" dirty="0">
                <a:latin typeface="Georgia"/>
                <a:cs typeface="Georgia"/>
              </a:rPr>
              <a:t> </a:t>
            </a:r>
            <a:r>
              <a:rPr sz="1100" spc="-35" dirty="0">
                <a:latin typeface="Georgia"/>
                <a:cs typeface="Georgia"/>
              </a:rPr>
              <a:t>removing</a:t>
            </a:r>
            <a:r>
              <a:rPr sz="1100" spc="40" dirty="0">
                <a:latin typeface="Georgia"/>
                <a:cs typeface="Georgia"/>
              </a:rPr>
              <a:t> </a:t>
            </a:r>
            <a:r>
              <a:rPr sz="1100" i="1" spc="150" dirty="0">
                <a:latin typeface="Calibri"/>
                <a:cs typeface="Calibri"/>
              </a:rPr>
              <a:t>C</a:t>
            </a:r>
            <a:r>
              <a:rPr sz="1200" i="1" spc="225" baseline="-10416" dirty="0">
                <a:latin typeface="Calibri"/>
                <a:cs typeface="Calibri"/>
              </a:rPr>
              <a:t>i</a:t>
            </a:r>
            <a:r>
              <a:rPr sz="1200" i="1" spc="247" baseline="-10416" dirty="0">
                <a:latin typeface="Calibri"/>
                <a:cs typeface="Calibri"/>
              </a:rPr>
              <a:t> </a:t>
            </a:r>
            <a:r>
              <a:rPr sz="1100" dirty="0">
                <a:latin typeface="Georgia"/>
                <a:cs typeface="Georgia"/>
              </a:rPr>
              <a:t>and</a:t>
            </a:r>
            <a:r>
              <a:rPr sz="1100" spc="35" dirty="0">
                <a:latin typeface="Georgia"/>
                <a:cs typeface="Georgia"/>
              </a:rPr>
              <a:t> </a:t>
            </a:r>
            <a:r>
              <a:rPr sz="1100" i="1" spc="175" dirty="0">
                <a:latin typeface="Calibri"/>
                <a:cs typeface="Calibri"/>
              </a:rPr>
              <a:t>C</a:t>
            </a:r>
            <a:r>
              <a:rPr sz="1200" i="1" spc="262" baseline="-10416" dirty="0">
                <a:latin typeface="Calibri"/>
                <a:cs typeface="Calibri"/>
              </a:rPr>
              <a:t>j</a:t>
            </a:r>
            <a:r>
              <a:rPr sz="1200" i="1" spc="300" baseline="-10416" dirty="0">
                <a:latin typeface="Calibri"/>
                <a:cs typeface="Calibri"/>
              </a:rPr>
              <a:t> </a:t>
            </a:r>
            <a:r>
              <a:rPr sz="1100" dirty="0">
                <a:latin typeface="Georgia"/>
                <a:cs typeface="Georgia"/>
              </a:rPr>
              <a:t>and</a:t>
            </a:r>
            <a:r>
              <a:rPr sz="1100" spc="40" dirty="0">
                <a:latin typeface="Georgia"/>
                <a:cs typeface="Georgia"/>
              </a:rPr>
              <a:t> </a:t>
            </a:r>
            <a:r>
              <a:rPr sz="1100" dirty="0">
                <a:latin typeface="Georgia"/>
                <a:cs typeface="Georgia"/>
              </a:rPr>
              <a:t>add</a:t>
            </a:r>
            <a:r>
              <a:rPr sz="1100" spc="40" dirty="0">
                <a:latin typeface="Georgia"/>
                <a:cs typeface="Georgia"/>
              </a:rPr>
              <a:t> </a:t>
            </a:r>
            <a:r>
              <a:rPr sz="1100" i="1" spc="150" dirty="0">
                <a:latin typeface="Calibri"/>
                <a:cs typeface="Calibri"/>
              </a:rPr>
              <a:t>C</a:t>
            </a:r>
            <a:r>
              <a:rPr sz="1200" i="1" spc="225" baseline="-10416" dirty="0">
                <a:latin typeface="Calibri"/>
                <a:cs typeface="Calibri"/>
              </a:rPr>
              <a:t>ij</a:t>
            </a:r>
            <a:r>
              <a:rPr sz="1200" i="1" spc="-127" baseline="-10416" dirty="0">
                <a:latin typeface="Calibri"/>
                <a:cs typeface="Calibri"/>
              </a:rPr>
              <a:t> </a:t>
            </a:r>
            <a:r>
              <a:rPr sz="1100" dirty="0">
                <a:latin typeface="Georgia"/>
                <a:cs typeface="Georgia"/>
              </a:rPr>
              <a:t>,</a:t>
            </a:r>
            <a:r>
              <a:rPr sz="1100" spc="40" dirty="0">
                <a:latin typeface="Georgia"/>
                <a:cs typeface="Georgia"/>
              </a:rPr>
              <a:t> </a:t>
            </a:r>
            <a:r>
              <a:rPr sz="1100" dirty="0">
                <a:latin typeface="Georgia"/>
                <a:cs typeface="Georgia"/>
              </a:rPr>
              <a:t>as</a:t>
            </a:r>
            <a:r>
              <a:rPr sz="1100" spc="35" dirty="0">
                <a:latin typeface="Georgia"/>
                <a:cs typeface="Georgia"/>
              </a:rPr>
              <a:t> </a:t>
            </a:r>
            <a:r>
              <a:rPr sz="1100" spc="-10" dirty="0">
                <a:latin typeface="Georgia"/>
                <a:cs typeface="Georgia"/>
              </a:rPr>
              <a:t>follows</a:t>
            </a:r>
            <a:endParaRPr sz="1100">
              <a:latin typeface="Georgia"/>
              <a:cs typeface="Georgia"/>
            </a:endParaRPr>
          </a:p>
          <a:p>
            <a:pPr marL="38100">
              <a:lnSpc>
                <a:spcPts val="1235"/>
              </a:lnSpc>
            </a:pPr>
            <a:r>
              <a:rPr sz="1100" dirty="0">
                <a:latin typeface="Cambria"/>
                <a:cs typeface="Cambria"/>
              </a:rPr>
              <a:t>C</a:t>
            </a:r>
            <a:r>
              <a:rPr sz="1100" spc="85" dirty="0">
                <a:latin typeface="Cambria"/>
                <a:cs typeface="Cambria"/>
              </a:rPr>
              <a:t> </a:t>
            </a:r>
            <a:r>
              <a:rPr sz="1100" spc="295" dirty="0">
                <a:latin typeface="Calibri"/>
                <a:cs typeface="Calibri"/>
              </a:rPr>
              <a:t>=</a:t>
            </a:r>
            <a:r>
              <a:rPr sz="1100" spc="45" dirty="0">
                <a:latin typeface="Calibri"/>
                <a:cs typeface="Calibri"/>
              </a:rPr>
              <a:t> </a:t>
            </a:r>
            <a:r>
              <a:rPr sz="1100" dirty="0">
                <a:latin typeface="Cambria"/>
                <a:cs typeface="Cambria"/>
              </a:rPr>
              <a:t>C</a:t>
            </a:r>
            <a:r>
              <a:rPr sz="1100" spc="55" dirty="0">
                <a:latin typeface="Cambria"/>
                <a:cs typeface="Cambria"/>
              </a:rPr>
              <a:t> </a:t>
            </a:r>
            <a:r>
              <a:rPr sz="1100" dirty="0">
                <a:latin typeface="Cambria"/>
                <a:cs typeface="Cambria"/>
              </a:rPr>
              <a:t>\</a:t>
            </a:r>
            <a:r>
              <a:rPr sz="1100" spc="-10" dirty="0">
                <a:latin typeface="Cambria"/>
                <a:cs typeface="Cambria"/>
              </a:rPr>
              <a:t> </a:t>
            </a:r>
            <a:r>
              <a:rPr sz="1100" spc="140" dirty="0">
                <a:latin typeface="Cambria"/>
                <a:cs typeface="Cambria"/>
              </a:rPr>
              <a:t>{{</a:t>
            </a:r>
            <a:r>
              <a:rPr sz="1100" i="1" spc="140" dirty="0">
                <a:latin typeface="Calibri"/>
                <a:cs typeface="Calibri"/>
              </a:rPr>
              <a:t>C</a:t>
            </a:r>
            <a:r>
              <a:rPr sz="1200" i="1" spc="209" baseline="-10416" dirty="0">
                <a:latin typeface="Calibri"/>
                <a:cs typeface="Calibri"/>
              </a:rPr>
              <a:t>i</a:t>
            </a:r>
            <a:r>
              <a:rPr sz="1100" spc="140" dirty="0">
                <a:latin typeface="Cambria"/>
                <a:cs typeface="Cambria"/>
              </a:rPr>
              <a:t>}</a:t>
            </a:r>
            <a:r>
              <a:rPr sz="1100" spc="-15" dirty="0">
                <a:latin typeface="Cambria"/>
                <a:cs typeface="Cambria"/>
              </a:rPr>
              <a:t> </a:t>
            </a:r>
            <a:r>
              <a:rPr sz="1100" spc="-155" dirty="0">
                <a:latin typeface="Lucida Sans Unicode"/>
                <a:cs typeface="Lucida Sans Unicode"/>
              </a:rPr>
              <a:t>∪</a:t>
            </a:r>
            <a:r>
              <a:rPr sz="1100" spc="-105" dirty="0">
                <a:latin typeface="Lucida Sans Unicode"/>
                <a:cs typeface="Lucida Sans Unicode"/>
              </a:rPr>
              <a:t> </a:t>
            </a:r>
            <a:r>
              <a:rPr sz="1100" spc="155" dirty="0">
                <a:latin typeface="Cambria"/>
                <a:cs typeface="Cambria"/>
              </a:rPr>
              <a:t>{</a:t>
            </a:r>
            <a:r>
              <a:rPr sz="1100" i="1" spc="155" dirty="0">
                <a:latin typeface="Calibri"/>
                <a:cs typeface="Calibri"/>
              </a:rPr>
              <a:t>C</a:t>
            </a:r>
            <a:r>
              <a:rPr sz="1200" i="1" spc="232" baseline="-10416" dirty="0">
                <a:latin typeface="Calibri"/>
                <a:cs typeface="Calibri"/>
              </a:rPr>
              <a:t>j</a:t>
            </a:r>
            <a:r>
              <a:rPr sz="1200" i="1" spc="-127" baseline="-10416" dirty="0">
                <a:latin typeface="Calibri"/>
                <a:cs typeface="Calibri"/>
              </a:rPr>
              <a:t> </a:t>
            </a:r>
            <a:r>
              <a:rPr sz="1100" spc="114" dirty="0">
                <a:latin typeface="Cambria"/>
                <a:cs typeface="Cambria"/>
              </a:rPr>
              <a:t>}}</a:t>
            </a:r>
            <a:r>
              <a:rPr sz="1100" spc="-10" dirty="0">
                <a:latin typeface="Cambria"/>
                <a:cs typeface="Cambria"/>
              </a:rPr>
              <a:t> </a:t>
            </a:r>
            <a:r>
              <a:rPr sz="1100" spc="-155" dirty="0">
                <a:latin typeface="Lucida Sans Unicode"/>
                <a:cs typeface="Lucida Sans Unicode"/>
              </a:rPr>
              <a:t>∪</a:t>
            </a:r>
            <a:r>
              <a:rPr sz="1100" spc="-110" dirty="0">
                <a:latin typeface="Lucida Sans Unicode"/>
                <a:cs typeface="Lucida Sans Unicode"/>
              </a:rPr>
              <a:t> </a:t>
            </a:r>
            <a:r>
              <a:rPr sz="1100" spc="140" dirty="0">
                <a:latin typeface="Cambria"/>
                <a:cs typeface="Cambria"/>
              </a:rPr>
              <a:t>{</a:t>
            </a:r>
            <a:r>
              <a:rPr sz="1100" i="1" spc="140" dirty="0">
                <a:latin typeface="Calibri"/>
                <a:cs typeface="Calibri"/>
              </a:rPr>
              <a:t>C</a:t>
            </a:r>
            <a:r>
              <a:rPr sz="1200" i="1" spc="209" baseline="-10416" dirty="0">
                <a:latin typeface="Calibri"/>
                <a:cs typeface="Calibri"/>
              </a:rPr>
              <a:t>ij</a:t>
            </a:r>
            <a:r>
              <a:rPr sz="1200" i="1" spc="-127" baseline="-10416" dirty="0">
                <a:latin typeface="Calibri"/>
                <a:cs typeface="Calibri"/>
              </a:rPr>
              <a:t> </a:t>
            </a:r>
            <a:r>
              <a:rPr sz="1100" spc="30" dirty="0">
                <a:latin typeface="Cambria"/>
                <a:cs typeface="Cambria"/>
              </a:rPr>
              <a:t>}</a:t>
            </a:r>
            <a:r>
              <a:rPr sz="1100" spc="30" dirty="0">
                <a:latin typeface="Georgia"/>
                <a:cs typeface="Georgia"/>
              </a:rPr>
              <a:t>.</a:t>
            </a:r>
            <a:endParaRPr sz="1100">
              <a:latin typeface="Georgia"/>
              <a:cs typeface="Georgia"/>
            </a:endParaRPr>
          </a:p>
        </p:txBody>
      </p:sp>
      <p:sp>
        <p:nvSpPr>
          <p:cNvPr id="9" name="object 9"/>
          <p:cNvSpPr/>
          <p:nvPr/>
        </p:nvSpPr>
        <p:spPr>
          <a:xfrm>
            <a:off x="337972" y="1940242"/>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0" name="object 10"/>
          <p:cNvSpPr/>
          <p:nvPr/>
        </p:nvSpPr>
        <p:spPr>
          <a:xfrm>
            <a:off x="337972" y="2324722"/>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1" name="object 11"/>
          <p:cNvSpPr txBox="1"/>
          <p:nvPr/>
        </p:nvSpPr>
        <p:spPr>
          <a:xfrm>
            <a:off x="454177" y="2233115"/>
            <a:ext cx="5007610" cy="338455"/>
          </a:xfrm>
          <a:prstGeom prst="rect">
            <a:avLst/>
          </a:prstGeom>
        </p:spPr>
        <p:txBody>
          <a:bodyPr vert="horz" wrap="square" lIns="0" tIns="34290" rIns="0" bIns="0" rtlCol="0">
            <a:spAutoFit/>
          </a:bodyPr>
          <a:lstStyle/>
          <a:p>
            <a:pPr marL="12700" marR="5080">
              <a:lnSpc>
                <a:spcPts val="1150"/>
              </a:lnSpc>
              <a:spcBef>
                <a:spcPts val="270"/>
              </a:spcBef>
            </a:pPr>
            <a:r>
              <a:rPr sz="1100" dirty="0">
                <a:latin typeface="Georgia"/>
                <a:cs typeface="Georgia"/>
              </a:rPr>
              <a:t>This</a:t>
            </a:r>
            <a:r>
              <a:rPr sz="1100" spc="20" dirty="0">
                <a:latin typeface="Georgia"/>
                <a:cs typeface="Georgia"/>
              </a:rPr>
              <a:t> </a:t>
            </a:r>
            <a:r>
              <a:rPr sz="1100" spc="-25" dirty="0">
                <a:latin typeface="Georgia"/>
                <a:cs typeface="Georgia"/>
              </a:rPr>
              <a:t>process</a:t>
            </a:r>
            <a:r>
              <a:rPr sz="1100" spc="25" dirty="0">
                <a:latin typeface="Georgia"/>
                <a:cs typeface="Georgia"/>
              </a:rPr>
              <a:t> </a:t>
            </a:r>
            <a:r>
              <a:rPr sz="1100" dirty="0">
                <a:latin typeface="Georgia"/>
                <a:cs typeface="Georgia"/>
              </a:rPr>
              <a:t>is</a:t>
            </a:r>
            <a:r>
              <a:rPr sz="1100" spc="25" dirty="0">
                <a:latin typeface="Georgia"/>
                <a:cs typeface="Georgia"/>
              </a:rPr>
              <a:t> </a:t>
            </a:r>
            <a:r>
              <a:rPr sz="1100" spc="-20" dirty="0">
                <a:latin typeface="Georgia"/>
                <a:cs typeface="Georgia"/>
              </a:rPr>
              <a:t>repeated</a:t>
            </a:r>
            <a:r>
              <a:rPr sz="1100" spc="25" dirty="0">
                <a:latin typeface="Georgia"/>
                <a:cs typeface="Georgia"/>
              </a:rPr>
              <a:t> </a:t>
            </a:r>
            <a:r>
              <a:rPr sz="1100" dirty="0">
                <a:latin typeface="Georgia"/>
                <a:cs typeface="Georgia"/>
              </a:rPr>
              <a:t>until</a:t>
            </a:r>
            <a:r>
              <a:rPr sz="1100" spc="25" dirty="0">
                <a:latin typeface="Georgia"/>
                <a:cs typeface="Georgia"/>
              </a:rPr>
              <a:t> </a:t>
            </a:r>
            <a:r>
              <a:rPr sz="1100" dirty="0">
                <a:latin typeface="Cambria"/>
                <a:cs typeface="Cambria"/>
              </a:rPr>
              <a:t>C</a:t>
            </a:r>
            <a:r>
              <a:rPr sz="1100" spc="95" dirty="0">
                <a:latin typeface="Cambria"/>
                <a:cs typeface="Cambria"/>
              </a:rPr>
              <a:t> </a:t>
            </a:r>
            <a:r>
              <a:rPr sz="1100" spc="-25" dirty="0">
                <a:latin typeface="Georgia"/>
                <a:cs typeface="Georgia"/>
              </a:rPr>
              <a:t>contains</a:t>
            </a:r>
            <a:r>
              <a:rPr sz="1100" spc="25" dirty="0">
                <a:latin typeface="Georgia"/>
                <a:cs typeface="Georgia"/>
              </a:rPr>
              <a:t> </a:t>
            </a:r>
            <a:r>
              <a:rPr sz="1100" dirty="0">
                <a:latin typeface="Georgia"/>
                <a:cs typeface="Georgia"/>
              </a:rPr>
              <a:t>only</a:t>
            </a:r>
            <a:r>
              <a:rPr sz="1100" spc="25" dirty="0">
                <a:latin typeface="Georgia"/>
                <a:cs typeface="Georgia"/>
              </a:rPr>
              <a:t> </a:t>
            </a:r>
            <a:r>
              <a:rPr sz="1100" spc="-20" dirty="0">
                <a:latin typeface="Georgia"/>
                <a:cs typeface="Georgia"/>
              </a:rPr>
              <a:t>one</a:t>
            </a:r>
            <a:r>
              <a:rPr sz="1100" spc="25" dirty="0">
                <a:latin typeface="Georgia"/>
                <a:cs typeface="Georgia"/>
              </a:rPr>
              <a:t> </a:t>
            </a:r>
            <a:r>
              <a:rPr sz="1100" spc="-10" dirty="0">
                <a:latin typeface="Georgia"/>
                <a:cs typeface="Georgia"/>
              </a:rPr>
              <a:t>cluster.</a:t>
            </a:r>
            <a:r>
              <a:rPr sz="1100" spc="120" dirty="0">
                <a:latin typeface="Georgia"/>
                <a:cs typeface="Georgia"/>
              </a:rPr>
              <a:t> </a:t>
            </a:r>
            <a:r>
              <a:rPr sz="1100" dirty="0">
                <a:latin typeface="Georgia"/>
                <a:cs typeface="Georgia"/>
              </a:rPr>
              <a:t>If</a:t>
            </a:r>
            <a:r>
              <a:rPr sz="1100" spc="25" dirty="0">
                <a:latin typeface="Georgia"/>
                <a:cs typeface="Georgia"/>
              </a:rPr>
              <a:t> </a:t>
            </a:r>
            <a:r>
              <a:rPr sz="1100" spc="-30" dirty="0">
                <a:latin typeface="Georgia"/>
                <a:cs typeface="Georgia"/>
              </a:rPr>
              <a:t>specified,</a:t>
            </a:r>
            <a:r>
              <a:rPr sz="1100" spc="20" dirty="0">
                <a:latin typeface="Georgia"/>
                <a:cs typeface="Georgia"/>
              </a:rPr>
              <a:t> </a:t>
            </a:r>
            <a:r>
              <a:rPr sz="1100" spc="-10" dirty="0">
                <a:latin typeface="Georgia"/>
                <a:cs typeface="Georgia"/>
              </a:rPr>
              <a:t>we</a:t>
            </a:r>
            <a:r>
              <a:rPr sz="1100" spc="25" dirty="0">
                <a:latin typeface="Georgia"/>
                <a:cs typeface="Georgia"/>
              </a:rPr>
              <a:t> </a:t>
            </a:r>
            <a:r>
              <a:rPr sz="1100" dirty="0">
                <a:latin typeface="Georgia"/>
                <a:cs typeface="Georgia"/>
              </a:rPr>
              <a:t>can</a:t>
            </a:r>
            <a:r>
              <a:rPr sz="1100" spc="25" dirty="0">
                <a:latin typeface="Georgia"/>
                <a:cs typeface="Georgia"/>
              </a:rPr>
              <a:t> </a:t>
            </a:r>
            <a:r>
              <a:rPr sz="1100" spc="-20" dirty="0">
                <a:latin typeface="Georgia"/>
                <a:cs typeface="Georgia"/>
              </a:rPr>
              <a:t>stop </a:t>
            </a:r>
            <a:r>
              <a:rPr sz="1100" dirty="0">
                <a:latin typeface="Georgia"/>
                <a:cs typeface="Georgia"/>
              </a:rPr>
              <a:t>the</a:t>
            </a:r>
            <a:r>
              <a:rPr sz="1100" spc="25" dirty="0">
                <a:latin typeface="Georgia"/>
                <a:cs typeface="Georgia"/>
              </a:rPr>
              <a:t> </a:t>
            </a:r>
            <a:r>
              <a:rPr sz="1100" spc="-30" dirty="0">
                <a:latin typeface="Georgia"/>
                <a:cs typeface="Georgia"/>
              </a:rPr>
              <a:t>merging</a:t>
            </a:r>
            <a:r>
              <a:rPr sz="1100" spc="30" dirty="0">
                <a:latin typeface="Georgia"/>
                <a:cs typeface="Georgia"/>
              </a:rPr>
              <a:t> </a:t>
            </a:r>
            <a:r>
              <a:rPr sz="1100" spc="-25" dirty="0">
                <a:latin typeface="Georgia"/>
                <a:cs typeface="Georgia"/>
              </a:rPr>
              <a:t>process</a:t>
            </a:r>
            <a:r>
              <a:rPr sz="1100" spc="30" dirty="0">
                <a:latin typeface="Georgia"/>
                <a:cs typeface="Georgia"/>
              </a:rPr>
              <a:t> </a:t>
            </a:r>
            <a:r>
              <a:rPr sz="1100" spc="-20" dirty="0">
                <a:latin typeface="Georgia"/>
                <a:cs typeface="Georgia"/>
              </a:rPr>
              <a:t>when</a:t>
            </a:r>
            <a:r>
              <a:rPr sz="1100" spc="30" dirty="0">
                <a:latin typeface="Georgia"/>
                <a:cs typeface="Georgia"/>
              </a:rPr>
              <a:t> </a:t>
            </a:r>
            <a:r>
              <a:rPr sz="1100" spc="-10" dirty="0">
                <a:latin typeface="Georgia"/>
                <a:cs typeface="Georgia"/>
              </a:rPr>
              <a:t>there</a:t>
            </a:r>
            <a:r>
              <a:rPr sz="1100" spc="30" dirty="0">
                <a:latin typeface="Georgia"/>
                <a:cs typeface="Georgia"/>
              </a:rPr>
              <a:t> </a:t>
            </a:r>
            <a:r>
              <a:rPr sz="1100" dirty="0">
                <a:latin typeface="Georgia"/>
                <a:cs typeface="Georgia"/>
              </a:rPr>
              <a:t>are</a:t>
            </a:r>
            <a:r>
              <a:rPr sz="1100" spc="30" dirty="0">
                <a:latin typeface="Georgia"/>
                <a:cs typeface="Georgia"/>
              </a:rPr>
              <a:t> </a:t>
            </a:r>
            <a:r>
              <a:rPr sz="1100" dirty="0">
                <a:latin typeface="Georgia"/>
                <a:cs typeface="Georgia"/>
              </a:rPr>
              <a:t>exactly</a:t>
            </a:r>
            <a:r>
              <a:rPr sz="1100" spc="30" dirty="0">
                <a:latin typeface="Georgia"/>
                <a:cs typeface="Georgia"/>
              </a:rPr>
              <a:t> </a:t>
            </a:r>
            <a:r>
              <a:rPr sz="1100" i="1" spc="65" dirty="0">
                <a:latin typeface="Calibri"/>
                <a:cs typeface="Calibri"/>
              </a:rPr>
              <a:t>k</a:t>
            </a:r>
            <a:r>
              <a:rPr sz="1100" i="1" spc="75" dirty="0">
                <a:latin typeface="Calibri"/>
                <a:cs typeface="Calibri"/>
              </a:rPr>
              <a:t> </a:t>
            </a:r>
            <a:r>
              <a:rPr sz="1100" spc="-20" dirty="0">
                <a:latin typeface="Georgia"/>
                <a:cs typeface="Georgia"/>
              </a:rPr>
              <a:t>clusters</a:t>
            </a:r>
            <a:r>
              <a:rPr sz="1100" spc="30" dirty="0">
                <a:latin typeface="Georgia"/>
                <a:cs typeface="Georgia"/>
              </a:rPr>
              <a:t> </a:t>
            </a:r>
            <a:r>
              <a:rPr sz="1100" spc="-10" dirty="0">
                <a:latin typeface="Georgia"/>
                <a:cs typeface="Georgia"/>
              </a:rPr>
              <a:t>remaining.</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42</a:t>
            </a:fld>
            <a:r>
              <a:rPr spc="5" dirty="0"/>
              <a:t> </a:t>
            </a:r>
            <a:r>
              <a:rPr spc="75" dirty="0"/>
              <a:t>/</a:t>
            </a:r>
            <a:r>
              <a:rPr spc="10" dirty="0"/>
              <a:t> </a:t>
            </a:r>
            <a:r>
              <a:rPr spc="35" dirty="0"/>
              <a:t>135</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442531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Times New Roman"/>
                <a:cs typeface="Times New Roman"/>
              </a:rPr>
              <a:t>Agglomerative</a:t>
            </a:r>
            <a:r>
              <a:rPr sz="1400" spc="200" dirty="0">
                <a:solidFill>
                  <a:srgbClr val="CC0000"/>
                </a:solidFill>
                <a:latin typeface="Times New Roman"/>
                <a:cs typeface="Times New Roman"/>
              </a:rPr>
              <a:t> </a:t>
            </a:r>
            <a:r>
              <a:rPr sz="1400" dirty="0">
                <a:solidFill>
                  <a:srgbClr val="CC0000"/>
                </a:solidFill>
                <a:latin typeface="Times New Roman"/>
                <a:cs typeface="Times New Roman"/>
              </a:rPr>
              <a:t>hierarchical</a:t>
            </a:r>
            <a:r>
              <a:rPr sz="1400" spc="210" dirty="0">
                <a:solidFill>
                  <a:srgbClr val="CC0000"/>
                </a:solidFill>
                <a:latin typeface="Times New Roman"/>
                <a:cs typeface="Times New Roman"/>
              </a:rPr>
              <a:t> </a:t>
            </a:r>
            <a:r>
              <a:rPr sz="1400" dirty="0">
                <a:solidFill>
                  <a:srgbClr val="CC0000"/>
                </a:solidFill>
                <a:latin typeface="Times New Roman"/>
                <a:cs typeface="Times New Roman"/>
              </a:rPr>
              <a:t>clustering:</a:t>
            </a:r>
            <a:r>
              <a:rPr sz="1400" spc="395" dirty="0">
                <a:solidFill>
                  <a:srgbClr val="CC0000"/>
                </a:solidFill>
                <a:latin typeface="Times New Roman"/>
                <a:cs typeface="Times New Roman"/>
              </a:rPr>
              <a:t> </a:t>
            </a:r>
            <a:r>
              <a:rPr sz="1400" spc="55" dirty="0">
                <a:solidFill>
                  <a:srgbClr val="CC0000"/>
                </a:solidFill>
                <a:latin typeface="Times New Roman"/>
                <a:cs typeface="Times New Roman"/>
              </a:rPr>
              <a:t>the</a:t>
            </a:r>
            <a:r>
              <a:rPr sz="1400" spc="200" dirty="0">
                <a:solidFill>
                  <a:srgbClr val="CC0000"/>
                </a:solidFill>
                <a:latin typeface="Times New Roman"/>
                <a:cs typeface="Times New Roman"/>
              </a:rPr>
              <a:t> </a:t>
            </a:r>
            <a:r>
              <a:rPr sz="1400" dirty="0">
                <a:solidFill>
                  <a:srgbClr val="CC0000"/>
                </a:solidFill>
                <a:latin typeface="Times New Roman"/>
                <a:cs typeface="Times New Roman"/>
              </a:rPr>
              <a:t>pseudo</a:t>
            </a:r>
            <a:r>
              <a:rPr sz="1400" spc="204" dirty="0">
                <a:solidFill>
                  <a:srgbClr val="CC0000"/>
                </a:solidFill>
                <a:latin typeface="Times New Roman"/>
                <a:cs typeface="Times New Roman"/>
              </a:rPr>
              <a:t> </a:t>
            </a:r>
            <a:r>
              <a:rPr sz="1400" dirty="0">
                <a:solidFill>
                  <a:srgbClr val="CC0000"/>
                </a:solidFill>
                <a:latin typeface="Times New Roman"/>
                <a:cs typeface="Times New Roman"/>
              </a:rPr>
              <a:t>code</a:t>
            </a:r>
            <a:r>
              <a:rPr sz="1400" spc="200" dirty="0">
                <a:solidFill>
                  <a:srgbClr val="CC0000"/>
                </a:solidFill>
                <a:latin typeface="Times New Roman"/>
                <a:cs typeface="Times New Roman"/>
              </a:rPr>
              <a:t> </a:t>
            </a:r>
            <a:r>
              <a:rPr sz="1400" spc="-25" dirty="0">
                <a:solidFill>
                  <a:srgbClr val="CC0000"/>
                </a:solidFill>
                <a:latin typeface="Times New Roman"/>
                <a:cs typeface="Times New Roman"/>
              </a:rPr>
              <a:t>[</a:t>
            </a:r>
            <a:r>
              <a:rPr sz="1400" spc="-25" dirty="0">
                <a:solidFill>
                  <a:srgbClr val="CC0000"/>
                </a:solidFill>
                <a:latin typeface="Times New Roman"/>
                <a:cs typeface="Times New Roman"/>
                <a:hlinkClick r:id="rId2" action="ppaction://hlinksldjump"/>
              </a:rPr>
              <a:t>4</a:t>
            </a:r>
            <a:r>
              <a:rPr sz="1400" spc="-25" dirty="0">
                <a:solidFill>
                  <a:srgbClr val="CC0000"/>
                </a:solidFill>
                <a:latin typeface="Times New Roman"/>
                <a:cs typeface="Times New Roman"/>
              </a:rPr>
              <a:t>]</a:t>
            </a:r>
            <a:endParaRPr sz="1400">
              <a:latin typeface="Times New Roman"/>
              <a:cs typeface="Times New Roman"/>
            </a:endParaRPr>
          </a:p>
        </p:txBody>
      </p:sp>
      <p:pic>
        <p:nvPicPr>
          <p:cNvPr id="3" name="object 3"/>
          <p:cNvPicPr/>
          <p:nvPr/>
        </p:nvPicPr>
        <p:blipFill>
          <a:blip r:embed="rId3" cstate="print"/>
          <a:stretch>
            <a:fillRect/>
          </a:stretch>
        </p:blipFill>
        <p:spPr>
          <a:xfrm>
            <a:off x="885774" y="871473"/>
            <a:ext cx="3991927" cy="1491297"/>
          </a:xfrm>
          <a:prstGeom prst="rect">
            <a:avLst/>
          </a:prstGeom>
        </p:spPr>
      </p:pic>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43</a:t>
            </a:fld>
            <a:r>
              <a:rPr spc="5" dirty="0"/>
              <a:t> </a:t>
            </a:r>
            <a:r>
              <a:rPr spc="75" dirty="0"/>
              <a:t>/</a:t>
            </a:r>
            <a:r>
              <a:rPr spc="10" dirty="0"/>
              <a:t> </a:t>
            </a:r>
            <a:r>
              <a:rPr spc="35" dirty="0"/>
              <a:t>135</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Distance</a:t>
            </a:r>
            <a:r>
              <a:rPr spc="175" dirty="0"/>
              <a:t> </a:t>
            </a:r>
            <a:r>
              <a:rPr dirty="0"/>
              <a:t>between</a:t>
            </a:r>
            <a:r>
              <a:rPr spc="175" dirty="0"/>
              <a:t> </a:t>
            </a:r>
            <a:r>
              <a:rPr dirty="0"/>
              <a:t>clusters:</a:t>
            </a:r>
            <a:r>
              <a:rPr spc="355" dirty="0"/>
              <a:t> </a:t>
            </a:r>
            <a:r>
              <a:rPr dirty="0"/>
              <a:t>different</a:t>
            </a:r>
            <a:r>
              <a:rPr spc="180" dirty="0"/>
              <a:t> </a:t>
            </a:r>
            <a:r>
              <a:rPr dirty="0"/>
              <a:t>ways</a:t>
            </a:r>
            <a:r>
              <a:rPr spc="180" dirty="0"/>
              <a:t> </a:t>
            </a:r>
            <a:r>
              <a:rPr spc="55" dirty="0"/>
              <a:t>to</a:t>
            </a:r>
            <a:r>
              <a:rPr spc="175" dirty="0"/>
              <a:t> </a:t>
            </a:r>
            <a:r>
              <a:rPr dirty="0"/>
              <a:t>merge</a:t>
            </a:r>
            <a:r>
              <a:rPr spc="175" dirty="0"/>
              <a:t> </a:t>
            </a:r>
            <a:r>
              <a:rPr spc="-10" dirty="0"/>
              <a:t>clusters</a:t>
            </a:r>
          </a:p>
        </p:txBody>
      </p:sp>
      <p:sp>
        <p:nvSpPr>
          <p:cNvPr id="3" name="object 3"/>
          <p:cNvSpPr/>
          <p:nvPr/>
        </p:nvSpPr>
        <p:spPr>
          <a:xfrm>
            <a:off x="337972" y="81139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1049616"/>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txBox="1"/>
          <p:nvPr/>
        </p:nvSpPr>
        <p:spPr>
          <a:xfrm>
            <a:off x="437692" y="665900"/>
            <a:ext cx="4874895" cy="964565"/>
          </a:xfrm>
          <a:prstGeom prst="rect">
            <a:avLst/>
          </a:prstGeom>
        </p:spPr>
        <p:txBody>
          <a:bodyPr vert="horz" wrap="square" lIns="0" tIns="83185" rIns="0" bIns="0" rtlCol="0">
            <a:spAutoFit/>
          </a:bodyPr>
          <a:lstStyle/>
          <a:p>
            <a:pPr marL="50800">
              <a:lnSpc>
                <a:spcPct val="100000"/>
              </a:lnSpc>
              <a:spcBef>
                <a:spcPts val="655"/>
              </a:spcBef>
            </a:pPr>
            <a:r>
              <a:rPr sz="1100" dirty="0">
                <a:latin typeface="Georgia"/>
                <a:cs typeface="Georgia"/>
              </a:rPr>
              <a:t>The</a:t>
            </a:r>
            <a:r>
              <a:rPr sz="1100" spc="30" dirty="0">
                <a:latin typeface="Georgia"/>
                <a:cs typeface="Georgia"/>
              </a:rPr>
              <a:t> </a:t>
            </a:r>
            <a:r>
              <a:rPr sz="1100" spc="-20" dirty="0">
                <a:latin typeface="Georgia"/>
                <a:cs typeface="Georgia"/>
              </a:rPr>
              <a:t>main</a:t>
            </a:r>
            <a:r>
              <a:rPr sz="1100" spc="30" dirty="0">
                <a:latin typeface="Georgia"/>
                <a:cs typeface="Georgia"/>
              </a:rPr>
              <a:t> </a:t>
            </a:r>
            <a:r>
              <a:rPr sz="1100" dirty="0">
                <a:latin typeface="Georgia"/>
                <a:cs typeface="Georgia"/>
              </a:rPr>
              <a:t>step</a:t>
            </a:r>
            <a:r>
              <a:rPr sz="1100" spc="30" dirty="0">
                <a:latin typeface="Georgia"/>
                <a:cs typeface="Georgia"/>
              </a:rPr>
              <a:t> </a:t>
            </a:r>
            <a:r>
              <a:rPr sz="1100" dirty="0">
                <a:latin typeface="Georgia"/>
                <a:cs typeface="Georgia"/>
              </a:rPr>
              <a:t>in</a:t>
            </a:r>
            <a:r>
              <a:rPr sz="1100" spc="30" dirty="0">
                <a:latin typeface="Georgia"/>
                <a:cs typeface="Georgia"/>
              </a:rPr>
              <a:t> </a:t>
            </a:r>
            <a:r>
              <a:rPr sz="1100" dirty="0">
                <a:latin typeface="Georgia"/>
                <a:cs typeface="Georgia"/>
              </a:rPr>
              <a:t>the</a:t>
            </a:r>
            <a:r>
              <a:rPr sz="1100" spc="30" dirty="0">
                <a:latin typeface="Georgia"/>
                <a:cs typeface="Georgia"/>
              </a:rPr>
              <a:t> </a:t>
            </a:r>
            <a:r>
              <a:rPr sz="1100" spc="-20" dirty="0">
                <a:latin typeface="Georgia"/>
                <a:cs typeface="Georgia"/>
              </a:rPr>
              <a:t>algorithm</a:t>
            </a:r>
            <a:r>
              <a:rPr sz="1100" spc="30" dirty="0">
                <a:latin typeface="Georgia"/>
                <a:cs typeface="Georgia"/>
              </a:rPr>
              <a:t> </a:t>
            </a:r>
            <a:r>
              <a:rPr sz="1100" dirty="0">
                <a:latin typeface="Georgia"/>
                <a:cs typeface="Georgia"/>
              </a:rPr>
              <a:t>is</a:t>
            </a:r>
            <a:r>
              <a:rPr sz="1100" spc="30" dirty="0">
                <a:latin typeface="Georgia"/>
                <a:cs typeface="Georgia"/>
              </a:rPr>
              <a:t> </a:t>
            </a:r>
            <a:r>
              <a:rPr sz="1100" dirty="0">
                <a:latin typeface="Georgia"/>
                <a:cs typeface="Georgia"/>
              </a:rPr>
              <a:t>to</a:t>
            </a:r>
            <a:r>
              <a:rPr sz="1100" spc="30" dirty="0">
                <a:latin typeface="Georgia"/>
                <a:cs typeface="Georgia"/>
              </a:rPr>
              <a:t> </a:t>
            </a:r>
            <a:r>
              <a:rPr sz="1100" spc="-35" dirty="0">
                <a:latin typeface="Georgia"/>
                <a:cs typeface="Georgia"/>
              </a:rPr>
              <a:t>determine</a:t>
            </a:r>
            <a:r>
              <a:rPr sz="1100" spc="35"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closest</a:t>
            </a:r>
            <a:r>
              <a:rPr sz="1100" spc="30" dirty="0">
                <a:latin typeface="Georgia"/>
                <a:cs typeface="Georgia"/>
              </a:rPr>
              <a:t> </a:t>
            </a:r>
            <a:r>
              <a:rPr sz="1100" dirty="0">
                <a:latin typeface="Georgia"/>
                <a:cs typeface="Georgia"/>
              </a:rPr>
              <a:t>pair</a:t>
            </a:r>
            <a:r>
              <a:rPr sz="1100" spc="30" dirty="0">
                <a:latin typeface="Georgia"/>
                <a:cs typeface="Georgia"/>
              </a:rPr>
              <a:t> </a:t>
            </a:r>
            <a:r>
              <a:rPr sz="1100" dirty="0">
                <a:latin typeface="Georgia"/>
                <a:cs typeface="Georgia"/>
              </a:rPr>
              <a:t>of</a:t>
            </a:r>
            <a:r>
              <a:rPr sz="1100" spc="30" dirty="0">
                <a:latin typeface="Georgia"/>
                <a:cs typeface="Georgia"/>
              </a:rPr>
              <a:t> </a:t>
            </a:r>
            <a:r>
              <a:rPr sz="1100" spc="-10" dirty="0">
                <a:latin typeface="Georgia"/>
                <a:cs typeface="Georgia"/>
              </a:rPr>
              <a:t>clusters.</a:t>
            </a:r>
            <a:endParaRPr sz="1100">
              <a:latin typeface="Georgia"/>
              <a:cs typeface="Georgia"/>
            </a:endParaRPr>
          </a:p>
          <a:p>
            <a:pPr marL="50800" marR="43180">
              <a:lnSpc>
                <a:spcPts val="1150"/>
              </a:lnSpc>
              <a:spcBef>
                <a:spcPts val="735"/>
              </a:spcBef>
            </a:pPr>
            <a:r>
              <a:rPr sz="1100" dirty="0">
                <a:latin typeface="Georgia"/>
                <a:cs typeface="Georgia"/>
              </a:rPr>
              <a:t>The</a:t>
            </a:r>
            <a:r>
              <a:rPr sz="1100" spc="25" dirty="0">
                <a:latin typeface="Georgia"/>
                <a:cs typeface="Georgia"/>
              </a:rPr>
              <a:t> </a:t>
            </a:r>
            <a:r>
              <a:rPr sz="1100" spc="-35" dirty="0">
                <a:latin typeface="Georgia"/>
                <a:cs typeface="Georgia"/>
              </a:rPr>
              <a:t>cluster–cluster</a:t>
            </a:r>
            <a:r>
              <a:rPr sz="1100" spc="25" dirty="0">
                <a:latin typeface="Georgia"/>
                <a:cs typeface="Georgia"/>
              </a:rPr>
              <a:t> </a:t>
            </a:r>
            <a:r>
              <a:rPr sz="1100" spc="-20" dirty="0">
                <a:latin typeface="Georgia"/>
                <a:cs typeface="Georgia"/>
              </a:rPr>
              <a:t>distances</a:t>
            </a:r>
            <a:r>
              <a:rPr sz="1100" spc="30" dirty="0">
                <a:latin typeface="Georgia"/>
                <a:cs typeface="Georgia"/>
              </a:rPr>
              <a:t> </a:t>
            </a:r>
            <a:r>
              <a:rPr sz="1100" dirty="0">
                <a:latin typeface="Georgia"/>
                <a:cs typeface="Georgia"/>
              </a:rPr>
              <a:t>are</a:t>
            </a:r>
            <a:r>
              <a:rPr sz="1100" spc="25" dirty="0">
                <a:latin typeface="Georgia"/>
                <a:cs typeface="Georgia"/>
              </a:rPr>
              <a:t> </a:t>
            </a:r>
            <a:r>
              <a:rPr sz="1100" dirty="0">
                <a:latin typeface="Georgia"/>
                <a:cs typeface="Georgia"/>
              </a:rPr>
              <a:t>ultimately</a:t>
            </a:r>
            <a:r>
              <a:rPr sz="1100" spc="30" dirty="0">
                <a:latin typeface="Georgia"/>
                <a:cs typeface="Georgia"/>
              </a:rPr>
              <a:t> </a:t>
            </a:r>
            <a:r>
              <a:rPr sz="1100" spc="-10" dirty="0">
                <a:latin typeface="Georgia"/>
                <a:cs typeface="Georgia"/>
              </a:rPr>
              <a:t>based</a:t>
            </a:r>
            <a:r>
              <a:rPr sz="1100" spc="25" dirty="0">
                <a:latin typeface="Georgia"/>
                <a:cs typeface="Georgia"/>
              </a:rPr>
              <a:t> </a:t>
            </a:r>
            <a:r>
              <a:rPr sz="1100" dirty="0">
                <a:latin typeface="Georgia"/>
                <a:cs typeface="Georgia"/>
              </a:rPr>
              <a:t>on</a:t>
            </a:r>
            <a:r>
              <a:rPr sz="1100" spc="30" dirty="0">
                <a:latin typeface="Georgia"/>
                <a:cs typeface="Georgia"/>
              </a:rPr>
              <a:t> </a:t>
            </a:r>
            <a:r>
              <a:rPr sz="1100" dirty="0">
                <a:latin typeface="Georgia"/>
                <a:cs typeface="Georgia"/>
              </a:rPr>
              <a:t>the</a:t>
            </a:r>
            <a:r>
              <a:rPr sz="1100" spc="25" dirty="0">
                <a:latin typeface="Georgia"/>
                <a:cs typeface="Georgia"/>
              </a:rPr>
              <a:t> </a:t>
            </a:r>
            <a:r>
              <a:rPr sz="1100" spc="-20" dirty="0">
                <a:latin typeface="Georgia"/>
                <a:cs typeface="Georgia"/>
              </a:rPr>
              <a:t>distance</a:t>
            </a:r>
            <a:r>
              <a:rPr sz="1100" spc="25" dirty="0">
                <a:latin typeface="Georgia"/>
                <a:cs typeface="Georgia"/>
              </a:rPr>
              <a:t> </a:t>
            </a:r>
            <a:r>
              <a:rPr sz="1100" spc="-30" dirty="0">
                <a:latin typeface="Georgia"/>
                <a:cs typeface="Georgia"/>
              </a:rPr>
              <a:t>between</a:t>
            </a:r>
            <a:r>
              <a:rPr sz="1100" spc="30" dirty="0">
                <a:latin typeface="Georgia"/>
                <a:cs typeface="Georgia"/>
              </a:rPr>
              <a:t> </a:t>
            </a:r>
            <a:r>
              <a:rPr sz="1100" spc="-25" dirty="0">
                <a:latin typeface="Georgia"/>
                <a:cs typeface="Georgia"/>
              </a:rPr>
              <a:t>two </a:t>
            </a:r>
            <a:r>
              <a:rPr sz="1100" spc="-10" dirty="0">
                <a:latin typeface="Georgia"/>
                <a:cs typeface="Georgia"/>
              </a:rPr>
              <a:t>points,</a:t>
            </a:r>
            <a:r>
              <a:rPr sz="1100" spc="25" dirty="0">
                <a:latin typeface="Georgia"/>
                <a:cs typeface="Georgia"/>
              </a:rPr>
              <a:t> </a:t>
            </a:r>
            <a:r>
              <a:rPr sz="1100" spc="-20" dirty="0">
                <a:latin typeface="Georgia"/>
                <a:cs typeface="Georgia"/>
              </a:rPr>
              <a:t>which</a:t>
            </a:r>
            <a:r>
              <a:rPr sz="1100" spc="25" dirty="0">
                <a:latin typeface="Georgia"/>
                <a:cs typeface="Georgia"/>
              </a:rPr>
              <a:t> </a:t>
            </a:r>
            <a:r>
              <a:rPr sz="1100" dirty="0">
                <a:latin typeface="Georgia"/>
                <a:cs typeface="Georgia"/>
              </a:rPr>
              <a:t>is</a:t>
            </a:r>
            <a:r>
              <a:rPr sz="1100" spc="25" dirty="0">
                <a:latin typeface="Georgia"/>
                <a:cs typeface="Georgia"/>
              </a:rPr>
              <a:t> </a:t>
            </a:r>
            <a:r>
              <a:rPr sz="1100" dirty="0">
                <a:latin typeface="Georgia"/>
                <a:cs typeface="Georgia"/>
              </a:rPr>
              <a:t>typically</a:t>
            </a:r>
            <a:r>
              <a:rPr sz="1100" spc="30" dirty="0">
                <a:latin typeface="Georgia"/>
                <a:cs typeface="Georgia"/>
              </a:rPr>
              <a:t> </a:t>
            </a:r>
            <a:r>
              <a:rPr sz="1100" spc="-25" dirty="0">
                <a:latin typeface="Georgia"/>
                <a:cs typeface="Georgia"/>
              </a:rPr>
              <a:t>computed</a:t>
            </a:r>
            <a:r>
              <a:rPr sz="1100" spc="25" dirty="0">
                <a:latin typeface="Georgia"/>
                <a:cs typeface="Georgia"/>
              </a:rPr>
              <a:t> </a:t>
            </a:r>
            <a:r>
              <a:rPr sz="1100" spc="-20" dirty="0">
                <a:latin typeface="Georgia"/>
                <a:cs typeface="Georgia"/>
              </a:rPr>
              <a:t>using</a:t>
            </a:r>
            <a:r>
              <a:rPr sz="1100" spc="25" dirty="0">
                <a:latin typeface="Georgia"/>
                <a:cs typeface="Georgia"/>
              </a:rPr>
              <a:t> </a:t>
            </a:r>
            <a:r>
              <a:rPr sz="1100" dirty="0">
                <a:latin typeface="Georgia"/>
                <a:cs typeface="Georgia"/>
              </a:rPr>
              <a:t>the</a:t>
            </a:r>
            <a:r>
              <a:rPr sz="1100" spc="25" dirty="0">
                <a:latin typeface="Georgia"/>
                <a:cs typeface="Georgia"/>
              </a:rPr>
              <a:t> </a:t>
            </a:r>
            <a:r>
              <a:rPr sz="1100" spc="-20" dirty="0">
                <a:latin typeface="Georgia"/>
                <a:cs typeface="Georgia"/>
              </a:rPr>
              <a:t>Euclidean</a:t>
            </a:r>
            <a:r>
              <a:rPr sz="1100" spc="30" dirty="0">
                <a:latin typeface="Georgia"/>
                <a:cs typeface="Georgia"/>
              </a:rPr>
              <a:t> </a:t>
            </a:r>
            <a:r>
              <a:rPr sz="1100" spc="-20" dirty="0">
                <a:latin typeface="Georgia"/>
                <a:cs typeface="Georgia"/>
              </a:rPr>
              <a:t>distance</a:t>
            </a:r>
            <a:r>
              <a:rPr sz="1100" spc="25" dirty="0">
                <a:latin typeface="Georgia"/>
                <a:cs typeface="Georgia"/>
              </a:rPr>
              <a:t> </a:t>
            </a:r>
            <a:r>
              <a:rPr sz="1100" dirty="0">
                <a:latin typeface="Georgia"/>
                <a:cs typeface="Georgia"/>
              </a:rPr>
              <a:t>or</a:t>
            </a:r>
            <a:r>
              <a:rPr sz="1100" spc="25" dirty="0">
                <a:latin typeface="Georgia"/>
                <a:cs typeface="Georgia"/>
              </a:rPr>
              <a:t> </a:t>
            </a:r>
            <a:r>
              <a:rPr sz="1100" i="1" spc="-10" dirty="0">
                <a:latin typeface="Calibri"/>
                <a:cs typeface="Calibri"/>
              </a:rPr>
              <a:t>L</a:t>
            </a:r>
            <a:r>
              <a:rPr sz="1200" spc="-15" baseline="-10416" dirty="0">
                <a:latin typeface="Calibri"/>
                <a:cs typeface="Calibri"/>
              </a:rPr>
              <a:t>2</a:t>
            </a:r>
            <a:r>
              <a:rPr sz="1100" spc="-10" dirty="0">
                <a:latin typeface="Georgia"/>
                <a:cs typeface="Georgia"/>
              </a:rPr>
              <a:t>–norm, </a:t>
            </a:r>
            <a:r>
              <a:rPr sz="1100" spc="-40" dirty="0">
                <a:latin typeface="Georgia"/>
                <a:cs typeface="Georgia"/>
              </a:rPr>
              <a:t>defined</a:t>
            </a:r>
            <a:r>
              <a:rPr sz="1100" spc="35" dirty="0">
                <a:latin typeface="Georgia"/>
                <a:cs typeface="Georgia"/>
              </a:rPr>
              <a:t> </a:t>
            </a:r>
            <a:r>
              <a:rPr sz="1100" spc="-25" dirty="0">
                <a:latin typeface="Georgia"/>
                <a:cs typeface="Georgia"/>
              </a:rPr>
              <a:t>as</a:t>
            </a:r>
            <a:endParaRPr sz="1100">
              <a:latin typeface="Georgia"/>
              <a:cs typeface="Georgia"/>
            </a:endParaRPr>
          </a:p>
          <a:p>
            <a:pPr marL="727710" algn="ctr">
              <a:lnSpc>
                <a:spcPct val="100000"/>
              </a:lnSpc>
              <a:spcBef>
                <a:spcPts val="15"/>
              </a:spcBef>
            </a:pPr>
            <a:r>
              <a:rPr sz="1100" spc="-525" dirty="0">
                <a:latin typeface="Segoe UI Symbol"/>
                <a:cs typeface="Segoe UI Symbol"/>
              </a:rPr>
              <a:t>v</a:t>
            </a:r>
            <a:endParaRPr sz="1100">
              <a:latin typeface="Segoe UI Symbol"/>
              <a:cs typeface="Segoe UI Symbol"/>
            </a:endParaRPr>
          </a:p>
        </p:txBody>
      </p:sp>
      <p:sp>
        <p:nvSpPr>
          <p:cNvPr id="13" name="object 13"/>
          <p:cNvSpPr txBox="1"/>
          <p:nvPr/>
        </p:nvSpPr>
        <p:spPr>
          <a:xfrm>
            <a:off x="454177" y="1919540"/>
            <a:ext cx="5093970" cy="614680"/>
          </a:xfrm>
          <a:prstGeom prst="rect">
            <a:avLst/>
          </a:prstGeom>
        </p:spPr>
        <p:txBody>
          <a:bodyPr vert="horz" wrap="square" lIns="0" tIns="12065" rIns="0" bIns="0" rtlCol="0">
            <a:spAutoFit/>
          </a:bodyPr>
          <a:lstStyle/>
          <a:p>
            <a:pPr marL="925194" algn="ctr">
              <a:lnSpc>
                <a:spcPct val="100000"/>
              </a:lnSpc>
              <a:spcBef>
                <a:spcPts val="95"/>
              </a:spcBef>
            </a:pPr>
            <a:endParaRPr sz="800">
              <a:latin typeface="Calibri"/>
              <a:cs typeface="Calibri"/>
            </a:endParaRPr>
          </a:p>
          <a:p>
            <a:pPr>
              <a:lnSpc>
                <a:spcPct val="100000"/>
              </a:lnSpc>
              <a:spcBef>
                <a:spcPts val="415"/>
              </a:spcBef>
            </a:pPr>
            <a:endParaRPr sz="800">
              <a:latin typeface="Calibri"/>
              <a:cs typeface="Calibri"/>
            </a:endParaRPr>
          </a:p>
          <a:p>
            <a:pPr marL="12700" marR="5080">
              <a:lnSpc>
                <a:spcPts val="1150"/>
              </a:lnSpc>
            </a:pPr>
            <a:r>
              <a:rPr sz="1100" dirty="0">
                <a:latin typeface="Georgia"/>
                <a:cs typeface="Georgia"/>
              </a:rPr>
              <a:t>There</a:t>
            </a:r>
            <a:r>
              <a:rPr sz="1100" spc="15" dirty="0">
                <a:latin typeface="Georgia"/>
                <a:cs typeface="Georgia"/>
              </a:rPr>
              <a:t> </a:t>
            </a:r>
            <a:r>
              <a:rPr sz="1100" dirty="0">
                <a:latin typeface="Georgia"/>
                <a:cs typeface="Georgia"/>
              </a:rPr>
              <a:t>are</a:t>
            </a:r>
            <a:r>
              <a:rPr sz="1100" spc="20" dirty="0">
                <a:latin typeface="Georgia"/>
                <a:cs typeface="Georgia"/>
              </a:rPr>
              <a:t> </a:t>
            </a:r>
            <a:r>
              <a:rPr sz="1100" spc="-25" dirty="0">
                <a:latin typeface="Georgia"/>
                <a:cs typeface="Georgia"/>
              </a:rPr>
              <a:t>several</a:t>
            </a:r>
            <a:r>
              <a:rPr sz="1100" spc="15" dirty="0">
                <a:latin typeface="Georgia"/>
                <a:cs typeface="Georgia"/>
              </a:rPr>
              <a:t> </a:t>
            </a:r>
            <a:r>
              <a:rPr sz="1100" spc="-10" dirty="0">
                <a:latin typeface="Georgia"/>
                <a:cs typeface="Georgia"/>
              </a:rPr>
              <a:t>ways</a:t>
            </a:r>
            <a:r>
              <a:rPr sz="1100" spc="20" dirty="0">
                <a:latin typeface="Georgia"/>
                <a:cs typeface="Georgia"/>
              </a:rPr>
              <a:t> </a:t>
            </a:r>
            <a:r>
              <a:rPr sz="1100" dirty="0">
                <a:latin typeface="Georgia"/>
                <a:cs typeface="Georgia"/>
              </a:rPr>
              <a:t>to</a:t>
            </a:r>
            <a:r>
              <a:rPr sz="1100" spc="20" dirty="0">
                <a:latin typeface="Georgia"/>
                <a:cs typeface="Georgia"/>
              </a:rPr>
              <a:t> </a:t>
            </a:r>
            <a:r>
              <a:rPr sz="1100" spc="-35" dirty="0">
                <a:latin typeface="Georgia"/>
                <a:cs typeface="Georgia"/>
              </a:rPr>
              <a:t>measure</a:t>
            </a:r>
            <a:r>
              <a:rPr sz="1100" spc="15" dirty="0">
                <a:latin typeface="Georgia"/>
                <a:cs typeface="Georgia"/>
              </a:rPr>
              <a:t> </a:t>
            </a:r>
            <a:r>
              <a:rPr sz="1100" dirty="0">
                <a:latin typeface="Georgia"/>
                <a:cs typeface="Georgia"/>
              </a:rPr>
              <a:t>the</a:t>
            </a:r>
            <a:r>
              <a:rPr sz="1100" spc="20" dirty="0">
                <a:latin typeface="Georgia"/>
                <a:cs typeface="Georgia"/>
              </a:rPr>
              <a:t> </a:t>
            </a:r>
            <a:r>
              <a:rPr sz="1100" spc="-10" dirty="0">
                <a:latin typeface="Georgia"/>
                <a:cs typeface="Georgia"/>
              </a:rPr>
              <a:t>proximity</a:t>
            </a:r>
            <a:r>
              <a:rPr sz="1100" spc="20" dirty="0">
                <a:latin typeface="Georgia"/>
                <a:cs typeface="Georgia"/>
              </a:rPr>
              <a:t> </a:t>
            </a:r>
            <a:r>
              <a:rPr sz="1100" spc="-30" dirty="0">
                <a:latin typeface="Georgia"/>
                <a:cs typeface="Georgia"/>
              </a:rPr>
              <a:t>between</a:t>
            </a:r>
            <a:r>
              <a:rPr sz="1100" spc="15" dirty="0">
                <a:latin typeface="Georgia"/>
                <a:cs typeface="Georgia"/>
              </a:rPr>
              <a:t> </a:t>
            </a:r>
            <a:r>
              <a:rPr sz="1100" dirty="0">
                <a:latin typeface="Georgia"/>
                <a:cs typeface="Georgia"/>
              </a:rPr>
              <a:t>two</a:t>
            </a:r>
            <a:r>
              <a:rPr sz="1100" spc="20" dirty="0">
                <a:latin typeface="Georgia"/>
                <a:cs typeface="Georgia"/>
              </a:rPr>
              <a:t> </a:t>
            </a:r>
            <a:r>
              <a:rPr sz="1100" spc="-20" dirty="0">
                <a:latin typeface="Georgia"/>
                <a:cs typeface="Georgia"/>
              </a:rPr>
              <a:t>clusters:</a:t>
            </a:r>
            <a:r>
              <a:rPr sz="1100" spc="110" dirty="0">
                <a:latin typeface="Georgia"/>
                <a:cs typeface="Georgia"/>
              </a:rPr>
              <a:t> </a:t>
            </a:r>
            <a:r>
              <a:rPr sz="1100" b="1" spc="-35" dirty="0">
                <a:latin typeface="Georgia"/>
                <a:cs typeface="Georgia"/>
              </a:rPr>
              <a:t>single</a:t>
            </a:r>
            <a:r>
              <a:rPr sz="1100" b="1" spc="45" dirty="0">
                <a:latin typeface="Georgia"/>
                <a:cs typeface="Georgia"/>
              </a:rPr>
              <a:t> </a:t>
            </a:r>
            <a:r>
              <a:rPr sz="1100" b="1" spc="-10" dirty="0">
                <a:latin typeface="Georgia"/>
                <a:cs typeface="Georgia"/>
              </a:rPr>
              <a:t>link</a:t>
            </a:r>
            <a:r>
              <a:rPr sz="1100" spc="-10" dirty="0">
                <a:latin typeface="Georgia"/>
                <a:cs typeface="Georgia"/>
              </a:rPr>
              <a:t>, </a:t>
            </a:r>
            <a:r>
              <a:rPr sz="1100" b="1" spc="-35" dirty="0">
                <a:latin typeface="Georgia"/>
                <a:cs typeface="Georgia"/>
              </a:rPr>
              <a:t>complete</a:t>
            </a:r>
            <a:r>
              <a:rPr sz="1100" b="1" spc="35" dirty="0">
                <a:latin typeface="Georgia"/>
                <a:cs typeface="Georgia"/>
              </a:rPr>
              <a:t> </a:t>
            </a:r>
            <a:r>
              <a:rPr sz="1100" b="1" spc="-20" dirty="0">
                <a:latin typeface="Georgia"/>
                <a:cs typeface="Georgia"/>
              </a:rPr>
              <a:t>link</a:t>
            </a:r>
            <a:r>
              <a:rPr sz="1100" spc="-20" dirty="0">
                <a:latin typeface="Georgia"/>
                <a:cs typeface="Georgia"/>
              </a:rPr>
              <a:t>,</a:t>
            </a:r>
            <a:r>
              <a:rPr sz="1100" spc="10" dirty="0">
                <a:latin typeface="Georgia"/>
                <a:cs typeface="Georgia"/>
              </a:rPr>
              <a:t> </a:t>
            </a:r>
            <a:r>
              <a:rPr sz="1100" b="1" spc="-35" dirty="0">
                <a:latin typeface="Georgia"/>
                <a:cs typeface="Georgia"/>
              </a:rPr>
              <a:t>average</a:t>
            </a:r>
            <a:r>
              <a:rPr sz="1100" b="1" spc="35" dirty="0">
                <a:latin typeface="Georgia"/>
                <a:cs typeface="Georgia"/>
              </a:rPr>
              <a:t> </a:t>
            </a:r>
            <a:r>
              <a:rPr sz="1100" b="1" spc="-25" dirty="0">
                <a:latin typeface="Georgia"/>
                <a:cs typeface="Georgia"/>
              </a:rPr>
              <a:t>link</a:t>
            </a:r>
            <a:r>
              <a:rPr sz="1100" spc="-25" dirty="0">
                <a:latin typeface="Georgia"/>
                <a:cs typeface="Georgia"/>
              </a:rPr>
              <a:t>,</a:t>
            </a:r>
            <a:r>
              <a:rPr sz="1100" spc="10" dirty="0">
                <a:latin typeface="Georgia"/>
                <a:cs typeface="Georgia"/>
              </a:rPr>
              <a:t> </a:t>
            </a:r>
            <a:r>
              <a:rPr sz="1100" b="1" spc="-40" dirty="0">
                <a:latin typeface="Georgia"/>
                <a:cs typeface="Georgia"/>
              </a:rPr>
              <a:t>centroid</a:t>
            </a:r>
            <a:r>
              <a:rPr sz="1100" b="1" spc="35" dirty="0">
                <a:latin typeface="Georgia"/>
                <a:cs typeface="Georgia"/>
              </a:rPr>
              <a:t> </a:t>
            </a:r>
            <a:r>
              <a:rPr sz="1100" b="1" spc="-20" dirty="0">
                <a:latin typeface="Georgia"/>
                <a:cs typeface="Georgia"/>
              </a:rPr>
              <a:t>link</a:t>
            </a:r>
            <a:r>
              <a:rPr sz="1100" spc="-20" dirty="0">
                <a:latin typeface="Georgia"/>
                <a:cs typeface="Georgia"/>
              </a:rPr>
              <a:t>,</a:t>
            </a:r>
            <a:r>
              <a:rPr sz="1100" spc="10" dirty="0">
                <a:latin typeface="Georgia"/>
                <a:cs typeface="Georgia"/>
              </a:rPr>
              <a:t> </a:t>
            </a:r>
            <a:r>
              <a:rPr sz="1100" b="1" spc="-40" dirty="0">
                <a:latin typeface="Georgia"/>
                <a:cs typeface="Georgia"/>
              </a:rPr>
              <a:t>radius</a:t>
            </a:r>
            <a:r>
              <a:rPr sz="1100" spc="-40" dirty="0">
                <a:latin typeface="Georgia"/>
                <a:cs typeface="Georgia"/>
              </a:rPr>
              <a:t>,</a:t>
            </a:r>
            <a:r>
              <a:rPr sz="1100" spc="10" dirty="0">
                <a:latin typeface="Georgia"/>
                <a:cs typeface="Georgia"/>
              </a:rPr>
              <a:t> </a:t>
            </a:r>
            <a:r>
              <a:rPr sz="1100" dirty="0">
                <a:latin typeface="Georgia"/>
                <a:cs typeface="Georgia"/>
              </a:rPr>
              <a:t>and</a:t>
            </a:r>
            <a:r>
              <a:rPr sz="1100" spc="5" dirty="0">
                <a:latin typeface="Georgia"/>
                <a:cs typeface="Georgia"/>
              </a:rPr>
              <a:t> </a:t>
            </a:r>
            <a:r>
              <a:rPr sz="1100" b="1" spc="-10" dirty="0">
                <a:latin typeface="Georgia"/>
                <a:cs typeface="Georgia"/>
              </a:rPr>
              <a:t>diameter</a:t>
            </a:r>
            <a:r>
              <a:rPr sz="1100" spc="-10" dirty="0">
                <a:latin typeface="Georgia"/>
                <a:cs typeface="Georgia"/>
              </a:rPr>
              <a:t>.</a:t>
            </a:r>
            <a:endParaRPr sz="1100">
              <a:latin typeface="Georgia"/>
              <a:cs typeface="Georgia"/>
            </a:endParaRPr>
          </a:p>
        </p:txBody>
      </p:sp>
      <p:sp>
        <p:nvSpPr>
          <p:cNvPr id="15" name="object 15"/>
          <p:cNvSpPr txBox="1"/>
          <p:nvPr/>
        </p:nvSpPr>
        <p:spPr>
          <a:xfrm>
            <a:off x="5312587" y="1716009"/>
            <a:ext cx="270510" cy="191770"/>
          </a:xfrm>
          <a:prstGeom prst="rect">
            <a:avLst/>
          </a:prstGeom>
        </p:spPr>
        <p:txBody>
          <a:bodyPr vert="horz" wrap="square" lIns="0" tIns="11430" rIns="0" bIns="0" rtlCol="0">
            <a:spAutoFit/>
          </a:bodyPr>
          <a:lstStyle/>
          <a:p>
            <a:pPr marL="12700">
              <a:lnSpc>
                <a:spcPct val="100000"/>
              </a:lnSpc>
              <a:spcBef>
                <a:spcPts val="90"/>
              </a:spcBef>
            </a:pPr>
            <a:r>
              <a:rPr sz="1100" spc="-20" dirty="0">
                <a:latin typeface="Georgia"/>
                <a:cs typeface="Georgia"/>
              </a:rPr>
              <a:t>(10)</a:t>
            </a:r>
            <a:endParaRPr sz="1100">
              <a:latin typeface="Georgia"/>
              <a:cs typeface="Georgia"/>
            </a:endParaRPr>
          </a:p>
        </p:txBody>
      </p:sp>
      <p:sp>
        <p:nvSpPr>
          <p:cNvPr id="16" name="object 16"/>
          <p:cNvSpPr/>
          <p:nvPr/>
        </p:nvSpPr>
        <p:spPr>
          <a:xfrm>
            <a:off x="337972" y="228782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7" name="object 17"/>
          <p:cNvGrpSpPr/>
          <p:nvPr/>
        </p:nvGrpSpPr>
        <p:grpSpPr>
          <a:xfrm>
            <a:off x="0" y="3121545"/>
            <a:ext cx="5760085" cy="118745"/>
            <a:chOff x="0" y="3121545"/>
            <a:chExt cx="5760085" cy="118745"/>
          </a:xfrm>
        </p:grpSpPr>
        <p:sp>
          <p:nvSpPr>
            <p:cNvPr id="18" name="object 18"/>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9" name="object 19"/>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20" name="object 20"/>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21" name="object 21"/>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22" name="object 22"/>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44</a:t>
            </a:fld>
            <a:r>
              <a:rPr spc="5" dirty="0"/>
              <a:t> </a:t>
            </a:r>
            <a:r>
              <a:rPr spc="75" dirty="0"/>
              <a:t>/</a:t>
            </a:r>
            <a:r>
              <a:rPr spc="10" dirty="0"/>
              <a:t> </a:t>
            </a:r>
            <a:r>
              <a:rPr spc="35" dirty="0"/>
              <a:t>135</a:t>
            </a:r>
          </a:p>
        </p:txBody>
      </p:sp>
      <p:pic>
        <p:nvPicPr>
          <p:cNvPr id="23" name="Picture 22">
            <a:extLst>
              <a:ext uri="{FF2B5EF4-FFF2-40B4-BE49-F238E27FC236}">
                <a16:creationId xmlns:a16="http://schemas.microsoft.com/office/drawing/2014/main" id="{1EB6B76E-B13E-15FF-1BAB-A29FC298F60A}"/>
              </a:ext>
            </a:extLst>
          </p:cNvPr>
          <p:cNvPicPr>
            <a:picLocks noChangeAspect="1"/>
          </p:cNvPicPr>
          <p:nvPr/>
        </p:nvPicPr>
        <p:blipFill>
          <a:blip r:embed="rId3"/>
          <a:stretch>
            <a:fillRect/>
          </a:stretch>
        </p:blipFill>
        <p:spPr>
          <a:xfrm>
            <a:off x="1838655" y="1450548"/>
            <a:ext cx="2273300" cy="64890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Distance</a:t>
            </a:r>
            <a:r>
              <a:rPr spc="185" dirty="0"/>
              <a:t> </a:t>
            </a:r>
            <a:r>
              <a:rPr dirty="0"/>
              <a:t>between</a:t>
            </a:r>
            <a:r>
              <a:rPr spc="185" dirty="0"/>
              <a:t> </a:t>
            </a:r>
            <a:r>
              <a:rPr dirty="0"/>
              <a:t>clusters:</a:t>
            </a:r>
            <a:r>
              <a:rPr spc="370" dirty="0"/>
              <a:t> </a:t>
            </a:r>
            <a:r>
              <a:rPr dirty="0"/>
              <a:t>different</a:t>
            </a:r>
            <a:r>
              <a:rPr spc="190" dirty="0"/>
              <a:t> </a:t>
            </a:r>
            <a:r>
              <a:rPr dirty="0"/>
              <a:t>ways</a:t>
            </a:r>
            <a:r>
              <a:rPr spc="190" dirty="0"/>
              <a:t> </a:t>
            </a:r>
            <a:r>
              <a:rPr spc="55" dirty="0"/>
              <a:t>to</a:t>
            </a:r>
            <a:r>
              <a:rPr spc="190" dirty="0"/>
              <a:t> </a:t>
            </a:r>
            <a:r>
              <a:rPr dirty="0"/>
              <a:t>merge</a:t>
            </a:r>
            <a:r>
              <a:rPr spc="185" dirty="0"/>
              <a:t> </a:t>
            </a:r>
            <a:r>
              <a:rPr dirty="0"/>
              <a:t>clusters</a:t>
            </a:r>
            <a:r>
              <a:rPr spc="190" dirty="0"/>
              <a:t> </a:t>
            </a:r>
            <a:r>
              <a:rPr spc="-10" dirty="0"/>
              <a:t>(cont’d)</a:t>
            </a:r>
          </a:p>
        </p:txBody>
      </p:sp>
      <p:sp>
        <p:nvSpPr>
          <p:cNvPr id="3" name="object 3"/>
          <p:cNvSpPr/>
          <p:nvPr/>
        </p:nvSpPr>
        <p:spPr>
          <a:xfrm>
            <a:off x="337972" y="726554"/>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28777" y="595389"/>
            <a:ext cx="5180330" cy="548640"/>
          </a:xfrm>
          <a:prstGeom prst="rect">
            <a:avLst/>
          </a:prstGeom>
        </p:spPr>
        <p:txBody>
          <a:bodyPr vert="horz" wrap="square" lIns="0" tIns="50800" rIns="0" bIns="0" rtlCol="0">
            <a:spAutoFit/>
          </a:bodyPr>
          <a:lstStyle/>
          <a:p>
            <a:pPr marL="38100">
              <a:lnSpc>
                <a:spcPct val="100000"/>
              </a:lnSpc>
              <a:spcBef>
                <a:spcPts val="400"/>
              </a:spcBef>
            </a:pPr>
            <a:r>
              <a:rPr sz="1100" b="1" spc="-25" dirty="0">
                <a:latin typeface="Georgia"/>
                <a:cs typeface="Georgia"/>
              </a:rPr>
              <a:t>Single</a:t>
            </a:r>
            <a:r>
              <a:rPr sz="1100" b="1" spc="20" dirty="0">
                <a:latin typeface="Georgia"/>
                <a:cs typeface="Georgia"/>
              </a:rPr>
              <a:t> </a:t>
            </a:r>
            <a:r>
              <a:rPr sz="1100" b="1" spc="-10" dirty="0">
                <a:latin typeface="Georgia"/>
                <a:cs typeface="Georgia"/>
              </a:rPr>
              <a:t>link</a:t>
            </a:r>
            <a:r>
              <a:rPr sz="1100" spc="-10" dirty="0">
                <a:latin typeface="Georgia"/>
                <a:cs typeface="Georgia"/>
              </a:rPr>
              <a:t>:</a:t>
            </a:r>
            <a:endParaRPr sz="1100">
              <a:latin typeface="Georgia"/>
              <a:cs typeface="Georgia"/>
            </a:endParaRPr>
          </a:p>
          <a:p>
            <a:pPr marL="314960" marR="30480">
              <a:lnSpc>
                <a:spcPts val="1019"/>
              </a:lnSpc>
              <a:spcBef>
                <a:spcPts val="465"/>
              </a:spcBef>
            </a:pPr>
            <a:r>
              <a:rPr sz="1000" dirty="0">
                <a:latin typeface="Georgia"/>
                <a:cs typeface="Georgia"/>
              </a:rPr>
              <a:t>Given</a:t>
            </a:r>
            <a:r>
              <a:rPr sz="1000" spc="-5" dirty="0">
                <a:latin typeface="Georgia"/>
                <a:cs typeface="Georgia"/>
              </a:rPr>
              <a:t> </a:t>
            </a:r>
            <a:r>
              <a:rPr sz="1000" dirty="0">
                <a:latin typeface="Georgia"/>
                <a:cs typeface="Georgia"/>
              </a:rPr>
              <a:t>two</a:t>
            </a:r>
            <a:r>
              <a:rPr sz="1000" spc="35" dirty="0">
                <a:latin typeface="Georgia"/>
                <a:cs typeface="Georgia"/>
              </a:rPr>
              <a:t> </a:t>
            </a:r>
            <a:r>
              <a:rPr sz="1000" spc="-10" dirty="0">
                <a:latin typeface="Georgia"/>
                <a:cs typeface="Georgia"/>
              </a:rPr>
              <a:t>clusters</a:t>
            </a:r>
            <a:r>
              <a:rPr sz="1000" spc="35" dirty="0">
                <a:latin typeface="Georgia"/>
                <a:cs typeface="Georgia"/>
              </a:rPr>
              <a:t> </a:t>
            </a:r>
            <a:r>
              <a:rPr sz="1000" i="1" spc="150" dirty="0">
                <a:latin typeface="Calibri"/>
                <a:cs typeface="Calibri"/>
              </a:rPr>
              <a:t>C</a:t>
            </a:r>
            <a:r>
              <a:rPr sz="1050" i="1" spc="225" baseline="-11904" dirty="0">
                <a:latin typeface="Calibri"/>
                <a:cs typeface="Calibri"/>
              </a:rPr>
              <a:t>i</a:t>
            </a:r>
            <a:r>
              <a:rPr sz="1050" i="1" spc="240" baseline="-11904" dirty="0">
                <a:latin typeface="Calibri"/>
                <a:cs typeface="Calibri"/>
              </a:rPr>
              <a:t> </a:t>
            </a:r>
            <a:r>
              <a:rPr sz="1000" dirty="0">
                <a:latin typeface="Georgia"/>
                <a:cs typeface="Georgia"/>
              </a:rPr>
              <a:t>and</a:t>
            </a:r>
            <a:r>
              <a:rPr sz="1000" spc="30" dirty="0">
                <a:latin typeface="Georgia"/>
                <a:cs typeface="Georgia"/>
              </a:rPr>
              <a:t> </a:t>
            </a:r>
            <a:r>
              <a:rPr sz="1000" i="1" spc="170" dirty="0">
                <a:latin typeface="Calibri"/>
                <a:cs typeface="Calibri"/>
              </a:rPr>
              <a:t>C</a:t>
            </a:r>
            <a:r>
              <a:rPr sz="1050" i="1" spc="254" baseline="-11904" dirty="0">
                <a:latin typeface="Calibri"/>
                <a:cs typeface="Calibri"/>
              </a:rPr>
              <a:t>j</a:t>
            </a:r>
            <a:r>
              <a:rPr sz="1050" i="1" spc="307" baseline="-11904" dirty="0">
                <a:latin typeface="Calibri"/>
                <a:cs typeface="Calibri"/>
              </a:rPr>
              <a:t> </a:t>
            </a:r>
            <a:r>
              <a:rPr sz="1000" dirty="0">
                <a:latin typeface="Georgia"/>
                <a:cs typeface="Georgia"/>
              </a:rPr>
              <a:t>,</a:t>
            </a:r>
            <a:r>
              <a:rPr sz="1000" spc="35" dirty="0">
                <a:latin typeface="Georgia"/>
                <a:cs typeface="Georgia"/>
              </a:rPr>
              <a:t> </a:t>
            </a:r>
            <a:r>
              <a:rPr sz="1000" dirty="0">
                <a:latin typeface="Georgia"/>
                <a:cs typeface="Georgia"/>
              </a:rPr>
              <a:t>the</a:t>
            </a:r>
            <a:r>
              <a:rPr sz="1000" spc="35" dirty="0">
                <a:latin typeface="Georgia"/>
                <a:cs typeface="Georgia"/>
              </a:rPr>
              <a:t> </a:t>
            </a:r>
            <a:r>
              <a:rPr sz="1000" spc="-10" dirty="0">
                <a:latin typeface="Georgia"/>
                <a:cs typeface="Georgia"/>
              </a:rPr>
              <a:t>distance</a:t>
            </a:r>
            <a:r>
              <a:rPr sz="1000" spc="35" dirty="0">
                <a:latin typeface="Georgia"/>
                <a:cs typeface="Georgia"/>
              </a:rPr>
              <a:t> </a:t>
            </a:r>
            <a:r>
              <a:rPr sz="1000" spc="-20" dirty="0">
                <a:latin typeface="Georgia"/>
                <a:cs typeface="Georgia"/>
              </a:rPr>
              <a:t>between</a:t>
            </a:r>
            <a:r>
              <a:rPr sz="1000" spc="30" dirty="0">
                <a:latin typeface="Georgia"/>
                <a:cs typeface="Georgia"/>
              </a:rPr>
              <a:t> </a:t>
            </a:r>
            <a:r>
              <a:rPr sz="1000" dirty="0">
                <a:latin typeface="Georgia"/>
                <a:cs typeface="Georgia"/>
              </a:rPr>
              <a:t>them,</a:t>
            </a:r>
            <a:r>
              <a:rPr sz="1000" spc="40" dirty="0">
                <a:latin typeface="Georgia"/>
                <a:cs typeface="Georgia"/>
              </a:rPr>
              <a:t> </a:t>
            </a:r>
            <a:r>
              <a:rPr sz="1000" spc="-20" dirty="0">
                <a:latin typeface="Georgia"/>
                <a:cs typeface="Georgia"/>
              </a:rPr>
              <a:t>denoted</a:t>
            </a:r>
            <a:r>
              <a:rPr sz="1000" spc="30" dirty="0">
                <a:latin typeface="Georgia"/>
                <a:cs typeface="Georgia"/>
              </a:rPr>
              <a:t> </a:t>
            </a:r>
            <a:r>
              <a:rPr sz="1000" i="1" spc="75" dirty="0">
                <a:latin typeface="Arial"/>
                <a:cs typeface="Arial"/>
              </a:rPr>
              <a:t>δ</a:t>
            </a:r>
            <a:r>
              <a:rPr sz="1000" spc="75" dirty="0">
                <a:latin typeface="Calibri"/>
                <a:cs typeface="Calibri"/>
              </a:rPr>
              <a:t>(</a:t>
            </a:r>
            <a:r>
              <a:rPr sz="1000" i="1" spc="75" dirty="0">
                <a:latin typeface="Calibri"/>
                <a:cs typeface="Calibri"/>
              </a:rPr>
              <a:t>C</a:t>
            </a:r>
            <a:r>
              <a:rPr sz="1050" i="1" spc="112" baseline="-11904" dirty="0">
                <a:latin typeface="Calibri"/>
                <a:cs typeface="Calibri"/>
              </a:rPr>
              <a:t>i</a:t>
            </a:r>
            <a:r>
              <a:rPr sz="1000" i="1" spc="75" dirty="0">
                <a:latin typeface="Calibri"/>
                <a:cs typeface="Calibri"/>
              </a:rPr>
              <a:t>,</a:t>
            </a:r>
            <a:r>
              <a:rPr sz="1000" i="1" spc="-60" dirty="0">
                <a:latin typeface="Calibri"/>
                <a:cs typeface="Calibri"/>
              </a:rPr>
              <a:t> </a:t>
            </a:r>
            <a:r>
              <a:rPr sz="1000" i="1" spc="170" dirty="0">
                <a:latin typeface="Calibri"/>
                <a:cs typeface="Calibri"/>
              </a:rPr>
              <a:t>C</a:t>
            </a:r>
            <a:r>
              <a:rPr sz="1050" i="1" spc="254" baseline="-11904" dirty="0">
                <a:latin typeface="Calibri"/>
                <a:cs typeface="Calibri"/>
              </a:rPr>
              <a:t>j</a:t>
            </a:r>
            <a:r>
              <a:rPr sz="1050" i="1" spc="-104" baseline="-11904" dirty="0">
                <a:latin typeface="Calibri"/>
                <a:cs typeface="Calibri"/>
              </a:rPr>
              <a:t> </a:t>
            </a:r>
            <a:r>
              <a:rPr sz="1000" spc="80" dirty="0">
                <a:latin typeface="Calibri"/>
                <a:cs typeface="Calibri"/>
              </a:rPr>
              <a:t>)</a:t>
            </a:r>
            <a:r>
              <a:rPr sz="1000" spc="55" dirty="0">
                <a:latin typeface="Calibri"/>
                <a:cs typeface="Calibri"/>
              </a:rPr>
              <a:t> </a:t>
            </a:r>
            <a:r>
              <a:rPr sz="1000" dirty="0">
                <a:latin typeface="Georgia"/>
                <a:cs typeface="Georgia"/>
              </a:rPr>
              <a:t>is</a:t>
            </a:r>
            <a:r>
              <a:rPr sz="1000" spc="35" dirty="0">
                <a:latin typeface="Georgia"/>
                <a:cs typeface="Georgia"/>
              </a:rPr>
              <a:t> </a:t>
            </a:r>
            <a:r>
              <a:rPr sz="1000" spc="-10" dirty="0">
                <a:latin typeface="Georgia"/>
                <a:cs typeface="Georgia"/>
              </a:rPr>
              <a:t>defined </a:t>
            </a:r>
            <a:r>
              <a:rPr sz="1000" dirty="0">
                <a:latin typeface="Georgia"/>
                <a:cs typeface="Georgia"/>
              </a:rPr>
              <a:t>as</a:t>
            </a:r>
            <a:r>
              <a:rPr sz="1000" spc="25" dirty="0">
                <a:latin typeface="Georgia"/>
                <a:cs typeface="Georgia"/>
              </a:rPr>
              <a:t> </a:t>
            </a:r>
            <a:r>
              <a:rPr sz="1000" dirty="0">
                <a:latin typeface="Georgia"/>
                <a:cs typeface="Georgia"/>
              </a:rPr>
              <a:t>the</a:t>
            </a:r>
            <a:r>
              <a:rPr sz="1000" spc="40" dirty="0">
                <a:latin typeface="Georgia"/>
                <a:cs typeface="Georgia"/>
              </a:rPr>
              <a:t> </a:t>
            </a:r>
            <a:r>
              <a:rPr sz="1000" b="1" spc="-45" dirty="0">
                <a:latin typeface="Georgia"/>
                <a:cs typeface="Georgia"/>
              </a:rPr>
              <a:t>minimum</a:t>
            </a:r>
            <a:r>
              <a:rPr sz="1000" b="1" spc="25" dirty="0">
                <a:latin typeface="Georgia"/>
                <a:cs typeface="Georgia"/>
              </a:rPr>
              <a:t> </a:t>
            </a:r>
            <a:r>
              <a:rPr sz="1000" spc="-10" dirty="0">
                <a:latin typeface="Georgia"/>
                <a:cs typeface="Georgia"/>
              </a:rPr>
              <a:t>distance</a:t>
            </a:r>
            <a:r>
              <a:rPr sz="1000" spc="40" dirty="0">
                <a:latin typeface="Georgia"/>
                <a:cs typeface="Georgia"/>
              </a:rPr>
              <a:t> </a:t>
            </a:r>
            <a:r>
              <a:rPr sz="1000" spc="-20" dirty="0">
                <a:latin typeface="Georgia"/>
                <a:cs typeface="Georgia"/>
              </a:rPr>
              <a:t>between</a:t>
            </a:r>
            <a:r>
              <a:rPr sz="1000" spc="45" dirty="0">
                <a:latin typeface="Georgia"/>
                <a:cs typeface="Georgia"/>
              </a:rPr>
              <a:t> </a:t>
            </a:r>
            <a:r>
              <a:rPr sz="1000" dirty="0">
                <a:latin typeface="Georgia"/>
                <a:cs typeface="Georgia"/>
              </a:rPr>
              <a:t>a</a:t>
            </a:r>
            <a:r>
              <a:rPr sz="1000" spc="40" dirty="0">
                <a:latin typeface="Georgia"/>
                <a:cs typeface="Georgia"/>
              </a:rPr>
              <a:t> </a:t>
            </a:r>
            <a:r>
              <a:rPr sz="1000" dirty="0">
                <a:latin typeface="Georgia"/>
                <a:cs typeface="Georgia"/>
              </a:rPr>
              <a:t>point</a:t>
            </a:r>
            <a:r>
              <a:rPr sz="1000" spc="40" dirty="0">
                <a:latin typeface="Georgia"/>
                <a:cs typeface="Georgia"/>
              </a:rPr>
              <a:t> </a:t>
            </a:r>
            <a:r>
              <a:rPr sz="1000" dirty="0">
                <a:latin typeface="Georgia"/>
                <a:cs typeface="Georgia"/>
              </a:rPr>
              <a:t>in</a:t>
            </a:r>
            <a:r>
              <a:rPr sz="1000" spc="40" dirty="0">
                <a:latin typeface="Georgia"/>
                <a:cs typeface="Georgia"/>
              </a:rPr>
              <a:t> </a:t>
            </a:r>
            <a:r>
              <a:rPr sz="1000" i="1" spc="150" dirty="0">
                <a:latin typeface="Calibri"/>
                <a:cs typeface="Calibri"/>
              </a:rPr>
              <a:t>C</a:t>
            </a:r>
            <a:r>
              <a:rPr sz="1050" i="1" spc="225" baseline="-11904" dirty="0">
                <a:latin typeface="Calibri"/>
                <a:cs typeface="Calibri"/>
              </a:rPr>
              <a:t>i</a:t>
            </a:r>
            <a:r>
              <a:rPr sz="1050" i="1" spc="254" baseline="-11904" dirty="0">
                <a:latin typeface="Calibri"/>
                <a:cs typeface="Calibri"/>
              </a:rPr>
              <a:t> </a:t>
            </a:r>
            <a:r>
              <a:rPr sz="1000" dirty="0">
                <a:latin typeface="Georgia"/>
                <a:cs typeface="Georgia"/>
              </a:rPr>
              <a:t>and</a:t>
            </a:r>
            <a:r>
              <a:rPr sz="1000" spc="40" dirty="0">
                <a:latin typeface="Georgia"/>
                <a:cs typeface="Georgia"/>
              </a:rPr>
              <a:t> </a:t>
            </a:r>
            <a:r>
              <a:rPr sz="1000" dirty="0">
                <a:latin typeface="Georgia"/>
                <a:cs typeface="Georgia"/>
              </a:rPr>
              <a:t>a</a:t>
            </a:r>
            <a:r>
              <a:rPr sz="1000" spc="40" dirty="0">
                <a:latin typeface="Georgia"/>
                <a:cs typeface="Georgia"/>
              </a:rPr>
              <a:t> </a:t>
            </a:r>
            <a:r>
              <a:rPr sz="1000" dirty="0">
                <a:latin typeface="Georgia"/>
                <a:cs typeface="Georgia"/>
              </a:rPr>
              <a:t>point</a:t>
            </a:r>
            <a:r>
              <a:rPr sz="1000" spc="40" dirty="0">
                <a:latin typeface="Georgia"/>
                <a:cs typeface="Georgia"/>
              </a:rPr>
              <a:t> </a:t>
            </a:r>
            <a:r>
              <a:rPr sz="1000" dirty="0">
                <a:latin typeface="Georgia"/>
                <a:cs typeface="Georgia"/>
              </a:rPr>
              <a:t>in</a:t>
            </a:r>
            <a:r>
              <a:rPr sz="1000" spc="35" dirty="0">
                <a:latin typeface="Georgia"/>
                <a:cs typeface="Georgia"/>
              </a:rPr>
              <a:t> </a:t>
            </a:r>
            <a:r>
              <a:rPr sz="1000" i="1" spc="170" dirty="0">
                <a:latin typeface="Calibri"/>
                <a:cs typeface="Calibri"/>
              </a:rPr>
              <a:t>C</a:t>
            </a:r>
            <a:r>
              <a:rPr sz="1050" i="1" spc="254" baseline="-11904" dirty="0">
                <a:latin typeface="Calibri"/>
                <a:cs typeface="Calibri"/>
              </a:rPr>
              <a:t>j</a:t>
            </a:r>
            <a:r>
              <a:rPr sz="1050" i="1" spc="-104" baseline="-11904" dirty="0">
                <a:latin typeface="Calibri"/>
                <a:cs typeface="Calibri"/>
              </a:rPr>
              <a:t> </a:t>
            </a:r>
            <a:r>
              <a:rPr sz="1000" spc="-50" dirty="0">
                <a:latin typeface="Georgia"/>
                <a:cs typeface="Georgia"/>
              </a:rPr>
              <a:t>:</a:t>
            </a:r>
            <a:endParaRPr sz="1000">
              <a:latin typeface="Georgia"/>
              <a:cs typeface="Georgia"/>
            </a:endParaRPr>
          </a:p>
        </p:txBody>
      </p:sp>
      <p:sp>
        <p:nvSpPr>
          <p:cNvPr id="5" name="object 5"/>
          <p:cNvSpPr txBox="1"/>
          <p:nvPr/>
        </p:nvSpPr>
        <p:spPr>
          <a:xfrm>
            <a:off x="5332628" y="1224500"/>
            <a:ext cx="250825"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Georgia"/>
                <a:cs typeface="Georgia"/>
              </a:rPr>
              <a:t>(11)</a:t>
            </a:r>
            <a:endParaRPr sz="1000">
              <a:latin typeface="Georgia"/>
              <a:cs typeface="Georgia"/>
            </a:endParaRPr>
          </a:p>
        </p:txBody>
      </p:sp>
      <p:sp>
        <p:nvSpPr>
          <p:cNvPr id="6" name="object 6"/>
          <p:cNvSpPr txBox="1"/>
          <p:nvPr/>
        </p:nvSpPr>
        <p:spPr>
          <a:xfrm>
            <a:off x="428777" y="1171365"/>
            <a:ext cx="4942840" cy="1001394"/>
          </a:xfrm>
          <a:prstGeom prst="rect">
            <a:avLst/>
          </a:prstGeom>
        </p:spPr>
        <p:txBody>
          <a:bodyPr vert="horz" wrap="square" lIns="0" tIns="65404" rIns="0" bIns="0" rtlCol="0">
            <a:spAutoFit/>
          </a:bodyPr>
          <a:lstStyle/>
          <a:p>
            <a:pPr marL="1584960">
              <a:lnSpc>
                <a:spcPct val="100000"/>
              </a:lnSpc>
              <a:spcBef>
                <a:spcPts val="515"/>
              </a:spcBef>
            </a:pPr>
            <a:r>
              <a:rPr sz="1000" i="1" spc="75" dirty="0">
                <a:latin typeface="Arial"/>
                <a:cs typeface="Arial"/>
              </a:rPr>
              <a:t>δ</a:t>
            </a:r>
            <a:r>
              <a:rPr sz="1000" spc="75" dirty="0">
                <a:latin typeface="Calibri"/>
                <a:cs typeface="Calibri"/>
              </a:rPr>
              <a:t>(</a:t>
            </a:r>
            <a:r>
              <a:rPr sz="1000" i="1" spc="75" dirty="0">
                <a:latin typeface="Calibri"/>
                <a:cs typeface="Calibri"/>
              </a:rPr>
              <a:t>C</a:t>
            </a:r>
            <a:r>
              <a:rPr sz="1050" i="1" spc="112" baseline="-11904" dirty="0">
                <a:latin typeface="Calibri"/>
                <a:cs typeface="Calibri"/>
              </a:rPr>
              <a:t>i</a:t>
            </a:r>
            <a:r>
              <a:rPr sz="1000" i="1" spc="75" dirty="0">
                <a:latin typeface="Calibri"/>
                <a:cs typeface="Calibri"/>
              </a:rPr>
              <a:t>,</a:t>
            </a:r>
            <a:r>
              <a:rPr sz="1000" i="1" spc="-55" dirty="0">
                <a:latin typeface="Calibri"/>
                <a:cs typeface="Calibri"/>
              </a:rPr>
              <a:t> </a:t>
            </a:r>
            <a:r>
              <a:rPr sz="1000" i="1" spc="170" dirty="0">
                <a:latin typeface="Calibri"/>
                <a:cs typeface="Calibri"/>
              </a:rPr>
              <a:t>C</a:t>
            </a:r>
            <a:r>
              <a:rPr sz="1050" i="1" spc="254" baseline="-11904" dirty="0">
                <a:latin typeface="Calibri"/>
                <a:cs typeface="Calibri"/>
              </a:rPr>
              <a:t>j</a:t>
            </a:r>
            <a:r>
              <a:rPr sz="1050" i="1" spc="-97" baseline="-11904" dirty="0">
                <a:latin typeface="Calibri"/>
                <a:cs typeface="Calibri"/>
              </a:rPr>
              <a:t> </a:t>
            </a:r>
            <a:r>
              <a:rPr sz="1000" spc="185" dirty="0">
                <a:latin typeface="Calibri"/>
                <a:cs typeface="Calibri"/>
              </a:rPr>
              <a:t>)</a:t>
            </a:r>
            <a:r>
              <a:rPr sz="1000" spc="15" dirty="0">
                <a:latin typeface="Calibri"/>
                <a:cs typeface="Calibri"/>
              </a:rPr>
              <a:t> </a:t>
            </a:r>
            <a:r>
              <a:rPr sz="1000" spc="225" dirty="0">
                <a:latin typeface="Calibri"/>
                <a:cs typeface="Calibri"/>
              </a:rPr>
              <a:t>=</a:t>
            </a:r>
            <a:r>
              <a:rPr sz="1000" spc="65" dirty="0">
                <a:latin typeface="Calibri"/>
                <a:cs typeface="Calibri"/>
              </a:rPr>
              <a:t> </a:t>
            </a:r>
            <a:r>
              <a:rPr sz="1000" dirty="0">
                <a:latin typeface="Georgia"/>
                <a:cs typeface="Georgia"/>
              </a:rPr>
              <a:t>min</a:t>
            </a:r>
            <a:r>
              <a:rPr sz="1000" dirty="0">
                <a:latin typeface="Cambria"/>
                <a:cs typeface="Cambria"/>
              </a:rPr>
              <a:t>{</a:t>
            </a:r>
            <a:r>
              <a:rPr sz="1000" i="1" dirty="0">
                <a:latin typeface="Arial"/>
                <a:cs typeface="Arial"/>
              </a:rPr>
              <a:t>δ</a:t>
            </a:r>
            <a:r>
              <a:rPr sz="1000" dirty="0">
                <a:latin typeface="Calibri"/>
                <a:cs typeface="Calibri"/>
              </a:rPr>
              <a:t>(</a:t>
            </a:r>
            <a:r>
              <a:rPr sz="1000" dirty="0">
                <a:latin typeface="Cambria"/>
                <a:cs typeface="Cambria"/>
              </a:rPr>
              <a:t>x</a:t>
            </a:r>
            <a:r>
              <a:rPr sz="1000" i="1" dirty="0">
                <a:latin typeface="Calibri"/>
                <a:cs typeface="Calibri"/>
              </a:rPr>
              <a:t>,</a:t>
            </a:r>
            <a:r>
              <a:rPr sz="1000" i="1" spc="-50" dirty="0">
                <a:latin typeface="Calibri"/>
                <a:cs typeface="Calibri"/>
              </a:rPr>
              <a:t> </a:t>
            </a:r>
            <a:r>
              <a:rPr sz="1000" spc="95" dirty="0">
                <a:latin typeface="Cambria"/>
                <a:cs typeface="Cambria"/>
              </a:rPr>
              <a:t>y</a:t>
            </a:r>
            <a:r>
              <a:rPr sz="1000" spc="95" dirty="0">
                <a:latin typeface="Calibri"/>
                <a:cs typeface="Calibri"/>
              </a:rPr>
              <a:t>)</a:t>
            </a:r>
            <a:r>
              <a:rPr sz="1000" spc="120" dirty="0">
                <a:latin typeface="Calibri"/>
                <a:cs typeface="Calibri"/>
              </a:rPr>
              <a:t> </a:t>
            </a:r>
            <a:r>
              <a:rPr sz="1000" dirty="0">
                <a:latin typeface="Cambria"/>
                <a:cs typeface="Cambria"/>
              </a:rPr>
              <a:t>|</a:t>
            </a:r>
            <a:r>
              <a:rPr sz="1000" spc="135" dirty="0">
                <a:latin typeface="Cambria"/>
                <a:cs typeface="Cambria"/>
              </a:rPr>
              <a:t> </a:t>
            </a:r>
            <a:r>
              <a:rPr sz="1000" spc="110" dirty="0">
                <a:latin typeface="Cambria"/>
                <a:cs typeface="Cambria"/>
              </a:rPr>
              <a:t>x</a:t>
            </a:r>
            <a:r>
              <a:rPr sz="1000" spc="70" dirty="0">
                <a:latin typeface="Cambria"/>
                <a:cs typeface="Cambria"/>
              </a:rPr>
              <a:t> </a:t>
            </a:r>
            <a:r>
              <a:rPr sz="1000" spc="-150" dirty="0">
                <a:latin typeface="Lucida Sans Unicode"/>
                <a:cs typeface="Lucida Sans Unicode"/>
              </a:rPr>
              <a:t>∈</a:t>
            </a:r>
            <a:r>
              <a:rPr sz="1000" spc="-25" dirty="0">
                <a:latin typeface="Lucida Sans Unicode"/>
                <a:cs typeface="Lucida Sans Unicode"/>
              </a:rPr>
              <a:t> </a:t>
            </a:r>
            <a:r>
              <a:rPr sz="1000" i="1" spc="125" dirty="0">
                <a:latin typeface="Calibri"/>
                <a:cs typeface="Calibri"/>
              </a:rPr>
              <a:t>C</a:t>
            </a:r>
            <a:r>
              <a:rPr sz="1050" i="1" spc="187" baseline="-11904" dirty="0">
                <a:latin typeface="Calibri"/>
                <a:cs typeface="Calibri"/>
              </a:rPr>
              <a:t>i</a:t>
            </a:r>
            <a:r>
              <a:rPr sz="1000" i="1" spc="125" dirty="0">
                <a:latin typeface="Calibri"/>
                <a:cs typeface="Calibri"/>
              </a:rPr>
              <a:t>,</a:t>
            </a:r>
            <a:r>
              <a:rPr sz="1000" i="1" spc="-50" dirty="0">
                <a:latin typeface="Calibri"/>
                <a:cs typeface="Calibri"/>
              </a:rPr>
              <a:t> </a:t>
            </a:r>
            <a:r>
              <a:rPr sz="1000" spc="100" dirty="0">
                <a:latin typeface="Cambria"/>
                <a:cs typeface="Cambria"/>
              </a:rPr>
              <a:t>y</a:t>
            </a:r>
            <a:r>
              <a:rPr sz="1000" spc="85" dirty="0">
                <a:latin typeface="Cambria"/>
                <a:cs typeface="Cambria"/>
              </a:rPr>
              <a:t> </a:t>
            </a:r>
            <a:r>
              <a:rPr sz="1000" spc="-150" dirty="0">
                <a:latin typeface="Lucida Sans Unicode"/>
                <a:cs typeface="Lucida Sans Unicode"/>
              </a:rPr>
              <a:t>∈</a:t>
            </a:r>
            <a:r>
              <a:rPr sz="1000" spc="-25" dirty="0">
                <a:latin typeface="Lucida Sans Unicode"/>
                <a:cs typeface="Lucida Sans Unicode"/>
              </a:rPr>
              <a:t> </a:t>
            </a:r>
            <a:r>
              <a:rPr sz="1000" i="1" spc="170" dirty="0">
                <a:latin typeface="Calibri"/>
                <a:cs typeface="Calibri"/>
              </a:rPr>
              <a:t>C</a:t>
            </a:r>
            <a:r>
              <a:rPr sz="1050" i="1" spc="254" baseline="-11904" dirty="0">
                <a:latin typeface="Calibri"/>
                <a:cs typeface="Calibri"/>
              </a:rPr>
              <a:t>j</a:t>
            </a:r>
            <a:r>
              <a:rPr sz="1050" i="1" spc="-97" baseline="-11904" dirty="0">
                <a:latin typeface="Calibri"/>
                <a:cs typeface="Calibri"/>
              </a:rPr>
              <a:t> </a:t>
            </a:r>
            <a:r>
              <a:rPr sz="1000" spc="55" dirty="0">
                <a:latin typeface="Cambria"/>
                <a:cs typeface="Cambria"/>
              </a:rPr>
              <a:t>}</a:t>
            </a:r>
            <a:endParaRPr sz="1000">
              <a:latin typeface="Cambria"/>
              <a:cs typeface="Cambria"/>
            </a:endParaRPr>
          </a:p>
          <a:p>
            <a:pPr marL="314960">
              <a:lnSpc>
                <a:spcPct val="100000"/>
              </a:lnSpc>
              <a:spcBef>
                <a:spcPts val="409"/>
              </a:spcBef>
            </a:pPr>
            <a:r>
              <a:rPr sz="1000" spc="-20" dirty="0">
                <a:latin typeface="Georgia"/>
                <a:cs typeface="Georgia"/>
              </a:rPr>
              <a:t>Merging</a:t>
            </a:r>
            <a:r>
              <a:rPr sz="1000" spc="25" dirty="0">
                <a:latin typeface="Georgia"/>
                <a:cs typeface="Georgia"/>
              </a:rPr>
              <a:t> </a:t>
            </a:r>
            <a:r>
              <a:rPr sz="1000" dirty="0">
                <a:latin typeface="Georgia"/>
                <a:cs typeface="Georgia"/>
              </a:rPr>
              <a:t>any</a:t>
            </a:r>
            <a:r>
              <a:rPr sz="1000" spc="25" dirty="0">
                <a:latin typeface="Georgia"/>
                <a:cs typeface="Georgia"/>
              </a:rPr>
              <a:t> </a:t>
            </a:r>
            <a:r>
              <a:rPr sz="1000" dirty="0">
                <a:latin typeface="Georgia"/>
                <a:cs typeface="Georgia"/>
              </a:rPr>
              <a:t>two</a:t>
            </a:r>
            <a:r>
              <a:rPr sz="1000" spc="25" dirty="0">
                <a:latin typeface="Georgia"/>
                <a:cs typeface="Georgia"/>
              </a:rPr>
              <a:t> </a:t>
            </a:r>
            <a:r>
              <a:rPr sz="1000" spc="-10" dirty="0">
                <a:latin typeface="Georgia"/>
                <a:cs typeface="Georgia"/>
              </a:rPr>
              <a:t>clusters</a:t>
            </a:r>
            <a:r>
              <a:rPr sz="1000" spc="30" dirty="0">
                <a:latin typeface="Georgia"/>
                <a:cs typeface="Georgia"/>
              </a:rPr>
              <a:t> </a:t>
            </a:r>
            <a:r>
              <a:rPr sz="1000" spc="-10" dirty="0">
                <a:latin typeface="Georgia"/>
                <a:cs typeface="Georgia"/>
              </a:rPr>
              <a:t>having</a:t>
            </a:r>
            <a:r>
              <a:rPr sz="1000" spc="25" dirty="0">
                <a:latin typeface="Georgia"/>
                <a:cs typeface="Georgia"/>
              </a:rPr>
              <a:t> </a:t>
            </a:r>
            <a:r>
              <a:rPr sz="1000" dirty="0">
                <a:latin typeface="Georgia"/>
                <a:cs typeface="Georgia"/>
              </a:rPr>
              <a:t>the</a:t>
            </a:r>
            <a:r>
              <a:rPr sz="1000" spc="25" dirty="0">
                <a:latin typeface="Georgia"/>
                <a:cs typeface="Georgia"/>
              </a:rPr>
              <a:t> </a:t>
            </a:r>
            <a:r>
              <a:rPr sz="1000" spc="-20" dirty="0">
                <a:latin typeface="Georgia"/>
                <a:cs typeface="Georgia"/>
              </a:rPr>
              <a:t>smallest</a:t>
            </a:r>
            <a:r>
              <a:rPr sz="1000" spc="25" dirty="0">
                <a:latin typeface="Georgia"/>
                <a:cs typeface="Georgia"/>
              </a:rPr>
              <a:t> </a:t>
            </a:r>
            <a:r>
              <a:rPr sz="1000" spc="-20" dirty="0">
                <a:latin typeface="Georgia"/>
                <a:cs typeface="Georgia"/>
              </a:rPr>
              <a:t>single</a:t>
            </a:r>
            <a:r>
              <a:rPr sz="1000" spc="25" dirty="0">
                <a:latin typeface="Georgia"/>
                <a:cs typeface="Georgia"/>
              </a:rPr>
              <a:t> </a:t>
            </a:r>
            <a:r>
              <a:rPr sz="1000" dirty="0">
                <a:latin typeface="Georgia"/>
                <a:cs typeface="Georgia"/>
              </a:rPr>
              <a:t>link</a:t>
            </a:r>
            <a:r>
              <a:rPr sz="1000" spc="30" dirty="0">
                <a:latin typeface="Georgia"/>
                <a:cs typeface="Georgia"/>
              </a:rPr>
              <a:t> </a:t>
            </a:r>
            <a:r>
              <a:rPr sz="1000" spc="-10" dirty="0">
                <a:latin typeface="Georgia"/>
                <a:cs typeface="Georgia"/>
              </a:rPr>
              <a:t>distance</a:t>
            </a:r>
            <a:r>
              <a:rPr sz="1000" spc="25" dirty="0">
                <a:latin typeface="Georgia"/>
                <a:cs typeface="Georgia"/>
              </a:rPr>
              <a:t> </a:t>
            </a:r>
            <a:r>
              <a:rPr sz="1000" dirty="0">
                <a:latin typeface="Georgia"/>
                <a:cs typeface="Georgia"/>
              </a:rPr>
              <a:t>at</a:t>
            </a:r>
            <a:r>
              <a:rPr sz="1000" spc="20" dirty="0">
                <a:latin typeface="Georgia"/>
                <a:cs typeface="Georgia"/>
              </a:rPr>
              <a:t> </a:t>
            </a:r>
            <a:r>
              <a:rPr sz="1000" spc="-10" dirty="0">
                <a:latin typeface="Georgia"/>
                <a:cs typeface="Georgia"/>
              </a:rPr>
              <a:t>each</a:t>
            </a:r>
            <a:r>
              <a:rPr sz="1000" spc="30" dirty="0">
                <a:latin typeface="Georgia"/>
                <a:cs typeface="Georgia"/>
              </a:rPr>
              <a:t> </a:t>
            </a:r>
            <a:r>
              <a:rPr sz="1000" spc="-10" dirty="0">
                <a:latin typeface="Georgia"/>
                <a:cs typeface="Georgia"/>
              </a:rPr>
              <a:t>iteration.</a:t>
            </a:r>
            <a:endParaRPr sz="1000">
              <a:latin typeface="Georgia"/>
              <a:cs typeface="Georgia"/>
            </a:endParaRPr>
          </a:p>
          <a:p>
            <a:pPr marL="38100">
              <a:lnSpc>
                <a:spcPct val="100000"/>
              </a:lnSpc>
              <a:spcBef>
                <a:spcPts val="640"/>
              </a:spcBef>
            </a:pPr>
            <a:r>
              <a:rPr sz="1100" b="1" spc="-10" dirty="0">
                <a:latin typeface="Georgia"/>
                <a:cs typeface="Georgia"/>
              </a:rPr>
              <a:t>Complete</a:t>
            </a:r>
            <a:r>
              <a:rPr sz="1100" b="1" spc="20" dirty="0">
                <a:latin typeface="Georgia"/>
                <a:cs typeface="Georgia"/>
              </a:rPr>
              <a:t> </a:t>
            </a:r>
            <a:r>
              <a:rPr sz="1100" b="1" spc="-20" dirty="0">
                <a:latin typeface="Georgia"/>
                <a:cs typeface="Georgia"/>
              </a:rPr>
              <a:t>link</a:t>
            </a:r>
            <a:r>
              <a:rPr sz="1100" spc="-20" dirty="0">
                <a:latin typeface="Georgia"/>
                <a:cs typeface="Georgia"/>
              </a:rPr>
              <a:t>:</a:t>
            </a:r>
            <a:endParaRPr sz="1100">
              <a:latin typeface="Georgia"/>
              <a:cs typeface="Georgia"/>
            </a:endParaRPr>
          </a:p>
          <a:p>
            <a:pPr marL="314960" marR="30480">
              <a:lnSpc>
                <a:spcPts val="1019"/>
              </a:lnSpc>
              <a:spcBef>
                <a:spcPts val="465"/>
              </a:spcBef>
            </a:pPr>
            <a:r>
              <a:rPr sz="1000" dirty="0">
                <a:latin typeface="Georgia"/>
                <a:cs typeface="Georgia"/>
              </a:rPr>
              <a:t>The</a:t>
            </a:r>
            <a:r>
              <a:rPr sz="1000" spc="20" dirty="0">
                <a:latin typeface="Georgia"/>
                <a:cs typeface="Georgia"/>
              </a:rPr>
              <a:t> </a:t>
            </a:r>
            <a:r>
              <a:rPr sz="1000" spc="-10" dirty="0">
                <a:latin typeface="Georgia"/>
                <a:cs typeface="Georgia"/>
              </a:rPr>
              <a:t>distance</a:t>
            </a:r>
            <a:r>
              <a:rPr sz="1000" spc="25" dirty="0">
                <a:latin typeface="Georgia"/>
                <a:cs typeface="Georgia"/>
              </a:rPr>
              <a:t> </a:t>
            </a:r>
            <a:r>
              <a:rPr sz="1000" spc="-20" dirty="0">
                <a:latin typeface="Georgia"/>
                <a:cs typeface="Georgia"/>
              </a:rPr>
              <a:t>between</a:t>
            </a:r>
            <a:r>
              <a:rPr sz="1000" spc="25" dirty="0">
                <a:latin typeface="Georgia"/>
                <a:cs typeface="Georgia"/>
              </a:rPr>
              <a:t> </a:t>
            </a:r>
            <a:r>
              <a:rPr sz="1000" dirty="0">
                <a:latin typeface="Georgia"/>
                <a:cs typeface="Georgia"/>
              </a:rPr>
              <a:t>two</a:t>
            </a:r>
            <a:r>
              <a:rPr sz="1000" spc="25" dirty="0">
                <a:latin typeface="Georgia"/>
                <a:cs typeface="Georgia"/>
              </a:rPr>
              <a:t> </a:t>
            </a:r>
            <a:r>
              <a:rPr sz="1000" spc="-10" dirty="0">
                <a:latin typeface="Georgia"/>
                <a:cs typeface="Georgia"/>
              </a:rPr>
              <a:t>clusters</a:t>
            </a:r>
            <a:r>
              <a:rPr sz="1000" spc="25" dirty="0">
                <a:latin typeface="Georgia"/>
                <a:cs typeface="Georgia"/>
              </a:rPr>
              <a:t> </a:t>
            </a:r>
            <a:r>
              <a:rPr sz="1000" dirty="0">
                <a:latin typeface="Georgia"/>
                <a:cs typeface="Georgia"/>
              </a:rPr>
              <a:t>is</a:t>
            </a:r>
            <a:r>
              <a:rPr sz="1000" spc="25" dirty="0">
                <a:latin typeface="Georgia"/>
                <a:cs typeface="Georgia"/>
              </a:rPr>
              <a:t> </a:t>
            </a:r>
            <a:r>
              <a:rPr sz="1000" spc="-25" dirty="0">
                <a:latin typeface="Georgia"/>
                <a:cs typeface="Georgia"/>
              </a:rPr>
              <a:t>defined</a:t>
            </a:r>
            <a:r>
              <a:rPr sz="1000" spc="25" dirty="0">
                <a:latin typeface="Georgia"/>
                <a:cs typeface="Georgia"/>
              </a:rPr>
              <a:t> </a:t>
            </a:r>
            <a:r>
              <a:rPr sz="1000" dirty="0">
                <a:latin typeface="Georgia"/>
                <a:cs typeface="Georgia"/>
              </a:rPr>
              <a:t>as</a:t>
            </a:r>
            <a:r>
              <a:rPr sz="1000" spc="25" dirty="0">
                <a:latin typeface="Georgia"/>
                <a:cs typeface="Georgia"/>
              </a:rPr>
              <a:t> </a:t>
            </a:r>
            <a:r>
              <a:rPr sz="1000" dirty="0">
                <a:latin typeface="Georgia"/>
                <a:cs typeface="Georgia"/>
              </a:rPr>
              <a:t>the</a:t>
            </a:r>
            <a:r>
              <a:rPr sz="1000" spc="25" dirty="0">
                <a:latin typeface="Georgia"/>
                <a:cs typeface="Georgia"/>
              </a:rPr>
              <a:t> </a:t>
            </a:r>
            <a:r>
              <a:rPr sz="1000" b="1" spc="-35" dirty="0">
                <a:latin typeface="Georgia"/>
                <a:cs typeface="Georgia"/>
              </a:rPr>
              <a:t>maximum</a:t>
            </a:r>
            <a:r>
              <a:rPr sz="1000" b="1" spc="10" dirty="0">
                <a:latin typeface="Georgia"/>
                <a:cs typeface="Georgia"/>
              </a:rPr>
              <a:t> </a:t>
            </a:r>
            <a:r>
              <a:rPr sz="1000" spc="-10" dirty="0">
                <a:latin typeface="Georgia"/>
                <a:cs typeface="Georgia"/>
              </a:rPr>
              <a:t>distance</a:t>
            </a:r>
            <a:r>
              <a:rPr sz="1000" spc="25" dirty="0">
                <a:latin typeface="Georgia"/>
                <a:cs typeface="Georgia"/>
              </a:rPr>
              <a:t> </a:t>
            </a:r>
            <a:r>
              <a:rPr sz="1000" spc="-20" dirty="0">
                <a:latin typeface="Georgia"/>
                <a:cs typeface="Georgia"/>
              </a:rPr>
              <a:t>between</a:t>
            </a:r>
            <a:r>
              <a:rPr sz="1000" spc="25" dirty="0">
                <a:latin typeface="Georgia"/>
                <a:cs typeface="Georgia"/>
              </a:rPr>
              <a:t> </a:t>
            </a:r>
            <a:r>
              <a:rPr sz="1000" spc="-50" dirty="0">
                <a:latin typeface="Georgia"/>
                <a:cs typeface="Georgia"/>
              </a:rPr>
              <a:t>a</a:t>
            </a:r>
            <a:r>
              <a:rPr sz="1000" dirty="0">
                <a:latin typeface="Georgia"/>
                <a:cs typeface="Georgia"/>
              </a:rPr>
              <a:t> point</a:t>
            </a:r>
            <a:r>
              <a:rPr sz="1000" spc="20" dirty="0">
                <a:latin typeface="Georgia"/>
                <a:cs typeface="Georgia"/>
              </a:rPr>
              <a:t> </a:t>
            </a:r>
            <a:r>
              <a:rPr sz="1000" dirty="0">
                <a:latin typeface="Georgia"/>
                <a:cs typeface="Georgia"/>
              </a:rPr>
              <a:t>in</a:t>
            </a:r>
            <a:r>
              <a:rPr sz="1000" spc="45" dirty="0">
                <a:latin typeface="Georgia"/>
                <a:cs typeface="Georgia"/>
              </a:rPr>
              <a:t> </a:t>
            </a:r>
            <a:r>
              <a:rPr sz="1000" i="1" spc="150" dirty="0">
                <a:latin typeface="Calibri"/>
                <a:cs typeface="Calibri"/>
              </a:rPr>
              <a:t>C</a:t>
            </a:r>
            <a:r>
              <a:rPr sz="1050" i="1" spc="225" baseline="-11904" dirty="0">
                <a:latin typeface="Calibri"/>
                <a:cs typeface="Calibri"/>
              </a:rPr>
              <a:t>i</a:t>
            </a:r>
            <a:r>
              <a:rPr sz="1050" i="1" spc="254" baseline="-11904" dirty="0">
                <a:latin typeface="Calibri"/>
                <a:cs typeface="Calibri"/>
              </a:rPr>
              <a:t> </a:t>
            </a:r>
            <a:r>
              <a:rPr sz="1000" dirty="0">
                <a:latin typeface="Georgia"/>
                <a:cs typeface="Georgia"/>
              </a:rPr>
              <a:t>and</a:t>
            </a:r>
            <a:r>
              <a:rPr sz="1000" spc="40" dirty="0">
                <a:latin typeface="Georgia"/>
                <a:cs typeface="Georgia"/>
              </a:rPr>
              <a:t> </a:t>
            </a:r>
            <a:r>
              <a:rPr sz="1000" dirty="0">
                <a:latin typeface="Georgia"/>
                <a:cs typeface="Georgia"/>
              </a:rPr>
              <a:t>a</a:t>
            </a:r>
            <a:r>
              <a:rPr sz="1000" spc="40" dirty="0">
                <a:latin typeface="Georgia"/>
                <a:cs typeface="Georgia"/>
              </a:rPr>
              <a:t> </a:t>
            </a:r>
            <a:r>
              <a:rPr sz="1000" dirty="0">
                <a:latin typeface="Georgia"/>
                <a:cs typeface="Georgia"/>
              </a:rPr>
              <a:t>point</a:t>
            </a:r>
            <a:r>
              <a:rPr sz="1000" spc="45" dirty="0">
                <a:latin typeface="Georgia"/>
                <a:cs typeface="Georgia"/>
              </a:rPr>
              <a:t> </a:t>
            </a:r>
            <a:r>
              <a:rPr sz="1000" dirty="0">
                <a:latin typeface="Georgia"/>
                <a:cs typeface="Georgia"/>
              </a:rPr>
              <a:t>in</a:t>
            </a:r>
            <a:r>
              <a:rPr sz="1000" spc="35" dirty="0">
                <a:latin typeface="Georgia"/>
                <a:cs typeface="Georgia"/>
              </a:rPr>
              <a:t> </a:t>
            </a:r>
            <a:r>
              <a:rPr sz="1000" i="1" spc="170" dirty="0">
                <a:latin typeface="Calibri"/>
                <a:cs typeface="Calibri"/>
              </a:rPr>
              <a:t>C</a:t>
            </a:r>
            <a:r>
              <a:rPr sz="1050" i="1" spc="254" baseline="-11904" dirty="0">
                <a:latin typeface="Calibri"/>
                <a:cs typeface="Calibri"/>
              </a:rPr>
              <a:t>j</a:t>
            </a:r>
            <a:r>
              <a:rPr sz="1050" i="1" spc="-104" baseline="-11904" dirty="0">
                <a:latin typeface="Calibri"/>
                <a:cs typeface="Calibri"/>
              </a:rPr>
              <a:t> </a:t>
            </a:r>
            <a:r>
              <a:rPr sz="1000" spc="-50" dirty="0">
                <a:latin typeface="Georgia"/>
                <a:cs typeface="Georgia"/>
              </a:rPr>
              <a:t>:</a:t>
            </a:r>
            <a:endParaRPr sz="1000">
              <a:latin typeface="Georgia"/>
              <a:cs typeface="Georgia"/>
            </a:endParaRPr>
          </a:p>
        </p:txBody>
      </p:sp>
      <p:sp>
        <p:nvSpPr>
          <p:cNvPr id="7" name="object 7"/>
          <p:cNvSpPr/>
          <p:nvPr/>
        </p:nvSpPr>
        <p:spPr>
          <a:xfrm>
            <a:off x="337972" y="1755368"/>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txBox="1"/>
          <p:nvPr/>
        </p:nvSpPr>
        <p:spPr>
          <a:xfrm>
            <a:off x="705866" y="2200192"/>
            <a:ext cx="4915535" cy="435609"/>
          </a:xfrm>
          <a:prstGeom prst="rect">
            <a:avLst/>
          </a:prstGeom>
        </p:spPr>
        <p:txBody>
          <a:bodyPr vert="horz" wrap="square" lIns="0" tIns="12700" rIns="0" bIns="0" rtlCol="0">
            <a:spAutoFit/>
          </a:bodyPr>
          <a:lstStyle/>
          <a:p>
            <a:pPr marL="38100" marR="43180" indent="1257300">
              <a:lnSpc>
                <a:spcPct val="134500"/>
              </a:lnSpc>
              <a:spcBef>
                <a:spcPts val="100"/>
              </a:spcBef>
              <a:tabLst>
                <a:tab pos="4639310" algn="l"/>
              </a:tabLst>
            </a:pPr>
            <a:r>
              <a:rPr sz="1000" i="1" spc="75" dirty="0">
                <a:latin typeface="Arial"/>
                <a:cs typeface="Arial"/>
              </a:rPr>
              <a:t>δ</a:t>
            </a:r>
            <a:r>
              <a:rPr sz="1000" spc="75" dirty="0">
                <a:latin typeface="Calibri"/>
                <a:cs typeface="Calibri"/>
              </a:rPr>
              <a:t>(</a:t>
            </a:r>
            <a:r>
              <a:rPr sz="1000" i="1" spc="75" dirty="0">
                <a:latin typeface="Calibri"/>
                <a:cs typeface="Calibri"/>
              </a:rPr>
              <a:t>C</a:t>
            </a:r>
            <a:r>
              <a:rPr sz="1050" i="1" spc="112" baseline="-11904" dirty="0">
                <a:latin typeface="Calibri"/>
                <a:cs typeface="Calibri"/>
              </a:rPr>
              <a:t>i</a:t>
            </a:r>
            <a:r>
              <a:rPr sz="1000" i="1" spc="75" dirty="0">
                <a:latin typeface="Calibri"/>
                <a:cs typeface="Calibri"/>
              </a:rPr>
              <a:t>,</a:t>
            </a:r>
            <a:r>
              <a:rPr sz="1000" i="1" spc="-50" dirty="0">
                <a:latin typeface="Calibri"/>
                <a:cs typeface="Calibri"/>
              </a:rPr>
              <a:t> </a:t>
            </a:r>
            <a:r>
              <a:rPr sz="1000" i="1" spc="170" dirty="0">
                <a:latin typeface="Calibri"/>
                <a:cs typeface="Calibri"/>
              </a:rPr>
              <a:t>C</a:t>
            </a:r>
            <a:r>
              <a:rPr sz="1050" i="1" spc="254" baseline="-11904" dirty="0">
                <a:latin typeface="Calibri"/>
                <a:cs typeface="Calibri"/>
              </a:rPr>
              <a:t>j</a:t>
            </a:r>
            <a:r>
              <a:rPr sz="1050" i="1" spc="-89" baseline="-11904" dirty="0">
                <a:latin typeface="Calibri"/>
                <a:cs typeface="Calibri"/>
              </a:rPr>
              <a:t> </a:t>
            </a:r>
            <a:r>
              <a:rPr sz="1000" spc="185" dirty="0">
                <a:latin typeface="Calibri"/>
                <a:cs typeface="Calibri"/>
              </a:rPr>
              <a:t>)</a:t>
            </a:r>
            <a:r>
              <a:rPr sz="1000" spc="15" dirty="0">
                <a:latin typeface="Calibri"/>
                <a:cs typeface="Calibri"/>
              </a:rPr>
              <a:t> </a:t>
            </a:r>
            <a:r>
              <a:rPr sz="1000" spc="225" dirty="0">
                <a:latin typeface="Calibri"/>
                <a:cs typeface="Calibri"/>
              </a:rPr>
              <a:t>=</a:t>
            </a:r>
            <a:r>
              <a:rPr sz="1000" spc="75" dirty="0">
                <a:latin typeface="Calibri"/>
                <a:cs typeface="Calibri"/>
              </a:rPr>
              <a:t> </a:t>
            </a:r>
            <a:r>
              <a:rPr sz="1000" dirty="0">
                <a:latin typeface="Georgia"/>
                <a:cs typeface="Georgia"/>
              </a:rPr>
              <a:t>max</a:t>
            </a:r>
            <a:r>
              <a:rPr sz="1000" dirty="0">
                <a:latin typeface="Cambria"/>
                <a:cs typeface="Cambria"/>
              </a:rPr>
              <a:t>{</a:t>
            </a:r>
            <a:r>
              <a:rPr sz="1000" i="1" dirty="0">
                <a:latin typeface="Arial"/>
                <a:cs typeface="Arial"/>
              </a:rPr>
              <a:t>δ</a:t>
            </a:r>
            <a:r>
              <a:rPr sz="1000" dirty="0">
                <a:latin typeface="Calibri"/>
                <a:cs typeface="Calibri"/>
              </a:rPr>
              <a:t>(</a:t>
            </a:r>
            <a:r>
              <a:rPr sz="1000" dirty="0">
                <a:latin typeface="Cambria"/>
                <a:cs typeface="Cambria"/>
              </a:rPr>
              <a:t>x</a:t>
            </a:r>
            <a:r>
              <a:rPr sz="1000" i="1" dirty="0">
                <a:latin typeface="Calibri"/>
                <a:cs typeface="Calibri"/>
              </a:rPr>
              <a:t>,</a:t>
            </a:r>
            <a:r>
              <a:rPr sz="1000" i="1" spc="-50" dirty="0">
                <a:latin typeface="Calibri"/>
                <a:cs typeface="Calibri"/>
              </a:rPr>
              <a:t> </a:t>
            </a:r>
            <a:r>
              <a:rPr sz="1000" spc="95" dirty="0">
                <a:latin typeface="Cambria"/>
                <a:cs typeface="Cambria"/>
              </a:rPr>
              <a:t>y</a:t>
            </a:r>
            <a:r>
              <a:rPr sz="1000" spc="95" dirty="0">
                <a:latin typeface="Calibri"/>
                <a:cs typeface="Calibri"/>
              </a:rPr>
              <a:t>)</a:t>
            </a:r>
            <a:r>
              <a:rPr sz="1000" spc="135" dirty="0">
                <a:latin typeface="Calibri"/>
                <a:cs typeface="Calibri"/>
              </a:rPr>
              <a:t> </a:t>
            </a:r>
            <a:r>
              <a:rPr sz="1000" dirty="0">
                <a:latin typeface="Cambria"/>
                <a:cs typeface="Cambria"/>
              </a:rPr>
              <a:t>|</a:t>
            </a:r>
            <a:r>
              <a:rPr sz="1000" spc="140" dirty="0">
                <a:latin typeface="Cambria"/>
                <a:cs typeface="Cambria"/>
              </a:rPr>
              <a:t> </a:t>
            </a:r>
            <a:r>
              <a:rPr sz="1000" spc="110" dirty="0">
                <a:latin typeface="Cambria"/>
                <a:cs typeface="Cambria"/>
              </a:rPr>
              <a:t>x</a:t>
            </a:r>
            <a:r>
              <a:rPr sz="1000" spc="80" dirty="0">
                <a:latin typeface="Cambria"/>
                <a:cs typeface="Cambria"/>
              </a:rPr>
              <a:t> </a:t>
            </a:r>
            <a:r>
              <a:rPr sz="1000" spc="-150" dirty="0">
                <a:latin typeface="Lucida Sans Unicode"/>
                <a:cs typeface="Lucida Sans Unicode"/>
              </a:rPr>
              <a:t>∈</a:t>
            </a:r>
            <a:r>
              <a:rPr sz="1000" spc="-20" dirty="0">
                <a:latin typeface="Lucida Sans Unicode"/>
                <a:cs typeface="Lucida Sans Unicode"/>
              </a:rPr>
              <a:t> </a:t>
            </a:r>
            <a:r>
              <a:rPr sz="1000" i="1" spc="120" dirty="0">
                <a:latin typeface="Calibri"/>
                <a:cs typeface="Calibri"/>
              </a:rPr>
              <a:t>C</a:t>
            </a:r>
            <a:r>
              <a:rPr sz="1050" i="1" spc="179" baseline="-11904" dirty="0">
                <a:latin typeface="Calibri"/>
                <a:cs typeface="Calibri"/>
              </a:rPr>
              <a:t>i</a:t>
            </a:r>
            <a:r>
              <a:rPr sz="1000" i="1" spc="120" dirty="0">
                <a:latin typeface="Calibri"/>
                <a:cs typeface="Calibri"/>
              </a:rPr>
              <a:t>,</a:t>
            </a:r>
            <a:r>
              <a:rPr sz="1000" i="1" spc="-45" dirty="0">
                <a:latin typeface="Calibri"/>
                <a:cs typeface="Calibri"/>
              </a:rPr>
              <a:t> </a:t>
            </a:r>
            <a:r>
              <a:rPr sz="1000" spc="100" dirty="0">
                <a:latin typeface="Cambria"/>
                <a:cs typeface="Cambria"/>
              </a:rPr>
              <a:t>y</a:t>
            </a:r>
            <a:r>
              <a:rPr sz="1000" spc="95" dirty="0">
                <a:latin typeface="Cambria"/>
                <a:cs typeface="Cambria"/>
              </a:rPr>
              <a:t> </a:t>
            </a:r>
            <a:r>
              <a:rPr sz="1000" spc="-150" dirty="0">
                <a:latin typeface="Lucida Sans Unicode"/>
                <a:cs typeface="Lucida Sans Unicode"/>
              </a:rPr>
              <a:t>∈</a:t>
            </a:r>
            <a:r>
              <a:rPr sz="1000" spc="-20" dirty="0">
                <a:latin typeface="Lucida Sans Unicode"/>
                <a:cs typeface="Lucida Sans Unicode"/>
              </a:rPr>
              <a:t> </a:t>
            </a:r>
            <a:r>
              <a:rPr sz="1000" i="1" spc="170" dirty="0">
                <a:latin typeface="Calibri"/>
                <a:cs typeface="Calibri"/>
              </a:rPr>
              <a:t>C</a:t>
            </a:r>
            <a:r>
              <a:rPr sz="1050" i="1" spc="254" baseline="-11904" dirty="0">
                <a:latin typeface="Calibri"/>
                <a:cs typeface="Calibri"/>
              </a:rPr>
              <a:t>j</a:t>
            </a:r>
            <a:r>
              <a:rPr sz="1050" i="1" spc="-89" baseline="-11904" dirty="0">
                <a:latin typeface="Calibri"/>
                <a:cs typeface="Calibri"/>
              </a:rPr>
              <a:t> </a:t>
            </a:r>
            <a:r>
              <a:rPr sz="1000" spc="55" dirty="0">
                <a:latin typeface="Cambria"/>
                <a:cs typeface="Cambria"/>
              </a:rPr>
              <a:t>}</a:t>
            </a:r>
            <a:r>
              <a:rPr sz="1000" dirty="0">
                <a:latin typeface="Cambria"/>
                <a:cs typeface="Cambria"/>
              </a:rPr>
              <a:t>	</a:t>
            </a:r>
            <a:r>
              <a:rPr sz="1000" spc="-20" dirty="0">
                <a:latin typeface="Georgia"/>
                <a:cs typeface="Georgia"/>
              </a:rPr>
              <a:t>(12) Merging</a:t>
            </a:r>
            <a:r>
              <a:rPr sz="1000" spc="30" dirty="0">
                <a:latin typeface="Georgia"/>
                <a:cs typeface="Georgia"/>
              </a:rPr>
              <a:t> </a:t>
            </a:r>
            <a:r>
              <a:rPr sz="1000" dirty="0">
                <a:latin typeface="Georgia"/>
                <a:cs typeface="Georgia"/>
              </a:rPr>
              <a:t>any</a:t>
            </a:r>
            <a:r>
              <a:rPr sz="1000" spc="35" dirty="0">
                <a:latin typeface="Georgia"/>
                <a:cs typeface="Georgia"/>
              </a:rPr>
              <a:t> </a:t>
            </a:r>
            <a:r>
              <a:rPr sz="1000" dirty="0">
                <a:latin typeface="Georgia"/>
                <a:cs typeface="Georgia"/>
              </a:rPr>
              <a:t>two</a:t>
            </a:r>
            <a:r>
              <a:rPr sz="1000" spc="35" dirty="0">
                <a:latin typeface="Georgia"/>
                <a:cs typeface="Georgia"/>
              </a:rPr>
              <a:t> </a:t>
            </a:r>
            <a:r>
              <a:rPr sz="1000" spc="-20" dirty="0">
                <a:latin typeface="Georgia"/>
                <a:cs typeface="Georgia"/>
              </a:rPr>
              <a:t>clusters</a:t>
            </a:r>
            <a:r>
              <a:rPr sz="1000" spc="35" dirty="0">
                <a:latin typeface="Georgia"/>
                <a:cs typeface="Georgia"/>
              </a:rPr>
              <a:t> </a:t>
            </a:r>
            <a:r>
              <a:rPr sz="1000" spc="-10" dirty="0">
                <a:latin typeface="Georgia"/>
                <a:cs typeface="Georgia"/>
              </a:rPr>
              <a:t>having</a:t>
            </a:r>
            <a:r>
              <a:rPr sz="1000" spc="30" dirty="0">
                <a:latin typeface="Georgia"/>
                <a:cs typeface="Georgia"/>
              </a:rPr>
              <a:t> </a:t>
            </a:r>
            <a:r>
              <a:rPr sz="1000" dirty="0">
                <a:latin typeface="Georgia"/>
                <a:cs typeface="Georgia"/>
              </a:rPr>
              <a:t>the</a:t>
            </a:r>
            <a:r>
              <a:rPr sz="1000" spc="35" dirty="0">
                <a:latin typeface="Georgia"/>
                <a:cs typeface="Georgia"/>
              </a:rPr>
              <a:t> </a:t>
            </a:r>
            <a:r>
              <a:rPr sz="1000" spc="-20" dirty="0">
                <a:latin typeface="Georgia"/>
                <a:cs typeface="Georgia"/>
              </a:rPr>
              <a:t>smallest</a:t>
            </a:r>
            <a:r>
              <a:rPr sz="1000" spc="35" dirty="0">
                <a:latin typeface="Georgia"/>
                <a:cs typeface="Georgia"/>
              </a:rPr>
              <a:t> </a:t>
            </a:r>
            <a:r>
              <a:rPr sz="1000" spc="-20" dirty="0">
                <a:latin typeface="Georgia"/>
                <a:cs typeface="Georgia"/>
              </a:rPr>
              <a:t>complete</a:t>
            </a:r>
            <a:r>
              <a:rPr sz="1000" spc="35" dirty="0">
                <a:latin typeface="Georgia"/>
                <a:cs typeface="Georgia"/>
              </a:rPr>
              <a:t> </a:t>
            </a:r>
            <a:r>
              <a:rPr sz="1000" dirty="0">
                <a:latin typeface="Georgia"/>
                <a:cs typeface="Georgia"/>
              </a:rPr>
              <a:t>link</a:t>
            </a:r>
            <a:r>
              <a:rPr sz="1000" spc="30" dirty="0">
                <a:latin typeface="Georgia"/>
                <a:cs typeface="Georgia"/>
              </a:rPr>
              <a:t> </a:t>
            </a:r>
            <a:r>
              <a:rPr sz="1000" spc="-10" dirty="0">
                <a:latin typeface="Georgia"/>
                <a:cs typeface="Georgia"/>
              </a:rPr>
              <a:t>distance</a:t>
            </a:r>
            <a:r>
              <a:rPr sz="1000" spc="35" dirty="0">
                <a:latin typeface="Georgia"/>
                <a:cs typeface="Georgia"/>
              </a:rPr>
              <a:t> </a:t>
            </a:r>
            <a:r>
              <a:rPr sz="1000" dirty="0">
                <a:latin typeface="Georgia"/>
                <a:cs typeface="Georgia"/>
              </a:rPr>
              <a:t>at</a:t>
            </a:r>
            <a:r>
              <a:rPr sz="1000" spc="30" dirty="0">
                <a:latin typeface="Georgia"/>
                <a:cs typeface="Georgia"/>
              </a:rPr>
              <a:t> </a:t>
            </a:r>
            <a:r>
              <a:rPr sz="1000" spc="-10" dirty="0">
                <a:latin typeface="Georgia"/>
                <a:cs typeface="Georgia"/>
              </a:rPr>
              <a:t>each</a:t>
            </a:r>
            <a:r>
              <a:rPr sz="1000" spc="35" dirty="0">
                <a:latin typeface="Georgia"/>
                <a:cs typeface="Georgia"/>
              </a:rPr>
              <a:t> </a:t>
            </a:r>
            <a:r>
              <a:rPr sz="1000" spc="-10" dirty="0">
                <a:latin typeface="Georgia"/>
                <a:cs typeface="Georgia"/>
              </a:rPr>
              <a:t>iteration.</a:t>
            </a:r>
            <a:endParaRPr sz="1000">
              <a:latin typeface="Georgia"/>
              <a:cs typeface="Georgia"/>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45</a:t>
            </a:fld>
            <a:r>
              <a:rPr spc="5" dirty="0"/>
              <a:t> </a:t>
            </a:r>
            <a:r>
              <a:rPr spc="75" dirty="0"/>
              <a:t>/</a:t>
            </a:r>
            <a:r>
              <a:rPr spc="10" dirty="0"/>
              <a:t> </a:t>
            </a:r>
            <a:r>
              <a:rPr spc="35" dirty="0"/>
              <a:t>135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Distance</a:t>
            </a:r>
            <a:r>
              <a:rPr spc="185" dirty="0"/>
              <a:t> </a:t>
            </a:r>
            <a:r>
              <a:rPr dirty="0"/>
              <a:t>between</a:t>
            </a:r>
            <a:r>
              <a:rPr spc="185" dirty="0"/>
              <a:t> </a:t>
            </a:r>
            <a:r>
              <a:rPr dirty="0"/>
              <a:t>clusters:</a:t>
            </a:r>
            <a:r>
              <a:rPr spc="370" dirty="0"/>
              <a:t> </a:t>
            </a:r>
            <a:r>
              <a:rPr dirty="0"/>
              <a:t>different</a:t>
            </a:r>
            <a:r>
              <a:rPr spc="190" dirty="0"/>
              <a:t> </a:t>
            </a:r>
            <a:r>
              <a:rPr dirty="0"/>
              <a:t>ways</a:t>
            </a:r>
            <a:r>
              <a:rPr spc="190" dirty="0"/>
              <a:t> </a:t>
            </a:r>
            <a:r>
              <a:rPr spc="55" dirty="0"/>
              <a:t>to</a:t>
            </a:r>
            <a:r>
              <a:rPr spc="190" dirty="0"/>
              <a:t> </a:t>
            </a:r>
            <a:r>
              <a:rPr dirty="0"/>
              <a:t>merge</a:t>
            </a:r>
            <a:r>
              <a:rPr spc="185" dirty="0"/>
              <a:t> </a:t>
            </a:r>
            <a:r>
              <a:rPr dirty="0"/>
              <a:t>clusters</a:t>
            </a:r>
            <a:r>
              <a:rPr spc="190" dirty="0"/>
              <a:t> </a:t>
            </a:r>
            <a:r>
              <a:rPr spc="-10" dirty="0"/>
              <a:t>(cont’d)</a:t>
            </a:r>
          </a:p>
        </p:txBody>
      </p:sp>
      <p:grpSp>
        <p:nvGrpSpPr>
          <p:cNvPr id="27" name="object 27"/>
          <p:cNvGrpSpPr/>
          <p:nvPr/>
        </p:nvGrpSpPr>
        <p:grpSpPr>
          <a:xfrm>
            <a:off x="0" y="3121545"/>
            <a:ext cx="5760085" cy="118745"/>
            <a:chOff x="0" y="3121545"/>
            <a:chExt cx="5760085" cy="118745"/>
          </a:xfrm>
        </p:grpSpPr>
        <p:sp>
          <p:nvSpPr>
            <p:cNvPr id="28" name="object 28"/>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29" name="object 29"/>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30" name="object 30"/>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31" name="object 31"/>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32" name="object 32"/>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46</a:t>
            </a:fld>
            <a:r>
              <a:rPr spc="5" dirty="0"/>
              <a:t> </a:t>
            </a:r>
            <a:r>
              <a:rPr spc="75" dirty="0"/>
              <a:t>/</a:t>
            </a:r>
            <a:r>
              <a:rPr spc="10" dirty="0"/>
              <a:t> </a:t>
            </a:r>
            <a:r>
              <a:rPr spc="35" dirty="0"/>
              <a:t>135</a:t>
            </a:r>
          </a:p>
        </p:txBody>
      </p:sp>
      <p:pic>
        <p:nvPicPr>
          <p:cNvPr id="33" name="Picture 32">
            <a:extLst>
              <a:ext uri="{FF2B5EF4-FFF2-40B4-BE49-F238E27FC236}">
                <a16:creationId xmlns:a16="http://schemas.microsoft.com/office/drawing/2014/main" id="{42DACD2D-6C3F-292D-7AD5-134F4F447548}"/>
              </a:ext>
            </a:extLst>
          </p:cNvPr>
          <p:cNvPicPr>
            <a:picLocks noChangeAspect="1"/>
          </p:cNvPicPr>
          <p:nvPr/>
        </p:nvPicPr>
        <p:blipFill>
          <a:blip r:embed="rId3"/>
          <a:stretch>
            <a:fillRect/>
          </a:stretch>
        </p:blipFill>
        <p:spPr>
          <a:xfrm>
            <a:off x="164197" y="391114"/>
            <a:ext cx="5321300" cy="260670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Distance</a:t>
            </a:r>
            <a:r>
              <a:rPr spc="185" dirty="0"/>
              <a:t> </a:t>
            </a:r>
            <a:r>
              <a:rPr dirty="0"/>
              <a:t>between</a:t>
            </a:r>
            <a:r>
              <a:rPr spc="185" dirty="0"/>
              <a:t> </a:t>
            </a:r>
            <a:r>
              <a:rPr dirty="0"/>
              <a:t>clusters:</a:t>
            </a:r>
            <a:r>
              <a:rPr spc="370" dirty="0"/>
              <a:t> </a:t>
            </a:r>
            <a:r>
              <a:rPr dirty="0"/>
              <a:t>different</a:t>
            </a:r>
            <a:r>
              <a:rPr spc="190" dirty="0"/>
              <a:t> </a:t>
            </a:r>
            <a:r>
              <a:rPr dirty="0"/>
              <a:t>ways</a:t>
            </a:r>
            <a:r>
              <a:rPr spc="190" dirty="0"/>
              <a:t> </a:t>
            </a:r>
            <a:r>
              <a:rPr spc="55" dirty="0"/>
              <a:t>to</a:t>
            </a:r>
            <a:r>
              <a:rPr spc="190" dirty="0"/>
              <a:t> </a:t>
            </a:r>
            <a:r>
              <a:rPr dirty="0"/>
              <a:t>merge</a:t>
            </a:r>
            <a:r>
              <a:rPr spc="185" dirty="0"/>
              <a:t> </a:t>
            </a:r>
            <a:r>
              <a:rPr dirty="0"/>
              <a:t>clusters</a:t>
            </a:r>
            <a:r>
              <a:rPr spc="190" dirty="0"/>
              <a:t> </a:t>
            </a:r>
            <a:r>
              <a:rPr spc="-10" dirty="0"/>
              <a:t>(cont’d)</a:t>
            </a:r>
          </a:p>
        </p:txBody>
      </p:sp>
      <p:sp>
        <p:nvSpPr>
          <p:cNvPr id="3" name="object 3"/>
          <p:cNvSpPr/>
          <p:nvPr/>
        </p:nvSpPr>
        <p:spPr>
          <a:xfrm>
            <a:off x="337972" y="68475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1842642"/>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390677" y="553580"/>
            <a:ext cx="5268595" cy="2169795"/>
          </a:xfrm>
          <a:prstGeom prst="rect">
            <a:avLst/>
          </a:prstGeom>
        </p:spPr>
        <p:txBody>
          <a:bodyPr vert="horz" wrap="square" lIns="0" tIns="50800" rIns="0" bIns="0" rtlCol="0">
            <a:spAutoFit/>
          </a:bodyPr>
          <a:lstStyle/>
          <a:p>
            <a:pPr marL="76200">
              <a:lnSpc>
                <a:spcPct val="100000"/>
              </a:lnSpc>
              <a:spcBef>
                <a:spcPts val="400"/>
              </a:spcBef>
            </a:pPr>
            <a:r>
              <a:rPr sz="1100" b="1" spc="-10" dirty="0">
                <a:latin typeface="Georgia"/>
                <a:cs typeface="Georgia"/>
              </a:rPr>
              <a:t>Radius</a:t>
            </a:r>
            <a:r>
              <a:rPr sz="1100" spc="-10" dirty="0">
                <a:latin typeface="Georgia"/>
                <a:cs typeface="Georgia"/>
              </a:rPr>
              <a:t>:</a:t>
            </a:r>
            <a:endParaRPr sz="1100">
              <a:latin typeface="Georgia"/>
              <a:cs typeface="Georgia"/>
            </a:endParaRPr>
          </a:p>
          <a:p>
            <a:pPr marL="353060" marR="171450">
              <a:lnSpc>
                <a:spcPts val="1019"/>
              </a:lnSpc>
              <a:spcBef>
                <a:spcPts val="465"/>
              </a:spcBef>
            </a:pPr>
            <a:r>
              <a:rPr sz="1000" dirty="0">
                <a:latin typeface="Georgia"/>
                <a:cs typeface="Georgia"/>
              </a:rPr>
              <a:t>Radius</a:t>
            </a:r>
            <a:r>
              <a:rPr sz="1000" spc="25" dirty="0">
                <a:latin typeface="Georgia"/>
                <a:cs typeface="Georgia"/>
              </a:rPr>
              <a:t> </a:t>
            </a:r>
            <a:r>
              <a:rPr sz="1000" dirty="0">
                <a:latin typeface="Georgia"/>
                <a:cs typeface="Georgia"/>
              </a:rPr>
              <a:t>of</a:t>
            </a:r>
            <a:r>
              <a:rPr sz="1000" spc="30" dirty="0">
                <a:latin typeface="Georgia"/>
                <a:cs typeface="Georgia"/>
              </a:rPr>
              <a:t> </a:t>
            </a:r>
            <a:r>
              <a:rPr sz="1000" dirty="0">
                <a:latin typeface="Georgia"/>
                <a:cs typeface="Georgia"/>
              </a:rPr>
              <a:t>a</a:t>
            </a:r>
            <a:r>
              <a:rPr sz="1000" spc="30" dirty="0">
                <a:latin typeface="Georgia"/>
                <a:cs typeface="Georgia"/>
              </a:rPr>
              <a:t> </a:t>
            </a:r>
            <a:r>
              <a:rPr sz="1000" spc="-10" dirty="0">
                <a:latin typeface="Georgia"/>
                <a:cs typeface="Georgia"/>
              </a:rPr>
              <a:t>cluster</a:t>
            </a:r>
            <a:r>
              <a:rPr sz="1000" spc="30" dirty="0">
                <a:latin typeface="Georgia"/>
                <a:cs typeface="Georgia"/>
              </a:rPr>
              <a:t> </a:t>
            </a:r>
            <a:r>
              <a:rPr sz="1000" dirty="0">
                <a:latin typeface="Georgia"/>
                <a:cs typeface="Georgia"/>
              </a:rPr>
              <a:t>is</a:t>
            </a:r>
            <a:r>
              <a:rPr sz="1000" spc="30" dirty="0">
                <a:latin typeface="Georgia"/>
                <a:cs typeface="Georgia"/>
              </a:rPr>
              <a:t> </a:t>
            </a:r>
            <a:r>
              <a:rPr sz="1000" dirty="0">
                <a:latin typeface="Georgia"/>
                <a:cs typeface="Georgia"/>
              </a:rPr>
              <a:t>the</a:t>
            </a:r>
            <a:r>
              <a:rPr sz="1000" spc="30" dirty="0">
                <a:latin typeface="Georgia"/>
                <a:cs typeface="Georgia"/>
              </a:rPr>
              <a:t> </a:t>
            </a:r>
            <a:r>
              <a:rPr sz="1000" spc="-10" dirty="0">
                <a:latin typeface="Georgia"/>
                <a:cs typeface="Georgia"/>
              </a:rPr>
              <a:t>distance</a:t>
            </a:r>
            <a:r>
              <a:rPr sz="1000" spc="25" dirty="0">
                <a:latin typeface="Georgia"/>
                <a:cs typeface="Georgia"/>
              </a:rPr>
              <a:t> </a:t>
            </a:r>
            <a:r>
              <a:rPr sz="1000" spc="-10" dirty="0">
                <a:latin typeface="Georgia"/>
                <a:cs typeface="Georgia"/>
              </a:rPr>
              <a:t>from</a:t>
            </a:r>
            <a:r>
              <a:rPr sz="1000" spc="30" dirty="0">
                <a:latin typeface="Georgia"/>
                <a:cs typeface="Georgia"/>
              </a:rPr>
              <a:t> </a:t>
            </a:r>
            <a:r>
              <a:rPr sz="1000" dirty="0">
                <a:latin typeface="Georgia"/>
                <a:cs typeface="Georgia"/>
              </a:rPr>
              <a:t>its</a:t>
            </a:r>
            <a:r>
              <a:rPr sz="1000" spc="30" dirty="0">
                <a:latin typeface="Georgia"/>
                <a:cs typeface="Georgia"/>
              </a:rPr>
              <a:t> </a:t>
            </a:r>
            <a:r>
              <a:rPr sz="1000" spc="-20" dirty="0">
                <a:latin typeface="Georgia"/>
                <a:cs typeface="Georgia"/>
              </a:rPr>
              <a:t>centroid</a:t>
            </a:r>
            <a:r>
              <a:rPr sz="1000" spc="30" dirty="0">
                <a:latin typeface="Georgia"/>
                <a:cs typeface="Georgia"/>
              </a:rPr>
              <a:t> </a:t>
            </a:r>
            <a:r>
              <a:rPr sz="1000" spc="-10" dirty="0">
                <a:latin typeface="Georgia"/>
                <a:cs typeface="Georgia"/>
              </a:rPr>
              <a:t>(mean)</a:t>
            </a:r>
            <a:r>
              <a:rPr sz="1000" spc="25" dirty="0">
                <a:latin typeface="Georgia"/>
                <a:cs typeface="Georgia"/>
              </a:rPr>
              <a:t> </a:t>
            </a:r>
            <a:r>
              <a:rPr sz="1000" b="1" spc="75" dirty="0">
                <a:latin typeface="Yu Gothic"/>
                <a:cs typeface="Yu Gothic"/>
              </a:rPr>
              <a:t>µ</a:t>
            </a:r>
            <a:r>
              <a:rPr sz="1000" b="1" spc="-15" dirty="0">
                <a:latin typeface="Yu Gothic"/>
                <a:cs typeface="Yu Gothic"/>
              </a:rPr>
              <a:t> </a:t>
            </a:r>
            <a:r>
              <a:rPr sz="1000" dirty="0">
                <a:latin typeface="Georgia"/>
                <a:cs typeface="Georgia"/>
              </a:rPr>
              <a:t>to</a:t>
            </a:r>
            <a:r>
              <a:rPr sz="1000" spc="30" dirty="0">
                <a:latin typeface="Georgia"/>
                <a:cs typeface="Georgia"/>
              </a:rPr>
              <a:t> </a:t>
            </a:r>
            <a:r>
              <a:rPr sz="1000" dirty="0">
                <a:latin typeface="Georgia"/>
                <a:cs typeface="Georgia"/>
              </a:rPr>
              <a:t>the</a:t>
            </a:r>
            <a:r>
              <a:rPr sz="1000" spc="25" dirty="0">
                <a:latin typeface="Georgia"/>
                <a:cs typeface="Georgia"/>
              </a:rPr>
              <a:t> </a:t>
            </a:r>
            <a:r>
              <a:rPr sz="1000" spc="-10" dirty="0">
                <a:latin typeface="Georgia"/>
                <a:cs typeface="Georgia"/>
              </a:rPr>
              <a:t>furthest</a:t>
            </a:r>
            <a:r>
              <a:rPr sz="1000" spc="30" dirty="0">
                <a:latin typeface="Georgia"/>
                <a:cs typeface="Georgia"/>
              </a:rPr>
              <a:t> </a:t>
            </a:r>
            <a:r>
              <a:rPr sz="1000" dirty="0">
                <a:latin typeface="Georgia"/>
                <a:cs typeface="Georgia"/>
              </a:rPr>
              <a:t>point</a:t>
            </a:r>
            <a:r>
              <a:rPr sz="1000" spc="30" dirty="0">
                <a:latin typeface="Georgia"/>
                <a:cs typeface="Georgia"/>
              </a:rPr>
              <a:t> </a:t>
            </a:r>
            <a:r>
              <a:rPr sz="1000" spc="-25" dirty="0">
                <a:latin typeface="Georgia"/>
                <a:cs typeface="Georgia"/>
              </a:rPr>
              <a:t>in </a:t>
            </a:r>
            <a:r>
              <a:rPr sz="1000" dirty="0">
                <a:latin typeface="Georgia"/>
                <a:cs typeface="Georgia"/>
              </a:rPr>
              <a:t>the</a:t>
            </a:r>
            <a:r>
              <a:rPr sz="1000" spc="35" dirty="0">
                <a:latin typeface="Georgia"/>
                <a:cs typeface="Georgia"/>
              </a:rPr>
              <a:t> </a:t>
            </a:r>
            <a:r>
              <a:rPr sz="1000" spc="-10" dirty="0">
                <a:latin typeface="Georgia"/>
                <a:cs typeface="Georgia"/>
              </a:rPr>
              <a:t>cluster:</a:t>
            </a:r>
            <a:endParaRPr sz="1000">
              <a:latin typeface="Georgia"/>
              <a:cs typeface="Georgia"/>
            </a:endParaRPr>
          </a:p>
          <a:p>
            <a:pPr marL="1888489">
              <a:lnSpc>
                <a:spcPct val="100000"/>
              </a:lnSpc>
              <a:spcBef>
                <a:spcPts val="825"/>
              </a:spcBef>
              <a:tabLst>
                <a:tab pos="4954270" algn="l"/>
              </a:tabLst>
            </a:pPr>
            <a:r>
              <a:rPr sz="1000" i="1" spc="160" dirty="0">
                <a:latin typeface="Calibri"/>
                <a:cs typeface="Calibri"/>
              </a:rPr>
              <a:t>r</a:t>
            </a:r>
            <a:r>
              <a:rPr sz="1000" spc="160" dirty="0">
                <a:latin typeface="Calibri"/>
                <a:cs typeface="Calibri"/>
              </a:rPr>
              <a:t>(</a:t>
            </a:r>
            <a:r>
              <a:rPr sz="1000" i="1" spc="160" dirty="0">
                <a:latin typeface="Calibri"/>
                <a:cs typeface="Calibri"/>
              </a:rPr>
              <a:t>C</a:t>
            </a:r>
            <a:r>
              <a:rPr sz="1000" spc="160" dirty="0">
                <a:latin typeface="Calibri"/>
                <a:cs typeface="Calibri"/>
              </a:rPr>
              <a:t>)</a:t>
            </a:r>
            <a:r>
              <a:rPr sz="1000" dirty="0">
                <a:latin typeface="Calibri"/>
                <a:cs typeface="Calibri"/>
              </a:rPr>
              <a:t> </a:t>
            </a:r>
            <a:r>
              <a:rPr sz="1000" spc="225" dirty="0">
                <a:latin typeface="Calibri"/>
                <a:cs typeface="Calibri"/>
              </a:rPr>
              <a:t>=</a:t>
            </a:r>
            <a:r>
              <a:rPr sz="1000" spc="55" dirty="0">
                <a:latin typeface="Calibri"/>
                <a:cs typeface="Calibri"/>
              </a:rPr>
              <a:t> </a:t>
            </a:r>
            <a:r>
              <a:rPr sz="1000" spc="50" dirty="0">
                <a:latin typeface="Georgia"/>
                <a:cs typeface="Georgia"/>
              </a:rPr>
              <a:t>max</a:t>
            </a:r>
            <a:r>
              <a:rPr sz="1000" spc="50" dirty="0">
                <a:latin typeface="Cambria"/>
                <a:cs typeface="Cambria"/>
              </a:rPr>
              <a:t>{</a:t>
            </a:r>
            <a:r>
              <a:rPr sz="1000" i="1" spc="50" dirty="0">
                <a:latin typeface="Arial"/>
                <a:cs typeface="Arial"/>
              </a:rPr>
              <a:t>δ</a:t>
            </a:r>
            <a:r>
              <a:rPr sz="1000" spc="50" dirty="0">
                <a:latin typeface="Calibri"/>
                <a:cs typeface="Calibri"/>
              </a:rPr>
              <a:t>(</a:t>
            </a:r>
            <a:r>
              <a:rPr sz="1000" b="1" spc="50" dirty="0">
                <a:latin typeface="Yu Gothic"/>
                <a:cs typeface="Yu Gothic"/>
              </a:rPr>
              <a:t>µ</a:t>
            </a:r>
            <a:r>
              <a:rPr sz="1050" i="1" spc="75" baseline="-19841" dirty="0">
                <a:latin typeface="Calibri"/>
                <a:cs typeface="Calibri"/>
              </a:rPr>
              <a:t>C</a:t>
            </a:r>
            <a:r>
              <a:rPr sz="1000" i="1" spc="50" dirty="0">
                <a:latin typeface="Calibri"/>
                <a:cs typeface="Calibri"/>
              </a:rPr>
              <a:t>,</a:t>
            </a:r>
            <a:r>
              <a:rPr sz="1000" i="1" spc="-60" dirty="0">
                <a:latin typeface="Calibri"/>
                <a:cs typeface="Calibri"/>
              </a:rPr>
              <a:t> </a:t>
            </a:r>
            <a:r>
              <a:rPr sz="1000" spc="95" dirty="0">
                <a:latin typeface="Cambria"/>
                <a:cs typeface="Cambria"/>
              </a:rPr>
              <a:t>x</a:t>
            </a:r>
            <a:r>
              <a:rPr sz="1000" spc="95" dirty="0">
                <a:latin typeface="Calibri"/>
                <a:cs typeface="Calibri"/>
              </a:rPr>
              <a:t>)</a:t>
            </a:r>
            <a:r>
              <a:rPr sz="1000" spc="110" dirty="0">
                <a:latin typeface="Calibri"/>
                <a:cs typeface="Calibri"/>
              </a:rPr>
              <a:t> </a:t>
            </a:r>
            <a:r>
              <a:rPr sz="1000" dirty="0">
                <a:latin typeface="Cambria"/>
                <a:cs typeface="Cambria"/>
              </a:rPr>
              <a:t>|</a:t>
            </a:r>
            <a:r>
              <a:rPr sz="1000" spc="120" dirty="0">
                <a:latin typeface="Cambria"/>
                <a:cs typeface="Cambria"/>
              </a:rPr>
              <a:t> </a:t>
            </a:r>
            <a:r>
              <a:rPr sz="1000" spc="110" dirty="0">
                <a:latin typeface="Cambria"/>
                <a:cs typeface="Cambria"/>
              </a:rPr>
              <a:t>x</a:t>
            </a:r>
            <a:r>
              <a:rPr sz="1000" spc="55" dirty="0">
                <a:latin typeface="Cambria"/>
                <a:cs typeface="Cambria"/>
              </a:rPr>
              <a:t> </a:t>
            </a:r>
            <a:r>
              <a:rPr sz="1000" spc="-150" dirty="0">
                <a:latin typeface="Lucida Sans Unicode"/>
                <a:cs typeface="Lucida Sans Unicode"/>
              </a:rPr>
              <a:t>∈</a:t>
            </a:r>
            <a:r>
              <a:rPr sz="1000" spc="-35" dirty="0">
                <a:latin typeface="Lucida Sans Unicode"/>
                <a:cs typeface="Lucida Sans Unicode"/>
              </a:rPr>
              <a:t> </a:t>
            </a:r>
            <a:r>
              <a:rPr sz="1000" i="1" spc="120" dirty="0">
                <a:latin typeface="Calibri"/>
                <a:cs typeface="Calibri"/>
              </a:rPr>
              <a:t>C</a:t>
            </a:r>
            <a:r>
              <a:rPr sz="1000" spc="120" dirty="0">
                <a:latin typeface="Calibri"/>
                <a:cs typeface="Calibri"/>
              </a:rPr>
              <a:t>)</a:t>
            </a:r>
            <a:r>
              <a:rPr sz="1000" spc="120" dirty="0">
                <a:latin typeface="Cambria"/>
                <a:cs typeface="Cambria"/>
              </a:rPr>
              <a:t>}</a:t>
            </a:r>
            <a:r>
              <a:rPr sz="1000" dirty="0">
                <a:latin typeface="Cambria"/>
                <a:cs typeface="Cambria"/>
              </a:rPr>
              <a:t>	</a:t>
            </a:r>
            <a:r>
              <a:rPr sz="1000" spc="-20" dirty="0">
                <a:latin typeface="Georgia"/>
                <a:cs typeface="Georgia"/>
              </a:rPr>
              <a:t>(15)</a:t>
            </a:r>
            <a:endParaRPr sz="1000">
              <a:latin typeface="Georgia"/>
              <a:cs typeface="Georgia"/>
            </a:endParaRPr>
          </a:p>
          <a:p>
            <a:pPr marL="353060" marR="278130">
              <a:lnSpc>
                <a:spcPts val="1019"/>
              </a:lnSpc>
              <a:spcBef>
                <a:spcPts val="595"/>
              </a:spcBef>
            </a:pPr>
            <a:r>
              <a:rPr sz="1000" spc="-20" dirty="0">
                <a:latin typeface="Georgia"/>
                <a:cs typeface="Georgia"/>
              </a:rPr>
              <a:t>Merging</a:t>
            </a:r>
            <a:r>
              <a:rPr sz="1000" spc="30" dirty="0">
                <a:latin typeface="Georgia"/>
                <a:cs typeface="Georgia"/>
              </a:rPr>
              <a:t> </a:t>
            </a:r>
            <a:r>
              <a:rPr sz="1000" dirty="0">
                <a:latin typeface="Georgia"/>
                <a:cs typeface="Georgia"/>
              </a:rPr>
              <a:t>any</a:t>
            </a:r>
            <a:r>
              <a:rPr sz="1000" spc="30" dirty="0">
                <a:latin typeface="Georgia"/>
                <a:cs typeface="Georgia"/>
              </a:rPr>
              <a:t> </a:t>
            </a:r>
            <a:r>
              <a:rPr sz="1000" dirty="0">
                <a:latin typeface="Georgia"/>
                <a:cs typeface="Georgia"/>
              </a:rPr>
              <a:t>two</a:t>
            </a:r>
            <a:r>
              <a:rPr sz="1000" spc="30" dirty="0">
                <a:latin typeface="Georgia"/>
                <a:cs typeface="Georgia"/>
              </a:rPr>
              <a:t> </a:t>
            </a:r>
            <a:r>
              <a:rPr sz="1000" spc="-20" dirty="0">
                <a:latin typeface="Georgia"/>
                <a:cs typeface="Georgia"/>
              </a:rPr>
              <a:t>clusters</a:t>
            </a:r>
            <a:r>
              <a:rPr sz="1000" spc="35" dirty="0">
                <a:latin typeface="Georgia"/>
                <a:cs typeface="Georgia"/>
              </a:rPr>
              <a:t> </a:t>
            </a:r>
            <a:r>
              <a:rPr sz="1000" dirty="0">
                <a:latin typeface="Georgia"/>
                <a:cs typeface="Georgia"/>
              </a:rPr>
              <a:t>that</a:t>
            </a:r>
            <a:r>
              <a:rPr sz="1000" spc="30" dirty="0">
                <a:latin typeface="Georgia"/>
                <a:cs typeface="Georgia"/>
              </a:rPr>
              <a:t> </a:t>
            </a:r>
            <a:r>
              <a:rPr sz="1000" spc="-20" dirty="0">
                <a:latin typeface="Georgia"/>
                <a:cs typeface="Georgia"/>
              </a:rPr>
              <a:t>form</a:t>
            </a:r>
            <a:r>
              <a:rPr sz="1000" spc="30" dirty="0">
                <a:latin typeface="Georgia"/>
                <a:cs typeface="Georgia"/>
              </a:rPr>
              <a:t> </a:t>
            </a:r>
            <a:r>
              <a:rPr sz="1000" dirty="0">
                <a:latin typeface="Georgia"/>
                <a:cs typeface="Georgia"/>
              </a:rPr>
              <a:t>a</a:t>
            </a:r>
            <a:r>
              <a:rPr sz="1000" spc="35" dirty="0">
                <a:latin typeface="Georgia"/>
                <a:cs typeface="Georgia"/>
              </a:rPr>
              <a:t> </a:t>
            </a:r>
            <a:r>
              <a:rPr sz="1000" dirty="0">
                <a:latin typeface="Georgia"/>
                <a:cs typeface="Georgia"/>
              </a:rPr>
              <a:t>new</a:t>
            </a:r>
            <a:r>
              <a:rPr sz="1000" spc="30" dirty="0">
                <a:latin typeface="Georgia"/>
                <a:cs typeface="Georgia"/>
              </a:rPr>
              <a:t> </a:t>
            </a:r>
            <a:r>
              <a:rPr sz="1000" spc="-10" dirty="0">
                <a:latin typeface="Georgia"/>
                <a:cs typeface="Georgia"/>
              </a:rPr>
              <a:t>cluster</a:t>
            </a:r>
            <a:r>
              <a:rPr sz="1000" spc="30" dirty="0">
                <a:latin typeface="Georgia"/>
                <a:cs typeface="Georgia"/>
              </a:rPr>
              <a:t> </a:t>
            </a:r>
            <a:r>
              <a:rPr sz="1000" dirty="0">
                <a:latin typeface="Georgia"/>
                <a:cs typeface="Georgia"/>
              </a:rPr>
              <a:t>(if</a:t>
            </a:r>
            <a:r>
              <a:rPr sz="1000" spc="35" dirty="0">
                <a:latin typeface="Georgia"/>
                <a:cs typeface="Georgia"/>
              </a:rPr>
              <a:t> </a:t>
            </a:r>
            <a:r>
              <a:rPr sz="1000" dirty="0">
                <a:latin typeface="Georgia"/>
                <a:cs typeface="Georgia"/>
              </a:rPr>
              <a:t>being</a:t>
            </a:r>
            <a:r>
              <a:rPr sz="1000" spc="30" dirty="0">
                <a:latin typeface="Georgia"/>
                <a:cs typeface="Georgia"/>
              </a:rPr>
              <a:t> </a:t>
            </a:r>
            <a:r>
              <a:rPr sz="1000" spc="-20" dirty="0">
                <a:latin typeface="Georgia"/>
                <a:cs typeface="Georgia"/>
              </a:rPr>
              <a:t>merged)</a:t>
            </a:r>
            <a:r>
              <a:rPr sz="1000" spc="30" dirty="0">
                <a:latin typeface="Georgia"/>
                <a:cs typeface="Georgia"/>
              </a:rPr>
              <a:t> </a:t>
            </a:r>
            <a:r>
              <a:rPr sz="1000" spc="-10" dirty="0">
                <a:latin typeface="Georgia"/>
                <a:cs typeface="Georgia"/>
              </a:rPr>
              <a:t>having</a:t>
            </a:r>
            <a:r>
              <a:rPr sz="1000" spc="35" dirty="0">
                <a:latin typeface="Georgia"/>
                <a:cs typeface="Georgia"/>
              </a:rPr>
              <a:t> </a:t>
            </a:r>
            <a:r>
              <a:rPr sz="1000" spc="-10" dirty="0">
                <a:latin typeface="Georgia"/>
                <a:cs typeface="Georgia"/>
              </a:rPr>
              <a:t>smallest radius</a:t>
            </a:r>
            <a:r>
              <a:rPr sz="1000" spc="30" dirty="0">
                <a:latin typeface="Georgia"/>
                <a:cs typeface="Georgia"/>
              </a:rPr>
              <a:t> </a:t>
            </a:r>
            <a:r>
              <a:rPr sz="1000" dirty="0">
                <a:latin typeface="Georgia"/>
                <a:cs typeface="Georgia"/>
              </a:rPr>
              <a:t>at</a:t>
            </a:r>
            <a:r>
              <a:rPr sz="1000" spc="35" dirty="0">
                <a:latin typeface="Georgia"/>
                <a:cs typeface="Georgia"/>
              </a:rPr>
              <a:t> </a:t>
            </a:r>
            <a:r>
              <a:rPr sz="1000" spc="-10" dirty="0">
                <a:latin typeface="Georgia"/>
                <a:cs typeface="Georgia"/>
              </a:rPr>
              <a:t>each</a:t>
            </a:r>
            <a:r>
              <a:rPr sz="1000" spc="35" dirty="0">
                <a:latin typeface="Georgia"/>
                <a:cs typeface="Georgia"/>
              </a:rPr>
              <a:t> </a:t>
            </a:r>
            <a:r>
              <a:rPr sz="1000" spc="-10" dirty="0">
                <a:latin typeface="Georgia"/>
                <a:cs typeface="Georgia"/>
              </a:rPr>
              <a:t>iteration.</a:t>
            </a:r>
            <a:endParaRPr sz="1000">
              <a:latin typeface="Georgia"/>
              <a:cs typeface="Georgia"/>
            </a:endParaRPr>
          </a:p>
          <a:p>
            <a:pPr marL="76200">
              <a:lnSpc>
                <a:spcPct val="100000"/>
              </a:lnSpc>
              <a:spcBef>
                <a:spcPts val="635"/>
              </a:spcBef>
            </a:pPr>
            <a:r>
              <a:rPr sz="1100" b="1" spc="-10" dirty="0">
                <a:latin typeface="Georgia"/>
                <a:cs typeface="Georgia"/>
              </a:rPr>
              <a:t>Diameter</a:t>
            </a:r>
            <a:r>
              <a:rPr sz="1100" spc="-10" dirty="0">
                <a:latin typeface="Georgia"/>
                <a:cs typeface="Georgia"/>
              </a:rPr>
              <a:t>:</a:t>
            </a:r>
            <a:endParaRPr sz="1100">
              <a:latin typeface="Georgia"/>
              <a:cs typeface="Georgia"/>
            </a:endParaRPr>
          </a:p>
          <a:p>
            <a:pPr marL="353060">
              <a:lnSpc>
                <a:spcPct val="100000"/>
              </a:lnSpc>
              <a:spcBef>
                <a:spcPts val="275"/>
              </a:spcBef>
            </a:pPr>
            <a:r>
              <a:rPr sz="1000" spc="-10" dirty="0">
                <a:latin typeface="Georgia"/>
                <a:cs typeface="Georgia"/>
              </a:rPr>
              <a:t>Diameter</a:t>
            </a:r>
            <a:r>
              <a:rPr sz="1000" spc="25" dirty="0">
                <a:latin typeface="Georgia"/>
                <a:cs typeface="Georgia"/>
              </a:rPr>
              <a:t> </a:t>
            </a:r>
            <a:r>
              <a:rPr sz="1000" dirty="0">
                <a:latin typeface="Georgia"/>
                <a:cs typeface="Georgia"/>
              </a:rPr>
              <a:t>of</a:t>
            </a:r>
            <a:r>
              <a:rPr sz="1000" spc="25" dirty="0">
                <a:latin typeface="Georgia"/>
                <a:cs typeface="Georgia"/>
              </a:rPr>
              <a:t> </a:t>
            </a:r>
            <a:r>
              <a:rPr sz="1000" dirty="0">
                <a:latin typeface="Georgia"/>
                <a:cs typeface="Georgia"/>
              </a:rPr>
              <a:t>a</a:t>
            </a:r>
            <a:r>
              <a:rPr sz="1000" spc="25" dirty="0">
                <a:latin typeface="Georgia"/>
                <a:cs typeface="Georgia"/>
              </a:rPr>
              <a:t> </a:t>
            </a:r>
            <a:r>
              <a:rPr sz="1000" spc="-10" dirty="0">
                <a:latin typeface="Georgia"/>
                <a:cs typeface="Georgia"/>
              </a:rPr>
              <a:t>cluster</a:t>
            </a:r>
            <a:r>
              <a:rPr sz="1000" spc="25" dirty="0">
                <a:latin typeface="Georgia"/>
                <a:cs typeface="Georgia"/>
              </a:rPr>
              <a:t> </a:t>
            </a:r>
            <a:r>
              <a:rPr sz="1000" dirty="0">
                <a:latin typeface="Georgia"/>
                <a:cs typeface="Georgia"/>
              </a:rPr>
              <a:t>is</a:t>
            </a:r>
            <a:r>
              <a:rPr sz="1000" spc="25" dirty="0">
                <a:latin typeface="Georgia"/>
                <a:cs typeface="Georgia"/>
              </a:rPr>
              <a:t> </a:t>
            </a:r>
            <a:r>
              <a:rPr sz="1000" dirty="0">
                <a:latin typeface="Georgia"/>
                <a:cs typeface="Georgia"/>
              </a:rPr>
              <a:t>the</a:t>
            </a:r>
            <a:r>
              <a:rPr sz="1000" spc="25" dirty="0">
                <a:latin typeface="Georgia"/>
                <a:cs typeface="Georgia"/>
              </a:rPr>
              <a:t> </a:t>
            </a:r>
            <a:r>
              <a:rPr sz="1000" spc="-10" dirty="0">
                <a:latin typeface="Georgia"/>
                <a:cs typeface="Georgia"/>
              </a:rPr>
              <a:t>distance</a:t>
            </a:r>
            <a:r>
              <a:rPr sz="1000" spc="25" dirty="0">
                <a:latin typeface="Georgia"/>
                <a:cs typeface="Georgia"/>
              </a:rPr>
              <a:t> </a:t>
            </a:r>
            <a:r>
              <a:rPr sz="1000" spc="-20" dirty="0">
                <a:latin typeface="Georgia"/>
                <a:cs typeface="Georgia"/>
              </a:rPr>
              <a:t>between</a:t>
            </a:r>
            <a:r>
              <a:rPr sz="1000" spc="25" dirty="0">
                <a:latin typeface="Georgia"/>
                <a:cs typeface="Georgia"/>
              </a:rPr>
              <a:t> </a:t>
            </a:r>
            <a:r>
              <a:rPr sz="1000" dirty="0">
                <a:latin typeface="Georgia"/>
                <a:cs typeface="Georgia"/>
              </a:rPr>
              <a:t>two</a:t>
            </a:r>
            <a:r>
              <a:rPr sz="1000" spc="25" dirty="0">
                <a:latin typeface="Georgia"/>
                <a:cs typeface="Georgia"/>
              </a:rPr>
              <a:t> </a:t>
            </a:r>
            <a:r>
              <a:rPr sz="1000" spc="-10" dirty="0">
                <a:latin typeface="Georgia"/>
                <a:cs typeface="Georgia"/>
              </a:rPr>
              <a:t>furthest</a:t>
            </a:r>
            <a:r>
              <a:rPr sz="1000" spc="25" dirty="0">
                <a:latin typeface="Georgia"/>
                <a:cs typeface="Georgia"/>
              </a:rPr>
              <a:t> </a:t>
            </a:r>
            <a:r>
              <a:rPr sz="1000" spc="-10" dirty="0">
                <a:latin typeface="Georgia"/>
                <a:cs typeface="Georgia"/>
              </a:rPr>
              <a:t>points</a:t>
            </a:r>
            <a:r>
              <a:rPr sz="1000" spc="25" dirty="0">
                <a:latin typeface="Georgia"/>
                <a:cs typeface="Georgia"/>
              </a:rPr>
              <a:t> </a:t>
            </a:r>
            <a:r>
              <a:rPr sz="1000" dirty="0">
                <a:latin typeface="Georgia"/>
                <a:cs typeface="Georgia"/>
              </a:rPr>
              <a:t>in</a:t>
            </a:r>
            <a:r>
              <a:rPr sz="1000" spc="25" dirty="0">
                <a:latin typeface="Georgia"/>
                <a:cs typeface="Georgia"/>
              </a:rPr>
              <a:t> </a:t>
            </a:r>
            <a:r>
              <a:rPr sz="1000" dirty="0">
                <a:latin typeface="Georgia"/>
                <a:cs typeface="Georgia"/>
              </a:rPr>
              <a:t>the</a:t>
            </a:r>
            <a:r>
              <a:rPr sz="1000" spc="25" dirty="0">
                <a:latin typeface="Georgia"/>
                <a:cs typeface="Georgia"/>
              </a:rPr>
              <a:t> </a:t>
            </a:r>
            <a:r>
              <a:rPr sz="1000" spc="-10" dirty="0">
                <a:latin typeface="Georgia"/>
                <a:cs typeface="Georgia"/>
              </a:rPr>
              <a:t>cluster:</a:t>
            </a:r>
            <a:endParaRPr sz="1000">
              <a:latin typeface="Georgia"/>
              <a:cs typeface="Georgia"/>
            </a:endParaRPr>
          </a:p>
          <a:p>
            <a:pPr marL="1866264">
              <a:lnSpc>
                <a:spcPct val="100000"/>
              </a:lnSpc>
              <a:spcBef>
                <a:spcPts val="835"/>
              </a:spcBef>
              <a:tabLst>
                <a:tab pos="4954270" algn="l"/>
              </a:tabLst>
            </a:pPr>
            <a:r>
              <a:rPr sz="1000" i="1" spc="130" dirty="0">
                <a:latin typeface="Calibri"/>
                <a:cs typeface="Calibri"/>
              </a:rPr>
              <a:t>d</a:t>
            </a:r>
            <a:r>
              <a:rPr sz="1000" spc="130" dirty="0">
                <a:latin typeface="Calibri"/>
                <a:cs typeface="Calibri"/>
              </a:rPr>
              <a:t>(</a:t>
            </a:r>
            <a:r>
              <a:rPr sz="1000" i="1" spc="130" dirty="0">
                <a:latin typeface="Calibri"/>
                <a:cs typeface="Calibri"/>
              </a:rPr>
              <a:t>C</a:t>
            </a:r>
            <a:r>
              <a:rPr sz="1000" spc="130" dirty="0">
                <a:latin typeface="Calibri"/>
                <a:cs typeface="Calibri"/>
              </a:rPr>
              <a:t>)</a:t>
            </a:r>
            <a:r>
              <a:rPr sz="1000" spc="20" dirty="0">
                <a:latin typeface="Calibri"/>
                <a:cs typeface="Calibri"/>
              </a:rPr>
              <a:t> </a:t>
            </a:r>
            <a:r>
              <a:rPr sz="1000" spc="225" dirty="0">
                <a:latin typeface="Calibri"/>
                <a:cs typeface="Calibri"/>
              </a:rPr>
              <a:t>=</a:t>
            </a:r>
            <a:r>
              <a:rPr sz="1000" spc="75" dirty="0">
                <a:latin typeface="Calibri"/>
                <a:cs typeface="Calibri"/>
              </a:rPr>
              <a:t> </a:t>
            </a:r>
            <a:r>
              <a:rPr sz="1000" dirty="0">
                <a:latin typeface="Georgia"/>
                <a:cs typeface="Georgia"/>
              </a:rPr>
              <a:t>max</a:t>
            </a:r>
            <a:r>
              <a:rPr sz="1000" dirty="0">
                <a:latin typeface="Cambria"/>
                <a:cs typeface="Cambria"/>
              </a:rPr>
              <a:t>{</a:t>
            </a:r>
            <a:r>
              <a:rPr sz="1000" i="1" dirty="0">
                <a:latin typeface="Arial"/>
                <a:cs typeface="Arial"/>
              </a:rPr>
              <a:t>δ</a:t>
            </a:r>
            <a:r>
              <a:rPr sz="1000" dirty="0">
                <a:latin typeface="Calibri"/>
                <a:cs typeface="Calibri"/>
              </a:rPr>
              <a:t>(</a:t>
            </a:r>
            <a:r>
              <a:rPr sz="1000" dirty="0">
                <a:latin typeface="Cambria"/>
                <a:cs typeface="Cambria"/>
              </a:rPr>
              <a:t>x</a:t>
            </a:r>
            <a:r>
              <a:rPr sz="1000" i="1" dirty="0">
                <a:latin typeface="Calibri"/>
                <a:cs typeface="Calibri"/>
              </a:rPr>
              <a:t>,</a:t>
            </a:r>
            <a:r>
              <a:rPr sz="1000" i="1" spc="-40" dirty="0">
                <a:latin typeface="Calibri"/>
                <a:cs typeface="Calibri"/>
              </a:rPr>
              <a:t> </a:t>
            </a:r>
            <a:r>
              <a:rPr sz="1000" spc="95" dirty="0">
                <a:latin typeface="Cambria"/>
                <a:cs typeface="Cambria"/>
              </a:rPr>
              <a:t>y</a:t>
            </a:r>
            <a:r>
              <a:rPr sz="1000" spc="95" dirty="0">
                <a:latin typeface="Calibri"/>
                <a:cs typeface="Calibri"/>
              </a:rPr>
              <a:t>)</a:t>
            </a:r>
            <a:r>
              <a:rPr sz="1000" spc="135" dirty="0">
                <a:latin typeface="Calibri"/>
                <a:cs typeface="Calibri"/>
              </a:rPr>
              <a:t> </a:t>
            </a:r>
            <a:r>
              <a:rPr sz="1000" dirty="0">
                <a:latin typeface="Cambria"/>
                <a:cs typeface="Cambria"/>
              </a:rPr>
              <a:t>|</a:t>
            </a:r>
            <a:r>
              <a:rPr sz="1000" spc="150" dirty="0">
                <a:latin typeface="Cambria"/>
                <a:cs typeface="Cambria"/>
              </a:rPr>
              <a:t> </a:t>
            </a:r>
            <a:r>
              <a:rPr sz="1000" spc="65" dirty="0">
                <a:latin typeface="Cambria"/>
                <a:cs typeface="Cambria"/>
              </a:rPr>
              <a:t>x</a:t>
            </a:r>
            <a:r>
              <a:rPr sz="1000" i="1" spc="65" dirty="0">
                <a:latin typeface="Calibri"/>
                <a:cs typeface="Calibri"/>
              </a:rPr>
              <a:t>,</a:t>
            </a:r>
            <a:r>
              <a:rPr sz="1000" i="1" spc="-45" dirty="0">
                <a:latin typeface="Calibri"/>
                <a:cs typeface="Calibri"/>
              </a:rPr>
              <a:t> </a:t>
            </a:r>
            <a:r>
              <a:rPr sz="1000" spc="100" dirty="0">
                <a:latin typeface="Cambria"/>
                <a:cs typeface="Cambria"/>
              </a:rPr>
              <a:t>y </a:t>
            </a:r>
            <a:r>
              <a:rPr sz="1000" spc="-150" dirty="0">
                <a:latin typeface="Lucida Sans Unicode"/>
                <a:cs typeface="Lucida Sans Unicode"/>
              </a:rPr>
              <a:t>∈</a:t>
            </a:r>
            <a:r>
              <a:rPr sz="1000" spc="-15" dirty="0">
                <a:latin typeface="Lucida Sans Unicode"/>
                <a:cs typeface="Lucida Sans Unicode"/>
              </a:rPr>
              <a:t> </a:t>
            </a:r>
            <a:r>
              <a:rPr sz="1000" i="1" spc="120" dirty="0">
                <a:latin typeface="Calibri"/>
                <a:cs typeface="Calibri"/>
              </a:rPr>
              <a:t>C</a:t>
            </a:r>
            <a:r>
              <a:rPr sz="1000" spc="120" dirty="0">
                <a:latin typeface="Calibri"/>
                <a:cs typeface="Calibri"/>
              </a:rPr>
              <a:t>)</a:t>
            </a:r>
            <a:r>
              <a:rPr sz="1000" spc="120" dirty="0">
                <a:latin typeface="Cambria"/>
                <a:cs typeface="Cambria"/>
              </a:rPr>
              <a:t>}</a:t>
            </a:r>
            <a:r>
              <a:rPr sz="1000" dirty="0">
                <a:latin typeface="Cambria"/>
                <a:cs typeface="Cambria"/>
              </a:rPr>
              <a:t>	</a:t>
            </a:r>
            <a:r>
              <a:rPr sz="1000" spc="-20" dirty="0">
                <a:latin typeface="Georgia"/>
                <a:cs typeface="Georgia"/>
              </a:rPr>
              <a:t>(16)</a:t>
            </a:r>
            <a:endParaRPr sz="1000">
              <a:latin typeface="Georgia"/>
              <a:cs typeface="Georgia"/>
            </a:endParaRPr>
          </a:p>
          <a:p>
            <a:pPr marL="353060" marR="278130">
              <a:lnSpc>
                <a:spcPts val="1019"/>
              </a:lnSpc>
              <a:spcBef>
                <a:spcPts val="600"/>
              </a:spcBef>
            </a:pPr>
            <a:r>
              <a:rPr sz="1000" spc="-20" dirty="0">
                <a:latin typeface="Georgia"/>
                <a:cs typeface="Georgia"/>
              </a:rPr>
              <a:t>Merging</a:t>
            </a:r>
            <a:r>
              <a:rPr sz="1000" spc="30" dirty="0">
                <a:latin typeface="Georgia"/>
                <a:cs typeface="Georgia"/>
              </a:rPr>
              <a:t> </a:t>
            </a:r>
            <a:r>
              <a:rPr sz="1000" dirty="0">
                <a:latin typeface="Georgia"/>
                <a:cs typeface="Georgia"/>
              </a:rPr>
              <a:t>any</a:t>
            </a:r>
            <a:r>
              <a:rPr sz="1000" spc="30" dirty="0">
                <a:latin typeface="Georgia"/>
                <a:cs typeface="Georgia"/>
              </a:rPr>
              <a:t> </a:t>
            </a:r>
            <a:r>
              <a:rPr sz="1000" dirty="0">
                <a:latin typeface="Georgia"/>
                <a:cs typeface="Georgia"/>
              </a:rPr>
              <a:t>two</a:t>
            </a:r>
            <a:r>
              <a:rPr sz="1000" spc="30" dirty="0">
                <a:latin typeface="Georgia"/>
                <a:cs typeface="Georgia"/>
              </a:rPr>
              <a:t> </a:t>
            </a:r>
            <a:r>
              <a:rPr sz="1000" spc="-20" dirty="0">
                <a:latin typeface="Georgia"/>
                <a:cs typeface="Georgia"/>
              </a:rPr>
              <a:t>clusters</a:t>
            </a:r>
            <a:r>
              <a:rPr sz="1000" spc="35" dirty="0">
                <a:latin typeface="Georgia"/>
                <a:cs typeface="Georgia"/>
              </a:rPr>
              <a:t> </a:t>
            </a:r>
            <a:r>
              <a:rPr sz="1000" dirty="0">
                <a:latin typeface="Georgia"/>
                <a:cs typeface="Georgia"/>
              </a:rPr>
              <a:t>that</a:t>
            </a:r>
            <a:r>
              <a:rPr sz="1000" spc="30" dirty="0">
                <a:latin typeface="Georgia"/>
                <a:cs typeface="Georgia"/>
              </a:rPr>
              <a:t> </a:t>
            </a:r>
            <a:r>
              <a:rPr sz="1000" spc="-20" dirty="0">
                <a:latin typeface="Georgia"/>
                <a:cs typeface="Georgia"/>
              </a:rPr>
              <a:t>form</a:t>
            </a:r>
            <a:r>
              <a:rPr sz="1000" spc="30" dirty="0">
                <a:latin typeface="Georgia"/>
                <a:cs typeface="Georgia"/>
              </a:rPr>
              <a:t> </a:t>
            </a:r>
            <a:r>
              <a:rPr sz="1000" dirty="0">
                <a:latin typeface="Georgia"/>
                <a:cs typeface="Georgia"/>
              </a:rPr>
              <a:t>a</a:t>
            </a:r>
            <a:r>
              <a:rPr sz="1000" spc="35" dirty="0">
                <a:latin typeface="Georgia"/>
                <a:cs typeface="Georgia"/>
              </a:rPr>
              <a:t> </a:t>
            </a:r>
            <a:r>
              <a:rPr sz="1000" dirty="0">
                <a:latin typeface="Georgia"/>
                <a:cs typeface="Georgia"/>
              </a:rPr>
              <a:t>new</a:t>
            </a:r>
            <a:r>
              <a:rPr sz="1000" spc="30" dirty="0">
                <a:latin typeface="Georgia"/>
                <a:cs typeface="Georgia"/>
              </a:rPr>
              <a:t> </a:t>
            </a:r>
            <a:r>
              <a:rPr sz="1000" spc="-10" dirty="0">
                <a:latin typeface="Georgia"/>
                <a:cs typeface="Georgia"/>
              </a:rPr>
              <a:t>cluster</a:t>
            </a:r>
            <a:r>
              <a:rPr sz="1000" spc="30" dirty="0">
                <a:latin typeface="Georgia"/>
                <a:cs typeface="Georgia"/>
              </a:rPr>
              <a:t> </a:t>
            </a:r>
            <a:r>
              <a:rPr sz="1000" dirty="0">
                <a:latin typeface="Georgia"/>
                <a:cs typeface="Georgia"/>
              </a:rPr>
              <a:t>(if</a:t>
            </a:r>
            <a:r>
              <a:rPr sz="1000" spc="35" dirty="0">
                <a:latin typeface="Georgia"/>
                <a:cs typeface="Georgia"/>
              </a:rPr>
              <a:t> </a:t>
            </a:r>
            <a:r>
              <a:rPr sz="1000" dirty="0">
                <a:latin typeface="Georgia"/>
                <a:cs typeface="Georgia"/>
              </a:rPr>
              <a:t>being</a:t>
            </a:r>
            <a:r>
              <a:rPr sz="1000" spc="30" dirty="0">
                <a:latin typeface="Georgia"/>
                <a:cs typeface="Georgia"/>
              </a:rPr>
              <a:t> </a:t>
            </a:r>
            <a:r>
              <a:rPr sz="1000" spc="-20" dirty="0">
                <a:latin typeface="Georgia"/>
                <a:cs typeface="Georgia"/>
              </a:rPr>
              <a:t>merged)</a:t>
            </a:r>
            <a:r>
              <a:rPr sz="1000" spc="30" dirty="0">
                <a:latin typeface="Georgia"/>
                <a:cs typeface="Georgia"/>
              </a:rPr>
              <a:t> </a:t>
            </a:r>
            <a:r>
              <a:rPr sz="1000" spc="-10" dirty="0">
                <a:latin typeface="Georgia"/>
                <a:cs typeface="Georgia"/>
              </a:rPr>
              <a:t>having</a:t>
            </a:r>
            <a:r>
              <a:rPr sz="1000" spc="35" dirty="0">
                <a:latin typeface="Georgia"/>
                <a:cs typeface="Georgia"/>
              </a:rPr>
              <a:t> </a:t>
            </a:r>
            <a:r>
              <a:rPr sz="1000" spc="-10" dirty="0">
                <a:latin typeface="Georgia"/>
                <a:cs typeface="Georgia"/>
              </a:rPr>
              <a:t>smallest </a:t>
            </a:r>
            <a:r>
              <a:rPr sz="1000" spc="-20" dirty="0">
                <a:latin typeface="Georgia"/>
                <a:cs typeface="Georgia"/>
              </a:rPr>
              <a:t>diameter</a:t>
            </a:r>
            <a:r>
              <a:rPr sz="1000" spc="50" dirty="0">
                <a:latin typeface="Georgia"/>
                <a:cs typeface="Georgia"/>
              </a:rPr>
              <a:t> </a:t>
            </a:r>
            <a:r>
              <a:rPr sz="1000" dirty="0">
                <a:latin typeface="Georgia"/>
                <a:cs typeface="Georgia"/>
              </a:rPr>
              <a:t>at</a:t>
            </a:r>
            <a:r>
              <a:rPr sz="1000" spc="55" dirty="0">
                <a:latin typeface="Georgia"/>
                <a:cs typeface="Georgia"/>
              </a:rPr>
              <a:t> </a:t>
            </a:r>
            <a:r>
              <a:rPr sz="1000" spc="-10" dirty="0">
                <a:latin typeface="Georgia"/>
                <a:cs typeface="Georgia"/>
              </a:rPr>
              <a:t>each</a:t>
            </a:r>
            <a:r>
              <a:rPr sz="1000" spc="60" dirty="0">
                <a:latin typeface="Georgia"/>
                <a:cs typeface="Georgia"/>
              </a:rPr>
              <a:t> </a:t>
            </a:r>
            <a:r>
              <a:rPr sz="1000" spc="-10" dirty="0">
                <a:latin typeface="Georgia"/>
                <a:cs typeface="Georgia"/>
              </a:rPr>
              <a:t>iteration.</a:t>
            </a:r>
            <a:endParaRPr sz="1000">
              <a:latin typeface="Georgia"/>
              <a:cs typeface="Georgia"/>
            </a:endParaRPr>
          </a:p>
        </p:txBody>
      </p:sp>
      <p:grpSp>
        <p:nvGrpSpPr>
          <p:cNvPr id="6" name="object 6"/>
          <p:cNvGrpSpPr/>
          <p:nvPr/>
        </p:nvGrpSpPr>
        <p:grpSpPr>
          <a:xfrm>
            <a:off x="0" y="3121545"/>
            <a:ext cx="5760085" cy="118745"/>
            <a:chOff x="0" y="3121545"/>
            <a:chExt cx="5760085" cy="118745"/>
          </a:xfrm>
        </p:grpSpPr>
        <p:sp>
          <p:nvSpPr>
            <p:cNvPr id="7" name="object 7"/>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8" name="object 8"/>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0" name="object 10"/>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1" name="object 11"/>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47</a:t>
            </a:fld>
            <a:r>
              <a:rPr spc="5" dirty="0"/>
              <a:t> </a:t>
            </a:r>
            <a:r>
              <a:rPr spc="75" dirty="0"/>
              <a:t>/</a:t>
            </a:r>
            <a:r>
              <a:rPr spc="10" dirty="0"/>
              <a:t> </a:t>
            </a:r>
            <a:r>
              <a:rPr spc="35" dirty="0"/>
              <a:t>135</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Example</a:t>
            </a:r>
            <a:r>
              <a:rPr spc="225" dirty="0"/>
              <a:t> </a:t>
            </a:r>
            <a:r>
              <a:rPr dirty="0"/>
              <a:t>of</a:t>
            </a:r>
            <a:r>
              <a:rPr spc="225" dirty="0"/>
              <a:t> </a:t>
            </a:r>
            <a:r>
              <a:rPr dirty="0"/>
              <a:t>agglomerative</a:t>
            </a:r>
            <a:r>
              <a:rPr spc="225" dirty="0"/>
              <a:t> </a:t>
            </a:r>
            <a:r>
              <a:rPr dirty="0"/>
              <a:t>hierarchical</a:t>
            </a:r>
            <a:r>
              <a:rPr spc="229" dirty="0"/>
              <a:t> </a:t>
            </a:r>
            <a:r>
              <a:rPr spc="-10" dirty="0"/>
              <a:t>clustering</a:t>
            </a:r>
          </a:p>
        </p:txBody>
      </p:sp>
      <p:pic>
        <p:nvPicPr>
          <p:cNvPr id="3" name="object 3"/>
          <p:cNvPicPr/>
          <p:nvPr/>
        </p:nvPicPr>
        <p:blipFill>
          <a:blip r:embed="rId2" cstate="print"/>
          <a:stretch>
            <a:fillRect/>
          </a:stretch>
        </p:blipFill>
        <p:spPr>
          <a:xfrm>
            <a:off x="1904898" y="535236"/>
            <a:ext cx="1950232" cy="1601602"/>
          </a:xfrm>
          <a:prstGeom prst="rect">
            <a:avLst/>
          </a:prstGeom>
        </p:spPr>
      </p:pic>
      <p:sp>
        <p:nvSpPr>
          <p:cNvPr id="4" name="object 4"/>
          <p:cNvSpPr/>
          <p:nvPr/>
        </p:nvSpPr>
        <p:spPr>
          <a:xfrm>
            <a:off x="337972" y="234802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337972" y="258625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284347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mc:AlternateContent xmlns:mc="http://schemas.openxmlformats.org/markup-compatibility/2006">
        <mc:Choice xmlns:a14="http://schemas.microsoft.com/office/drawing/2010/main" Requires="a14">
          <p:sp>
            <p:nvSpPr>
              <p:cNvPr id="8" name="object 8"/>
              <p:cNvSpPr txBox="1"/>
              <p:nvPr/>
            </p:nvSpPr>
            <p:spPr>
              <a:xfrm>
                <a:off x="428777" y="2184448"/>
                <a:ext cx="4206723" cy="752642"/>
              </a:xfrm>
              <a:prstGeom prst="rect">
                <a:avLst/>
              </a:prstGeom>
            </p:spPr>
            <p:txBody>
              <a:bodyPr vert="horz" wrap="square" lIns="0" tIns="12700" rIns="0" bIns="0" rtlCol="0">
                <a:spAutoFit/>
              </a:bodyPr>
              <a:lstStyle/>
              <a:p>
                <a:pPr marL="38100" marR="1183005">
                  <a:lnSpc>
                    <a:spcPct val="142100"/>
                  </a:lnSpc>
                  <a:spcBef>
                    <a:spcPts val="100"/>
                  </a:spcBef>
                </a:pPr>
                <a:r>
                  <a:rPr lang="en-US" sz="1100" dirty="0">
                    <a:latin typeface="Georgia"/>
                    <a:cs typeface="Georgia"/>
                  </a:rPr>
                  <a:t>The</a:t>
                </a:r>
                <a:r>
                  <a:rPr lang="en-US" sz="1100" spc="45" dirty="0">
                    <a:latin typeface="Georgia"/>
                    <a:cs typeface="Georgia"/>
                  </a:rPr>
                  <a:t> </a:t>
                </a:r>
                <a:r>
                  <a:rPr lang="en-US" sz="1100" dirty="0">
                    <a:latin typeface="Georgia"/>
                    <a:cs typeface="Georgia"/>
                  </a:rPr>
                  <a:t>dataset</a:t>
                </a:r>
                <a:r>
                  <a:rPr lang="en-US" sz="1100" spc="45" dirty="0">
                    <a:latin typeface="Georgia"/>
                    <a:cs typeface="Georgia"/>
                  </a:rPr>
                  <a:t> </a:t>
                </a:r>
                <a:r>
                  <a:rPr lang="en-US" sz="1100" spc="114" dirty="0">
                    <a:latin typeface="Cambria"/>
                    <a:cs typeface="Cambria"/>
                  </a:rPr>
                  <a:t>D</a:t>
                </a:r>
                <a:r>
                  <a:rPr lang="en-US" sz="1100" spc="90" dirty="0">
                    <a:latin typeface="Cambria"/>
                    <a:cs typeface="Cambria"/>
                  </a:rPr>
                  <a:t> </a:t>
                </a:r>
                <a:r>
                  <a:rPr lang="en-US" sz="1100" spc="-25" dirty="0">
                    <a:latin typeface="Georgia"/>
                    <a:cs typeface="Georgia"/>
                  </a:rPr>
                  <a:t>consists</a:t>
                </a:r>
                <a:r>
                  <a:rPr lang="en-US" sz="1100" spc="45" dirty="0">
                    <a:latin typeface="Georgia"/>
                    <a:cs typeface="Georgia"/>
                  </a:rPr>
                  <a:t> </a:t>
                </a:r>
                <a:r>
                  <a:rPr lang="en-US" sz="1100" dirty="0">
                    <a:latin typeface="Georgia"/>
                    <a:cs typeface="Georgia"/>
                  </a:rPr>
                  <a:t>of</a:t>
                </a:r>
                <a:r>
                  <a:rPr lang="en-US" sz="1100" spc="50" dirty="0">
                    <a:latin typeface="Georgia"/>
                    <a:cs typeface="Georgia"/>
                  </a:rPr>
                  <a:t> </a:t>
                </a:r>
                <a:r>
                  <a:rPr lang="en-US" sz="1100" dirty="0">
                    <a:latin typeface="Calibri"/>
                    <a:cs typeface="Calibri"/>
                  </a:rPr>
                  <a:t>12</a:t>
                </a:r>
                <a:r>
                  <a:rPr lang="en-US" sz="1100" spc="60" dirty="0">
                    <a:latin typeface="Calibri"/>
                    <a:cs typeface="Calibri"/>
                  </a:rPr>
                  <a:t> </a:t>
                </a:r>
                <a:r>
                  <a:rPr lang="en-US" sz="1100" dirty="0">
                    <a:latin typeface="Georgia"/>
                    <a:cs typeface="Georgia"/>
                  </a:rPr>
                  <a:t>data</a:t>
                </a:r>
                <a:r>
                  <a:rPr lang="en-US" sz="1100" spc="50" dirty="0">
                    <a:latin typeface="Georgia"/>
                    <a:cs typeface="Georgia"/>
                  </a:rPr>
                  <a:t> </a:t>
                </a:r>
                <a:r>
                  <a:rPr lang="en-US" sz="1100" spc="-10" dirty="0">
                    <a:latin typeface="Georgia"/>
                    <a:cs typeface="Georgia"/>
                  </a:rPr>
                  <a:t>points</a:t>
                </a:r>
                <a:r>
                  <a:rPr lang="en-US" sz="1100" spc="45" dirty="0">
                    <a:latin typeface="Georgia"/>
                    <a:cs typeface="Georgia"/>
                  </a:rPr>
                  <a:t> </a:t>
                </a:r>
                <a:r>
                  <a:rPr lang="en-US" sz="1100" dirty="0">
                    <a:latin typeface="Georgia"/>
                    <a:cs typeface="Georgia"/>
                  </a:rPr>
                  <a:t>in</a:t>
                </a:r>
                <a:r>
                  <a:rPr lang="en-US" sz="1100" spc="45" dirty="0">
                    <a:latin typeface="Georgia"/>
                    <a:cs typeface="Georgia"/>
                  </a:rPr>
                  <a:t> </a:t>
                </a:r>
                <a:r>
                  <a:rPr lang="en-US" sz="1100" spc="-25" dirty="0">
                    <a:latin typeface="Arial MT"/>
                    <a:cs typeface="Arial MT"/>
                  </a:rPr>
                  <a:t>R</a:t>
                </a:r>
                <a:r>
                  <a:rPr lang="en-US" sz="1200" spc="-37" baseline="27777" dirty="0">
                    <a:latin typeface="Calibri"/>
                    <a:cs typeface="Calibri"/>
                  </a:rPr>
                  <a:t>2</a:t>
                </a:r>
                <a:r>
                  <a:rPr lang="en-US" sz="1100" spc="-25" dirty="0">
                    <a:latin typeface="Georgia"/>
                    <a:cs typeface="Georgia"/>
                  </a:rPr>
                  <a:t>. </a:t>
                </a:r>
                <a:r>
                  <a:rPr lang="en-US" sz="1100" spc="-10" dirty="0">
                    <a:latin typeface="Georgia"/>
                    <a:cs typeface="Georgia"/>
                  </a:rPr>
                  <a:t>Initially,</a:t>
                </a:r>
                <a:r>
                  <a:rPr lang="en-US" sz="1100" spc="15" dirty="0">
                    <a:latin typeface="Georgia"/>
                    <a:cs typeface="Georgia"/>
                  </a:rPr>
                  <a:t> </a:t>
                </a:r>
                <a:r>
                  <a:rPr lang="en-US" sz="1100" spc="-10" dirty="0">
                    <a:latin typeface="Georgia"/>
                    <a:cs typeface="Georgia"/>
                  </a:rPr>
                  <a:t>each</a:t>
                </a:r>
                <a:r>
                  <a:rPr lang="en-US" sz="1100" spc="20" dirty="0">
                    <a:latin typeface="Georgia"/>
                    <a:cs typeface="Georgia"/>
                  </a:rPr>
                  <a:t> </a:t>
                </a:r>
                <a:r>
                  <a:rPr lang="en-US" sz="1100" dirty="0">
                    <a:latin typeface="Georgia"/>
                    <a:cs typeface="Georgia"/>
                  </a:rPr>
                  <a:t>point</a:t>
                </a:r>
                <a:r>
                  <a:rPr lang="en-US" sz="1100" spc="15" dirty="0">
                    <a:latin typeface="Georgia"/>
                    <a:cs typeface="Georgia"/>
                  </a:rPr>
                  <a:t> </a:t>
                </a:r>
                <a:r>
                  <a:rPr lang="en-US" sz="1100" dirty="0">
                    <a:latin typeface="Georgia"/>
                    <a:cs typeface="Georgia"/>
                  </a:rPr>
                  <a:t>is</a:t>
                </a:r>
                <a:r>
                  <a:rPr lang="en-US" sz="1100" spc="20" dirty="0">
                    <a:latin typeface="Georgia"/>
                    <a:cs typeface="Georgia"/>
                  </a:rPr>
                  <a:t> </a:t>
                </a:r>
                <a:r>
                  <a:rPr lang="en-US" sz="1100" dirty="0">
                    <a:latin typeface="Georgia"/>
                    <a:cs typeface="Georgia"/>
                  </a:rPr>
                  <a:t>a</a:t>
                </a:r>
                <a:r>
                  <a:rPr lang="en-US" sz="1100" spc="20" dirty="0">
                    <a:latin typeface="Georgia"/>
                    <a:cs typeface="Georgia"/>
                  </a:rPr>
                  <a:t> </a:t>
                </a:r>
                <a:r>
                  <a:rPr lang="en-US" sz="1100" spc="-20" dirty="0">
                    <a:latin typeface="Georgia"/>
                    <a:cs typeface="Georgia"/>
                  </a:rPr>
                  <a:t>separate</a:t>
                </a:r>
                <a:r>
                  <a:rPr lang="en-US" sz="1100" spc="15" dirty="0">
                    <a:latin typeface="Georgia"/>
                    <a:cs typeface="Georgia"/>
                  </a:rPr>
                  <a:t> </a:t>
                </a:r>
                <a:r>
                  <a:rPr lang="en-US" sz="1100" spc="-10" dirty="0">
                    <a:latin typeface="Georgia"/>
                    <a:cs typeface="Georgia"/>
                  </a:rPr>
                  <a:t>cluster.</a:t>
                </a:r>
                <a:endParaRPr lang="en-US" sz="1100">
                  <a:latin typeface="Georgia"/>
                  <a:cs typeface="Georgia"/>
                </a:endParaRPr>
              </a:p>
              <a:p>
                <a:pPr marL="38100">
                  <a:lnSpc>
                    <a:spcPct val="100000"/>
                  </a:lnSpc>
                  <a:spcBef>
                    <a:spcPts val="705"/>
                  </a:spcBef>
                </a:pPr>
                <a:r>
                  <a:rPr lang="en-US" sz="1100" dirty="0">
                    <a:latin typeface="Georgia"/>
                    <a:cs typeface="Georgia"/>
                  </a:rPr>
                  <a:t>Closest</a:t>
                </a:r>
                <a:r>
                  <a:rPr lang="en-US" sz="1100" spc="120" dirty="0">
                    <a:latin typeface="Georgia"/>
                    <a:cs typeface="Georgia"/>
                  </a:rPr>
                  <a:t> </a:t>
                </a:r>
                <a:r>
                  <a:rPr lang="en-US" sz="1100" spc="-10" dirty="0">
                    <a:latin typeface="Georgia"/>
                    <a:cs typeface="Georgia"/>
                  </a:rPr>
                  <a:t>pairs</a:t>
                </a:r>
                <a:r>
                  <a:rPr lang="en-US" sz="1100" spc="120" dirty="0">
                    <a:latin typeface="Georgia"/>
                    <a:cs typeface="Georgia"/>
                  </a:rPr>
                  <a:t> </a:t>
                </a:r>
                <a:r>
                  <a:rPr lang="en-US" sz="1100" dirty="0">
                    <a:latin typeface="Georgia"/>
                    <a:cs typeface="Georgia"/>
                  </a:rPr>
                  <a:t>of</a:t>
                </a:r>
                <a:r>
                  <a:rPr lang="en-US" sz="1100" spc="120" dirty="0">
                    <a:latin typeface="Georgia"/>
                    <a:cs typeface="Georgia"/>
                  </a:rPr>
                  <a:t> </a:t>
                </a:r>
                <a:r>
                  <a:rPr lang="en-US" sz="1100" spc="-10" dirty="0">
                    <a:latin typeface="Georgia"/>
                    <a:cs typeface="Georgia"/>
                  </a:rPr>
                  <a:t>points:</a:t>
                </a:r>
                <a:r>
                  <a:rPr lang="en-US" sz="1100" spc="250" dirty="0">
                    <a:latin typeface="Georgia"/>
                    <a:cs typeface="Georgia"/>
                  </a:rPr>
                  <a:t> </a:t>
                </a:r>
                <a:r>
                  <a:rPr lang="el-GR" sz="1100" i="1" dirty="0">
                    <a:latin typeface="Arial"/>
                    <a:cs typeface="Arial"/>
                  </a:rPr>
                  <a:t>δ</a:t>
                </a:r>
                <a:r>
                  <a:rPr lang="el-GR" sz="1100" dirty="0">
                    <a:latin typeface="Calibri"/>
                    <a:cs typeface="Calibri"/>
                  </a:rPr>
                  <a:t>((10</a:t>
                </a:r>
                <a:r>
                  <a:rPr lang="el-GR" sz="1100" i="1" dirty="0">
                    <a:latin typeface="Calibri"/>
                    <a:cs typeface="Calibri"/>
                  </a:rPr>
                  <a:t>,</a:t>
                </a:r>
                <a:r>
                  <a:rPr lang="el-GR" sz="1100" i="1" spc="-60" dirty="0">
                    <a:latin typeface="Calibri"/>
                    <a:cs typeface="Calibri"/>
                  </a:rPr>
                  <a:t> </a:t>
                </a:r>
                <a:r>
                  <a:rPr lang="el-GR" sz="1100" dirty="0">
                    <a:latin typeface="Calibri"/>
                    <a:cs typeface="Calibri"/>
                  </a:rPr>
                  <a:t>5)</a:t>
                </a:r>
                <a:r>
                  <a:rPr lang="el-GR" sz="1100" i="1" dirty="0">
                    <a:latin typeface="Calibri"/>
                    <a:cs typeface="Calibri"/>
                  </a:rPr>
                  <a:t>,</a:t>
                </a:r>
                <a:r>
                  <a:rPr lang="el-GR" sz="1100" i="1" spc="-55" dirty="0">
                    <a:latin typeface="Calibri"/>
                    <a:cs typeface="Calibri"/>
                  </a:rPr>
                  <a:t> </a:t>
                </a:r>
                <a:r>
                  <a:rPr lang="el-GR" sz="1100" dirty="0">
                    <a:latin typeface="Calibri"/>
                    <a:cs typeface="Calibri"/>
                  </a:rPr>
                  <a:t>(11</a:t>
                </a:r>
                <a:r>
                  <a:rPr lang="el-GR" sz="1100" i="1" dirty="0">
                    <a:latin typeface="Calibri"/>
                    <a:cs typeface="Calibri"/>
                  </a:rPr>
                  <a:t>,</a:t>
                </a:r>
                <a:r>
                  <a:rPr lang="el-GR" sz="1100" i="1" spc="-55" dirty="0">
                    <a:latin typeface="Calibri"/>
                    <a:cs typeface="Calibri"/>
                  </a:rPr>
                  <a:t> </a:t>
                </a:r>
                <a:r>
                  <a:rPr lang="el-GR" sz="1100" dirty="0">
                    <a:latin typeface="Calibri"/>
                    <a:cs typeface="Calibri"/>
                  </a:rPr>
                  <a:t>4))</a:t>
                </a:r>
                <a:r>
                  <a:rPr lang="el-GR" sz="1100" spc="75" dirty="0">
                    <a:latin typeface="Calibri"/>
                    <a:cs typeface="Calibri"/>
                  </a:rPr>
                  <a:t> </a:t>
                </a:r>
                <a:r>
                  <a:rPr lang="el-GR" sz="1100" spc="295" dirty="0">
                    <a:latin typeface="Calibri"/>
                    <a:cs typeface="Calibri"/>
                  </a:rPr>
                  <a:t>=</a:t>
                </a:r>
                <a:r>
                  <a:rPr lang="el-GR" sz="1100" spc="75" dirty="0">
                    <a:latin typeface="Calibri"/>
                    <a:cs typeface="Calibri"/>
                  </a:rPr>
                  <a:t> </a:t>
                </a:r>
                <a:r>
                  <a:rPr lang="el-GR" sz="1100" i="1" dirty="0">
                    <a:latin typeface="Arial"/>
                    <a:cs typeface="Arial"/>
                  </a:rPr>
                  <a:t>δ</a:t>
                </a:r>
                <a:r>
                  <a:rPr lang="el-GR" sz="1100" dirty="0">
                    <a:latin typeface="Calibri"/>
                    <a:cs typeface="Calibri"/>
                  </a:rPr>
                  <a:t>((11</a:t>
                </a:r>
                <a:r>
                  <a:rPr lang="el-GR" sz="1100" i="1" dirty="0">
                    <a:latin typeface="Calibri"/>
                    <a:cs typeface="Calibri"/>
                  </a:rPr>
                  <a:t>,</a:t>
                </a:r>
                <a:r>
                  <a:rPr lang="el-GR" sz="1100" i="1" spc="-60" dirty="0">
                    <a:latin typeface="Calibri"/>
                    <a:cs typeface="Calibri"/>
                  </a:rPr>
                  <a:t> </a:t>
                </a:r>
                <a:r>
                  <a:rPr lang="el-GR" sz="1100" dirty="0">
                    <a:latin typeface="Calibri"/>
                    <a:cs typeface="Calibri"/>
                  </a:rPr>
                  <a:t>4)</a:t>
                </a:r>
                <a:r>
                  <a:rPr lang="el-GR" sz="1100" i="1" dirty="0">
                    <a:latin typeface="Calibri"/>
                    <a:cs typeface="Calibri"/>
                  </a:rPr>
                  <a:t>,</a:t>
                </a:r>
                <a:r>
                  <a:rPr lang="el-GR" sz="1100" i="1" spc="-55" dirty="0">
                    <a:latin typeface="Calibri"/>
                    <a:cs typeface="Calibri"/>
                  </a:rPr>
                  <a:t> </a:t>
                </a:r>
                <a:r>
                  <a:rPr lang="el-GR" sz="1100" dirty="0">
                    <a:latin typeface="Calibri"/>
                    <a:cs typeface="Calibri"/>
                  </a:rPr>
                  <a:t>(12</a:t>
                </a:r>
                <a:r>
                  <a:rPr lang="el-GR" sz="1100" i="1" dirty="0">
                    <a:latin typeface="Calibri"/>
                    <a:cs typeface="Calibri"/>
                  </a:rPr>
                  <a:t>,</a:t>
                </a:r>
                <a:r>
                  <a:rPr lang="el-GR" sz="1100" i="1" spc="-55" dirty="0">
                    <a:latin typeface="Calibri"/>
                    <a:cs typeface="Calibri"/>
                  </a:rPr>
                  <a:t> </a:t>
                </a:r>
                <a:r>
                  <a:rPr lang="el-GR" sz="1100" dirty="0">
                    <a:latin typeface="Calibri"/>
                    <a:cs typeface="Calibri"/>
                  </a:rPr>
                  <a:t>3))</a:t>
                </a:r>
                <a:r>
                  <a:rPr lang="el-GR" sz="1100" spc="75" dirty="0">
                    <a:latin typeface="Calibri"/>
                    <a:cs typeface="Calibri"/>
                  </a:rPr>
                  <a:t> </a:t>
                </a:r>
                <a:r>
                  <a:rPr lang="el-GR" sz="1100" spc="295" dirty="0">
                    <a:latin typeface="Calibri"/>
                    <a:cs typeface="Calibri"/>
                  </a:rPr>
                  <a:t>=</a:t>
                </a:r>
                <a14:m>
                  <m:oMath xmlns:m="http://schemas.openxmlformats.org/officeDocument/2006/math">
                    <m:rad>
                      <m:radPr>
                        <m:degHide m:val="on"/>
                        <m:ctrlPr>
                          <a:rPr lang="ar-AE" sz="1000" i="1" spc="295" dirty="0">
                            <a:latin typeface="Cambria Math" panose="02040503050406030204" pitchFamily="18" charset="0"/>
                            <a:cs typeface="Calibri"/>
                          </a:rPr>
                        </m:ctrlPr>
                      </m:radPr>
                      <m:deg/>
                      <m:e>
                        <m:r>
                          <a:rPr lang="ar-AE" sz="1000" b="0" i="1" spc="295" dirty="0">
                            <a:latin typeface="Cambria Math" panose="02040503050406030204" pitchFamily="18" charset="0"/>
                            <a:cs typeface="Calibri"/>
                          </a:rPr>
                          <m:t>2</m:t>
                        </m:r>
                      </m:e>
                    </m:rad>
                  </m:oMath>
                </a14:m>
                <a:r>
                  <a:rPr lang="ar-AE" sz="1100" spc="-25" dirty="0">
                    <a:latin typeface="Georgia"/>
                    <a:cs typeface="Georgia"/>
                  </a:rPr>
                  <a:t>.</a:t>
                </a:r>
                <a:endParaRPr sz="1100">
                  <a:latin typeface="Georgia"/>
                  <a:cs typeface="Georgia"/>
                </a:endParaRPr>
              </a:p>
            </p:txBody>
          </p:sp>
        </mc:Choice>
        <mc:Fallback>
          <p:sp>
            <p:nvSpPr>
              <p:cNvPr id="8" name="object 8"/>
              <p:cNvSpPr txBox="1">
                <a:spLocks noRot="1" noChangeAspect="1" noMove="1" noResize="1" noEditPoints="1" noAdjustHandles="1" noChangeArrowheads="1" noChangeShapeType="1" noTextEdit="1"/>
              </p:cNvSpPr>
              <p:nvPr/>
            </p:nvSpPr>
            <p:spPr>
              <a:xfrm>
                <a:off x="428777" y="2184448"/>
                <a:ext cx="4206723" cy="752642"/>
              </a:xfrm>
              <a:prstGeom prst="rect">
                <a:avLst/>
              </a:prstGeom>
              <a:blipFill>
                <a:blip r:embed="rId3"/>
                <a:stretch>
                  <a:fillRect l="-904" b="-9836"/>
                </a:stretch>
              </a:blipFill>
            </p:spPr>
            <p:txBody>
              <a:bodyPr/>
              <a:lstStyle/>
              <a:p>
                <a:r>
                  <a:rPr lang="en-VN">
                    <a:noFill/>
                  </a:rPr>
                  <a:t> </a:t>
                </a:r>
              </a:p>
            </p:txBody>
          </p:sp>
        </mc:Fallback>
      </mc:AlternateContent>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48</a:t>
            </a:fld>
            <a:r>
              <a:rPr spc="5" dirty="0"/>
              <a:t> </a:t>
            </a:r>
            <a:r>
              <a:rPr spc="75" dirty="0"/>
              <a:t>/</a:t>
            </a:r>
            <a:r>
              <a:rPr spc="10" dirty="0"/>
              <a:t> </a:t>
            </a:r>
            <a:r>
              <a:rPr spc="35" dirty="0"/>
              <a:t>135</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500570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Times New Roman"/>
                <a:cs typeface="Times New Roman"/>
              </a:rPr>
              <a:t>Example</a:t>
            </a:r>
            <a:r>
              <a:rPr sz="1400" spc="235" dirty="0">
                <a:solidFill>
                  <a:srgbClr val="CC0000"/>
                </a:solidFill>
                <a:latin typeface="Times New Roman"/>
                <a:cs typeface="Times New Roman"/>
              </a:rPr>
              <a:t> </a:t>
            </a:r>
            <a:r>
              <a:rPr sz="1400" dirty="0">
                <a:solidFill>
                  <a:srgbClr val="CC0000"/>
                </a:solidFill>
                <a:latin typeface="Times New Roman"/>
                <a:cs typeface="Times New Roman"/>
              </a:rPr>
              <a:t>of</a:t>
            </a:r>
            <a:r>
              <a:rPr sz="1400" spc="240" dirty="0">
                <a:solidFill>
                  <a:srgbClr val="CC0000"/>
                </a:solidFill>
                <a:latin typeface="Times New Roman"/>
                <a:cs typeface="Times New Roman"/>
              </a:rPr>
              <a:t> </a:t>
            </a:r>
            <a:r>
              <a:rPr sz="1400" dirty="0">
                <a:solidFill>
                  <a:srgbClr val="CC0000"/>
                </a:solidFill>
                <a:latin typeface="Times New Roman"/>
                <a:cs typeface="Times New Roman"/>
              </a:rPr>
              <a:t>agglomerative</a:t>
            </a:r>
            <a:r>
              <a:rPr sz="1400" spc="235" dirty="0">
                <a:solidFill>
                  <a:srgbClr val="CC0000"/>
                </a:solidFill>
                <a:latin typeface="Times New Roman"/>
                <a:cs typeface="Times New Roman"/>
              </a:rPr>
              <a:t> </a:t>
            </a:r>
            <a:r>
              <a:rPr sz="1400" dirty="0">
                <a:solidFill>
                  <a:srgbClr val="CC0000"/>
                </a:solidFill>
                <a:latin typeface="Times New Roman"/>
                <a:cs typeface="Times New Roman"/>
              </a:rPr>
              <a:t>hierarchical</a:t>
            </a:r>
            <a:r>
              <a:rPr sz="1400" spc="245" dirty="0">
                <a:solidFill>
                  <a:srgbClr val="CC0000"/>
                </a:solidFill>
                <a:latin typeface="Times New Roman"/>
                <a:cs typeface="Times New Roman"/>
              </a:rPr>
              <a:t> </a:t>
            </a:r>
            <a:r>
              <a:rPr sz="1400" dirty="0">
                <a:solidFill>
                  <a:srgbClr val="CC0000"/>
                </a:solidFill>
                <a:latin typeface="Times New Roman"/>
                <a:cs typeface="Times New Roman"/>
              </a:rPr>
              <a:t>clustering:</a:t>
            </a:r>
            <a:r>
              <a:rPr sz="1400" spc="440" dirty="0">
                <a:solidFill>
                  <a:srgbClr val="CC0000"/>
                </a:solidFill>
                <a:latin typeface="Times New Roman"/>
                <a:cs typeface="Times New Roman"/>
              </a:rPr>
              <a:t> </a:t>
            </a:r>
            <a:r>
              <a:rPr sz="1400" dirty="0">
                <a:solidFill>
                  <a:srgbClr val="CC0000"/>
                </a:solidFill>
                <a:latin typeface="Times New Roman"/>
                <a:cs typeface="Times New Roman"/>
              </a:rPr>
              <a:t>cluster</a:t>
            </a:r>
            <a:r>
              <a:rPr sz="1400" spc="240" dirty="0">
                <a:solidFill>
                  <a:srgbClr val="CC0000"/>
                </a:solidFill>
                <a:latin typeface="Times New Roman"/>
                <a:cs typeface="Times New Roman"/>
              </a:rPr>
              <a:t> </a:t>
            </a:r>
            <a:r>
              <a:rPr sz="1400" spc="-10" dirty="0">
                <a:solidFill>
                  <a:srgbClr val="CC0000"/>
                </a:solidFill>
                <a:latin typeface="Times New Roman"/>
                <a:cs typeface="Times New Roman"/>
              </a:rPr>
              <a:t>merging</a:t>
            </a:r>
            <a:endParaRPr sz="1400">
              <a:latin typeface="Times New Roman"/>
              <a:cs typeface="Times New Roman"/>
            </a:endParaRPr>
          </a:p>
        </p:txBody>
      </p:sp>
      <p:pic>
        <p:nvPicPr>
          <p:cNvPr id="3" name="object 3"/>
          <p:cNvPicPr/>
          <p:nvPr/>
        </p:nvPicPr>
        <p:blipFill>
          <a:blip r:embed="rId2" cstate="print"/>
          <a:stretch>
            <a:fillRect/>
          </a:stretch>
        </p:blipFill>
        <p:spPr>
          <a:xfrm>
            <a:off x="864273" y="596595"/>
            <a:ext cx="4031488" cy="2173224"/>
          </a:xfrm>
          <a:prstGeom prst="rect">
            <a:avLst/>
          </a:prstGeom>
        </p:spPr>
      </p:pic>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49</a:t>
            </a:fld>
            <a:r>
              <a:rPr spc="5" dirty="0"/>
              <a:t> </a:t>
            </a:r>
            <a:r>
              <a:rPr spc="75" dirty="0"/>
              <a:t>/</a:t>
            </a:r>
            <a:r>
              <a:rPr spc="10" dirty="0"/>
              <a:t> </a:t>
            </a:r>
            <a:r>
              <a:rPr spc="35" dirty="0"/>
              <a:t>135</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463105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CC0000"/>
                </a:solidFill>
                <a:latin typeface="Times New Roman"/>
                <a:cs typeface="Times New Roman"/>
              </a:rPr>
              <a:t>Example</a:t>
            </a:r>
            <a:r>
              <a:rPr sz="1400" spc="204" dirty="0">
                <a:solidFill>
                  <a:srgbClr val="CC0000"/>
                </a:solidFill>
                <a:latin typeface="Times New Roman"/>
                <a:cs typeface="Times New Roman"/>
              </a:rPr>
              <a:t> </a:t>
            </a:r>
            <a:r>
              <a:rPr sz="1400" dirty="0">
                <a:solidFill>
                  <a:srgbClr val="CC0000"/>
                </a:solidFill>
                <a:latin typeface="Times New Roman"/>
                <a:cs typeface="Times New Roman"/>
              </a:rPr>
              <a:t>of</a:t>
            </a:r>
            <a:r>
              <a:rPr sz="1400" spc="210" dirty="0">
                <a:solidFill>
                  <a:srgbClr val="CC0000"/>
                </a:solidFill>
                <a:latin typeface="Times New Roman"/>
                <a:cs typeface="Times New Roman"/>
              </a:rPr>
              <a:t> </a:t>
            </a:r>
            <a:r>
              <a:rPr sz="1400" dirty="0">
                <a:solidFill>
                  <a:srgbClr val="CC0000"/>
                </a:solidFill>
                <a:latin typeface="Times New Roman"/>
                <a:cs typeface="Times New Roman"/>
              </a:rPr>
              <a:t>agglomerative</a:t>
            </a:r>
            <a:r>
              <a:rPr sz="1400" spc="210" dirty="0">
                <a:solidFill>
                  <a:srgbClr val="CC0000"/>
                </a:solidFill>
                <a:latin typeface="Times New Roman"/>
                <a:cs typeface="Times New Roman"/>
              </a:rPr>
              <a:t> </a:t>
            </a:r>
            <a:r>
              <a:rPr sz="1400" dirty="0">
                <a:solidFill>
                  <a:srgbClr val="CC0000"/>
                </a:solidFill>
                <a:latin typeface="Times New Roman"/>
                <a:cs typeface="Times New Roman"/>
              </a:rPr>
              <a:t>hierarchical</a:t>
            </a:r>
            <a:r>
              <a:rPr sz="1400" spc="220" dirty="0">
                <a:solidFill>
                  <a:srgbClr val="CC0000"/>
                </a:solidFill>
                <a:latin typeface="Times New Roman"/>
                <a:cs typeface="Times New Roman"/>
              </a:rPr>
              <a:t> </a:t>
            </a:r>
            <a:r>
              <a:rPr sz="1400" dirty="0">
                <a:solidFill>
                  <a:srgbClr val="CC0000"/>
                </a:solidFill>
                <a:latin typeface="Times New Roman"/>
                <a:cs typeface="Times New Roman"/>
              </a:rPr>
              <a:t>clustering:</a:t>
            </a:r>
            <a:r>
              <a:rPr sz="1400" spc="400" dirty="0">
                <a:solidFill>
                  <a:srgbClr val="CC0000"/>
                </a:solidFill>
                <a:latin typeface="Times New Roman"/>
                <a:cs typeface="Times New Roman"/>
              </a:rPr>
              <a:t> </a:t>
            </a:r>
            <a:r>
              <a:rPr sz="1400" spc="55" dirty="0">
                <a:solidFill>
                  <a:srgbClr val="CC0000"/>
                </a:solidFill>
                <a:latin typeface="Times New Roman"/>
                <a:cs typeface="Times New Roman"/>
              </a:rPr>
              <a:t>the</a:t>
            </a:r>
            <a:r>
              <a:rPr sz="1400" spc="210" dirty="0">
                <a:solidFill>
                  <a:srgbClr val="CC0000"/>
                </a:solidFill>
                <a:latin typeface="Times New Roman"/>
                <a:cs typeface="Times New Roman"/>
              </a:rPr>
              <a:t> </a:t>
            </a:r>
            <a:r>
              <a:rPr sz="1400" spc="-10" dirty="0">
                <a:solidFill>
                  <a:srgbClr val="CC0000"/>
                </a:solidFill>
                <a:latin typeface="Times New Roman"/>
                <a:cs typeface="Times New Roman"/>
              </a:rPr>
              <a:t>results</a:t>
            </a:r>
            <a:endParaRPr sz="1400">
              <a:latin typeface="Times New Roman"/>
              <a:cs typeface="Times New Roman"/>
            </a:endParaRPr>
          </a:p>
        </p:txBody>
      </p:sp>
      <p:pic>
        <p:nvPicPr>
          <p:cNvPr id="3" name="object 3"/>
          <p:cNvPicPr/>
          <p:nvPr/>
        </p:nvPicPr>
        <p:blipFill>
          <a:blip r:embed="rId2" cstate="print"/>
          <a:stretch>
            <a:fillRect/>
          </a:stretch>
        </p:blipFill>
        <p:spPr>
          <a:xfrm>
            <a:off x="555231" y="506831"/>
            <a:ext cx="4649597" cy="2397632"/>
          </a:xfrm>
          <a:prstGeom prst="rect">
            <a:avLst/>
          </a:prstGeom>
        </p:spPr>
      </p:pic>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50</a:t>
            </a:fld>
            <a:r>
              <a:rPr spc="5" dirty="0"/>
              <a:t> </a:t>
            </a:r>
            <a:r>
              <a:rPr spc="75" dirty="0"/>
              <a:t>/</a:t>
            </a:r>
            <a:r>
              <a:rPr spc="10" dirty="0"/>
              <a:t> </a:t>
            </a:r>
            <a:r>
              <a:rPr spc="35" dirty="0"/>
              <a:t>135</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When</a:t>
            </a:r>
            <a:r>
              <a:rPr spc="175" dirty="0"/>
              <a:t> </a:t>
            </a:r>
            <a:r>
              <a:rPr dirty="0"/>
              <a:t>should</a:t>
            </a:r>
            <a:r>
              <a:rPr spc="180" dirty="0"/>
              <a:t> </a:t>
            </a:r>
            <a:r>
              <a:rPr dirty="0"/>
              <a:t>we</a:t>
            </a:r>
            <a:r>
              <a:rPr spc="180" dirty="0"/>
              <a:t> </a:t>
            </a:r>
            <a:r>
              <a:rPr dirty="0"/>
              <a:t>stop</a:t>
            </a:r>
            <a:r>
              <a:rPr spc="180" dirty="0"/>
              <a:t> </a:t>
            </a:r>
            <a:r>
              <a:rPr spc="-10" dirty="0"/>
              <a:t>merging?</a:t>
            </a:r>
          </a:p>
        </p:txBody>
      </p:sp>
      <p:pic>
        <p:nvPicPr>
          <p:cNvPr id="3" name="object 3"/>
          <p:cNvPicPr/>
          <p:nvPr/>
        </p:nvPicPr>
        <p:blipFill>
          <a:blip r:embed="rId2" cstate="print"/>
          <a:stretch>
            <a:fillRect/>
          </a:stretch>
        </p:blipFill>
        <p:spPr>
          <a:xfrm>
            <a:off x="1799907" y="538251"/>
            <a:ext cx="2160270" cy="1474470"/>
          </a:xfrm>
          <a:prstGeom prst="rect">
            <a:avLst/>
          </a:prstGeom>
        </p:spPr>
      </p:pic>
      <p:sp>
        <p:nvSpPr>
          <p:cNvPr id="4" name="object 4"/>
          <p:cNvSpPr/>
          <p:nvPr/>
        </p:nvSpPr>
        <p:spPr>
          <a:xfrm>
            <a:off x="337972" y="222390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454177" y="2060344"/>
            <a:ext cx="5069205" cy="886460"/>
          </a:xfrm>
          <a:prstGeom prst="rect">
            <a:avLst/>
          </a:prstGeom>
        </p:spPr>
        <p:txBody>
          <a:bodyPr vert="horz" wrap="square" lIns="0" tIns="83185" rIns="0" bIns="0" rtlCol="0">
            <a:spAutoFit/>
          </a:bodyPr>
          <a:lstStyle/>
          <a:p>
            <a:pPr marL="12700">
              <a:lnSpc>
                <a:spcPct val="100000"/>
              </a:lnSpc>
              <a:spcBef>
                <a:spcPts val="655"/>
              </a:spcBef>
            </a:pPr>
            <a:r>
              <a:rPr sz="1100" spc="-10" dirty="0">
                <a:latin typeface="Georgia"/>
                <a:cs typeface="Georgia"/>
              </a:rPr>
              <a:t>When we </a:t>
            </a:r>
            <a:r>
              <a:rPr sz="1100" spc="-20" dirty="0">
                <a:latin typeface="Georgia"/>
                <a:cs typeface="Georgia"/>
              </a:rPr>
              <a:t>have</a:t>
            </a:r>
            <a:r>
              <a:rPr sz="1100" spc="-10" dirty="0">
                <a:latin typeface="Georgia"/>
                <a:cs typeface="Georgia"/>
              </a:rPr>
              <a:t> </a:t>
            </a:r>
            <a:r>
              <a:rPr sz="1100" dirty="0">
                <a:latin typeface="Georgia"/>
                <a:cs typeface="Georgia"/>
              </a:rPr>
              <a:t>a</a:t>
            </a:r>
            <a:r>
              <a:rPr sz="1100" spc="-5" dirty="0">
                <a:latin typeface="Georgia"/>
                <a:cs typeface="Georgia"/>
              </a:rPr>
              <a:t> </a:t>
            </a:r>
            <a:r>
              <a:rPr sz="1100" spc="-20" dirty="0">
                <a:latin typeface="Georgia"/>
                <a:cs typeface="Georgia"/>
              </a:rPr>
              <a:t>prior</a:t>
            </a:r>
            <a:r>
              <a:rPr sz="1100" spc="-10" dirty="0">
                <a:latin typeface="Georgia"/>
                <a:cs typeface="Georgia"/>
              </a:rPr>
              <a:t> </a:t>
            </a:r>
            <a:r>
              <a:rPr sz="1100" spc="-35" dirty="0">
                <a:latin typeface="Georgia"/>
                <a:cs typeface="Georgia"/>
              </a:rPr>
              <a:t>knowledge</a:t>
            </a:r>
            <a:r>
              <a:rPr sz="1100" spc="-10" dirty="0">
                <a:latin typeface="Georgia"/>
                <a:cs typeface="Georgia"/>
              </a:rPr>
              <a:t> </a:t>
            </a:r>
            <a:r>
              <a:rPr sz="1100" dirty="0">
                <a:latin typeface="Georgia"/>
                <a:cs typeface="Georgia"/>
              </a:rPr>
              <a:t>about</a:t>
            </a:r>
            <a:r>
              <a:rPr sz="1100" spc="-5" dirty="0">
                <a:latin typeface="Georgia"/>
                <a:cs typeface="Georgia"/>
              </a:rPr>
              <a:t> </a:t>
            </a:r>
            <a:r>
              <a:rPr sz="1100" dirty="0">
                <a:latin typeface="Georgia"/>
                <a:cs typeface="Georgia"/>
              </a:rPr>
              <a:t>the</a:t>
            </a:r>
            <a:r>
              <a:rPr sz="1100" spc="-10" dirty="0">
                <a:latin typeface="Georgia"/>
                <a:cs typeface="Georgia"/>
              </a:rPr>
              <a:t> </a:t>
            </a:r>
            <a:r>
              <a:rPr sz="1100" spc="-40" dirty="0">
                <a:latin typeface="Georgia"/>
                <a:cs typeface="Georgia"/>
              </a:rPr>
              <a:t>number</a:t>
            </a:r>
            <a:r>
              <a:rPr sz="1100" spc="-10" dirty="0">
                <a:latin typeface="Georgia"/>
                <a:cs typeface="Georgia"/>
              </a:rPr>
              <a:t> </a:t>
            </a:r>
            <a:r>
              <a:rPr sz="1100" dirty="0">
                <a:latin typeface="Georgia"/>
                <a:cs typeface="Georgia"/>
              </a:rPr>
              <a:t>of</a:t>
            </a:r>
            <a:r>
              <a:rPr sz="1100" spc="-5" dirty="0">
                <a:latin typeface="Georgia"/>
                <a:cs typeface="Georgia"/>
              </a:rPr>
              <a:t> </a:t>
            </a:r>
            <a:r>
              <a:rPr sz="1100" spc="-10" dirty="0">
                <a:latin typeface="Georgia"/>
                <a:cs typeface="Georgia"/>
              </a:rPr>
              <a:t>potential </a:t>
            </a:r>
            <a:r>
              <a:rPr sz="1100" spc="-20" dirty="0">
                <a:latin typeface="Georgia"/>
                <a:cs typeface="Georgia"/>
              </a:rPr>
              <a:t>clusters</a:t>
            </a:r>
            <a:r>
              <a:rPr sz="1100" spc="-10" dirty="0">
                <a:latin typeface="Georgia"/>
                <a:cs typeface="Georgia"/>
              </a:rPr>
              <a:t> </a:t>
            </a:r>
            <a:r>
              <a:rPr sz="1100" dirty="0">
                <a:latin typeface="Georgia"/>
                <a:cs typeface="Georgia"/>
              </a:rPr>
              <a:t>in</a:t>
            </a:r>
            <a:r>
              <a:rPr sz="1100" spc="-5" dirty="0">
                <a:latin typeface="Georgia"/>
                <a:cs typeface="Georgia"/>
              </a:rPr>
              <a:t> </a:t>
            </a:r>
            <a:r>
              <a:rPr sz="1100" dirty="0">
                <a:latin typeface="Georgia"/>
                <a:cs typeface="Georgia"/>
              </a:rPr>
              <a:t>the</a:t>
            </a:r>
            <a:r>
              <a:rPr sz="1100" spc="-10" dirty="0">
                <a:latin typeface="Georgia"/>
                <a:cs typeface="Georgia"/>
              </a:rPr>
              <a:t> data.</a:t>
            </a:r>
            <a:endParaRPr sz="1100">
              <a:latin typeface="Georgia"/>
              <a:cs typeface="Georgia"/>
            </a:endParaRPr>
          </a:p>
          <a:p>
            <a:pPr marL="12700" marR="185420">
              <a:lnSpc>
                <a:spcPts val="1150"/>
              </a:lnSpc>
              <a:spcBef>
                <a:spcPts val="735"/>
              </a:spcBef>
            </a:pPr>
            <a:r>
              <a:rPr sz="1100" dirty="0">
                <a:latin typeface="Georgia"/>
                <a:cs typeface="Georgia"/>
              </a:rPr>
              <a:t>When</a:t>
            </a:r>
            <a:r>
              <a:rPr sz="1100" spc="20" dirty="0">
                <a:latin typeface="Georgia"/>
                <a:cs typeface="Georgia"/>
              </a:rPr>
              <a:t> </a:t>
            </a:r>
            <a:r>
              <a:rPr sz="1100" dirty="0">
                <a:latin typeface="Georgia"/>
                <a:cs typeface="Georgia"/>
              </a:rPr>
              <a:t>the</a:t>
            </a:r>
            <a:r>
              <a:rPr sz="1100" spc="25" dirty="0">
                <a:latin typeface="Georgia"/>
                <a:cs typeface="Georgia"/>
              </a:rPr>
              <a:t> </a:t>
            </a:r>
            <a:r>
              <a:rPr sz="1100" spc="-30" dirty="0">
                <a:latin typeface="Georgia"/>
                <a:cs typeface="Georgia"/>
              </a:rPr>
              <a:t>merging</a:t>
            </a:r>
            <a:r>
              <a:rPr sz="1100" spc="20" dirty="0">
                <a:latin typeface="Georgia"/>
                <a:cs typeface="Georgia"/>
              </a:rPr>
              <a:t> </a:t>
            </a:r>
            <a:r>
              <a:rPr sz="1100" dirty="0">
                <a:latin typeface="Georgia"/>
                <a:cs typeface="Georgia"/>
              </a:rPr>
              <a:t>starts</a:t>
            </a:r>
            <a:r>
              <a:rPr sz="1100" spc="25" dirty="0">
                <a:latin typeface="Georgia"/>
                <a:cs typeface="Georgia"/>
              </a:rPr>
              <a:t> </a:t>
            </a:r>
            <a:r>
              <a:rPr sz="1100" spc="-25" dirty="0">
                <a:latin typeface="Georgia"/>
                <a:cs typeface="Georgia"/>
              </a:rPr>
              <a:t>produce</a:t>
            </a:r>
            <a:r>
              <a:rPr sz="1100" spc="25" dirty="0">
                <a:latin typeface="Georgia"/>
                <a:cs typeface="Georgia"/>
              </a:rPr>
              <a:t> </a:t>
            </a:r>
            <a:r>
              <a:rPr sz="1100" i="1" dirty="0">
                <a:latin typeface="Palatino Linotype"/>
                <a:cs typeface="Palatino Linotype"/>
              </a:rPr>
              <a:t>low–quality</a:t>
            </a:r>
            <a:r>
              <a:rPr sz="1100" i="1" spc="85" dirty="0">
                <a:latin typeface="Palatino Linotype"/>
                <a:cs typeface="Palatino Linotype"/>
              </a:rPr>
              <a:t> </a:t>
            </a:r>
            <a:r>
              <a:rPr sz="1100" spc="-20" dirty="0">
                <a:latin typeface="Georgia"/>
                <a:cs typeface="Georgia"/>
              </a:rPr>
              <a:t>clusters</a:t>
            </a:r>
            <a:r>
              <a:rPr sz="1100" spc="25" dirty="0">
                <a:latin typeface="Georgia"/>
                <a:cs typeface="Georgia"/>
              </a:rPr>
              <a:t> </a:t>
            </a:r>
            <a:r>
              <a:rPr sz="1100" dirty="0">
                <a:latin typeface="Georgia"/>
                <a:cs typeface="Georgia"/>
              </a:rPr>
              <a:t>(e.g.,</a:t>
            </a:r>
            <a:r>
              <a:rPr sz="1100" spc="25" dirty="0">
                <a:latin typeface="Georgia"/>
                <a:cs typeface="Georgia"/>
              </a:rPr>
              <a:t> </a:t>
            </a:r>
            <a:r>
              <a:rPr sz="1100" dirty="0">
                <a:latin typeface="Georgia"/>
                <a:cs typeface="Georgia"/>
              </a:rPr>
              <a:t>the</a:t>
            </a:r>
            <a:r>
              <a:rPr sz="1100" spc="20" dirty="0">
                <a:latin typeface="Georgia"/>
                <a:cs typeface="Georgia"/>
              </a:rPr>
              <a:t> </a:t>
            </a:r>
            <a:r>
              <a:rPr sz="1100" spc="-25" dirty="0">
                <a:latin typeface="Georgia"/>
                <a:cs typeface="Georgia"/>
              </a:rPr>
              <a:t>average</a:t>
            </a:r>
            <a:r>
              <a:rPr sz="1100" spc="25" dirty="0">
                <a:latin typeface="Georgia"/>
                <a:cs typeface="Georgia"/>
              </a:rPr>
              <a:t> </a:t>
            </a:r>
            <a:r>
              <a:rPr sz="1100" spc="-10" dirty="0">
                <a:latin typeface="Georgia"/>
                <a:cs typeface="Georgia"/>
              </a:rPr>
              <a:t>distance </a:t>
            </a:r>
            <a:r>
              <a:rPr sz="1100" spc="-25" dirty="0">
                <a:latin typeface="Georgia"/>
                <a:cs typeface="Georgia"/>
              </a:rPr>
              <a:t>from</a:t>
            </a:r>
            <a:r>
              <a:rPr sz="1100" spc="25" dirty="0">
                <a:latin typeface="Georgia"/>
                <a:cs typeface="Georgia"/>
              </a:rPr>
              <a:t> </a:t>
            </a:r>
            <a:r>
              <a:rPr sz="1100" spc="-10" dirty="0">
                <a:latin typeface="Georgia"/>
                <a:cs typeface="Georgia"/>
              </a:rPr>
              <a:t>points</a:t>
            </a:r>
            <a:r>
              <a:rPr sz="1100" spc="25"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a</a:t>
            </a:r>
            <a:r>
              <a:rPr sz="1100" spc="25" dirty="0">
                <a:latin typeface="Georgia"/>
                <a:cs typeface="Georgia"/>
              </a:rPr>
              <a:t> </a:t>
            </a:r>
            <a:r>
              <a:rPr sz="1100" spc="-10" dirty="0">
                <a:latin typeface="Georgia"/>
                <a:cs typeface="Georgia"/>
              </a:rPr>
              <a:t>cluster</a:t>
            </a:r>
            <a:r>
              <a:rPr sz="1100" spc="30" dirty="0">
                <a:latin typeface="Georgia"/>
                <a:cs typeface="Georgia"/>
              </a:rPr>
              <a:t> </a:t>
            </a:r>
            <a:r>
              <a:rPr sz="1100" dirty="0">
                <a:latin typeface="Georgia"/>
                <a:cs typeface="Georgia"/>
              </a:rPr>
              <a:t>to</a:t>
            </a:r>
            <a:r>
              <a:rPr sz="1100" spc="25" dirty="0">
                <a:latin typeface="Georgia"/>
                <a:cs typeface="Georgia"/>
              </a:rPr>
              <a:t> </a:t>
            </a:r>
            <a:r>
              <a:rPr sz="1100" dirty="0">
                <a:latin typeface="Georgia"/>
                <a:cs typeface="Georgia"/>
              </a:rPr>
              <a:t>its</a:t>
            </a:r>
            <a:r>
              <a:rPr sz="1100" spc="25" dirty="0">
                <a:latin typeface="Georgia"/>
                <a:cs typeface="Georgia"/>
              </a:rPr>
              <a:t> </a:t>
            </a:r>
            <a:r>
              <a:rPr sz="1100" spc="-25" dirty="0">
                <a:latin typeface="Georgia"/>
                <a:cs typeface="Georgia"/>
              </a:rPr>
              <a:t>mean</a:t>
            </a:r>
            <a:r>
              <a:rPr sz="1100" spc="25" dirty="0">
                <a:latin typeface="Georgia"/>
                <a:cs typeface="Georgia"/>
              </a:rPr>
              <a:t> </a:t>
            </a:r>
            <a:r>
              <a:rPr sz="1100" dirty="0">
                <a:latin typeface="Georgia"/>
                <a:cs typeface="Georgia"/>
              </a:rPr>
              <a:t>is</a:t>
            </a:r>
            <a:r>
              <a:rPr sz="1100" spc="30" dirty="0">
                <a:latin typeface="Georgia"/>
                <a:cs typeface="Georgia"/>
              </a:rPr>
              <a:t> </a:t>
            </a:r>
            <a:r>
              <a:rPr sz="1100" spc="-10" dirty="0">
                <a:latin typeface="Georgia"/>
                <a:cs typeface="Georgia"/>
              </a:rPr>
              <a:t>larger</a:t>
            </a:r>
            <a:r>
              <a:rPr sz="1100" spc="25" dirty="0">
                <a:latin typeface="Georgia"/>
                <a:cs typeface="Georgia"/>
              </a:rPr>
              <a:t> </a:t>
            </a:r>
            <a:r>
              <a:rPr sz="1100" dirty="0">
                <a:latin typeface="Georgia"/>
                <a:cs typeface="Georgia"/>
              </a:rPr>
              <a:t>than</a:t>
            </a:r>
            <a:r>
              <a:rPr sz="1100" spc="25" dirty="0">
                <a:latin typeface="Georgia"/>
                <a:cs typeface="Georgia"/>
              </a:rPr>
              <a:t> </a:t>
            </a:r>
            <a:r>
              <a:rPr sz="1100" dirty="0">
                <a:latin typeface="Georgia"/>
                <a:cs typeface="Georgia"/>
              </a:rPr>
              <a:t>a</a:t>
            </a:r>
            <a:r>
              <a:rPr sz="1100" spc="25" dirty="0">
                <a:latin typeface="Georgia"/>
                <a:cs typeface="Georgia"/>
              </a:rPr>
              <a:t> </a:t>
            </a:r>
            <a:r>
              <a:rPr sz="1100" spc="-10" dirty="0">
                <a:latin typeface="Georgia"/>
                <a:cs typeface="Georgia"/>
              </a:rPr>
              <a:t>given</a:t>
            </a:r>
            <a:r>
              <a:rPr sz="1100" spc="30" dirty="0">
                <a:latin typeface="Georgia"/>
                <a:cs typeface="Georgia"/>
              </a:rPr>
              <a:t> </a:t>
            </a:r>
            <a:r>
              <a:rPr sz="1100" spc="-10" dirty="0">
                <a:latin typeface="Georgia"/>
                <a:cs typeface="Georgia"/>
              </a:rPr>
              <a:t>threshold).</a:t>
            </a:r>
            <a:endParaRPr sz="1100">
              <a:latin typeface="Georgia"/>
              <a:cs typeface="Georgia"/>
            </a:endParaRPr>
          </a:p>
          <a:p>
            <a:pPr marL="12700">
              <a:lnSpc>
                <a:spcPct val="100000"/>
              </a:lnSpc>
              <a:spcBef>
                <a:spcPts val="550"/>
              </a:spcBef>
            </a:pPr>
            <a:r>
              <a:rPr sz="1100" dirty="0">
                <a:latin typeface="Georgia"/>
                <a:cs typeface="Georgia"/>
              </a:rPr>
              <a:t>When</a:t>
            </a:r>
            <a:r>
              <a:rPr sz="1100" spc="30" dirty="0">
                <a:latin typeface="Georgia"/>
                <a:cs typeface="Georgia"/>
              </a:rPr>
              <a:t> </a:t>
            </a:r>
            <a:r>
              <a:rPr sz="1100" dirty="0">
                <a:latin typeface="Georgia"/>
                <a:cs typeface="Georgia"/>
              </a:rPr>
              <a:t>the</a:t>
            </a:r>
            <a:r>
              <a:rPr sz="1100" spc="30" dirty="0">
                <a:latin typeface="Georgia"/>
                <a:cs typeface="Georgia"/>
              </a:rPr>
              <a:t> </a:t>
            </a:r>
            <a:r>
              <a:rPr sz="1100" spc="-20" dirty="0">
                <a:latin typeface="Georgia"/>
                <a:cs typeface="Georgia"/>
              </a:rPr>
              <a:t>algorithm</a:t>
            </a:r>
            <a:r>
              <a:rPr sz="1100" spc="35" dirty="0">
                <a:latin typeface="Georgia"/>
                <a:cs typeface="Georgia"/>
              </a:rPr>
              <a:t> </a:t>
            </a:r>
            <a:r>
              <a:rPr sz="1100" spc="-30" dirty="0">
                <a:latin typeface="Georgia"/>
                <a:cs typeface="Georgia"/>
              </a:rPr>
              <a:t>produces</a:t>
            </a:r>
            <a:r>
              <a:rPr sz="1100" spc="30"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whole</a:t>
            </a:r>
            <a:r>
              <a:rPr sz="1100" spc="30" dirty="0">
                <a:latin typeface="Georgia"/>
                <a:cs typeface="Georgia"/>
              </a:rPr>
              <a:t> </a:t>
            </a:r>
            <a:r>
              <a:rPr sz="1100" spc="-35" dirty="0">
                <a:latin typeface="Georgia"/>
                <a:cs typeface="Georgia"/>
              </a:rPr>
              <a:t>dendrogram,</a:t>
            </a:r>
            <a:r>
              <a:rPr sz="1100" spc="35" dirty="0">
                <a:latin typeface="Georgia"/>
                <a:cs typeface="Georgia"/>
              </a:rPr>
              <a:t> </a:t>
            </a:r>
            <a:r>
              <a:rPr sz="1100" dirty="0">
                <a:latin typeface="Georgia"/>
                <a:cs typeface="Georgia"/>
              </a:rPr>
              <a:t>e.g.,</a:t>
            </a:r>
            <a:r>
              <a:rPr sz="1100" spc="30" dirty="0">
                <a:latin typeface="Georgia"/>
                <a:cs typeface="Georgia"/>
              </a:rPr>
              <a:t> </a:t>
            </a:r>
            <a:r>
              <a:rPr sz="1100" dirty="0">
                <a:latin typeface="Georgia"/>
                <a:cs typeface="Georgia"/>
              </a:rPr>
              <a:t>an</a:t>
            </a:r>
            <a:r>
              <a:rPr sz="1100" spc="35" dirty="0">
                <a:latin typeface="Georgia"/>
                <a:cs typeface="Georgia"/>
              </a:rPr>
              <a:t> </a:t>
            </a:r>
            <a:r>
              <a:rPr sz="1100" spc="-20" dirty="0">
                <a:latin typeface="Georgia"/>
                <a:cs typeface="Georgia"/>
              </a:rPr>
              <a:t>evolutionary</a:t>
            </a:r>
            <a:r>
              <a:rPr sz="1100" spc="30" dirty="0">
                <a:latin typeface="Georgia"/>
                <a:cs typeface="Georgia"/>
              </a:rPr>
              <a:t> </a:t>
            </a:r>
            <a:r>
              <a:rPr sz="1100" spc="-10" dirty="0">
                <a:latin typeface="Georgia"/>
                <a:cs typeface="Georgia"/>
              </a:rPr>
              <a:t>tree.</a:t>
            </a:r>
            <a:endParaRPr sz="1100">
              <a:latin typeface="Georgia"/>
              <a:cs typeface="Georgia"/>
            </a:endParaRPr>
          </a:p>
        </p:txBody>
      </p:sp>
      <p:sp>
        <p:nvSpPr>
          <p:cNvPr id="6" name="object 6"/>
          <p:cNvSpPr/>
          <p:nvPr/>
        </p:nvSpPr>
        <p:spPr>
          <a:xfrm>
            <a:off x="337972" y="246212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284661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8" name="object 8"/>
          <p:cNvGrpSpPr/>
          <p:nvPr/>
        </p:nvGrpSpPr>
        <p:grpSpPr>
          <a:xfrm>
            <a:off x="0" y="3121545"/>
            <a:ext cx="5760085" cy="118745"/>
            <a:chOff x="0" y="3121545"/>
            <a:chExt cx="5760085" cy="118745"/>
          </a:xfrm>
        </p:grpSpPr>
        <p:sp>
          <p:nvSpPr>
            <p:cNvPr id="9" name="object 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0" name="object 1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2" name="object 1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51</a:t>
            </a:fld>
            <a:r>
              <a:rPr spc="5" dirty="0"/>
              <a:t> </a:t>
            </a:r>
            <a:r>
              <a:rPr spc="75" dirty="0"/>
              <a:t>/</a:t>
            </a:r>
            <a:r>
              <a:rPr spc="10" dirty="0"/>
              <a:t> </a:t>
            </a:r>
            <a:r>
              <a:rPr spc="35" dirty="0"/>
              <a:t>135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Agglomerative</a:t>
            </a:r>
            <a:r>
              <a:rPr spc="225" dirty="0"/>
              <a:t> </a:t>
            </a:r>
            <a:r>
              <a:rPr spc="10" dirty="0"/>
              <a:t>clustering:</a:t>
            </a:r>
            <a:r>
              <a:rPr spc="425" dirty="0"/>
              <a:t> </a:t>
            </a:r>
            <a:r>
              <a:rPr spc="10" dirty="0"/>
              <a:t>computational</a:t>
            </a:r>
            <a:r>
              <a:rPr spc="235" dirty="0"/>
              <a:t> </a:t>
            </a:r>
            <a:r>
              <a:rPr spc="-10" dirty="0"/>
              <a:t>complexity</a:t>
            </a:r>
          </a:p>
        </p:txBody>
      </p:sp>
      <p:sp>
        <p:nvSpPr>
          <p:cNvPr id="3" name="object 3"/>
          <p:cNvSpPr/>
          <p:nvPr/>
        </p:nvSpPr>
        <p:spPr>
          <a:xfrm>
            <a:off x="337972" y="65347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28777" y="561872"/>
            <a:ext cx="5174615" cy="2201545"/>
          </a:xfrm>
          <a:prstGeom prst="rect">
            <a:avLst/>
          </a:prstGeom>
        </p:spPr>
        <p:txBody>
          <a:bodyPr vert="horz" wrap="square" lIns="0" tIns="34290" rIns="0" bIns="0" rtlCol="0">
            <a:spAutoFit/>
          </a:bodyPr>
          <a:lstStyle/>
          <a:p>
            <a:pPr marL="38100" marR="360045" algn="just">
              <a:lnSpc>
                <a:spcPts val="1150"/>
              </a:lnSpc>
              <a:spcBef>
                <a:spcPts val="270"/>
              </a:spcBef>
            </a:pPr>
            <a:r>
              <a:rPr sz="1100" dirty="0">
                <a:latin typeface="Georgia"/>
                <a:cs typeface="Georgia"/>
              </a:rPr>
              <a:t>Compute the</a:t>
            </a:r>
            <a:r>
              <a:rPr sz="1100" spc="5" dirty="0">
                <a:latin typeface="Georgia"/>
                <a:cs typeface="Georgia"/>
              </a:rPr>
              <a:t> </a:t>
            </a:r>
            <a:r>
              <a:rPr sz="1100" spc="-10" dirty="0">
                <a:latin typeface="Georgia"/>
                <a:cs typeface="Georgia"/>
              </a:rPr>
              <a:t>distance</a:t>
            </a:r>
            <a:r>
              <a:rPr sz="1100" spc="5" dirty="0">
                <a:latin typeface="Georgia"/>
                <a:cs typeface="Georgia"/>
              </a:rPr>
              <a:t> </a:t>
            </a:r>
            <a:r>
              <a:rPr sz="1100" dirty="0">
                <a:latin typeface="Georgia"/>
                <a:cs typeface="Georgia"/>
              </a:rPr>
              <a:t>of</a:t>
            </a:r>
            <a:r>
              <a:rPr sz="1100" spc="5" dirty="0">
                <a:latin typeface="Georgia"/>
                <a:cs typeface="Georgia"/>
              </a:rPr>
              <a:t> </a:t>
            </a:r>
            <a:r>
              <a:rPr sz="1100" spc="-10" dirty="0">
                <a:latin typeface="Georgia"/>
                <a:cs typeface="Georgia"/>
              </a:rPr>
              <a:t>each</a:t>
            </a:r>
            <a:r>
              <a:rPr sz="1100" spc="5" dirty="0">
                <a:latin typeface="Georgia"/>
                <a:cs typeface="Georgia"/>
              </a:rPr>
              <a:t> </a:t>
            </a:r>
            <a:r>
              <a:rPr sz="1100" spc="-10" dirty="0">
                <a:latin typeface="Georgia"/>
                <a:cs typeface="Georgia"/>
              </a:rPr>
              <a:t>cluster</a:t>
            </a:r>
            <a:r>
              <a:rPr sz="1100" spc="5" dirty="0">
                <a:latin typeface="Georgia"/>
                <a:cs typeface="Georgia"/>
              </a:rPr>
              <a:t> </a:t>
            </a:r>
            <a:r>
              <a:rPr sz="1100" dirty="0">
                <a:latin typeface="Georgia"/>
                <a:cs typeface="Georgia"/>
              </a:rPr>
              <a:t>to</a:t>
            </a:r>
            <a:r>
              <a:rPr sz="1100" spc="5" dirty="0">
                <a:latin typeface="Georgia"/>
                <a:cs typeface="Georgia"/>
              </a:rPr>
              <a:t> </a:t>
            </a:r>
            <a:r>
              <a:rPr sz="1100" dirty="0">
                <a:latin typeface="Georgia"/>
                <a:cs typeface="Georgia"/>
              </a:rPr>
              <a:t>all</a:t>
            </a:r>
            <a:r>
              <a:rPr sz="1100" spc="5" dirty="0">
                <a:latin typeface="Georgia"/>
                <a:cs typeface="Georgia"/>
              </a:rPr>
              <a:t> </a:t>
            </a:r>
            <a:r>
              <a:rPr sz="1100" dirty="0">
                <a:latin typeface="Georgia"/>
                <a:cs typeface="Georgia"/>
              </a:rPr>
              <a:t>other</a:t>
            </a:r>
            <a:r>
              <a:rPr sz="1100" spc="5" dirty="0">
                <a:latin typeface="Georgia"/>
                <a:cs typeface="Georgia"/>
              </a:rPr>
              <a:t> </a:t>
            </a:r>
            <a:r>
              <a:rPr sz="1100" spc="-10" dirty="0">
                <a:latin typeface="Georgia"/>
                <a:cs typeface="Georgia"/>
              </a:rPr>
              <a:t>clusters,</a:t>
            </a:r>
            <a:r>
              <a:rPr sz="1100" spc="5" dirty="0">
                <a:latin typeface="Georgia"/>
                <a:cs typeface="Georgia"/>
              </a:rPr>
              <a:t> </a:t>
            </a:r>
            <a:r>
              <a:rPr sz="1100" dirty="0">
                <a:latin typeface="Georgia"/>
                <a:cs typeface="Georgia"/>
              </a:rPr>
              <a:t>and</a:t>
            </a:r>
            <a:r>
              <a:rPr sz="1100" spc="5" dirty="0">
                <a:latin typeface="Georgia"/>
                <a:cs typeface="Georgia"/>
              </a:rPr>
              <a:t> </a:t>
            </a:r>
            <a:r>
              <a:rPr sz="1100" dirty="0">
                <a:latin typeface="Georgia"/>
                <a:cs typeface="Georgia"/>
              </a:rPr>
              <a:t>at</a:t>
            </a:r>
            <a:r>
              <a:rPr sz="1100" spc="5" dirty="0">
                <a:latin typeface="Georgia"/>
                <a:cs typeface="Georgia"/>
              </a:rPr>
              <a:t> </a:t>
            </a:r>
            <a:r>
              <a:rPr sz="1100" dirty="0">
                <a:latin typeface="Georgia"/>
                <a:cs typeface="Georgia"/>
              </a:rPr>
              <a:t>each</a:t>
            </a:r>
            <a:r>
              <a:rPr sz="1100" spc="5" dirty="0">
                <a:latin typeface="Georgia"/>
                <a:cs typeface="Georgia"/>
              </a:rPr>
              <a:t> </a:t>
            </a:r>
            <a:r>
              <a:rPr sz="1100" dirty="0">
                <a:latin typeface="Georgia"/>
                <a:cs typeface="Georgia"/>
              </a:rPr>
              <a:t>step</a:t>
            </a:r>
            <a:r>
              <a:rPr sz="1100" spc="5" dirty="0">
                <a:latin typeface="Georgia"/>
                <a:cs typeface="Georgia"/>
              </a:rPr>
              <a:t> </a:t>
            </a:r>
            <a:r>
              <a:rPr sz="1100" spc="-25" dirty="0">
                <a:latin typeface="Georgia"/>
                <a:cs typeface="Georgia"/>
              </a:rPr>
              <a:t>the </a:t>
            </a:r>
            <a:r>
              <a:rPr sz="1100" spc="-30" dirty="0">
                <a:latin typeface="Georgia"/>
                <a:cs typeface="Georgia"/>
              </a:rPr>
              <a:t>number</a:t>
            </a:r>
            <a:r>
              <a:rPr sz="1100" spc="10" dirty="0">
                <a:latin typeface="Georgia"/>
                <a:cs typeface="Georgia"/>
              </a:rPr>
              <a:t> </a:t>
            </a:r>
            <a:r>
              <a:rPr sz="1100" dirty="0">
                <a:latin typeface="Georgia"/>
                <a:cs typeface="Georgia"/>
              </a:rPr>
              <a:t>of</a:t>
            </a:r>
            <a:r>
              <a:rPr sz="1100" spc="10" dirty="0">
                <a:latin typeface="Georgia"/>
                <a:cs typeface="Georgia"/>
              </a:rPr>
              <a:t> </a:t>
            </a:r>
            <a:r>
              <a:rPr sz="1100" spc="-10" dirty="0">
                <a:latin typeface="Georgia"/>
                <a:cs typeface="Georgia"/>
              </a:rPr>
              <a:t>clusters</a:t>
            </a:r>
            <a:r>
              <a:rPr sz="1100" spc="15" dirty="0">
                <a:latin typeface="Georgia"/>
                <a:cs typeface="Georgia"/>
              </a:rPr>
              <a:t> </a:t>
            </a:r>
            <a:r>
              <a:rPr sz="1100" spc="-30" dirty="0">
                <a:latin typeface="Georgia"/>
                <a:cs typeface="Georgia"/>
              </a:rPr>
              <a:t>decreases</a:t>
            </a:r>
            <a:r>
              <a:rPr sz="1100" spc="10" dirty="0">
                <a:latin typeface="Georgia"/>
                <a:cs typeface="Georgia"/>
              </a:rPr>
              <a:t> </a:t>
            </a:r>
            <a:r>
              <a:rPr sz="1100" dirty="0">
                <a:latin typeface="Georgia"/>
                <a:cs typeface="Georgia"/>
              </a:rPr>
              <a:t>by</a:t>
            </a:r>
            <a:r>
              <a:rPr sz="1100" spc="10" dirty="0">
                <a:latin typeface="Georgia"/>
                <a:cs typeface="Georgia"/>
              </a:rPr>
              <a:t> </a:t>
            </a:r>
            <a:r>
              <a:rPr sz="1100" dirty="0">
                <a:latin typeface="Georgia"/>
                <a:cs typeface="Georgia"/>
              </a:rPr>
              <a:t>one.</a:t>
            </a:r>
            <a:r>
              <a:rPr sz="1100" spc="100" dirty="0">
                <a:latin typeface="Georgia"/>
                <a:cs typeface="Georgia"/>
              </a:rPr>
              <a:t> </a:t>
            </a:r>
            <a:r>
              <a:rPr sz="1100" dirty="0">
                <a:latin typeface="Georgia"/>
                <a:cs typeface="Georgia"/>
              </a:rPr>
              <a:t>Initially</a:t>
            </a:r>
            <a:r>
              <a:rPr sz="1100" spc="15" dirty="0">
                <a:latin typeface="Georgia"/>
                <a:cs typeface="Georgia"/>
              </a:rPr>
              <a:t> </a:t>
            </a:r>
            <a:r>
              <a:rPr sz="1100" dirty="0">
                <a:latin typeface="Georgia"/>
                <a:cs typeface="Georgia"/>
              </a:rPr>
              <a:t>it</a:t>
            </a:r>
            <a:r>
              <a:rPr sz="1100" spc="10" dirty="0">
                <a:latin typeface="Georgia"/>
                <a:cs typeface="Georgia"/>
              </a:rPr>
              <a:t> </a:t>
            </a:r>
            <a:r>
              <a:rPr sz="1100" dirty="0">
                <a:latin typeface="Georgia"/>
                <a:cs typeface="Georgia"/>
              </a:rPr>
              <a:t>takes</a:t>
            </a:r>
            <a:r>
              <a:rPr sz="1100" spc="15" dirty="0">
                <a:latin typeface="Georgia"/>
                <a:cs typeface="Georgia"/>
              </a:rPr>
              <a:t> </a:t>
            </a:r>
            <a:r>
              <a:rPr sz="1100" i="1" spc="90" dirty="0">
                <a:latin typeface="Calibri"/>
                <a:cs typeface="Calibri"/>
              </a:rPr>
              <a:t>O</a:t>
            </a:r>
            <a:r>
              <a:rPr sz="1100" spc="90" dirty="0">
                <a:latin typeface="Calibri"/>
                <a:cs typeface="Calibri"/>
              </a:rPr>
              <a:t>(</a:t>
            </a:r>
            <a:r>
              <a:rPr sz="1100" i="1" spc="90" dirty="0">
                <a:latin typeface="Calibri"/>
                <a:cs typeface="Calibri"/>
              </a:rPr>
              <a:t>n</a:t>
            </a:r>
            <a:r>
              <a:rPr sz="1200" spc="135" baseline="27777" dirty="0">
                <a:latin typeface="Calibri"/>
                <a:cs typeface="Calibri"/>
              </a:rPr>
              <a:t>2</a:t>
            </a:r>
            <a:r>
              <a:rPr sz="1100" spc="90" dirty="0">
                <a:latin typeface="Calibri"/>
                <a:cs typeface="Calibri"/>
              </a:rPr>
              <a:t>)</a:t>
            </a:r>
            <a:r>
              <a:rPr sz="1100" spc="25" dirty="0">
                <a:latin typeface="Calibri"/>
                <a:cs typeface="Calibri"/>
              </a:rPr>
              <a:t> </a:t>
            </a:r>
            <a:r>
              <a:rPr sz="1100" dirty="0">
                <a:latin typeface="Georgia"/>
                <a:cs typeface="Georgia"/>
              </a:rPr>
              <a:t>time</a:t>
            </a:r>
            <a:r>
              <a:rPr sz="1100" spc="10" dirty="0">
                <a:latin typeface="Georgia"/>
                <a:cs typeface="Georgia"/>
              </a:rPr>
              <a:t> </a:t>
            </a:r>
            <a:r>
              <a:rPr sz="1100" dirty="0">
                <a:latin typeface="Georgia"/>
                <a:cs typeface="Georgia"/>
              </a:rPr>
              <a:t>to</a:t>
            </a:r>
            <a:r>
              <a:rPr sz="1100" spc="15" dirty="0">
                <a:latin typeface="Georgia"/>
                <a:cs typeface="Georgia"/>
              </a:rPr>
              <a:t> </a:t>
            </a:r>
            <a:r>
              <a:rPr sz="1100" dirty="0">
                <a:latin typeface="Georgia"/>
                <a:cs typeface="Georgia"/>
              </a:rPr>
              <a:t>create</a:t>
            </a:r>
            <a:r>
              <a:rPr sz="1100" spc="10" dirty="0">
                <a:latin typeface="Georgia"/>
                <a:cs typeface="Georgia"/>
              </a:rPr>
              <a:t> </a:t>
            </a:r>
            <a:r>
              <a:rPr sz="1100" spc="-25" dirty="0">
                <a:latin typeface="Georgia"/>
                <a:cs typeface="Georgia"/>
              </a:rPr>
              <a:t>the pairwise</a:t>
            </a:r>
            <a:r>
              <a:rPr sz="1100" spc="35" dirty="0">
                <a:latin typeface="Georgia"/>
                <a:cs typeface="Georgia"/>
              </a:rPr>
              <a:t> </a:t>
            </a:r>
            <a:r>
              <a:rPr sz="1100" spc="-20" dirty="0">
                <a:latin typeface="Georgia"/>
                <a:cs typeface="Georgia"/>
              </a:rPr>
              <a:t>distance</a:t>
            </a:r>
            <a:r>
              <a:rPr sz="1100" spc="35" dirty="0">
                <a:latin typeface="Georgia"/>
                <a:cs typeface="Georgia"/>
              </a:rPr>
              <a:t> </a:t>
            </a:r>
            <a:r>
              <a:rPr sz="1100" dirty="0">
                <a:latin typeface="Georgia"/>
                <a:cs typeface="Georgia"/>
              </a:rPr>
              <a:t>matrix,</a:t>
            </a:r>
            <a:r>
              <a:rPr sz="1100" spc="35" dirty="0">
                <a:latin typeface="Georgia"/>
                <a:cs typeface="Georgia"/>
              </a:rPr>
              <a:t> </a:t>
            </a:r>
            <a:r>
              <a:rPr sz="1100" spc="-30" dirty="0">
                <a:latin typeface="Georgia"/>
                <a:cs typeface="Georgia"/>
              </a:rPr>
              <a:t>unless</a:t>
            </a:r>
            <a:r>
              <a:rPr sz="1100" spc="40" dirty="0">
                <a:latin typeface="Georgia"/>
                <a:cs typeface="Georgia"/>
              </a:rPr>
              <a:t> </a:t>
            </a:r>
            <a:r>
              <a:rPr sz="1100" dirty="0">
                <a:latin typeface="Georgia"/>
                <a:cs typeface="Georgia"/>
              </a:rPr>
              <a:t>it</a:t>
            </a:r>
            <a:r>
              <a:rPr sz="1100" spc="35" dirty="0">
                <a:latin typeface="Georgia"/>
                <a:cs typeface="Georgia"/>
              </a:rPr>
              <a:t> </a:t>
            </a:r>
            <a:r>
              <a:rPr sz="1100" dirty="0">
                <a:latin typeface="Georgia"/>
                <a:cs typeface="Georgia"/>
              </a:rPr>
              <a:t>is</a:t>
            </a:r>
            <a:r>
              <a:rPr sz="1100" spc="35" dirty="0">
                <a:latin typeface="Georgia"/>
                <a:cs typeface="Georgia"/>
              </a:rPr>
              <a:t> </a:t>
            </a:r>
            <a:r>
              <a:rPr sz="1100" spc="-30" dirty="0">
                <a:latin typeface="Georgia"/>
                <a:cs typeface="Georgia"/>
              </a:rPr>
              <a:t>specified</a:t>
            </a:r>
            <a:r>
              <a:rPr sz="1100" spc="40" dirty="0">
                <a:latin typeface="Georgia"/>
                <a:cs typeface="Georgia"/>
              </a:rPr>
              <a:t> </a:t>
            </a:r>
            <a:r>
              <a:rPr sz="1100" dirty="0">
                <a:latin typeface="Georgia"/>
                <a:cs typeface="Georgia"/>
              </a:rPr>
              <a:t>as</a:t>
            </a:r>
            <a:r>
              <a:rPr sz="1100" spc="35" dirty="0">
                <a:latin typeface="Georgia"/>
                <a:cs typeface="Georgia"/>
              </a:rPr>
              <a:t> </a:t>
            </a:r>
            <a:r>
              <a:rPr sz="1100" dirty="0">
                <a:latin typeface="Georgia"/>
                <a:cs typeface="Georgia"/>
              </a:rPr>
              <a:t>an</a:t>
            </a:r>
            <a:r>
              <a:rPr sz="1100" spc="35" dirty="0">
                <a:latin typeface="Georgia"/>
                <a:cs typeface="Georgia"/>
              </a:rPr>
              <a:t> </a:t>
            </a:r>
            <a:r>
              <a:rPr sz="1100" dirty="0">
                <a:latin typeface="Georgia"/>
                <a:cs typeface="Georgia"/>
              </a:rPr>
              <a:t>input</a:t>
            </a:r>
            <a:r>
              <a:rPr sz="1100" spc="35" dirty="0">
                <a:latin typeface="Georgia"/>
                <a:cs typeface="Georgia"/>
              </a:rPr>
              <a:t> </a:t>
            </a:r>
            <a:r>
              <a:rPr sz="1100" dirty="0">
                <a:latin typeface="Georgia"/>
                <a:cs typeface="Georgia"/>
              </a:rPr>
              <a:t>to</a:t>
            </a:r>
            <a:r>
              <a:rPr sz="1100" spc="40"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algorithm.</a:t>
            </a:r>
            <a:endParaRPr sz="1100">
              <a:latin typeface="Georgia"/>
              <a:cs typeface="Georgia"/>
            </a:endParaRPr>
          </a:p>
          <a:p>
            <a:pPr marL="38100" marR="30480">
              <a:lnSpc>
                <a:spcPts val="1150"/>
              </a:lnSpc>
              <a:spcBef>
                <a:spcPts val="730"/>
              </a:spcBef>
            </a:pPr>
            <a:r>
              <a:rPr sz="1100" dirty="0">
                <a:latin typeface="Georgia"/>
                <a:cs typeface="Georgia"/>
              </a:rPr>
              <a:t>At</a:t>
            </a:r>
            <a:r>
              <a:rPr sz="1100" spc="30" dirty="0">
                <a:latin typeface="Georgia"/>
                <a:cs typeface="Georgia"/>
              </a:rPr>
              <a:t> </a:t>
            </a:r>
            <a:r>
              <a:rPr sz="1100" spc="-10" dirty="0">
                <a:latin typeface="Georgia"/>
                <a:cs typeface="Georgia"/>
              </a:rPr>
              <a:t>each</a:t>
            </a:r>
            <a:r>
              <a:rPr sz="1100" spc="30" dirty="0">
                <a:latin typeface="Georgia"/>
                <a:cs typeface="Georgia"/>
              </a:rPr>
              <a:t> </a:t>
            </a:r>
            <a:r>
              <a:rPr sz="1100" spc="-35" dirty="0">
                <a:latin typeface="Georgia"/>
                <a:cs typeface="Georgia"/>
              </a:rPr>
              <a:t>merge</a:t>
            </a:r>
            <a:r>
              <a:rPr sz="1100" spc="35" dirty="0">
                <a:latin typeface="Georgia"/>
                <a:cs typeface="Georgia"/>
              </a:rPr>
              <a:t> </a:t>
            </a:r>
            <a:r>
              <a:rPr sz="1100" dirty="0">
                <a:latin typeface="Georgia"/>
                <a:cs typeface="Georgia"/>
              </a:rPr>
              <a:t>step,</a:t>
            </a:r>
            <a:r>
              <a:rPr sz="1100" spc="30"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distances</a:t>
            </a:r>
            <a:r>
              <a:rPr sz="1100" spc="30" dirty="0">
                <a:latin typeface="Georgia"/>
                <a:cs typeface="Georgia"/>
              </a:rPr>
              <a:t> </a:t>
            </a:r>
            <a:r>
              <a:rPr sz="1100" spc="-25" dirty="0">
                <a:latin typeface="Georgia"/>
                <a:cs typeface="Georgia"/>
              </a:rPr>
              <a:t>from</a:t>
            </a:r>
            <a:r>
              <a:rPr sz="1100" spc="35" dirty="0">
                <a:latin typeface="Georgia"/>
                <a:cs typeface="Georgia"/>
              </a:rPr>
              <a:t> </a:t>
            </a:r>
            <a:r>
              <a:rPr sz="1100" dirty="0">
                <a:latin typeface="Georgia"/>
                <a:cs typeface="Georgia"/>
              </a:rPr>
              <a:t>the</a:t>
            </a:r>
            <a:r>
              <a:rPr sz="1100" spc="30" dirty="0">
                <a:latin typeface="Georgia"/>
                <a:cs typeface="Georgia"/>
              </a:rPr>
              <a:t> </a:t>
            </a:r>
            <a:r>
              <a:rPr sz="1100" spc="-35" dirty="0">
                <a:latin typeface="Georgia"/>
                <a:cs typeface="Georgia"/>
              </a:rPr>
              <a:t>merged</a:t>
            </a:r>
            <a:r>
              <a:rPr sz="1100" spc="35" dirty="0">
                <a:latin typeface="Georgia"/>
                <a:cs typeface="Georgia"/>
              </a:rPr>
              <a:t> </a:t>
            </a:r>
            <a:r>
              <a:rPr sz="1100" spc="-10" dirty="0">
                <a:latin typeface="Georgia"/>
                <a:cs typeface="Georgia"/>
              </a:rPr>
              <a:t>cluster</a:t>
            </a:r>
            <a:r>
              <a:rPr sz="1100" spc="30" dirty="0">
                <a:latin typeface="Georgia"/>
                <a:cs typeface="Georgia"/>
              </a:rPr>
              <a:t> </a:t>
            </a:r>
            <a:r>
              <a:rPr sz="1100" dirty="0">
                <a:latin typeface="Georgia"/>
                <a:cs typeface="Georgia"/>
              </a:rPr>
              <a:t>to</a:t>
            </a:r>
            <a:r>
              <a:rPr sz="1100" spc="35"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other</a:t>
            </a:r>
            <a:r>
              <a:rPr sz="1100" spc="30" dirty="0">
                <a:latin typeface="Georgia"/>
                <a:cs typeface="Georgia"/>
              </a:rPr>
              <a:t> </a:t>
            </a:r>
            <a:r>
              <a:rPr sz="1100" spc="-20" dirty="0">
                <a:latin typeface="Georgia"/>
                <a:cs typeface="Georgia"/>
              </a:rPr>
              <a:t>clusters</a:t>
            </a:r>
            <a:r>
              <a:rPr sz="1100" spc="35" dirty="0">
                <a:latin typeface="Georgia"/>
                <a:cs typeface="Georgia"/>
              </a:rPr>
              <a:t> </a:t>
            </a:r>
            <a:r>
              <a:rPr sz="1100" spc="-20" dirty="0">
                <a:latin typeface="Georgia"/>
                <a:cs typeface="Georgia"/>
              </a:rPr>
              <a:t>have </a:t>
            </a:r>
            <a:r>
              <a:rPr sz="1100" dirty="0">
                <a:latin typeface="Georgia"/>
                <a:cs typeface="Georgia"/>
              </a:rPr>
              <a:t>to</a:t>
            </a:r>
            <a:r>
              <a:rPr sz="1100" spc="40" dirty="0">
                <a:latin typeface="Georgia"/>
                <a:cs typeface="Georgia"/>
              </a:rPr>
              <a:t> </a:t>
            </a:r>
            <a:r>
              <a:rPr sz="1100" dirty="0">
                <a:latin typeface="Georgia"/>
                <a:cs typeface="Georgia"/>
              </a:rPr>
              <a:t>be</a:t>
            </a:r>
            <a:r>
              <a:rPr sz="1100" spc="40" dirty="0">
                <a:latin typeface="Georgia"/>
                <a:cs typeface="Georgia"/>
              </a:rPr>
              <a:t> </a:t>
            </a:r>
            <a:r>
              <a:rPr sz="1100" spc="-30" dirty="0">
                <a:latin typeface="Georgia"/>
                <a:cs typeface="Georgia"/>
              </a:rPr>
              <a:t>recomputed,</a:t>
            </a:r>
            <a:r>
              <a:rPr sz="1100" spc="40" dirty="0">
                <a:latin typeface="Georgia"/>
                <a:cs typeface="Georgia"/>
              </a:rPr>
              <a:t> </a:t>
            </a:r>
            <a:r>
              <a:rPr sz="1100" spc="-30" dirty="0">
                <a:latin typeface="Georgia"/>
                <a:cs typeface="Georgia"/>
              </a:rPr>
              <a:t>whereas</a:t>
            </a:r>
            <a:r>
              <a:rPr sz="1100" spc="40" dirty="0">
                <a:latin typeface="Georgia"/>
                <a:cs typeface="Georgia"/>
              </a:rPr>
              <a:t> </a:t>
            </a:r>
            <a:r>
              <a:rPr sz="1100" dirty="0">
                <a:latin typeface="Georgia"/>
                <a:cs typeface="Georgia"/>
              </a:rPr>
              <a:t>the</a:t>
            </a:r>
            <a:r>
              <a:rPr sz="1100" spc="45" dirty="0">
                <a:latin typeface="Georgia"/>
                <a:cs typeface="Georgia"/>
              </a:rPr>
              <a:t> </a:t>
            </a:r>
            <a:r>
              <a:rPr sz="1100" spc="-25" dirty="0">
                <a:latin typeface="Georgia"/>
                <a:cs typeface="Georgia"/>
              </a:rPr>
              <a:t>distances</a:t>
            </a:r>
            <a:r>
              <a:rPr sz="1100" spc="40" dirty="0">
                <a:latin typeface="Georgia"/>
                <a:cs typeface="Georgia"/>
              </a:rPr>
              <a:t> </a:t>
            </a:r>
            <a:r>
              <a:rPr sz="1100" spc="-30" dirty="0">
                <a:latin typeface="Georgia"/>
                <a:cs typeface="Georgia"/>
              </a:rPr>
              <a:t>between</a:t>
            </a:r>
            <a:r>
              <a:rPr sz="1100" spc="40" dirty="0">
                <a:latin typeface="Georgia"/>
                <a:cs typeface="Georgia"/>
              </a:rPr>
              <a:t> </a:t>
            </a:r>
            <a:r>
              <a:rPr sz="1100" dirty="0">
                <a:latin typeface="Georgia"/>
                <a:cs typeface="Georgia"/>
              </a:rPr>
              <a:t>the</a:t>
            </a:r>
            <a:r>
              <a:rPr sz="1100" spc="40" dirty="0">
                <a:latin typeface="Georgia"/>
                <a:cs typeface="Georgia"/>
              </a:rPr>
              <a:t> </a:t>
            </a:r>
            <a:r>
              <a:rPr sz="1100" spc="-10" dirty="0">
                <a:latin typeface="Georgia"/>
                <a:cs typeface="Georgia"/>
              </a:rPr>
              <a:t>other</a:t>
            </a:r>
            <a:r>
              <a:rPr sz="1100" spc="45" dirty="0">
                <a:latin typeface="Georgia"/>
                <a:cs typeface="Georgia"/>
              </a:rPr>
              <a:t> </a:t>
            </a:r>
            <a:r>
              <a:rPr sz="1100" spc="-20" dirty="0">
                <a:latin typeface="Georgia"/>
                <a:cs typeface="Georgia"/>
              </a:rPr>
              <a:t>clusters</a:t>
            </a:r>
            <a:r>
              <a:rPr sz="1100" spc="40" dirty="0">
                <a:latin typeface="Georgia"/>
                <a:cs typeface="Georgia"/>
              </a:rPr>
              <a:t> </a:t>
            </a:r>
            <a:r>
              <a:rPr sz="1100" spc="-30" dirty="0">
                <a:latin typeface="Georgia"/>
                <a:cs typeface="Georgia"/>
              </a:rPr>
              <a:t>remain</a:t>
            </a:r>
            <a:r>
              <a:rPr sz="1100" spc="40" dirty="0">
                <a:latin typeface="Georgia"/>
                <a:cs typeface="Georgia"/>
              </a:rPr>
              <a:t> </a:t>
            </a:r>
            <a:r>
              <a:rPr sz="1100" spc="-25" dirty="0">
                <a:latin typeface="Georgia"/>
                <a:cs typeface="Georgia"/>
              </a:rPr>
              <a:t>the</a:t>
            </a:r>
            <a:r>
              <a:rPr sz="1100" spc="500" dirty="0">
                <a:latin typeface="Georgia"/>
                <a:cs typeface="Georgia"/>
              </a:rPr>
              <a:t> </a:t>
            </a:r>
            <a:r>
              <a:rPr sz="1100" spc="-10" dirty="0">
                <a:latin typeface="Georgia"/>
                <a:cs typeface="Georgia"/>
              </a:rPr>
              <a:t>same.</a:t>
            </a:r>
            <a:r>
              <a:rPr sz="1100" spc="114" dirty="0">
                <a:latin typeface="Georgia"/>
                <a:cs typeface="Georgia"/>
              </a:rPr>
              <a:t> </a:t>
            </a:r>
            <a:r>
              <a:rPr sz="1100" dirty="0">
                <a:latin typeface="Georgia"/>
                <a:cs typeface="Georgia"/>
              </a:rPr>
              <a:t>This</a:t>
            </a:r>
            <a:r>
              <a:rPr sz="1100" spc="50" dirty="0">
                <a:latin typeface="Georgia"/>
                <a:cs typeface="Georgia"/>
              </a:rPr>
              <a:t> </a:t>
            </a:r>
            <a:r>
              <a:rPr sz="1100" spc="-30" dirty="0">
                <a:latin typeface="Georgia"/>
                <a:cs typeface="Georgia"/>
              </a:rPr>
              <a:t>means</a:t>
            </a:r>
            <a:r>
              <a:rPr sz="1100" spc="50" dirty="0">
                <a:latin typeface="Georgia"/>
                <a:cs typeface="Georgia"/>
              </a:rPr>
              <a:t> </a:t>
            </a:r>
            <a:r>
              <a:rPr sz="1100" dirty="0">
                <a:latin typeface="Georgia"/>
                <a:cs typeface="Georgia"/>
              </a:rPr>
              <a:t>that</a:t>
            </a:r>
            <a:r>
              <a:rPr sz="1100" spc="50" dirty="0">
                <a:latin typeface="Georgia"/>
                <a:cs typeface="Georgia"/>
              </a:rPr>
              <a:t> </a:t>
            </a:r>
            <a:r>
              <a:rPr sz="1100" dirty="0">
                <a:latin typeface="Georgia"/>
                <a:cs typeface="Georgia"/>
              </a:rPr>
              <a:t>in</a:t>
            </a:r>
            <a:r>
              <a:rPr sz="1100" spc="50" dirty="0">
                <a:latin typeface="Georgia"/>
                <a:cs typeface="Georgia"/>
              </a:rPr>
              <a:t> </a:t>
            </a:r>
            <a:r>
              <a:rPr sz="1100" dirty="0">
                <a:latin typeface="Georgia"/>
                <a:cs typeface="Georgia"/>
              </a:rPr>
              <a:t>step</a:t>
            </a:r>
            <a:r>
              <a:rPr sz="1100" spc="50" dirty="0">
                <a:latin typeface="Georgia"/>
                <a:cs typeface="Georgia"/>
              </a:rPr>
              <a:t> </a:t>
            </a:r>
            <a:r>
              <a:rPr sz="1100" i="1" dirty="0">
                <a:latin typeface="Calibri"/>
                <a:cs typeface="Calibri"/>
              </a:rPr>
              <a:t>t</a:t>
            </a:r>
            <a:r>
              <a:rPr sz="1100" dirty="0">
                <a:latin typeface="Georgia"/>
                <a:cs typeface="Georgia"/>
              </a:rPr>
              <a:t>,</a:t>
            </a:r>
            <a:r>
              <a:rPr sz="1100" spc="50" dirty="0">
                <a:latin typeface="Georgia"/>
                <a:cs typeface="Georgia"/>
              </a:rPr>
              <a:t> </a:t>
            </a:r>
            <a:r>
              <a:rPr sz="1100" spc="-10" dirty="0">
                <a:latin typeface="Georgia"/>
                <a:cs typeface="Georgia"/>
              </a:rPr>
              <a:t>we</a:t>
            </a:r>
            <a:r>
              <a:rPr sz="1100" spc="50" dirty="0">
                <a:latin typeface="Georgia"/>
                <a:cs typeface="Georgia"/>
              </a:rPr>
              <a:t> </a:t>
            </a:r>
            <a:r>
              <a:rPr sz="1100" spc="-20" dirty="0">
                <a:latin typeface="Georgia"/>
                <a:cs typeface="Georgia"/>
              </a:rPr>
              <a:t>compute</a:t>
            </a:r>
            <a:r>
              <a:rPr sz="1100" spc="50" dirty="0">
                <a:latin typeface="Georgia"/>
                <a:cs typeface="Georgia"/>
              </a:rPr>
              <a:t> </a:t>
            </a:r>
            <a:r>
              <a:rPr sz="1100" i="1" spc="100" dirty="0">
                <a:latin typeface="Calibri"/>
                <a:cs typeface="Calibri"/>
              </a:rPr>
              <a:t>O</a:t>
            </a:r>
            <a:r>
              <a:rPr sz="1100" spc="100" dirty="0">
                <a:latin typeface="Calibri"/>
                <a:cs typeface="Calibri"/>
              </a:rPr>
              <a:t>(</a:t>
            </a:r>
            <a:r>
              <a:rPr sz="1100" i="1" spc="100" dirty="0">
                <a:latin typeface="Calibri"/>
                <a:cs typeface="Calibri"/>
              </a:rPr>
              <a:t>n</a:t>
            </a:r>
            <a:r>
              <a:rPr sz="1100" i="1" spc="-40" dirty="0">
                <a:latin typeface="Calibri"/>
                <a:cs typeface="Calibri"/>
              </a:rPr>
              <a:t> </a:t>
            </a:r>
            <a:r>
              <a:rPr sz="1100" spc="-254" dirty="0">
                <a:latin typeface="Lucida Sans Unicode"/>
                <a:cs typeface="Lucida Sans Unicode"/>
              </a:rPr>
              <a:t>—</a:t>
            </a:r>
            <a:r>
              <a:rPr sz="1100" spc="-105" dirty="0">
                <a:latin typeface="Lucida Sans Unicode"/>
                <a:cs typeface="Lucida Sans Unicode"/>
              </a:rPr>
              <a:t> </a:t>
            </a:r>
            <a:r>
              <a:rPr sz="1100" i="1" spc="55" dirty="0">
                <a:latin typeface="Calibri"/>
                <a:cs typeface="Calibri"/>
              </a:rPr>
              <a:t>t</a:t>
            </a:r>
            <a:r>
              <a:rPr sz="1100" spc="55" dirty="0">
                <a:latin typeface="Calibri"/>
                <a:cs typeface="Calibri"/>
              </a:rPr>
              <a:t>)</a:t>
            </a:r>
            <a:r>
              <a:rPr sz="1100" spc="65" dirty="0">
                <a:latin typeface="Calibri"/>
                <a:cs typeface="Calibri"/>
              </a:rPr>
              <a:t> </a:t>
            </a:r>
            <a:r>
              <a:rPr sz="1100" spc="-10" dirty="0">
                <a:latin typeface="Georgia"/>
                <a:cs typeface="Georgia"/>
              </a:rPr>
              <a:t>distances.</a:t>
            </a:r>
            <a:endParaRPr sz="1100">
              <a:latin typeface="Georgia"/>
              <a:cs typeface="Georgia"/>
            </a:endParaRPr>
          </a:p>
          <a:p>
            <a:pPr marL="38100" marR="78740">
              <a:lnSpc>
                <a:spcPts val="1150"/>
              </a:lnSpc>
              <a:spcBef>
                <a:spcPts val="730"/>
              </a:spcBef>
            </a:pPr>
            <a:r>
              <a:rPr sz="1100" dirty="0">
                <a:latin typeface="Georgia"/>
                <a:cs typeface="Georgia"/>
              </a:rPr>
              <a:t>The</a:t>
            </a:r>
            <a:r>
              <a:rPr sz="1100" spc="20" dirty="0">
                <a:latin typeface="Georgia"/>
                <a:cs typeface="Georgia"/>
              </a:rPr>
              <a:t> </a:t>
            </a:r>
            <a:r>
              <a:rPr sz="1100" spc="-10" dirty="0">
                <a:latin typeface="Georgia"/>
                <a:cs typeface="Georgia"/>
              </a:rPr>
              <a:t>other</a:t>
            </a:r>
            <a:r>
              <a:rPr sz="1100" spc="25" dirty="0">
                <a:latin typeface="Georgia"/>
                <a:cs typeface="Georgia"/>
              </a:rPr>
              <a:t> </a:t>
            </a:r>
            <a:r>
              <a:rPr sz="1100" spc="-20" dirty="0">
                <a:latin typeface="Georgia"/>
                <a:cs typeface="Georgia"/>
              </a:rPr>
              <a:t>main</a:t>
            </a:r>
            <a:r>
              <a:rPr sz="1100" spc="25" dirty="0">
                <a:latin typeface="Georgia"/>
                <a:cs typeface="Georgia"/>
              </a:rPr>
              <a:t> </a:t>
            </a:r>
            <a:r>
              <a:rPr sz="1100" spc="-20" dirty="0">
                <a:latin typeface="Georgia"/>
                <a:cs typeface="Georgia"/>
              </a:rPr>
              <a:t>operation</a:t>
            </a:r>
            <a:r>
              <a:rPr sz="1100" spc="25" dirty="0">
                <a:latin typeface="Georgia"/>
                <a:cs typeface="Georgia"/>
              </a:rPr>
              <a:t> </a:t>
            </a:r>
            <a:r>
              <a:rPr sz="1100" dirty="0">
                <a:latin typeface="Georgia"/>
                <a:cs typeface="Georgia"/>
              </a:rPr>
              <a:t>is</a:t>
            </a:r>
            <a:r>
              <a:rPr sz="1100" spc="25" dirty="0">
                <a:latin typeface="Georgia"/>
                <a:cs typeface="Georgia"/>
              </a:rPr>
              <a:t> </a:t>
            </a:r>
            <a:r>
              <a:rPr sz="1100" dirty="0">
                <a:latin typeface="Georgia"/>
                <a:cs typeface="Georgia"/>
              </a:rPr>
              <a:t>to</a:t>
            </a:r>
            <a:r>
              <a:rPr sz="1100" spc="25" dirty="0">
                <a:latin typeface="Georgia"/>
                <a:cs typeface="Georgia"/>
              </a:rPr>
              <a:t> </a:t>
            </a:r>
            <a:r>
              <a:rPr sz="1100" spc="-20" dirty="0">
                <a:latin typeface="Georgia"/>
                <a:cs typeface="Georgia"/>
              </a:rPr>
              <a:t>find</a:t>
            </a:r>
            <a:r>
              <a:rPr sz="1100" spc="25"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closest</a:t>
            </a:r>
            <a:r>
              <a:rPr sz="1100" spc="25" dirty="0">
                <a:latin typeface="Georgia"/>
                <a:cs typeface="Georgia"/>
              </a:rPr>
              <a:t> </a:t>
            </a:r>
            <a:r>
              <a:rPr sz="1100" dirty="0">
                <a:latin typeface="Georgia"/>
                <a:cs typeface="Georgia"/>
              </a:rPr>
              <a:t>pair</a:t>
            </a:r>
            <a:r>
              <a:rPr sz="1100" spc="25"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the</a:t>
            </a:r>
            <a:r>
              <a:rPr sz="1100" spc="25" dirty="0">
                <a:latin typeface="Georgia"/>
                <a:cs typeface="Georgia"/>
              </a:rPr>
              <a:t> </a:t>
            </a:r>
            <a:r>
              <a:rPr sz="1100" spc="-20" dirty="0">
                <a:latin typeface="Georgia"/>
                <a:cs typeface="Georgia"/>
              </a:rPr>
              <a:t>distance</a:t>
            </a:r>
            <a:r>
              <a:rPr sz="1100" spc="25" dirty="0">
                <a:latin typeface="Georgia"/>
                <a:cs typeface="Georgia"/>
              </a:rPr>
              <a:t> </a:t>
            </a:r>
            <a:r>
              <a:rPr sz="1100" dirty="0">
                <a:latin typeface="Georgia"/>
                <a:cs typeface="Georgia"/>
              </a:rPr>
              <a:t>matrix.</a:t>
            </a:r>
            <a:r>
              <a:rPr sz="1100" spc="114" dirty="0">
                <a:latin typeface="Georgia"/>
                <a:cs typeface="Georgia"/>
              </a:rPr>
              <a:t> </a:t>
            </a:r>
            <a:r>
              <a:rPr sz="1100" spc="-10" dirty="0">
                <a:latin typeface="Georgia"/>
                <a:cs typeface="Georgia"/>
              </a:rPr>
              <a:t>For</a:t>
            </a:r>
            <a:r>
              <a:rPr sz="1100" spc="25" dirty="0">
                <a:latin typeface="Georgia"/>
                <a:cs typeface="Georgia"/>
              </a:rPr>
              <a:t> </a:t>
            </a:r>
            <a:r>
              <a:rPr sz="1100" spc="-20" dirty="0">
                <a:latin typeface="Georgia"/>
                <a:cs typeface="Georgia"/>
              </a:rPr>
              <a:t>this </a:t>
            </a:r>
            <a:r>
              <a:rPr sz="1100" spc="-10" dirty="0">
                <a:latin typeface="Georgia"/>
                <a:cs typeface="Georgia"/>
              </a:rPr>
              <a:t>we</a:t>
            </a:r>
            <a:r>
              <a:rPr sz="1100" spc="25" dirty="0">
                <a:latin typeface="Georgia"/>
                <a:cs typeface="Georgia"/>
              </a:rPr>
              <a:t> </a:t>
            </a:r>
            <a:r>
              <a:rPr sz="1100" dirty="0">
                <a:latin typeface="Georgia"/>
                <a:cs typeface="Georgia"/>
              </a:rPr>
              <a:t>can</a:t>
            </a:r>
            <a:r>
              <a:rPr sz="1100" spc="30" dirty="0">
                <a:latin typeface="Georgia"/>
                <a:cs typeface="Georgia"/>
              </a:rPr>
              <a:t> </a:t>
            </a:r>
            <a:r>
              <a:rPr sz="1100" spc="-20" dirty="0">
                <a:latin typeface="Georgia"/>
                <a:cs typeface="Georgia"/>
              </a:rPr>
              <a:t>keep</a:t>
            </a:r>
            <a:r>
              <a:rPr sz="1100" spc="25" dirty="0">
                <a:latin typeface="Georgia"/>
                <a:cs typeface="Georgia"/>
              </a:rPr>
              <a:t> </a:t>
            </a:r>
            <a:r>
              <a:rPr sz="1100" dirty="0">
                <a:latin typeface="Georgia"/>
                <a:cs typeface="Georgia"/>
              </a:rPr>
              <a:t>the</a:t>
            </a:r>
            <a:r>
              <a:rPr sz="1100" spc="30" dirty="0">
                <a:latin typeface="Georgia"/>
                <a:cs typeface="Georgia"/>
              </a:rPr>
              <a:t> </a:t>
            </a:r>
            <a:r>
              <a:rPr sz="1100" i="1" spc="55" dirty="0">
                <a:latin typeface="Calibri"/>
                <a:cs typeface="Calibri"/>
              </a:rPr>
              <a:t>n</a:t>
            </a:r>
            <a:r>
              <a:rPr sz="1200" spc="82" baseline="27777" dirty="0">
                <a:latin typeface="Calibri"/>
                <a:cs typeface="Calibri"/>
              </a:rPr>
              <a:t>2</a:t>
            </a:r>
            <a:r>
              <a:rPr sz="1200" spc="225" baseline="27777" dirty="0">
                <a:latin typeface="Calibri"/>
                <a:cs typeface="Calibri"/>
              </a:rPr>
              <a:t> </a:t>
            </a:r>
            <a:r>
              <a:rPr sz="1100" spc="-20" dirty="0">
                <a:latin typeface="Georgia"/>
                <a:cs typeface="Georgia"/>
              </a:rPr>
              <a:t>distances</a:t>
            </a:r>
            <a:r>
              <a:rPr sz="1100" spc="30"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a</a:t>
            </a:r>
            <a:r>
              <a:rPr sz="1100" spc="30" dirty="0">
                <a:latin typeface="Georgia"/>
                <a:cs typeface="Georgia"/>
              </a:rPr>
              <a:t> </a:t>
            </a:r>
            <a:r>
              <a:rPr sz="1100" spc="-10" dirty="0">
                <a:latin typeface="Georgia"/>
                <a:cs typeface="Georgia"/>
              </a:rPr>
              <a:t>heap</a:t>
            </a:r>
            <a:r>
              <a:rPr sz="1100" spc="25" dirty="0">
                <a:latin typeface="Georgia"/>
                <a:cs typeface="Georgia"/>
              </a:rPr>
              <a:t> </a:t>
            </a:r>
            <a:r>
              <a:rPr sz="1100" dirty="0">
                <a:latin typeface="Georgia"/>
                <a:cs typeface="Georgia"/>
              </a:rPr>
              <a:t>data</a:t>
            </a:r>
            <a:r>
              <a:rPr sz="1100" spc="30" dirty="0">
                <a:latin typeface="Georgia"/>
                <a:cs typeface="Georgia"/>
              </a:rPr>
              <a:t> </a:t>
            </a:r>
            <a:r>
              <a:rPr sz="1100" spc="-10" dirty="0">
                <a:latin typeface="Georgia"/>
                <a:cs typeface="Georgia"/>
              </a:rPr>
              <a:t>structure,</a:t>
            </a:r>
            <a:r>
              <a:rPr sz="1100" spc="30" dirty="0">
                <a:latin typeface="Georgia"/>
                <a:cs typeface="Georgia"/>
              </a:rPr>
              <a:t> </a:t>
            </a:r>
            <a:r>
              <a:rPr sz="1100" spc="-20" dirty="0">
                <a:latin typeface="Georgia"/>
                <a:cs typeface="Georgia"/>
              </a:rPr>
              <a:t>which</a:t>
            </a:r>
            <a:r>
              <a:rPr sz="1100" spc="25" dirty="0">
                <a:latin typeface="Georgia"/>
                <a:cs typeface="Georgia"/>
              </a:rPr>
              <a:t> </a:t>
            </a:r>
            <a:r>
              <a:rPr sz="1100" spc="-20" dirty="0">
                <a:latin typeface="Georgia"/>
                <a:cs typeface="Georgia"/>
              </a:rPr>
              <a:t>allows</a:t>
            </a:r>
            <a:r>
              <a:rPr sz="1100" spc="30" dirty="0">
                <a:latin typeface="Georgia"/>
                <a:cs typeface="Georgia"/>
              </a:rPr>
              <a:t> </a:t>
            </a:r>
            <a:r>
              <a:rPr sz="1100" dirty="0">
                <a:latin typeface="Georgia"/>
                <a:cs typeface="Georgia"/>
              </a:rPr>
              <a:t>us</a:t>
            </a:r>
            <a:r>
              <a:rPr sz="1100" spc="30" dirty="0">
                <a:latin typeface="Georgia"/>
                <a:cs typeface="Georgia"/>
              </a:rPr>
              <a:t> </a:t>
            </a:r>
            <a:r>
              <a:rPr sz="1100" dirty="0">
                <a:latin typeface="Georgia"/>
                <a:cs typeface="Georgia"/>
              </a:rPr>
              <a:t>to</a:t>
            </a:r>
            <a:r>
              <a:rPr sz="1100" spc="25" dirty="0">
                <a:latin typeface="Georgia"/>
                <a:cs typeface="Georgia"/>
              </a:rPr>
              <a:t> </a:t>
            </a:r>
            <a:r>
              <a:rPr sz="1100" spc="-20" dirty="0">
                <a:latin typeface="Georgia"/>
                <a:cs typeface="Georgia"/>
              </a:rPr>
              <a:t>find</a:t>
            </a:r>
            <a:r>
              <a:rPr sz="1100" spc="30" dirty="0">
                <a:latin typeface="Georgia"/>
                <a:cs typeface="Georgia"/>
              </a:rPr>
              <a:t> </a:t>
            </a:r>
            <a:r>
              <a:rPr sz="1100" spc="-25" dirty="0">
                <a:latin typeface="Georgia"/>
                <a:cs typeface="Georgia"/>
              </a:rPr>
              <a:t>the </a:t>
            </a:r>
            <a:r>
              <a:rPr sz="1100" spc="-50" dirty="0">
                <a:latin typeface="Georgia"/>
                <a:cs typeface="Georgia"/>
              </a:rPr>
              <a:t>minimum</a:t>
            </a:r>
            <a:r>
              <a:rPr sz="1100" spc="30" dirty="0">
                <a:latin typeface="Georgia"/>
                <a:cs typeface="Georgia"/>
              </a:rPr>
              <a:t> </a:t>
            </a:r>
            <a:r>
              <a:rPr sz="1100" spc="-20" dirty="0">
                <a:latin typeface="Georgia"/>
                <a:cs typeface="Georgia"/>
              </a:rPr>
              <a:t>distance</a:t>
            </a:r>
            <a:r>
              <a:rPr sz="1100" spc="35" dirty="0">
                <a:latin typeface="Georgia"/>
                <a:cs typeface="Georgia"/>
              </a:rPr>
              <a:t> </a:t>
            </a:r>
            <a:r>
              <a:rPr sz="1100" dirty="0">
                <a:latin typeface="Georgia"/>
                <a:cs typeface="Georgia"/>
              </a:rPr>
              <a:t>in</a:t>
            </a:r>
            <a:r>
              <a:rPr sz="1100" spc="30" dirty="0">
                <a:latin typeface="Georgia"/>
                <a:cs typeface="Georgia"/>
              </a:rPr>
              <a:t> </a:t>
            </a:r>
            <a:r>
              <a:rPr sz="1100" i="1" spc="65" dirty="0">
                <a:latin typeface="Calibri"/>
                <a:cs typeface="Calibri"/>
              </a:rPr>
              <a:t>O</a:t>
            </a:r>
            <a:r>
              <a:rPr sz="1100" spc="65" dirty="0">
                <a:latin typeface="Calibri"/>
                <a:cs typeface="Calibri"/>
              </a:rPr>
              <a:t>(1)</a:t>
            </a:r>
            <a:r>
              <a:rPr sz="1100" spc="50" dirty="0">
                <a:latin typeface="Calibri"/>
                <a:cs typeface="Calibri"/>
              </a:rPr>
              <a:t> </a:t>
            </a:r>
            <a:r>
              <a:rPr sz="1100" spc="-10" dirty="0">
                <a:latin typeface="Georgia"/>
                <a:cs typeface="Georgia"/>
              </a:rPr>
              <a:t>time;</a:t>
            </a:r>
            <a:r>
              <a:rPr sz="1100" spc="35" dirty="0">
                <a:latin typeface="Georgia"/>
                <a:cs typeface="Georgia"/>
              </a:rPr>
              <a:t> </a:t>
            </a:r>
            <a:r>
              <a:rPr sz="1100" spc="-10" dirty="0">
                <a:latin typeface="Georgia"/>
                <a:cs typeface="Georgia"/>
              </a:rPr>
              <a:t>creating</a:t>
            </a:r>
            <a:r>
              <a:rPr sz="1100" spc="30"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heap</a:t>
            </a:r>
            <a:r>
              <a:rPr sz="1100" spc="35" dirty="0">
                <a:latin typeface="Georgia"/>
                <a:cs typeface="Georgia"/>
              </a:rPr>
              <a:t> </a:t>
            </a:r>
            <a:r>
              <a:rPr sz="1100" spc="-10" dirty="0">
                <a:latin typeface="Georgia"/>
                <a:cs typeface="Georgia"/>
              </a:rPr>
              <a:t>takes</a:t>
            </a:r>
            <a:r>
              <a:rPr sz="1100" spc="30" dirty="0">
                <a:latin typeface="Georgia"/>
                <a:cs typeface="Georgia"/>
              </a:rPr>
              <a:t> </a:t>
            </a:r>
            <a:r>
              <a:rPr sz="1100" i="1" spc="90" dirty="0">
                <a:latin typeface="Calibri"/>
                <a:cs typeface="Calibri"/>
              </a:rPr>
              <a:t>O</a:t>
            </a:r>
            <a:r>
              <a:rPr sz="1100" spc="90" dirty="0">
                <a:latin typeface="Calibri"/>
                <a:cs typeface="Calibri"/>
              </a:rPr>
              <a:t>(</a:t>
            </a:r>
            <a:r>
              <a:rPr sz="1100" i="1" spc="90" dirty="0">
                <a:latin typeface="Calibri"/>
                <a:cs typeface="Calibri"/>
              </a:rPr>
              <a:t>n</a:t>
            </a:r>
            <a:r>
              <a:rPr sz="1200" spc="135" baseline="27777" dirty="0">
                <a:latin typeface="Calibri"/>
                <a:cs typeface="Calibri"/>
              </a:rPr>
              <a:t>2</a:t>
            </a:r>
            <a:r>
              <a:rPr sz="1100" spc="90" dirty="0">
                <a:latin typeface="Calibri"/>
                <a:cs typeface="Calibri"/>
              </a:rPr>
              <a:t>)</a:t>
            </a:r>
            <a:r>
              <a:rPr sz="1100" spc="50" dirty="0">
                <a:latin typeface="Calibri"/>
                <a:cs typeface="Calibri"/>
              </a:rPr>
              <a:t> </a:t>
            </a:r>
            <a:r>
              <a:rPr sz="1100" spc="-10" dirty="0">
                <a:latin typeface="Georgia"/>
                <a:cs typeface="Georgia"/>
              </a:rPr>
              <a:t>time.</a:t>
            </a:r>
            <a:endParaRPr sz="1100">
              <a:latin typeface="Georgia"/>
              <a:cs typeface="Georgia"/>
            </a:endParaRPr>
          </a:p>
          <a:p>
            <a:pPr marL="38100" marR="200660">
              <a:lnSpc>
                <a:spcPts val="1280"/>
              </a:lnSpc>
              <a:spcBef>
                <a:spcPts val="625"/>
              </a:spcBef>
            </a:pPr>
            <a:r>
              <a:rPr sz="1100" spc="-20" dirty="0">
                <a:latin typeface="Georgia"/>
                <a:cs typeface="Georgia"/>
              </a:rPr>
              <a:t>Deleting/updating</a:t>
            </a:r>
            <a:r>
              <a:rPr sz="1100" dirty="0">
                <a:latin typeface="Georgia"/>
                <a:cs typeface="Georgia"/>
              </a:rPr>
              <a:t> </a:t>
            </a:r>
            <a:r>
              <a:rPr sz="1100" spc="-20" dirty="0">
                <a:latin typeface="Georgia"/>
                <a:cs typeface="Georgia"/>
              </a:rPr>
              <a:t>distances</a:t>
            </a:r>
            <a:r>
              <a:rPr sz="1100" spc="35" dirty="0">
                <a:latin typeface="Georgia"/>
                <a:cs typeface="Georgia"/>
              </a:rPr>
              <a:t> </a:t>
            </a:r>
            <a:r>
              <a:rPr sz="1100" spc="-25" dirty="0">
                <a:latin typeface="Georgia"/>
                <a:cs typeface="Georgia"/>
              </a:rPr>
              <a:t>from</a:t>
            </a:r>
            <a:r>
              <a:rPr sz="1100" spc="30" dirty="0">
                <a:latin typeface="Georgia"/>
                <a:cs typeface="Georgia"/>
              </a:rPr>
              <a:t> </a:t>
            </a:r>
            <a:r>
              <a:rPr sz="1100" dirty="0">
                <a:latin typeface="Georgia"/>
                <a:cs typeface="Georgia"/>
              </a:rPr>
              <a:t>the</a:t>
            </a:r>
            <a:r>
              <a:rPr sz="1100" spc="30" dirty="0">
                <a:latin typeface="Georgia"/>
                <a:cs typeface="Georgia"/>
              </a:rPr>
              <a:t> </a:t>
            </a:r>
            <a:r>
              <a:rPr sz="1100" spc="-35" dirty="0">
                <a:latin typeface="Georgia"/>
                <a:cs typeface="Georgia"/>
              </a:rPr>
              <a:t>merged</a:t>
            </a:r>
            <a:r>
              <a:rPr sz="1100" spc="35" dirty="0">
                <a:latin typeface="Georgia"/>
                <a:cs typeface="Georgia"/>
              </a:rPr>
              <a:t> </a:t>
            </a:r>
            <a:r>
              <a:rPr sz="1100" spc="-10" dirty="0">
                <a:latin typeface="Georgia"/>
                <a:cs typeface="Georgia"/>
              </a:rPr>
              <a:t>cluster</a:t>
            </a:r>
            <a:r>
              <a:rPr sz="1100" spc="30" dirty="0">
                <a:latin typeface="Georgia"/>
                <a:cs typeface="Georgia"/>
              </a:rPr>
              <a:t> </a:t>
            </a:r>
            <a:r>
              <a:rPr sz="1100" spc="-10" dirty="0">
                <a:latin typeface="Georgia"/>
                <a:cs typeface="Georgia"/>
              </a:rPr>
              <a:t>takes</a:t>
            </a:r>
            <a:r>
              <a:rPr sz="1100" spc="30" dirty="0">
                <a:latin typeface="Georgia"/>
                <a:cs typeface="Georgia"/>
              </a:rPr>
              <a:t> </a:t>
            </a:r>
            <a:r>
              <a:rPr sz="1100" i="1" spc="50" dirty="0">
                <a:latin typeface="Calibri"/>
                <a:cs typeface="Calibri"/>
              </a:rPr>
              <a:t>O</a:t>
            </a:r>
            <a:r>
              <a:rPr sz="1100" spc="50" dirty="0">
                <a:latin typeface="Calibri"/>
                <a:cs typeface="Calibri"/>
              </a:rPr>
              <a:t>(log</a:t>
            </a:r>
            <a:r>
              <a:rPr sz="1100" spc="-60" dirty="0">
                <a:latin typeface="Calibri"/>
                <a:cs typeface="Calibri"/>
              </a:rPr>
              <a:t> </a:t>
            </a:r>
            <a:r>
              <a:rPr sz="1100" i="1" spc="85" dirty="0">
                <a:latin typeface="Calibri"/>
                <a:cs typeface="Calibri"/>
              </a:rPr>
              <a:t>n</a:t>
            </a:r>
            <a:r>
              <a:rPr sz="1100" spc="85" dirty="0">
                <a:latin typeface="Calibri"/>
                <a:cs typeface="Calibri"/>
              </a:rPr>
              <a:t>)</a:t>
            </a:r>
            <a:r>
              <a:rPr sz="1100" spc="45" dirty="0">
                <a:latin typeface="Calibri"/>
                <a:cs typeface="Calibri"/>
              </a:rPr>
              <a:t> </a:t>
            </a:r>
            <a:r>
              <a:rPr sz="1100" dirty="0">
                <a:latin typeface="Georgia"/>
                <a:cs typeface="Georgia"/>
              </a:rPr>
              <a:t>time</a:t>
            </a:r>
            <a:r>
              <a:rPr sz="1100" spc="30" dirty="0">
                <a:latin typeface="Georgia"/>
                <a:cs typeface="Georgia"/>
              </a:rPr>
              <a:t> </a:t>
            </a:r>
            <a:r>
              <a:rPr sz="1100" dirty="0">
                <a:latin typeface="Georgia"/>
                <a:cs typeface="Georgia"/>
              </a:rPr>
              <a:t>for</a:t>
            </a:r>
            <a:r>
              <a:rPr sz="1100" spc="35" dirty="0">
                <a:latin typeface="Georgia"/>
                <a:cs typeface="Georgia"/>
              </a:rPr>
              <a:t> </a:t>
            </a:r>
            <a:r>
              <a:rPr sz="1100" spc="-20" dirty="0">
                <a:latin typeface="Georgia"/>
                <a:cs typeface="Georgia"/>
              </a:rPr>
              <a:t>each operation,</a:t>
            </a:r>
            <a:r>
              <a:rPr sz="1100" spc="20" dirty="0">
                <a:latin typeface="Georgia"/>
                <a:cs typeface="Georgia"/>
              </a:rPr>
              <a:t> </a:t>
            </a:r>
            <a:r>
              <a:rPr sz="1100" dirty="0">
                <a:latin typeface="Georgia"/>
                <a:cs typeface="Georgia"/>
              </a:rPr>
              <a:t>for</a:t>
            </a:r>
            <a:r>
              <a:rPr sz="1100" spc="40" dirty="0">
                <a:latin typeface="Georgia"/>
                <a:cs typeface="Georgia"/>
              </a:rPr>
              <a:t> </a:t>
            </a:r>
            <a:r>
              <a:rPr sz="1100" dirty="0">
                <a:latin typeface="Georgia"/>
                <a:cs typeface="Georgia"/>
              </a:rPr>
              <a:t>a</a:t>
            </a:r>
            <a:r>
              <a:rPr sz="1100" spc="45" dirty="0">
                <a:latin typeface="Georgia"/>
                <a:cs typeface="Georgia"/>
              </a:rPr>
              <a:t> </a:t>
            </a:r>
            <a:r>
              <a:rPr sz="1100" dirty="0">
                <a:latin typeface="Georgia"/>
                <a:cs typeface="Georgia"/>
              </a:rPr>
              <a:t>total</a:t>
            </a:r>
            <a:r>
              <a:rPr sz="1100" spc="40" dirty="0">
                <a:latin typeface="Georgia"/>
                <a:cs typeface="Georgia"/>
              </a:rPr>
              <a:t> </a:t>
            </a:r>
            <a:r>
              <a:rPr sz="1100" dirty="0">
                <a:latin typeface="Georgia"/>
                <a:cs typeface="Georgia"/>
              </a:rPr>
              <a:t>time</a:t>
            </a:r>
            <a:r>
              <a:rPr sz="1100" spc="45" dirty="0">
                <a:latin typeface="Georgia"/>
                <a:cs typeface="Georgia"/>
              </a:rPr>
              <a:t> </a:t>
            </a:r>
            <a:r>
              <a:rPr sz="1100" spc="-20" dirty="0">
                <a:latin typeface="Georgia"/>
                <a:cs typeface="Georgia"/>
              </a:rPr>
              <a:t>across</a:t>
            </a:r>
            <a:r>
              <a:rPr sz="1100" spc="40" dirty="0">
                <a:latin typeface="Georgia"/>
                <a:cs typeface="Georgia"/>
              </a:rPr>
              <a:t> </a:t>
            </a:r>
            <a:r>
              <a:rPr sz="1100" dirty="0">
                <a:latin typeface="Georgia"/>
                <a:cs typeface="Georgia"/>
              </a:rPr>
              <a:t>all</a:t>
            </a:r>
            <a:r>
              <a:rPr sz="1100" spc="45" dirty="0">
                <a:latin typeface="Georgia"/>
                <a:cs typeface="Georgia"/>
              </a:rPr>
              <a:t> </a:t>
            </a:r>
            <a:r>
              <a:rPr sz="1100" spc="-35" dirty="0">
                <a:latin typeface="Georgia"/>
                <a:cs typeface="Georgia"/>
              </a:rPr>
              <a:t>merge</a:t>
            </a:r>
            <a:r>
              <a:rPr sz="1100" spc="40" dirty="0">
                <a:latin typeface="Georgia"/>
                <a:cs typeface="Georgia"/>
              </a:rPr>
              <a:t> </a:t>
            </a:r>
            <a:r>
              <a:rPr sz="1100" spc="-10" dirty="0">
                <a:latin typeface="Georgia"/>
                <a:cs typeface="Georgia"/>
              </a:rPr>
              <a:t>steps</a:t>
            </a:r>
            <a:r>
              <a:rPr sz="1100" spc="40" dirty="0">
                <a:latin typeface="Georgia"/>
                <a:cs typeface="Georgia"/>
              </a:rPr>
              <a:t> </a:t>
            </a:r>
            <a:r>
              <a:rPr sz="1100" dirty="0">
                <a:latin typeface="Georgia"/>
                <a:cs typeface="Georgia"/>
              </a:rPr>
              <a:t>of</a:t>
            </a:r>
            <a:r>
              <a:rPr sz="1100" spc="45" dirty="0">
                <a:latin typeface="Georgia"/>
                <a:cs typeface="Georgia"/>
              </a:rPr>
              <a:t> </a:t>
            </a:r>
            <a:r>
              <a:rPr sz="1100" i="1" spc="80" dirty="0">
                <a:latin typeface="Calibri"/>
                <a:cs typeface="Calibri"/>
              </a:rPr>
              <a:t>O</a:t>
            </a:r>
            <a:r>
              <a:rPr sz="1100" spc="80" dirty="0">
                <a:latin typeface="Calibri"/>
                <a:cs typeface="Calibri"/>
              </a:rPr>
              <a:t>(</a:t>
            </a:r>
            <a:r>
              <a:rPr sz="1100" i="1" spc="80" dirty="0">
                <a:latin typeface="Calibri"/>
                <a:cs typeface="Calibri"/>
              </a:rPr>
              <a:t>n</a:t>
            </a:r>
            <a:r>
              <a:rPr sz="1200" spc="120" baseline="27777" dirty="0">
                <a:latin typeface="Calibri"/>
                <a:cs typeface="Calibri"/>
              </a:rPr>
              <a:t>2</a:t>
            </a:r>
            <a:r>
              <a:rPr sz="1200" spc="22" baseline="27777" dirty="0">
                <a:latin typeface="Calibri"/>
                <a:cs typeface="Calibri"/>
              </a:rPr>
              <a:t> </a:t>
            </a:r>
            <a:r>
              <a:rPr sz="1100" dirty="0">
                <a:latin typeface="Calibri"/>
                <a:cs typeface="Calibri"/>
              </a:rPr>
              <a:t>log</a:t>
            </a:r>
            <a:r>
              <a:rPr sz="1100" spc="-60" dirty="0">
                <a:latin typeface="Calibri"/>
                <a:cs typeface="Calibri"/>
              </a:rPr>
              <a:t> </a:t>
            </a:r>
            <a:r>
              <a:rPr sz="1100" i="1" spc="30" dirty="0">
                <a:latin typeface="Calibri"/>
                <a:cs typeface="Calibri"/>
              </a:rPr>
              <a:t>n</a:t>
            </a:r>
            <a:r>
              <a:rPr sz="1100" spc="30" dirty="0">
                <a:latin typeface="Calibri"/>
                <a:cs typeface="Calibri"/>
              </a:rPr>
              <a:t>)</a:t>
            </a:r>
            <a:r>
              <a:rPr sz="1100" spc="30" dirty="0">
                <a:latin typeface="Georgia"/>
                <a:cs typeface="Georgia"/>
              </a:rPr>
              <a:t>.</a:t>
            </a:r>
            <a:endParaRPr sz="1100">
              <a:latin typeface="Georgia"/>
              <a:cs typeface="Georgia"/>
            </a:endParaRPr>
          </a:p>
          <a:p>
            <a:pPr marL="38100">
              <a:lnSpc>
                <a:spcPct val="100000"/>
              </a:lnSpc>
              <a:spcBef>
                <a:spcPts val="650"/>
              </a:spcBef>
            </a:pPr>
            <a:r>
              <a:rPr sz="1100" dirty="0">
                <a:latin typeface="Georgia"/>
                <a:cs typeface="Georgia"/>
              </a:rPr>
              <a:t>Thus,</a:t>
            </a:r>
            <a:r>
              <a:rPr sz="1100" spc="30" dirty="0">
                <a:latin typeface="Georgia"/>
                <a:cs typeface="Georgia"/>
              </a:rPr>
              <a:t> </a:t>
            </a:r>
            <a:r>
              <a:rPr sz="1100" dirty="0">
                <a:latin typeface="Georgia"/>
                <a:cs typeface="Georgia"/>
              </a:rPr>
              <a:t>the</a:t>
            </a:r>
            <a:r>
              <a:rPr sz="1100" spc="50" dirty="0">
                <a:latin typeface="Georgia"/>
                <a:cs typeface="Georgia"/>
              </a:rPr>
              <a:t> </a:t>
            </a:r>
            <a:r>
              <a:rPr sz="1100" spc="-20" dirty="0">
                <a:latin typeface="Georgia"/>
                <a:cs typeface="Georgia"/>
              </a:rPr>
              <a:t>computational</a:t>
            </a:r>
            <a:r>
              <a:rPr sz="1100" spc="50" dirty="0">
                <a:latin typeface="Georgia"/>
                <a:cs typeface="Georgia"/>
              </a:rPr>
              <a:t> </a:t>
            </a:r>
            <a:r>
              <a:rPr sz="1100" spc="-10" dirty="0">
                <a:latin typeface="Georgia"/>
                <a:cs typeface="Georgia"/>
              </a:rPr>
              <a:t>complexity</a:t>
            </a:r>
            <a:r>
              <a:rPr sz="1100" spc="45" dirty="0">
                <a:latin typeface="Georgia"/>
                <a:cs typeface="Georgia"/>
              </a:rPr>
              <a:t> </a:t>
            </a:r>
            <a:r>
              <a:rPr sz="1100" dirty="0">
                <a:latin typeface="Georgia"/>
                <a:cs typeface="Georgia"/>
              </a:rPr>
              <a:t>of</a:t>
            </a:r>
            <a:r>
              <a:rPr sz="1100" spc="50" dirty="0">
                <a:latin typeface="Georgia"/>
                <a:cs typeface="Georgia"/>
              </a:rPr>
              <a:t> </a:t>
            </a:r>
            <a:r>
              <a:rPr sz="1100" spc="-30" dirty="0">
                <a:latin typeface="Georgia"/>
                <a:cs typeface="Georgia"/>
              </a:rPr>
              <a:t>hierarchical</a:t>
            </a:r>
            <a:r>
              <a:rPr sz="1100" spc="50" dirty="0">
                <a:latin typeface="Georgia"/>
                <a:cs typeface="Georgia"/>
              </a:rPr>
              <a:t> </a:t>
            </a:r>
            <a:r>
              <a:rPr sz="1100" spc="-20" dirty="0">
                <a:latin typeface="Georgia"/>
                <a:cs typeface="Georgia"/>
              </a:rPr>
              <a:t>clustering</a:t>
            </a:r>
            <a:r>
              <a:rPr sz="1100" spc="50" dirty="0">
                <a:latin typeface="Georgia"/>
                <a:cs typeface="Georgia"/>
              </a:rPr>
              <a:t> </a:t>
            </a:r>
            <a:r>
              <a:rPr sz="1100" dirty="0">
                <a:latin typeface="Georgia"/>
                <a:cs typeface="Georgia"/>
              </a:rPr>
              <a:t>is</a:t>
            </a:r>
            <a:r>
              <a:rPr sz="1100" spc="50" dirty="0">
                <a:latin typeface="Georgia"/>
                <a:cs typeface="Georgia"/>
              </a:rPr>
              <a:t> </a:t>
            </a:r>
            <a:r>
              <a:rPr sz="1100" i="1" spc="80" dirty="0">
                <a:latin typeface="Calibri"/>
                <a:cs typeface="Calibri"/>
              </a:rPr>
              <a:t>O</a:t>
            </a:r>
            <a:r>
              <a:rPr sz="1100" spc="80" dirty="0">
                <a:latin typeface="Calibri"/>
                <a:cs typeface="Calibri"/>
              </a:rPr>
              <a:t>(</a:t>
            </a:r>
            <a:r>
              <a:rPr sz="1100" i="1" spc="80" dirty="0">
                <a:latin typeface="Calibri"/>
                <a:cs typeface="Calibri"/>
              </a:rPr>
              <a:t>n</a:t>
            </a:r>
            <a:r>
              <a:rPr sz="1200" spc="120" baseline="27777" dirty="0">
                <a:latin typeface="Calibri"/>
                <a:cs typeface="Calibri"/>
              </a:rPr>
              <a:t>2</a:t>
            </a:r>
            <a:r>
              <a:rPr sz="1200" spc="30" baseline="27777" dirty="0">
                <a:latin typeface="Calibri"/>
                <a:cs typeface="Calibri"/>
              </a:rPr>
              <a:t> </a:t>
            </a:r>
            <a:r>
              <a:rPr sz="1100" dirty="0">
                <a:latin typeface="Calibri"/>
                <a:cs typeface="Calibri"/>
              </a:rPr>
              <a:t>log</a:t>
            </a:r>
            <a:r>
              <a:rPr sz="1100" spc="-60" dirty="0">
                <a:latin typeface="Calibri"/>
                <a:cs typeface="Calibri"/>
              </a:rPr>
              <a:t> </a:t>
            </a:r>
            <a:r>
              <a:rPr sz="1100" i="1" spc="30" dirty="0">
                <a:latin typeface="Calibri"/>
                <a:cs typeface="Calibri"/>
              </a:rPr>
              <a:t>n</a:t>
            </a:r>
            <a:r>
              <a:rPr sz="1100" spc="30" dirty="0">
                <a:latin typeface="Calibri"/>
                <a:cs typeface="Calibri"/>
              </a:rPr>
              <a:t>)</a:t>
            </a:r>
            <a:r>
              <a:rPr sz="1100" spc="30" dirty="0">
                <a:latin typeface="Georgia"/>
                <a:cs typeface="Georgia"/>
              </a:rPr>
              <a:t>.</a:t>
            </a:r>
            <a:endParaRPr sz="1100">
              <a:latin typeface="Georgia"/>
              <a:cs typeface="Georgia"/>
            </a:endParaRPr>
          </a:p>
        </p:txBody>
      </p:sp>
      <p:sp>
        <p:nvSpPr>
          <p:cNvPr id="5" name="object 5"/>
          <p:cNvSpPr/>
          <p:nvPr/>
        </p:nvSpPr>
        <p:spPr>
          <a:xfrm>
            <a:off x="337972" y="1184224"/>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71496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224571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266326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5" dirty="0"/>
              <a:t>52</a:t>
            </a:fld>
            <a:r>
              <a:rPr spc="-25" dirty="0"/>
              <a:t> </a:t>
            </a:r>
            <a:r>
              <a:rPr spc="75" dirty="0"/>
              <a:t>/</a:t>
            </a:r>
            <a:r>
              <a:rPr spc="-20" dirty="0"/>
              <a:t> </a:t>
            </a:r>
            <a:r>
              <a:rPr spc="35" dirty="0"/>
              <a:t>135</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Outline</a:t>
            </a:r>
          </a:p>
        </p:txBody>
      </p:sp>
      <p:sp>
        <p:nvSpPr>
          <p:cNvPr id="3" name="object 3"/>
          <p:cNvSpPr/>
          <p:nvPr/>
        </p:nvSpPr>
        <p:spPr>
          <a:xfrm>
            <a:off x="171615" y="515531"/>
            <a:ext cx="122555" cy="122555"/>
          </a:xfrm>
          <a:custGeom>
            <a:avLst/>
            <a:gdLst/>
            <a:ahLst/>
            <a:cxnLst/>
            <a:rect l="l" t="t" r="r" b="b"/>
            <a:pathLst>
              <a:path w="122554" h="122554">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4" name="object 4"/>
          <p:cNvSpPr/>
          <p:nvPr/>
        </p:nvSpPr>
        <p:spPr>
          <a:xfrm>
            <a:off x="171615" y="819784"/>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5" name="object 5"/>
          <p:cNvSpPr/>
          <p:nvPr/>
        </p:nvSpPr>
        <p:spPr>
          <a:xfrm>
            <a:off x="171615" y="1124038"/>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6" name="object 6"/>
          <p:cNvSpPr/>
          <p:nvPr/>
        </p:nvSpPr>
        <p:spPr>
          <a:xfrm>
            <a:off x="171615" y="1428280"/>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7" name="object 7"/>
          <p:cNvSpPr/>
          <p:nvPr/>
        </p:nvSpPr>
        <p:spPr>
          <a:xfrm>
            <a:off x="171615" y="1732533"/>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8" name="object 8"/>
          <p:cNvSpPr/>
          <p:nvPr/>
        </p:nvSpPr>
        <p:spPr>
          <a:xfrm>
            <a:off x="171615" y="2036787"/>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9" name="object 9"/>
          <p:cNvSpPr/>
          <p:nvPr/>
        </p:nvSpPr>
        <p:spPr>
          <a:xfrm>
            <a:off x="171615" y="2341041"/>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0" name="object 10"/>
          <p:cNvSpPr/>
          <p:nvPr/>
        </p:nvSpPr>
        <p:spPr>
          <a:xfrm>
            <a:off x="171615" y="2645282"/>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1" name="object 11"/>
          <p:cNvSpPr txBox="1"/>
          <p:nvPr/>
        </p:nvSpPr>
        <p:spPr>
          <a:xfrm>
            <a:off x="188556" y="465047"/>
            <a:ext cx="2435225" cy="2321560"/>
          </a:xfrm>
          <a:prstGeom prst="rect">
            <a:avLst/>
          </a:prstGeom>
        </p:spPr>
        <p:txBody>
          <a:bodyPr vert="horz" wrap="square" lIns="0" tIns="11430" rIns="0" bIns="0" rtlCol="0">
            <a:spAutoFit/>
          </a:bodyPr>
          <a:lstStyle/>
          <a:p>
            <a:pPr marL="178435" indent="-165735">
              <a:lnSpc>
                <a:spcPct val="100000"/>
              </a:lnSpc>
              <a:spcBef>
                <a:spcPts val="90"/>
              </a:spcBef>
              <a:buClr>
                <a:srgbClr val="FFFFFF"/>
              </a:buClr>
              <a:buSzPct val="90909"/>
              <a:buAutoNum type="arabicPlain"/>
              <a:tabLst>
                <a:tab pos="178435" algn="l"/>
              </a:tabLst>
            </a:pPr>
            <a:r>
              <a:rPr sz="1100" dirty="0">
                <a:solidFill>
                  <a:srgbClr val="CCCCCC"/>
                </a:solidFill>
                <a:latin typeface="Georgia"/>
                <a:cs typeface="Georgia"/>
                <a:hlinkClick r:id="rId2" action="ppaction://hlinksldjump"/>
              </a:rPr>
              <a:t>Data</a:t>
            </a:r>
            <a:r>
              <a:rPr sz="1100" spc="90" dirty="0">
                <a:solidFill>
                  <a:srgbClr val="CCCCCC"/>
                </a:solidFill>
                <a:latin typeface="Georgia"/>
                <a:cs typeface="Georgia"/>
                <a:hlinkClick r:id="rId2" action="ppaction://hlinksldjump"/>
              </a:rPr>
              <a:t> </a:t>
            </a:r>
            <a:r>
              <a:rPr sz="1100" spc="-25" dirty="0">
                <a:solidFill>
                  <a:srgbClr val="CCCCCC"/>
                </a:solidFill>
                <a:latin typeface="Georgia"/>
                <a:cs typeface="Georgia"/>
                <a:hlinkClick r:id="rId2" action="ppaction://hlinksldjump"/>
              </a:rPr>
              <a:t>clustering</a:t>
            </a:r>
            <a:r>
              <a:rPr sz="1100" spc="90" dirty="0">
                <a:solidFill>
                  <a:srgbClr val="CCCCCC"/>
                </a:solidFill>
                <a:latin typeface="Georgia"/>
                <a:cs typeface="Georgia"/>
                <a:hlinkClick r:id="rId2" action="ppaction://hlinksldjump"/>
              </a:rPr>
              <a:t> </a:t>
            </a:r>
            <a:r>
              <a:rPr sz="1100" spc="-10" dirty="0">
                <a:solidFill>
                  <a:srgbClr val="CCCCCC"/>
                </a:solidFill>
                <a:latin typeface="Georgia"/>
                <a:cs typeface="Georgia"/>
                <a:hlinkClick r:id="rId2" action="ppaction://hlinksldjump"/>
              </a:rPr>
              <a:t>concepts</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dirty="0">
                <a:solidFill>
                  <a:srgbClr val="CCCCCC"/>
                </a:solidFill>
                <a:latin typeface="Georgia"/>
                <a:cs typeface="Georgia"/>
                <a:hlinkClick r:id="rId3" action="ppaction://hlinksldjump"/>
              </a:rPr>
              <a:t>Data</a:t>
            </a:r>
            <a:r>
              <a:rPr sz="1100" spc="60" dirty="0">
                <a:solidFill>
                  <a:srgbClr val="CCCCCC"/>
                </a:solidFill>
                <a:latin typeface="Georgia"/>
                <a:cs typeface="Georgia"/>
                <a:hlinkClick r:id="rId3" action="ppaction://hlinksldjump"/>
              </a:rPr>
              <a:t> </a:t>
            </a:r>
            <a:r>
              <a:rPr sz="1100" spc="-30" dirty="0">
                <a:solidFill>
                  <a:srgbClr val="CCCCCC"/>
                </a:solidFill>
                <a:latin typeface="Georgia"/>
                <a:cs typeface="Georgia"/>
                <a:hlinkClick r:id="rId3" action="ppaction://hlinksldjump"/>
              </a:rPr>
              <a:t>understanding</a:t>
            </a:r>
            <a:r>
              <a:rPr sz="1100" spc="65" dirty="0">
                <a:solidFill>
                  <a:srgbClr val="CCCCCC"/>
                </a:solidFill>
                <a:latin typeface="Georgia"/>
                <a:cs typeface="Georgia"/>
                <a:hlinkClick r:id="rId3" action="ppaction://hlinksldjump"/>
              </a:rPr>
              <a:t> </a:t>
            </a:r>
            <a:r>
              <a:rPr sz="1100" spc="-25" dirty="0">
                <a:solidFill>
                  <a:srgbClr val="CCCCCC"/>
                </a:solidFill>
                <a:latin typeface="Georgia"/>
                <a:cs typeface="Georgia"/>
                <a:hlinkClick r:id="rId3" action="ppaction://hlinksldjump"/>
              </a:rPr>
              <a:t>before</a:t>
            </a:r>
            <a:r>
              <a:rPr sz="1100" spc="60" dirty="0">
                <a:solidFill>
                  <a:srgbClr val="CCCCCC"/>
                </a:solidFill>
                <a:latin typeface="Georgia"/>
                <a:cs typeface="Georgia"/>
                <a:hlinkClick r:id="rId3" action="ppaction://hlinksldjump"/>
              </a:rPr>
              <a:t> </a:t>
            </a:r>
            <a:r>
              <a:rPr sz="1100" spc="-10" dirty="0">
                <a:solidFill>
                  <a:srgbClr val="CCCCCC"/>
                </a:solidFill>
                <a:latin typeface="Georgia"/>
                <a:cs typeface="Georgia"/>
                <a:hlinkClick r:id="rId3"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0" dirty="0">
                <a:solidFill>
                  <a:srgbClr val="CCCCCC"/>
                </a:solidFill>
                <a:latin typeface="Georgia"/>
                <a:cs typeface="Georgia"/>
                <a:hlinkClick r:id="rId4" action="ppaction://hlinksldjump"/>
              </a:rPr>
              <a:t>Hierarchical</a:t>
            </a:r>
            <a:r>
              <a:rPr sz="1100" spc="30" dirty="0">
                <a:solidFill>
                  <a:srgbClr val="CCCCCC"/>
                </a:solidFill>
                <a:latin typeface="Georgia"/>
                <a:cs typeface="Georgia"/>
                <a:hlinkClick r:id="rId4" action="ppaction://hlinksldjump"/>
              </a:rPr>
              <a:t> </a:t>
            </a:r>
            <a:r>
              <a:rPr sz="1100" spc="-10" dirty="0">
                <a:solidFill>
                  <a:srgbClr val="CCCCCC"/>
                </a:solidFill>
                <a:latin typeface="Georgia"/>
                <a:cs typeface="Georgia"/>
                <a:hlinkClick r:id="rId4"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latin typeface="Georgia"/>
                <a:cs typeface="Georgia"/>
                <a:hlinkClick r:id="rId5" action="ppaction://hlinksldjump"/>
              </a:rPr>
              <a:t>Partitioning</a:t>
            </a:r>
            <a:r>
              <a:rPr sz="1100" spc="20" dirty="0">
                <a:latin typeface="Georgia"/>
                <a:cs typeface="Georgia"/>
                <a:hlinkClick r:id="rId5" action="ppaction://hlinksldjump"/>
              </a:rPr>
              <a:t> </a:t>
            </a:r>
            <a:r>
              <a:rPr sz="1100" spc="-10" dirty="0">
                <a:latin typeface="Georgia"/>
                <a:cs typeface="Georgia"/>
                <a:hlinkClick r:id="rId5"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rId6" action="ppaction://hlinksldjump"/>
              </a:rPr>
              <a:t>Distribution–based</a:t>
            </a:r>
            <a:r>
              <a:rPr sz="1100" spc="145" dirty="0">
                <a:solidFill>
                  <a:srgbClr val="CCCCCC"/>
                </a:solidFill>
                <a:latin typeface="Georgia"/>
                <a:cs typeface="Georgia"/>
                <a:hlinkClick r:id="rId6" action="ppaction://hlinksldjump"/>
              </a:rPr>
              <a:t> </a:t>
            </a:r>
            <a:r>
              <a:rPr sz="1100" spc="-10" dirty="0">
                <a:solidFill>
                  <a:srgbClr val="CCCCCC"/>
                </a:solidFill>
                <a:latin typeface="Georgia"/>
                <a:cs typeface="Georgia"/>
                <a:hlinkClick r:id="rId6" action="ppaction://hlinksldjump"/>
              </a:rPr>
              <a:t>clustering</a:t>
            </a:r>
            <a:endParaRPr sz="1100">
              <a:latin typeface="Georgia"/>
              <a:cs typeface="Georgia"/>
            </a:endParaRPr>
          </a:p>
          <a:p>
            <a:pPr marL="178435" indent="-165735">
              <a:lnSpc>
                <a:spcPct val="100000"/>
              </a:lnSpc>
              <a:spcBef>
                <a:spcPts val="1080"/>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Density–based</a:t>
            </a:r>
            <a:r>
              <a:rPr sz="1100" spc="7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 action="ppaction://noaction"/>
              </a:rPr>
              <a:t>Clustering</a:t>
            </a:r>
            <a:r>
              <a:rPr sz="1100" spc="20" dirty="0">
                <a:solidFill>
                  <a:srgbClr val="CCCCCC"/>
                </a:solidFill>
                <a:latin typeface="Georgia"/>
                <a:cs typeface="Georgia"/>
                <a:hlinkClick r:id="" action="ppaction://noaction"/>
              </a:rPr>
              <a:t> </a:t>
            </a:r>
            <a:r>
              <a:rPr sz="1100" spc="-20" dirty="0">
                <a:solidFill>
                  <a:srgbClr val="CCCCCC"/>
                </a:solidFill>
                <a:latin typeface="Georgia"/>
                <a:cs typeface="Georgia"/>
                <a:hlinkClick r:id="" action="ppaction://noaction"/>
              </a:rPr>
              <a:t>validation</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evaluation</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References</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5"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Summary</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7" action="ppaction://hlinksldjump"/>
              </a:rPr>
              <a:t>data</a:t>
            </a:r>
            <a:r>
              <a:rPr sz="600" spc="110" dirty="0">
                <a:solidFill>
                  <a:srgbClr val="7A0000"/>
                </a:solidFill>
                <a:latin typeface="Georgia"/>
                <a:cs typeface="Georgia"/>
                <a:hlinkClick r:id="rId7" action="ppaction://hlinksldjump"/>
              </a:rPr>
              <a:t> </a:t>
            </a:r>
            <a:r>
              <a:rPr sz="600" spc="-10" dirty="0">
                <a:solidFill>
                  <a:srgbClr val="7A0000"/>
                </a:solidFill>
                <a:latin typeface="Georgia"/>
                <a:cs typeface="Georgia"/>
                <a:hlinkClick r:id="rId7"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5" dirty="0"/>
              <a:t>53</a:t>
            </a:fld>
            <a:r>
              <a:rPr spc="-25" dirty="0"/>
              <a:t> </a:t>
            </a:r>
            <a:r>
              <a:rPr spc="75" dirty="0"/>
              <a:t>/</a:t>
            </a:r>
            <a:r>
              <a:rPr spc="-20" dirty="0"/>
              <a:t> </a:t>
            </a:r>
            <a:r>
              <a:rPr spc="35" dirty="0"/>
              <a:t>135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Partitioning</a:t>
            </a:r>
            <a:r>
              <a:rPr spc="350" dirty="0"/>
              <a:t> </a:t>
            </a:r>
            <a:r>
              <a:rPr spc="10" dirty="0"/>
              <a:t>clustering</a:t>
            </a:r>
            <a:r>
              <a:rPr spc="355" dirty="0"/>
              <a:t> </a:t>
            </a:r>
            <a:r>
              <a:rPr spc="-10" dirty="0"/>
              <a:t>methods</a:t>
            </a:r>
          </a:p>
        </p:txBody>
      </p:sp>
      <p:sp>
        <p:nvSpPr>
          <p:cNvPr id="3" name="object 3"/>
          <p:cNvSpPr/>
          <p:nvPr/>
        </p:nvSpPr>
        <p:spPr>
          <a:xfrm>
            <a:off x="337972" y="55276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93724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337972" y="1321739"/>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pic>
        <p:nvPicPr>
          <p:cNvPr id="6" name="object 6"/>
          <p:cNvPicPr/>
          <p:nvPr/>
        </p:nvPicPr>
        <p:blipFill>
          <a:blip r:embed="rId2" cstate="print"/>
          <a:stretch>
            <a:fillRect/>
          </a:stretch>
        </p:blipFill>
        <p:spPr>
          <a:xfrm>
            <a:off x="4553800" y="1438744"/>
            <a:ext cx="88900" cy="107950"/>
          </a:xfrm>
          <a:prstGeom prst="rect">
            <a:avLst/>
          </a:prstGeom>
        </p:spPr>
      </p:pic>
      <p:sp>
        <p:nvSpPr>
          <p:cNvPr id="7" name="object 7"/>
          <p:cNvSpPr txBox="1"/>
          <p:nvPr/>
        </p:nvSpPr>
        <p:spPr>
          <a:xfrm>
            <a:off x="454177" y="461161"/>
            <a:ext cx="5128895" cy="2461260"/>
          </a:xfrm>
          <a:prstGeom prst="rect">
            <a:avLst/>
          </a:prstGeom>
        </p:spPr>
        <p:txBody>
          <a:bodyPr vert="horz" wrap="square" lIns="0" tIns="34290" rIns="0" bIns="0" rtlCol="0">
            <a:spAutoFit/>
          </a:bodyPr>
          <a:lstStyle/>
          <a:p>
            <a:pPr marL="12700" marR="15875" algn="just">
              <a:lnSpc>
                <a:spcPts val="1150"/>
              </a:lnSpc>
              <a:spcBef>
                <a:spcPts val="270"/>
              </a:spcBef>
            </a:pPr>
            <a:r>
              <a:rPr sz="1100" dirty="0">
                <a:latin typeface="Georgia"/>
                <a:cs typeface="Georgia"/>
              </a:rPr>
              <a:t>The</a:t>
            </a:r>
            <a:r>
              <a:rPr sz="1100" spc="5" dirty="0">
                <a:latin typeface="Georgia"/>
                <a:cs typeface="Georgia"/>
              </a:rPr>
              <a:t> </a:t>
            </a:r>
            <a:r>
              <a:rPr sz="1100" spc="-20" dirty="0">
                <a:latin typeface="Georgia"/>
                <a:cs typeface="Georgia"/>
              </a:rPr>
              <a:t>simplest</a:t>
            </a:r>
            <a:r>
              <a:rPr sz="1100" spc="5" dirty="0">
                <a:latin typeface="Georgia"/>
                <a:cs typeface="Georgia"/>
              </a:rPr>
              <a:t> </a:t>
            </a:r>
            <a:r>
              <a:rPr sz="1100" dirty="0">
                <a:latin typeface="Georgia"/>
                <a:cs typeface="Georgia"/>
              </a:rPr>
              <a:t>and</a:t>
            </a:r>
            <a:r>
              <a:rPr sz="1100" spc="5" dirty="0">
                <a:latin typeface="Georgia"/>
                <a:cs typeface="Georgia"/>
              </a:rPr>
              <a:t> </a:t>
            </a:r>
            <a:r>
              <a:rPr sz="1100" dirty="0">
                <a:latin typeface="Georgia"/>
                <a:cs typeface="Georgia"/>
              </a:rPr>
              <a:t>most</a:t>
            </a:r>
            <a:r>
              <a:rPr sz="1100" spc="5" dirty="0">
                <a:latin typeface="Georgia"/>
                <a:cs typeface="Georgia"/>
              </a:rPr>
              <a:t> </a:t>
            </a:r>
            <a:r>
              <a:rPr sz="1100" spc="-25" dirty="0">
                <a:latin typeface="Georgia"/>
                <a:cs typeface="Georgia"/>
              </a:rPr>
              <a:t>fundamental</a:t>
            </a:r>
            <a:r>
              <a:rPr sz="1100" spc="5" dirty="0">
                <a:latin typeface="Georgia"/>
                <a:cs typeface="Georgia"/>
              </a:rPr>
              <a:t> </a:t>
            </a:r>
            <a:r>
              <a:rPr sz="1100" spc="-25" dirty="0">
                <a:latin typeface="Georgia"/>
                <a:cs typeface="Georgia"/>
              </a:rPr>
              <a:t>version</a:t>
            </a:r>
            <a:r>
              <a:rPr sz="1100" spc="5" dirty="0">
                <a:latin typeface="Georgia"/>
                <a:cs typeface="Georgia"/>
              </a:rPr>
              <a:t> </a:t>
            </a:r>
            <a:r>
              <a:rPr sz="1100" dirty="0">
                <a:latin typeface="Georgia"/>
                <a:cs typeface="Georgia"/>
              </a:rPr>
              <a:t>of</a:t>
            </a:r>
            <a:r>
              <a:rPr sz="1100" spc="5" dirty="0">
                <a:latin typeface="Georgia"/>
                <a:cs typeface="Georgia"/>
              </a:rPr>
              <a:t> </a:t>
            </a:r>
            <a:r>
              <a:rPr sz="1100" spc="-10" dirty="0">
                <a:latin typeface="Georgia"/>
                <a:cs typeface="Georgia"/>
              </a:rPr>
              <a:t>cluster</a:t>
            </a:r>
            <a:r>
              <a:rPr sz="1100" spc="5" dirty="0">
                <a:latin typeface="Georgia"/>
                <a:cs typeface="Georgia"/>
              </a:rPr>
              <a:t> </a:t>
            </a:r>
            <a:r>
              <a:rPr sz="1100" spc="-10" dirty="0">
                <a:latin typeface="Georgia"/>
                <a:cs typeface="Georgia"/>
              </a:rPr>
              <a:t>analysis</a:t>
            </a:r>
            <a:r>
              <a:rPr sz="1100" spc="5" dirty="0">
                <a:latin typeface="Georgia"/>
                <a:cs typeface="Georgia"/>
              </a:rPr>
              <a:t> </a:t>
            </a:r>
            <a:r>
              <a:rPr sz="1100" dirty="0">
                <a:latin typeface="Georgia"/>
                <a:cs typeface="Georgia"/>
              </a:rPr>
              <a:t>is</a:t>
            </a:r>
            <a:r>
              <a:rPr sz="1100" spc="5" dirty="0">
                <a:latin typeface="Georgia"/>
                <a:cs typeface="Georgia"/>
              </a:rPr>
              <a:t> </a:t>
            </a:r>
            <a:r>
              <a:rPr sz="1100" spc="-10" dirty="0">
                <a:latin typeface="Georgia"/>
                <a:cs typeface="Georgia"/>
              </a:rPr>
              <a:t>partitioning,</a:t>
            </a:r>
            <a:r>
              <a:rPr sz="1100" spc="5" dirty="0">
                <a:latin typeface="Georgia"/>
                <a:cs typeface="Georgia"/>
              </a:rPr>
              <a:t> </a:t>
            </a:r>
            <a:r>
              <a:rPr sz="1100" spc="-10" dirty="0">
                <a:latin typeface="Georgia"/>
                <a:cs typeface="Georgia"/>
              </a:rPr>
              <a:t>which </a:t>
            </a:r>
            <a:r>
              <a:rPr sz="1100" spc="-30" dirty="0">
                <a:latin typeface="Georgia"/>
                <a:cs typeface="Georgia"/>
              </a:rPr>
              <a:t>organizes</a:t>
            </a:r>
            <a:r>
              <a:rPr sz="1100" spc="25" dirty="0">
                <a:latin typeface="Georgia"/>
                <a:cs typeface="Georgia"/>
              </a:rPr>
              <a:t> </a:t>
            </a:r>
            <a:r>
              <a:rPr sz="1100" dirty="0">
                <a:latin typeface="Georgia"/>
                <a:cs typeface="Georgia"/>
              </a:rPr>
              <a:t>the</a:t>
            </a:r>
            <a:r>
              <a:rPr sz="1100" spc="25" dirty="0">
                <a:latin typeface="Georgia"/>
                <a:cs typeface="Georgia"/>
              </a:rPr>
              <a:t> </a:t>
            </a:r>
            <a:r>
              <a:rPr sz="1100" dirty="0">
                <a:latin typeface="Georgia"/>
                <a:cs typeface="Georgia"/>
              </a:rPr>
              <a:t>objects</a:t>
            </a:r>
            <a:r>
              <a:rPr sz="1100" spc="25" dirty="0">
                <a:latin typeface="Georgia"/>
                <a:cs typeface="Georgia"/>
              </a:rPr>
              <a:t> </a:t>
            </a:r>
            <a:r>
              <a:rPr sz="1100" dirty="0">
                <a:latin typeface="Georgia"/>
                <a:cs typeface="Georgia"/>
              </a:rPr>
              <a:t>of</a:t>
            </a:r>
            <a:r>
              <a:rPr sz="1100" spc="25" dirty="0">
                <a:latin typeface="Georgia"/>
                <a:cs typeface="Georgia"/>
              </a:rPr>
              <a:t> </a:t>
            </a:r>
            <a:r>
              <a:rPr sz="1100" dirty="0">
                <a:latin typeface="Georgia"/>
                <a:cs typeface="Georgia"/>
              </a:rPr>
              <a:t>a</a:t>
            </a:r>
            <a:r>
              <a:rPr sz="1100" spc="25" dirty="0">
                <a:latin typeface="Georgia"/>
                <a:cs typeface="Georgia"/>
              </a:rPr>
              <a:t> </a:t>
            </a:r>
            <a:r>
              <a:rPr sz="1100" dirty="0">
                <a:latin typeface="Georgia"/>
                <a:cs typeface="Georgia"/>
              </a:rPr>
              <a:t>set</a:t>
            </a:r>
            <a:r>
              <a:rPr sz="1100" spc="25" dirty="0">
                <a:latin typeface="Georgia"/>
                <a:cs typeface="Georgia"/>
              </a:rPr>
              <a:t> </a:t>
            </a:r>
            <a:r>
              <a:rPr sz="1100" dirty="0">
                <a:latin typeface="Georgia"/>
                <a:cs typeface="Georgia"/>
              </a:rPr>
              <a:t>into</a:t>
            </a:r>
            <a:r>
              <a:rPr sz="1100" spc="25" dirty="0">
                <a:latin typeface="Georgia"/>
                <a:cs typeface="Georgia"/>
              </a:rPr>
              <a:t> </a:t>
            </a:r>
            <a:r>
              <a:rPr sz="1100" spc="-20" dirty="0">
                <a:latin typeface="Georgia"/>
                <a:cs typeface="Georgia"/>
              </a:rPr>
              <a:t>several</a:t>
            </a:r>
            <a:r>
              <a:rPr sz="1100" spc="30" dirty="0">
                <a:latin typeface="Georgia"/>
                <a:cs typeface="Georgia"/>
              </a:rPr>
              <a:t> </a:t>
            </a:r>
            <a:r>
              <a:rPr sz="1100" spc="-20" dirty="0">
                <a:latin typeface="Georgia"/>
                <a:cs typeface="Georgia"/>
              </a:rPr>
              <a:t>exclusive</a:t>
            </a:r>
            <a:r>
              <a:rPr sz="1100" spc="25" dirty="0">
                <a:latin typeface="Georgia"/>
                <a:cs typeface="Georgia"/>
              </a:rPr>
              <a:t> </a:t>
            </a:r>
            <a:r>
              <a:rPr sz="1100" spc="-25" dirty="0">
                <a:latin typeface="Georgia"/>
                <a:cs typeface="Georgia"/>
              </a:rPr>
              <a:t>groups</a:t>
            </a:r>
            <a:r>
              <a:rPr sz="1100" spc="25" dirty="0">
                <a:latin typeface="Georgia"/>
                <a:cs typeface="Georgia"/>
              </a:rPr>
              <a:t> </a:t>
            </a:r>
            <a:r>
              <a:rPr sz="1100" dirty="0">
                <a:latin typeface="Georgia"/>
                <a:cs typeface="Georgia"/>
              </a:rPr>
              <a:t>or</a:t>
            </a:r>
            <a:r>
              <a:rPr sz="1100" spc="25" dirty="0">
                <a:latin typeface="Georgia"/>
                <a:cs typeface="Georgia"/>
              </a:rPr>
              <a:t> </a:t>
            </a:r>
            <a:r>
              <a:rPr sz="1100" spc="-10" dirty="0">
                <a:latin typeface="Georgia"/>
                <a:cs typeface="Georgia"/>
              </a:rPr>
              <a:t>clusters.</a:t>
            </a:r>
            <a:endParaRPr sz="1100">
              <a:latin typeface="Georgia"/>
              <a:cs typeface="Georgia"/>
            </a:endParaRPr>
          </a:p>
          <a:p>
            <a:pPr marL="12700" marR="51435" algn="just">
              <a:lnSpc>
                <a:spcPts val="1150"/>
              </a:lnSpc>
              <a:spcBef>
                <a:spcPts val="725"/>
              </a:spcBef>
            </a:pPr>
            <a:r>
              <a:rPr sz="1100" dirty="0">
                <a:latin typeface="Georgia"/>
                <a:cs typeface="Georgia"/>
              </a:rPr>
              <a:t>We</a:t>
            </a:r>
            <a:r>
              <a:rPr sz="1100" spc="5" dirty="0">
                <a:latin typeface="Georgia"/>
                <a:cs typeface="Georgia"/>
              </a:rPr>
              <a:t> </a:t>
            </a:r>
            <a:r>
              <a:rPr sz="1100" dirty="0">
                <a:latin typeface="Georgia"/>
                <a:cs typeface="Georgia"/>
              </a:rPr>
              <a:t>can</a:t>
            </a:r>
            <a:r>
              <a:rPr sz="1100" spc="5" dirty="0">
                <a:latin typeface="Georgia"/>
                <a:cs typeface="Georgia"/>
              </a:rPr>
              <a:t> </a:t>
            </a:r>
            <a:r>
              <a:rPr sz="1100" spc="-30" dirty="0">
                <a:latin typeface="Georgia"/>
                <a:cs typeface="Georgia"/>
              </a:rPr>
              <a:t>assume</a:t>
            </a:r>
            <a:r>
              <a:rPr sz="1100" spc="5" dirty="0">
                <a:latin typeface="Georgia"/>
                <a:cs typeface="Georgia"/>
              </a:rPr>
              <a:t> </a:t>
            </a:r>
            <a:r>
              <a:rPr sz="1100" dirty="0">
                <a:latin typeface="Georgia"/>
                <a:cs typeface="Georgia"/>
              </a:rPr>
              <a:t>that</a:t>
            </a:r>
            <a:r>
              <a:rPr sz="1100" spc="5" dirty="0">
                <a:latin typeface="Georgia"/>
                <a:cs typeface="Georgia"/>
              </a:rPr>
              <a:t> </a:t>
            </a:r>
            <a:r>
              <a:rPr sz="1100" dirty="0">
                <a:latin typeface="Georgia"/>
                <a:cs typeface="Georgia"/>
              </a:rPr>
              <a:t>the</a:t>
            </a:r>
            <a:r>
              <a:rPr sz="1100" spc="5" dirty="0">
                <a:latin typeface="Georgia"/>
                <a:cs typeface="Georgia"/>
              </a:rPr>
              <a:t> </a:t>
            </a:r>
            <a:r>
              <a:rPr sz="1100" spc="-30" dirty="0">
                <a:latin typeface="Georgia"/>
                <a:cs typeface="Georgia"/>
              </a:rPr>
              <a:t>number</a:t>
            </a:r>
            <a:r>
              <a:rPr sz="1100" spc="10" dirty="0">
                <a:latin typeface="Georgia"/>
                <a:cs typeface="Georgia"/>
              </a:rPr>
              <a:t> </a:t>
            </a:r>
            <a:r>
              <a:rPr sz="1100" dirty="0">
                <a:latin typeface="Georgia"/>
                <a:cs typeface="Georgia"/>
              </a:rPr>
              <a:t>of</a:t>
            </a:r>
            <a:r>
              <a:rPr sz="1100" spc="5" dirty="0">
                <a:latin typeface="Georgia"/>
                <a:cs typeface="Georgia"/>
              </a:rPr>
              <a:t> </a:t>
            </a:r>
            <a:r>
              <a:rPr sz="1100" spc="-10" dirty="0">
                <a:latin typeface="Georgia"/>
                <a:cs typeface="Georgia"/>
              </a:rPr>
              <a:t>clusters</a:t>
            </a:r>
            <a:r>
              <a:rPr sz="1100" spc="5" dirty="0">
                <a:latin typeface="Georgia"/>
                <a:cs typeface="Georgia"/>
              </a:rPr>
              <a:t> </a:t>
            </a:r>
            <a:r>
              <a:rPr sz="1100" dirty="0">
                <a:latin typeface="Georgia"/>
                <a:cs typeface="Georgia"/>
              </a:rPr>
              <a:t>is</a:t>
            </a:r>
            <a:r>
              <a:rPr sz="1100" spc="5" dirty="0">
                <a:latin typeface="Georgia"/>
                <a:cs typeface="Georgia"/>
              </a:rPr>
              <a:t> </a:t>
            </a:r>
            <a:r>
              <a:rPr sz="1100" spc="-10" dirty="0">
                <a:latin typeface="Georgia"/>
                <a:cs typeface="Georgia"/>
              </a:rPr>
              <a:t>given</a:t>
            </a:r>
            <a:r>
              <a:rPr sz="1100" spc="5" dirty="0">
                <a:latin typeface="Georgia"/>
                <a:cs typeface="Georgia"/>
              </a:rPr>
              <a:t> </a:t>
            </a:r>
            <a:r>
              <a:rPr sz="1100" dirty="0">
                <a:latin typeface="Georgia"/>
                <a:cs typeface="Georgia"/>
              </a:rPr>
              <a:t>as</a:t>
            </a:r>
            <a:r>
              <a:rPr sz="1100" spc="5" dirty="0">
                <a:latin typeface="Georgia"/>
                <a:cs typeface="Georgia"/>
              </a:rPr>
              <a:t> </a:t>
            </a:r>
            <a:r>
              <a:rPr sz="1100" spc="-25" dirty="0">
                <a:latin typeface="Georgia"/>
                <a:cs typeface="Georgia"/>
              </a:rPr>
              <a:t>background</a:t>
            </a:r>
            <a:r>
              <a:rPr sz="1100" spc="10" dirty="0">
                <a:latin typeface="Georgia"/>
                <a:cs typeface="Georgia"/>
              </a:rPr>
              <a:t> </a:t>
            </a:r>
            <a:r>
              <a:rPr sz="1100" spc="-20" dirty="0">
                <a:latin typeface="Georgia"/>
                <a:cs typeface="Georgia"/>
              </a:rPr>
              <a:t>knowledge.</a:t>
            </a:r>
            <a:r>
              <a:rPr sz="1100" spc="90" dirty="0">
                <a:latin typeface="Georgia"/>
                <a:cs typeface="Georgia"/>
              </a:rPr>
              <a:t> </a:t>
            </a:r>
            <a:r>
              <a:rPr sz="1100" spc="-20" dirty="0">
                <a:latin typeface="Georgia"/>
                <a:cs typeface="Georgia"/>
              </a:rPr>
              <a:t>This </a:t>
            </a:r>
            <a:r>
              <a:rPr sz="1100" spc="-25" dirty="0">
                <a:latin typeface="Georgia"/>
                <a:cs typeface="Georgia"/>
              </a:rPr>
              <a:t>parameter</a:t>
            </a:r>
            <a:r>
              <a:rPr sz="1100" dirty="0">
                <a:latin typeface="Georgia"/>
                <a:cs typeface="Georgia"/>
              </a:rPr>
              <a:t> is</a:t>
            </a:r>
            <a:r>
              <a:rPr sz="1100" spc="5" dirty="0">
                <a:latin typeface="Georgia"/>
                <a:cs typeface="Georgia"/>
              </a:rPr>
              <a:t> </a:t>
            </a:r>
            <a:r>
              <a:rPr sz="1100" dirty="0">
                <a:latin typeface="Georgia"/>
                <a:cs typeface="Georgia"/>
              </a:rPr>
              <a:t>the</a:t>
            </a:r>
            <a:r>
              <a:rPr sz="1100" spc="5" dirty="0">
                <a:latin typeface="Georgia"/>
                <a:cs typeface="Georgia"/>
              </a:rPr>
              <a:t> </a:t>
            </a:r>
            <a:r>
              <a:rPr sz="1100" dirty="0">
                <a:latin typeface="Georgia"/>
                <a:cs typeface="Georgia"/>
              </a:rPr>
              <a:t>starting</a:t>
            </a:r>
            <a:r>
              <a:rPr sz="1100" spc="5" dirty="0">
                <a:latin typeface="Georgia"/>
                <a:cs typeface="Georgia"/>
              </a:rPr>
              <a:t> </a:t>
            </a:r>
            <a:r>
              <a:rPr sz="1100" dirty="0">
                <a:latin typeface="Georgia"/>
                <a:cs typeface="Georgia"/>
              </a:rPr>
              <a:t>point</a:t>
            </a:r>
            <a:r>
              <a:rPr sz="1100" spc="5" dirty="0">
                <a:latin typeface="Georgia"/>
                <a:cs typeface="Georgia"/>
              </a:rPr>
              <a:t> </a:t>
            </a:r>
            <a:r>
              <a:rPr sz="1100" dirty="0">
                <a:latin typeface="Georgia"/>
                <a:cs typeface="Georgia"/>
              </a:rPr>
              <a:t>for </a:t>
            </a:r>
            <a:r>
              <a:rPr sz="1100" spc="-10" dirty="0">
                <a:latin typeface="Georgia"/>
                <a:cs typeface="Georgia"/>
              </a:rPr>
              <a:t>partitioning</a:t>
            </a:r>
            <a:r>
              <a:rPr sz="1100" spc="5" dirty="0">
                <a:latin typeface="Georgia"/>
                <a:cs typeface="Georgia"/>
              </a:rPr>
              <a:t> </a:t>
            </a:r>
            <a:r>
              <a:rPr sz="1100" spc="-10" dirty="0">
                <a:latin typeface="Georgia"/>
                <a:cs typeface="Georgia"/>
              </a:rPr>
              <a:t>methods.</a:t>
            </a:r>
            <a:endParaRPr sz="1100">
              <a:latin typeface="Georgia"/>
              <a:cs typeface="Georgia"/>
            </a:endParaRPr>
          </a:p>
          <a:p>
            <a:pPr marL="12700" marR="5080" algn="just">
              <a:lnSpc>
                <a:spcPts val="1150"/>
              </a:lnSpc>
              <a:spcBef>
                <a:spcPts val="730"/>
              </a:spcBef>
            </a:pPr>
            <a:r>
              <a:rPr sz="1100" spc="-25" dirty="0">
                <a:latin typeface="Georgia"/>
                <a:cs typeface="Georgia"/>
              </a:rPr>
              <a:t>Formally,</a:t>
            </a:r>
            <a:r>
              <a:rPr sz="1100" spc="25" dirty="0">
                <a:latin typeface="Georgia"/>
                <a:cs typeface="Georgia"/>
              </a:rPr>
              <a:t> </a:t>
            </a:r>
            <a:r>
              <a:rPr sz="1100" spc="-10" dirty="0">
                <a:latin typeface="Georgia"/>
                <a:cs typeface="Georgia"/>
              </a:rPr>
              <a:t>given</a:t>
            </a:r>
            <a:r>
              <a:rPr sz="1100" spc="30" dirty="0">
                <a:latin typeface="Georgia"/>
                <a:cs typeface="Georgia"/>
              </a:rPr>
              <a:t> </a:t>
            </a:r>
            <a:r>
              <a:rPr sz="1100" dirty="0">
                <a:latin typeface="Georgia"/>
                <a:cs typeface="Georgia"/>
              </a:rPr>
              <a:t>a</a:t>
            </a:r>
            <a:r>
              <a:rPr sz="1100" spc="30" dirty="0">
                <a:latin typeface="Georgia"/>
                <a:cs typeface="Georgia"/>
              </a:rPr>
              <a:t> </a:t>
            </a:r>
            <a:r>
              <a:rPr sz="1100" dirty="0">
                <a:latin typeface="Georgia"/>
                <a:cs typeface="Georgia"/>
              </a:rPr>
              <a:t>data</a:t>
            </a:r>
            <a:r>
              <a:rPr sz="1100" spc="25" dirty="0">
                <a:latin typeface="Georgia"/>
                <a:cs typeface="Georgia"/>
              </a:rPr>
              <a:t> </a:t>
            </a:r>
            <a:r>
              <a:rPr sz="1100" dirty="0">
                <a:latin typeface="Georgia"/>
                <a:cs typeface="Georgia"/>
              </a:rPr>
              <a:t>set,</a:t>
            </a:r>
            <a:r>
              <a:rPr sz="1100" spc="30" dirty="0">
                <a:latin typeface="Georgia"/>
                <a:cs typeface="Georgia"/>
              </a:rPr>
              <a:t> </a:t>
            </a:r>
            <a:r>
              <a:rPr sz="1100" spc="70" dirty="0">
                <a:latin typeface="Cambria"/>
                <a:cs typeface="Cambria"/>
              </a:rPr>
              <a:t>D</a:t>
            </a:r>
            <a:r>
              <a:rPr sz="1100" spc="70" dirty="0">
                <a:latin typeface="Georgia"/>
                <a:cs typeface="Georgia"/>
              </a:rPr>
              <a:t>,</a:t>
            </a:r>
            <a:r>
              <a:rPr sz="1100" spc="30" dirty="0">
                <a:latin typeface="Georgia"/>
                <a:cs typeface="Georgia"/>
              </a:rPr>
              <a:t> </a:t>
            </a:r>
            <a:r>
              <a:rPr sz="1100" dirty="0">
                <a:latin typeface="Georgia"/>
                <a:cs typeface="Georgia"/>
              </a:rPr>
              <a:t>of</a:t>
            </a:r>
            <a:r>
              <a:rPr sz="1100" spc="25" dirty="0">
                <a:latin typeface="Georgia"/>
                <a:cs typeface="Georgia"/>
              </a:rPr>
              <a:t> </a:t>
            </a:r>
            <a:r>
              <a:rPr sz="1100" i="1" spc="90" dirty="0">
                <a:latin typeface="Calibri"/>
                <a:cs typeface="Calibri"/>
              </a:rPr>
              <a:t>n</a:t>
            </a:r>
            <a:r>
              <a:rPr sz="1100" i="1" spc="45" dirty="0">
                <a:latin typeface="Calibri"/>
                <a:cs typeface="Calibri"/>
              </a:rPr>
              <a:t> </a:t>
            </a:r>
            <a:r>
              <a:rPr sz="1100" dirty="0">
                <a:latin typeface="Georgia"/>
                <a:cs typeface="Georgia"/>
              </a:rPr>
              <a:t>objects,</a:t>
            </a:r>
            <a:r>
              <a:rPr sz="1100" spc="30" dirty="0">
                <a:latin typeface="Georgia"/>
                <a:cs typeface="Georgia"/>
              </a:rPr>
              <a:t> </a:t>
            </a:r>
            <a:r>
              <a:rPr sz="1100" dirty="0">
                <a:latin typeface="Georgia"/>
                <a:cs typeface="Georgia"/>
              </a:rPr>
              <a:t>and</a:t>
            </a:r>
            <a:r>
              <a:rPr sz="1100" spc="25" dirty="0">
                <a:latin typeface="Georgia"/>
                <a:cs typeface="Georgia"/>
              </a:rPr>
              <a:t> </a:t>
            </a:r>
            <a:r>
              <a:rPr sz="1100" i="1" spc="50" dirty="0">
                <a:latin typeface="Calibri"/>
                <a:cs typeface="Calibri"/>
              </a:rPr>
              <a:t>k</a:t>
            </a:r>
            <a:r>
              <a:rPr sz="1100" spc="50" dirty="0">
                <a:latin typeface="Georgia"/>
                <a:cs typeface="Georgia"/>
              </a:rPr>
              <a:t>,</a:t>
            </a:r>
            <a:r>
              <a:rPr sz="1100" spc="30" dirty="0">
                <a:latin typeface="Georgia"/>
                <a:cs typeface="Georgia"/>
              </a:rPr>
              <a:t> </a:t>
            </a:r>
            <a:r>
              <a:rPr sz="1100" dirty="0">
                <a:latin typeface="Georgia"/>
                <a:cs typeface="Georgia"/>
              </a:rPr>
              <a:t>the</a:t>
            </a:r>
            <a:r>
              <a:rPr sz="1100" spc="30" dirty="0">
                <a:latin typeface="Georgia"/>
                <a:cs typeface="Georgia"/>
              </a:rPr>
              <a:t> </a:t>
            </a:r>
            <a:r>
              <a:rPr sz="1100" spc="-30" dirty="0">
                <a:latin typeface="Georgia"/>
                <a:cs typeface="Georgia"/>
              </a:rPr>
              <a:t>number</a:t>
            </a:r>
            <a:r>
              <a:rPr sz="1100" spc="25" dirty="0">
                <a:latin typeface="Georgia"/>
                <a:cs typeface="Georgia"/>
              </a:rPr>
              <a:t> </a:t>
            </a:r>
            <a:r>
              <a:rPr sz="1100" dirty="0">
                <a:latin typeface="Georgia"/>
                <a:cs typeface="Georgia"/>
              </a:rPr>
              <a:t>of</a:t>
            </a:r>
            <a:r>
              <a:rPr sz="1100" spc="30" dirty="0">
                <a:latin typeface="Georgia"/>
                <a:cs typeface="Georgia"/>
              </a:rPr>
              <a:t> </a:t>
            </a:r>
            <a:r>
              <a:rPr sz="1100" spc="-10" dirty="0">
                <a:latin typeface="Georgia"/>
                <a:cs typeface="Georgia"/>
              </a:rPr>
              <a:t>clusters</a:t>
            </a:r>
            <a:r>
              <a:rPr sz="1100" spc="30" dirty="0">
                <a:latin typeface="Georgia"/>
                <a:cs typeface="Georgia"/>
              </a:rPr>
              <a:t> </a:t>
            </a:r>
            <a:r>
              <a:rPr sz="1100" dirty="0">
                <a:latin typeface="Georgia"/>
                <a:cs typeface="Georgia"/>
              </a:rPr>
              <a:t>to</a:t>
            </a:r>
            <a:r>
              <a:rPr sz="1100" spc="30" dirty="0">
                <a:latin typeface="Georgia"/>
                <a:cs typeface="Georgia"/>
              </a:rPr>
              <a:t> </a:t>
            </a:r>
            <a:r>
              <a:rPr sz="1100" spc="-10" dirty="0">
                <a:latin typeface="Georgia"/>
                <a:cs typeface="Georgia"/>
              </a:rPr>
              <a:t>form,</a:t>
            </a:r>
            <a:r>
              <a:rPr sz="1100" spc="25" dirty="0">
                <a:latin typeface="Georgia"/>
                <a:cs typeface="Georgia"/>
              </a:rPr>
              <a:t> </a:t>
            </a:r>
            <a:r>
              <a:rPr sz="1100" spc="-50" dirty="0">
                <a:latin typeface="Georgia"/>
                <a:cs typeface="Georgia"/>
              </a:rPr>
              <a:t>a </a:t>
            </a:r>
            <a:r>
              <a:rPr sz="1100" b="1" spc="-30" dirty="0">
                <a:latin typeface="Georgia"/>
                <a:cs typeface="Georgia"/>
              </a:rPr>
              <a:t>partitioning</a:t>
            </a:r>
            <a:r>
              <a:rPr sz="1100" b="1" spc="75" dirty="0">
                <a:latin typeface="Georgia"/>
                <a:cs typeface="Georgia"/>
              </a:rPr>
              <a:t> </a:t>
            </a:r>
            <a:r>
              <a:rPr sz="1100" b="1" spc="-40" dirty="0">
                <a:latin typeface="Georgia"/>
                <a:cs typeface="Georgia"/>
              </a:rPr>
              <a:t>algorithm</a:t>
            </a:r>
            <a:r>
              <a:rPr sz="1100" b="1" spc="25" dirty="0">
                <a:latin typeface="Georgia"/>
                <a:cs typeface="Georgia"/>
              </a:rPr>
              <a:t> </a:t>
            </a:r>
            <a:r>
              <a:rPr sz="1100" spc="-25" dirty="0">
                <a:latin typeface="Georgia"/>
                <a:cs typeface="Georgia"/>
              </a:rPr>
              <a:t>organizes</a:t>
            </a:r>
            <a:r>
              <a:rPr sz="1100" spc="45" dirty="0">
                <a:latin typeface="Georgia"/>
                <a:cs typeface="Georgia"/>
              </a:rPr>
              <a:t> </a:t>
            </a:r>
            <a:r>
              <a:rPr sz="1100" dirty="0">
                <a:latin typeface="Georgia"/>
                <a:cs typeface="Georgia"/>
              </a:rPr>
              <a:t>the</a:t>
            </a:r>
            <a:r>
              <a:rPr sz="1100" spc="45" dirty="0">
                <a:latin typeface="Georgia"/>
                <a:cs typeface="Georgia"/>
              </a:rPr>
              <a:t> </a:t>
            </a:r>
            <a:r>
              <a:rPr sz="1100" dirty="0">
                <a:latin typeface="Georgia"/>
                <a:cs typeface="Georgia"/>
              </a:rPr>
              <a:t>objects</a:t>
            </a:r>
            <a:r>
              <a:rPr sz="1100" spc="40" dirty="0">
                <a:latin typeface="Georgia"/>
                <a:cs typeface="Georgia"/>
              </a:rPr>
              <a:t> </a:t>
            </a:r>
            <a:r>
              <a:rPr sz="1100" dirty="0">
                <a:latin typeface="Georgia"/>
                <a:cs typeface="Georgia"/>
              </a:rPr>
              <a:t>into</a:t>
            </a:r>
            <a:r>
              <a:rPr sz="1100" spc="45" dirty="0">
                <a:latin typeface="Georgia"/>
                <a:cs typeface="Georgia"/>
              </a:rPr>
              <a:t> </a:t>
            </a:r>
            <a:r>
              <a:rPr sz="1100" i="1" spc="65" dirty="0">
                <a:latin typeface="Calibri"/>
                <a:cs typeface="Calibri"/>
              </a:rPr>
              <a:t>k</a:t>
            </a:r>
            <a:r>
              <a:rPr sz="1100" i="1" spc="90" dirty="0">
                <a:latin typeface="Calibri"/>
                <a:cs typeface="Calibri"/>
              </a:rPr>
              <a:t> </a:t>
            </a:r>
            <a:r>
              <a:rPr sz="1100" spc="-10" dirty="0">
                <a:latin typeface="Georgia"/>
                <a:cs typeface="Georgia"/>
              </a:rPr>
              <a:t>partitions</a:t>
            </a:r>
            <a:r>
              <a:rPr sz="1100" spc="45" dirty="0">
                <a:latin typeface="Georgia"/>
                <a:cs typeface="Georgia"/>
              </a:rPr>
              <a:t> </a:t>
            </a:r>
            <a:r>
              <a:rPr sz="1100" dirty="0">
                <a:latin typeface="Georgia"/>
                <a:cs typeface="Georgia"/>
              </a:rPr>
              <a:t>(</a:t>
            </a:r>
            <a:r>
              <a:rPr sz="1100" i="1" dirty="0">
                <a:latin typeface="Calibri"/>
                <a:cs typeface="Calibri"/>
              </a:rPr>
              <a:t>k</a:t>
            </a:r>
            <a:r>
              <a:rPr sz="1100" i="1" spc="415" dirty="0">
                <a:latin typeface="Calibri"/>
                <a:cs typeface="Calibri"/>
              </a:rPr>
              <a:t>  </a:t>
            </a:r>
            <a:r>
              <a:rPr sz="1100" i="1" dirty="0">
                <a:latin typeface="Calibri"/>
                <a:cs typeface="Calibri"/>
              </a:rPr>
              <a:t>n</a:t>
            </a:r>
            <a:r>
              <a:rPr sz="1100" dirty="0">
                <a:latin typeface="Georgia"/>
                <a:cs typeface="Georgia"/>
              </a:rPr>
              <a:t>),</a:t>
            </a:r>
            <a:r>
              <a:rPr sz="1100" spc="55" dirty="0">
                <a:latin typeface="Georgia"/>
                <a:cs typeface="Georgia"/>
              </a:rPr>
              <a:t> </a:t>
            </a:r>
            <a:r>
              <a:rPr sz="1100" spc="-25" dirty="0">
                <a:latin typeface="Georgia"/>
                <a:cs typeface="Georgia"/>
              </a:rPr>
              <a:t>where</a:t>
            </a:r>
            <a:r>
              <a:rPr sz="1100" spc="40" dirty="0">
                <a:latin typeface="Georgia"/>
                <a:cs typeface="Georgia"/>
              </a:rPr>
              <a:t> </a:t>
            </a:r>
            <a:r>
              <a:rPr sz="1100" spc="-20" dirty="0">
                <a:latin typeface="Georgia"/>
                <a:cs typeface="Georgia"/>
              </a:rPr>
              <a:t>each </a:t>
            </a:r>
            <a:r>
              <a:rPr sz="1100" spc="-10" dirty="0">
                <a:latin typeface="Georgia"/>
                <a:cs typeface="Georgia"/>
              </a:rPr>
              <a:t>partition</a:t>
            </a:r>
            <a:r>
              <a:rPr sz="1100" spc="50" dirty="0">
                <a:latin typeface="Georgia"/>
                <a:cs typeface="Georgia"/>
              </a:rPr>
              <a:t> </a:t>
            </a:r>
            <a:r>
              <a:rPr sz="1100" spc="-35" dirty="0">
                <a:latin typeface="Georgia"/>
                <a:cs typeface="Georgia"/>
              </a:rPr>
              <a:t>represents</a:t>
            </a:r>
            <a:r>
              <a:rPr sz="1100" spc="50" dirty="0">
                <a:latin typeface="Georgia"/>
                <a:cs typeface="Georgia"/>
              </a:rPr>
              <a:t> </a:t>
            </a:r>
            <a:r>
              <a:rPr sz="1100" dirty="0">
                <a:latin typeface="Georgia"/>
                <a:cs typeface="Georgia"/>
              </a:rPr>
              <a:t>a</a:t>
            </a:r>
            <a:r>
              <a:rPr sz="1100" spc="55" dirty="0">
                <a:latin typeface="Georgia"/>
                <a:cs typeface="Georgia"/>
              </a:rPr>
              <a:t> </a:t>
            </a:r>
            <a:r>
              <a:rPr sz="1100" spc="-10" dirty="0">
                <a:latin typeface="Georgia"/>
                <a:cs typeface="Georgia"/>
              </a:rPr>
              <a:t>cluster.</a:t>
            </a:r>
            <a:endParaRPr sz="1100">
              <a:latin typeface="Georgia"/>
              <a:cs typeface="Georgia"/>
            </a:endParaRPr>
          </a:p>
          <a:p>
            <a:pPr marL="12700" marR="59055">
              <a:lnSpc>
                <a:spcPts val="1150"/>
              </a:lnSpc>
              <a:spcBef>
                <a:spcPts val="730"/>
              </a:spcBef>
            </a:pPr>
            <a:r>
              <a:rPr sz="1100" dirty="0">
                <a:latin typeface="Georgia"/>
                <a:cs typeface="Georgia"/>
              </a:rPr>
              <a:t>The</a:t>
            </a:r>
            <a:r>
              <a:rPr sz="1100" spc="35" dirty="0">
                <a:latin typeface="Georgia"/>
                <a:cs typeface="Georgia"/>
              </a:rPr>
              <a:t> </a:t>
            </a:r>
            <a:r>
              <a:rPr sz="1100" spc="-20" dirty="0">
                <a:latin typeface="Georgia"/>
                <a:cs typeface="Georgia"/>
              </a:rPr>
              <a:t>clusters</a:t>
            </a:r>
            <a:r>
              <a:rPr sz="1100" spc="35" dirty="0">
                <a:latin typeface="Georgia"/>
                <a:cs typeface="Georgia"/>
              </a:rPr>
              <a:t> </a:t>
            </a:r>
            <a:r>
              <a:rPr sz="1100" dirty="0">
                <a:latin typeface="Georgia"/>
                <a:cs typeface="Georgia"/>
              </a:rPr>
              <a:t>are</a:t>
            </a:r>
            <a:r>
              <a:rPr sz="1100" spc="40" dirty="0">
                <a:latin typeface="Georgia"/>
                <a:cs typeface="Georgia"/>
              </a:rPr>
              <a:t> </a:t>
            </a:r>
            <a:r>
              <a:rPr sz="1100" spc="-35" dirty="0">
                <a:latin typeface="Georgia"/>
                <a:cs typeface="Georgia"/>
              </a:rPr>
              <a:t>formed</a:t>
            </a:r>
            <a:r>
              <a:rPr sz="1100" spc="35" dirty="0">
                <a:latin typeface="Georgia"/>
                <a:cs typeface="Georgia"/>
              </a:rPr>
              <a:t> </a:t>
            </a:r>
            <a:r>
              <a:rPr sz="1100" dirty="0">
                <a:latin typeface="Georgia"/>
                <a:cs typeface="Georgia"/>
              </a:rPr>
              <a:t>to</a:t>
            </a:r>
            <a:r>
              <a:rPr sz="1100" spc="40" dirty="0">
                <a:latin typeface="Georgia"/>
                <a:cs typeface="Georgia"/>
              </a:rPr>
              <a:t> </a:t>
            </a:r>
            <a:r>
              <a:rPr sz="1100" spc="-20" dirty="0">
                <a:latin typeface="Georgia"/>
                <a:cs typeface="Georgia"/>
              </a:rPr>
              <a:t>optimize</a:t>
            </a:r>
            <a:r>
              <a:rPr sz="1100" spc="35" dirty="0">
                <a:latin typeface="Georgia"/>
                <a:cs typeface="Georgia"/>
              </a:rPr>
              <a:t> </a:t>
            </a:r>
            <a:r>
              <a:rPr sz="1100" dirty="0">
                <a:latin typeface="Georgia"/>
                <a:cs typeface="Georgia"/>
              </a:rPr>
              <a:t>an</a:t>
            </a:r>
            <a:r>
              <a:rPr sz="1100" spc="40" dirty="0">
                <a:latin typeface="Georgia"/>
                <a:cs typeface="Georgia"/>
              </a:rPr>
              <a:t> </a:t>
            </a:r>
            <a:r>
              <a:rPr sz="1100" b="1" spc="-10" dirty="0">
                <a:latin typeface="Georgia"/>
                <a:cs typeface="Georgia"/>
              </a:rPr>
              <a:t>objective</a:t>
            </a:r>
            <a:r>
              <a:rPr sz="1100" b="1" spc="70" dirty="0">
                <a:latin typeface="Georgia"/>
                <a:cs typeface="Georgia"/>
              </a:rPr>
              <a:t> </a:t>
            </a:r>
            <a:r>
              <a:rPr sz="1100" b="1" spc="-35" dirty="0">
                <a:latin typeface="Georgia"/>
                <a:cs typeface="Georgia"/>
              </a:rPr>
              <a:t>partitioning</a:t>
            </a:r>
            <a:r>
              <a:rPr sz="1100" b="1" spc="65" dirty="0">
                <a:latin typeface="Georgia"/>
                <a:cs typeface="Georgia"/>
              </a:rPr>
              <a:t> </a:t>
            </a:r>
            <a:r>
              <a:rPr sz="1100" b="1" spc="-35" dirty="0">
                <a:latin typeface="Georgia"/>
                <a:cs typeface="Georgia"/>
              </a:rPr>
              <a:t>criterion</a:t>
            </a:r>
            <a:r>
              <a:rPr sz="1100" spc="-35" dirty="0">
                <a:latin typeface="Georgia"/>
                <a:cs typeface="Georgia"/>
              </a:rPr>
              <a:t>,</a:t>
            </a:r>
            <a:r>
              <a:rPr sz="1100" spc="40" dirty="0">
                <a:latin typeface="Georgia"/>
                <a:cs typeface="Georgia"/>
              </a:rPr>
              <a:t> </a:t>
            </a:r>
            <a:r>
              <a:rPr sz="1100" spc="-20" dirty="0">
                <a:latin typeface="Georgia"/>
                <a:cs typeface="Georgia"/>
              </a:rPr>
              <a:t>such</a:t>
            </a:r>
            <a:r>
              <a:rPr sz="1100" spc="35" dirty="0">
                <a:latin typeface="Georgia"/>
                <a:cs typeface="Georgia"/>
              </a:rPr>
              <a:t> </a:t>
            </a:r>
            <a:r>
              <a:rPr sz="1100" spc="-25" dirty="0">
                <a:latin typeface="Georgia"/>
                <a:cs typeface="Georgia"/>
              </a:rPr>
              <a:t>as </a:t>
            </a:r>
            <a:r>
              <a:rPr sz="1100" dirty="0">
                <a:latin typeface="Georgia"/>
                <a:cs typeface="Georgia"/>
              </a:rPr>
              <a:t>a</a:t>
            </a:r>
            <a:r>
              <a:rPr sz="1100" spc="30" dirty="0">
                <a:latin typeface="Georgia"/>
                <a:cs typeface="Georgia"/>
              </a:rPr>
              <a:t> </a:t>
            </a:r>
            <a:r>
              <a:rPr sz="1100" spc="-25" dirty="0">
                <a:latin typeface="Georgia"/>
                <a:cs typeface="Georgia"/>
              </a:rPr>
              <a:t>dissimilarity</a:t>
            </a:r>
            <a:r>
              <a:rPr sz="1100" spc="35" dirty="0">
                <a:latin typeface="Georgia"/>
                <a:cs typeface="Georgia"/>
              </a:rPr>
              <a:t> </a:t>
            </a:r>
            <a:r>
              <a:rPr sz="1100" spc="-20" dirty="0">
                <a:latin typeface="Georgia"/>
                <a:cs typeface="Georgia"/>
              </a:rPr>
              <a:t>function</a:t>
            </a:r>
            <a:r>
              <a:rPr sz="1100" spc="30" dirty="0">
                <a:latin typeface="Georgia"/>
                <a:cs typeface="Georgia"/>
              </a:rPr>
              <a:t> </a:t>
            </a:r>
            <a:r>
              <a:rPr sz="1100" spc="-10" dirty="0">
                <a:latin typeface="Georgia"/>
                <a:cs typeface="Georgia"/>
              </a:rPr>
              <a:t>based</a:t>
            </a:r>
            <a:r>
              <a:rPr sz="1100" spc="35" dirty="0">
                <a:latin typeface="Georgia"/>
                <a:cs typeface="Georgia"/>
              </a:rPr>
              <a:t> </a:t>
            </a:r>
            <a:r>
              <a:rPr sz="1100" dirty="0">
                <a:latin typeface="Georgia"/>
                <a:cs typeface="Georgia"/>
              </a:rPr>
              <a:t>on</a:t>
            </a:r>
            <a:r>
              <a:rPr sz="1100" spc="30" dirty="0">
                <a:latin typeface="Georgia"/>
                <a:cs typeface="Georgia"/>
              </a:rPr>
              <a:t> </a:t>
            </a:r>
            <a:r>
              <a:rPr sz="1100" spc="-10" dirty="0">
                <a:latin typeface="Georgia"/>
                <a:cs typeface="Georgia"/>
              </a:rPr>
              <a:t>distance,</a:t>
            </a:r>
            <a:r>
              <a:rPr sz="1100" spc="35" dirty="0">
                <a:latin typeface="Georgia"/>
                <a:cs typeface="Georgia"/>
              </a:rPr>
              <a:t> </a:t>
            </a:r>
            <a:r>
              <a:rPr sz="1100" dirty="0">
                <a:latin typeface="Georgia"/>
                <a:cs typeface="Georgia"/>
              </a:rPr>
              <a:t>so</a:t>
            </a:r>
            <a:r>
              <a:rPr sz="1100" spc="35" dirty="0">
                <a:latin typeface="Georgia"/>
                <a:cs typeface="Georgia"/>
              </a:rPr>
              <a:t> </a:t>
            </a:r>
            <a:r>
              <a:rPr sz="1100" dirty="0">
                <a:latin typeface="Georgia"/>
                <a:cs typeface="Georgia"/>
              </a:rPr>
              <a:t>that</a:t>
            </a:r>
            <a:r>
              <a:rPr sz="1100" spc="30"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objects</a:t>
            </a:r>
            <a:r>
              <a:rPr sz="1100" spc="30" dirty="0">
                <a:latin typeface="Georgia"/>
                <a:cs typeface="Georgia"/>
              </a:rPr>
              <a:t> </a:t>
            </a:r>
            <a:r>
              <a:rPr sz="1100" spc="-10" dirty="0">
                <a:latin typeface="Georgia"/>
                <a:cs typeface="Georgia"/>
              </a:rPr>
              <a:t>within</a:t>
            </a:r>
            <a:r>
              <a:rPr sz="1100" spc="35" dirty="0">
                <a:latin typeface="Georgia"/>
                <a:cs typeface="Georgia"/>
              </a:rPr>
              <a:t> </a:t>
            </a:r>
            <a:r>
              <a:rPr sz="1100" dirty="0">
                <a:latin typeface="Georgia"/>
                <a:cs typeface="Georgia"/>
              </a:rPr>
              <a:t>a</a:t>
            </a:r>
            <a:r>
              <a:rPr sz="1100" spc="30" dirty="0">
                <a:latin typeface="Georgia"/>
                <a:cs typeface="Georgia"/>
              </a:rPr>
              <a:t> </a:t>
            </a:r>
            <a:r>
              <a:rPr sz="1100" spc="-10" dirty="0">
                <a:latin typeface="Georgia"/>
                <a:cs typeface="Georgia"/>
              </a:rPr>
              <a:t>cluster</a:t>
            </a:r>
            <a:r>
              <a:rPr sz="1100" spc="35" dirty="0">
                <a:latin typeface="Georgia"/>
                <a:cs typeface="Georgia"/>
              </a:rPr>
              <a:t> </a:t>
            </a:r>
            <a:r>
              <a:rPr sz="1100" spc="-25" dirty="0">
                <a:latin typeface="Georgia"/>
                <a:cs typeface="Georgia"/>
              </a:rPr>
              <a:t>are </a:t>
            </a:r>
            <a:r>
              <a:rPr sz="1100" spc="-35" dirty="0">
                <a:latin typeface="Georgia"/>
                <a:cs typeface="Georgia"/>
              </a:rPr>
              <a:t>“similar”</a:t>
            </a:r>
            <a:r>
              <a:rPr sz="1100" spc="95" dirty="0">
                <a:latin typeface="Georgia"/>
                <a:cs typeface="Georgia"/>
              </a:rPr>
              <a:t> </a:t>
            </a:r>
            <a:r>
              <a:rPr sz="1100" dirty="0">
                <a:latin typeface="Georgia"/>
                <a:cs typeface="Georgia"/>
              </a:rPr>
              <a:t>to</a:t>
            </a:r>
            <a:r>
              <a:rPr sz="1100" spc="25" dirty="0">
                <a:latin typeface="Georgia"/>
                <a:cs typeface="Georgia"/>
              </a:rPr>
              <a:t> </a:t>
            </a:r>
            <a:r>
              <a:rPr sz="1100" spc="-20" dirty="0">
                <a:latin typeface="Georgia"/>
                <a:cs typeface="Georgia"/>
              </a:rPr>
              <a:t>one</a:t>
            </a:r>
            <a:r>
              <a:rPr sz="1100" spc="25" dirty="0">
                <a:latin typeface="Georgia"/>
                <a:cs typeface="Georgia"/>
              </a:rPr>
              <a:t> </a:t>
            </a:r>
            <a:r>
              <a:rPr sz="1100" spc="-20" dirty="0">
                <a:latin typeface="Georgia"/>
                <a:cs typeface="Georgia"/>
              </a:rPr>
              <a:t>another</a:t>
            </a:r>
            <a:r>
              <a:rPr sz="1100" spc="30" dirty="0">
                <a:latin typeface="Georgia"/>
                <a:cs typeface="Georgia"/>
              </a:rPr>
              <a:t> </a:t>
            </a:r>
            <a:r>
              <a:rPr sz="1100" dirty="0">
                <a:latin typeface="Georgia"/>
                <a:cs typeface="Georgia"/>
              </a:rPr>
              <a:t>and</a:t>
            </a:r>
            <a:r>
              <a:rPr sz="1100" spc="25" dirty="0">
                <a:latin typeface="Georgia"/>
                <a:cs typeface="Georgia"/>
              </a:rPr>
              <a:t> </a:t>
            </a:r>
            <a:r>
              <a:rPr sz="1100" spc="-40" dirty="0">
                <a:latin typeface="Georgia"/>
                <a:cs typeface="Georgia"/>
              </a:rPr>
              <a:t>“dissimilar”</a:t>
            </a:r>
            <a:r>
              <a:rPr sz="1100" spc="95" dirty="0">
                <a:latin typeface="Georgia"/>
                <a:cs typeface="Georgia"/>
              </a:rPr>
              <a:t> </a:t>
            </a:r>
            <a:r>
              <a:rPr sz="1100" dirty="0">
                <a:latin typeface="Georgia"/>
                <a:cs typeface="Georgia"/>
              </a:rPr>
              <a:t>to</a:t>
            </a:r>
            <a:r>
              <a:rPr sz="1100" spc="30" dirty="0">
                <a:latin typeface="Georgia"/>
                <a:cs typeface="Georgia"/>
              </a:rPr>
              <a:t> </a:t>
            </a:r>
            <a:r>
              <a:rPr sz="1100" dirty="0">
                <a:latin typeface="Georgia"/>
                <a:cs typeface="Georgia"/>
              </a:rPr>
              <a:t>objects</a:t>
            </a:r>
            <a:r>
              <a:rPr sz="1100" spc="25" dirty="0">
                <a:latin typeface="Georgia"/>
                <a:cs typeface="Georgia"/>
              </a:rPr>
              <a:t> </a:t>
            </a:r>
            <a:r>
              <a:rPr sz="1100" dirty="0">
                <a:latin typeface="Georgia"/>
                <a:cs typeface="Georgia"/>
              </a:rPr>
              <a:t>in</a:t>
            </a:r>
            <a:r>
              <a:rPr sz="1100" spc="25" dirty="0">
                <a:latin typeface="Georgia"/>
                <a:cs typeface="Georgia"/>
              </a:rPr>
              <a:t> </a:t>
            </a:r>
            <a:r>
              <a:rPr sz="1100" spc="-10" dirty="0">
                <a:latin typeface="Georgia"/>
                <a:cs typeface="Georgia"/>
              </a:rPr>
              <a:t>other</a:t>
            </a:r>
            <a:r>
              <a:rPr sz="1100" spc="30" dirty="0">
                <a:latin typeface="Georgia"/>
                <a:cs typeface="Georgia"/>
              </a:rPr>
              <a:t> </a:t>
            </a:r>
            <a:r>
              <a:rPr sz="1100" spc="-20" dirty="0">
                <a:latin typeface="Georgia"/>
                <a:cs typeface="Georgia"/>
              </a:rPr>
              <a:t>clusters</a:t>
            </a:r>
            <a:r>
              <a:rPr sz="1100" spc="25" dirty="0">
                <a:latin typeface="Georgia"/>
                <a:cs typeface="Georgia"/>
              </a:rPr>
              <a:t> </a:t>
            </a:r>
            <a:r>
              <a:rPr sz="1100" dirty="0">
                <a:latin typeface="Georgia"/>
                <a:cs typeface="Georgia"/>
              </a:rPr>
              <a:t>in</a:t>
            </a:r>
            <a:r>
              <a:rPr sz="1100" spc="25" dirty="0">
                <a:latin typeface="Georgia"/>
                <a:cs typeface="Georgia"/>
              </a:rPr>
              <a:t> </a:t>
            </a:r>
            <a:r>
              <a:rPr sz="1100" spc="-20" dirty="0">
                <a:latin typeface="Georgia"/>
                <a:cs typeface="Georgia"/>
              </a:rPr>
              <a:t>terms</a:t>
            </a:r>
            <a:r>
              <a:rPr sz="1100" spc="30" dirty="0">
                <a:latin typeface="Georgia"/>
                <a:cs typeface="Georgia"/>
              </a:rPr>
              <a:t> </a:t>
            </a:r>
            <a:r>
              <a:rPr sz="1100" dirty="0">
                <a:latin typeface="Georgia"/>
                <a:cs typeface="Georgia"/>
              </a:rPr>
              <a:t>of</a:t>
            </a:r>
            <a:r>
              <a:rPr sz="1100" spc="25" dirty="0">
                <a:latin typeface="Georgia"/>
                <a:cs typeface="Georgia"/>
              </a:rPr>
              <a:t> </a:t>
            </a:r>
            <a:r>
              <a:rPr sz="1100" spc="-25" dirty="0">
                <a:latin typeface="Georgia"/>
                <a:cs typeface="Georgia"/>
              </a:rPr>
              <a:t>the </a:t>
            </a:r>
            <a:r>
              <a:rPr sz="1100" dirty="0">
                <a:latin typeface="Georgia"/>
                <a:cs typeface="Georgia"/>
              </a:rPr>
              <a:t>data</a:t>
            </a:r>
            <a:r>
              <a:rPr sz="1100" spc="55" dirty="0">
                <a:latin typeface="Georgia"/>
                <a:cs typeface="Georgia"/>
              </a:rPr>
              <a:t> </a:t>
            </a:r>
            <a:r>
              <a:rPr sz="1100" dirty="0">
                <a:latin typeface="Georgia"/>
                <a:cs typeface="Georgia"/>
              </a:rPr>
              <a:t>set</a:t>
            </a:r>
            <a:r>
              <a:rPr sz="1100" spc="55" dirty="0">
                <a:latin typeface="Georgia"/>
                <a:cs typeface="Georgia"/>
              </a:rPr>
              <a:t> </a:t>
            </a:r>
            <a:r>
              <a:rPr sz="1100" spc="-10" dirty="0">
                <a:latin typeface="Georgia"/>
                <a:cs typeface="Georgia"/>
              </a:rPr>
              <a:t>attributes.</a:t>
            </a:r>
            <a:endParaRPr sz="1100">
              <a:latin typeface="Georgia"/>
              <a:cs typeface="Georgia"/>
            </a:endParaRPr>
          </a:p>
          <a:p>
            <a:pPr marL="12700" marR="180975">
              <a:lnSpc>
                <a:spcPts val="1150"/>
              </a:lnSpc>
              <a:spcBef>
                <a:spcPts val="730"/>
              </a:spcBef>
            </a:pPr>
            <a:r>
              <a:rPr sz="1100" dirty="0">
                <a:latin typeface="Georgia"/>
                <a:cs typeface="Georgia"/>
              </a:rPr>
              <a:t>Most</a:t>
            </a:r>
            <a:r>
              <a:rPr sz="1100" spc="20" dirty="0">
                <a:latin typeface="Georgia"/>
                <a:cs typeface="Georgia"/>
              </a:rPr>
              <a:t> </a:t>
            </a:r>
            <a:r>
              <a:rPr sz="1100" spc="-10" dirty="0">
                <a:latin typeface="Georgia"/>
                <a:cs typeface="Georgia"/>
              </a:rPr>
              <a:t>popular</a:t>
            </a:r>
            <a:r>
              <a:rPr sz="1100" spc="25" dirty="0">
                <a:latin typeface="Georgia"/>
                <a:cs typeface="Georgia"/>
              </a:rPr>
              <a:t> </a:t>
            </a:r>
            <a:r>
              <a:rPr sz="1100" spc="-20" dirty="0">
                <a:latin typeface="Georgia"/>
                <a:cs typeface="Georgia"/>
              </a:rPr>
              <a:t>partitioning</a:t>
            </a:r>
            <a:r>
              <a:rPr sz="1100" spc="20" dirty="0">
                <a:latin typeface="Georgia"/>
                <a:cs typeface="Georgia"/>
              </a:rPr>
              <a:t> </a:t>
            </a:r>
            <a:r>
              <a:rPr sz="1100" spc="-25" dirty="0">
                <a:latin typeface="Georgia"/>
                <a:cs typeface="Georgia"/>
              </a:rPr>
              <a:t>algorithms</a:t>
            </a:r>
            <a:r>
              <a:rPr sz="1100" spc="25" dirty="0">
                <a:latin typeface="Georgia"/>
                <a:cs typeface="Georgia"/>
              </a:rPr>
              <a:t> </a:t>
            </a:r>
            <a:r>
              <a:rPr sz="1100" dirty="0">
                <a:latin typeface="Georgia"/>
                <a:cs typeface="Georgia"/>
              </a:rPr>
              <a:t>are</a:t>
            </a:r>
            <a:r>
              <a:rPr sz="1100" spc="20" dirty="0">
                <a:latin typeface="Georgia"/>
                <a:cs typeface="Georgia"/>
              </a:rPr>
              <a:t> </a:t>
            </a:r>
            <a:r>
              <a:rPr sz="1100" i="1" spc="-30" dirty="0">
                <a:latin typeface="Calibri"/>
                <a:cs typeface="Calibri"/>
              </a:rPr>
              <a:t>k</a:t>
            </a:r>
            <a:r>
              <a:rPr sz="1100" spc="-30" dirty="0">
                <a:latin typeface="Georgia"/>
                <a:cs typeface="Georgia"/>
              </a:rPr>
              <a:t>–means,</a:t>
            </a:r>
            <a:r>
              <a:rPr sz="1100" spc="25" dirty="0">
                <a:latin typeface="Georgia"/>
                <a:cs typeface="Georgia"/>
              </a:rPr>
              <a:t> </a:t>
            </a:r>
            <a:r>
              <a:rPr sz="1100" i="1" spc="-35" dirty="0">
                <a:latin typeface="Calibri"/>
                <a:cs typeface="Calibri"/>
              </a:rPr>
              <a:t>k</a:t>
            </a:r>
            <a:r>
              <a:rPr sz="1100" spc="-35" dirty="0">
                <a:latin typeface="Georgia"/>
                <a:cs typeface="Georgia"/>
              </a:rPr>
              <a:t>–mediods,</a:t>
            </a:r>
            <a:r>
              <a:rPr sz="1100" spc="20" dirty="0">
                <a:latin typeface="Georgia"/>
                <a:cs typeface="Georgia"/>
              </a:rPr>
              <a:t> </a:t>
            </a:r>
            <a:r>
              <a:rPr sz="1100" dirty="0">
                <a:latin typeface="Georgia"/>
                <a:cs typeface="Georgia"/>
              </a:rPr>
              <a:t>and</a:t>
            </a:r>
            <a:r>
              <a:rPr sz="1100" spc="25" dirty="0">
                <a:latin typeface="Georgia"/>
                <a:cs typeface="Georgia"/>
              </a:rPr>
              <a:t> </a:t>
            </a:r>
            <a:r>
              <a:rPr sz="1100" i="1" spc="-10" dirty="0">
                <a:latin typeface="Calibri"/>
                <a:cs typeface="Calibri"/>
              </a:rPr>
              <a:t>k</a:t>
            </a:r>
            <a:r>
              <a:rPr sz="1100" spc="-10" dirty="0">
                <a:latin typeface="Georgia"/>
                <a:cs typeface="Georgia"/>
              </a:rPr>
              <a:t>–medians. </a:t>
            </a:r>
            <a:r>
              <a:rPr sz="1100" dirty="0">
                <a:latin typeface="Georgia"/>
                <a:cs typeface="Georgia"/>
              </a:rPr>
              <a:t>These</a:t>
            </a:r>
            <a:r>
              <a:rPr sz="1100" spc="25" dirty="0">
                <a:latin typeface="Georgia"/>
                <a:cs typeface="Georgia"/>
              </a:rPr>
              <a:t> </a:t>
            </a:r>
            <a:r>
              <a:rPr sz="1100" spc="-25" dirty="0">
                <a:latin typeface="Georgia"/>
                <a:cs typeface="Georgia"/>
              </a:rPr>
              <a:t>methods</a:t>
            </a:r>
            <a:r>
              <a:rPr sz="1100" spc="25" dirty="0">
                <a:latin typeface="Georgia"/>
                <a:cs typeface="Georgia"/>
              </a:rPr>
              <a:t> </a:t>
            </a:r>
            <a:r>
              <a:rPr sz="1100" spc="-10" dirty="0">
                <a:latin typeface="Georgia"/>
                <a:cs typeface="Georgia"/>
              </a:rPr>
              <a:t>use</a:t>
            </a:r>
            <a:r>
              <a:rPr sz="1100" spc="25" dirty="0">
                <a:latin typeface="Georgia"/>
                <a:cs typeface="Georgia"/>
              </a:rPr>
              <a:t> </a:t>
            </a:r>
            <a:r>
              <a:rPr sz="1100" dirty="0">
                <a:latin typeface="Georgia"/>
                <a:cs typeface="Georgia"/>
              </a:rPr>
              <a:t>a</a:t>
            </a:r>
            <a:r>
              <a:rPr sz="1100" spc="25" dirty="0">
                <a:latin typeface="Georgia"/>
                <a:cs typeface="Georgia"/>
              </a:rPr>
              <a:t> </a:t>
            </a:r>
            <a:r>
              <a:rPr sz="1100" spc="-25" dirty="0">
                <a:latin typeface="Georgia"/>
                <a:cs typeface="Georgia"/>
              </a:rPr>
              <a:t>centroid</a:t>
            </a:r>
            <a:r>
              <a:rPr sz="1100" spc="30" dirty="0">
                <a:latin typeface="Georgia"/>
                <a:cs typeface="Georgia"/>
              </a:rPr>
              <a:t> </a:t>
            </a:r>
            <a:r>
              <a:rPr sz="1100" dirty="0">
                <a:latin typeface="Georgia"/>
                <a:cs typeface="Georgia"/>
              </a:rPr>
              <a:t>point</a:t>
            </a:r>
            <a:r>
              <a:rPr sz="1100" spc="25" dirty="0">
                <a:latin typeface="Georgia"/>
                <a:cs typeface="Georgia"/>
              </a:rPr>
              <a:t> </a:t>
            </a:r>
            <a:r>
              <a:rPr sz="1100" dirty="0">
                <a:latin typeface="Georgia"/>
                <a:cs typeface="Georgia"/>
              </a:rPr>
              <a:t>to</a:t>
            </a:r>
            <a:r>
              <a:rPr sz="1100" spc="25" dirty="0">
                <a:latin typeface="Georgia"/>
                <a:cs typeface="Georgia"/>
              </a:rPr>
              <a:t> </a:t>
            </a:r>
            <a:r>
              <a:rPr sz="1100" spc="-35" dirty="0">
                <a:latin typeface="Georgia"/>
                <a:cs typeface="Georgia"/>
              </a:rPr>
              <a:t>represent</a:t>
            </a:r>
            <a:r>
              <a:rPr sz="1100" spc="25" dirty="0">
                <a:latin typeface="Georgia"/>
                <a:cs typeface="Georgia"/>
              </a:rPr>
              <a:t> </a:t>
            </a:r>
            <a:r>
              <a:rPr sz="1100" spc="-10" dirty="0">
                <a:latin typeface="Georgia"/>
                <a:cs typeface="Georgia"/>
              </a:rPr>
              <a:t>each</a:t>
            </a:r>
            <a:r>
              <a:rPr sz="1100" spc="25" dirty="0">
                <a:latin typeface="Georgia"/>
                <a:cs typeface="Georgia"/>
              </a:rPr>
              <a:t> </a:t>
            </a:r>
            <a:r>
              <a:rPr sz="1100" spc="-10" dirty="0">
                <a:latin typeface="Georgia"/>
                <a:cs typeface="Georgia"/>
              </a:rPr>
              <a:t>cluster.</a:t>
            </a:r>
            <a:r>
              <a:rPr sz="1100" spc="120" dirty="0">
                <a:latin typeface="Georgia"/>
                <a:cs typeface="Georgia"/>
              </a:rPr>
              <a:t> </a:t>
            </a:r>
            <a:r>
              <a:rPr sz="1100" dirty="0">
                <a:latin typeface="Georgia"/>
                <a:cs typeface="Georgia"/>
              </a:rPr>
              <a:t>Thus,</a:t>
            </a:r>
            <a:r>
              <a:rPr sz="1100" spc="25" dirty="0">
                <a:latin typeface="Georgia"/>
                <a:cs typeface="Georgia"/>
              </a:rPr>
              <a:t> </a:t>
            </a:r>
            <a:r>
              <a:rPr sz="1100" dirty="0">
                <a:latin typeface="Georgia"/>
                <a:cs typeface="Georgia"/>
              </a:rPr>
              <a:t>they</a:t>
            </a:r>
            <a:r>
              <a:rPr sz="1100" spc="30" dirty="0">
                <a:latin typeface="Georgia"/>
                <a:cs typeface="Georgia"/>
              </a:rPr>
              <a:t> </a:t>
            </a:r>
            <a:r>
              <a:rPr sz="1100" dirty="0">
                <a:latin typeface="Georgia"/>
                <a:cs typeface="Georgia"/>
              </a:rPr>
              <a:t>are</a:t>
            </a:r>
            <a:r>
              <a:rPr sz="1100" spc="25" dirty="0">
                <a:latin typeface="Georgia"/>
                <a:cs typeface="Georgia"/>
              </a:rPr>
              <a:t> </a:t>
            </a:r>
            <a:r>
              <a:rPr sz="1100" spc="-20" dirty="0">
                <a:latin typeface="Georgia"/>
                <a:cs typeface="Georgia"/>
              </a:rPr>
              <a:t>also </a:t>
            </a:r>
            <a:r>
              <a:rPr sz="1100" spc="-10" dirty="0">
                <a:latin typeface="Georgia"/>
                <a:cs typeface="Georgia"/>
              </a:rPr>
              <a:t>called</a:t>
            </a:r>
            <a:r>
              <a:rPr sz="1100" spc="30" dirty="0">
                <a:latin typeface="Georgia"/>
                <a:cs typeface="Georgia"/>
              </a:rPr>
              <a:t> </a:t>
            </a:r>
            <a:r>
              <a:rPr sz="1100" b="1" spc="-45" dirty="0">
                <a:latin typeface="Georgia"/>
                <a:cs typeface="Georgia"/>
              </a:rPr>
              <a:t>representative</a:t>
            </a:r>
            <a:r>
              <a:rPr sz="1100" b="1" spc="15" dirty="0">
                <a:latin typeface="Georgia"/>
                <a:cs typeface="Georgia"/>
              </a:rPr>
              <a:t> </a:t>
            </a:r>
            <a:r>
              <a:rPr sz="1100" dirty="0">
                <a:latin typeface="Georgia"/>
                <a:cs typeface="Georgia"/>
              </a:rPr>
              <a:t>or</a:t>
            </a:r>
            <a:r>
              <a:rPr sz="1100" spc="35" dirty="0">
                <a:latin typeface="Georgia"/>
                <a:cs typeface="Georgia"/>
              </a:rPr>
              <a:t> </a:t>
            </a:r>
            <a:r>
              <a:rPr sz="1100" b="1" spc="-45" dirty="0">
                <a:latin typeface="Georgia"/>
                <a:cs typeface="Georgia"/>
              </a:rPr>
              <a:t>centroid</a:t>
            </a:r>
            <a:r>
              <a:rPr sz="1100" b="1" spc="15" dirty="0">
                <a:latin typeface="Georgia"/>
                <a:cs typeface="Georgia"/>
              </a:rPr>
              <a:t> </a:t>
            </a:r>
            <a:r>
              <a:rPr sz="1100" spc="-10" dirty="0">
                <a:latin typeface="Georgia"/>
                <a:cs typeface="Georgia"/>
              </a:rPr>
              <a:t>methods.</a:t>
            </a:r>
            <a:endParaRPr sz="1100">
              <a:latin typeface="Georgia"/>
              <a:cs typeface="Georgia"/>
            </a:endParaRPr>
          </a:p>
        </p:txBody>
      </p:sp>
      <p:sp>
        <p:nvSpPr>
          <p:cNvPr id="8" name="object 8"/>
          <p:cNvSpPr/>
          <p:nvPr/>
        </p:nvSpPr>
        <p:spPr>
          <a:xfrm>
            <a:off x="337972" y="185248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9" name="object 9"/>
          <p:cNvSpPr/>
          <p:nvPr/>
        </p:nvSpPr>
        <p:spPr>
          <a:xfrm>
            <a:off x="337972" y="252949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0" name="object 10"/>
          <p:cNvGrpSpPr/>
          <p:nvPr/>
        </p:nvGrpSpPr>
        <p:grpSpPr>
          <a:xfrm>
            <a:off x="0" y="3121545"/>
            <a:ext cx="5760085" cy="118745"/>
            <a:chOff x="0" y="3121545"/>
            <a:chExt cx="5760085" cy="118745"/>
          </a:xfrm>
        </p:grpSpPr>
        <p:sp>
          <p:nvSpPr>
            <p:cNvPr id="11" name="object 11"/>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2" name="object 12"/>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4" name="object 14"/>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5" name="object 15"/>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75" dirty="0"/>
              <a:t>54</a:t>
            </a:fld>
            <a:r>
              <a:rPr spc="-25" dirty="0"/>
              <a:t> </a:t>
            </a:r>
            <a:r>
              <a:rPr spc="75" dirty="0"/>
              <a:t>/</a:t>
            </a:r>
            <a:r>
              <a:rPr spc="-20" dirty="0"/>
              <a:t> </a:t>
            </a:r>
            <a:r>
              <a:rPr spc="35" dirty="0"/>
              <a:t>135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65" dirty="0"/>
              <a:t>Data</a:t>
            </a:r>
            <a:r>
              <a:rPr spc="220" dirty="0"/>
              <a:t> </a:t>
            </a:r>
            <a:r>
              <a:rPr dirty="0"/>
              <a:t>clustering</a:t>
            </a:r>
            <a:r>
              <a:rPr spc="225" dirty="0"/>
              <a:t> </a:t>
            </a:r>
            <a:r>
              <a:rPr dirty="0"/>
              <a:t>problem</a:t>
            </a:r>
            <a:r>
              <a:rPr spc="220" dirty="0"/>
              <a:t> </a:t>
            </a:r>
            <a:r>
              <a:rPr spc="-10" dirty="0"/>
              <a:t>revisited</a:t>
            </a:r>
          </a:p>
        </p:txBody>
      </p:sp>
      <p:pic>
        <p:nvPicPr>
          <p:cNvPr id="3" name="object 3"/>
          <p:cNvPicPr/>
          <p:nvPr/>
        </p:nvPicPr>
        <p:blipFill>
          <a:blip r:embed="rId2" cstate="print"/>
          <a:stretch>
            <a:fillRect/>
          </a:stretch>
        </p:blipFill>
        <p:spPr>
          <a:xfrm>
            <a:off x="2314219" y="408711"/>
            <a:ext cx="1131570" cy="1123340"/>
          </a:xfrm>
          <a:prstGeom prst="rect">
            <a:avLst/>
          </a:prstGeom>
        </p:spPr>
      </p:pic>
      <p:sp>
        <p:nvSpPr>
          <p:cNvPr id="4" name="object 4"/>
          <p:cNvSpPr/>
          <p:nvPr/>
        </p:nvSpPr>
        <p:spPr>
          <a:xfrm>
            <a:off x="337972" y="167124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txBox="1"/>
          <p:nvPr/>
        </p:nvSpPr>
        <p:spPr>
          <a:xfrm>
            <a:off x="428777" y="1579637"/>
            <a:ext cx="5069840" cy="338455"/>
          </a:xfrm>
          <a:prstGeom prst="rect">
            <a:avLst/>
          </a:prstGeom>
        </p:spPr>
        <p:txBody>
          <a:bodyPr vert="horz" wrap="square" lIns="0" tIns="11430" rIns="0" bIns="0" rtlCol="0">
            <a:spAutoFit/>
          </a:bodyPr>
          <a:lstStyle/>
          <a:p>
            <a:pPr marL="38100">
              <a:lnSpc>
                <a:spcPts val="1235"/>
              </a:lnSpc>
              <a:spcBef>
                <a:spcPts val="90"/>
              </a:spcBef>
            </a:pPr>
            <a:r>
              <a:rPr sz="1100" dirty="0">
                <a:latin typeface="Georgia"/>
                <a:cs typeface="Georgia"/>
              </a:rPr>
              <a:t>Let</a:t>
            </a:r>
            <a:r>
              <a:rPr sz="1100" spc="15" dirty="0">
                <a:latin typeface="Georgia"/>
                <a:cs typeface="Georgia"/>
              </a:rPr>
              <a:t> </a:t>
            </a:r>
            <a:r>
              <a:rPr sz="1100" spc="315" dirty="0">
                <a:latin typeface="Cambria"/>
                <a:cs typeface="Cambria"/>
              </a:rPr>
              <a:t>X</a:t>
            </a:r>
            <a:r>
              <a:rPr sz="1100" spc="35" dirty="0">
                <a:latin typeface="Cambria"/>
                <a:cs typeface="Cambria"/>
              </a:rPr>
              <a:t> </a:t>
            </a:r>
            <a:r>
              <a:rPr sz="1100" spc="295" dirty="0">
                <a:latin typeface="Calibri"/>
                <a:cs typeface="Calibri"/>
              </a:rPr>
              <a:t>=</a:t>
            </a:r>
            <a:r>
              <a:rPr sz="1100" spc="30" dirty="0">
                <a:latin typeface="Calibri"/>
                <a:cs typeface="Calibri"/>
              </a:rPr>
              <a:t> </a:t>
            </a:r>
            <a:r>
              <a:rPr sz="1100" spc="125" dirty="0">
                <a:latin typeface="Calibri"/>
                <a:cs typeface="Calibri"/>
              </a:rPr>
              <a:t>(</a:t>
            </a:r>
            <a:r>
              <a:rPr sz="1100" i="1" spc="125" dirty="0">
                <a:latin typeface="Calibri"/>
                <a:cs typeface="Calibri"/>
              </a:rPr>
              <a:t>X</a:t>
            </a:r>
            <a:r>
              <a:rPr sz="1200" spc="187" baseline="-10416" dirty="0">
                <a:latin typeface="Calibri"/>
                <a:cs typeface="Calibri"/>
              </a:rPr>
              <a:t>1</a:t>
            </a:r>
            <a:r>
              <a:rPr sz="1100" i="1" spc="125" dirty="0">
                <a:latin typeface="Calibri"/>
                <a:cs typeface="Calibri"/>
              </a:rPr>
              <a:t>,</a:t>
            </a:r>
            <a:r>
              <a:rPr sz="1100" i="1" spc="-70" dirty="0">
                <a:latin typeface="Calibri"/>
                <a:cs typeface="Calibri"/>
              </a:rPr>
              <a:t> </a:t>
            </a:r>
            <a:r>
              <a:rPr sz="1100" i="1" spc="155" dirty="0">
                <a:latin typeface="Calibri"/>
                <a:cs typeface="Calibri"/>
              </a:rPr>
              <a:t>X</a:t>
            </a:r>
            <a:r>
              <a:rPr sz="1200" spc="232" baseline="-10416" dirty="0">
                <a:latin typeface="Calibri"/>
                <a:cs typeface="Calibri"/>
              </a:rPr>
              <a:t>2</a:t>
            </a:r>
            <a:r>
              <a:rPr sz="1100" i="1" spc="15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60" dirty="0">
                <a:latin typeface="Calibri"/>
                <a:cs typeface="Calibri"/>
              </a:rPr>
              <a:t>X</a:t>
            </a:r>
            <a:r>
              <a:rPr sz="1200" i="1" spc="240" baseline="-13888" dirty="0">
                <a:latin typeface="Calibri"/>
                <a:cs typeface="Calibri"/>
              </a:rPr>
              <a:t>d</a:t>
            </a:r>
            <a:r>
              <a:rPr sz="1100" spc="160" dirty="0">
                <a:latin typeface="Calibri"/>
                <a:cs typeface="Calibri"/>
              </a:rPr>
              <a:t>)</a:t>
            </a:r>
            <a:r>
              <a:rPr sz="1100" spc="80" dirty="0">
                <a:latin typeface="Calibri"/>
                <a:cs typeface="Calibri"/>
              </a:rPr>
              <a:t> </a:t>
            </a:r>
            <a:r>
              <a:rPr sz="1100" dirty="0">
                <a:latin typeface="Georgia"/>
                <a:cs typeface="Georgia"/>
              </a:rPr>
              <a:t>be</a:t>
            </a:r>
            <a:r>
              <a:rPr sz="1100" spc="65" dirty="0">
                <a:latin typeface="Georgia"/>
                <a:cs typeface="Georgia"/>
              </a:rPr>
              <a:t> </a:t>
            </a:r>
            <a:r>
              <a:rPr sz="1100" dirty="0">
                <a:latin typeface="Georgia"/>
                <a:cs typeface="Georgia"/>
              </a:rPr>
              <a:t>a</a:t>
            </a:r>
            <a:r>
              <a:rPr sz="1100" spc="65" dirty="0">
                <a:latin typeface="Georgia"/>
                <a:cs typeface="Georgia"/>
              </a:rPr>
              <a:t> </a:t>
            </a:r>
            <a:r>
              <a:rPr sz="1100" i="1" spc="-45" dirty="0">
                <a:latin typeface="Calibri"/>
                <a:cs typeface="Calibri"/>
              </a:rPr>
              <a:t>d</a:t>
            </a:r>
            <a:r>
              <a:rPr sz="1100" spc="-45" dirty="0">
                <a:latin typeface="Georgia"/>
                <a:cs typeface="Georgia"/>
              </a:rPr>
              <a:t>–dimensional</a:t>
            </a:r>
            <a:r>
              <a:rPr sz="1100" spc="65" dirty="0">
                <a:latin typeface="Georgia"/>
                <a:cs typeface="Georgia"/>
              </a:rPr>
              <a:t> </a:t>
            </a:r>
            <a:r>
              <a:rPr sz="1100" spc="-10" dirty="0">
                <a:latin typeface="Georgia"/>
                <a:cs typeface="Georgia"/>
              </a:rPr>
              <a:t>space,</a:t>
            </a:r>
            <a:r>
              <a:rPr sz="1100" spc="65" dirty="0">
                <a:latin typeface="Georgia"/>
                <a:cs typeface="Georgia"/>
              </a:rPr>
              <a:t> </a:t>
            </a:r>
            <a:r>
              <a:rPr sz="1100" spc="-30" dirty="0">
                <a:latin typeface="Georgia"/>
                <a:cs typeface="Georgia"/>
              </a:rPr>
              <a:t>where</a:t>
            </a:r>
            <a:r>
              <a:rPr sz="1100" spc="65" dirty="0">
                <a:latin typeface="Georgia"/>
                <a:cs typeface="Georgia"/>
              </a:rPr>
              <a:t> </a:t>
            </a:r>
            <a:r>
              <a:rPr sz="1100" spc="-10" dirty="0">
                <a:latin typeface="Georgia"/>
                <a:cs typeface="Georgia"/>
              </a:rPr>
              <a:t>each</a:t>
            </a:r>
            <a:r>
              <a:rPr sz="1100" spc="65" dirty="0">
                <a:latin typeface="Georgia"/>
                <a:cs typeface="Georgia"/>
              </a:rPr>
              <a:t> </a:t>
            </a:r>
            <a:r>
              <a:rPr sz="1100" spc="-10" dirty="0">
                <a:latin typeface="Georgia"/>
                <a:cs typeface="Georgia"/>
              </a:rPr>
              <a:t>attribute/variable</a:t>
            </a:r>
            <a:endParaRPr sz="1100">
              <a:latin typeface="Georgia"/>
              <a:cs typeface="Georgia"/>
            </a:endParaRPr>
          </a:p>
          <a:p>
            <a:pPr marL="38100">
              <a:lnSpc>
                <a:spcPts val="1235"/>
              </a:lnSpc>
            </a:pPr>
            <a:r>
              <a:rPr sz="1100" i="1" spc="240" dirty="0">
                <a:latin typeface="Calibri"/>
                <a:cs typeface="Calibri"/>
              </a:rPr>
              <a:t>X</a:t>
            </a:r>
            <a:r>
              <a:rPr sz="1200" i="1" spc="359" baseline="-10416" dirty="0">
                <a:latin typeface="Calibri"/>
                <a:cs typeface="Calibri"/>
              </a:rPr>
              <a:t>j</a:t>
            </a:r>
            <a:r>
              <a:rPr sz="1200" i="1" spc="300" baseline="-10416" dirty="0">
                <a:latin typeface="Calibri"/>
                <a:cs typeface="Calibri"/>
              </a:rPr>
              <a:t> </a:t>
            </a:r>
            <a:r>
              <a:rPr sz="1100" dirty="0">
                <a:latin typeface="Georgia"/>
                <a:cs typeface="Georgia"/>
              </a:rPr>
              <a:t>is</a:t>
            </a:r>
            <a:r>
              <a:rPr sz="1100" spc="45" dirty="0">
                <a:latin typeface="Georgia"/>
                <a:cs typeface="Georgia"/>
              </a:rPr>
              <a:t> </a:t>
            </a:r>
            <a:r>
              <a:rPr sz="1100" spc="-40" dirty="0">
                <a:latin typeface="Georgia"/>
                <a:cs typeface="Georgia"/>
              </a:rPr>
              <a:t>numeric</a:t>
            </a:r>
            <a:r>
              <a:rPr sz="1100" spc="45" dirty="0">
                <a:latin typeface="Georgia"/>
                <a:cs typeface="Georgia"/>
              </a:rPr>
              <a:t> </a:t>
            </a:r>
            <a:r>
              <a:rPr sz="1100" dirty="0">
                <a:latin typeface="Georgia"/>
                <a:cs typeface="Georgia"/>
              </a:rPr>
              <a:t>or</a:t>
            </a:r>
            <a:r>
              <a:rPr sz="1100" spc="45" dirty="0">
                <a:latin typeface="Georgia"/>
                <a:cs typeface="Georgia"/>
              </a:rPr>
              <a:t> </a:t>
            </a:r>
            <a:r>
              <a:rPr sz="1100" spc="-10" dirty="0">
                <a:latin typeface="Georgia"/>
                <a:cs typeface="Georgia"/>
              </a:rPr>
              <a:t>categorical.</a:t>
            </a:r>
            <a:endParaRPr sz="1100">
              <a:latin typeface="Georgia"/>
              <a:cs typeface="Georgia"/>
            </a:endParaRPr>
          </a:p>
        </p:txBody>
      </p:sp>
      <p:sp>
        <p:nvSpPr>
          <p:cNvPr id="6" name="object 6"/>
          <p:cNvSpPr/>
          <p:nvPr/>
        </p:nvSpPr>
        <p:spPr>
          <a:xfrm>
            <a:off x="337972" y="205572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txBox="1"/>
          <p:nvPr/>
        </p:nvSpPr>
        <p:spPr>
          <a:xfrm>
            <a:off x="428777" y="1964117"/>
            <a:ext cx="4949190" cy="191770"/>
          </a:xfrm>
          <a:prstGeom prst="rect">
            <a:avLst/>
          </a:prstGeom>
        </p:spPr>
        <p:txBody>
          <a:bodyPr vert="horz" wrap="square" lIns="0" tIns="11430" rIns="0" bIns="0" rtlCol="0">
            <a:spAutoFit/>
          </a:bodyPr>
          <a:lstStyle/>
          <a:p>
            <a:pPr marL="38100">
              <a:lnSpc>
                <a:spcPct val="100000"/>
              </a:lnSpc>
              <a:spcBef>
                <a:spcPts val="90"/>
              </a:spcBef>
            </a:pPr>
            <a:r>
              <a:rPr sz="1100" dirty="0">
                <a:latin typeface="Georgia"/>
                <a:cs typeface="Georgia"/>
              </a:rPr>
              <a:t>Let</a:t>
            </a:r>
            <a:r>
              <a:rPr sz="1100" spc="30" dirty="0">
                <a:latin typeface="Georgia"/>
                <a:cs typeface="Georgia"/>
              </a:rPr>
              <a:t> </a:t>
            </a:r>
            <a:r>
              <a:rPr sz="1100" spc="114" dirty="0">
                <a:latin typeface="Cambria"/>
                <a:cs typeface="Cambria"/>
              </a:rPr>
              <a:t>D</a:t>
            </a:r>
            <a:r>
              <a:rPr sz="1100" spc="65" dirty="0">
                <a:latin typeface="Cambria"/>
                <a:cs typeface="Cambria"/>
              </a:rPr>
              <a:t> </a:t>
            </a:r>
            <a:r>
              <a:rPr sz="1100" spc="295" dirty="0">
                <a:latin typeface="Calibri"/>
                <a:cs typeface="Calibri"/>
              </a:rPr>
              <a:t>=</a:t>
            </a:r>
            <a:r>
              <a:rPr sz="1100" spc="30" dirty="0">
                <a:latin typeface="Calibri"/>
                <a:cs typeface="Calibri"/>
              </a:rPr>
              <a:t> </a:t>
            </a:r>
            <a:r>
              <a:rPr sz="1100" spc="80" dirty="0">
                <a:latin typeface="Cambria"/>
                <a:cs typeface="Cambria"/>
              </a:rPr>
              <a:t>{x</a:t>
            </a:r>
            <a:r>
              <a:rPr sz="1200" spc="120" baseline="-10416" dirty="0">
                <a:latin typeface="Calibri"/>
                <a:cs typeface="Calibri"/>
              </a:rPr>
              <a:t>1</a:t>
            </a:r>
            <a:r>
              <a:rPr sz="1100" i="1" spc="80" dirty="0">
                <a:latin typeface="Calibri"/>
                <a:cs typeface="Calibri"/>
              </a:rPr>
              <a:t>,</a:t>
            </a:r>
            <a:r>
              <a:rPr sz="1100" i="1" spc="-70" dirty="0">
                <a:latin typeface="Calibri"/>
                <a:cs typeface="Calibri"/>
              </a:rPr>
              <a:t> </a:t>
            </a:r>
            <a:r>
              <a:rPr sz="1100" spc="100" dirty="0">
                <a:latin typeface="Cambria"/>
                <a:cs typeface="Cambria"/>
              </a:rPr>
              <a:t>x</a:t>
            </a:r>
            <a:r>
              <a:rPr sz="1200" spc="150" baseline="-10416" dirty="0">
                <a:latin typeface="Calibri"/>
                <a:cs typeface="Calibri"/>
              </a:rPr>
              <a:t>2</a:t>
            </a:r>
            <a:r>
              <a:rPr sz="1100" i="1" spc="10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25" dirty="0">
                <a:latin typeface="Cambria"/>
                <a:cs typeface="Cambria"/>
              </a:rPr>
              <a:t>x</a:t>
            </a:r>
            <a:r>
              <a:rPr sz="1200" i="1" spc="187" baseline="-10416" dirty="0">
                <a:latin typeface="Calibri"/>
                <a:cs typeface="Calibri"/>
              </a:rPr>
              <a:t>n</a:t>
            </a:r>
            <a:r>
              <a:rPr sz="1100" spc="125" dirty="0">
                <a:latin typeface="Cambria"/>
                <a:cs typeface="Cambria"/>
              </a:rPr>
              <a:t>}</a:t>
            </a:r>
            <a:r>
              <a:rPr sz="1100" spc="90" dirty="0">
                <a:latin typeface="Cambria"/>
                <a:cs typeface="Cambria"/>
              </a:rPr>
              <a:t> </a:t>
            </a:r>
            <a:r>
              <a:rPr sz="1100" dirty="0">
                <a:latin typeface="Georgia"/>
                <a:cs typeface="Georgia"/>
              </a:rPr>
              <a:t>be</a:t>
            </a:r>
            <a:r>
              <a:rPr sz="1100" spc="70" dirty="0">
                <a:latin typeface="Georgia"/>
                <a:cs typeface="Georgia"/>
              </a:rPr>
              <a:t> </a:t>
            </a:r>
            <a:r>
              <a:rPr sz="1100" dirty="0">
                <a:latin typeface="Georgia"/>
                <a:cs typeface="Georgia"/>
              </a:rPr>
              <a:t>a</a:t>
            </a:r>
            <a:r>
              <a:rPr sz="1100" spc="70" dirty="0">
                <a:latin typeface="Georgia"/>
                <a:cs typeface="Georgia"/>
              </a:rPr>
              <a:t> </a:t>
            </a:r>
            <a:r>
              <a:rPr sz="1100" dirty="0">
                <a:latin typeface="Georgia"/>
                <a:cs typeface="Georgia"/>
              </a:rPr>
              <a:t>data</a:t>
            </a:r>
            <a:r>
              <a:rPr sz="1100" spc="70" dirty="0">
                <a:latin typeface="Georgia"/>
                <a:cs typeface="Georgia"/>
              </a:rPr>
              <a:t> </a:t>
            </a:r>
            <a:r>
              <a:rPr sz="1100" spc="-25" dirty="0">
                <a:latin typeface="Georgia"/>
                <a:cs typeface="Georgia"/>
              </a:rPr>
              <a:t>sample</a:t>
            </a:r>
            <a:r>
              <a:rPr sz="1100" spc="70" dirty="0">
                <a:latin typeface="Georgia"/>
                <a:cs typeface="Georgia"/>
              </a:rPr>
              <a:t> </a:t>
            </a:r>
            <a:r>
              <a:rPr sz="1100" dirty="0">
                <a:latin typeface="Georgia"/>
                <a:cs typeface="Georgia"/>
              </a:rPr>
              <a:t>or</a:t>
            </a:r>
            <a:r>
              <a:rPr sz="1100" spc="70" dirty="0">
                <a:latin typeface="Georgia"/>
                <a:cs typeface="Georgia"/>
              </a:rPr>
              <a:t> </a:t>
            </a:r>
            <a:r>
              <a:rPr sz="1100" dirty="0">
                <a:latin typeface="Georgia"/>
                <a:cs typeface="Georgia"/>
              </a:rPr>
              <a:t>dataset</a:t>
            </a:r>
            <a:r>
              <a:rPr sz="1100" spc="70" dirty="0">
                <a:latin typeface="Georgia"/>
                <a:cs typeface="Georgia"/>
              </a:rPr>
              <a:t> </a:t>
            </a:r>
            <a:r>
              <a:rPr sz="1100" spc="-25" dirty="0">
                <a:latin typeface="Georgia"/>
                <a:cs typeface="Georgia"/>
              </a:rPr>
              <a:t>consisting</a:t>
            </a:r>
            <a:r>
              <a:rPr sz="1100" spc="65" dirty="0">
                <a:latin typeface="Georgia"/>
                <a:cs typeface="Georgia"/>
              </a:rPr>
              <a:t> </a:t>
            </a:r>
            <a:r>
              <a:rPr sz="1100" dirty="0">
                <a:latin typeface="Georgia"/>
                <a:cs typeface="Georgia"/>
              </a:rPr>
              <a:t>of</a:t>
            </a:r>
            <a:r>
              <a:rPr sz="1100" spc="70" dirty="0">
                <a:latin typeface="Georgia"/>
                <a:cs typeface="Georgia"/>
              </a:rPr>
              <a:t> </a:t>
            </a:r>
            <a:r>
              <a:rPr sz="1100" i="1" spc="90" dirty="0">
                <a:latin typeface="Calibri"/>
                <a:cs typeface="Calibri"/>
              </a:rPr>
              <a:t>n</a:t>
            </a:r>
            <a:r>
              <a:rPr sz="1100" i="1" spc="85" dirty="0">
                <a:latin typeface="Calibri"/>
                <a:cs typeface="Calibri"/>
              </a:rPr>
              <a:t> </a:t>
            </a:r>
            <a:r>
              <a:rPr sz="1100" dirty="0">
                <a:latin typeface="Georgia"/>
                <a:cs typeface="Georgia"/>
              </a:rPr>
              <a:t>data</a:t>
            </a:r>
            <a:r>
              <a:rPr sz="1100" spc="70" dirty="0">
                <a:latin typeface="Georgia"/>
                <a:cs typeface="Georgia"/>
              </a:rPr>
              <a:t> </a:t>
            </a:r>
            <a:r>
              <a:rPr sz="1100" spc="-10" dirty="0">
                <a:latin typeface="Georgia"/>
                <a:cs typeface="Georgia"/>
              </a:rPr>
              <a:t>points</a:t>
            </a:r>
            <a:endParaRPr sz="1100">
              <a:latin typeface="Georgia"/>
              <a:cs typeface="Georgia"/>
            </a:endParaRPr>
          </a:p>
        </p:txBody>
      </p:sp>
      <p:sp>
        <p:nvSpPr>
          <p:cNvPr id="8" name="object 8"/>
          <p:cNvSpPr txBox="1"/>
          <p:nvPr/>
        </p:nvSpPr>
        <p:spPr>
          <a:xfrm>
            <a:off x="428777" y="2038423"/>
            <a:ext cx="5159375" cy="648335"/>
          </a:xfrm>
          <a:prstGeom prst="rect">
            <a:avLst/>
          </a:prstGeom>
        </p:spPr>
        <p:txBody>
          <a:bodyPr vert="horz" wrap="square" lIns="0" tIns="83185" rIns="0" bIns="0" rtlCol="0">
            <a:spAutoFit/>
          </a:bodyPr>
          <a:lstStyle/>
          <a:p>
            <a:pPr marL="38100">
              <a:lnSpc>
                <a:spcPct val="100000"/>
              </a:lnSpc>
              <a:spcBef>
                <a:spcPts val="655"/>
              </a:spcBef>
            </a:pPr>
            <a:r>
              <a:rPr sz="1100" dirty="0">
                <a:latin typeface="Georgia"/>
                <a:cs typeface="Georgia"/>
              </a:rPr>
              <a:t>(a.k.a</a:t>
            </a:r>
            <a:r>
              <a:rPr sz="1100" spc="20" dirty="0">
                <a:latin typeface="Georgia"/>
                <a:cs typeface="Georgia"/>
              </a:rPr>
              <a:t> </a:t>
            </a:r>
            <a:r>
              <a:rPr sz="1100" dirty="0">
                <a:latin typeface="Georgia"/>
                <a:cs typeface="Georgia"/>
              </a:rPr>
              <a:t>data</a:t>
            </a:r>
            <a:r>
              <a:rPr sz="1100" spc="75" dirty="0">
                <a:latin typeface="Georgia"/>
                <a:cs typeface="Georgia"/>
              </a:rPr>
              <a:t> </a:t>
            </a:r>
            <a:r>
              <a:rPr sz="1100" spc="-25" dirty="0">
                <a:latin typeface="Georgia"/>
                <a:cs typeface="Georgia"/>
              </a:rPr>
              <a:t>instances,</a:t>
            </a:r>
            <a:r>
              <a:rPr sz="1100" spc="75" dirty="0">
                <a:latin typeface="Georgia"/>
                <a:cs typeface="Georgia"/>
              </a:rPr>
              <a:t> </a:t>
            </a:r>
            <a:r>
              <a:rPr sz="1100" spc="-30" dirty="0">
                <a:latin typeface="Georgia"/>
                <a:cs typeface="Georgia"/>
              </a:rPr>
              <a:t>observations,</a:t>
            </a:r>
            <a:r>
              <a:rPr sz="1100" spc="75" dirty="0">
                <a:latin typeface="Georgia"/>
                <a:cs typeface="Georgia"/>
              </a:rPr>
              <a:t> </a:t>
            </a:r>
            <a:r>
              <a:rPr sz="1100" spc="-25" dirty="0">
                <a:latin typeface="Georgia"/>
                <a:cs typeface="Georgia"/>
              </a:rPr>
              <a:t>examples,</a:t>
            </a:r>
            <a:r>
              <a:rPr sz="1100" spc="75" dirty="0">
                <a:latin typeface="Georgia"/>
                <a:cs typeface="Georgia"/>
              </a:rPr>
              <a:t> </a:t>
            </a:r>
            <a:r>
              <a:rPr sz="1100" dirty="0">
                <a:latin typeface="Georgia"/>
                <a:cs typeface="Georgia"/>
              </a:rPr>
              <a:t>or</a:t>
            </a:r>
            <a:r>
              <a:rPr sz="1100" spc="75" dirty="0">
                <a:latin typeface="Georgia"/>
                <a:cs typeface="Georgia"/>
              </a:rPr>
              <a:t> </a:t>
            </a:r>
            <a:r>
              <a:rPr sz="1100" spc="-10" dirty="0">
                <a:latin typeface="Georgia"/>
                <a:cs typeface="Georgia"/>
              </a:rPr>
              <a:t>tuples)</a:t>
            </a:r>
            <a:r>
              <a:rPr sz="1100" spc="70" dirty="0">
                <a:latin typeface="Georgia"/>
                <a:cs typeface="Georgia"/>
              </a:rPr>
              <a:t> </a:t>
            </a:r>
            <a:r>
              <a:rPr sz="1100" spc="105" dirty="0">
                <a:latin typeface="Cambria"/>
                <a:cs typeface="Cambria"/>
              </a:rPr>
              <a:t>x</a:t>
            </a:r>
            <a:r>
              <a:rPr sz="1200" i="1" spc="157" baseline="-10416" dirty="0">
                <a:latin typeface="Calibri"/>
                <a:cs typeface="Calibri"/>
              </a:rPr>
              <a:t>i</a:t>
            </a:r>
            <a:r>
              <a:rPr sz="1200" i="1" spc="217" baseline="-10416" dirty="0">
                <a:latin typeface="Calibri"/>
                <a:cs typeface="Calibri"/>
              </a:rPr>
              <a:t> </a:t>
            </a:r>
            <a:r>
              <a:rPr sz="1100" spc="295" dirty="0">
                <a:latin typeface="Calibri"/>
                <a:cs typeface="Calibri"/>
              </a:rPr>
              <a:t>=</a:t>
            </a:r>
            <a:r>
              <a:rPr sz="1100" spc="40" dirty="0">
                <a:latin typeface="Calibri"/>
                <a:cs typeface="Calibri"/>
              </a:rPr>
              <a:t> </a:t>
            </a:r>
            <a:r>
              <a:rPr sz="1100" spc="80" dirty="0">
                <a:latin typeface="Calibri"/>
                <a:cs typeface="Calibri"/>
              </a:rPr>
              <a:t>(</a:t>
            </a:r>
            <a:r>
              <a:rPr sz="1100" i="1" spc="80" dirty="0">
                <a:latin typeface="Calibri"/>
                <a:cs typeface="Calibri"/>
              </a:rPr>
              <a:t>x</a:t>
            </a:r>
            <a:r>
              <a:rPr sz="1200" spc="120" baseline="-10416" dirty="0">
                <a:latin typeface="Calibri"/>
                <a:cs typeface="Calibri"/>
              </a:rPr>
              <a:t>1</a:t>
            </a:r>
            <a:r>
              <a:rPr sz="1100" i="1" spc="80" dirty="0">
                <a:latin typeface="Calibri"/>
                <a:cs typeface="Calibri"/>
              </a:rPr>
              <a:t>,</a:t>
            </a:r>
            <a:r>
              <a:rPr sz="1100" i="1" spc="-70" dirty="0">
                <a:latin typeface="Calibri"/>
                <a:cs typeface="Calibri"/>
              </a:rPr>
              <a:t> </a:t>
            </a:r>
            <a:r>
              <a:rPr sz="1100" i="1" spc="110" dirty="0">
                <a:latin typeface="Calibri"/>
                <a:cs typeface="Calibri"/>
              </a:rPr>
              <a:t>x</a:t>
            </a:r>
            <a:r>
              <a:rPr sz="1200" spc="165" baseline="-10416" dirty="0">
                <a:latin typeface="Calibri"/>
                <a:cs typeface="Calibri"/>
              </a:rPr>
              <a:t>2</a:t>
            </a:r>
            <a:r>
              <a:rPr sz="1100" i="1" spc="11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00" dirty="0">
                <a:latin typeface="Calibri"/>
                <a:cs typeface="Calibri"/>
              </a:rPr>
              <a:t>x</a:t>
            </a:r>
            <a:r>
              <a:rPr sz="1200" i="1" spc="150" baseline="-13888" dirty="0">
                <a:latin typeface="Calibri"/>
                <a:cs typeface="Calibri"/>
              </a:rPr>
              <a:t>d</a:t>
            </a:r>
            <a:r>
              <a:rPr sz="1100" spc="100" dirty="0">
                <a:latin typeface="Calibri"/>
                <a:cs typeface="Calibri"/>
              </a:rPr>
              <a:t>)</a:t>
            </a:r>
            <a:r>
              <a:rPr sz="1100" spc="35"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spc="130" dirty="0">
                <a:latin typeface="Cambria"/>
                <a:cs typeface="Cambria"/>
              </a:rPr>
              <a:t>X</a:t>
            </a:r>
            <a:r>
              <a:rPr sz="1100" spc="130" dirty="0">
                <a:latin typeface="Georgia"/>
                <a:cs typeface="Georgia"/>
              </a:rPr>
              <a:t>.</a:t>
            </a:r>
            <a:endParaRPr sz="1100">
              <a:latin typeface="Georgia"/>
              <a:cs typeface="Georgia"/>
            </a:endParaRPr>
          </a:p>
          <a:p>
            <a:pPr marL="38100" marR="30480">
              <a:lnSpc>
                <a:spcPts val="1150"/>
              </a:lnSpc>
              <a:spcBef>
                <a:spcPts val="735"/>
              </a:spcBef>
            </a:pPr>
            <a:r>
              <a:rPr sz="1100" dirty="0">
                <a:latin typeface="Georgia"/>
                <a:cs typeface="Georgia"/>
              </a:rPr>
              <a:t>Data</a:t>
            </a:r>
            <a:r>
              <a:rPr sz="1100" spc="50" dirty="0">
                <a:latin typeface="Georgia"/>
                <a:cs typeface="Georgia"/>
              </a:rPr>
              <a:t> </a:t>
            </a:r>
            <a:r>
              <a:rPr sz="1100" spc="-20" dirty="0">
                <a:latin typeface="Georgia"/>
                <a:cs typeface="Georgia"/>
              </a:rPr>
              <a:t>clustering</a:t>
            </a:r>
            <a:r>
              <a:rPr sz="1100" spc="50" dirty="0">
                <a:latin typeface="Georgia"/>
                <a:cs typeface="Georgia"/>
              </a:rPr>
              <a:t> </a:t>
            </a:r>
            <a:r>
              <a:rPr sz="1100" dirty="0">
                <a:latin typeface="Georgia"/>
                <a:cs typeface="Georgia"/>
              </a:rPr>
              <a:t>is</a:t>
            </a:r>
            <a:r>
              <a:rPr sz="1100" spc="50" dirty="0">
                <a:latin typeface="Georgia"/>
                <a:cs typeface="Georgia"/>
              </a:rPr>
              <a:t> </a:t>
            </a:r>
            <a:r>
              <a:rPr sz="1100" dirty="0">
                <a:latin typeface="Georgia"/>
                <a:cs typeface="Georgia"/>
              </a:rPr>
              <a:t>to</a:t>
            </a:r>
            <a:r>
              <a:rPr sz="1100" spc="50" dirty="0">
                <a:latin typeface="Georgia"/>
                <a:cs typeface="Georgia"/>
              </a:rPr>
              <a:t> </a:t>
            </a:r>
            <a:r>
              <a:rPr sz="1100" spc="-10" dirty="0">
                <a:latin typeface="Georgia"/>
                <a:cs typeface="Georgia"/>
              </a:rPr>
              <a:t>use</a:t>
            </a:r>
            <a:r>
              <a:rPr sz="1100" spc="50" dirty="0">
                <a:latin typeface="Georgia"/>
                <a:cs typeface="Georgia"/>
              </a:rPr>
              <a:t> </a:t>
            </a:r>
            <a:r>
              <a:rPr sz="1100" dirty="0">
                <a:latin typeface="Georgia"/>
                <a:cs typeface="Georgia"/>
              </a:rPr>
              <a:t>a</a:t>
            </a:r>
            <a:r>
              <a:rPr sz="1100" spc="50" dirty="0">
                <a:latin typeface="Georgia"/>
                <a:cs typeface="Georgia"/>
              </a:rPr>
              <a:t> </a:t>
            </a:r>
            <a:r>
              <a:rPr sz="1100" spc="-20" dirty="0">
                <a:latin typeface="Georgia"/>
                <a:cs typeface="Georgia"/>
              </a:rPr>
              <a:t>clustering</a:t>
            </a:r>
            <a:r>
              <a:rPr sz="1100" spc="50" dirty="0">
                <a:latin typeface="Georgia"/>
                <a:cs typeface="Georgia"/>
              </a:rPr>
              <a:t> </a:t>
            </a:r>
            <a:r>
              <a:rPr sz="1100" spc="-30" dirty="0">
                <a:latin typeface="Georgia"/>
                <a:cs typeface="Georgia"/>
              </a:rPr>
              <a:t>technique</a:t>
            </a:r>
            <a:r>
              <a:rPr sz="1100" spc="55" dirty="0">
                <a:latin typeface="Georgia"/>
                <a:cs typeface="Georgia"/>
              </a:rPr>
              <a:t> </a:t>
            </a:r>
            <a:r>
              <a:rPr sz="1100" dirty="0">
                <a:latin typeface="Georgia"/>
                <a:cs typeface="Georgia"/>
              </a:rPr>
              <a:t>or</a:t>
            </a:r>
            <a:r>
              <a:rPr sz="1100" spc="50" dirty="0">
                <a:latin typeface="Georgia"/>
                <a:cs typeface="Georgia"/>
              </a:rPr>
              <a:t> </a:t>
            </a:r>
            <a:r>
              <a:rPr sz="1100" spc="-20" dirty="0">
                <a:latin typeface="Georgia"/>
                <a:cs typeface="Georgia"/>
              </a:rPr>
              <a:t>algorithm</a:t>
            </a:r>
            <a:r>
              <a:rPr sz="1100" spc="50" dirty="0">
                <a:latin typeface="Georgia"/>
                <a:cs typeface="Georgia"/>
              </a:rPr>
              <a:t> </a:t>
            </a:r>
            <a:r>
              <a:rPr sz="1100" i="1" spc="175" dirty="0">
                <a:latin typeface="Calibri"/>
                <a:cs typeface="Calibri"/>
              </a:rPr>
              <a:t>A</a:t>
            </a:r>
            <a:r>
              <a:rPr sz="1100" i="1" spc="65" dirty="0">
                <a:latin typeface="Calibri"/>
                <a:cs typeface="Calibri"/>
              </a:rPr>
              <a:t> </a:t>
            </a:r>
            <a:r>
              <a:rPr sz="1100" dirty="0">
                <a:latin typeface="Georgia"/>
                <a:cs typeface="Georgia"/>
              </a:rPr>
              <a:t>to</a:t>
            </a:r>
            <a:r>
              <a:rPr sz="1100" spc="50" dirty="0">
                <a:latin typeface="Georgia"/>
                <a:cs typeface="Georgia"/>
              </a:rPr>
              <a:t> </a:t>
            </a:r>
            <a:r>
              <a:rPr sz="1100" spc="-25" dirty="0">
                <a:latin typeface="Georgia"/>
                <a:cs typeface="Georgia"/>
              </a:rPr>
              <a:t>assign</a:t>
            </a:r>
            <a:r>
              <a:rPr sz="1100" spc="50" dirty="0">
                <a:latin typeface="Georgia"/>
                <a:cs typeface="Georgia"/>
              </a:rPr>
              <a:t> </a:t>
            </a:r>
            <a:r>
              <a:rPr sz="1100" dirty="0">
                <a:latin typeface="Georgia"/>
                <a:cs typeface="Georgia"/>
              </a:rPr>
              <a:t>data</a:t>
            </a:r>
            <a:r>
              <a:rPr sz="1100" spc="50" dirty="0">
                <a:latin typeface="Georgia"/>
                <a:cs typeface="Georgia"/>
              </a:rPr>
              <a:t> </a:t>
            </a:r>
            <a:r>
              <a:rPr sz="1100" spc="-10" dirty="0">
                <a:latin typeface="Georgia"/>
                <a:cs typeface="Georgia"/>
              </a:rPr>
              <a:t>points </a:t>
            </a:r>
            <a:r>
              <a:rPr sz="1100" dirty="0">
                <a:latin typeface="Georgia"/>
                <a:cs typeface="Georgia"/>
              </a:rPr>
              <a:t>in</a:t>
            </a:r>
            <a:r>
              <a:rPr sz="1100" spc="30" dirty="0">
                <a:latin typeface="Georgia"/>
                <a:cs typeface="Georgia"/>
              </a:rPr>
              <a:t> </a:t>
            </a:r>
            <a:r>
              <a:rPr sz="1100" spc="114" dirty="0">
                <a:latin typeface="Cambria"/>
                <a:cs typeface="Cambria"/>
              </a:rPr>
              <a:t>D</a:t>
            </a:r>
            <a:r>
              <a:rPr sz="1100" spc="70" dirty="0">
                <a:latin typeface="Cambria"/>
                <a:cs typeface="Cambria"/>
              </a:rPr>
              <a:t> </a:t>
            </a:r>
            <a:r>
              <a:rPr sz="1100" dirty="0">
                <a:latin typeface="Georgia"/>
                <a:cs typeface="Georgia"/>
              </a:rPr>
              <a:t>into</a:t>
            </a:r>
            <a:r>
              <a:rPr sz="1100" spc="35" dirty="0">
                <a:latin typeface="Georgia"/>
                <a:cs typeface="Georgia"/>
              </a:rPr>
              <a:t> </a:t>
            </a:r>
            <a:r>
              <a:rPr sz="1100" dirty="0">
                <a:latin typeface="Georgia"/>
                <a:cs typeface="Georgia"/>
              </a:rPr>
              <a:t>their</a:t>
            </a:r>
            <a:r>
              <a:rPr sz="1100" spc="30" dirty="0">
                <a:latin typeface="Georgia"/>
                <a:cs typeface="Georgia"/>
              </a:rPr>
              <a:t> </a:t>
            </a:r>
            <a:r>
              <a:rPr sz="1100" spc="-10" dirty="0">
                <a:latin typeface="Georgia"/>
                <a:cs typeface="Georgia"/>
              </a:rPr>
              <a:t>most</a:t>
            </a:r>
            <a:r>
              <a:rPr sz="1100" spc="30" dirty="0">
                <a:latin typeface="Georgia"/>
                <a:cs typeface="Georgia"/>
              </a:rPr>
              <a:t> </a:t>
            </a:r>
            <a:r>
              <a:rPr sz="1100" spc="-10" dirty="0">
                <a:latin typeface="Georgia"/>
                <a:cs typeface="Georgia"/>
              </a:rPr>
              <a:t>likely</a:t>
            </a:r>
            <a:r>
              <a:rPr sz="1100" spc="30" dirty="0">
                <a:latin typeface="Georgia"/>
                <a:cs typeface="Georgia"/>
              </a:rPr>
              <a:t> </a:t>
            </a:r>
            <a:r>
              <a:rPr sz="1100" spc="-10" dirty="0">
                <a:latin typeface="Georgia"/>
                <a:cs typeface="Georgia"/>
              </a:rPr>
              <a:t>clusters.</a:t>
            </a:r>
            <a:r>
              <a:rPr sz="1100" spc="125"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clustering</a:t>
            </a:r>
            <a:r>
              <a:rPr sz="1100" spc="30" dirty="0">
                <a:latin typeface="Georgia"/>
                <a:cs typeface="Georgia"/>
              </a:rPr>
              <a:t> </a:t>
            </a:r>
            <a:r>
              <a:rPr sz="1100" spc="-20" dirty="0">
                <a:latin typeface="Georgia"/>
                <a:cs typeface="Georgia"/>
              </a:rPr>
              <a:t>results</a:t>
            </a:r>
            <a:r>
              <a:rPr sz="1100" spc="30" dirty="0">
                <a:latin typeface="Georgia"/>
                <a:cs typeface="Georgia"/>
              </a:rPr>
              <a:t> </a:t>
            </a:r>
            <a:r>
              <a:rPr sz="1100" dirty="0">
                <a:latin typeface="Georgia"/>
                <a:cs typeface="Georgia"/>
              </a:rPr>
              <a:t>are</a:t>
            </a:r>
            <a:r>
              <a:rPr sz="1100" spc="30" dirty="0">
                <a:latin typeface="Georgia"/>
                <a:cs typeface="Georgia"/>
              </a:rPr>
              <a:t> </a:t>
            </a:r>
            <a:r>
              <a:rPr sz="1100" dirty="0">
                <a:latin typeface="Georgia"/>
                <a:cs typeface="Georgia"/>
              </a:rPr>
              <a:t>a</a:t>
            </a:r>
            <a:r>
              <a:rPr sz="1100" spc="35" dirty="0">
                <a:latin typeface="Georgia"/>
                <a:cs typeface="Georgia"/>
              </a:rPr>
              <a:t> </a:t>
            </a:r>
            <a:r>
              <a:rPr sz="1100" dirty="0">
                <a:latin typeface="Georgia"/>
                <a:cs typeface="Georgia"/>
              </a:rPr>
              <a:t>set</a:t>
            </a:r>
            <a:r>
              <a:rPr sz="1100" spc="30" dirty="0">
                <a:latin typeface="Georgia"/>
                <a:cs typeface="Georgia"/>
              </a:rPr>
              <a:t> </a:t>
            </a:r>
            <a:r>
              <a:rPr sz="1100" dirty="0">
                <a:latin typeface="Georgia"/>
                <a:cs typeface="Georgia"/>
              </a:rPr>
              <a:t>of</a:t>
            </a:r>
            <a:r>
              <a:rPr sz="1100" spc="30" dirty="0">
                <a:latin typeface="Georgia"/>
                <a:cs typeface="Georgia"/>
              </a:rPr>
              <a:t> </a:t>
            </a:r>
            <a:r>
              <a:rPr sz="1100" i="1" spc="65" dirty="0">
                <a:latin typeface="Calibri"/>
                <a:cs typeface="Calibri"/>
              </a:rPr>
              <a:t>k</a:t>
            </a:r>
            <a:r>
              <a:rPr sz="1100" i="1" spc="75" dirty="0">
                <a:latin typeface="Calibri"/>
                <a:cs typeface="Calibri"/>
              </a:rPr>
              <a:t> </a:t>
            </a:r>
            <a:r>
              <a:rPr sz="1100" spc="-10" dirty="0">
                <a:latin typeface="Georgia"/>
                <a:cs typeface="Georgia"/>
              </a:rPr>
              <a:t>clusters</a:t>
            </a:r>
            <a:endParaRPr sz="1100">
              <a:latin typeface="Georgia"/>
              <a:cs typeface="Georgia"/>
            </a:endParaRPr>
          </a:p>
        </p:txBody>
      </p:sp>
      <p:sp>
        <p:nvSpPr>
          <p:cNvPr id="9" name="object 9"/>
          <p:cNvSpPr/>
          <p:nvPr/>
        </p:nvSpPr>
        <p:spPr>
          <a:xfrm>
            <a:off x="337972" y="244020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0" name="object 10"/>
          <p:cNvSpPr txBox="1"/>
          <p:nvPr/>
        </p:nvSpPr>
        <p:spPr>
          <a:xfrm>
            <a:off x="416077" y="2641128"/>
            <a:ext cx="5036820" cy="338455"/>
          </a:xfrm>
          <a:prstGeom prst="rect">
            <a:avLst/>
          </a:prstGeom>
        </p:spPr>
        <p:txBody>
          <a:bodyPr vert="horz" wrap="square" lIns="0" tIns="34290" rIns="0" bIns="0" rtlCol="0">
            <a:spAutoFit/>
          </a:bodyPr>
          <a:lstStyle/>
          <a:p>
            <a:pPr marL="104775" marR="43180" indent="-54610">
              <a:lnSpc>
                <a:spcPts val="1150"/>
              </a:lnSpc>
              <a:spcBef>
                <a:spcPts val="270"/>
              </a:spcBef>
            </a:pPr>
            <a:r>
              <a:rPr sz="1650" spc="-405" baseline="-58080" dirty="0">
                <a:latin typeface="Georgia"/>
                <a:cs typeface="Georgia"/>
              </a:rPr>
              <a:t>s</a:t>
            </a:r>
            <a:r>
              <a:rPr sz="1100" spc="-270" dirty="0">
                <a:latin typeface="Cambria"/>
                <a:cs typeface="Cambria"/>
              </a:rPr>
              <a:t>C</a:t>
            </a:r>
            <a:r>
              <a:rPr sz="1100" spc="114" dirty="0">
                <a:latin typeface="Cambria"/>
                <a:cs typeface="Cambria"/>
              </a:rPr>
              <a:t> </a:t>
            </a:r>
            <a:r>
              <a:rPr sz="1100" spc="295" dirty="0">
                <a:latin typeface="Calibri"/>
                <a:cs typeface="Calibri"/>
              </a:rPr>
              <a:t>=</a:t>
            </a:r>
            <a:r>
              <a:rPr sz="1100" spc="-55" dirty="0">
                <a:latin typeface="Calibri"/>
                <a:cs typeface="Calibri"/>
              </a:rPr>
              <a:t> </a:t>
            </a:r>
            <a:r>
              <a:rPr sz="1100" spc="100" dirty="0">
                <a:latin typeface="Cambria"/>
                <a:cs typeface="Cambria"/>
              </a:rPr>
              <a:t>{</a:t>
            </a:r>
            <a:r>
              <a:rPr sz="1100" i="1" spc="100" dirty="0">
                <a:latin typeface="Calibri"/>
                <a:cs typeface="Calibri"/>
              </a:rPr>
              <a:t>C</a:t>
            </a:r>
            <a:r>
              <a:rPr sz="1200" spc="150" baseline="-10416" dirty="0">
                <a:latin typeface="Calibri"/>
                <a:cs typeface="Calibri"/>
              </a:rPr>
              <a:t>1</a:t>
            </a:r>
            <a:r>
              <a:rPr sz="1100" i="1" spc="100" dirty="0">
                <a:latin typeface="Calibri"/>
                <a:cs typeface="Calibri"/>
              </a:rPr>
              <a:t>,</a:t>
            </a:r>
            <a:r>
              <a:rPr sz="1100" i="1" spc="-70" dirty="0">
                <a:latin typeface="Calibri"/>
                <a:cs typeface="Calibri"/>
              </a:rPr>
              <a:t> </a:t>
            </a:r>
            <a:r>
              <a:rPr sz="1100" i="1" spc="125" dirty="0">
                <a:latin typeface="Calibri"/>
                <a:cs typeface="Calibri"/>
              </a:rPr>
              <a:t>C</a:t>
            </a:r>
            <a:r>
              <a:rPr sz="1200" spc="187" baseline="-10416" dirty="0">
                <a:latin typeface="Calibri"/>
                <a:cs typeface="Calibri"/>
              </a:rPr>
              <a:t>2</a:t>
            </a:r>
            <a:r>
              <a:rPr sz="1100" i="1" spc="12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14" dirty="0">
                <a:latin typeface="Calibri"/>
                <a:cs typeface="Calibri"/>
              </a:rPr>
              <a:t>C</a:t>
            </a:r>
            <a:r>
              <a:rPr sz="1200" i="1" spc="172" baseline="-13888" dirty="0">
                <a:latin typeface="Calibri"/>
                <a:cs typeface="Calibri"/>
              </a:rPr>
              <a:t>k</a:t>
            </a:r>
            <a:r>
              <a:rPr sz="1100" spc="114" dirty="0">
                <a:latin typeface="Cambria"/>
                <a:cs typeface="Cambria"/>
              </a:rPr>
              <a:t>}</a:t>
            </a:r>
            <a:r>
              <a:rPr sz="1100" spc="114" dirty="0">
                <a:latin typeface="Georgia"/>
                <a:cs typeface="Georgia"/>
              </a:rPr>
              <a:t>.</a:t>
            </a:r>
            <a:r>
              <a:rPr sz="1100" spc="95" dirty="0">
                <a:latin typeface="Georgia"/>
                <a:cs typeface="Georgia"/>
              </a:rPr>
              <a:t> </a:t>
            </a:r>
            <a:r>
              <a:rPr sz="1100" dirty="0">
                <a:latin typeface="Georgia"/>
                <a:cs typeface="Georgia"/>
              </a:rPr>
              <a:t>Data</a:t>
            </a:r>
            <a:r>
              <a:rPr sz="1100" spc="50" dirty="0">
                <a:latin typeface="Georgia"/>
                <a:cs typeface="Georgia"/>
              </a:rPr>
              <a:t> </a:t>
            </a:r>
            <a:r>
              <a:rPr sz="1100" spc="-10" dirty="0">
                <a:latin typeface="Georgia"/>
                <a:cs typeface="Georgia"/>
              </a:rPr>
              <a:t>points</a:t>
            </a:r>
            <a:r>
              <a:rPr sz="1100" spc="45" dirty="0">
                <a:latin typeface="Georgia"/>
                <a:cs typeface="Georgia"/>
              </a:rPr>
              <a:t> </a:t>
            </a:r>
            <a:r>
              <a:rPr sz="1100" dirty="0">
                <a:latin typeface="Georgia"/>
                <a:cs typeface="Georgia"/>
              </a:rPr>
              <a:t>in</a:t>
            </a:r>
            <a:r>
              <a:rPr sz="1100" spc="50" dirty="0">
                <a:latin typeface="Georgia"/>
                <a:cs typeface="Georgia"/>
              </a:rPr>
              <a:t> </a:t>
            </a:r>
            <a:r>
              <a:rPr sz="1100" dirty="0">
                <a:latin typeface="Georgia"/>
                <a:cs typeface="Georgia"/>
              </a:rPr>
              <a:t>the</a:t>
            </a:r>
            <a:r>
              <a:rPr sz="1100" spc="45" dirty="0">
                <a:latin typeface="Georgia"/>
                <a:cs typeface="Georgia"/>
              </a:rPr>
              <a:t> </a:t>
            </a:r>
            <a:r>
              <a:rPr sz="1100" spc="-25" dirty="0">
                <a:latin typeface="Georgia"/>
                <a:cs typeface="Georgia"/>
              </a:rPr>
              <a:t>same</a:t>
            </a:r>
            <a:r>
              <a:rPr sz="1100" spc="50" dirty="0">
                <a:latin typeface="Georgia"/>
                <a:cs typeface="Georgia"/>
              </a:rPr>
              <a:t> </a:t>
            </a:r>
            <a:r>
              <a:rPr sz="1100" spc="-10" dirty="0">
                <a:latin typeface="Georgia"/>
                <a:cs typeface="Georgia"/>
              </a:rPr>
              <a:t>cluster</a:t>
            </a:r>
            <a:r>
              <a:rPr sz="1100" spc="45" dirty="0">
                <a:latin typeface="Georgia"/>
                <a:cs typeface="Georgia"/>
              </a:rPr>
              <a:t> </a:t>
            </a:r>
            <a:r>
              <a:rPr sz="1100" dirty="0">
                <a:latin typeface="Georgia"/>
                <a:cs typeface="Georgia"/>
              </a:rPr>
              <a:t>are</a:t>
            </a:r>
            <a:r>
              <a:rPr sz="1100" spc="50" dirty="0">
                <a:latin typeface="Georgia"/>
                <a:cs typeface="Georgia"/>
              </a:rPr>
              <a:t> </a:t>
            </a:r>
            <a:r>
              <a:rPr sz="1100" spc="-25" dirty="0">
                <a:latin typeface="Georgia"/>
                <a:cs typeface="Georgia"/>
              </a:rPr>
              <a:t>similar</a:t>
            </a:r>
            <a:r>
              <a:rPr sz="1100" spc="45" dirty="0">
                <a:latin typeface="Georgia"/>
                <a:cs typeface="Georgia"/>
              </a:rPr>
              <a:t> </a:t>
            </a:r>
            <a:r>
              <a:rPr sz="1100" dirty="0">
                <a:latin typeface="Georgia"/>
                <a:cs typeface="Georgia"/>
              </a:rPr>
              <a:t>to</a:t>
            </a:r>
            <a:r>
              <a:rPr sz="1100" spc="50" dirty="0">
                <a:latin typeface="Georgia"/>
                <a:cs typeface="Georgia"/>
              </a:rPr>
              <a:t> </a:t>
            </a:r>
            <a:r>
              <a:rPr sz="1100" spc="-10" dirty="0">
                <a:latin typeface="Georgia"/>
                <a:cs typeface="Georgia"/>
              </a:rPr>
              <a:t>each</a:t>
            </a:r>
            <a:r>
              <a:rPr sz="1100" spc="45" dirty="0">
                <a:latin typeface="Georgia"/>
                <a:cs typeface="Georgia"/>
              </a:rPr>
              <a:t> </a:t>
            </a:r>
            <a:r>
              <a:rPr sz="1100" spc="-10" dirty="0">
                <a:latin typeface="Georgia"/>
                <a:cs typeface="Georgia"/>
              </a:rPr>
              <a:t>other</a:t>
            </a:r>
            <a:r>
              <a:rPr sz="1100" spc="50" dirty="0">
                <a:latin typeface="Georgia"/>
                <a:cs typeface="Georgia"/>
              </a:rPr>
              <a:t> </a:t>
            </a:r>
            <a:r>
              <a:rPr sz="1100" spc="-25" dirty="0">
                <a:latin typeface="Georgia"/>
                <a:cs typeface="Georgia"/>
              </a:rPr>
              <a:t>in ome</a:t>
            </a:r>
            <a:r>
              <a:rPr sz="1100" spc="10" dirty="0">
                <a:latin typeface="Georgia"/>
                <a:cs typeface="Georgia"/>
              </a:rPr>
              <a:t> </a:t>
            </a:r>
            <a:r>
              <a:rPr sz="1100" spc="-35" dirty="0">
                <a:latin typeface="Georgia"/>
                <a:cs typeface="Georgia"/>
              </a:rPr>
              <a:t>sense</a:t>
            </a:r>
            <a:r>
              <a:rPr sz="1100" spc="15" dirty="0">
                <a:latin typeface="Georgia"/>
                <a:cs typeface="Georgia"/>
              </a:rPr>
              <a:t> </a:t>
            </a:r>
            <a:r>
              <a:rPr sz="1100" dirty="0">
                <a:latin typeface="Georgia"/>
                <a:cs typeface="Georgia"/>
              </a:rPr>
              <a:t>and</a:t>
            </a:r>
            <a:r>
              <a:rPr sz="1100" spc="15" dirty="0">
                <a:latin typeface="Georgia"/>
                <a:cs typeface="Georgia"/>
              </a:rPr>
              <a:t> </a:t>
            </a:r>
            <a:r>
              <a:rPr sz="1100" dirty="0">
                <a:latin typeface="Georgia"/>
                <a:cs typeface="Georgia"/>
              </a:rPr>
              <a:t>far</a:t>
            </a:r>
            <a:r>
              <a:rPr sz="1100" spc="15" dirty="0">
                <a:latin typeface="Georgia"/>
                <a:cs typeface="Georgia"/>
              </a:rPr>
              <a:t> </a:t>
            </a:r>
            <a:r>
              <a:rPr sz="1100" spc="-25" dirty="0">
                <a:latin typeface="Georgia"/>
                <a:cs typeface="Georgia"/>
              </a:rPr>
              <a:t>from</a:t>
            </a:r>
            <a:r>
              <a:rPr sz="1100" spc="10" dirty="0">
                <a:latin typeface="Georgia"/>
                <a:cs typeface="Georgia"/>
              </a:rPr>
              <a:t> </a:t>
            </a:r>
            <a:r>
              <a:rPr sz="1100" dirty="0">
                <a:latin typeface="Georgia"/>
                <a:cs typeface="Georgia"/>
              </a:rPr>
              <a:t>the</a:t>
            </a:r>
            <a:r>
              <a:rPr sz="1100" spc="15" dirty="0">
                <a:latin typeface="Georgia"/>
                <a:cs typeface="Georgia"/>
              </a:rPr>
              <a:t> </a:t>
            </a:r>
            <a:r>
              <a:rPr sz="1100" dirty="0">
                <a:latin typeface="Georgia"/>
                <a:cs typeface="Georgia"/>
              </a:rPr>
              <a:t>data</a:t>
            </a:r>
            <a:r>
              <a:rPr sz="1100" spc="15" dirty="0">
                <a:latin typeface="Georgia"/>
                <a:cs typeface="Georgia"/>
              </a:rPr>
              <a:t> </a:t>
            </a:r>
            <a:r>
              <a:rPr sz="1100" spc="-10" dirty="0">
                <a:latin typeface="Georgia"/>
                <a:cs typeface="Georgia"/>
              </a:rPr>
              <a:t>points</a:t>
            </a:r>
            <a:r>
              <a:rPr sz="1100" spc="15" dirty="0">
                <a:latin typeface="Georgia"/>
                <a:cs typeface="Georgia"/>
              </a:rPr>
              <a:t> </a:t>
            </a:r>
            <a:r>
              <a:rPr sz="1100" dirty="0">
                <a:latin typeface="Georgia"/>
                <a:cs typeface="Georgia"/>
              </a:rPr>
              <a:t>in</a:t>
            </a:r>
            <a:r>
              <a:rPr sz="1100" spc="15" dirty="0">
                <a:latin typeface="Georgia"/>
                <a:cs typeface="Georgia"/>
              </a:rPr>
              <a:t> </a:t>
            </a:r>
            <a:r>
              <a:rPr sz="1100" spc="-10" dirty="0">
                <a:latin typeface="Georgia"/>
                <a:cs typeface="Georgia"/>
              </a:rPr>
              <a:t>other</a:t>
            </a:r>
            <a:r>
              <a:rPr sz="1100" spc="10" dirty="0">
                <a:latin typeface="Georgia"/>
                <a:cs typeface="Georgia"/>
              </a:rPr>
              <a:t> </a:t>
            </a:r>
            <a:r>
              <a:rPr sz="1100" spc="-10" dirty="0">
                <a:latin typeface="Georgia"/>
                <a:cs typeface="Georgia"/>
              </a:rPr>
              <a:t>clusters.</a:t>
            </a:r>
            <a:endParaRPr sz="1100">
              <a:latin typeface="Georgia"/>
              <a:cs typeface="Georgia"/>
            </a:endParaRPr>
          </a:p>
        </p:txBody>
      </p:sp>
      <p:grpSp>
        <p:nvGrpSpPr>
          <p:cNvPr id="11" name="object 11"/>
          <p:cNvGrpSpPr/>
          <p:nvPr/>
        </p:nvGrpSpPr>
        <p:grpSpPr>
          <a:xfrm>
            <a:off x="0" y="3121545"/>
            <a:ext cx="5760085" cy="118745"/>
            <a:chOff x="0" y="3121545"/>
            <a:chExt cx="5760085" cy="118745"/>
          </a:xfrm>
        </p:grpSpPr>
        <p:sp>
          <p:nvSpPr>
            <p:cNvPr id="12" name="object 12"/>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3" name="object 13"/>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5" name="object 15"/>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6" name="object 16"/>
          <p:cNvSpPr txBox="1"/>
          <p:nvPr/>
        </p:nvSpPr>
        <p:spPr>
          <a:xfrm>
            <a:off x="4456523" y="3118867"/>
            <a:ext cx="334645" cy="121920"/>
          </a:xfrm>
          <a:prstGeom prst="rect">
            <a:avLst/>
          </a:prstGeom>
        </p:spPr>
        <p:txBody>
          <a:bodyPr vert="horz" wrap="square" lIns="0" tIns="8255" rIns="0" bIns="0" rtlCol="0">
            <a:spAutoFit/>
          </a:bodyPr>
          <a:lstStyle/>
          <a:p>
            <a:pPr marL="12700">
              <a:lnSpc>
                <a:spcPct val="100000"/>
              </a:lnSpc>
              <a:spcBef>
                <a:spcPts val="65"/>
              </a:spcBef>
            </a:pPr>
            <a:r>
              <a:rPr sz="600" dirty="0">
                <a:solidFill>
                  <a:srgbClr val="7A0000"/>
                </a:solidFill>
                <a:latin typeface="Georgia"/>
                <a:cs typeface="Georgia"/>
              </a:rPr>
              <a:t>54</a:t>
            </a:r>
            <a:r>
              <a:rPr sz="600" spc="15" dirty="0">
                <a:solidFill>
                  <a:srgbClr val="7A0000"/>
                </a:solidFill>
                <a:latin typeface="Georgia"/>
                <a:cs typeface="Georgia"/>
              </a:rPr>
              <a:t> </a:t>
            </a:r>
            <a:r>
              <a:rPr sz="600" spc="75" dirty="0">
                <a:solidFill>
                  <a:srgbClr val="7A0000"/>
                </a:solidFill>
                <a:latin typeface="Georgia"/>
                <a:cs typeface="Georgia"/>
              </a:rPr>
              <a:t>/</a:t>
            </a:r>
            <a:r>
              <a:rPr sz="600" spc="15" dirty="0">
                <a:solidFill>
                  <a:srgbClr val="7A0000"/>
                </a:solidFill>
                <a:latin typeface="Georgia"/>
                <a:cs typeface="Georgia"/>
              </a:rPr>
              <a:t> </a:t>
            </a:r>
            <a:r>
              <a:rPr sz="600" spc="35" dirty="0">
                <a:solidFill>
                  <a:srgbClr val="7A0000"/>
                </a:solidFill>
                <a:latin typeface="Georgia"/>
                <a:cs typeface="Georgia"/>
              </a:rPr>
              <a:t>135</a:t>
            </a:r>
            <a:endParaRPr sz="600">
              <a:latin typeface="Georgia"/>
              <a:cs typeface="Georgi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114" dirty="0"/>
              <a:t> </a:t>
            </a:r>
            <a:r>
              <a:rPr spc="-10" dirty="0"/>
              <a:t>algorithm</a:t>
            </a:r>
          </a:p>
        </p:txBody>
      </p:sp>
      <p:sp>
        <p:nvSpPr>
          <p:cNvPr id="3" name="object 3"/>
          <p:cNvSpPr/>
          <p:nvPr/>
        </p:nvSpPr>
        <p:spPr>
          <a:xfrm>
            <a:off x="337972" y="46911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03377" y="377506"/>
            <a:ext cx="4997450" cy="484505"/>
          </a:xfrm>
          <a:prstGeom prst="rect">
            <a:avLst/>
          </a:prstGeom>
        </p:spPr>
        <p:txBody>
          <a:bodyPr vert="horz" wrap="square" lIns="0" tIns="34290" rIns="0" bIns="0" rtlCol="0">
            <a:spAutoFit/>
          </a:bodyPr>
          <a:lstStyle/>
          <a:p>
            <a:pPr marL="63500" marR="55880">
              <a:lnSpc>
                <a:spcPts val="1150"/>
              </a:lnSpc>
              <a:spcBef>
                <a:spcPts val="270"/>
              </a:spcBef>
            </a:pPr>
            <a:r>
              <a:rPr sz="1100" dirty="0">
                <a:latin typeface="Georgia"/>
                <a:cs typeface="Georgia"/>
              </a:rPr>
              <a:t>Let</a:t>
            </a:r>
            <a:r>
              <a:rPr sz="1100" spc="-5" dirty="0">
                <a:latin typeface="Georgia"/>
                <a:cs typeface="Georgia"/>
              </a:rPr>
              <a:t> </a:t>
            </a:r>
            <a:r>
              <a:rPr sz="1100" dirty="0">
                <a:latin typeface="Cambria"/>
                <a:cs typeface="Cambria"/>
              </a:rPr>
              <a:t>C</a:t>
            </a:r>
            <a:r>
              <a:rPr sz="1100" spc="75" dirty="0">
                <a:latin typeface="Cambria"/>
                <a:cs typeface="Cambria"/>
              </a:rPr>
              <a:t> </a:t>
            </a:r>
            <a:r>
              <a:rPr sz="1100" spc="295" dirty="0">
                <a:latin typeface="Calibri"/>
                <a:cs typeface="Calibri"/>
              </a:rPr>
              <a:t>=</a:t>
            </a:r>
            <a:r>
              <a:rPr sz="1100" spc="25" dirty="0">
                <a:latin typeface="Calibri"/>
                <a:cs typeface="Calibri"/>
              </a:rPr>
              <a:t> </a:t>
            </a:r>
            <a:r>
              <a:rPr sz="1100" spc="100" dirty="0">
                <a:latin typeface="Cambria"/>
                <a:cs typeface="Cambria"/>
              </a:rPr>
              <a:t>{</a:t>
            </a:r>
            <a:r>
              <a:rPr sz="1100" i="1" spc="100" dirty="0">
                <a:latin typeface="Calibri"/>
                <a:cs typeface="Calibri"/>
              </a:rPr>
              <a:t>C</a:t>
            </a:r>
            <a:r>
              <a:rPr sz="1200" spc="150" baseline="-10416" dirty="0">
                <a:latin typeface="Calibri"/>
                <a:cs typeface="Calibri"/>
              </a:rPr>
              <a:t>1</a:t>
            </a:r>
            <a:r>
              <a:rPr sz="1100" i="1" spc="100" dirty="0">
                <a:latin typeface="Calibri"/>
                <a:cs typeface="Calibri"/>
              </a:rPr>
              <a:t>,</a:t>
            </a:r>
            <a:r>
              <a:rPr sz="1100" i="1" spc="-70" dirty="0">
                <a:latin typeface="Calibri"/>
                <a:cs typeface="Calibri"/>
              </a:rPr>
              <a:t> </a:t>
            </a:r>
            <a:r>
              <a:rPr sz="1100" i="1" spc="125" dirty="0">
                <a:latin typeface="Calibri"/>
                <a:cs typeface="Calibri"/>
              </a:rPr>
              <a:t>C</a:t>
            </a:r>
            <a:r>
              <a:rPr sz="1200" spc="187" baseline="-10416" dirty="0">
                <a:latin typeface="Calibri"/>
                <a:cs typeface="Calibri"/>
              </a:rPr>
              <a:t>2</a:t>
            </a:r>
            <a:r>
              <a:rPr sz="1100" i="1" spc="12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i="1" spc="155" dirty="0">
                <a:latin typeface="Calibri"/>
                <a:cs typeface="Calibri"/>
              </a:rPr>
              <a:t>C</a:t>
            </a:r>
            <a:r>
              <a:rPr sz="1200" i="1" spc="232" baseline="-13888" dirty="0">
                <a:latin typeface="Calibri"/>
                <a:cs typeface="Calibri"/>
              </a:rPr>
              <a:t>k</a:t>
            </a:r>
            <a:r>
              <a:rPr sz="1100" spc="155" dirty="0">
                <a:latin typeface="Cambria"/>
                <a:cs typeface="Cambria"/>
              </a:rPr>
              <a:t>}</a:t>
            </a:r>
            <a:r>
              <a:rPr sz="1100" spc="75" dirty="0">
                <a:latin typeface="Cambria"/>
                <a:cs typeface="Cambria"/>
              </a:rPr>
              <a:t> </a:t>
            </a:r>
            <a:r>
              <a:rPr sz="1100" dirty="0">
                <a:latin typeface="Georgia"/>
                <a:cs typeface="Georgia"/>
              </a:rPr>
              <a:t>be</a:t>
            </a:r>
            <a:r>
              <a:rPr sz="1100" spc="55" dirty="0">
                <a:latin typeface="Georgia"/>
                <a:cs typeface="Georgia"/>
              </a:rPr>
              <a:t> </a:t>
            </a:r>
            <a:r>
              <a:rPr sz="1100" dirty="0">
                <a:latin typeface="Georgia"/>
                <a:cs typeface="Georgia"/>
              </a:rPr>
              <a:t>a</a:t>
            </a:r>
            <a:r>
              <a:rPr sz="1100" spc="60" dirty="0">
                <a:latin typeface="Georgia"/>
                <a:cs typeface="Georgia"/>
              </a:rPr>
              <a:t> </a:t>
            </a:r>
            <a:r>
              <a:rPr sz="1100" spc="-25" dirty="0">
                <a:latin typeface="Georgia"/>
                <a:cs typeface="Georgia"/>
              </a:rPr>
              <a:t>clustering</a:t>
            </a:r>
            <a:r>
              <a:rPr sz="1100" spc="55" dirty="0">
                <a:latin typeface="Georgia"/>
                <a:cs typeface="Georgia"/>
              </a:rPr>
              <a:t> </a:t>
            </a:r>
            <a:r>
              <a:rPr sz="1100" spc="-20" dirty="0">
                <a:latin typeface="Georgia"/>
                <a:cs typeface="Georgia"/>
              </a:rPr>
              <a:t>solution,</a:t>
            </a:r>
            <a:r>
              <a:rPr sz="1100" spc="55" dirty="0">
                <a:latin typeface="Georgia"/>
                <a:cs typeface="Georgia"/>
              </a:rPr>
              <a:t> </a:t>
            </a:r>
            <a:r>
              <a:rPr sz="1100" spc="-10" dirty="0">
                <a:latin typeface="Georgia"/>
                <a:cs typeface="Georgia"/>
              </a:rPr>
              <a:t>we</a:t>
            </a:r>
            <a:r>
              <a:rPr sz="1100" spc="55" dirty="0">
                <a:latin typeface="Georgia"/>
                <a:cs typeface="Georgia"/>
              </a:rPr>
              <a:t> </a:t>
            </a:r>
            <a:r>
              <a:rPr sz="1100" spc="-30" dirty="0">
                <a:latin typeface="Georgia"/>
                <a:cs typeface="Georgia"/>
              </a:rPr>
              <a:t>need</a:t>
            </a:r>
            <a:r>
              <a:rPr sz="1100" spc="55" dirty="0">
                <a:latin typeface="Georgia"/>
                <a:cs typeface="Georgia"/>
              </a:rPr>
              <a:t> </a:t>
            </a:r>
            <a:r>
              <a:rPr sz="1100" spc="-35" dirty="0">
                <a:latin typeface="Georgia"/>
                <a:cs typeface="Georgia"/>
              </a:rPr>
              <a:t>some</a:t>
            </a:r>
            <a:r>
              <a:rPr sz="1100" spc="60" dirty="0">
                <a:latin typeface="Georgia"/>
                <a:cs typeface="Georgia"/>
              </a:rPr>
              <a:t> </a:t>
            </a:r>
            <a:r>
              <a:rPr sz="1100" spc="-25" dirty="0">
                <a:latin typeface="Georgia"/>
                <a:cs typeface="Georgia"/>
              </a:rPr>
              <a:t>scoring</a:t>
            </a:r>
            <a:r>
              <a:rPr sz="1100" spc="55" dirty="0">
                <a:latin typeface="Georgia"/>
                <a:cs typeface="Georgia"/>
              </a:rPr>
              <a:t> </a:t>
            </a:r>
            <a:r>
              <a:rPr sz="1100" spc="-10" dirty="0">
                <a:latin typeface="Georgia"/>
                <a:cs typeface="Georgia"/>
              </a:rPr>
              <a:t>function </a:t>
            </a:r>
            <a:r>
              <a:rPr sz="1100" dirty="0">
                <a:latin typeface="Georgia"/>
                <a:cs typeface="Georgia"/>
              </a:rPr>
              <a:t>that</a:t>
            </a:r>
            <a:r>
              <a:rPr sz="1100" spc="85" dirty="0">
                <a:latin typeface="Georgia"/>
                <a:cs typeface="Georgia"/>
              </a:rPr>
              <a:t> </a:t>
            </a:r>
            <a:r>
              <a:rPr sz="1100" spc="-20" dirty="0">
                <a:latin typeface="Georgia"/>
                <a:cs typeface="Georgia"/>
              </a:rPr>
              <a:t>evaluates</a:t>
            </a:r>
            <a:r>
              <a:rPr sz="1100" spc="85" dirty="0">
                <a:latin typeface="Georgia"/>
                <a:cs typeface="Georgia"/>
              </a:rPr>
              <a:t> </a:t>
            </a:r>
            <a:r>
              <a:rPr sz="1100" dirty="0">
                <a:latin typeface="Georgia"/>
                <a:cs typeface="Georgia"/>
              </a:rPr>
              <a:t>its</a:t>
            </a:r>
            <a:r>
              <a:rPr sz="1100" spc="85" dirty="0">
                <a:latin typeface="Georgia"/>
                <a:cs typeface="Georgia"/>
              </a:rPr>
              <a:t> </a:t>
            </a:r>
            <a:r>
              <a:rPr sz="1100" dirty="0">
                <a:latin typeface="Georgia"/>
                <a:cs typeface="Georgia"/>
              </a:rPr>
              <a:t>quality</a:t>
            </a:r>
            <a:r>
              <a:rPr sz="1100" spc="90" dirty="0">
                <a:latin typeface="Georgia"/>
                <a:cs typeface="Georgia"/>
              </a:rPr>
              <a:t> </a:t>
            </a:r>
            <a:r>
              <a:rPr sz="1100" dirty="0">
                <a:latin typeface="Georgia"/>
                <a:cs typeface="Georgia"/>
              </a:rPr>
              <a:t>or</a:t>
            </a:r>
            <a:r>
              <a:rPr sz="1100" spc="85" dirty="0">
                <a:latin typeface="Georgia"/>
                <a:cs typeface="Georgia"/>
              </a:rPr>
              <a:t> </a:t>
            </a:r>
            <a:r>
              <a:rPr sz="1100" spc="-30" dirty="0">
                <a:latin typeface="Georgia"/>
                <a:cs typeface="Georgia"/>
              </a:rPr>
              <a:t>goodness</a:t>
            </a:r>
            <a:r>
              <a:rPr sz="1100" spc="85" dirty="0">
                <a:latin typeface="Georgia"/>
                <a:cs typeface="Georgia"/>
              </a:rPr>
              <a:t> </a:t>
            </a:r>
            <a:r>
              <a:rPr sz="1100" dirty="0">
                <a:latin typeface="Georgia"/>
                <a:cs typeface="Georgia"/>
              </a:rPr>
              <a:t>on</a:t>
            </a:r>
            <a:r>
              <a:rPr sz="1100" spc="85" dirty="0">
                <a:latin typeface="Georgia"/>
                <a:cs typeface="Georgia"/>
              </a:rPr>
              <a:t> </a:t>
            </a:r>
            <a:r>
              <a:rPr sz="1100" spc="70" dirty="0">
                <a:latin typeface="Cambria"/>
                <a:cs typeface="Cambria"/>
              </a:rPr>
              <a:t>D</a:t>
            </a:r>
            <a:r>
              <a:rPr sz="1100" spc="70" dirty="0">
                <a:latin typeface="Georgia"/>
                <a:cs typeface="Georgia"/>
              </a:rPr>
              <a:t>.</a:t>
            </a:r>
            <a:r>
              <a:rPr sz="1100" spc="200" dirty="0">
                <a:latin typeface="Georgia"/>
                <a:cs typeface="Georgia"/>
              </a:rPr>
              <a:t> </a:t>
            </a:r>
            <a:r>
              <a:rPr sz="1100" dirty="0">
                <a:latin typeface="Georgia"/>
                <a:cs typeface="Georgia"/>
              </a:rPr>
              <a:t>This</a:t>
            </a:r>
            <a:r>
              <a:rPr sz="1100" spc="90" dirty="0">
                <a:latin typeface="Georgia"/>
                <a:cs typeface="Georgia"/>
              </a:rPr>
              <a:t> </a:t>
            </a:r>
            <a:r>
              <a:rPr sz="1100" i="1" dirty="0">
                <a:latin typeface="Palatino Linotype"/>
                <a:cs typeface="Palatino Linotype"/>
              </a:rPr>
              <a:t>sum</a:t>
            </a:r>
            <a:r>
              <a:rPr sz="1100" i="1" spc="100" dirty="0">
                <a:latin typeface="Palatino Linotype"/>
                <a:cs typeface="Palatino Linotype"/>
              </a:rPr>
              <a:t> </a:t>
            </a:r>
            <a:r>
              <a:rPr sz="1100" i="1" dirty="0">
                <a:latin typeface="Palatino Linotype"/>
                <a:cs typeface="Palatino Linotype"/>
              </a:rPr>
              <a:t>of</a:t>
            </a:r>
            <a:r>
              <a:rPr sz="1100" i="1" spc="100" dirty="0">
                <a:latin typeface="Palatino Linotype"/>
                <a:cs typeface="Palatino Linotype"/>
              </a:rPr>
              <a:t> </a:t>
            </a:r>
            <a:r>
              <a:rPr sz="1100" i="1" dirty="0">
                <a:latin typeface="Palatino Linotype"/>
                <a:cs typeface="Palatino Linotype"/>
              </a:rPr>
              <a:t>squared</a:t>
            </a:r>
            <a:r>
              <a:rPr sz="1100" i="1" spc="100" dirty="0">
                <a:latin typeface="Palatino Linotype"/>
                <a:cs typeface="Palatino Linotype"/>
              </a:rPr>
              <a:t> </a:t>
            </a:r>
            <a:r>
              <a:rPr sz="1100" i="1" dirty="0">
                <a:latin typeface="Palatino Linotype"/>
                <a:cs typeface="Palatino Linotype"/>
              </a:rPr>
              <a:t>errors</a:t>
            </a:r>
            <a:r>
              <a:rPr sz="1100" i="1" spc="160" dirty="0">
                <a:latin typeface="Palatino Linotype"/>
                <a:cs typeface="Palatino Linotype"/>
              </a:rPr>
              <a:t> </a:t>
            </a:r>
            <a:r>
              <a:rPr sz="1100" spc="-10" dirty="0">
                <a:latin typeface="Georgia"/>
                <a:cs typeface="Georgia"/>
              </a:rPr>
              <a:t>scoring </a:t>
            </a:r>
            <a:r>
              <a:rPr sz="1100" spc="-20" dirty="0">
                <a:latin typeface="Georgia"/>
                <a:cs typeface="Georgia"/>
              </a:rPr>
              <a:t>function</a:t>
            </a:r>
            <a:r>
              <a:rPr sz="1100" spc="25" dirty="0">
                <a:latin typeface="Georgia"/>
                <a:cs typeface="Georgia"/>
              </a:rPr>
              <a:t> </a:t>
            </a:r>
            <a:r>
              <a:rPr sz="1100" dirty="0">
                <a:latin typeface="Georgia"/>
                <a:cs typeface="Georgia"/>
              </a:rPr>
              <a:t>is</a:t>
            </a:r>
            <a:r>
              <a:rPr sz="1100" spc="30" dirty="0">
                <a:latin typeface="Georgia"/>
                <a:cs typeface="Georgia"/>
              </a:rPr>
              <a:t> </a:t>
            </a:r>
            <a:r>
              <a:rPr sz="1100" spc="-40" dirty="0">
                <a:latin typeface="Georgia"/>
                <a:cs typeface="Georgia"/>
              </a:rPr>
              <a:t>defined</a:t>
            </a:r>
            <a:r>
              <a:rPr sz="1100" spc="30" dirty="0">
                <a:latin typeface="Georgia"/>
                <a:cs typeface="Georgia"/>
              </a:rPr>
              <a:t> </a:t>
            </a:r>
            <a:r>
              <a:rPr sz="1100" spc="-25" dirty="0">
                <a:latin typeface="Georgia"/>
                <a:cs typeface="Georgia"/>
              </a:rPr>
              <a:t>as:</a:t>
            </a:r>
            <a:endParaRPr sz="1100">
              <a:latin typeface="Georgia"/>
              <a:cs typeface="Georgia"/>
            </a:endParaRPr>
          </a:p>
        </p:txBody>
      </p:sp>
      <p:sp>
        <p:nvSpPr>
          <p:cNvPr id="8" name="object 8"/>
          <p:cNvSpPr txBox="1"/>
          <p:nvPr/>
        </p:nvSpPr>
        <p:spPr>
          <a:xfrm>
            <a:off x="416077" y="1184070"/>
            <a:ext cx="4659630" cy="376385"/>
          </a:xfrm>
          <a:prstGeom prst="rect">
            <a:avLst/>
          </a:prstGeom>
        </p:spPr>
        <p:txBody>
          <a:bodyPr vert="horz" wrap="square" lIns="0" tIns="12065" rIns="0" bIns="0" rtlCol="0">
            <a:spAutoFit/>
          </a:bodyPr>
          <a:lstStyle/>
          <a:p>
            <a:pPr marL="690245" algn="ctr">
              <a:lnSpc>
                <a:spcPct val="100000"/>
              </a:lnSpc>
              <a:spcBef>
                <a:spcPts val="95"/>
              </a:spcBef>
            </a:pPr>
            <a:endParaRPr sz="900" baseline="-9259">
              <a:latin typeface="Calibri"/>
              <a:cs typeface="Calibri"/>
            </a:endParaRPr>
          </a:p>
          <a:p>
            <a:pPr marL="50800">
              <a:lnSpc>
                <a:spcPct val="100000"/>
              </a:lnSpc>
              <a:spcBef>
                <a:spcPts val="844"/>
              </a:spcBef>
            </a:pPr>
            <a:r>
              <a:rPr sz="1100" dirty="0">
                <a:latin typeface="Georgia"/>
                <a:cs typeface="Georgia"/>
              </a:rPr>
              <a:t>The</a:t>
            </a:r>
            <a:r>
              <a:rPr sz="1100" spc="65" dirty="0">
                <a:latin typeface="Georgia"/>
                <a:cs typeface="Georgia"/>
              </a:rPr>
              <a:t> </a:t>
            </a:r>
            <a:r>
              <a:rPr sz="1100" dirty="0">
                <a:latin typeface="Georgia"/>
                <a:cs typeface="Georgia"/>
              </a:rPr>
              <a:t>goal</a:t>
            </a:r>
            <a:r>
              <a:rPr sz="1100" spc="65" dirty="0">
                <a:latin typeface="Georgia"/>
                <a:cs typeface="Georgia"/>
              </a:rPr>
              <a:t> </a:t>
            </a:r>
            <a:r>
              <a:rPr sz="1100" dirty="0">
                <a:latin typeface="Georgia"/>
                <a:cs typeface="Georgia"/>
              </a:rPr>
              <a:t>is</a:t>
            </a:r>
            <a:r>
              <a:rPr sz="1100" spc="65" dirty="0">
                <a:latin typeface="Georgia"/>
                <a:cs typeface="Georgia"/>
              </a:rPr>
              <a:t> </a:t>
            </a:r>
            <a:r>
              <a:rPr sz="1100" dirty="0">
                <a:latin typeface="Georgia"/>
                <a:cs typeface="Georgia"/>
              </a:rPr>
              <a:t>to</a:t>
            </a:r>
            <a:r>
              <a:rPr sz="1100" spc="65" dirty="0">
                <a:latin typeface="Georgia"/>
                <a:cs typeface="Georgia"/>
              </a:rPr>
              <a:t> </a:t>
            </a:r>
            <a:r>
              <a:rPr sz="1100" spc="-20" dirty="0">
                <a:latin typeface="Georgia"/>
                <a:cs typeface="Georgia"/>
              </a:rPr>
              <a:t>find</a:t>
            </a:r>
            <a:r>
              <a:rPr sz="1100" spc="65" dirty="0">
                <a:latin typeface="Georgia"/>
                <a:cs typeface="Georgia"/>
              </a:rPr>
              <a:t> </a:t>
            </a:r>
            <a:r>
              <a:rPr sz="1100" dirty="0">
                <a:latin typeface="Georgia"/>
                <a:cs typeface="Georgia"/>
              </a:rPr>
              <a:t>the</a:t>
            </a:r>
            <a:r>
              <a:rPr sz="1100" spc="65" dirty="0">
                <a:latin typeface="Georgia"/>
                <a:cs typeface="Georgia"/>
              </a:rPr>
              <a:t> </a:t>
            </a:r>
            <a:r>
              <a:rPr sz="1100" spc="-25" dirty="0">
                <a:latin typeface="Georgia"/>
                <a:cs typeface="Georgia"/>
              </a:rPr>
              <a:t>clustering</a:t>
            </a:r>
            <a:r>
              <a:rPr sz="1100" spc="70" dirty="0">
                <a:latin typeface="Georgia"/>
                <a:cs typeface="Georgia"/>
              </a:rPr>
              <a:t> </a:t>
            </a:r>
            <a:r>
              <a:rPr sz="1100" spc="-20" dirty="0">
                <a:latin typeface="Georgia"/>
                <a:cs typeface="Georgia"/>
              </a:rPr>
              <a:t>solution</a:t>
            </a:r>
            <a:r>
              <a:rPr sz="1100" spc="65" dirty="0">
                <a:latin typeface="Georgia"/>
                <a:cs typeface="Georgia"/>
              </a:rPr>
              <a:t> </a:t>
            </a:r>
            <a:r>
              <a:rPr sz="1100" dirty="0">
                <a:latin typeface="Cambria"/>
                <a:cs typeface="Cambria"/>
              </a:rPr>
              <a:t>C</a:t>
            </a:r>
            <a:r>
              <a:rPr lang="vi-VN" sz="1200" baseline="27777" dirty="0">
                <a:latin typeface="Lucida Sans Unicode"/>
                <a:cs typeface="Lucida Sans Unicode"/>
              </a:rPr>
              <a:t>*</a:t>
            </a:r>
            <a:r>
              <a:rPr sz="1200" spc="179" baseline="27777" dirty="0">
                <a:latin typeface="Lucida Sans Unicode"/>
                <a:cs typeface="Lucida Sans Unicode"/>
              </a:rPr>
              <a:t> </a:t>
            </a:r>
            <a:r>
              <a:rPr sz="1100" dirty="0">
                <a:latin typeface="Georgia"/>
                <a:cs typeface="Georgia"/>
              </a:rPr>
              <a:t>that</a:t>
            </a:r>
            <a:r>
              <a:rPr sz="1100" spc="65" dirty="0">
                <a:latin typeface="Georgia"/>
                <a:cs typeface="Georgia"/>
              </a:rPr>
              <a:t> </a:t>
            </a:r>
            <a:r>
              <a:rPr sz="1100" spc="-40" dirty="0">
                <a:latin typeface="Georgia"/>
                <a:cs typeface="Georgia"/>
              </a:rPr>
              <a:t>minimizes</a:t>
            </a:r>
            <a:r>
              <a:rPr sz="1100" spc="65" dirty="0">
                <a:latin typeface="Georgia"/>
                <a:cs typeface="Georgia"/>
              </a:rPr>
              <a:t> </a:t>
            </a:r>
            <a:r>
              <a:rPr sz="1100" dirty="0">
                <a:latin typeface="Georgia"/>
                <a:cs typeface="Georgia"/>
              </a:rPr>
              <a:t>the</a:t>
            </a:r>
            <a:r>
              <a:rPr sz="1100" spc="65" dirty="0">
                <a:latin typeface="Georgia"/>
                <a:cs typeface="Georgia"/>
              </a:rPr>
              <a:t> </a:t>
            </a:r>
            <a:r>
              <a:rPr sz="1100" i="1" dirty="0">
                <a:latin typeface="Palatino Linotype"/>
                <a:cs typeface="Palatino Linotype"/>
              </a:rPr>
              <a:t>SSE</a:t>
            </a:r>
            <a:r>
              <a:rPr sz="1100" i="1" spc="175" dirty="0">
                <a:latin typeface="Palatino Linotype"/>
                <a:cs typeface="Palatino Linotype"/>
              </a:rPr>
              <a:t> </a:t>
            </a:r>
            <a:r>
              <a:rPr sz="1100" spc="-10" dirty="0">
                <a:latin typeface="Georgia"/>
                <a:cs typeface="Georgia"/>
              </a:rPr>
              <a:t>score:</a:t>
            </a:r>
            <a:endParaRPr sz="1100">
              <a:latin typeface="Georgia"/>
              <a:cs typeface="Georgia"/>
            </a:endParaRPr>
          </a:p>
        </p:txBody>
      </p:sp>
      <p:sp>
        <p:nvSpPr>
          <p:cNvPr id="12" name="object 12"/>
          <p:cNvSpPr txBox="1"/>
          <p:nvPr/>
        </p:nvSpPr>
        <p:spPr>
          <a:xfrm>
            <a:off x="5312587" y="978279"/>
            <a:ext cx="270510" cy="191770"/>
          </a:xfrm>
          <a:prstGeom prst="rect">
            <a:avLst/>
          </a:prstGeom>
        </p:spPr>
        <p:txBody>
          <a:bodyPr vert="horz" wrap="square" lIns="0" tIns="11430" rIns="0" bIns="0" rtlCol="0">
            <a:spAutoFit/>
          </a:bodyPr>
          <a:lstStyle/>
          <a:p>
            <a:pPr marL="12700">
              <a:lnSpc>
                <a:spcPct val="100000"/>
              </a:lnSpc>
              <a:spcBef>
                <a:spcPts val="90"/>
              </a:spcBef>
            </a:pPr>
            <a:r>
              <a:rPr sz="1100" spc="-20" dirty="0">
                <a:latin typeface="Georgia"/>
                <a:cs typeface="Georgia"/>
              </a:rPr>
              <a:t>(17)</a:t>
            </a:r>
            <a:endParaRPr sz="1100">
              <a:latin typeface="Georgia"/>
              <a:cs typeface="Georgia"/>
            </a:endParaRPr>
          </a:p>
        </p:txBody>
      </p:sp>
      <p:sp>
        <p:nvSpPr>
          <p:cNvPr id="13" name="object 13"/>
          <p:cNvSpPr/>
          <p:nvPr/>
        </p:nvSpPr>
        <p:spPr>
          <a:xfrm>
            <a:off x="337972" y="150575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27" name="object 27"/>
          <p:cNvSpPr/>
          <p:nvPr/>
        </p:nvSpPr>
        <p:spPr>
          <a:xfrm>
            <a:off x="337972" y="265460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28" name="object 28"/>
          <p:cNvSpPr txBox="1"/>
          <p:nvPr/>
        </p:nvSpPr>
        <p:spPr>
          <a:xfrm>
            <a:off x="454177" y="2562998"/>
            <a:ext cx="5128895" cy="484505"/>
          </a:xfrm>
          <a:prstGeom prst="rect">
            <a:avLst/>
          </a:prstGeom>
        </p:spPr>
        <p:txBody>
          <a:bodyPr vert="horz" wrap="square" lIns="0" tIns="34290" rIns="0" bIns="0" rtlCol="0">
            <a:spAutoFit/>
          </a:bodyPr>
          <a:lstStyle/>
          <a:p>
            <a:pPr marL="12700" marR="5080">
              <a:lnSpc>
                <a:spcPts val="1150"/>
              </a:lnSpc>
              <a:spcBef>
                <a:spcPts val="270"/>
              </a:spcBef>
            </a:pPr>
            <a:r>
              <a:rPr sz="1100" i="1" dirty="0">
                <a:latin typeface="Calibri"/>
                <a:cs typeface="Calibri"/>
              </a:rPr>
              <a:t>K</a:t>
            </a:r>
            <a:r>
              <a:rPr sz="1100" dirty="0">
                <a:latin typeface="Georgia"/>
                <a:cs typeface="Georgia"/>
              </a:rPr>
              <a:t>–means</a:t>
            </a:r>
            <a:r>
              <a:rPr sz="1100" spc="40" dirty="0">
                <a:latin typeface="Georgia"/>
                <a:cs typeface="Georgia"/>
              </a:rPr>
              <a:t> </a:t>
            </a:r>
            <a:r>
              <a:rPr sz="1100" spc="-20" dirty="0">
                <a:latin typeface="Georgia"/>
                <a:cs typeface="Georgia"/>
              </a:rPr>
              <a:t>algorithm</a:t>
            </a:r>
            <a:r>
              <a:rPr sz="1100" spc="45" dirty="0">
                <a:latin typeface="Georgia"/>
                <a:cs typeface="Georgia"/>
              </a:rPr>
              <a:t> </a:t>
            </a:r>
            <a:r>
              <a:rPr sz="1100" spc="-30" dirty="0">
                <a:latin typeface="Georgia"/>
                <a:cs typeface="Georgia"/>
              </a:rPr>
              <a:t>employs</a:t>
            </a:r>
            <a:r>
              <a:rPr sz="1100" spc="40" dirty="0">
                <a:latin typeface="Georgia"/>
                <a:cs typeface="Georgia"/>
              </a:rPr>
              <a:t> </a:t>
            </a:r>
            <a:r>
              <a:rPr sz="1100" dirty="0">
                <a:latin typeface="Georgia"/>
                <a:cs typeface="Georgia"/>
              </a:rPr>
              <a:t>a</a:t>
            </a:r>
            <a:r>
              <a:rPr sz="1100" spc="45" dirty="0">
                <a:latin typeface="Georgia"/>
                <a:cs typeface="Georgia"/>
              </a:rPr>
              <a:t> </a:t>
            </a:r>
            <a:r>
              <a:rPr sz="1100" b="1" spc="-10" dirty="0">
                <a:latin typeface="Georgia"/>
                <a:cs typeface="Georgia"/>
              </a:rPr>
              <a:t>greedy</a:t>
            </a:r>
            <a:r>
              <a:rPr sz="1100" b="1" spc="75" dirty="0">
                <a:latin typeface="Georgia"/>
                <a:cs typeface="Georgia"/>
              </a:rPr>
              <a:t> </a:t>
            </a:r>
            <a:r>
              <a:rPr sz="1100" b="1" spc="-10" dirty="0">
                <a:latin typeface="Georgia"/>
                <a:cs typeface="Georgia"/>
              </a:rPr>
              <a:t>iterative</a:t>
            </a:r>
            <a:r>
              <a:rPr sz="1100" b="1" spc="75" dirty="0">
                <a:latin typeface="Georgia"/>
                <a:cs typeface="Georgia"/>
              </a:rPr>
              <a:t> </a:t>
            </a:r>
            <a:r>
              <a:rPr sz="1100" b="1" spc="-50" dirty="0">
                <a:latin typeface="Georgia"/>
                <a:cs typeface="Georgia"/>
              </a:rPr>
              <a:t>approach</a:t>
            </a:r>
            <a:r>
              <a:rPr sz="1100" b="1" spc="25" dirty="0">
                <a:latin typeface="Georgia"/>
                <a:cs typeface="Georgia"/>
              </a:rPr>
              <a:t> </a:t>
            </a:r>
            <a:r>
              <a:rPr sz="1100" dirty="0">
                <a:latin typeface="Georgia"/>
                <a:cs typeface="Georgia"/>
              </a:rPr>
              <a:t>to</a:t>
            </a:r>
            <a:r>
              <a:rPr sz="1100" spc="45" dirty="0">
                <a:latin typeface="Georgia"/>
                <a:cs typeface="Georgia"/>
              </a:rPr>
              <a:t> </a:t>
            </a:r>
            <a:r>
              <a:rPr sz="1100" spc="-20" dirty="0">
                <a:latin typeface="Georgia"/>
                <a:cs typeface="Georgia"/>
              </a:rPr>
              <a:t>find</a:t>
            </a:r>
            <a:r>
              <a:rPr sz="1100" spc="40" dirty="0">
                <a:latin typeface="Georgia"/>
                <a:cs typeface="Georgia"/>
              </a:rPr>
              <a:t> </a:t>
            </a:r>
            <a:r>
              <a:rPr sz="1100" dirty="0">
                <a:latin typeface="Georgia"/>
                <a:cs typeface="Georgia"/>
              </a:rPr>
              <a:t>a</a:t>
            </a:r>
            <a:r>
              <a:rPr sz="1100" spc="45" dirty="0">
                <a:latin typeface="Georgia"/>
                <a:cs typeface="Georgia"/>
              </a:rPr>
              <a:t> </a:t>
            </a:r>
            <a:r>
              <a:rPr sz="1100" spc="-10" dirty="0">
                <a:latin typeface="Georgia"/>
                <a:cs typeface="Georgia"/>
              </a:rPr>
              <a:t>clustering </a:t>
            </a:r>
            <a:r>
              <a:rPr sz="1100" spc="-20" dirty="0">
                <a:latin typeface="Georgia"/>
                <a:cs typeface="Georgia"/>
              </a:rPr>
              <a:t>solution</a:t>
            </a:r>
            <a:r>
              <a:rPr sz="1100" spc="40" dirty="0">
                <a:latin typeface="Georgia"/>
                <a:cs typeface="Georgia"/>
              </a:rPr>
              <a:t> </a:t>
            </a:r>
            <a:r>
              <a:rPr sz="1100" dirty="0">
                <a:latin typeface="Georgia"/>
                <a:cs typeface="Georgia"/>
              </a:rPr>
              <a:t>that</a:t>
            </a:r>
            <a:r>
              <a:rPr sz="1100" spc="40" dirty="0">
                <a:latin typeface="Georgia"/>
                <a:cs typeface="Georgia"/>
              </a:rPr>
              <a:t> </a:t>
            </a:r>
            <a:r>
              <a:rPr sz="1100" spc="-40" dirty="0">
                <a:latin typeface="Georgia"/>
                <a:cs typeface="Georgia"/>
              </a:rPr>
              <a:t>minimizes</a:t>
            </a:r>
            <a:r>
              <a:rPr sz="1100" spc="40" dirty="0">
                <a:latin typeface="Georgia"/>
                <a:cs typeface="Georgia"/>
              </a:rPr>
              <a:t> </a:t>
            </a:r>
            <a:r>
              <a:rPr sz="1100" dirty="0">
                <a:latin typeface="Georgia"/>
                <a:cs typeface="Georgia"/>
              </a:rPr>
              <a:t>the</a:t>
            </a:r>
            <a:r>
              <a:rPr sz="1100" spc="40" dirty="0">
                <a:latin typeface="Georgia"/>
                <a:cs typeface="Georgia"/>
              </a:rPr>
              <a:t> </a:t>
            </a:r>
            <a:r>
              <a:rPr sz="1100" dirty="0">
                <a:latin typeface="Georgia"/>
                <a:cs typeface="Georgia"/>
              </a:rPr>
              <a:t>SSE</a:t>
            </a:r>
            <a:r>
              <a:rPr sz="1100" spc="40" dirty="0">
                <a:latin typeface="Georgia"/>
                <a:cs typeface="Georgia"/>
              </a:rPr>
              <a:t> </a:t>
            </a:r>
            <a:r>
              <a:rPr sz="1100" dirty="0">
                <a:latin typeface="Georgia"/>
                <a:cs typeface="Georgia"/>
              </a:rPr>
              <a:t>objective.</a:t>
            </a:r>
            <a:r>
              <a:rPr sz="1100" spc="150" dirty="0">
                <a:latin typeface="Georgia"/>
                <a:cs typeface="Georgia"/>
              </a:rPr>
              <a:t> </a:t>
            </a:r>
            <a:r>
              <a:rPr sz="1100" dirty="0">
                <a:latin typeface="Georgia"/>
                <a:cs typeface="Georgia"/>
              </a:rPr>
              <a:t>As</a:t>
            </a:r>
            <a:r>
              <a:rPr sz="1100" spc="40" dirty="0">
                <a:latin typeface="Georgia"/>
                <a:cs typeface="Georgia"/>
              </a:rPr>
              <a:t> </a:t>
            </a:r>
            <a:r>
              <a:rPr sz="1100" spc="-20" dirty="0">
                <a:latin typeface="Georgia"/>
                <a:cs typeface="Georgia"/>
              </a:rPr>
              <a:t>such</a:t>
            </a:r>
            <a:r>
              <a:rPr sz="1100" spc="40" dirty="0">
                <a:latin typeface="Georgia"/>
                <a:cs typeface="Georgia"/>
              </a:rPr>
              <a:t> </a:t>
            </a:r>
            <a:r>
              <a:rPr sz="1100" dirty="0">
                <a:latin typeface="Georgia"/>
                <a:cs typeface="Georgia"/>
              </a:rPr>
              <a:t>it</a:t>
            </a:r>
            <a:r>
              <a:rPr sz="1100" spc="40" dirty="0">
                <a:latin typeface="Georgia"/>
                <a:cs typeface="Georgia"/>
              </a:rPr>
              <a:t> </a:t>
            </a:r>
            <a:r>
              <a:rPr sz="1100" dirty="0">
                <a:latin typeface="Georgia"/>
                <a:cs typeface="Georgia"/>
              </a:rPr>
              <a:t>can</a:t>
            </a:r>
            <a:r>
              <a:rPr sz="1100" spc="40" dirty="0">
                <a:latin typeface="Georgia"/>
                <a:cs typeface="Georgia"/>
              </a:rPr>
              <a:t> </a:t>
            </a:r>
            <a:r>
              <a:rPr sz="1100" spc="-35" dirty="0">
                <a:latin typeface="Georgia"/>
                <a:cs typeface="Georgia"/>
              </a:rPr>
              <a:t>converge</a:t>
            </a:r>
            <a:r>
              <a:rPr sz="1100" spc="40" dirty="0">
                <a:latin typeface="Georgia"/>
                <a:cs typeface="Georgia"/>
              </a:rPr>
              <a:t> </a:t>
            </a:r>
            <a:r>
              <a:rPr sz="1100" dirty="0">
                <a:latin typeface="Georgia"/>
                <a:cs typeface="Georgia"/>
              </a:rPr>
              <a:t>to</a:t>
            </a:r>
            <a:r>
              <a:rPr sz="1100" spc="40" dirty="0">
                <a:latin typeface="Georgia"/>
                <a:cs typeface="Georgia"/>
              </a:rPr>
              <a:t> </a:t>
            </a:r>
            <a:r>
              <a:rPr sz="1100" dirty="0">
                <a:latin typeface="Georgia"/>
                <a:cs typeface="Georgia"/>
              </a:rPr>
              <a:t>a</a:t>
            </a:r>
            <a:r>
              <a:rPr sz="1100" spc="40" dirty="0">
                <a:latin typeface="Georgia"/>
                <a:cs typeface="Georgia"/>
              </a:rPr>
              <a:t> </a:t>
            </a:r>
            <a:r>
              <a:rPr sz="1100" dirty="0">
                <a:latin typeface="Georgia"/>
                <a:cs typeface="Georgia"/>
              </a:rPr>
              <a:t>local</a:t>
            </a:r>
            <a:r>
              <a:rPr sz="1100" spc="40" dirty="0">
                <a:latin typeface="Georgia"/>
                <a:cs typeface="Georgia"/>
              </a:rPr>
              <a:t> </a:t>
            </a:r>
            <a:r>
              <a:rPr sz="1100" spc="-10" dirty="0">
                <a:latin typeface="Georgia"/>
                <a:cs typeface="Georgia"/>
              </a:rPr>
              <a:t>optima instead</a:t>
            </a:r>
            <a:r>
              <a:rPr sz="1100" spc="5" dirty="0">
                <a:latin typeface="Georgia"/>
                <a:cs typeface="Georgia"/>
              </a:rPr>
              <a:t> </a:t>
            </a:r>
            <a:r>
              <a:rPr sz="1100" dirty="0">
                <a:latin typeface="Georgia"/>
                <a:cs typeface="Georgia"/>
              </a:rPr>
              <a:t>of</a:t>
            </a:r>
            <a:r>
              <a:rPr sz="1100" spc="10" dirty="0">
                <a:latin typeface="Georgia"/>
                <a:cs typeface="Georgia"/>
              </a:rPr>
              <a:t> </a:t>
            </a:r>
            <a:r>
              <a:rPr sz="1100" dirty="0">
                <a:latin typeface="Georgia"/>
                <a:cs typeface="Georgia"/>
              </a:rPr>
              <a:t>the</a:t>
            </a:r>
            <a:r>
              <a:rPr sz="1100" spc="10" dirty="0">
                <a:latin typeface="Georgia"/>
                <a:cs typeface="Georgia"/>
              </a:rPr>
              <a:t> </a:t>
            </a:r>
            <a:r>
              <a:rPr sz="1100" dirty="0">
                <a:latin typeface="Georgia"/>
                <a:cs typeface="Georgia"/>
              </a:rPr>
              <a:t>globally</a:t>
            </a:r>
            <a:r>
              <a:rPr sz="1100" spc="10" dirty="0">
                <a:latin typeface="Georgia"/>
                <a:cs typeface="Georgia"/>
              </a:rPr>
              <a:t> </a:t>
            </a:r>
            <a:r>
              <a:rPr sz="1100" spc="-30" dirty="0">
                <a:latin typeface="Georgia"/>
                <a:cs typeface="Georgia"/>
              </a:rPr>
              <a:t>optimum</a:t>
            </a:r>
            <a:r>
              <a:rPr sz="1100" spc="10" dirty="0">
                <a:latin typeface="Georgia"/>
                <a:cs typeface="Georgia"/>
              </a:rPr>
              <a:t> </a:t>
            </a:r>
            <a:r>
              <a:rPr sz="1100" spc="-10" dirty="0">
                <a:latin typeface="Georgia"/>
                <a:cs typeface="Georgia"/>
              </a:rPr>
              <a:t>clustering.</a:t>
            </a:r>
            <a:endParaRPr sz="1100">
              <a:latin typeface="Georgia"/>
              <a:cs typeface="Georgia"/>
            </a:endParaRPr>
          </a:p>
        </p:txBody>
      </p:sp>
      <p:grpSp>
        <p:nvGrpSpPr>
          <p:cNvPr id="29" name="object 29"/>
          <p:cNvGrpSpPr/>
          <p:nvPr/>
        </p:nvGrpSpPr>
        <p:grpSpPr>
          <a:xfrm>
            <a:off x="0" y="3121545"/>
            <a:ext cx="5760085" cy="118745"/>
            <a:chOff x="0" y="3121545"/>
            <a:chExt cx="5760085" cy="118745"/>
          </a:xfrm>
        </p:grpSpPr>
        <p:sp>
          <p:nvSpPr>
            <p:cNvPr id="30" name="object 3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31" name="object 3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32" name="object 3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33" name="object 3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34" name="object 3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56</a:t>
            </a:fld>
            <a:r>
              <a:rPr spc="-25" dirty="0"/>
              <a:t> </a:t>
            </a:r>
            <a:r>
              <a:rPr spc="75" dirty="0"/>
              <a:t>/</a:t>
            </a:r>
            <a:r>
              <a:rPr spc="-25" dirty="0"/>
              <a:t> </a:t>
            </a:r>
            <a:r>
              <a:rPr spc="35" dirty="0"/>
              <a:t>135</a:t>
            </a:r>
          </a:p>
        </p:txBody>
      </p:sp>
      <p:pic>
        <p:nvPicPr>
          <p:cNvPr id="35" name="Picture 34">
            <a:extLst>
              <a:ext uri="{FF2B5EF4-FFF2-40B4-BE49-F238E27FC236}">
                <a16:creationId xmlns:a16="http://schemas.microsoft.com/office/drawing/2014/main" id="{932904AD-A86B-D5B3-60DE-948A593506C9}"/>
              </a:ext>
            </a:extLst>
          </p:cNvPr>
          <p:cNvPicPr>
            <a:picLocks noChangeAspect="1"/>
          </p:cNvPicPr>
          <p:nvPr/>
        </p:nvPicPr>
        <p:blipFill>
          <a:blip r:embed="rId3"/>
          <a:stretch>
            <a:fillRect/>
          </a:stretch>
        </p:blipFill>
        <p:spPr>
          <a:xfrm>
            <a:off x="1992198" y="923929"/>
            <a:ext cx="1819808" cy="470244"/>
          </a:xfrm>
          <a:prstGeom prst="rect">
            <a:avLst/>
          </a:prstGeom>
        </p:spPr>
      </p:pic>
      <p:pic>
        <p:nvPicPr>
          <p:cNvPr id="36" name="Picture 35">
            <a:extLst>
              <a:ext uri="{FF2B5EF4-FFF2-40B4-BE49-F238E27FC236}">
                <a16:creationId xmlns:a16="http://schemas.microsoft.com/office/drawing/2014/main" id="{39B70C01-7683-392F-DD5E-98FB93934EAC}"/>
              </a:ext>
            </a:extLst>
          </p:cNvPr>
          <p:cNvPicPr>
            <a:picLocks noChangeAspect="1"/>
          </p:cNvPicPr>
          <p:nvPr/>
        </p:nvPicPr>
        <p:blipFill>
          <a:blip r:embed="rId4"/>
          <a:stretch>
            <a:fillRect/>
          </a:stretch>
        </p:blipFill>
        <p:spPr>
          <a:xfrm>
            <a:off x="1113556" y="1658569"/>
            <a:ext cx="3532896" cy="80456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245" dirty="0"/>
              <a:t> </a:t>
            </a:r>
            <a:r>
              <a:rPr dirty="0"/>
              <a:t>algorithm</a:t>
            </a:r>
            <a:r>
              <a:rPr spc="245" dirty="0"/>
              <a:t> </a:t>
            </a:r>
            <a:r>
              <a:rPr spc="-10" dirty="0"/>
              <a:t>(cont’d)</a:t>
            </a:r>
          </a:p>
        </p:txBody>
      </p:sp>
      <p:sp>
        <p:nvSpPr>
          <p:cNvPr id="3" name="object 3"/>
          <p:cNvSpPr/>
          <p:nvPr/>
        </p:nvSpPr>
        <p:spPr>
          <a:xfrm>
            <a:off x="337972" y="68282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119636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620229" y="1391907"/>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6" name="object 6"/>
          <p:cNvSpPr/>
          <p:nvPr/>
        </p:nvSpPr>
        <p:spPr>
          <a:xfrm>
            <a:off x="620229" y="1556969"/>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7" name="object 7"/>
          <p:cNvSpPr/>
          <p:nvPr/>
        </p:nvSpPr>
        <p:spPr>
          <a:xfrm>
            <a:off x="337972" y="1815312"/>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pic>
        <p:nvPicPr>
          <p:cNvPr id="8" name="object 8"/>
          <p:cNvPicPr/>
          <p:nvPr/>
        </p:nvPicPr>
        <p:blipFill>
          <a:blip r:embed="rId2" cstate="print"/>
          <a:stretch>
            <a:fillRect/>
          </a:stretch>
        </p:blipFill>
        <p:spPr>
          <a:xfrm>
            <a:off x="3131654" y="2501506"/>
            <a:ext cx="34925" cy="139700"/>
          </a:xfrm>
          <a:prstGeom prst="rect">
            <a:avLst/>
          </a:prstGeom>
        </p:spPr>
      </p:pic>
      <p:pic>
        <p:nvPicPr>
          <p:cNvPr id="9" name="object 9"/>
          <p:cNvPicPr/>
          <p:nvPr/>
        </p:nvPicPr>
        <p:blipFill>
          <a:blip r:embed="rId2" cstate="print"/>
          <a:stretch>
            <a:fillRect/>
          </a:stretch>
        </p:blipFill>
        <p:spPr>
          <a:xfrm>
            <a:off x="3651021" y="2501506"/>
            <a:ext cx="34925" cy="139700"/>
          </a:xfrm>
          <a:prstGeom prst="rect">
            <a:avLst/>
          </a:prstGeom>
        </p:spPr>
      </p:pic>
      <p:sp>
        <p:nvSpPr>
          <p:cNvPr id="10" name="object 10"/>
          <p:cNvSpPr txBox="1"/>
          <p:nvPr/>
        </p:nvSpPr>
        <p:spPr>
          <a:xfrm>
            <a:off x="390677" y="591221"/>
            <a:ext cx="5243195" cy="2204834"/>
          </a:xfrm>
          <a:prstGeom prst="rect">
            <a:avLst/>
          </a:prstGeom>
        </p:spPr>
        <p:txBody>
          <a:bodyPr vert="horz" wrap="square" lIns="0" tIns="34290" rIns="0" bIns="0" rtlCol="0">
            <a:spAutoFit/>
          </a:bodyPr>
          <a:lstStyle/>
          <a:p>
            <a:pPr marL="76200" marR="135255" algn="just">
              <a:lnSpc>
                <a:spcPts val="1150"/>
              </a:lnSpc>
              <a:spcBef>
                <a:spcPts val="270"/>
              </a:spcBef>
            </a:pPr>
            <a:r>
              <a:rPr sz="1100" i="1" dirty="0">
                <a:latin typeface="Calibri"/>
                <a:cs typeface="Calibri"/>
              </a:rPr>
              <a:t>K</a:t>
            </a:r>
            <a:r>
              <a:rPr sz="1100" dirty="0">
                <a:latin typeface="Georgia"/>
                <a:cs typeface="Georgia"/>
              </a:rPr>
              <a:t>–means</a:t>
            </a:r>
            <a:r>
              <a:rPr sz="1100" spc="25" dirty="0">
                <a:latin typeface="Georgia"/>
                <a:cs typeface="Georgia"/>
              </a:rPr>
              <a:t> </a:t>
            </a:r>
            <a:r>
              <a:rPr sz="1100" spc="-10" dirty="0">
                <a:latin typeface="Georgia"/>
                <a:cs typeface="Georgia"/>
              </a:rPr>
              <a:t>initializes</a:t>
            </a:r>
            <a:r>
              <a:rPr sz="1100" spc="25"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cluster</a:t>
            </a:r>
            <a:r>
              <a:rPr sz="1100" spc="25" dirty="0">
                <a:latin typeface="Georgia"/>
                <a:cs typeface="Georgia"/>
              </a:rPr>
              <a:t> </a:t>
            </a:r>
            <a:r>
              <a:rPr sz="1100" spc="-25" dirty="0">
                <a:latin typeface="Georgia"/>
                <a:cs typeface="Georgia"/>
              </a:rPr>
              <a:t>means</a:t>
            </a:r>
            <a:r>
              <a:rPr sz="1100" spc="25" dirty="0">
                <a:latin typeface="Georgia"/>
                <a:cs typeface="Georgia"/>
              </a:rPr>
              <a:t> </a:t>
            </a:r>
            <a:r>
              <a:rPr sz="1100" dirty="0">
                <a:latin typeface="Georgia"/>
                <a:cs typeface="Georgia"/>
              </a:rPr>
              <a:t>by</a:t>
            </a:r>
            <a:r>
              <a:rPr sz="1100" spc="25" dirty="0">
                <a:latin typeface="Georgia"/>
                <a:cs typeface="Georgia"/>
              </a:rPr>
              <a:t> </a:t>
            </a:r>
            <a:r>
              <a:rPr sz="1100" spc="-20" dirty="0">
                <a:latin typeface="Georgia"/>
                <a:cs typeface="Georgia"/>
              </a:rPr>
              <a:t>randomly</a:t>
            </a:r>
            <a:r>
              <a:rPr sz="1100" spc="25" dirty="0">
                <a:latin typeface="Georgia"/>
                <a:cs typeface="Georgia"/>
              </a:rPr>
              <a:t> </a:t>
            </a:r>
            <a:r>
              <a:rPr sz="1100" spc="-20" dirty="0">
                <a:latin typeface="Georgia"/>
                <a:cs typeface="Georgia"/>
              </a:rPr>
              <a:t>generating</a:t>
            </a:r>
            <a:r>
              <a:rPr sz="1100" spc="25" dirty="0">
                <a:latin typeface="Georgia"/>
                <a:cs typeface="Georgia"/>
              </a:rPr>
              <a:t> </a:t>
            </a:r>
            <a:r>
              <a:rPr sz="1100" i="1" spc="65" dirty="0">
                <a:latin typeface="Calibri"/>
                <a:cs typeface="Calibri"/>
              </a:rPr>
              <a:t>k </a:t>
            </a:r>
            <a:r>
              <a:rPr sz="1100" spc="-10" dirty="0">
                <a:latin typeface="Georgia"/>
                <a:cs typeface="Georgia"/>
              </a:rPr>
              <a:t>points</a:t>
            </a:r>
            <a:r>
              <a:rPr sz="1100" spc="25"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the</a:t>
            </a:r>
            <a:r>
              <a:rPr sz="1100" spc="25" dirty="0">
                <a:latin typeface="Georgia"/>
                <a:cs typeface="Georgia"/>
              </a:rPr>
              <a:t> </a:t>
            </a:r>
            <a:r>
              <a:rPr sz="1100" spc="-20" dirty="0">
                <a:latin typeface="Georgia"/>
                <a:cs typeface="Georgia"/>
              </a:rPr>
              <a:t>data </a:t>
            </a:r>
            <a:r>
              <a:rPr sz="1100" dirty="0">
                <a:latin typeface="Georgia"/>
                <a:cs typeface="Georgia"/>
              </a:rPr>
              <a:t>space.</a:t>
            </a:r>
            <a:r>
              <a:rPr sz="1100" spc="114" dirty="0">
                <a:latin typeface="Georgia"/>
                <a:cs typeface="Georgia"/>
              </a:rPr>
              <a:t> </a:t>
            </a:r>
            <a:r>
              <a:rPr sz="1100" dirty="0">
                <a:latin typeface="Georgia"/>
                <a:cs typeface="Georgia"/>
              </a:rPr>
              <a:t>This</a:t>
            </a:r>
            <a:r>
              <a:rPr sz="1100" spc="25" dirty="0">
                <a:latin typeface="Georgia"/>
                <a:cs typeface="Georgia"/>
              </a:rPr>
              <a:t> </a:t>
            </a:r>
            <a:r>
              <a:rPr sz="1100" dirty="0">
                <a:latin typeface="Georgia"/>
                <a:cs typeface="Georgia"/>
              </a:rPr>
              <a:t>is</a:t>
            </a:r>
            <a:r>
              <a:rPr sz="1100" spc="25" dirty="0">
                <a:latin typeface="Georgia"/>
                <a:cs typeface="Georgia"/>
              </a:rPr>
              <a:t> </a:t>
            </a:r>
            <a:r>
              <a:rPr sz="1100" dirty="0">
                <a:latin typeface="Georgia"/>
                <a:cs typeface="Georgia"/>
              </a:rPr>
              <a:t>typically</a:t>
            </a:r>
            <a:r>
              <a:rPr sz="1100" spc="25" dirty="0">
                <a:latin typeface="Georgia"/>
                <a:cs typeface="Georgia"/>
              </a:rPr>
              <a:t> </a:t>
            </a:r>
            <a:r>
              <a:rPr sz="1100" spc="-20" dirty="0">
                <a:latin typeface="Georgia"/>
                <a:cs typeface="Georgia"/>
              </a:rPr>
              <a:t>done</a:t>
            </a:r>
            <a:r>
              <a:rPr sz="1100" spc="25" dirty="0">
                <a:latin typeface="Georgia"/>
                <a:cs typeface="Georgia"/>
              </a:rPr>
              <a:t> </a:t>
            </a:r>
            <a:r>
              <a:rPr sz="1100" dirty="0">
                <a:latin typeface="Georgia"/>
                <a:cs typeface="Georgia"/>
              </a:rPr>
              <a:t>by</a:t>
            </a:r>
            <a:r>
              <a:rPr sz="1100" spc="25" dirty="0">
                <a:latin typeface="Georgia"/>
                <a:cs typeface="Georgia"/>
              </a:rPr>
              <a:t> </a:t>
            </a:r>
            <a:r>
              <a:rPr sz="1100" spc="-20" dirty="0">
                <a:latin typeface="Georgia"/>
                <a:cs typeface="Georgia"/>
              </a:rPr>
              <a:t>generating</a:t>
            </a:r>
            <a:r>
              <a:rPr sz="1100" spc="25" dirty="0">
                <a:latin typeface="Georgia"/>
                <a:cs typeface="Georgia"/>
              </a:rPr>
              <a:t> </a:t>
            </a:r>
            <a:r>
              <a:rPr sz="1100" dirty="0">
                <a:latin typeface="Georgia"/>
                <a:cs typeface="Georgia"/>
              </a:rPr>
              <a:t>a</a:t>
            </a:r>
            <a:r>
              <a:rPr sz="1100" spc="25" dirty="0">
                <a:latin typeface="Georgia"/>
                <a:cs typeface="Georgia"/>
              </a:rPr>
              <a:t> </a:t>
            </a:r>
            <a:r>
              <a:rPr sz="1100" spc="-10" dirty="0">
                <a:latin typeface="Georgia"/>
                <a:cs typeface="Georgia"/>
              </a:rPr>
              <a:t>value</a:t>
            </a:r>
            <a:r>
              <a:rPr sz="1100" spc="25" dirty="0">
                <a:latin typeface="Georgia"/>
                <a:cs typeface="Georgia"/>
              </a:rPr>
              <a:t> </a:t>
            </a:r>
            <a:r>
              <a:rPr sz="1100" spc="-25" dirty="0">
                <a:latin typeface="Georgia"/>
                <a:cs typeface="Georgia"/>
              </a:rPr>
              <a:t>uniformly</a:t>
            </a:r>
            <a:r>
              <a:rPr sz="1100" spc="30" dirty="0">
                <a:latin typeface="Georgia"/>
                <a:cs typeface="Georgia"/>
              </a:rPr>
              <a:t> </a:t>
            </a:r>
            <a:r>
              <a:rPr sz="1100" dirty="0">
                <a:latin typeface="Georgia"/>
                <a:cs typeface="Georgia"/>
              </a:rPr>
              <a:t>at</a:t>
            </a:r>
            <a:r>
              <a:rPr sz="1100" spc="25" dirty="0">
                <a:latin typeface="Georgia"/>
                <a:cs typeface="Georgia"/>
              </a:rPr>
              <a:t> </a:t>
            </a:r>
            <a:r>
              <a:rPr sz="1100" spc="-25" dirty="0">
                <a:latin typeface="Georgia"/>
                <a:cs typeface="Georgia"/>
              </a:rPr>
              <a:t>random</a:t>
            </a:r>
            <a:r>
              <a:rPr sz="1100" spc="25" dirty="0">
                <a:latin typeface="Georgia"/>
                <a:cs typeface="Georgia"/>
              </a:rPr>
              <a:t> </a:t>
            </a:r>
            <a:r>
              <a:rPr sz="1100" dirty="0">
                <a:latin typeface="Georgia"/>
                <a:cs typeface="Georgia"/>
              </a:rPr>
              <a:t>within</a:t>
            </a:r>
            <a:r>
              <a:rPr sz="1100" spc="25" dirty="0">
                <a:latin typeface="Georgia"/>
                <a:cs typeface="Georgia"/>
              </a:rPr>
              <a:t> </a:t>
            </a:r>
            <a:r>
              <a:rPr sz="1100" spc="-25" dirty="0">
                <a:latin typeface="Georgia"/>
                <a:cs typeface="Georgia"/>
              </a:rPr>
              <a:t>the </a:t>
            </a:r>
            <a:r>
              <a:rPr sz="1100" spc="-20" dirty="0">
                <a:latin typeface="Georgia"/>
                <a:cs typeface="Georgia"/>
              </a:rPr>
              <a:t>range</a:t>
            </a:r>
            <a:r>
              <a:rPr sz="1100" spc="-15" dirty="0">
                <a:latin typeface="Georgia"/>
                <a:cs typeface="Georgia"/>
              </a:rPr>
              <a:t> </a:t>
            </a:r>
            <a:r>
              <a:rPr sz="1100" dirty="0">
                <a:latin typeface="Georgia"/>
                <a:cs typeface="Georgia"/>
              </a:rPr>
              <a:t>for</a:t>
            </a:r>
            <a:r>
              <a:rPr sz="1100" spc="-10" dirty="0">
                <a:latin typeface="Georgia"/>
                <a:cs typeface="Georgia"/>
              </a:rPr>
              <a:t> each dimension.</a:t>
            </a:r>
            <a:endParaRPr sz="1100">
              <a:latin typeface="Georgia"/>
              <a:cs typeface="Georgia"/>
            </a:endParaRPr>
          </a:p>
          <a:p>
            <a:pPr marL="76200" algn="just">
              <a:lnSpc>
                <a:spcPct val="100000"/>
              </a:lnSpc>
              <a:spcBef>
                <a:spcPts val="414"/>
              </a:spcBef>
            </a:pPr>
            <a:r>
              <a:rPr sz="1100" dirty="0">
                <a:latin typeface="Georgia"/>
                <a:cs typeface="Georgia"/>
              </a:rPr>
              <a:t>Each</a:t>
            </a:r>
            <a:r>
              <a:rPr sz="1100" spc="15" dirty="0">
                <a:latin typeface="Georgia"/>
                <a:cs typeface="Georgia"/>
              </a:rPr>
              <a:t> </a:t>
            </a:r>
            <a:r>
              <a:rPr sz="1100" spc="-10" dirty="0">
                <a:latin typeface="Georgia"/>
                <a:cs typeface="Georgia"/>
              </a:rPr>
              <a:t>iteration</a:t>
            </a:r>
            <a:r>
              <a:rPr sz="1100" spc="20" dirty="0">
                <a:latin typeface="Georgia"/>
                <a:cs typeface="Georgia"/>
              </a:rPr>
              <a:t> </a:t>
            </a:r>
            <a:r>
              <a:rPr sz="1100" dirty="0">
                <a:latin typeface="Georgia"/>
                <a:cs typeface="Georgia"/>
              </a:rPr>
              <a:t>of</a:t>
            </a:r>
            <a:r>
              <a:rPr sz="1100" spc="15" dirty="0">
                <a:latin typeface="Georgia"/>
                <a:cs typeface="Georgia"/>
              </a:rPr>
              <a:t> </a:t>
            </a:r>
            <a:r>
              <a:rPr sz="1100" i="1" spc="-35" dirty="0">
                <a:latin typeface="Calibri"/>
                <a:cs typeface="Calibri"/>
              </a:rPr>
              <a:t>k</a:t>
            </a:r>
            <a:r>
              <a:rPr sz="1100" spc="-35" dirty="0">
                <a:latin typeface="Georgia"/>
                <a:cs typeface="Georgia"/>
              </a:rPr>
              <a:t>–means</a:t>
            </a:r>
            <a:r>
              <a:rPr sz="1100" spc="20" dirty="0">
                <a:latin typeface="Georgia"/>
                <a:cs typeface="Georgia"/>
              </a:rPr>
              <a:t> </a:t>
            </a:r>
            <a:r>
              <a:rPr sz="1100" spc="-25" dirty="0">
                <a:latin typeface="Georgia"/>
                <a:cs typeface="Georgia"/>
              </a:rPr>
              <a:t>consists</a:t>
            </a:r>
            <a:r>
              <a:rPr sz="1100" spc="15" dirty="0">
                <a:latin typeface="Georgia"/>
                <a:cs typeface="Georgia"/>
              </a:rPr>
              <a:t> </a:t>
            </a:r>
            <a:r>
              <a:rPr sz="1100" dirty="0">
                <a:latin typeface="Georgia"/>
                <a:cs typeface="Georgia"/>
              </a:rPr>
              <a:t>of</a:t>
            </a:r>
            <a:r>
              <a:rPr sz="1100" spc="20" dirty="0">
                <a:latin typeface="Georgia"/>
                <a:cs typeface="Georgia"/>
              </a:rPr>
              <a:t> </a:t>
            </a:r>
            <a:r>
              <a:rPr sz="1100" dirty="0">
                <a:latin typeface="Georgia"/>
                <a:cs typeface="Georgia"/>
              </a:rPr>
              <a:t>two</a:t>
            </a:r>
            <a:r>
              <a:rPr sz="1100" spc="15" dirty="0">
                <a:latin typeface="Georgia"/>
                <a:cs typeface="Georgia"/>
              </a:rPr>
              <a:t> </a:t>
            </a:r>
            <a:r>
              <a:rPr sz="1100" spc="-10" dirty="0">
                <a:latin typeface="Georgia"/>
                <a:cs typeface="Georgia"/>
              </a:rPr>
              <a:t>steps:</a:t>
            </a:r>
            <a:endParaRPr sz="1100">
              <a:latin typeface="Georgia"/>
              <a:cs typeface="Georgia"/>
            </a:endParaRPr>
          </a:p>
          <a:p>
            <a:pPr marL="353060" marR="3447415" algn="just">
              <a:lnSpc>
                <a:spcPct val="108300"/>
              </a:lnSpc>
              <a:spcBef>
                <a:spcPts val="175"/>
              </a:spcBef>
            </a:pPr>
            <a:r>
              <a:rPr sz="1000" dirty="0">
                <a:latin typeface="Georgia"/>
                <a:cs typeface="Georgia"/>
              </a:rPr>
              <a:t>Cluster</a:t>
            </a:r>
            <a:r>
              <a:rPr sz="1000" spc="40" dirty="0">
                <a:latin typeface="Georgia"/>
                <a:cs typeface="Georgia"/>
              </a:rPr>
              <a:t> </a:t>
            </a:r>
            <a:r>
              <a:rPr sz="1000" spc="-25" dirty="0">
                <a:latin typeface="Georgia"/>
                <a:cs typeface="Georgia"/>
              </a:rPr>
              <a:t>assignment,</a:t>
            </a:r>
            <a:r>
              <a:rPr sz="1000" spc="45" dirty="0">
                <a:latin typeface="Georgia"/>
                <a:cs typeface="Georgia"/>
              </a:rPr>
              <a:t> </a:t>
            </a:r>
            <a:r>
              <a:rPr sz="1000" spc="-25" dirty="0">
                <a:latin typeface="Georgia"/>
                <a:cs typeface="Georgia"/>
              </a:rPr>
              <a:t>and </a:t>
            </a:r>
            <a:r>
              <a:rPr sz="1000" spc="-10" dirty="0">
                <a:latin typeface="Georgia"/>
                <a:cs typeface="Georgia"/>
              </a:rPr>
              <a:t>Centroid</a:t>
            </a:r>
            <a:r>
              <a:rPr sz="1000" spc="15" dirty="0">
                <a:latin typeface="Georgia"/>
                <a:cs typeface="Georgia"/>
              </a:rPr>
              <a:t> </a:t>
            </a:r>
            <a:r>
              <a:rPr sz="1000" dirty="0">
                <a:latin typeface="Georgia"/>
                <a:cs typeface="Georgia"/>
              </a:rPr>
              <a:t>or</a:t>
            </a:r>
            <a:r>
              <a:rPr sz="1000" spc="15" dirty="0">
                <a:latin typeface="Georgia"/>
                <a:cs typeface="Georgia"/>
              </a:rPr>
              <a:t> </a:t>
            </a:r>
            <a:r>
              <a:rPr sz="1000" spc="-10" dirty="0">
                <a:latin typeface="Georgia"/>
                <a:cs typeface="Georgia"/>
              </a:rPr>
              <a:t>mean</a:t>
            </a:r>
            <a:r>
              <a:rPr sz="1000" spc="20" dirty="0">
                <a:latin typeface="Georgia"/>
                <a:cs typeface="Georgia"/>
              </a:rPr>
              <a:t> </a:t>
            </a:r>
            <a:r>
              <a:rPr sz="1000" spc="-10" dirty="0">
                <a:latin typeface="Georgia"/>
                <a:cs typeface="Georgia"/>
              </a:rPr>
              <a:t>update.</a:t>
            </a:r>
            <a:endParaRPr sz="1000">
              <a:latin typeface="Georgia"/>
              <a:cs typeface="Georgia"/>
            </a:endParaRPr>
          </a:p>
          <a:p>
            <a:pPr marL="76200" marR="169545">
              <a:lnSpc>
                <a:spcPts val="1150"/>
              </a:lnSpc>
              <a:spcBef>
                <a:spcPts val="955"/>
              </a:spcBef>
            </a:pPr>
            <a:r>
              <a:rPr sz="1100" dirty="0">
                <a:latin typeface="Georgia"/>
                <a:cs typeface="Georgia"/>
              </a:rPr>
              <a:t>Given</a:t>
            </a:r>
            <a:r>
              <a:rPr sz="1100" spc="-20" dirty="0">
                <a:latin typeface="Georgia"/>
                <a:cs typeface="Georgia"/>
              </a:rPr>
              <a:t> </a:t>
            </a:r>
            <a:r>
              <a:rPr sz="1100" dirty="0">
                <a:latin typeface="Georgia"/>
                <a:cs typeface="Georgia"/>
              </a:rPr>
              <a:t>the</a:t>
            </a:r>
            <a:r>
              <a:rPr sz="1100" spc="35" dirty="0">
                <a:latin typeface="Georgia"/>
                <a:cs typeface="Georgia"/>
              </a:rPr>
              <a:t> </a:t>
            </a:r>
            <a:r>
              <a:rPr sz="1100" i="1" spc="65" dirty="0">
                <a:latin typeface="Calibri"/>
                <a:cs typeface="Calibri"/>
              </a:rPr>
              <a:t>k</a:t>
            </a:r>
            <a:r>
              <a:rPr sz="1100" i="1" spc="80" dirty="0">
                <a:latin typeface="Calibri"/>
                <a:cs typeface="Calibri"/>
              </a:rPr>
              <a:t> </a:t>
            </a:r>
            <a:r>
              <a:rPr sz="1100" spc="-10" dirty="0">
                <a:latin typeface="Georgia"/>
                <a:cs typeface="Georgia"/>
              </a:rPr>
              <a:t>cluster</a:t>
            </a:r>
            <a:r>
              <a:rPr sz="1100" spc="30" dirty="0">
                <a:latin typeface="Georgia"/>
                <a:cs typeface="Georgia"/>
              </a:rPr>
              <a:t> </a:t>
            </a:r>
            <a:r>
              <a:rPr sz="1100" spc="-25" dirty="0">
                <a:latin typeface="Georgia"/>
                <a:cs typeface="Georgia"/>
              </a:rPr>
              <a:t>means,</a:t>
            </a:r>
            <a:r>
              <a:rPr sz="1100" spc="35" dirty="0">
                <a:latin typeface="Georgia"/>
                <a:cs typeface="Georgia"/>
              </a:rPr>
              <a:t> </a:t>
            </a:r>
            <a:r>
              <a:rPr sz="1100" dirty="0">
                <a:latin typeface="Georgia"/>
                <a:cs typeface="Georgia"/>
              </a:rPr>
              <a:t>in</a:t>
            </a:r>
            <a:r>
              <a:rPr sz="1100" spc="35" dirty="0">
                <a:latin typeface="Georgia"/>
                <a:cs typeface="Georgia"/>
              </a:rPr>
              <a:t> </a:t>
            </a:r>
            <a:r>
              <a:rPr sz="1100" dirty="0">
                <a:latin typeface="Georgia"/>
                <a:cs typeface="Georgia"/>
              </a:rPr>
              <a:t>the</a:t>
            </a:r>
            <a:r>
              <a:rPr sz="1100" spc="35" dirty="0">
                <a:latin typeface="Georgia"/>
                <a:cs typeface="Georgia"/>
              </a:rPr>
              <a:t> </a:t>
            </a:r>
            <a:r>
              <a:rPr sz="1100" b="1" spc="-30" dirty="0">
                <a:latin typeface="Georgia"/>
                <a:cs typeface="Georgia"/>
              </a:rPr>
              <a:t>cluster</a:t>
            </a:r>
            <a:r>
              <a:rPr sz="1100" b="1" spc="65" dirty="0">
                <a:latin typeface="Georgia"/>
                <a:cs typeface="Georgia"/>
              </a:rPr>
              <a:t> </a:t>
            </a:r>
            <a:r>
              <a:rPr sz="1100" b="1" spc="-50" dirty="0">
                <a:latin typeface="Georgia"/>
                <a:cs typeface="Georgia"/>
              </a:rPr>
              <a:t>assignment</a:t>
            </a:r>
            <a:r>
              <a:rPr sz="1100" b="1" spc="65" dirty="0">
                <a:latin typeface="Georgia"/>
                <a:cs typeface="Georgia"/>
              </a:rPr>
              <a:t> </a:t>
            </a:r>
            <a:r>
              <a:rPr sz="1100" b="1" spc="-10" dirty="0">
                <a:latin typeface="Georgia"/>
                <a:cs typeface="Georgia"/>
              </a:rPr>
              <a:t>step</a:t>
            </a:r>
            <a:r>
              <a:rPr sz="1100" spc="-10" dirty="0">
                <a:latin typeface="Georgia"/>
                <a:cs typeface="Georgia"/>
              </a:rPr>
              <a:t>,</a:t>
            </a:r>
            <a:r>
              <a:rPr sz="1100" spc="35" dirty="0">
                <a:latin typeface="Georgia"/>
                <a:cs typeface="Georgia"/>
              </a:rPr>
              <a:t> </a:t>
            </a:r>
            <a:r>
              <a:rPr sz="1100" spc="-10" dirty="0">
                <a:latin typeface="Georgia"/>
                <a:cs typeface="Georgia"/>
              </a:rPr>
              <a:t>each</a:t>
            </a:r>
            <a:r>
              <a:rPr sz="1100" spc="35" dirty="0">
                <a:latin typeface="Georgia"/>
                <a:cs typeface="Georgia"/>
              </a:rPr>
              <a:t> </a:t>
            </a:r>
            <a:r>
              <a:rPr sz="1100" dirty="0">
                <a:latin typeface="Georgia"/>
                <a:cs typeface="Georgia"/>
              </a:rPr>
              <a:t>point</a:t>
            </a:r>
            <a:r>
              <a:rPr sz="1100" spc="35" dirty="0">
                <a:latin typeface="Georgia"/>
                <a:cs typeface="Georgia"/>
              </a:rPr>
              <a:t> </a:t>
            </a:r>
            <a:r>
              <a:rPr sz="1100" spc="135" dirty="0">
                <a:latin typeface="Cambria"/>
                <a:cs typeface="Cambria"/>
              </a:rPr>
              <a:t>x</a:t>
            </a:r>
            <a:r>
              <a:rPr sz="1200" i="1" spc="202" baseline="-10416" dirty="0">
                <a:latin typeface="Calibri"/>
                <a:cs typeface="Calibri"/>
              </a:rPr>
              <a:t>j</a:t>
            </a:r>
            <a:r>
              <a:rPr sz="1200" i="1" spc="217" baseline="-10416" dirty="0">
                <a:latin typeface="Calibri"/>
                <a:cs typeface="Calibri"/>
              </a:rPr>
              <a:t> </a:t>
            </a:r>
            <a:r>
              <a:rPr sz="1100" spc="-155" dirty="0">
                <a:latin typeface="Lucida Sans Unicode"/>
                <a:cs typeface="Lucida Sans Unicode"/>
              </a:rPr>
              <a:t>∈</a:t>
            </a:r>
            <a:r>
              <a:rPr sz="1100" spc="-45" dirty="0">
                <a:latin typeface="Lucida Sans Unicode"/>
                <a:cs typeface="Lucida Sans Unicode"/>
              </a:rPr>
              <a:t> </a:t>
            </a:r>
            <a:r>
              <a:rPr sz="1100" spc="114" dirty="0">
                <a:latin typeface="Cambria"/>
                <a:cs typeface="Cambria"/>
              </a:rPr>
              <a:t>D</a:t>
            </a:r>
            <a:r>
              <a:rPr sz="1100" spc="75" dirty="0">
                <a:latin typeface="Cambria"/>
                <a:cs typeface="Cambria"/>
              </a:rPr>
              <a:t> </a:t>
            </a:r>
            <a:r>
              <a:rPr sz="1100" spc="-25" dirty="0">
                <a:latin typeface="Georgia"/>
                <a:cs typeface="Georgia"/>
              </a:rPr>
              <a:t>is </a:t>
            </a:r>
            <a:r>
              <a:rPr sz="1100" spc="-30" dirty="0">
                <a:latin typeface="Georgia"/>
                <a:cs typeface="Georgia"/>
              </a:rPr>
              <a:t>assigned</a:t>
            </a:r>
            <a:r>
              <a:rPr sz="1100" spc="30" dirty="0">
                <a:latin typeface="Georgia"/>
                <a:cs typeface="Georgia"/>
              </a:rPr>
              <a:t> </a:t>
            </a:r>
            <a:r>
              <a:rPr sz="1100" dirty="0">
                <a:latin typeface="Georgia"/>
                <a:cs typeface="Georgia"/>
              </a:rPr>
              <a:t>to</a:t>
            </a:r>
            <a:r>
              <a:rPr sz="1100" spc="30" dirty="0">
                <a:latin typeface="Georgia"/>
                <a:cs typeface="Georgia"/>
              </a:rPr>
              <a:t> </a:t>
            </a:r>
            <a:r>
              <a:rPr sz="1100" dirty="0">
                <a:latin typeface="Georgia"/>
                <a:cs typeface="Georgia"/>
              </a:rPr>
              <a:t>the</a:t>
            </a:r>
            <a:r>
              <a:rPr sz="1100" spc="30" dirty="0">
                <a:latin typeface="Georgia"/>
                <a:cs typeface="Georgia"/>
              </a:rPr>
              <a:t> </a:t>
            </a:r>
            <a:r>
              <a:rPr sz="1100" b="1" spc="-35" dirty="0">
                <a:latin typeface="Georgia"/>
                <a:cs typeface="Georgia"/>
              </a:rPr>
              <a:t>closest</a:t>
            </a:r>
            <a:r>
              <a:rPr sz="1100" b="1" spc="60" dirty="0">
                <a:latin typeface="Georgia"/>
                <a:cs typeface="Georgia"/>
              </a:rPr>
              <a:t> </a:t>
            </a:r>
            <a:r>
              <a:rPr sz="1100" b="1" spc="-35" dirty="0">
                <a:latin typeface="Georgia"/>
                <a:cs typeface="Georgia"/>
              </a:rPr>
              <a:t>mean</a:t>
            </a:r>
            <a:r>
              <a:rPr sz="1100" spc="-35" dirty="0">
                <a:latin typeface="Georgia"/>
                <a:cs typeface="Georgia"/>
              </a:rPr>
              <a:t>,</a:t>
            </a:r>
            <a:r>
              <a:rPr sz="1100" spc="30" dirty="0">
                <a:latin typeface="Georgia"/>
                <a:cs typeface="Georgia"/>
              </a:rPr>
              <a:t> </a:t>
            </a:r>
            <a:r>
              <a:rPr sz="1100" spc="-20" dirty="0">
                <a:latin typeface="Georgia"/>
                <a:cs typeface="Georgia"/>
              </a:rPr>
              <a:t>which</a:t>
            </a:r>
            <a:r>
              <a:rPr sz="1100" spc="30" dirty="0">
                <a:latin typeface="Georgia"/>
                <a:cs typeface="Georgia"/>
              </a:rPr>
              <a:t> </a:t>
            </a:r>
            <a:r>
              <a:rPr sz="1100" spc="-30" dirty="0">
                <a:latin typeface="Georgia"/>
                <a:cs typeface="Georgia"/>
              </a:rPr>
              <a:t>induces</a:t>
            </a:r>
            <a:r>
              <a:rPr sz="1100" spc="30" dirty="0">
                <a:latin typeface="Georgia"/>
                <a:cs typeface="Georgia"/>
              </a:rPr>
              <a:t> </a:t>
            </a:r>
            <a:r>
              <a:rPr sz="1100" dirty="0">
                <a:latin typeface="Georgia"/>
                <a:cs typeface="Georgia"/>
              </a:rPr>
              <a:t>a</a:t>
            </a:r>
            <a:r>
              <a:rPr sz="1100" spc="30" dirty="0">
                <a:latin typeface="Georgia"/>
                <a:cs typeface="Georgia"/>
              </a:rPr>
              <a:t> </a:t>
            </a:r>
            <a:r>
              <a:rPr sz="1100" spc="-20" dirty="0">
                <a:latin typeface="Georgia"/>
                <a:cs typeface="Georgia"/>
              </a:rPr>
              <a:t>clustering,</a:t>
            </a:r>
            <a:r>
              <a:rPr sz="1100" spc="30" dirty="0">
                <a:latin typeface="Georgia"/>
                <a:cs typeface="Georgia"/>
              </a:rPr>
              <a:t> </a:t>
            </a:r>
            <a:r>
              <a:rPr sz="1100" dirty="0">
                <a:latin typeface="Georgia"/>
                <a:cs typeface="Georgia"/>
              </a:rPr>
              <a:t>with</a:t>
            </a:r>
            <a:r>
              <a:rPr sz="1100" spc="30" dirty="0">
                <a:latin typeface="Georgia"/>
                <a:cs typeface="Georgia"/>
              </a:rPr>
              <a:t> </a:t>
            </a:r>
            <a:r>
              <a:rPr sz="1100" spc="-10" dirty="0">
                <a:latin typeface="Georgia"/>
                <a:cs typeface="Georgia"/>
              </a:rPr>
              <a:t>each</a:t>
            </a:r>
            <a:r>
              <a:rPr sz="1100" spc="30" dirty="0">
                <a:latin typeface="Georgia"/>
                <a:cs typeface="Georgia"/>
              </a:rPr>
              <a:t> </a:t>
            </a:r>
            <a:r>
              <a:rPr sz="1100" spc="-10" dirty="0">
                <a:latin typeface="Georgia"/>
                <a:cs typeface="Georgia"/>
              </a:rPr>
              <a:t>cluster</a:t>
            </a:r>
            <a:r>
              <a:rPr sz="1100" spc="30" dirty="0">
                <a:latin typeface="Georgia"/>
                <a:cs typeface="Georgia"/>
              </a:rPr>
              <a:t> </a:t>
            </a:r>
            <a:r>
              <a:rPr sz="1100" i="1" spc="125" dirty="0">
                <a:latin typeface="Calibri"/>
                <a:cs typeface="Calibri"/>
              </a:rPr>
              <a:t>C</a:t>
            </a:r>
            <a:r>
              <a:rPr sz="1200" i="1" spc="187" baseline="-10416" dirty="0">
                <a:latin typeface="Calibri"/>
                <a:cs typeface="Calibri"/>
              </a:rPr>
              <a:t>i </a:t>
            </a:r>
            <a:r>
              <a:rPr sz="1100" spc="-35" dirty="0">
                <a:latin typeface="Georgia"/>
                <a:cs typeface="Georgia"/>
              </a:rPr>
              <a:t>comprising</a:t>
            </a:r>
            <a:r>
              <a:rPr sz="1100" spc="45" dirty="0">
                <a:latin typeface="Georgia"/>
                <a:cs typeface="Georgia"/>
              </a:rPr>
              <a:t> </a:t>
            </a:r>
            <a:r>
              <a:rPr sz="1100" spc="-10" dirty="0">
                <a:latin typeface="Georgia"/>
                <a:cs typeface="Georgia"/>
              </a:rPr>
              <a:t>points</a:t>
            </a:r>
            <a:r>
              <a:rPr sz="1100" spc="45" dirty="0">
                <a:latin typeface="Georgia"/>
                <a:cs typeface="Georgia"/>
              </a:rPr>
              <a:t> </a:t>
            </a:r>
            <a:r>
              <a:rPr sz="1100" dirty="0">
                <a:latin typeface="Georgia"/>
                <a:cs typeface="Georgia"/>
              </a:rPr>
              <a:t>that</a:t>
            </a:r>
            <a:r>
              <a:rPr sz="1100" spc="45" dirty="0">
                <a:latin typeface="Georgia"/>
                <a:cs typeface="Georgia"/>
              </a:rPr>
              <a:t> </a:t>
            </a:r>
            <a:r>
              <a:rPr sz="1100" dirty="0">
                <a:latin typeface="Georgia"/>
                <a:cs typeface="Georgia"/>
              </a:rPr>
              <a:t>are</a:t>
            </a:r>
            <a:r>
              <a:rPr sz="1100" spc="50" dirty="0">
                <a:latin typeface="Georgia"/>
                <a:cs typeface="Georgia"/>
              </a:rPr>
              <a:t> </a:t>
            </a:r>
            <a:r>
              <a:rPr sz="1100" spc="-25" dirty="0">
                <a:latin typeface="Georgia"/>
                <a:cs typeface="Georgia"/>
              </a:rPr>
              <a:t>closer</a:t>
            </a:r>
            <a:r>
              <a:rPr sz="1100" spc="45" dirty="0">
                <a:latin typeface="Georgia"/>
                <a:cs typeface="Georgia"/>
              </a:rPr>
              <a:t> </a:t>
            </a:r>
            <a:r>
              <a:rPr sz="1100" dirty="0">
                <a:latin typeface="Georgia"/>
                <a:cs typeface="Georgia"/>
              </a:rPr>
              <a:t>to</a:t>
            </a:r>
            <a:r>
              <a:rPr sz="1100" spc="45" dirty="0">
                <a:latin typeface="Georgia"/>
                <a:cs typeface="Georgia"/>
              </a:rPr>
              <a:t> </a:t>
            </a:r>
            <a:r>
              <a:rPr sz="1100" b="1" spc="95" dirty="0">
                <a:latin typeface="Yu Gothic"/>
                <a:cs typeface="Yu Gothic"/>
              </a:rPr>
              <a:t>µ</a:t>
            </a:r>
            <a:r>
              <a:rPr sz="1200" i="1" spc="142" baseline="-17361" dirty="0">
                <a:latin typeface="Calibri"/>
                <a:cs typeface="Calibri"/>
              </a:rPr>
              <a:t>i</a:t>
            </a:r>
            <a:r>
              <a:rPr sz="1200" i="1" spc="254" baseline="-17361" dirty="0">
                <a:latin typeface="Calibri"/>
                <a:cs typeface="Calibri"/>
              </a:rPr>
              <a:t> </a:t>
            </a:r>
            <a:r>
              <a:rPr sz="1100" dirty="0">
                <a:latin typeface="Georgia"/>
                <a:cs typeface="Georgia"/>
              </a:rPr>
              <a:t>than</a:t>
            </a:r>
            <a:r>
              <a:rPr sz="1100" spc="45" dirty="0">
                <a:latin typeface="Georgia"/>
                <a:cs typeface="Georgia"/>
              </a:rPr>
              <a:t> </a:t>
            </a:r>
            <a:r>
              <a:rPr sz="1100" dirty="0">
                <a:latin typeface="Georgia"/>
                <a:cs typeface="Georgia"/>
              </a:rPr>
              <a:t>any</a:t>
            </a:r>
            <a:r>
              <a:rPr sz="1100" spc="50" dirty="0">
                <a:latin typeface="Georgia"/>
                <a:cs typeface="Georgia"/>
              </a:rPr>
              <a:t> </a:t>
            </a:r>
            <a:r>
              <a:rPr sz="1100" spc="-10" dirty="0">
                <a:latin typeface="Georgia"/>
                <a:cs typeface="Georgia"/>
              </a:rPr>
              <a:t>other</a:t>
            </a:r>
            <a:r>
              <a:rPr sz="1100" spc="45" dirty="0">
                <a:latin typeface="Georgia"/>
                <a:cs typeface="Georgia"/>
              </a:rPr>
              <a:t> </a:t>
            </a:r>
            <a:r>
              <a:rPr sz="1100" spc="-10" dirty="0">
                <a:latin typeface="Georgia"/>
                <a:cs typeface="Georgia"/>
              </a:rPr>
              <a:t>cluster</a:t>
            </a:r>
            <a:r>
              <a:rPr sz="1100" spc="45" dirty="0">
                <a:latin typeface="Georgia"/>
                <a:cs typeface="Georgia"/>
              </a:rPr>
              <a:t> </a:t>
            </a:r>
            <a:r>
              <a:rPr sz="1100" spc="-10" dirty="0">
                <a:latin typeface="Georgia"/>
                <a:cs typeface="Georgia"/>
              </a:rPr>
              <a:t>mean.</a:t>
            </a:r>
            <a:r>
              <a:rPr sz="1100" spc="145" dirty="0">
                <a:latin typeface="Georgia"/>
                <a:cs typeface="Georgia"/>
              </a:rPr>
              <a:t> </a:t>
            </a:r>
            <a:r>
              <a:rPr sz="1100" dirty="0">
                <a:latin typeface="Georgia"/>
                <a:cs typeface="Georgia"/>
              </a:rPr>
              <a:t>That</a:t>
            </a:r>
            <a:r>
              <a:rPr sz="1100" spc="50" dirty="0">
                <a:latin typeface="Georgia"/>
                <a:cs typeface="Georgia"/>
              </a:rPr>
              <a:t> </a:t>
            </a:r>
            <a:r>
              <a:rPr sz="1100" dirty="0">
                <a:latin typeface="Georgia"/>
                <a:cs typeface="Georgia"/>
              </a:rPr>
              <a:t>is,</a:t>
            </a:r>
            <a:r>
              <a:rPr sz="1100" spc="45" dirty="0">
                <a:latin typeface="Georgia"/>
                <a:cs typeface="Georgia"/>
              </a:rPr>
              <a:t> </a:t>
            </a:r>
            <a:r>
              <a:rPr sz="1100" spc="-20" dirty="0">
                <a:latin typeface="Georgia"/>
                <a:cs typeface="Georgia"/>
              </a:rPr>
              <a:t>each </a:t>
            </a:r>
            <a:r>
              <a:rPr sz="1100" dirty="0">
                <a:latin typeface="Georgia"/>
                <a:cs typeface="Georgia"/>
              </a:rPr>
              <a:t>point</a:t>
            </a:r>
            <a:r>
              <a:rPr sz="1100" spc="35" dirty="0">
                <a:latin typeface="Georgia"/>
                <a:cs typeface="Georgia"/>
              </a:rPr>
              <a:t> </a:t>
            </a:r>
            <a:r>
              <a:rPr sz="1100" spc="135" dirty="0">
                <a:latin typeface="Cambria"/>
                <a:cs typeface="Cambria"/>
              </a:rPr>
              <a:t>x</a:t>
            </a:r>
            <a:r>
              <a:rPr sz="1200" i="1" spc="202" baseline="-10416" dirty="0">
                <a:latin typeface="Calibri"/>
                <a:cs typeface="Calibri"/>
              </a:rPr>
              <a:t>j</a:t>
            </a:r>
            <a:r>
              <a:rPr sz="1200" i="1" spc="315" baseline="-10416" dirty="0">
                <a:latin typeface="Calibri"/>
                <a:cs typeface="Calibri"/>
              </a:rPr>
              <a:t> </a:t>
            </a:r>
            <a:r>
              <a:rPr sz="1100" dirty="0">
                <a:latin typeface="Georgia"/>
                <a:cs typeface="Georgia"/>
              </a:rPr>
              <a:t>is</a:t>
            </a:r>
            <a:r>
              <a:rPr sz="1100" spc="50" dirty="0">
                <a:latin typeface="Georgia"/>
                <a:cs typeface="Georgia"/>
              </a:rPr>
              <a:t> </a:t>
            </a:r>
            <a:r>
              <a:rPr sz="1100" spc="-30" dirty="0">
                <a:latin typeface="Georgia"/>
                <a:cs typeface="Georgia"/>
              </a:rPr>
              <a:t>assigned</a:t>
            </a:r>
            <a:r>
              <a:rPr sz="1100" spc="45" dirty="0">
                <a:latin typeface="Georgia"/>
                <a:cs typeface="Georgia"/>
              </a:rPr>
              <a:t> </a:t>
            </a:r>
            <a:r>
              <a:rPr sz="1100" dirty="0">
                <a:latin typeface="Georgia"/>
                <a:cs typeface="Georgia"/>
              </a:rPr>
              <a:t>to</a:t>
            </a:r>
            <a:r>
              <a:rPr sz="1100" spc="50" dirty="0">
                <a:latin typeface="Georgia"/>
                <a:cs typeface="Georgia"/>
              </a:rPr>
              <a:t> </a:t>
            </a:r>
            <a:r>
              <a:rPr sz="1100" spc="-10" dirty="0">
                <a:latin typeface="Georgia"/>
                <a:cs typeface="Georgia"/>
              </a:rPr>
              <a:t>cluster</a:t>
            </a:r>
            <a:r>
              <a:rPr sz="1100" spc="50" dirty="0">
                <a:latin typeface="Georgia"/>
                <a:cs typeface="Georgia"/>
              </a:rPr>
              <a:t> </a:t>
            </a:r>
            <a:r>
              <a:rPr sz="1100" i="1" spc="70" dirty="0">
                <a:latin typeface="Calibri"/>
                <a:cs typeface="Calibri"/>
              </a:rPr>
              <a:t>C</a:t>
            </a:r>
            <a:r>
              <a:rPr sz="1200" i="1" spc="104" baseline="-10416" dirty="0">
                <a:latin typeface="Calibri"/>
                <a:cs typeface="Calibri"/>
              </a:rPr>
              <a:t>j</a:t>
            </a:r>
            <a:r>
              <a:rPr lang="vi-VN" sz="900" spc="104" baseline="4629" dirty="0">
                <a:latin typeface="Lucida Sans Unicode"/>
                <a:cs typeface="Lucida Sans Unicode"/>
              </a:rPr>
              <a:t>*</a:t>
            </a:r>
            <a:r>
              <a:rPr sz="900" spc="-135" baseline="4629" dirty="0">
                <a:latin typeface="Lucida Sans Unicode"/>
                <a:cs typeface="Lucida Sans Unicode"/>
              </a:rPr>
              <a:t> </a:t>
            </a:r>
            <a:r>
              <a:rPr sz="1100" dirty="0">
                <a:latin typeface="Georgia"/>
                <a:cs typeface="Georgia"/>
              </a:rPr>
              <a:t>,</a:t>
            </a:r>
            <a:r>
              <a:rPr sz="1100" spc="50" dirty="0">
                <a:latin typeface="Georgia"/>
                <a:cs typeface="Georgia"/>
              </a:rPr>
              <a:t> </a:t>
            </a:r>
            <a:r>
              <a:rPr sz="1100" spc="-20" dirty="0">
                <a:latin typeface="Georgia"/>
                <a:cs typeface="Georgia"/>
              </a:rPr>
              <a:t>where</a:t>
            </a:r>
            <a:endParaRPr sz="1100">
              <a:latin typeface="Georgia"/>
              <a:cs typeface="Georgia"/>
            </a:endParaRPr>
          </a:p>
          <a:p>
            <a:pPr marL="1881505">
              <a:lnSpc>
                <a:spcPts val="1180"/>
              </a:lnSpc>
              <a:spcBef>
                <a:spcPts val="980"/>
              </a:spcBef>
              <a:tabLst>
                <a:tab pos="4933950" algn="l"/>
              </a:tabLst>
            </a:pPr>
            <a:r>
              <a:rPr lang="en-US" sz="1100" i="1" spc="155" dirty="0">
                <a:latin typeface="Calibri"/>
                <a:cs typeface="Calibri"/>
              </a:rPr>
              <a:t>J</a:t>
            </a:r>
            <a:r>
              <a:rPr lang="vi-VN" sz="1200" spc="232" baseline="31250" dirty="0">
                <a:latin typeface="Lucida Sans Unicode"/>
                <a:cs typeface="Lucida Sans Unicode"/>
              </a:rPr>
              <a:t>*</a:t>
            </a:r>
            <a:r>
              <a:rPr sz="1200" spc="172" baseline="31250" dirty="0">
                <a:latin typeface="Lucida Sans Unicode"/>
                <a:cs typeface="Lucida Sans Unicode"/>
              </a:rPr>
              <a:t> </a:t>
            </a:r>
            <a:r>
              <a:rPr sz="1100" spc="295" dirty="0">
                <a:latin typeface="Calibri"/>
                <a:cs typeface="Calibri"/>
              </a:rPr>
              <a:t>=</a:t>
            </a:r>
            <a:r>
              <a:rPr sz="1100" spc="75" dirty="0">
                <a:latin typeface="Calibri"/>
                <a:cs typeface="Calibri"/>
              </a:rPr>
              <a:t> </a:t>
            </a:r>
            <a:r>
              <a:rPr sz="1100" dirty="0">
                <a:latin typeface="Calibri"/>
                <a:cs typeface="Calibri"/>
              </a:rPr>
              <a:t>arg</a:t>
            </a:r>
            <a:r>
              <a:rPr sz="1100" spc="215" dirty="0">
                <a:latin typeface="Calibri"/>
                <a:cs typeface="Calibri"/>
              </a:rPr>
              <a:t> </a:t>
            </a:r>
            <a:r>
              <a:rPr sz="1100" dirty="0">
                <a:latin typeface="Calibri"/>
                <a:cs typeface="Calibri"/>
              </a:rPr>
              <a:t>min</a:t>
            </a:r>
            <a:r>
              <a:rPr sz="1100" spc="265" dirty="0">
                <a:latin typeface="Calibri"/>
                <a:cs typeface="Calibri"/>
              </a:rPr>
              <a:t>  </a:t>
            </a:r>
            <a:r>
              <a:rPr sz="1100" spc="135" dirty="0">
                <a:latin typeface="Cambria"/>
                <a:cs typeface="Cambria"/>
              </a:rPr>
              <a:t>x</a:t>
            </a:r>
            <a:r>
              <a:rPr sz="1200" i="1" spc="202" baseline="-10416" dirty="0">
                <a:latin typeface="Calibri"/>
                <a:cs typeface="Calibri"/>
              </a:rPr>
              <a:t>j</a:t>
            </a:r>
            <a:r>
              <a:rPr sz="1200" i="1" spc="270" baseline="-10416" dirty="0">
                <a:latin typeface="Calibri"/>
                <a:cs typeface="Calibri"/>
              </a:rPr>
              <a:t> </a:t>
            </a:r>
            <a:r>
              <a:rPr sz="1100" spc="-254" dirty="0">
                <a:latin typeface="Lucida Sans Unicode"/>
                <a:cs typeface="Lucida Sans Unicode"/>
              </a:rPr>
              <a:t>—</a:t>
            </a:r>
            <a:r>
              <a:rPr sz="1100" spc="-90" dirty="0">
                <a:latin typeface="Lucida Sans Unicode"/>
                <a:cs typeface="Lucida Sans Unicode"/>
              </a:rPr>
              <a:t> </a:t>
            </a:r>
            <a:r>
              <a:rPr sz="1100" b="1" spc="95" dirty="0">
                <a:latin typeface="Yu Gothic"/>
                <a:cs typeface="Yu Gothic"/>
              </a:rPr>
              <a:t>µ</a:t>
            </a:r>
            <a:r>
              <a:rPr sz="1200" i="1" spc="142" baseline="-17361" dirty="0">
                <a:latin typeface="Calibri"/>
                <a:cs typeface="Calibri"/>
              </a:rPr>
              <a:t>i</a:t>
            </a:r>
            <a:r>
              <a:rPr sz="1200" i="1" spc="652" baseline="-17361" dirty="0">
                <a:latin typeface="Calibri"/>
                <a:cs typeface="Calibri"/>
              </a:rPr>
              <a:t> </a:t>
            </a:r>
            <a:r>
              <a:rPr sz="1200" spc="-75" baseline="31250" dirty="0">
                <a:latin typeface="Calibri"/>
                <a:cs typeface="Calibri"/>
              </a:rPr>
              <a:t>2</a:t>
            </a:r>
            <a:r>
              <a:rPr sz="1200" baseline="31250" dirty="0">
                <a:latin typeface="Calibri"/>
                <a:cs typeface="Calibri"/>
              </a:rPr>
              <a:t>	</a:t>
            </a:r>
            <a:r>
              <a:rPr sz="1100" spc="-20" dirty="0">
                <a:latin typeface="Georgia"/>
                <a:cs typeface="Georgia"/>
              </a:rPr>
              <a:t>(19)</a:t>
            </a:r>
            <a:endParaRPr sz="1100">
              <a:latin typeface="Georgia"/>
              <a:cs typeface="Georgia"/>
            </a:endParaRPr>
          </a:p>
          <a:p>
            <a:pPr marR="126364" algn="ctr">
              <a:lnSpc>
                <a:spcPts val="819"/>
              </a:lnSpc>
            </a:pPr>
            <a:r>
              <a:rPr sz="800" i="1" spc="75" dirty="0">
                <a:latin typeface="Calibri"/>
                <a:cs typeface="Calibri"/>
              </a:rPr>
              <a:t>i</a:t>
            </a:r>
            <a:r>
              <a:rPr sz="800" spc="75" dirty="0">
                <a:latin typeface="Calibri"/>
                <a:cs typeface="Calibri"/>
              </a:rPr>
              <a:t>=1</a:t>
            </a:r>
            <a:r>
              <a:rPr sz="800" i="1" spc="75" dirty="0">
                <a:latin typeface="Calibri"/>
                <a:cs typeface="Calibri"/>
              </a:rPr>
              <a:t>..k</a:t>
            </a:r>
            <a:endParaRPr sz="800">
              <a:latin typeface="Calibri"/>
              <a:cs typeface="Calibri"/>
            </a:endParaRPr>
          </a:p>
        </p:txBody>
      </p:sp>
      <p:grpSp>
        <p:nvGrpSpPr>
          <p:cNvPr id="11" name="object 11"/>
          <p:cNvGrpSpPr/>
          <p:nvPr/>
        </p:nvGrpSpPr>
        <p:grpSpPr>
          <a:xfrm>
            <a:off x="0" y="3121545"/>
            <a:ext cx="5760085" cy="118745"/>
            <a:chOff x="0" y="3121545"/>
            <a:chExt cx="5760085" cy="118745"/>
          </a:xfrm>
        </p:grpSpPr>
        <p:sp>
          <p:nvSpPr>
            <p:cNvPr id="12" name="object 12"/>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3" name="object 13"/>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5" name="object 15"/>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6" name="object 16"/>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57</a:t>
            </a:fld>
            <a:r>
              <a:rPr spc="-25" dirty="0"/>
              <a:t> </a:t>
            </a:r>
            <a:r>
              <a:rPr spc="75" dirty="0"/>
              <a:t>/</a:t>
            </a:r>
            <a:r>
              <a:rPr spc="-25" dirty="0"/>
              <a:t> </a:t>
            </a:r>
            <a:r>
              <a:rPr spc="35" dirty="0"/>
              <a:t>135</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245" dirty="0"/>
              <a:t> </a:t>
            </a:r>
            <a:r>
              <a:rPr dirty="0"/>
              <a:t>algorithm</a:t>
            </a:r>
            <a:r>
              <a:rPr spc="245" dirty="0"/>
              <a:t> </a:t>
            </a:r>
            <a:r>
              <a:rPr spc="-10" dirty="0"/>
              <a:t>(cont’d)</a:t>
            </a:r>
          </a:p>
        </p:txBody>
      </p:sp>
      <p:sp>
        <p:nvSpPr>
          <p:cNvPr id="3" name="object 3"/>
          <p:cNvSpPr/>
          <p:nvPr/>
        </p:nvSpPr>
        <p:spPr>
          <a:xfrm>
            <a:off x="337972" y="779729"/>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28777" y="688122"/>
            <a:ext cx="5179695" cy="1376018"/>
          </a:xfrm>
          <a:prstGeom prst="rect">
            <a:avLst/>
          </a:prstGeom>
        </p:spPr>
        <p:txBody>
          <a:bodyPr vert="horz" wrap="square" lIns="0" tIns="34290" rIns="0" bIns="0" rtlCol="0">
            <a:spAutoFit/>
          </a:bodyPr>
          <a:lstStyle/>
          <a:p>
            <a:pPr marL="38100" marR="53340">
              <a:lnSpc>
                <a:spcPts val="1150"/>
              </a:lnSpc>
              <a:spcBef>
                <a:spcPts val="270"/>
              </a:spcBef>
            </a:pPr>
            <a:r>
              <a:rPr sz="1100" dirty="0">
                <a:latin typeface="Georgia"/>
                <a:cs typeface="Georgia"/>
              </a:rPr>
              <a:t>Given</a:t>
            </a:r>
            <a:r>
              <a:rPr sz="1100" spc="40" dirty="0">
                <a:latin typeface="Georgia"/>
                <a:cs typeface="Georgia"/>
              </a:rPr>
              <a:t> </a:t>
            </a:r>
            <a:r>
              <a:rPr sz="1100" dirty="0">
                <a:latin typeface="Georgia"/>
                <a:cs typeface="Georgia"/>
              </a:rPr>
              <a:t>a</a:t>
            </a:r>
            <a:r>
              <a:rPr sz="1100" spc="45" dirty="0">
                <a:latin typeface="Georgia"/>
                <a:cs typeface="Georgia"/>
              </a:rPr>
              <a:t> </a:t>
            </a:r>
            <a:r>
              <a:rPr sz="1100" dirty="0">
                <a:latin typeface="Georgia"/>
                <a:cs typeface="Georgia"/>
              </a:rPr>
              <a:t>set</a:t>
            </a:r>
            <a:r>
              <a:rPr sz="1100" spc="40" dirty="0">
                <a:latin typeface="Georgia"/>
                <a:cs typeface="Georgia"/>
              </a:rPr>
              <a:t> </a:t>
            </a:r>
            <a:r>
              <a:rPr sz="1100" dirty="0">
                <a:latin typeface="Georgia"/>
                <a:cs typeface="Georgia"/>
              </a:rPr>
              <a:t>of</a:t>
            </a:r>
            <a:r>
              <a:rPr sz="1100" spc="45" dirty="0">
                <a:latin typeface="Georgia"/>
                <a:cs typeface="Georgia"/>
              </a:rPr>
              <a:t> </a:t>
            </a:r>
            <a:r>
              <a:rPr sz="1100" spc="-20" dirty="0">
                <a:latin typeface="Georgia"/>
                <a:cs typeface="Georgia"/>
              </a:rPr>
              <a:t>clusters</a:t>
            </a:r>
            <a:r>
              <a:rPr sz="1100" spc="40" dirty="0">
                <a:latin typeface="Georgia"/>
                <a:cs typeface="Georgia"/>
              </a:rPr>
              <a:t> </a:t>
            </a:r>
            <a:r>
              <a:rPr sz="1100" i="1" spc="114" dirty="0">
                <a:latin typeface="Calibri"/>
                <a:cs typeface="Calibri"/>
              </a:rPr>
              <a:t>C</a:t>
            </a:r>
            <a:r>
              <a:rPr sz="1200" i="1" spc="172" baseline="-10416" dirty="0">
                <a:latin typeface="Calibri"/>
                <a:cs typeface="Calibri"/>
              </a:rPr>
              <a:t>i</a:t>
            </a:r>
            <a:r>
              <a:rPr sz="1100" spc="114" dirty="0">
                <a:latin typeface="Georgia"/>
                <a:cs typeface="Georgia"/>
              </a:rPr>
              <a:t>,</a:t>
            </a:r>
            <a:r>
              <a:rPr sz="1100" spc="45" dirty="0">
                <a:latin typeface="Georgia"/>
                <a:cs typeface="Georgia"/>
              </a:rPr>
              <a:t> </a:t>
            </a:r>
            <a:r>
              <a:rPr sz="1100" i="1" spc="125" dirty="0">
                <a:latin typeface="Calibri"/>
                <a:cs typeface="Calibri"/>
              </a:rPr>
              <a:t>i</a:t>
            </a:r>
            <a:r>
              <a:rPr sz="1100" i="1" spc="5" dirty="0">
                <a:latin typeface="Calibri"/>
                <a:cs typeface="Calibri"/>
              </a:rPr>
              <a:t> </a:t>
            </a:r>
            <a:r>
              <a:rPr sz="1100" spc="295" dirty="0">
                <a:latin typeface="Calibri"/>
                <a:cs typeface="Calibri"/>
              </a:rPr>
              <a:t>=</a:t>
            </a:r>
            <a:r>
              <a:rPr sz="1100" spc="10" dirty="0">
                <a:latin typeface="Calibri"/>
                <a:cs typeface="Calibri"/>
              </a:rPr>
              <a:t> </a:t>
            </a:r>
            <a:r>
              <a:rPr sz="1100" dirty="0">
                <a:latin typeface="Calibri"/>
                <a:cs typeface="Calibri"/>
              </a:rPr>
              <a:t>1</a:t>
            </a:r>
            <a:r>
              <a:rPr sz="1100" i="1" dirty="0">
                <a:latin typeface="Calibri"/>
                <a:cs typeface="Calibri"/>
              </a:rPr>
              <a:t>..k</a:t>
            </a:r>
            <a:r>
              <a:rPr sz="1100" dirty="0">
                <a:latin typeface="Georgia"/>
                <a:cs typeface="Georgia"/>
              </a:rPr>
              <a:t>,</a:t>
            </a:r>
            <a:r>
              <a:rPr sz="1100" spc="45" dirty="0">
                <a:latin typeface="Georgia"/>
                <a:cs typeface="Georgia"/>
              </a:rPr>
              <a:t> </a:t>
            </a:r>
            <a:r>
              <a:rPr sz="1100" dirty="0">
                <a:latin typeface="Georgia"/>
                <a:cs typeface="Georgia"/>
              </a:rPr>
              <a:t>in</a:t>
            </a:r>
            <a:r>
              <a:rPr sz="1100" spc="40" dirty="0">
                <a:latin typeface="Georgia"/>
                <a:cs typeface="Georgia"/>
              </a:rPr>
              <a:t> </a:t>
            </a:r>
            <a:r>
              <a:rPr sz="1100" dirty="0">
                <a:latin typeface="Georgia"/>
                <a:cs typeface="Georgia"/>
              </a:rPr>
              <a:t>the</a:t>
            </a:r>
            <a:r>
              <a:rPr sz="1100" spc="45" dirty="0">
                <a:latin typeface="Georgia"/>
                <a:cs typeface="Georgia"/>
              </a:rPr>
              <a:t> </a:t>
            </a:r>
            <a:r>
              <a:rPr sz="1100" b="1" spc="-40" dirty="0">
                <a:latin typeface="Georgia"/>
                <a:cs typeface="Georgia"/>
              </a:rPr>
              <a:t>centroid</a:t>
            </a:r>
            <a:r>
              <a:rPr sz="1100" b="1" spc="75" dirty="0">
                <a:latin typeface="Georgia"/>
                <a:cs typeface="Georgia"/>
              </a:rPr>
              <a:t> </a:t>
            </a:r>
            <a:r>
              <a:rPr sz="1100" b="1" spc="-10" dirty="0">
                <a:latin typeface="Georgia"/>
                <a:cs typeface="Georgia"/>
              </a:rPr>
              <a:t>update</a:t>
            </a:r>
            <a:r>
              <a:rPr sz="1100" b="1" spc="75" dirty="0">
                <a:latin typeface="Georgia"/>
                <a:cs typeface="Georgia"/>
              </a:rPr>
              <a:t> </a:t>
            </a:r>
            <a:r>
              <a:rPr sz="1100" b="1" spc="-10" dirty="0">
                <a:latin typeface="Georgia"/>
                <a:cs typeface="Georgia"/>
              </a:rPr>
              <a:t>step</a:t>
            </a:r>
            <a:r>
              <a:rPr sz="1100" spc="-10" dirty="0">
                <a:latin typeface="Georgia"/>
                <a:cs typeface="Georgia"/>
              </a:rPr>
              <a:t>,</a:t>
            </a:r>
            <a:r>
              <a:rPr sz="1100" spc="45" dirty="0">
                <a:latin typeface="Georgia"/>
                <a:cs typeface="Georgia"/>
              </a:rPr>
              <a:t> </a:t>
            </a:r>
            <a:r>
              <a:rPr sz="1100" spc="-10" dirty="0">
                <a:latin typeface="Georgia"/>
                <a:cs typeface="Georgia"/>
              </a:rPr>
              <a:t>new</a:t>
            </a:r>
            <a:r>
              <a:rPr sz="1100" spc="40" dirty="0">
                <a:latin typeface="Georgia"/>
                <a:cs typeface="Georgia"/>
              </a:rPr>
              <a:t> </a:t>
            </a:r>
            <a:r>
              <a:rPr sz="1100" spc="-25" dirty="0">
                <a:latin typeface="Georgia"/>
                <a:cs typeface="Georgia"/>
              </a:rPr>
              <a:t>mean</a:t>
            </a:r>
            <a:r>
              <a:rPr sz="1100" spc="45" dirty="0">
                <a:latin typeface="Georgia"/>
                <a:cs typeface="Georgia"/>
              </a:rPr>
              <a:t> </a:t>
            </a:r>
            <a:r>
              <a:rPr sz="1100" spc="-10" dirty="0">
                <a:latin typeface="Georgia"/>
                <a:cs typeface="Georgia"/>
              </a:rPr>
              <a:t>values </a:t>
            </a:r>
            <a:r>
              <a:rPr sz="1100" dirty="0">
                <a:latin typeface="Georgia"/>
                <a:cs typeface="Georgia"/>
              </a:rPr>
              <a:t>are </a:t>
            </a:r>
            <a:r>
              <a:rPr sz="1100" spc="-25" dirty="0">
                <a:latin typeface="Georgia"/>
                <a:cs typeface="Georgia"/>
              </a:rPr>
              <a:t>computed</a:t>
            </a:r>
            <a:r>
              <a:rPr sz="1100" spc="5" dirty="0">
                <a:latin typeface="Georgia"/>
                <a:cs typeface="Georgia"/>
              </a:rPr>
              <a:t> </a:t>
            </a:r>
            <a:r>
              <a:rPr sz="1100" dirty="0">
                <a:latin typeface="Georgia"/>
                <a:cs typeface="Georgia"/>
              </a:rPr>
              <a:t>for </a:t>
            </a:r>
            <a:r>
              <a:rPr sz="1100" spc="-10" dirty="0">
                <a:latin typeface="Georgia"/>
                <a:cs typeface="Georgia"/>
              </a:rPr>
              <a:t>each</a:t>
            </a:r>
            <a:r>
              <a:rPr sz="1100" dirty="0">
                <a:latin typeface="Georgia"/>
                <a:cs typeface="Georgia"/>
              </a:rPr>
              <a:t> </a:t>
            </a:r>
            <a:r>
              <a:rPr sz="1100" spc="-10" dirty="0">
                <a:latin typeface="Georgia"/>
                <a:cs typeface="Georgia"/>
              </a:rPr>
              <a:t>cluster</a:t>
            </a:r>
            <a:r>
              <a:rPr sz="1100" spc="5" dirty="0">
                <a:latin typeface="Georgia"/>
                <a:cs typeface="Georgia"/>
              </a:rPr>
              <a:t> </a:t>
            </a:r>
            <a:r>
              <a:rPr sz="1100" spc="-25" dirty="0">
                <a:latin typeface="Georgia"/>
                <a:cs typeface="Georgia"/>
              </a:rPr>
              <a:t>from</a:t>
            </a:r>
            <a:r>
              <a:rPr sz="1100" dirty="0">
                <a:latin typeface="Georgia"/>
                <a:cs typeface="Georgia"/>
              </a:rPr>
              <a:t> the</a:t>
            </a:r>
            <a:r>
              <a:rPr sz="1100" spc="5" dirty="0">
                <a:latin typeface="Georgia"/>
                <a:cs typeface="Georgia"/>
              </a:rPr>
              <a:t> </a:t>
            </a:r>
            <a:r>
              <a:rPr sz="1100" spc="-10" dirty="0">
                <a:latin typeface="Georgia"/>
                <a:cs typeface="Georgia"/>
              </a:rPr>
              <a:t>points</a:t>
            </a:r>
            <a:r>
              <a:rPr sz="1100" dirty="0">
                <a:latin typeface="Georgia"/>
                <a:cs typeface="Georgia"/>
              </a:rPr>
              <a:t> in</a:t>
            </a:r>
            <a:r>
              <a:rPr sz="1100" spc="5" dirty="0">
                <a:latin typeface="Georgia"/>
                <a:cs typeface="Georgia"/>
              </a:rPr>
              <a:t> </a:t>
            </a:r>
            <a:r>
              <a:rPr sz="1100" i="1" spc="90" dirty="0">
                <a:latin typeface="Calibri"/>
                <a:cs typeface="Calibri"/>
              </a:rPr>
              <a:t>C</a:t>
            </a:r>
            <a:r>
              <a:rPr sz="1200" i="1" spc="135" baseline="-10416" dirty="0">
                <a:latin typeface="Calibri"/>
                <a:cs typeface="Calibri"/>
              </a:rPr>
              <a:t>i</a:t>
            </a:r>
            <a:r>
              <a:rPr sz="1100" spc="90" dirty="0">
                <a:latin typeface="Georgia"/>
                <a:cs typeface="Georgia"/>
              </a:rPr>
              <a:t>.</a:t>
            </a:r>
            <a:endParaRPr sz="1100">
              <a:latin typeface="Georgia"/>
              <a:cs typeface="Georgia"/>
            </a:endParaRPr>
          </a:p>
          <a:p>
            <a:pPr marL="38100" marR="30480">
              <a:lnSpc>
                <a:spcPts val="1150"/>
              </a:lnSpc>
              <a:spcBef>
                <a:spcPts val="725"/>
              </a:spcBef>
            </a:pPr>
            <a:r>
              <a:rPr sz="1100" dirty="0">
                <a:latin typeface="Georgia"/>
                <a:cs typeface="Georgia"/>
              </a:rPr>
              <a:t>The</a:t>
            </a:r>
            <a:r>
              <a:rPr sz="1100" spc="15" dirty="0">
                <a:latin typeface="Georgia"/>
                <a:cs typeface="Georgia"/>
              </a:rPr>
              <a:t> </a:t>
            </a:r>
            <a:r>
              <a:rPr sz="1100" spc="-10" dirty="0">
                <a:latin typeface="Georgia"/>
                <a:cs typeface="Georgia"/>
              </a:rPr>
              <a:t>cluster</a:t>
            </a:r>
            <a:r>
              <a:rPr sz="1100" spc="20" dirty="0">
                <a:latin typeface="Georgia"/>
                <a:cs typeface="Georgia"/>
              </a:rPr>
              <a:t> </a:t>
            </a:r>
            <a:r>
              <a:rPr sz="1100" spc="-35" dirty="0">
                <a:latin typeface="Georgia"/>
                <a:cs typeface="Georgia"/>
              </a:rPr>
              <a:t>assignment</a:t>
            </a:r>
            <a:r>
              <a:rPr sz="1100" spc="15" dirty="0">
                <a:latin typeface="Georgia"/>
                <a:cs typeface="Georgia"/>
              </a:rPr>
              <a:t> </a:t>
            </a:r>
            <a:r>
              <a:rPr sz="1100" dirty="0">
                <a:latin typeface="Georgia"/>
                <a:cs typeface="Georgia"/>
              </a:rPr>
              <a:t>and</a:t>
            </a:r>
            <a:r>
              <a:rPr sz="1100" spc="20" dirty="0">
                <a:latin typeface="Georgia"/>
                <a:cs typeface="Georgia"/>
              </a:rPr>
              <a:t> </a:t>
            </a:r>
            <a:r>
              <a:rPr sz="1100" spc="-25" dirty="0">
                <a:latin typeface="Georgia"/>
                <a:cs typeface="Georgia"/>
              </a:rPr>
              <a:t>centroid</a:t>
            </a:r>
            <a:r>
              <a:rPr sz="1100" spc="15" dirty="0">
                <a:latin typeface="Georgia"/>
                <a:cs typeface="Georgia"/>
              </a:rPr>
              <a:t> </a:t>
            </a:r>
            <a:r>
              <a:rPr sz="1100" dirty="0">
                <a:latin typeface="Georgia"/>
                <a:cs typeface="Georgia"/>
              </a:rPr>
              <a:t>update</a:t>
            </a:r>
            <a:r>
              <a:rPr sz="1100" spc="20" dirty="0">
                <a:latin typeface="Georgia"/>
                <a:cs typeface="Georgia"/>
              </a:rPr>
              <a:t> </a:t>
            </a:r>
            <a:r>
              <a:rPr sz="1100" spc="-10" dirty="0">
                <a:latin typeface="Georgia"/>
                <a:cs typeface="Georgia"/>
              </a:rPr>
              <a:t>steps</a:t>
            </a:r>
            <a:r>
              <a:rPr sz="1100" spc="15" dirty="0">
                <a:latin typeface="Georgia"/>
                <a:cs typeface="Georgia"/>
              </a:rPr>
              <a:t> </a:t>
            </a:r>
            <a:r>
              <a:rPr sz="1100" dirty="0">
                <a:latin typeface="Georgia"/>
                <a:cs typeface="Georgia"/>
              </a:rPr>
              <a:t>are</a:t>
            </a:r>
            <a:r>
              <a:rPr sz="1100" spc="20" dirty="0">
                <a:latin typeface="Georgia"/>
                <a:cs typeface="Georgia"/>
              </a:rPr>
              <a:t> </a:t>
            </a:r>
            <a:r>
              <a:rPr sz="1100" spc="-20" dirty="0">
                <a:latin typeface="Georgia"/>
                <a:cs typeface="Georgia"/>
              </a:rPr>
              <a:t>carried</a:t>
            </a:r>
            <a:r>
              <a:rPr sz="1100" spc="15" dirty="0">
                <a:latin typeface="Georgia"/>
                <a:cs typeface="Georgia"/>
              </a:rPr>
              <a:t> </a:t>
            </a:r>
            <a:r>
              <a:rPr sz="1100" dirty="0">
                <a:latin typeface="Georgia"/>
                <a:cs typeface="Georgia"/>
              </a:rPr>
              <a:t>out</a:t>
            </a:r>
            <a:r>
              <a:rPr sz="1100" spc="20" dirty="0">
                <a:latin typeface="Georgia"/>
                <a:cs typeface="Georgia"/>
              </a:rPr>
              <a:t> </a:t>
            </a:r>
            <a:r>
              <a:rPr sz="1100" spc="-10" dirty="0">
                <a:latin typeface="Georgia"/>
                <a:cs typeface="Georgia"/>
              </a:rPr>
              <a:t>iteratively</a:t>
            </a:r>
            <a:r>
              <a:rPr sz="1100" spc="15" dirty="0">
                <a:latin typeface="Georgia"/>
                <a:cs typeface="Georgia"/>
              </a:rPr>
              <a:t> </a:t>
            </a:r>
            <a:r>
              <a:rPr sz="1100" spc="-10" dirty="0">
                <a:latin typeface="Georgia"/>
                <a:cs typeface="Georgia"/>
              </a:rPr>
              <a:t>until</a:t>
            </a:r>
            <a:r>
              <a:rPr sz="1100" spc="20" dirty="0">
                <a:latin typeface="Georgia"/>
                <a:cs typeface="Georgia"/>
              </a:rPr>
              <a:t> </a:t>
            </a:r>
            <a:r>
              <a:rPr sz="1100" spc="-25" dirty="0">
                <a:latin typeface="Georgia"/>
                <a:cs typeface="Georgia"/>
              </a:rPr>
              <a:t>we </a:t>
            </a:r>
            <a:r>
              <a:rPr sz="1100" spc="-20" dirty="0">
                <a:latin typeface="Georgia"/>
                <a:cs typeface="Georgia"/>
              </a:rPr>
              <a:t>reach</a:t>
            </a:r>
            <a:r>
              <a:rPr sz="1100" spc="10" dirty="0">
                <a:latin typeface="Georgia"/>
                <a:cs typeface="Georgia"/>
              </a:rPr>
              <a:t> </a:t>
            </a:r>
            <a:r>
              <a:rPr sz="1100" dirty="0">
                <a:latin typeface="Georgia"/>
                <a:cs typeface="Georgia"/>
              </a:rPr>
              <a:t>a</a:t>
            </a:r>
            <a:r>
              <a:rPr sz="1100" spc="15" dirty="0">
                <a:latin typeface="Georgia"/>
                <a:cs typeface="Georgia"/>
              </a:rPr>
              <a:t> </a:t>
            </a:r>
            <a:r>
              <a:rPr sz="1100" spc="-10" dirty="0">
                <a:latin typeface="Georgia"/>
                <a:cs typeface="Georgia"/>
              </a:rPr>
              <a:t>fixed</a:t>
            </a:r>
            <a:r>
              <a:rPr sz="1100" spc="10" dirty="0">
                <a:latin typeface="Georgia"/>
                <a:cs typeface="Georgia"/>
              </a:rPr>
              <a:t> </a:t>
            </a:r>
            <a:r>
              <a:rPr sz="1100" dirty="0">
                <a:latin typeface="Georgia"/>
                <a:cs typeface="Georgia"/>
              </a:rPr>
              <a:t>point</a:t>
            </a:r>
            <a:r>
              <a:rPr sz="1100" spc="15" dirty="0">
                <a:latin typeface="Georgia"/>
                <a:cs typeface="Georgia"/>
              </a:rPr>
              <a:t> </a:t>
            </a:r>
            <a:r>
              <a:rPr sz="1100" dirty="0">
                <a:latin typeface="Georgia"/>
                <a:cs typeface="Georgia"/>
              </a:rPr>
              <a:t>or</a:t>
            </a:r>
            <a:r>
              <a:rPr sz="1100" spc="10" dirty="0">
                <a:latin typeface="Georgia"/>
                <a:cs typeface="Georgia"/>
              </a:rPr>
              <a:t> </a:t>
            </a:r>
            <a:r>
              <a:rPr sz="1100" dirty="0">
                <a:latin typeface="Georgia"/>
                <a:cs typeface="Georgia"/>
              </a:rPr>
              <a:t>local</a:t>
            </a:r>
            <a:r>
              <a:rPr sz="1100" spc="15" dirty="0">
                <a:latin typeface="Georgia"/>
                <a:cs typeface="Georgia"/>
              </a:rPr>
              <a:t> </a:t>
            </a:r>
            <a:r>
              <a:rPr sz="1100" spc="-10" dirty="0">
                <a:latin typeface="Georgia"/>
                <a:cs typeface="Georgia"/>
              </a:rPr>
              <a:t>minima.</a:t>
            </a:r>
            <a:endParaRPr sz="1100">
              <a:latin typeface="Georgia"/>
              <a:cs typeface="Georgia"/>
            </a:endParaRPr>
          </a:p>
          <a:p>
            <a:pPr marL="38100" marR="30480">
              <a:lnSpc>
                <a:spcPts val="1150"/>
              </a:lnSpc>
              <a:spcBef>
                <a:spcPts val="730"/>
              </a:spcBef>
            </a:pPr>
            <a:r>
              <a:rPr sz="1100" dirty="0">
                <a:latin typeface="Georgia"/>
                <a:cs typeface="Georgia"/>
              </a:rPr>
              <a:t>Practically</a:t>
            </a:r>
            <a:r>
              <a:rPr sz="1100" spc="20" dirty="0">
                <a:latin typeface="Georgia"/>
                <a:cs typeface="Georgia"/>
              </a:rPr>
              <a:t> </a:t>
            </a:r>
            <a:r>
              <a:rPr sz="1100" spc="-20" dirty="0">
                <a:latin typeface="Georgia"/>
                <a:cs typeface="Georgia"/>
              </a:rPr>
              <a:t>speaking,</a:t>
            </a:r>
            <a:r>
              <a:rPr sz="1100" spc="25" dirty="0">
                <a:latin typeface="Georgia"/>
                <a:cs typeface="Georgia"/>
              </a:rPr>
              <a:t> </a:t>
            </a:r>
            <a:r>
              <a:rPr sz="1100" spc="-20" dirty="0">
                <a:latin typeface="Georgia"/>
                <a:cs typeface="Georgia"/>
              </a:rPr>
              <a:t>one</a:t>
            </a:r>
            <a:r>
              <a:rPr sz="1100" spc="20" dirty="0">
                <a:latin typeface="Georgia"/>
                <a:cs typeface="Georgia"/>
              </a:rPr>
              <a:t> </a:t>
            </a:r>
            <a:r>
              <a:rPr sz="1100" dirty="0">
                <a:latin typeface="Georgia"/>
                <a:cs typeface="Georgia"/>
              </a:rPr>
              <a:t>can</a:t>
            </a:r>
            <a:r>
              <a:rPr sz="1100" spc="25" dirty="0">
                <a:latin typeface="Georgia"/>
                <a:cs typeface="Georgia"/>
              </a:rPr>
              <a:t> </a:t>
            </a:r>
            <a:r>
              <a:rPr sz="1100" spc="-35" dirty="0">
                <a:latin typeface="Georgia"/>
                <a:cs typeface="Georgia"/>
              </a:rPr>
              <a:t>assume</a:t>
            </a:r>
            <a:r>
              <a:rPr sz="1100" spc="20" dirty="0">
                <a:latin typeface="Georgia"/>
                <a:cs typeface="Georgia"/>
              </a:rPr>
              <a:t> </a:t>
            </a:r>
            <a:r>
              <a:rPr sz="1100" dirty="0">
                <a:latin typeface="Georgia"/>
                <a:cs typeface="Georgia"/>
              </a:rPr>
              <a:t>that</a:t>
            </a:r>
            <a:r>
              <a:rPr sz="1100" spc="25" dirty="0">
                <a:latin typeface="Georgia"/>
                <a:cs typeface="Georgia"/>
              </a:rPr>
              <a:t> </a:t>
            </a:r>
            <a:r>
              <a:rPr sz="1100" i="1" spc="-35" dirty="0">
                <a:latin typeface="Calibri"/>
                <a:cs typeface="Calibri"/>
              </a:rPr>
              <a:t>k</a:t>
            </a:r>
            <a:r>
              <a:rPr sz="1100" spc="-35" dirty="0">
                <a:latin typeface="Georgia"/>
                <a:cs typeface="Georgia"/>
              </a:rPr>
              <a:t>–means</a:t>
            </a:r>
            <a:r>
              <a:rPr sz="1100" spc="20" dirty="0">
                <a:latin typeface="Georgia"/>
                <a:cs typeface="Georgia"/>
              </a:rPr>
              <a:t> </a:t>
            </a:r>
            <a:r>
              <a:rPr sz="1100" dirty="0">
                <a:latin typeface="Georgia"/>
                <a:cs typeface="Georgia"/>
              </a:rPr>
              <a:t>has</a:t>
            </a:r>
            <a:r>
              <a:rPr sz="1100" spc="25" dirty="0">
                <a:latin typeface="Georgia"/>
                <a:cs typeface="Georgia"/>
              </a:rPr>
              <a:t> </a:t>
            </a:r>
            <a:r>
              <a:rPr sz="1100" spc="-35" dirty="0">
                <a:latin typeface="Georgia"/>
                <a:cs typeface="Georgia"/>
              </a:rPr>
              <a:t>converged</a:t>
            </a:r>
            <a:r>
              <a:rPr sz="1100" spc="25" dirty="0">
                <a:latin typeface="Georgia"/>
                <a:cs typeface="Georgia"/>
              </a:rPr>
              <a:t> </a:t>
            </a:r>
            <a:r>
              <a:rPr sz="1100" dirty="0">
                <a:latin typeface="Georgia"/>
                <a:cs typeface="Georgia"/>
              </a:rPr>
              <a:t>if</a:t>
            </a:r>
            <a:r>
              <a:rPr sz="1100" spc="20" dirty="0">
                <a:latin typeface="Georgia"/>
                <a:cs typeface="Georgia"/>
              </a:rPr>
              <a:t> </a:t>
            </a:r>
            <a:r>
              <a:rPr sz="1100" dirty="0">
                <a:latin typeface="Georgia"/>
                <a:cs typeface="Georgia"/>
              </a:rPr>
              <a:t>the</a:t>
            </a:r>
            <a:r>
              <a:rPr sz="1100" spc="25" dirty="0">
                <a:latin typeface="Georgia"/>
                <a:cs typeface="Georgia"/>
              </a:rPr>
              <a:t> </a:t>
            </a:r>
            <a:r>
              <a:rPr sz="1100" spc="-30" dirty="0">
                <a:latin typeface="Georgia"/>
                <a:cs typeface="Georgia"/>
              </a:rPr>
              <a:t>centroids</a:t>
            </a:r>
            <a:r>
              <a:rPr sz="1100" spc="20" dirty="0">
                <a:latin typeface="Georgia"/>
                <a:cs typeface="Georgia"/>
              </a:rPr>
              <a:t> </a:t>
            </a:r>
            <a:r>
              <a:rPr sz="1100" spc="-25" dirty="0">
                <a:latin typeface="Georgia"/>
                <a:cs typeface="Georgia"/>
              </a:rPr>
              <a:t>do </a:t>
            </a:r>
            <a:r>
              <a:rPr sz="1100" dirty="0">
                <a:latin typeface="Georgia"/>
                <a:cs typeface="Georgia"/>
              </a:rPr>
              <a:t>not</a:t>
            </a:r>
            <a:r>
              <a:rPr sz="1100" spc="20" dirty="0">
                <a:latin typeface="Georgia"/>
                <a:cs typeface="Georgia"/>
              </a:rPr>
              <a:t> </a:t>
            </a:r>
            <a:r>
              <a:rPr sz="1100" spc="-25" dirty="0">
                <a:latin typeface="Georgia"/>
                <a:cs typeface="Georgia"/>
              </a:rPr>
              <a:t>change</a:t>
            </a:r>
            <a:r>
              <a:rPr sz="1100" spc="25" dirty="0">
                <a:latin typeface="Georgia"/>
                <a:cs typeface="Georgia"/>
              </a:rPr>
              <a:t> </a:t>
            </a:r>
            <a:r>
              <a:rPr sz="1100" spc="-25" dirty="0">
                <a:latin typeface="Georgia"/>
                <a:cs typeface="Georgia"/>
              </a:rPr>
              <a:t>from</a:t>
            </a:r>
            <a:r>
              <a:rPr sz="1100" spc="20" dirty="0">
                <a:latin typeface="Georgia"/>
                <a:cs typeface="Georgia"/>
              </a:rPr>
              <a:t> </a:t>
            </a:r>
            <a:r>
              <a:rPr sz="1100" spc="-20" dirty="0">
                <a:latin typeface="Georgia"/>
                <a:cs typeface="Georgia"/>
              </a:rPr>
              <a:t>one</a:t>
            </a:r>
            <a:r>
              <a:rPr sz="1100" spc="25" dirty="0">
                <a:latin typeface="Georgia"/>
                <a:cs typeface="Georgia"/>
              </a:rPr>
              <a:t> </a:t>
            </a:r>
            <a:r>
              <a:rPr sz="1100" spc="-10" dirty="0">
                <a:latin typeface="Georgia"/>
                <a:cs typeface="Georgia"/>
              </a:rPr>
              <a:t>iteration</a:t>
            </a:r>
            <a:r>
              <a:rPr sz="1100" spc="25" dirty="0">
                <a:latin typeface="Georgia"/>
                <a:cs typeface="Georgia"/>
              </a:rPr>
              <a:t> </a:t>
            </a:r>
            <a:r>
              <a:rPr sz="1100" dirty="0">
                <a:latin typeface="Georgia"/>
                <a:cs typeface="Georgia"/>
              </a:rPr>
              <a:t>to</a:t>
            </a:r>
            <a:r>
              <a:rPr sz="1100" spc="20" dirty="0">
                <a:latin typeface="Georgia"/>
                <a:cs typeface="Georgia"/>
              </a:rPr>
              <a:t> </a:t>
            </a:r>
            <a:r>
              <a:rPr sz="1100" dirty="0">
                <a:latin typeface="Georgia"/>
                <a:cs typeface="Georgia"/>
              </a:rPr>
              <a:t>the</a:t>
            </a:r>
            <a:r>
              <a:rPr sz="1100" spc="25" dirty="0">
                <a:latin typeface="Georgia"/>
                <a:cs typeface="Georgia"/>
              </a:rPr>
              <a:t> </a:t>
            </a:r>
            <a:r>
              <a:rPr sz="1100" dirty="0">
                <a:latin typeface="Georgia"/>
                <a:cs typeface="Georgia"/>
              </a:rPr>
              <a:t>next.</a:t>
            </a:r>
            <a:r>
              <a:rPr sz="1100" spc="114" dirty="0">
                <a:latin typeface="Georgia"/>
                <a:cs typeface="Georgia"/>
              </a:rPr>
              <a:t> </a:t>
            </a:r>
            <a:r>
              <a:rPr sz="1100" spc="-10" dirty="0">
                <a:latin typeface="Georgia"/>
                <a:cs typeface="Georgia"/>
              </a:rPr>
              <a:t>For</a:t>
            </a:r>
            <a:r>
              <a:rPr sz="1100" spc="25" dirty="0">
                <a:latin typeface="Georgia"/>
                <a:cs typeface="Georgia"/>
              </a:rPr>
              <a:t> </a:t>
            </a:r>
            <a:r>
              <a:rPr sz="1100" spc="-20" dirty="0">
                <a:latin typeface="Georgia"/>
                <a:cs typeface="Georgia"/>
              </a:rPr>
              <a:t>instance,</a:t>
            </a:r>
            <a:r>
              <a:rPr sz="1100" spc="20" dirty="0">
                <a:latin typeface="Georgia"/>
                <a:cs typeface="Georgia"/>
              </a:rPr>
              <a:t> </a:t>
            </a:r>
            <a:r>
              <a:rPr sz="1100" spc="-10" dirty="0">
                <a:latin typeface="Georgia"/>
                <a:cs typeface="Georgia"/>
              </a:rPr>
              <a:t>we</a:t>
            </a:r>
            <a:r>
              <a:rPr sz="1100" spc="25" dirty="0">
                <a:latin typeface="Georgia"/>
                <a:cs typeface="Georgia"/>
              </a:rPr>
              <a:t> </a:t>
            </a:r>
            <a:r>
              <a:rPr sz="1100" dirty="0">
                <a:latin typeface="Georgia"/>
                <a:cs typeface="Georgia"/>
              </a:rPr>
              <a:t>can</a:t>
            </a:r>
            <a:r>
              <a:rPr sz="1100" spc="20" dirty="0">
                <a:latin typeface="Georgia"/>
                <a:cs typeface="Georgia"/>
              </a:rPr>
              <a:t> </a:t>
            </a:r>
            <a:r>
              <a:rPr sz="1100" dirty="0">
                <a:latin typeface="Georgia"/>
                <a:cs typeface="Georgia"/>
              </a:rPr>
              <a:t>stop</a:t>
            </a:r>
            <a:r>
              <a:rPr sz="1100" spc="25" dirty="0">
                <a:latin typeface="Georgia"/>
                <a:cs typeface="Georgia"/>
              </a:rPr>
              <a:t> </a:t>
            </a:r>
            <a:r>
              <a:rPr sz="1100" spc="-25" dirty="0">
                <a:latin typeface="Georgia"/>
                <a:cs typeface="Georgia"/>
              </a:rPr>
              <a:t>if</a:t>
            </a:r>
            <a:endParaRPr sz="1100">
              <a:latin typeface="Georgia"/>
              <a:cs typeface="Georgia"/>
            </a:endParaRPr>
          </a:p>
          <a:p>
            <a:pPr marR="1050925" algn="ctr">
              <a:lnSpc>
                <a:spcPct val="100000"/>
              </a:lnSpc>
              <a:spcBef>
                <a:spcPts val="885"/>
              </a:spcBef>
            </a:pPr>
            <a:endParaRPr sz="800">
              <a:latin typeface="Calibri"/>
              <a:cs typeface="Calibri"/>
            </a:endParaRPr>
          </a:p>
        </p:txBody>
      </p:sp>
      <p:sp>
        <p:nvSpPr>
          <p:cNvPr id="5" name="object 5"/>
          <p:cNvSpPr/>
          <p:nvPr/>
        </p:nvSpPr>
        <p:spPr>
          <a:xfrm>
            <a:off x="337972" y="116420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548701"/>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4" name="object 14"/>
          <p:cNvSpPr txBox="1"/>
          <p:nvPr/>
        </p:nvSpPr>
        <p:spPr>
          <a:xfrm>
            <a:off x="3431387" y="2019603"/>
            <a:ext cx="2152015" cy="180819"/>
          </a:xfrm>
          <a:prstGeom prst="rect">
            <a:avLst/>
          </a:prstGeom>
        </p:spPr>
        <p:txBody>
          <a:bodyPr vert="horz" wrap="square" lIns="0" tIns="11430" rIns="0" bIns="0" rtlCol="0">
            <a:spAutoFit/>
          </a:bodyPr>
          <a:lstStyle/>
          <a:p>
            <a:pPr marL="12700">
              <a:lnSpc>
                <a:spcPct val="100000"/>
              </a:lnSpc>
              <a:spcBef>
                <a:spcPts val="90"/>
              </a:spcBef>
              <a:tabLst>
                <a:tab pos="1893570" algn="l"/>
              </a:tabLst>
            </a:pPr>
            <a:r>
              <a:rPr sz="1100" i="1" dirty="0">
                <a:latin typeface="Arial"/>
                <a:cs typeface="Arial"/>
              </a:rPr>
              <a:t>	</a:t>
            </a:r>
            <a:r>
              <a:rPr sz="1100" spc="-40" dirty="0">
                <a:latin typeface="Georgia"/>
                <a:cs typeface="Georgia"/>
              </a:rPr>
              <a:t>(20)</a:t>
            </a:r>
            <a:endParaRPr sz="1100">
              <a:latin typeface="Georgia"/>
              <a:cs typeface="Georgia"/>
            </a:endParaRPr>
          </a:p>
        </p:txBody>
      </p:sp>
      <mc:AlternateContent xmlns:mc="http://schemas.openxmlformats.org/markup-compatibility/2006">
        <mc:Choice xmlns:a14="http://schemas.microsoft.com/office/drawing/2010/main" Requires="a14">
          <p:sp>
            <p:nvSpPr>
              <p:cNvPr id="15" name="object 15"/>
              <p:cNvSpPr txBox="1"/>
              <p:nvPr/>
            </p:nvSpPr>
            <p:spPr>
              <a:xfrm>
                <a:off x="454177" y="2189982"/>
                <a:ext cx="4690110" cy="389209"/>
              </a:xfrm>
              <a:prstGeom prst="rect">
                <a:avLst/>
              </a:prstGeom>
            </p:spPr>
            <p:txBody>
              <a:bodyPr vert="horz" wrap="square" lIns="0" tIns="45085" rIns="0" bIns="0" rtlCol="0">
                <a:spAutoFit/>
              </a:bodyPr>
              <a:lstStyle/>
              <a:p>
                <a:pPr marR="608965" algn="ctr">
                  <a:lnSpc>
                    <a:spcPct val="100000"/>
                  </a:lnSpc>
                  <a:spcBef>
                    <a:spcPts val="355"/>
                  </a:spcBef>
                </a:pPr>
                <a:endParaRPr sz="800">
                  <a:latin typeface="Calibri"/>
                  <a:cs typeface="Calibri"/>
                </a:endParaRPr>
              </a:p>
              <a:p>
                <a:pPr marL="12700">
                  <a:lnSpc>
                    <a:spcPct val="100000"/>
                  </a:lnSpc>
                  <a:spcBef>
                    <a:spcPts val="350"/>
                  </a:spcBef>
                </a:pPr>
                <a:r>
                  <a:rPr sz="1100" spc="-30" dirty="0">
                    <a:latin typeface="Georgia"/>
                    <a:cs typeface="Georgia"/>
                  </a:rPr>
                  <a:t>where</a:t>
                </a:r>
                <a:r>
                  <a:rPr sz="1100" spc="5" dirty="0">
                    <a:latin typeface="Georgia"/>
                    <a:cs typeface="Georgia"/>
                  </a:rPr>
                  <a:t> </a:t>
                </a:r>
                <a14:m>
                  <m:oMath xmlns:m="http://schemas.openxmlformats.org/officeDocument/2006/math">
                    <m:r>
                      <a:rPr lang="en-US" sz="1100" i="1" spc="5" dirty="0">
                        <a:latin typeface="Cambria Math" panose="02040503050406030204" pitchFamily="18" charset="0"/>
                        <a:ea typeface="Cambria Math" panose="02040503050406030204" pitchFamily="18" charset="0"/>
                        <a:cs typeface="Georgia"/>
                      </a:rPr>
                      <m:t>𝜀</m:t>
                    </m:r>
                  </m:oMath>
                </a14:m>
                <a:r>
                  <a:rPr sz="1100" i="1" spc="-5" dirty="0">
                    <a:latin typeface="Arial"/>
                    <a:cs typeface="Arial"/>
                  </a:rPr>
                  <a:t> </a:t>
                </a:r>
                <a:r>
                  <a:rPr sz="1100" i="1" spc="295" dirty="0">
                    <a:latin typeface="Calibri"/>
                    <a:cs typeface="Calibri"/>
                  </a:rPr>
                  <a:t>&gt;</a:t>
                </a:r>
                <a:r>
                  <a:rPr sz="1100" i="1" spc="15" dirty="0">
                    <a:latin typeface="Calibri"/>
                    <a:cs typeface="Calibri"/>
                  </a:rPr>
                  <a:t> </a:t>
                </a:r>
                <a:r>
                  <a:rPr sz="1100" dirty="0">
                    <a:latin typeface="Calibri"/>
                    <a:cs typeface="Calibri"/>
                  </a:rPr>
                  <a:t>0</a:t>
                </a:r>
                <a:r>
                  <a:rPr sz="1100" spc="65" dirty="0">
                    <a:latin typeface="Calibri"/>
                    <a:cs typeface="Calibri"/>
                  </a:rPr>
                  <a:t> </a:t>
                </a:r>
                <a:r>
                  <a:rPr sz="1100" dirty="0">
                    <a:latin typeface="Georgia"/>
                    <a:cs typeface="Georgia"/>
                  </a:rPr>
                  <a:t>is</a:t>
                </a:r>
                <a:r>
                  <a:rPr sz="1100" spc="50" dirty="0">
                    <a:latin typeface="Georgia"/>
                    <a:cs typeface="Georgia"/>
                  </a:rPr>
                  <a:t> </a:t>
                </a:r>
                <a:r>
                  <a:rPr sz="1100" dirty="0">
                    <a:latin typeface="Georgia"/>
                    <a:cs typeface="Georgia"/>
                  </a:rPr>
                  <a:t>the</a:t>
                </a:r>
                <a:r>
                  <a:rPr sz="1100" spc="45" dirty="0">
                    <a:latin typeface="Georgia"/>
                    <a:cs typeface="Georgia"/>
                  </a:rPr>
                  <a:t> </a:t>
                </a:r>
                <a:r>
                  <a:rPr sz="1100" spc="-40" dirty="0">
                    <a:latin typeface="Georgia"/>
                    <a:cs typeface="Georgia"/>
                  </a:rPr>
                  <a:t>convergence</a:t>
                </a:r>
                <a:r>
                  <a:rPr sz="1100" spc="50" dirty="0">
                    <a:latin typeface="Georgia"/>
                    <a:cs typeface="Georgia"/>
                  </a:rPr>
                  <a:t> </a:t>
                </a:r>
                <a:r>
                  <a:rPr sz="1100" spc="-25" dirty="0">
                    <a:latin typeface="Georgia"/>
                    <a:cs typeface="Georgia"/>
                  </a:rPr>
                  <a:t>threshold,</a:t>
                </a:r>
                <a:r>
                  <a:rPr sz="1100" spc="45" dirty="0">
                    <a:latin typeface="Georgia"/>
                    <a:cs typeface="Georgia"/>
                  </a:rPr>
                  <a:t> </a:t>
                </a:r>
                <a:r>
                  <a:rPr sz="1100" dirty="0">
                    <a:latin typeface="Georgia"/>
                    <a:cs typeface="Georgia"/>
                  </a:rPr>
                  <a:t>and</a:t>
                </a:r>
                <a:r>
                  <a:rPr sz="1100" spc="50" dirty="0">
                    <a:latin typeface="Georgia"/>
                    <a:cs typeface="Georgia"/>
                  </a:rPr>
                  <a:t> </a:t>
                </a:r>
                <a:r>
                  <a:rPr sz="1100" i="1" dirty="0">
                    <a:latin typeface="Calibri"/>
                    <a:cs typeface="Calibri"/>
                  </a:rPr>
                  <a:t>t</a:t>
                </a:r>
                <a:r>
                  <a:rPr sz="1100" i="1" spc="65" dirty="0">
                    <a:latin typeface="Calibri"/>
                    <a:cs typeface="Calibri"/>
                  </a:rPr>
                  <a:t> </a:t>
                </a:r>
                <a:r>
                  <a:rPr sz="1100" spc="-25" dirty="0">
                    <a:latin typeface="Georgia"/>
                    <a:cs typeface="Georgia"/>
                  </a:rPr>
                  <a:t>denotes</a:t>
                </a:r>
                <a:r>
                  <a:rPr sz="1100" spc="45" dirty="0">
                    <a:latin typeface="Georgia"/>
                    <a:cs typeface="Georgia"/>
                  </a:rPr>
                  <a:t> </a:t>
                </a:r>
                <a:r>
                  <a:rPr sz="1100" dirty="0">
                    <a:latin typeface="Georgia"/>
                    <a:cs typeface="Georgia"/>
                  </a:rPr>
                  <a:t>the</a:t>
                </a:r>
                <a:r>
                  <a:rPr sz="1100" spc="50" dirty="0">
                    <a:latin typeface="Georgia"/>
                    <a:cs typeface="Georgia"/>
                  </a:rPr>
                  <a:t> </a:t>
                </a:r>
                <a:r>
                  <a:rPr sz="1100" spc="-20" dirty="0">
                    <a:latin typeface="Georgia"/>
                    <a:cs typeface="Georgia"/>
                  </a:rPr>
                  <a:t>current</a:t>
                </a:r>
                <a:r>
                  <a:rPr sz="1100" spc="45" dirty="0">
                    <a:latin typeface="Georgia"/>
                    <a:cs typeface="Georgia"/>
                  </a:rPr>
                  <a:t> </a:t>
                </a:r>
                <a:r>
                  <a:rPr sz="1100" spc="-45" dirty="0">
                    <a:latin typeface="Georgia"/>
                    <a:cs typeface="Georgia"/>
                  </a:rPr>
                  <a:t>iteration.</a:t>
                </a:r>
                <a:endParaRPr sz="1100">
                  <a:latin typeface="Georgia"/>
                  <a:cs typeface="Georgia"/>
                </a:endParaRPr>
              </a:p>
            </p:txBody>
          </p:sp>
        </mc:Choice>
        <mc:Fallback>
          <p:sp>
            <p:nvSpPr>
              <p:cNvPr id="15" name="object 15"/>
              <p:cNvSpPr txBox="1">
                <a:spLocks noRot="1" noChangeAspect="1" noMove="1" noResize="1" noEditPoints="1" noAdjustHandles="1" noChangeArrowheads="1" noChangeShapeType="1" noTextEdit="1"/>
              </p:cNvSpPr>
              <p:nvPr/>
            </p:nvSpPr>
            <p:spPr>
              <a:xfrm>
                <a:off x="454177" y="2189982"/>
                <a:ext cx="4690110" cy="389209"/>
              </a:xfrm>
              <a:prstGeom prst="rect">
                <a:avLst/>
              </a:prstGeom>
              <a:blipFill>
                <a:blip r:embed="rId2"/>
                <a:stretch>
                  <a:fillRect l="-1622" r="-270" b="-18750"/>
                </a:stretch>
              </a:blipFill>
            </p:spPr>
            <p:txBody>
              <a:bodyPr/>
              <a:lstStyle/>
              <a:p>
                <a:r>
                  <a:rPr lang="en-VN">
                    <a:noFill/>
                  </a:rPr>
                  <a:t> </a:t>
                </a:r>
              </a:p>
            </p:txBody>
          </p:sp>
        </mc:Fallback>
      </mc:AlternateContent>
      <p:grpSp>
        <p:nvGrpSpPr>
          <p:cNvPr id="16" name="object 16"/>
          <p:cNvGrpSpPr/>
          <p:nvPr/>
        </p:nvGrpSpPr>
        <p:grpSpPr>
          <a:xfrm>
            <a:off x="0" y="3121545"/>
            <a:ext cx="5760085" cy="118745"/>
            <a:chOff x="0" y="3121545"/>
            <a:chExt cx="5760085" cy="118745"/>
          </a:xfrm>
        </p:grpSpPr>
        <p:sp>
          <p:nvSpPr>
            <p:cNvPr id="17" name="object 17"/>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8" name="object 18"/>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9" name="object 19"/>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20" name="object 20"/>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21" name="object 21"/>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58</a:t>
            </a:fld>
            <a:r>
              <a:rPr spc="-25" dirty="0"/>
              <a:t> </a:t>
            </a:r>
            <a:r>
              <a:rPr spc="75" dirty="0"/>
              <a:t>/</a:t>
            </a:r>
            <a:r>
              <a:rPr spc="-25" dirty="0"/>
              <a:t> </a:t>
            </a:r>
            <a:r>
              <a:rPr spc="35" dirty="0"/>
              <a:t>135</a:t>
            </a:r>
          </a:p>
        </p:txBody>
      </p:sp>
      <p:pic>
        <p:nvPicPr>
          <p:cNvPr id="22" name="Picture 21">
            <a:extLst>
              <a:ext uri="{FF2B5EF4-FFF2-40B4-BE49-F238E27FC236}">
                <a16:creationId xmlns:a16="http://schemas.microsoft.com/office/drawing/2014/main" id="{C43BF092-2114-CEBC-FDF0-87FC8773C21F}"/>
              </a:ext>
            </a:extLst>
          </p:cNvPr>
          <p:cNvPicPr>
            <a:picLocks noChangeAspect="1"/>
          </p:cNvPicPr>
          <p:nvPr/>
        </p:nvPicPr>
        <p:blipFill>
          <a:blip r:embed="rId4"/>
          <a:stretch>
            <a:fillRect/>
          </a:stretch>
        </p:blipFill>
        <p:spPr>
          <a:xfrm>
            <a:off x="2365626" y="1852361"/>
            <a:ext cx="1320800" cy="509929"/>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5300" y="28267"/>
            <a:ext cx="3126105" cy="244475"/>
          </a:xfrm>
          <a:prstGeom prst="rect">
            <a:avLst/>
          </a:prstGeom>
        </p:spPr>
        <p:txBody>
          <a:bodyPr vert="horz" wrap="square" lIns="0" tIns="17145" rIns="0" bIns="0" rtlCol="0">
            <a:spAutoFit/>
          </a:bodyPr>
          <a:lstStyle/>
          <a:p>
            <a:pPr marL="12700">
              <a:lnSpc>
                <a:spcPct val="100000"/>
              </a:lnSpc>
              <a:spcBef>
                <a:spcPts val="135"/>
              </a:spcBef>
            </a:pPr>
            <a:r>
              <a:rPr sz="1400" i="1" spc="90" dirty="0">
                <a:solidFill>
                  <a:srgbClr val="CC0000"/>
                </a:solidFill>
                <a:latin typeface="Calibri"/>
                <a:cs typeface="Calibri"/>
              </a:rPr>
              <a:t>K</a:t>
            </a:r>
            <a:r>
              <a:rPr sz="1400" spc="90" dirty="0">
                <a:solidFill>
                  <a:srgbClr val="CC0000"/>
                </a:solidFill>
                <a:latin typeface="Times New Roman"/>
                <a:cs typeface="Times New Roman"/>
              </a:rPr>
              <a:t>–means</a:t>
            </a:r>
            <a:r>
              <a:rPr sz="1400" spc="180" dirty="0">
                <a:solidFill>
                  <a:srgbClr val="CC0000"/>
                </a:solidFill>
                <a:latin typeface="Times New Roman"/>
                <a:cs typeface="Times New Roman"/>
              </a:rPr>
              <a:t> </a:t>
            </a:r>
            <a:r>
              <a:rPr sz="1400" dirty="0">
                <a:solidFill>
                  <a:srgbClr val="CC0000"/>
                </a:solidFill>
                <a:latin typeface="Times New Roman"/>
                <a:cs typeface="Times New Roman"/>
              </a:rPr>
              <a:t>algorithm:</a:t>
            </a:r>
            <a:r>
              <a:rPr sz="1400" spc="355" dirty="0">
                <a:solidFill>
                  <a:srgbClr val="CC0000"/>
                </a:solidFill>
                <a:latin typeface="Times New Roman"/>
                <a:cs typeface="Times New Roman"/>
              </a:rPr>
              <a:t> </a:t>
            </a:r>
            <a:r>
              <a:rPr sz="1400" spc="55" dirty="0">
                <a:solidFill>
                  <a:srgbClr val="CC0000"/>
                </a:solidFill>
                <a:latin typeface="Times New Roman"/>
                <a:cs typeface="Times New Roman"/>
              </a:rPr>
              <a:t>the</a:t>
            </a:r>
            <a:r>
              <a:rPr sz="1400" spc="175" dirty="0">
                <a:solidFill>
                  <a:srgbClr val="CC0000"/>
                </a:solidFill>
                <a:latin typeface="Times New Roman"/>
                <a:cs typeface="Times New Roman"/>
              </a:rPr>
              <a:t> </a:t>
            </a:r>
            <a:r>
              <a:rPr sz="1400" dirty="0">
                <a:solidFill>
                  <a:srgbClr val="CC0000"/>
                </a:solidFill>
                <a:latin typeface="Times New Roman"/>
                <a:cs typeface="Times New Roman"/>
              </a:rPr>
              <a:t>pseudo</a:t>
            </a:r>
            <a:r>
              <a:rPr sz="1400" spc="175" dirty="0">
                <a:solidFill>
                  <a:srgbClr val="CC0000"/>
                </a:solidFill>
                <a:latin typeface="Times New Roman"/>
                <a:cs typeface="Times New Roman"/>
              </a:rPr>
              <a:t> </a:t>
            </a:r>
            <a:r>
              <a:rPr sz="1400" dirty="0">
                <a:solidFill>
                  <a:srgbClr val="CC0000"/>
                </a:solidFill>
                <a:latin typeface="Times New Roman"/>
                <a:cs typeface="Times New Roman"/>
              </a:rPr>
              <a:t>code</a:t>
            </a:r>
            <a:r>
              <a:rPr sz="1400" spc="180" dirty="0">
                <a:solidFill>
                  <a:srgbClr val="CC0000"/>
                </a:solidFill>
                <a:latin typeface="Times New Roman"/>
                <a:cs typeface="Times New Roman"/>
              </a:rPr>
              <a:t> </a:t>
            </a:r>
            <a:r>
              <a:rPr sz="1400" spc="-25" dirty="0">
                <a:solidFill>
                  <a:srgbClr val="CC0000"/>
                </a:solidFill>
                <a:latin typeface="Times New Roman"/>
                <a:cs typeface="Times New Roman"/>
              </a:rPr>
              <a:t>[</a:t>
            </a:r>
            <a:r>
              <a:rPr sz="1400" spc="-25" dirty="0">
                <a:solidFill>
                  <a:srgbClr val="CC0000"/>
                </a:solidFill>
                <a:latin typeface="Times New Roman"/>
                <a:cs typeface="Times New Roman"/>
                <a:hlinkClick r:id="rId2" action="ppaction://hlinksldjump"/>
              </a:rPr>
              <a:t>4</a:t>
            </a:r>
            <a:r>
              <a:rPr sz="1400" spc="-25" dirty="0">
                <a:solidFill>
                  <a:srgbClr val="CC0000"/>
                </a:solidFill>
                <a:latin typeface="Times New Roman"/>
                <a:cs typeface="Times New Roman"/>
              </a:rPr>
              <a:t>]</a:t>
            </a:r>
            <a:endParaRPr sz="1400">
              <a:latin typeface="Times New Roman"/>
              <a:cs typeface="Times New Roman"/>
            </a:endParaRPr>
          </a:p>
        </p:txBody>
      </p:sp>
      <p:pic>
        <p:nvPicPr>
          <p:cNvPr id="3" name="object 3"/>
          <p:cNvPicPr/>
          <p:nvPr/>
        </p:nvPicPr>
        <p:blipFill>
          <a:blip r:embed="rId3" cstate="print"/>
          <a:stretch>
            <a:fillRect/>
          </a:stretch>
        </p:blipFill>
        <p:spPr>
          <a:xfrm>
            <a:off x="678967" y="537019"/>
            <a:ext cx="4344860" cy="2328926"/>
          </a:xfrm>
          <a:prstGeom prst="rect">
            <a:avLst/>
          </a:prstGeom>
        </p:spPr>
      </p:pic>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59</a:t>
            </a:fld>
            <a:r>
              <a:rPr spc="-25" dirty="0"/>
              <a:t> </a:t>
            </a:r>
            <a:r>
              <a:rPr spc="75" dirty="0"/>
              <a:t>/</a:t>
            </a:r>
            <a:r>
              <a:rPr spc="-25" dirty="0"/>
              <a:t> </a:t>
            </a:r>
            <a:r>
              <a:rPr spc="35" dirty="0"/>
              <a:t>135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260" dirty="0"/>
              <a:t> </a:t>
            </a:r>
            <a:r>
              <a:rPr spc="10" dirty="0"/>
              <a:t>algorithm:</a:t>
            </a:r>
            <a:r>
              <a:rPr spc="459" dirty="0"/>
              <a:t> </a:t>
            </a:r>
            <a:r>
              <a:rPr spc="10" dirty="0"/>
              <a:t>computational</a:t>
            </a:r>
            <a:r>
              <a:rPr spc="265" dirty="0"/>
              <a:t> </a:t>
            </a:r>
            <a:r>
              <a:rPr spc="-10" dirty="0"/>
              <a:t>complexity</a:t>
            </a:r>
          </a:p>
        </p:txBody>
      </p:sp>
      <p:sp>
        <p:nvSpPr>
          <p:cNvPr id="3" name="object 3"/>
          <p:cNvSpPr/>
          <p:nvPr/>
        </p:nvSpPr>
        <p:spPr>
          <a:xfrm>
            <a:off x="337972" y="951356"/>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a:spLocks noGrp="1"/>
          </p:cNvSpPr>
          <p:nvPr>
            <p:ph type="body" idx="1"/>
          </p:nvPr>
        </p:nvSpPr>
        <p:spPr>
          <a:prstGeom prst="rect">
            <a:avLst/>
          </a:prstGeom>
        </p:spPr>
        <p:txBody>
          <a:bodyPr vert="horz" wrap="square" lIns="0" tIns="285088" rIns="0" bIns="0" rtlCol="0">
            <a:spAutoFit/>
          </a:bodyPr>
          <a:lstStyle/>
          <a:p>
            <a:pPr marL="12700" marR="33655">
              <a:lnSpc>
                <a:spcPts val="1150"/>
              </a:lnSpc>
              <a:spcBef>
                <a:spcPts val="270"/>
              </a:spcBef>
            </a:pPr>
            <a:r>
              <a:rPr dirty="0"/>
              <a:t>The</a:t>
            </a:r>
            <a:r>
              <a:rPr spc="25" dirty="0"/>
              <a:t> </a:t>
            </a:r>
            <a:r>
              <a:rPr spc="-10" dirty="0"/>
              <a:t>cluster</a:t>
            </a:r>
            <a:r>
              <a:rPr spc="25" dirty="0"/>
              <a:t> </a:t>
            </a:r>
            <a:r>
              <a:rPr spc="-35" dirty="0"/>
              <a:t>assignment</a:t>
            </a:r>
            <a:r>
              <a:rPr spc="30" dirty="0"/>
              <a:t> </a:t>
            </a:r>
            <a:r>
              <a:rPr dirty="0"/>
              <a:t>step</a:t>
            </a:r>
            <a:r>
              <a:rPr spc="25" dirty="0"/>
              <a:t> </a:t>
            </a:r>
            <a:r>
              <a:rPr dirty="0"/>
              <a:t>take</a:t>
            </a:r>
            <a:r>
              <a:rPr spc="30" dirty="0"/>
              <a:t> </a:t>
            </a:r>
            <a:r>
              <a:rPr i="1" spc="75" dirty="0">
                <a:latin typeface="Calibri"/>
                <a:cs typeface="Calibri"/>
              </a:rPr>
              <a:t>O</a:t>
            </a:r>
            <a:r>
              <a:rPr spc="75" dirty="0">
                <a:latin typeface="Calibri"/>
                <a:cs typeface="Calibri"/>
              </a:rPr>
              <a:t>(</a:t>
            </a:r>
            <a:r>
              <a:rPr i="1" spc="75" dirty="0">
                <a:latin typeface="Calibri"/>
                <a:cs typeface="Calibri"/>
              </a:rPr>
              <a:t>nkd</a:t>
            </a:r>
            <a:r>
              <a:rPr spc="75" dirty="0">
                <a:latin typeface="Calibri"/>
                <a:cs typeface="Calibri"/>
              </a:rPr>
              <a:t>)</a:t>
            </a:r>
            <a:r>
              <a:rPr spc="40" dirty="0">
                <a:latin typeface="Calibri"/>
                <a:cs typeface="Calibri"/>
              </a:rPr>
              <a:t> </a:t>
            </a:r>
            <a:r>
              <a:rPr dirty="0"/>
              <a:t>time,</a:t>
            </a:r>
            <a:r>
              <a:rPr spc="30" dirty="0"/>
              <a:t> </a:t>
            </a:r>
            <a:r>
              <a:rPr spc="-25" dirty="0"/>
              <a:t>since</a:t>
            </a:r>
            <a:r>
              <a:rPr spc="25" dirty="0"/>
              <a:t> </a:t>
            </a:r>
            <a:r>
              <a:rPr dirty="0"/>
              <a:t>for</a:t>
            </a:r>
            <a:r>
              <a:rPr spc="30" dirty="0"/>
              <a:t> </a:t>
            </a:r>
            <a:r>
              <a:rPr spc="-10" dirty="0"/>
              <a:t>each</a:t>
            </a:r>
            <a:r>
              <a:rPr spc="25" dirty="0"/>
              <a:t> </a:t>
            </a:r>
            <a:r>
              <a:rPr dirty="0"/>
              <a:t>of</a:t>
            </a:r>
            <a:r>
              <a:rPr spc="30" dirty="0"/>
              <a:t> </a:t>
            </a:r>
            <a:r>
              <a:rPr dirty="0"/>
              <a:t>the</a:t>
            </a:r>
            <a:r>
              <a:rPr spc="25" dirty="0"/>
              <a:t> </a:t>
            </a:r>
            <a:r>
              <a:rPr i="1" spc="90" dirty="0">
                <a:latin typeface="Calibri"/>
                <a:cs typeface="Calibri"/>
              </a:rPr>
              <a:t>n</a:t>
            </a:r>
            <a:r>
              <a:rPr i="1" spc="45" dirty="0">
                <a:latin typeface="Calibri"/>
                <a:cs typeface="Calibri"/>
              </a:rPr>
              <a:t> </a:t>
            </a:r>
            <a:r>
              <a:rPr spc="-10" dirty="0"/>
              <a:t>points</a:t>
            </a:r>
            <a:r>
              <a:rPr spc="25" dirty="0"/>
              <a:t> </a:t>
            </a:r>
            <a:r>
              <a:rPr spc="-25" dirty="0"/>
              <a:t>we </a:t>
            </a:r>
            <a:r>
              <a:rPr spc="-10" dirty="0"/>
              <a:t>have</a:t>
            </a:r>
            <a:r>
              <a:rPr spc="40" dirty="0"/>
              <a:t> </a:t>
            </a:r>
            <a:r>
              <a:rPr dirty="0"/>
              <a:t>to</a:t>
            </a:r>
            <a:r>
              <a:rPr spc="40" dirty="0"/>
              <a:t> </a:t>
            </a:r>
            <a:r>
              <a:rPr spc="-20" dirty="0"/>
              <a:t>compute</a:t>
            </a:r>
            <a:r>
              <a:rPr spc="40" dirty="0"/>
              <a:t> </a:t>
            </a:r>
            <a:r>
              <a:rPr dirty="0"/>
              <a:t>its</a:t>
            </a:r>
            <a:r>
              <a:rPr spc="40" dirty="0"/>
              <a:t> </a:t>
            </a:r>
            <a:r>
              <a:rPr spc="-20" dirty="0"/>
              <a:t>distance</a:t>
            </a:r>
            <a:r>
              <a:rPr spc="45" dirty="0"/>
              <a:t> </a:t>
            </a:r>
            <a:r>
              <a:rPr dirty="0"/>
              <a:t>to</a:t>
            </a:r>
            <a:r>
              <a:rPr spc="40" dirty="0"/>
              <a:t> </a:t>
            </a:r>
            <a:r>
              <a:rPr spc="-10" dirty="0"/>
              <a:t>each</a:t>
            </a:r>
            <a:r>
              <a:rPr spc="40" dirty="0"/>
              <a:t> </a:t>
            </a:r>
            <a:r>
              <a:rPr dirty="0"/>
              <a:t>of</a:t>
            </a:r>
            <a:r>
              <a:rPr spc="40" dirty="0"/>
              <a:t> </a:t>
            </a:r>
            <a:r>
              <a:rPr dirty="0"/>
              <a:t>the</a:t>
            </a:r>
            <a:r>
              <a:rPr spc="40" dirty="0"/>
              <a:t> </a:t>
            </a:r>
            <a:r>
              <a:rPr i="1" spc="65" dirty="0">
                <a:latin typeface="Calibri"/>
                <a:cs typeface="Calibri"/>
              </a:rPr>
              <a:t>k</a:t>
            </a:r>
            <a:r>
              <a:rPr i="1" spc="85" dirty="0">
                <a:latin typeface="Calibri"/>
                <a:cs typeface="Calibri"/>
              </a:rPr>
              <a:t> </a:t>
            </a:r>
            <a:r>
              <a:rPr spc="-20" dirty="0"/>
              <a:t>clusters,</a:t>
            </a:r>
            <a:r>
              <a:rPr spc="45" dirty="0"/>
              <a:t> </a:t>
            </a:r>
            <a:r>
              <a:rPr spc="-20" dirty="0"/>
              <a:t>which</a:t>
            </a:r>
            <a:r>
              <a:rPr spc="40" dirty="0"/>
              <a:t> </a:t>
            </a:r>
            <a:r>
              <a:rPr spc="-10" dirty="0"/>
              <a:t>takes</a:t>
            </a:r>
            <a:r>
              <a:rPr spc="40" dirty="0"/>
              <a:t> </a:t>
            </a:r>
            <a:r>
              <a:rPr i="1" dirty="0">
                <a:latin typeface="Calibri"/>
                <a:cs typeface="Calibri"/>
              </a:rPr>
              <a:t>d</a:t>
            </a:r>
            <a:r>
              <a:rPr i="1" spc="55" dirty="0">
                <a:latin typeface="Calibri"/>
                <a:cs typeface="Calibri"/>
              </a:rPr>
              <a:t> </a:t>
            </a:r>
            <a:r>
              <a:rPr spc="-25" dirty="0"/>
              <a:t>operations</a:t>
            </a:r>
            <a:r>
              <a:rPr spc="40" dirty="0"/>
              <a:t> </a:t>
            </a:r>
            <a:r>
              <a:rPr dirty="0"/>
              <a:t>in</a:t>
            </a:r>
            <a:r>
              <a:rPr spc="45" dirty="0"/>
              <a:t> </a:t>
            </a:r>
            <a:r>
              <a:rPr i="1" spc="-50" dirty="0">
                <a:latin typeface="Calibri"/>
                <a:cs typeface="Calibri"/>
              </a:rPr>
              <a:t>d</a:t>
            </a:r>
            <a:r>
              <a:rPr i="1" spc="-10" dirty="0">
                <a:latin typeface="Calibri"/>
                <a:cs typeface="Calibri"/>
              </a:rPr>
              <a:t> </a:t>
            </a:r>
            <a:r>
              <a:rPr spc="-10" dirty="0"/>
              <a:t>dimensions.</a:t>
            </a:r>
          </a:p>
          <a:p>
            <a:pPr marL="12700">
              <a:lnSpc>
                <a:spcPts val="1235"/>
              </a:lnSpc>
              <a:spcBef>
                <a:spcPts val="550"/>
              </a:spcBef>
            </a:pPr>
            <a:r>
              <a:rPr dirty="0"/>
              <a:t>The</a:t>
            </a:r>
            <a:r>
              <a:rPr spc="30" dirty="0"/>
              <a:t> </a:t>
            </a:r>
            <a:r>
              <a:rPr spc="-25" dirty="0"/>
              <a:t>centroid</a:t>
            </a:r>
            <a:r>
              <a:rPr spc="35" dirty="0"/>
              <a:t> </a:t>
            </a:r>
            <a:r>
              <a:rPr spc="-35" dirty="0"/>
              <a:t>re–computation</a:t>
            </a:r>
            <a:r>
              <a:rPr spc="35" dirty="0"/>
              <a:t> </a:t>
            </a:r>
            <a:r>
              <a:rPr dirty="0"/>
              <a:t>step</a:t>
            </a:r>
            <a:r>
              <a:rPr spc="35" dirty="0"/>
              <a:t> </a:t>
            </a:r>
            <a:r>
              <a:rPr spc="-10" dirty="0"/>
              <a:t>takes</a:t>
            </a:r>
            <a:r>
              <a:rPr spc="35" dirty="0"/>
              <a:t> </a:t>
            </a:r>
            <a:r>
              <a:rPr i="1" spc="75" dirty="0">
                <a:latin typeface="Calibri"/>
                <a:cs typeface="Calibri"/>
              </a:rPr>
              <a:t>O</a:t>
            </a:r>
            <a:r>
              <a:rPr spc="75" dirty="0">
                <a:latin typeface="Calibri"/>
                <a:cs typeface="Calibri"/>
              </a:rPr>
              <a:t>(</a:t>
            </a:r>
            <a:r>
              <a:rPr i="1" spc="75" dirty="0">
                <a:latin typeface="Calibri"/>
                <a:cs typeface="Calibri"/>
              </a:rPr>
              <a:t>nd</a:t>
            </a:r>
            <a:r>
              <a:rPr spc="75" dirty="0">
                <a:latin typeface="Calibri"/>
                <a:cs typeface="Calibri"/>
              </a:rPr>
              <a:t>)</a:t>
            </a:r>
            <a:r>
              <a:rPr spc="50" dirty="0">
                <a:latin typeface="Calibri"/>
                <a:cs typeface="Calibri"/>
              </a:rPr>
              <a:t> </a:t>
            </a:r>
            <a:r>
              <a:rPr spc="-10" dirty="0"/>
              <a:t>time,</a:t>
            </a:r>
            <a:r>
              <a:rPr spc="35" dirty="0"/>
              <a:t> </a:t>
            </a:r>
            <a:r>
              <a:rPr spc="-25" dirty="0"/>
              <a:t>since</a:t>
            </a:r>
            <a:r>
              <a:rPr spc="35" dirty="0"/>
              <a:t> </a:t>
            </a:r>
            <a:r>
              <a:rPr spc="-10" dirty="0"/>
              <a:t>we</a:t>
            </a:r>
            <a:r>
              <a:rPr spc="35" dirty="0"/>
              <a:t> </a:t>
            </a:r>
            <a:r>
              <a:rPr spc="-10" dirty="0"/>
              <a:t>have</a:t>
            </a:r>
            <a:r>
              <a:rPr spc="35" dirty="0"/>
              <a:t> </a:t>
            </a:r>
            <a:r>
              <a:rPr dirty="0"/>
              <a:t>to</a:t>
            </a:r>
            <a:r>
              <a:rPr spc="30" dirty="0"/>
              <a:t> </a:t>
            </a:r>
            <a:r>
              <a:rPr dirty="0"/>
              <a:t>add</a:t>
            </a:r>
            <a:r>
              <a:rPr spc="35" dirty="0"/>
              <a:t> </a:t>
            </a:r>
            <a:r>
              <a:rPr dirty="0"/>
              <a:t>at</a:t>
            </a:r>
            <a:r>
              <a:rPr spc="35" dirty="0"/>
              <a:t> </a:t>
            </a:r>
            <a:r>
              <a:rPr dirty="0"/>
              <a:t>total</a:t>
            </a:r>
            <a:r>
              <a:rPr spc="35" dirty="0"/>
              <a:t> </a:t>
            </a:r>
            <a:r>
              <a:rPr spc="-25" dirty="0"/>
              <a:t>of</a:t>
            </a:r>
          </a:p>
          <a:p>
            <a:pPr marL="12700">
              <a:lnSpc>
                <a:spcPts val="1235"/>
              </a:lnSpc>
            </a:pPr>
            <a:r>
              <a:rPr i="1" spc="90" dirty="0">
                <a:latin typeface="Calibri"/>
                <a:cs typeface="Calibri"/>
              </a:rPr>
              <a:t>n </a:t>
            </a:r>
            <a:r>
              <a:rPr i="1" spc="-45" dirty="0">
                <a:latin typeface="Calibri"/>
                <a:cs typeface="Calibri"/>
              </a:rPr>
              <a:t>d</a:t>
            </a:r>
            <a:r>
              <a:rPr spc="-45" dirty="0"/>
              <a:t>–dimensional</a:t>
            </a:r>
            <a:r>
              <a:rPr spc="80" dirty="0"/>
              <a:t> </a:t>
            </a:r>
            <a:r>
              <a:rPr spc="-10" dirty="0"/>
              <a:t>points.</a:t>
            </a:r>
          </a:p>
          <a:p>
            <a:pPr marL="12700">
              <a:lnSpc>
                <a:spcPct val="100000"/>
              </a:lnSpc>
              <a:spcBef>
                <a:spcPts val="555"/>
              </a:spcBef>
            </a:pPr>
            <a:r>
              <a:rPr spc="-20" dirty="0"/>
              <a:t>Assuming</a:t>
            </a:r>
            <a:r>
              <a:rPr spc="30" dirty="0"/>
              <a:t> </a:t>
            </a:r>
            <a:r>
              <a:rPr dirty="0"/>
              <a:t>that</a:t>
            </a:r>
            <a:r>
              <a:rPr spc="30" dirty="0"/>
              <a:t> </a:t>
            </a:r>
            <a:r>
              <a:rPr spc="-10" dirty="0"/>
              <a:t>there</a:t>
            </a:r>
            <a:r>
              <a:rPr spc="30" dirty="0"/>
              <a:t> </a:t>
            </a:r>
            <a:r>
              <a:rPr dirty="0"/>
              <a:t>are</a:t>
            </a:r>
            <a:r>
              <a:rPr spc="30" dirty="0"/>
              <a:t> </a:t>
            </a:r>
            <a:r>
              <a:rPr i="1" dirty="0">
                <a:latin typeface="Calibri"/>
                <a:cs typeface="Calibri"/>
              </a:rPr>
              <a:t>t</a:t>
            </a:r>
            <a:r>
              <a:rPr i="1" spc="45" dirty="0">
                <a:latin typeface="Calibri"/>
                <a:cs typeface="Calibri"/>
              </a:rPr>
              <a:t> </a:t>
            </a:r>
            <a:r>
              <a:rPr spc="-10" dirty="0"/>
              <a:t>iterations,</a:t>
            </a:r>
            <a:r>
              <a:rPr spc="30" dirty="0"/>
              <a:t> </a:t>
            </a:r>
            <a:r>
              <a:rPr dirty="0"/>
              <a:t>the</a:t>
            </a:r>
            <a:r>
              <a:rPr spc="35" dirty="0"/>
              <a:t> </a:t>
            </a:r>
            <a:r>
              <a:rPr dirty="0"/>
              <a:t>total</a:t>
            </a:r>
            <a:r>
              <a:rPr spc="30" dirty="0"/>
              <a:t> </a:t>
            </a:r>
            <a:r>
              <a:rPr dirty="0"/>
              <a:t>time</a:t>
            </a:r>
            <a:r>
              <a:rPr spc="30" dirty="0"/>
              <a:t> </a:t>
            </a:r>
            <a:r>
              <a:rPr dirty="0"/>
              <a:t>for</a:t>
            </a:r>
            <a:r>
              <a:rPr spc="30" dirty="0"/>
              <a:t> </a:t>
            </a:r>
            <a:r>
              <a:rPr i="1" spc="-35" dirty="0">
                <a:latin typeface="Calibri"/>
                <a:cs typeface="Calibri"/>
              </a:rPr>
              <a:t>k</a:t>
            </a:r>
            <a:r>
              <a:rPr spc="-35" dirty="0"/>
              <a:t>–means</a:t>
            </a:r>
            <a:r>
              <a:rPr spc="30" dirty="0"/>
              <a:t> </a:t>
            </a:r>
            <a:r>
              <a:rPr dirty="0"/>
              <a:t>is</a:t>
            </a:r>
            <a:r>
              <a:rPr spc="35" dirty="0"/>
              <a:t> </a:t>
            </a:r>
            <a:r>
              <a:rPr i="1" spc="50" dirty="0">
                <a:latin typeface="Calibri"/>
                <a:cs typeface="Calibri"/>
              </a:rPr>
              <a:t>O</a:t>
            </a:r>
            <a:r>
              <a:rPr spc="50" dirty="0">
                <a:latin typeface="Calibri"/>
                <a:cs typeface="Calibri"/>
              </a:rPr>
              <a:t>(</a:t>
            </a:r>
            <a:r>
              <a:rPr i="1" spc="50" dirty="0">
                <a:latin typeface="Calibri"/>
                <a:cs typeface="Calibri"/>
              </a:rPr>
              <a:t>tnkd</a:t>
            </a:r>
            <a:r>
              <a:rPr spc="50" dirty="0">
                <a:latin typeface="Calibri"/>
                <a:cs typeface="Calibri"/>
              </a:rPr>
              <a:t>)</a:t>
            </a:r>
            <a:r>
              <a:rPr spc="50" dirty="0"/>
              <a:t>.</a:t>
            </a:r>
          </a:p>
          <a:p>
            <a:pPr marL="12700" marR="132080">
              <a:lnSpc>
                <a:spcPts val="1150"/>
              </a:lnSpc>
              <a:spcBef>
                <a:spcPts val="735"/>
              </a:spcBef>
            </a:pPr>
            <a:r>
              <a:rPr dirty="0"/>
              <a:t>In</a:t>
            </a:r>
            <a:r>
              <a:rPr spc="30" dirty="0"/>
              <a:t> </a:t>
            </a:r>
            <a:r>
              <a:rPr spc="-20" dirty="0"/>
              <a:t>terms</a:t>
            </a:r>
            <a:r>
              <a:rPr spc="30" dirty="0"/>
              <a:t> </a:t>
            </a:r>
            <a:r>
              <a:rPr dirty="0"/>
              <a:t>of</a:t>
            </a:r>
            <a:r>
              <a:rPr spc="30" dirty="0"/>
              <a:t> </a:t>
            </a:r>
            <a:r>
              <a:rPr dirty="0"/>
              <a:t>the</a:t>
            </a:r>
            <a:r>
              <a:rPr spc="35" dirty="0"/>
              <a:t> </a:t>
            </a:r>
            <a:r>
              <a:rPr dirty="0"/>
              <a:t>I/O</a:t>
            </a:r>
            <a:r>
              <a:rPr spc="30" dirty="0"/>
              <a:t> </a:t>
            </a:r>
            <a:r>
              <a:rPr dirty="0"/>
              <a:t>cost</a:t>
            </a:r>
            <a:r>
              <a:rPr spc="30" dirty="0"/>
              <a:t> </a:t>
            </a:r>
            <a:r>
              <a:rPr dirty="0"/>
              <a:t>it</a:t>
            </a:r>
            <a:r>
              <a:rPr spc="30" dirty="0"/>
              <a:t> </a:t>
            </a:r>
            <a:r>
              <a:rPr spc="-35" dirty="0"/>
              <a:t>requires</a:t>
            </a:r>
            <a:r>
              <a:rPr spc="35" dirty="0"/>
              <a:t> </a:t>
            </a:r>
            <a:r>
              <a:rPr i="1" spc="80" dirty="0">
                <a:latin typeface="Calibri"/>
                <a:cs typeface="Calibri"/>
              </a:rPr>
              <a:t>O</a:t>
            </a:r>
            <a:r>
              <a:rPr spc="80" dirty="0">
                <a:latin typeface="Calibri"/>
                <a:cs typeface="Calibri"/>
              </a:rPr>
              <a:t>(</a:t>
            </a:r>
            <a:r>
              <a:rPr i="1" spc="80" dirty="0">
                <a:latin typeface="Calibri"/>
                <a:cs typeface="Calibri"/>
              </a:rPr>
              <a:t>t</a:t>
            </a:r>
            <a:r>
              <a:rPr spc="80" dirty="0">
                <a:latin typeface="Calibri"/>
                <a:cs typeface="Calibri"/>
              </a:rPr>
              <a:t>)</a:t>
            </a:r>
            <a:r>
              <a:rPr spc="45" dirty="0">
                <a:latin typeface="Calibri"/>
                <a:cs typeface="Calibri"/>
              </a:rPr>
              <a:t> </a:t>
            </a:r>
            <a:r>
              <a:rPr dirty="0"/>
              <a:t>full</a:t>
            </a:r>
            <a:r>
              <a:rPr spc="30" dirty="0"/>
              <a:t> </a:t>
            </a:r>
            <a:r>
              <a:rPr spc="-10" dirty="0"/>
              <a:t>database</a:t>
            </a:r>
            <a:r>
              <a:rPr spc="30" dirty="0"/>
              <a:t> </a:t>
            </a:r>
            <a:r>
              <a:rPr spc="-10" dirty="0"/>
              <a:t>scans,</a:t>
            </a:r>
            <a:r>
              <a:rPr spc="30" dirty="0"/>
              <a:t> </a:t>
            </a:r>
            <a:r>
              <a:rPr spc="-25" dirty="0"/>
              <a:t>since</a:t>
            </a:r>
            <a:r>
              <a:rPr spc="35" dirty="0"/>
              <a:t> </a:t>
            </a:r>
            <a:r>
              <a:rPr dirty="0"/>
              <a:t>we</a:t>
            </a:r>
            <a:r>
              <a:rPr spc="30" dirty="0"/>
              <a:t> </a:t>
            </a:r>
            <a:r>
              <a:rPr spc="-10" dirty="0"/>
              <a:t>have</a:t>
            </a:r>
            <a:r>
              <a:rPr spc="30" dirty="0"/>
              <a:t> </a:t>
            </a:r>
            <a:r>
              <a:rPr dirty="0"/>
              <a:t>to</a:t>
            </a:r>
            <a:r>
              <a:rPr spc="30" dirty="0"/>
              <a:t> </a:t>
            </a:r>
            <a:r>
              <a:rPr spc="-20" dirty="0"/>
              <a:t>read </a:t>
            </a:r>
            <a:r>
              <a:rPr dirty="0"/>
              <a:t>the</a:t>
            </a:r>
            <a:r>
              <a:rPr spc="15" dirty="0"/>
              <a:t> </a:t>
            </a:r>
            <a:r>
              <a:rPr spc="-25" dirty="0"/>
              <a:t>entire</a:t>
            </a:r>
            <a:r>
              <a:rPr spc="15" dirty="0"/>
              <a:t> </a:t>
            </a:r>
            <a:r>
              <a:rPr spc="-10" dirty="0"/>
              <a:t>database</a:t>
            </a:r>
            <a:r>
              <a:rPr spc="15" dirty="0"/>
              <a:t> </a:t>
            </a:r>
            <a:r>
              <a:rPr dirty="0"/>
              <a:t>in</a:t>
            </a:r>
            <a:r>
              <a:rPr spc="20" dirty="0"/>
              <a:t> </a:t>
            </a:r>
            <a:r>
              <a:rPr spc="-10" dirty="0"/>
              <a:t>each</a:t>
            </a:r>
            <a:r>
              <a:rPr spc="15" dirty="0"/>
              <a:t> </a:t>
            </a:r>
            <a:r>
              <a:rPr spc="-10" dirty="0"/>
              <a:t>iteration.</a:t>
            </a:r>
          </a:p>
        </p:txBody>
      </p:sp>
      <p:sp>
        <p:nvSpPr>
          <p:cNvPr id="5" name="object 5"/>
          <p:cNvSpPr/>
          <p:nvPr/>
        </p:nvSpPr>
        <p:spPr>
          <a:xfrm>
            <a:off x="337972" y="148210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86659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210480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8" name="object 8"/>
          <p:cNvGrpSpPr/>
          <p:nvPr/>
        </p:nvGrpSpPr>
        <p:grpSpPr>
          <a:xfrm>
            <a:off x="0" y="3121545"/>
            <a:ext cx="5760085" cy="118745"/>
            <a:chOff x="0" y="3121545"/>
            <a:chExt cx="5760085" cy="118745"/>
          </a:xfrm>
        </p:grpSpPr>
        <p:sp>
          <p:nvSpPr>
            <p:cNvPr id="9" name="object 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0" name="object 1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1" name="object 1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2" name="object 1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3" name="object 1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60</a:t>
            </a:fld>
            <a:r>
              <a:rPr spc="-25" dirty="0"/>
              <a:t> </a:t>
            </a:r>
            <a:r>
              <a:rPr spc="75" dirty="0"/>
              <a:t>/</a:t>
            </a:r>
            <a:r>
              <a:rPr spc="-25" dirty="0"/>
              <a:t> </a:t>
            </a:r>
            <a:r>
              <a:rPr spc="35" dirty="0"/>
              <a:t>135</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220" dirty="0"/>
              <a:t> </a:t>
            </a:r>
            <a:r>
              <a:rPr dirty="0"/>
              <a:t>algorithm:</a:t>
            </a:r>
            <a:r>
              <a:rPr spc="405" dirty="0"/>
              <a:t> </a:t>
            </a:r>
            <a:r>
              <a:rPr dirty="0"/>
              <a:t>example</a:t>
            </a:r>
            <a:r>
              <a:rPr spc="215" dirty="0"/>
              <a:t> </a:t>
            </a:r>
            <a:r>
              <a:rPr spc="-50" dirty="0"/>
              <a:t>1</a:t>
            </a:r>
          </a:p>
        </p:txBody>
      </p:sp>
      <p:pic>
        <p:nvPicPr>
          <p:cNvPr id="3" name="object 3"/>
          <p:cNvPicPr/>
          <p:nvPr/>
        </p:nvPicPr>
        <p:blipFill>
          <a:blip r:embed="rId2" cstate="print"/>
          <a:stretch>
            <a:fillRect/>
          </a:stretch>
        </p:blipFill>
        <p:spPr>
          <a:xfrm>
            <a:off x="1165402" y="455942"/>
            <a:ext cx="3451860" cy="2257425"/>
          </a:xfrm>
          <a:prstGeom prst="rect">
            <a:avLst/>
          </a:prstGeom>
        </p:spPr>
      </p:pic>
      <p:sp>
        <p:nvSpPr>
          <p:cNvPr id="4" name="object 4"/>
          <p:cNvSpPr txBox="1"/>
          <p:nvPr/>
        </p:nvSpPr>
        <p:spPr>
          <a:xfrm>
            <a:off x="882307" y="2819792"/>
            <a:ext cx="3995420" cy="147320"/>
          </a:xfrm>
          <a:prstGeom prst="rect">
            <a:avLst/>
          </a:prstGeom>
        </p:spPr>
        <p:txBody>
          <a:bodyPr vert="horz" wrap="square" lIns="0" tIns="12065" rIns="0" bIns="0" rtlCol="0">
            <a:spAutoFit/>
          </a:bodyPr>
          <a:lstStyle/>
          <a:p>
            <a:pPr marL="12700">
              <a:lnSpc>
                <a:spcPct val="100000"/>
              </a:lnSpc>
              <a:spcBef>
                <a:spcPts val="95"/>
              </a:spcBef>
            </a:pPr>
            <a:r>
              <a:rPr sz="800" dirty="0">
                <a:latin typeface="Georgia"/>
                <a:cs typeface="Georgia"/>
              </a:rPr>
              <a:t>Clustering</a:t>
            </a:r>
            <a:r>
              <a:rPr sz="800" spc="130" dirty="0">
                <a:latin typeface="Georgia"/>
                <a:cs typeface="Georgia"/>
              </a:rPr>
              <a:t> </a:t>
            </a:r>
            <a:r>
              <a:rPr sz="800" dirty="0">
                <a:latin typeface="Georgia"/>
                <a:cs typeface="Georgia"/>
              </a:rPr>
              <a:t>with</a:t>
            </a:r>
            <a:r>
              <a:rPr sz="800" spc="135" dirty="0">
                <a:latin typeface="Georgia"/>
                <a:cs typeface="Georgia"/>
              </a:rPr>
              <a:t> </a:t>
            </a:r>
            <a:r>
              <a:rPr sz="800" i="1" dirty="0">
                <a:latin typeface="Calibri"/>
                <a:cs typeface="Calibri"/>
              </a:rPr>
              <a:t>k</a:t>
            </a:r>
            <a:r>
              <a:rPr sz="800" dirty="0">
                <a:latin typeface="Georgia"/>
                <a:cs typeface="Georgia"/>
              </a:rPr>
              <a:t>–means</a:t>
            </a:r>
            <a:r>
              <a:rPr sz="800" spc="135" dirty="0">
                <a:latin typeface="Georgia"/>
                <a:cs typeface="Georgia"/>
              </a:rPr>
              <a:t> </a:t>
            </a:r>
            <a:r>
              <a:rPr sz="800" dirty="0">
                <a:latin typeface="Georgia"/>
                <a:cs typeface="Georgia"/>
              </a:rPr>
              <a:t>[source:</a:t>
            </a:r>
            <a:r>
              <a:rPr sz="800" spc="240" dirty="0">
                <a:latin typeface="Georgia"/>
                <a:cs typeface="Georgia"/>
              </a:rPr>
              <a:t> </a:t>
            </a:r>
            <a:r>
              <a:rPr sz="800" dirty="0">
                <a:latin typeface="Georgia"/>
                <a:cs typeface="Georgia"/>
              </a:rPr>
              <a:t>sherrytowers.com/2013/10/24/k-</a:t>
            </a:r>
            <a:r>
              <a:rPr sz="800" spc="-10" dirty="0">
                <a:latin typeface="Georgia"/>
                <a:cs typeface="Georgia"/>
              </a:rPr>
              <a:t>means-clustering]</a:t>
            </a:r>
            <a:endParaRPr sz="800">
              <a:latin typeface="Georgia"/>
              <a:cs typeface="Georgia"/>
            </a:endParaRPr>
          </a:p>
        </p:txBody>
      </p:sp>
      <p:grpSp>
        <p:nvGrpSpPr>
          <p:cNvPr id="5" name="object 5"/>
          <p:cNvGrpSpPr/>
          <p:nvPr/>
        </p:nvGrpSpPr>
        <p:grpSpPr>
          <a:xfrm>
            <a:off x="0" y="3121545"/>
            <a:ext cx="5760085" cy="118745"/>
            <a:chOff x="0" y="3121545"/>
            <a:chExt cx="5760085" cy="118745"/>
          </a:xfrm>
        </p:grpSpPr>
        <p:sp>
          <p:nvSpPr>
            <p:cNvPr id="6" name="object 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7" name="object 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9" name="object 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0" name="object 1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spc="50" dirty="0"/>
              <a:t>61</a:t>
            </a:fld>
            <a:r>
              <a:rPr spc="-25" dirty="0"/>
              <a:t> </a:t>
            </a:r>
            <a:r>
              <a:rPr spc="75" dirty="0"/>
              <a:t>/</a:t>
            </a:r>
            <a:r>
              <a:rPr spc="-25" dirty="0"/>
              <a:t> </a:t>
            </a:r>
            <a:r>
              <a:rPr spc="35" dirty="0"/>
              <a:t>135</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220" dirty="0"/>
              <a:t> </a:t>
            </a:r>
            <a:r>
              <a:rPr dirty="0"/>
              <a:t>algorithm:</a:t>
            </a:r>
            <a:r>
              <a:rPr spc="405" dirty="0"/>
              <a:t> </a:t>
            </a:r>
            <a:r>
              <a:rPr dirty="0"/>
              <a:t>example</a:t>
            </a:r>
            <a:r>
              <a:rPr spc="215" dirty="0"/>
              <a:t> </a:t>
            </a:r>
            <a:r>
              <a:rPr spc="-50" dirty="0"/>
              <a:t>2</a:t>
            </a:r>
          </a:p>
        </p:txBody>
      </p:sp>
      <p:pic>
        <p:nvPicPr>
          <p:cNvPr id="3" name="object 3"/>
          <p:cNvPicPr/>
          <p:nvPr/>
        </p:nvPicPr>
        <p:blipFill>
          <a:blip r:embed="rId2" cstate="print"/>
          <a:stretch>
            <a:fillRect/>
          </a:stretch>
        </p:blipFill>
        <p:spPr>
          <a:xfrm>
            <a:off x="1505432" y="465493"/>
            <a:ext cx="2696209" cy="2381885"/>
          </a:xfrm>
          <a:prstGeom prst="rect">
            <a:avLst/>
          </a:prstGeom>
        </p:spPr>
      </p:pic>
      <p:sp>
        <p:nvSpPr>
          <p:cNvPr id="4" name="object 4"/>
          <p:cNvSpPr txBox="1"/>
          <p:nvPr/>
        </p:nvSpPr>
        <p:spPr>
          <a:xfrm>
            <a:off x="691019" y="2872345"/>
            <a:ext cx="4378325" cy="147320"/>
          </a:xfrm>
          <a:prstGeom prst="rect">
            <a:avLst/>
          </a:prstGeom>
        </p:spPr>
        <p:txBody>
          <a:bodyPr vert="horz" wrap="square" lIns="0" tIns="12065" rIns="0" bIns="0" rtlCol="0">
            <a:spAutoFit/>
          </a:bodyPr>
          <a:lstStyle/>
          <a:p>
            <a:pPr marL="12700">
              <a:lnSpc>
                <a:spcPct val="100000"/>
              </a:lnSpc>
              <a:spcBef>
                <a:spcPts val="95"/>
              </a:spcBef>
            </a:pPr>
            <a:r>
              <a:rPr sz="800" dirty="0">
                <a:latin typeface="Georgia"/>
                <a:cs typeface="Georgia"/>
              </a:rPr>
              <a:t>Clustering</a:t>
            </a:r>
            <a:r>
              <a:rPr sz="800" spc="100" dirty="0">
                <a:latin typeface="Georgia"/>
                <a:cs typeface="Georgia"/>
              </a:rPr>
              <a:t> </a:t>
            </a:r>
            <a:r>
              <a:rPr sz="800" dirty="0">
                <a:latin typeface="Georgia"/>
                <a:cs typeface="Georgia"/>
              </a:rPr>
              <a:t>with</a:t>
            </a:r>
            <a:r>
              <a:rPr sz="800" spc="100" dirty="0">
                <a:latin typeface="Georgia"/>
                <a:cs typeface="Georgia"/>
              </a:rPr>
              <a:t> </a:t>
            </a:r>
            <a:r>
              <a:rPr sz="800" i="1" dirty="0">
                <a:latin typeface="Calibri"/>
                <a:cs typeface="Calibri"/>
              </a:rPr>
              <a:t>k</a:t>
            </a:r>
            <a:r>
              <a:rPr sz="800" dirty="0">
                <a:latin typeface="Georgia"/>
                <a:cs typeface="Georgia"/>
              </a:rPr>
              <a:t>–means</a:t>
            </a:r>
            <a:r>
              <a:rPr sz="800" spc="105" dirty="0">
                <a:latin typeface="Georgia"/>
                <a:cs typeface="Georgia"/>
              </a:rPr>
              <a:t> </a:t>
            </a:r>
            <a:r>
              <a:rPr sz="800" dirty="0">
                <a:latin typeface="Georgia"/>
                <a:cs typeface="Georgia"/>
              </a:rPr>
              <a:t>[from</a:t>
            </a:r>
            <a:r>
              <a:rPr sz="800" spc="100" dirty="0">
                <a:latin typeface="Georgia"/>
                <a:cs typeface="Georgia"/>
              </a:rPr>
              <a:t> </a:t>
            </a:r>
            <a:r>
              <a:rPr sz="800" i="1" dirty="0">
                <a:latin typeface="Georgia"/>
                <a:cs typeface="Georgia"/>
              </a:rPr>
              <a:t>Pattern</a:t>
            </a:r>
            <a:r>
              <a:rPr sz="800" i="1" spc="125" dirty="0">
                <a:latin typeface="Georgia"/>
                <a:cs typeface="Georgia"/>
              </a:rPr>
              <a:t> </a:t>
            </a:r>
            <a:r>
              <a:rPr sz="800" i="1" dirty="0">
                <a:latin typeface="Georgia"/>
                <a:cs typeface="Georgia"/>
              </a:rPr>
              <a:t>Recognition</a:t>
            </a:r>
            <a:r>
              <a:rPr sz="800" i="1" spc="125" dirty="0">
                <a:latin typeface="Georgia"/>
                <a:cs typeface="Georgia"/>
              </a:rPr>
              <a:t> </a:t>
            </a:r>
            <a:r>
              <a:rPr sz="800" i="1" dirty="0">
                <a:latin typeface="Georgia"/>
                <a:cs typeface="Georgia"/>
              </a:rPr>
              <a:t>and</a:t>
            </a:r>
            <a:r>
              <a:rPr sz="800" i="1" spc="114" dirty="0">
                <a:latin typeface="Georgia"/>
                <a:cs typeface="Georgia"/>
              </a:rPr>
              <a:t> </a:t>
            </a:r>
            <a:r>
              <a:rPr sz="800" i="1" dirty="0">
                <a:latin typeface="Georgia"/>
                <a:cs typeface="Georgia"/>
              </a:rPr>
              <a:t>Machine</a:t>
            </a:r>
            <a:r>
              <a:rPr sz="800" i="1" spc="120" dirty="0">
                <a:latin typeface="Georgia"/>
                <a:cs typeface="Georgia"/>
              </a:rPr>
              <a:t> </a:t>
            </a:r>
            <a:r>
              <a:rPr sz="800" i="1" dirty="0">
                <a:latin typeface="Georgia"/>
                <a:cs typeface="Georgia"/>
              </a:rPr>
              <a:t>Learning</a:t>
            </a:r>
            <a:r>
              <a:rPr sz="800" i="1" spc="170" dirty="0">
                <a:latin typeface="Georgia"/>
                <a:cs typeface="Georgia"/>
              </a:rPr>
              <a:t> </a:t>
            </a:r>
            <a:r>
              <a:rPr sz="800" dirty="0">
                <a:latin typeface="Georgia"/>
                <a:cs typeface="Georgia"/>
              </a:rPr>
              <a:t>by</a:t>
            </a:r>
            <a:r>
              <a:rPr sz="800" spc="100" dirty="0">
                <a:latin typeface="Georgia"/>
                <a:cs typeface="Georgia"/>
              </a:rPr>
              <a:t> </a:t>
            </a:r>
            <a:r>
              <a:rPr sz="800" dirty="0">
                <a:latin typeface="Georgia"/>
                <a:cs typeface="Georgia"/>
              </a:rPr>
              <a:t>C.M.</a:t>
            </a:r>
            <a:r>
              <a:rPr sz="800" spc="105" dirty="0">
                <a:latin typeface="Georgia"/>
                <a:cs typeface="Georgia"/>
              </a:rPr>
              <a:t> </a:t>
            </a:r>
            <a:r>
              <a:rPr sz="800" spc="-10" dirty="0">
                <a:latin typeface="Georgia"/>
                <a:cs typeface="Georgia"/>
              </a:rPr>
              <a:t>Bishop]</a:t>
            </a:r>
            <a:endParaRPr sz="800">
              <a:latin typeface="Georgia"/>
              <a:cs typeface="Georgia"/>
            </a:endParaRPr>
          </a:p>
        </p:txBody>
      </p:sp>
      <p:grpSp>
        <p:nvGrpSpPr>
          <p:cNvPr id="5" name="object 5"/>
          <p:cNvGrpSpPr/>
          <p:nvPr/>
        </p:nvGrpSpPr>
        <p:grpSpPr>
          <a:xfrm>
            <a:off x="0" y="3121545"/>
            <a:ext cx="5760085" cy="118745"/>
            <a:chOff x="0" y="3121545"/>
            <a:chExt cx="5760085" cy="118745"/>
          </a:xfrm>
        </p:grpSpPr>
        <p:sp>
          <p:nvSpPr>
            <p:cNvPr id="6" name="object 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7" name="object 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9" name="object 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0" name="object 10"/>
          <p:cNvSpPr txBox="1"/>
          <p:nvPr/>
        </p:nvSpPr>
        <p:spPr>
          <a:xfrm>
            <a:off x="4456523" y="3118867"/>
            <a:ext cx="33464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rPr>
              <a:t>61</a:t>
            </a:r>
            <a:r>
              <a:rPr sz="600" spc="-25" dirty="0">
                <a:solidFill>
                  <a:srgbClr val="7A0000"/>
                </a:solidFill>
                <a:latin typeface="Georgia"/>
                <a:cs typeface="Georgia"/>
              </a:rPr>
              <a:t> </a:t>
            </a:r>
            <a:r>
              <a:rPr sz="600" spc="75" dirty="0">
                <a:solidFill>
                  <a:srgbClr val="7A0000"/>
                </a:solidFill>
                <a:latin typeface="Georgia"/>
                <a:cs typeface="Georgia"/>
              </a:rPr>
              <a:t>/</a:t>
            </a:r>
            <a:r>
              <a:rPr sz="600" spc="-20" dirty="0">
                <a:solidFill>
                  <a:srgbClr val="7A0000"/>
                </a:solidFill>
                <a:latin typeface="Georgia"/>
                <a:cs typeface="Georgia"/>
              </a:rPr>
              <a:t> </a:t>
            </a:r>
            <a:r>
              <a:rPr sz="600" spc="35" dirty="0">
                <a:solidFill>
                  <a:srgbClr val="7A0000"/>
                </a:solidFill>
                <a:latin typeface="Georgia"/>
                <a:cs typeface="Georgia"/>
              </a:rPr>
              <a:t>135</a:t>
            </a:r>
            <a:endParaRPr sz="600">
              <a:latin typeface="Georgia"/>
              <a:cs typeface="Georgi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190" dirty="0"/>
              <a:t> </a:t>
            </a:r>
            <a:r>
              <a:rPr dirty="0"/>
              <a:t>algorithm:</a:t>
            </a:r>
            <a:r>
              <a:rPr spc="370" dirty="0"/>
              <a:t> </a:t>
            </a:r>
            <a:r>
              <a:rPr dirty="0"/>
              <a:t>example</a:t>
            </a:r>
            <a:r>
              <a:rPr spc="185" dirty="0"/>
              <a:t> </a:t>
            </a:r>
            <a:r>
              <a:rPr dirty="0"/>
              <a:t>3</a:t>
            </a:r>
            <a:r>
              <a:rPr spc="190" dirty="0"/>
              <a:t> </a:t>
            </a:r>
            <a:r>
              <a:rPr dirty="0"/>
              <a:t>(image</a:t>
            </a:r>
            <a:r>
              <a:rPr spc="185" dirty="0"/>
              <a:t> </a:t>
            </a:r>
            <a:r>
              <a:rPr spc="-10" dirty="0"/>
              <a:t>segmentation)</a:t>
            </a:r>
          </a:p>
        </p:txBody>
      </p:sp>
      <p:pic>
        <p:nvPicPr>
          <p:cNvPr id="3" name="object 3"/>
          <p:cNvPicPr/>
          <p:nvPr/>
        </p:nvPicPr>
        <p:blipFill>
          <a:blip r:embed="rId3" cstate="print"/>
          <a:stretch>
            <a:fillRect/>
          </a:stretch>
        </p:blipFill>
        <p:spPr>
          <a:xfrm>
            <a:off x="1085392" y="442798"/>
            <a:ext cx="3543300" cy="2337435"/>
          </a:xfrm>
          <a:prstGeom prst="rect">
            <a:avLst/>
          </a:prstGeom>
        </p:spPr>
      </p:pic>
      <p:sp>
        <p:nvSpPr>
          <p:cNvPr id="4" name="object 4"/>
          <p:cNvSpPr txBox="1"/>
          <p:nvPr/>
        </p:nvSpPr>
        <p:spPr>
          <a:xfrm>
            <a:off x="464134" y="2819792"/>
            <a:ext cx="4832350" cy="147320"/>
          </a:xfrm>
          <a:prstGeom prst="rect">
            <a:avLst/>
          </a:prstGeom>
        </p:spPr>
        <p:txBody>
          <a:bodyPr vert="horz" wrap="square" lIns="0" tIns="12065" rIns="0" bIns="0" rtlCol="0">
            <a:spAutoFit/>
          </a:bodyPr>
          <a:lstStyle/>
          <a:p>
            <a:pPr marL="12700">
              <a:lnSpc>
                <a:spcPct val="100000"/>
              </a:lnSpc>
              <a:spcBef>
                <a:spcPts val="95"/>
              </a:spcBef>
            </a:pPr>
            <a:r>
              <a:rPr sz="800" dirty="0">
                <a:latin typeface="Georgia"/>
                <a:cs typeface="Georgia"/>
              </a:rPr>
              <a:t>Image</a:t>
            </a:r>
            <a:r>
              <a:rPr sz="800" spc="90" dirty="0">
                <a:latin typeface="Georgia"/>
                <a:cs typeface="Georgia"/>
              </a:rPr>
              <a:t> </a:t>
            </a:r>
            <a:r>
              <a:rPr sz="800" dirty="0">
                <a:latin typeface="Georgia"/>
                <a:cs typeface="Georgia"/>
              </a:rPr>
              <a:t>segmentation</a:t>
            </a:r>
            <a:r>
              <a:rPr sz="800" spc="90" dirty="0">
                <a:latin typeface="Georgia"/>
                <a:cs typeface="Georgia"/>
              </a:rPr>
              <a:t> </a:t>
            </a:r>
            <a:r>
              <a:rPr sz="800" dirty="0">
                <a:latin typeface="Georgia"/>
                <a:cs typeface="Georgia"/>
              </a:rPr>
              <a:t>with</a:t>
            </a:r>
            <a:r>
              <a:rPr sz="800" spc="90" dirty="0">
                <a:latin typeface="Georgia"/>
                <a:cs typeface="Georgia"/>
              </a:rPr>
              <a:t> </a:t>
            </a:r>
            <a:r>
              <a:rPr sz="800" i="1" dirty="0">
                <a:latin typeface="Calibri"/>
                <a:cs typeface="Calibri"/>
              </a:rPr>
              <a:t>k</a:t>
            </a:r>
            <a:r>
              <a:rPr sz="800" dirty="0">
                <a:latin typeface="Georgia"/>
                <a:cs typeface="Georgia"/>
              </a:rPr>
              <a:t>–means</a:t>
            </a:r>
            <a:r>
              <a:rPr sz="800" spc="90" dirty="0">
                <a:latin typeface="Georgia"/>
                <a:cs typeface="Georgia"/>
              </a:rPr>
              <a:t> </a:t>
            </a:r>
            <a:r>
              <a:rPr sz="800" dirty="0">
                <a:latin typeface="Georgia"/>
                <a:cs typeface="Georgia"/>
              </a:rPr>
              <a:t>[from</a:t>
            </a:r>
            <a:r>
              <a:rPr sz="800" spc="90" dirty="0">
                <a:latin typeface="Georgia"/>
                <a:cs typeface="Georgia"/>
              </a:rPr>
              <a:t> </a:t>
            </a:r>
            <a:r>
              <a:rPr sz="800" i="1" dirty="0">
                <a:latin typeface="Georgia"/>
                <a:cs typeface="Georgia"/>
              </a:rPr>
              <a:t>Pattern</a:t>
            </a:r>
            <a:r>
              <a:rPr sz="800" i="1" spc="114" dirty="0">
                <a:latin typeface="Georgia"/>
                <a:cs typeface="Georgia"/>
              </a:rPr>
              <a:t> </a:t>
            </a:r>
            <a:r>
              <a:rPr sz="800" i="1" dirty="0">
                <a:latin typeface="Georgia"/>
                <a:cs typeface="Georgia"/>
              </a:rPr>
              <a:t>Recognition</a:t>
            </a:r>
            <a:r>
              <a:rPr sz="800" i="1" spc="110" dirty="0">
                <a:latin typeface="Georgia"/>
                <a:cs typeface="Georgia"/>
              </a:rPr>
              <a:t> </a:t>
            </a:r>
            <a:r>
              <a:rPr sz="800" i="1" dirty="0">
                <a:latin typeface="Georgia"/>
                <a:cs typeface="Georgia"/>
              </a:rPr>
              <a:t>and</a:t>
            </a:r>
            <a:r>
              <a:rPr sz="800" i="1" spc="110" dirty="0">
                <a:latin typeface="Georgia"/>
                <a:cs typeface="Georgia"/>
              </a:rPr>
              <a:t> </a:t>
            </a:r>
            <a:r>
              <a:rPr sz="800" i="1" dirty="0">
                <a:latin typeface="Georgia"/>
                <a:cs typeface="Georgia"/>
              </a:rPr>
              <a:t>Machine</a:t>
            </a:r>
            <a:r>
              <a:rPr sz="800" i="1" spc="110" dirty="0">
                <a:latin typeface="Georgia"/>
                <a:cs typeface="Georgia"/>
              </a:rPr>
              <a:t> </a:t>
            </a:r>
            <a:r>
              <a:rPr sz="800" i="1" dirty="0">
                <a:latin typeface="Georgia"/>
                <a:cs typeface="Georgia"/>
              </a:rPr>
              <a:t>Learning</a:t>
            </a:r>
            <a:r>
              <a:rPr sz="800" i="1" spc="155" dirty="0">
                <a:latin typeface="Georgia"/>
                <a:cs typeface="Georgia"/>
              </a:rPr>
              <a:t> </a:t>
            </a:r>
            <a:r>
              <a:rPr sz="800" dirty="0">
                <a:latin typeface="Georgia"/>
                <a:cs typeface="Georgia"/>
              </a:rPr>
              <a:t>by</a:t>
            </a:r>
            <a:r>
              <a:rPr sz="800" spc="90" dirty="0">
                <a:latin typeface="Georgia"/>
                <a:cs typeface="Georgia"/>
              </a:rPr>
              <a:t> </a:t>
            </a:r>
            <a:r>
              <a:rPr sz="800" dirty="0">
                <a:latin typeface="Georgia"/>
                <a:cs typeface="Georgia"/>
              </a:rPr>
              <a:t>C.M.</a:t>
            </a:r>
            <a:r>
              <a:rPr sz="800" spc="90" dirty="0">
                <a:latin typeface="Georgia"/>
                <a:cs typeface="Georgia"/>
              </a:rPr>
              <a:t> </a:t>
            </a:r>
            <a:r>
              <a:rPr sz="800" spc="-10" dirty="0">
                <a:latin typeface="Georgia"/>
                <a:cs typeface="Georgia"/>
              </a:rPr>
              <a:t>Bishop]</a:t>
            </a:r>
            <a:endParaRPr sz="800">
              <a:latin typeface="Georgia"/>
              <a:cs typeface="Georgia"/>
            </a:endParaRPr>
          </a:p>
        </p:txBody>
      </p:sp>
      <p:grpSp>
        <p:nvGrpSpPr>
          <p:cNvPr id="5" name="object 5"/>
          <p:cNvGrpSpPr/>
          <p:nvPr/>
        </p:nvGrpSpPr>
        <p:grpSpPr>
          <a:xfrm>
            <a:off x="0" y="3121545"/>
            <a:ext cx="5760085" cy="118745"/>
            <a:chOff x="0" y="3121545"/>
            <a:chExt cx="5760085" cy="118745"/>
          </a:xfrm>
        </p:grpSpPr>
        <p:sp>
          <p:nvSpPr>
            <p:cNvPr id="6" name="object 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7" name="object 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9" name="object 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10" name="object 1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63</a:t>
            </a:fld>
            <a:r>
              <a:rPr dirty="0"/>
              <a:t> </a:t>
            </a:r>
            <a:r>
              <a:rPr spc="75" dirty="0"/>
              <a:t>/</a:t>
            </a:r>
            <a:r>
              <a:rPr spc="5" dirty="0"/>
              <a:t> </a:t>
            </a:r>
            <a:r>
              <a:rPr spc="35" dirty="0"/>
              <a:t>135</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Initialization</a:t>
            </a:r>
            <a:r>
              <a:rPr spc="220" dirty="0"/>
              <a:t> </a:t>
            </a:r>
            <a:r>
              <a:rPr dirty="0"/>
              <a:t>for</a:t>
            </a:r>
            <a:r>
              <a:rPr spc="229" dirty="0"/>
              <a:t> </a:t>
            </a:r>
            <a:r>
              <a:rPr i="1" spc="85" dirty="0">
                <a:latin typeface="Calibri"/>
                <a:cs typeface="Calibri"/>
              </a:rPr>
              <a:t>k</a:t>
            </a:r>
            <a:r>
              <a:rPr i="1" spc="315" dirty="0">
                <a:latin typeface="Calibri"/>
                <a:cs typeface="Calibri"/>
              </a:rPr>
              <a:t> </a:t>
            </a:r>
            <a:r>
              <a:rPr dirty="0"/>
              <a:t>mean</a:t>
            </a:r>
            <a:r>
              <a:rPr spc="220" dirty="0"/>
              <a:t> </a:t>
            </a:r>
            <a:r>
              <a:rPr dirty="0"/>
              <a:t>vectors</a:t>
            </a:r>
            <a:r>
              <a:rPr spc="229" dirty="0"/>
              <a:t> </a:t>
            </a:r>
            <a:r>
              <a:rPr b="1" spc="105" dirty="0">
                <a:latin typeface="Yu Gothic"/>
                <a:cs typeface="Yu Gothic"/>
              </a:rPr>
              <a:t>µ</a:t>
            </a:r>
            <a:r>
              <a:rPr sz="1500" i="1" spc="157" baseline="-19444" dirty="0">
                <a:latin typeface="Calibri"/>
                <a:cs typeface="Calibri"/>
              </a:rPr>
              <a:t>i</a:t>
            </a:r>
            <a:endParaRPr sz="1500" baseline="-19444">
              <a:latin typeface="Calibri"/>
              <a:cs typeface="Calibri"/>
            </a:endParaRPr>
          </a:p>
        </p:txBody>
      </p:sp>
      <p:sp>
        <p:nvSpPr>
          <p:cNvPr id="3" name="object 3"/>
          <p:cNvSpPr/>
          <p:nvPr/>
        </p:nvSpPr>
        <p:spPr>
          <a:xfrm>
            <a:off x="337972" y="74013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620229" y="935685"/>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5" name="object 5"/>
          <p:cNvSpPr/>
          <p:nvPr/>
        </p:nvSpPr>
        <p:spPr>
          <a:xfrm>
            <a:off x="620229" y="1100734"/>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6" name="object 6"/>
          <p:cNvSpPr txBox="1">
            <a:spLocks noGrp="1"/>
          </p:cNvSpPr>
          <p:nvPr>
            <p:ph type="body" idx="1"/>
          </p:nvPr>
        </p:nvSpPr>
        <p:spPr>
          <a:prstGeom prst="rect">
            <a:avLst/>
          </a:prstGeom>
        </p:spPr>
        <p:txBody>
          <a:bodyPr vert="horz" wrap="square" lIns="0" tIns="50800" rIns="0" bIns="0" rtlCol="0">
            <a:spAutoFit/>
          </a:bodyPr>
          <a:lstStyle/>
          <a:p>
            <a:pPr marL="12700">
              <a:lnSpc>
                <a:spcPct val="100000"/>
              </a:lnSpc>
              <a:spcBef>
                <a:spcPts val="400"/>
              </a:spcBef>
            </a:pPr>
            <a:r>
              <a:rPr dirty="0"/>
              <a:t>The</a:t>
            </a:r>
            <a:r>
              <a:rPr spc="15" dirty="0"/>
              <a:t> </a:t>
            </a:r>
            <a:r>
              <a:rPr dirty="0"/>
              <a:t>initial</a:t>
            </a:r>
            <a:r>
              <a:rPr spc="15" dirty="0"/>
              <a:t> </a:t>
            </a:r>
            <a:r>
              <a:rPr spc="-30" dirty="0"/>
              <a:t>means</a:t>
            </a:r>
            <a:r>
              <a:rPr spc="20" dirty="0"/>
              <a:t> </a:t>
            </a:r>
            <a:r>
              <a:rPr spc="-25" dirty="0"/>
              <a:t>should</a:t>
            </a:r>
            <a:r>
              <a:rPr spc="15" dirty="0"/>
              <a:t> </a:t>
            </a:r>
            <a:r>
              <a:rPr dirty="0"/>
              <a:t>lay</a:t>
            </a:r>
            <a:r>
              <a:rPr spc="20" dirty="0"/>
              <a:t> </a:t>
            </a:r>
            <a:r>
              <a:rPr dirty="0"/>
              <a:t>in</a:t>
            </a:r>
            <a:r>
              <a:rPr spc="15" dirty="0"/>
              <a:t> </a:t>
            </a:r>
            <a:r>
              <a:rPr spc="-30" dirty="0"/>
              <a:t>different</a:t>
            </a:r>
            <a:r>
              <a:rPr spc="15" dirty="0"/>
              <a:t> </a:t>
            </a:r>
            <a:r>
              <a:rPr spc="-10" dirty="0"/>
              <a:t>clusters.</a:t>
            </a:r>
            <a:r>
              <a:rPr spc="110" dirty="0"/>
              <a:t> </a:t>
            </a:r>
            <a:r>
              <a:rPr dirty="0"/>
              <a:t>There</a:t>
            </a:r>
            <a:r>
              <a:rPr spc="15" dirty="0"/>
              <a:t> </a:t>
            </a:r>
            <a:r>
              <a:rPr dirty="0"/>
              <a:t>are</a:t>
            </a:r>
            <a:r>
              <a:rPr spc="15" dirty="0"/>
              <a:t> </a:t>
            </a:r>
            <a:r>
              <a:rPr dirty="0"/>
              <a:t>two</a:t>
            </a:r>
            <a:r>
              <a:rPr spc="20" dirty="0"/>
              <a:t> </a:t>
            </a:r>
            <a:r>
              <a:rPr spc="-10" dirty="0"/>
              <a:t>approaches:</a:t>
            </a:r>
          </a:p>
          <a:p>
            <a:pPr marL="289560">
              <a:lnSpc>
                <a:spcPct val="100000"/>
              </a:lnSpc>
              <a:spcBef>
                <a:spcPts val="280"/>
              </a:spcBef>
            </a:pPr>
            <a:r>
              <a:rPr sz="1000" dirty="0"/>
              <a:t>Pick</a:t>
            </a:r>
            <a:r>
              <a:rPr sz="1000" spc="20" dirty="0"/>
              <a:t> </a:t>
            </a:r>
            <a:r>
              <a:rPr sz="1000" spc="-10" dirty="0"/>
              <a:t>points</a:t>
            </a:r>
            <a:r>
              <a:rPr sz="1000" spc="25" dirty="0"/>
              <a:t> </a:t>
            </a:r>
            <a:r>
              <a:rPr sz="1000" dirty="0"/>
              <a:t>that</a:t>
            </a:r>
            <a:r>
              <a:rPr sz="1000" spc="15" dirty="0"/>
              <a:t> </a:t>
            </a:r>
            <a:r>
              <a:rPr sz="1000" dirty="0"/>
              <a:t>are</a:t>
            </a:r>
            <a:r>
              <a:rPr sz="1000" spc="25" dirty="0"/>
              <a:t> </a:t>
            </a:r>
            <a:r>
              <a:rPr sz="1000" dirty="0"/>
              <a:t>as</a:t>
            </a:r>
            <a:r>
              <a:rPr sz="1000" spc="25" dirty="0"/>
              <a:t> </a:t>
            </a:r>
            <a:r>
              <a:rPr sz="1000" dirty="0"/>
              <a:t>far</a:t>
            </a:r>
            <a:r>
              <a:rPr sz="1000" spc="15" dirty="0"/>
              <a:t> </a:t>
            </a:r>
            <a:r>
              <a:rPr sz="1000" dirty="0"/>
              <a:t>away</a:t>
            </a:r>
            <a:r>
              <a:rPr sz="1000" spc="25" dirty="0"/>
              <a:t> </a:t>
            </a:r>
            <a:r>
              <a:rPr sz="1000" spc="-10" dirty="0"/>
              <a:t>from</a:t>
            </a:r>
            <a:r>
              <a:rPr sz="1000" spc="25" dirty="0"/>
              <a:t> </a:t>
            </a:r>
            <a:r>
              <a:rPr sz="1000" spc="-10" dirty="0"/>
              <a:t>one</a:t>
            </a:r>
            <a:r>
              <a:rPr sz="1000" spc="20" dirty="0"/>
              <a:t> </a:t>
            </a:r>
            <a:r>
              <a:rPr sz="1000" spc="-10" dirty="0"/>
              <a:t>another</a:t>
            </a:r>
            <a:r>
              <a:rPr sz="1000" spc="20" dirty="0"/>
              <a:t> </a:t>
            </a:r>
            <a:r>
              <a:rPr sz="1000" dirty="0"/>
              <a:t>as</a:t>
            </a:r>
            <a:r>
              <a:rPr sz="1000" spc="25" dirty="0"/>
              <a:t> </a:t>
            </a:r>
            <a:r>
              <a:rPr sz="1000" spc="-10" dirty="0"/>
              <a:t>possible.</a:t>
            </a:r>
            <a:endParaRPr sz="1000"/>
          </a:p>
          <a:p>
            <a:pPr marL="289560" marR="5080">
              <a:lnSpc>
                <a:spcPts val="1019"/>
              </a:lnSpc>
              <a:spcBef>
                <a:spcPts val="285"/>
              </a:spcBef>
            </a:pPr>
            <a:r>
              <a:rPr sz="1000" dirty="0"/>
              <a:t>Cluster</a:t>
            </a:r>
            <a:r>
              <a:rPr sz="1000" spc="40" dirty="0"/>
              <a:t> </a:t>
            </a:r>
            <a:r>
              <a:rPr sz="1000" dirty="0"/>
              <a:t>a</a:t>
            </a:r>
            <a:r>
              <a:rPr sz="1000" spc="40" dirty="0"/>
              <a:t> </a:t>
            </a:r>
            <a:r>
              <a:rPr sz="1000" spc="-10" dirty="0"/>
              <a:t>(small)</a:t>
            </a:r>
            <a:r>
              <a:rPr sz="1000" spc="40" dirty="0"/>
              <a:t> </a:t>
            </a:r>
            <a:r>
              <a:rPr sz="1000" spc="-20" dirty="0"/>
              <a:t>sample</a:t>
            </a:r>
            <a:r>
              <a:rPr sz="1000" spc="45" dirty="0"/>
              <a:t> </a:t>
            </a:r>
            <a:r>
              <a:rPr sz="1000" dirty="0"/>
              <a:t>of</a:t>
            </a:r>
            <a:r>
              <a:rPr sz="1000" spc="40" dirty="0"/>
              <a:t> </a:t>
            </a:r>
            <a:r>
              <a:rPr sz="1000" dirty="0"/>
              <a:t>the</a:t>
            </a:r>
            <a:r>
              <a:rPr sz="1000" spc="40" dirty="0"/>
              <a:t> </a:t>
            </a:r>
            <a:r>
              <a:rPr sz="1000" dirty="0"/>
              <a:t>data,</a:t>
            </a:r>
            <a:r>
              <a:rPr sz="1000" spc="45" dirty="0"/>
              <a:t> </a:t>
            </a:r>
            <a:r>
              <a:rPr sz="1000" spc="-20" dirty="0"/>
              <a:t>perhaps</a:t>
            </a:r>
            <a:r>
              <a:rPr sz="1000" spc="40" dirty="0"/>
              <a:t> </a:t>
            </a:r>
            <a:r>
              <a:rPr sz="1000" spc="-25" dirty="0"/>
              <a:t>hierarchically,</a:t>
            </a:r>
            <a:r>
              <a:rPr sz="1000" spc="40" dirty="0"/>
              <a:t> </a:t>
            </a:r>
            <a:r>
              <a:rPr sz="1000" dirty="0"/>
              <a:t>so</a:t>
            </a:r>
            <a:r>
              <a:rPr sz="1000" spc="45" dirty="0"/>
              <a:t> </a:t>
            </a:r>
            <a:r>
              <a:rPr sz="1000" spc="-10" dirty="0"/>
              <a:t>there</a:t>
            </a:r>
            <a:r>
              <a:rPr sz="1000" spc="40" dirty="0"/>
              <a:t> </a:t>
            </a:r>
            <a:r>
              <a:rPr sz="1000" dirty="0"/>
              <a:t>are</a:t>
            </a:r>
            <a:r>
              <a:rPr sz="1000" spc="40" dirty="0"/>
              <a:t> </a:t>
            </a:r>
            <a:r>
              <a:rPr sz="1000" i="1" spc="65" dirty="0">
                <a:latin typeface="Calibri"/>
                <a:cs typeface="Calibri"/>
              </a:rPr>
              <a:t>k</a:t>
            </a:r>
            <a:r>
              <a:rPr sz="1000" i="1" spc="85" dirty="0">
                <a:latin typeface="Calibri"/>
                <a:cs typeface="Calibri"/>
              </a:rPr>
              <a:t> </a:t>
            </a:r>
            <a:r>
              <a:rPr sz="1000" spc="-10" dirty="0"/>
              <a:t>clusters.</a:t>
            </a:r>
            <a:r>
              <a:rPr sz="1000" dirty="0"/>
              <a:t> Pick</a:t>
            </a:r>
            <a:r>
              <a:rPr sz="1000" spc="20" dirty="0"/>
              <a:t> </a:t>
            </a:r>
            <a:r>
              <a:rPr sz="1000" dirty="0"/>
              <a:t>a</a:t>
            </a:r>
            <a:r>
              <a:rPr sz="1000" spc="20" dirty="0"/>
              <a:t> </a:t>
            </a:r>
            <a:r>
              <a:rPr sz="1000" dirty="0"/>
              <a:t>point</a:t>
            </a:r>
            <a:r>
              <a:rPr sz="1000" spc="20" dirty="0"/>
              <a:t> </a:t>
            </a:r>
            <a:r>
              <a:rPr sz="1000" spc="-20" dirty="0"/>
              <a:t>from</a:t>
            </a:r>
            <a:r>
              <a:rPr sz="1000" spc="20" dirty="0"/>
              <a:t> </a:t>
            </a:r>
            <a:r>
              <a:rPr sz="1000" spc="-10" dirty="0"/>
              <a:t>each</a:t>
            </a:r>
            <a:r>
              <a:rPr sz="1000" spc="20" dirty="0"/>
              <a:t> </a:t>
            </a:r>
            <a:r>
              <a:rPr sz="1000" spc="-10" dirty="0"/>
              <a:t>cluster,</a:t>
            </a:r>
            <a:r>
              <a:rPr sz="1000" spc="20" dirty="0"/>
              <a:t> </a:t>
            </a:r>
            <a:r>
              <a:rPr sz="1000" spc="-20" dirty="0"/>
              <a:t>perhaps</a:t>
            </a:r>
            <a:r>
              <a:rPr sz="1000" spc="20" dirty="0"/>
              <a:t> </a:t>
            </a:r>
            <a:r>
              <a:rPr sz="1000" dirty="0"/>
              <a:t>that</a:t>
            </a:r>
            <a:r>
              <a:rPr sz="1000" spc="20" dirty="0"/>
              <a:t> </a:t>
            </a:r>
            <a:r>
              <a:rPr sz="1000" dirty="0"/>
              <a:t>point</a:t>
            </a:r>
            <a:r>
              <a:rPr sz="1000" spc="20" dirty="0"/>
              <a:t> </a:t>
            </a:r>
            <a:r>
              <a:rPr sz="1000" spc="-10" dirty="0"/>
              <a:t>closest</a:t>
            </a:r>
            <a:r>
              <a:rPr sz="1000" spc="20" dirty="0"/>
              <a:t> </a:t>
            </a:r>
            <a:r>
              <a:rPr sz="1000" dirty="0"/>
              <a:t>to</a:t>
            </a:r>
            <a:r>
              <a:rPr sz="1000" spc="20" dirty="0"/>
              <a:t> </a:t>
            </a:r>
            <a:r>
              <a:rPr sz="1000" dirty="0"/>
              <a:t>the</a:t>
            </a:r>
            <a:r>
              <a:rPr sz="1000" spc="25" dirty="0"/>
              <a:t> </a:t>
            </a:r>
            <a:r>
              <a:rPr sz="1000" spc="-20" dirty="0"/>
              <a:t>centroid</a:t>
            </a:r>
            <a:r>
              <a:rPr sz="1000" spc="20" dirty="0"/>
              <a:t> </a:t>
            </a:r>
            <a:r>
              <a:rPr sz="1000" dirty="0"/>
              <a:t>of</a:t>
            </a:r>
            <a:r>
              <a:rPr sz="1000" spc="20" dirty="0"/>
              <a:t> </a:t>
            </a:r>
            <a:r>
              <a:rPr sz="1000" dirty="0"/>
              <a:t>the</a:t>
            </a:r>
            <a:r>
              <a:rPr sz="1000" spc="20" dirty="0"/>
              <a:t> </a:t>
            </a:r>
            <a:r>
              <a:rPr sz="1000" spc="-10" dirty="0"/>
              <a:t>cluster.</a:t>
            </a:r>
            <a:endParaRPr sz="1000">
              <a:latin typeface="Calibri"/>
              <a:cs typeface="Calibri"/>
            </a:endParaRPr>
          </a:p>
          <a:p>
            <a:pPr marL="12700">
              <a:lnSpc>
                <a:spcPct val="100000"/>
              </a:lnSpc>
              <a:spcBef>
                <a:spcPts val="765"/>
              </a:spcBef>
            </a:pPr>
            <a:r>
              <a:rPr dirty="0"/>
              <a:t>The</a:t>
            </a:r>
            <a:r>
              <a:rPr spc="45" dirty="0"/>
              <a:t> </a:t>
            </a:r>
            <a:r>
              <a:rPr spc="-30" dirty="0"/>
              <a:t>second</a:t>
            </a:r>
            <a:r>
              <a:rPr spc="50" dirty="0"/>
              <a:t> </a:t>
            </a:r>
            <a:r>
              <a:rPr spc="-25" dirty="0"/>
              <a:t>approach</a:t>
            </a:r>
            <a:r>
              <a:rPr spc="45" dirty="0"/>
              <a:t> </a:t>
            </a:r>
            <a:r>
              <a:rPr spc="-35" dirty="0"/>
              <a:t>requires</a:t>
            </a:r>
            <a:r>
              <a:rPr spc="50" dirty="0"/>
              <a:t> </a:t>
            </a:r>
            <a:r>
              <a:rPr dirty="0"/>
              <a:t>little</a:t>
            </a:r>
            <a:r>
              <a:rPr spc="45" dirty="0"/>
              <a:t> </a:t>
            </a:r>
            <a:r>
              <a:rPr spc="-10" dirty="0"/>
              <a:t>elaboration.</a:t>
            </a:r>
          </a:p>
          <a:p>
            <a:pPr marL="12700">
              <a:lnSpc>
                <a:spcPct val="100000"/>
              </a:lnSpc>
              <a:spcBef>
                <a:spcPts val="420"/>
              </a:spcBef>
            </a:pPr>
            <a:r>
              <a:rPr spc="-10" dirty="0"/>
              <a:t>For</a:t>
            </a:r>
            <a:r>
              <a:rPr spc="5" dirty="0"/>
              <a:t> </a:t>
            </a:r>
            <a:r>
              <a:rPr dirty="0"/>
              <a:t>the</a:t>
            </a:r>
            <a:r>
              <a:rPr spc="10" dirty="0"/>
              <a:t> </a:t>
            </a:r>
            <a:r>
              <a:rPr spc="-10" dirty="0"/>
              <a:t>first</a:t>
            </a:r>
            <a:r>
              <a:rPr spc="5" dirty="0"/>
              <a:t> </a:t>
            </a:r>
            <a:r>
              <a:rPr spc="-20" dirty="0"/>
              <a:t>approach,</a:t>
            </a:r>
            <a:r>
              <a:rPr spc="10" dirty="0"/>
              <a:t> </a:t>
            </a:r>
            <a:r>
              <a:rPr spc="-10" dirty="0"/>
              <a:t>there</a:t>
            </a:r>
            <a:r>
              <a:rPr spc="10" dirty="0"/>
              <a:t> </a:t>
            </a:r>
            <a:r>
              <a:rPr dirty="0"/>
              <a:t>are</a:t>
            </a:r>
            <a:r>
              <a:rPr spc="5" dirty="0"/>
              <a:t> </a:t>
            </a:r>
            <a:r>
              <a:rPr spc="-25" dirty="0"/>
              <a:t>several</a:t>
            </a:r>
            <a:r>
              <a:rPr spc="10" dirty="0"/>
              <a:t> </a:t>
            </a:r>
            <a:r>
              <a:rPr dirty="0"/>
              <a:t>ways.</a:t>
            </a:r>
            <a:r>
              <a:rPr spc="95" dirty="0"/>
              <a:t> </a:t>
            </a:r>
            <a:r>
              <a:rPr dirty="0"/>
              <a:t>One</a:t>
            </a:r>
            <a:r>
              <a:rPr spc="10" dirty="0"/>
              <a:t> </a:t>
            </a:r>
            <a:r>
              <a:rPr dirty="0"/>
              <a:t>good</a:t>
            </a:r>
            <a:r>
              <a:rPr spc="5" dirty="0"/>
              <a:t> </a:t>
            </a:r>
            <a:r>
              <a:rPr spc="-25" dirty="0"/>
              <a:t>choice</a:t>
            </a:r>
            <a:r>
              <a:rPr spc="10" dirty="0"/>
              <a:t> </a:t>
            </a:r>
            <a:r>
              <a:rPr spc="-25" dirty="0"/>
              <a:t>is:</a:t>
            </a:r>
          </a:p>
          <a:p>
            <a:pPr marL="289560">
              <a:lnSpc>
                <a:spcPct val="100000"/>
              </a:lnSpc>
              <a:spcBef>
                <a:spcPts val="280"/>
              </a:spcBef>
            </a:pPr>
            <a:r>
              <a:rPr sz="1000" spc="110" dirty="0">
                <a:latin typeface="Calibri"/>
                <a:cs typeface="Calibri"/>
              </a:rPr>
              <a:t>Pick</a:t>
            </a:r>
            <a:r>
              <a:rPr sz="1000" spc="300" dirty="0">
                <a:latin typeface="Calibri"/>
                <a:cs typeface="Calibri"/>
              </a:rPr>
              <a:t> </a:t>
            </a:r>
            <a:r>
              <a:rPr sz="1000" spc="60" dirty="0">
                <a:latin typeface="Calibri"/>
                <a:cs typeface="Calibri"/>
              </a:rPr>
              <a:t>the</a:t>
            </a:r>
            <a:r>
              <a:rPr sz="1000" spc="305" dirty="0">
                <a:latin typeface="Calibri"/>
                <a:cs typeface="Calibri"/>
              </a:rPr>
              <a:t> </a:t>
            </a:r>
            <a:r>
              <a:rPr sz="1000" spc="195" dirty="0">
                <a:latin typeface="Calibri"/>
                <a:cs typeface="Calibri"/>
              </a:rPr>
              <a:t>first</a:t>
            </a:r>
            <a:r>
              <a:rPr sz="1000" spc="300" dirty="0">
                <a:latin typeface="Calibri"/>
                <a:cs typeface="Calibri"/>
              </a:rPr>
              <a:t> </a:t>
            </a:r>
            <a:r>
              <a:rPr sz="1000" spc="90" dirty="0">
                <a:latin typeface="Calibri"/>
                <a:cs typeface="Calibri"/>
              </a:rPr>
              <a:t>point</a:t>
            </a:r>
            <a:r>
              <a:rPr sz="1000" spc="300" dirty="0">
                <a:latin typeface="Calibri"/>
                <a:cs typeface="Calibri"/>
              </a:rPr>
              <a:t> </a:t>
            </a:r>
            <a:r>
              <a:rPr sz="1000" spc="110" dirty="0">
                <a:latin typeface="Calibri"/>
                <a:cs typeface="Calibri"/>
              </a:rPr>
              <a:t>at</a:t>
            </a:r>
            <a:r>
              <a:rPr sz="1000" spc="305" dirty="0">
                <a:latin typeface="Calibri"/>
                <a:cs typeface="Calibri"/>
              </a:rPr>
              <a:t> </a:t>
            </a:r>
            <a:r>
              <a:rPr sz="1000" spc="-10" dirty="0">
                <a:latin typeface="Calibri"/>
                <a:cs typeface="Calibri"/>
              </a:rPr>
              <a:t>random;</a:t>
            </a:r>
            <a:endParaRPr sz="1000">
              <a:latin typeface="Calibri"/>
              <a:cs typeface="Calibri"/>
            </a:endParaRPr>
          </a:p>
          <a:p>
            <a:pPr marL="289560">
              <a:lnSpc>
                <a:spcPct val="100000"/>
              </a:lnSpc>
              <a:spcBef>
                <a:spcPts val="15"/>
              </a:spcBef>
            </a:pPr>
            <a:r>
              <a:rPr sz="1000" dirty="0">
                <a:latin typeface="Calibri"/>
                <a:cs typeface="Calibri"/>
              </a:rPr>
              <a:t>WHILE</a:t>
            </a:r>
            <a:r>
              <a:rPr sz="1000" spc="315" dirty="0">
                <a:latin typeface="Calibri"/>
                <a:cs typeface="Calibri"/>
              </a:rPr>
              <a:t> </a:t>
            </a:r>
            <a:r>
              <a:rPr sz="1000" spc="75" dirty="0">
                <a:latin typeface="Calibri"/>
                <a:cs typeface="Calibri"/>
              </a:rPr>
              <a:t>there</a:t>
            </a:r>
            <a:r>
              <a:rPr sz="1000" spc="315" dirty="0">
                <a:latin typeface="Calibri"/>
                <a:cs typeface="Calibri"/>
              </a:rPr>
              <a:t> </a:t>
            </a:r>
            <a:r>
              <a:rPr sz="1000" spc="70" dirty="0">
                <a:latin typeface="Calibri"/>
                <a:cs typeface="Calibri"/>
              </a:rPr>
              <a:t>are</a:t>
            </a:r>
            <a:r>
              <a:rPr sz="1000" spc="320" dirty="0">
                <a:latin typeface="Calibri"/>
                <a:cs typeface="Calibri"/>
              </a:rPr>
              <a:t> </a:t>
            </a:r>
            <a:r>
              <a:rPr sz="1000" dirty="0">
                <a:latin typeface="Calibri"/>
                <a:cs typeface="Calibri"/>
              </a:rPr>
              <a:t>fewer</a:t>
            </a:r>
            <a:r>
              <a:rPr sz="1000" spc="315" dirty="0">
                <a:latin typeface="Calibri"/>
                <a:cs typeface="Calibri"/>
              </a:rPr>
              <a:t> </a:t>
            </a:r>
            <a:r>
              <a:rPr sz="1000" spc="50" dirty="0">
                <a:latin typeface="Calibri"/>
                <a:cs typeface="Calibri"/>
              </a:rPr>
              <a:t>than</a:t>
            </a:r>
            <a:r>
              <a:rPr sz="1000" spc="320" dirty="0">
                <a:latin typeface="Calibri"/>
                <a:cs typeface="Calibri"/>
              </a:rPr>
              <a:t> </a:t>
            </a:r>
            <a:r>
              <a:rPr sz="1000" spc="70" dirty="0">
                <a:latin typeface="Calibri"/>
                <a:cs typeface="Calibri"/>
              </a:rPr>
              <a:t>k</a:t>
            </a:r>
            <a:r>
              <a:rPr sz="1000" spc="315" dirty="0">
                <a:latin typeface="Calibri"/>
                <a:cs typeface="Calibri"/>
              </a:rPr>
              <a:t> </a:t>
            </a:r>
            <a:r>
              <a:rPr sz="1000" spc="95" dirty="0">
                <a:latin typeface="Calibri"/>
                <a:cs typeface="Calibri"/>
              </a:rPr>
              <a:t>points</a:t>
            </a:r>
            <a:r>
              <a:rPr sz="1000" spc="315" dirty="0">
                <a:latin typeface="Calibri"/>
                <a:cs typeface="Calibri"/>
              </a:rPr>
              <a:t> </a:t>
            </a:r>
            <a:r>
              <a:rPr sz="1000" spc="-25" dirty="0">
                <a:latin typeface="Calibri"/>
                <a:cs typeface="Calibri"/>
              </a:rPr>
              <a:t>DO</a:t>
            </a:r>
            <a:endParaRPr sz="1000">
              <a:latin typeface="Calibri"/>
              <a:cs typeface="Calibri"/>
            </a:endParaRPr>
          </a:p>
          <a:p>
            <a:pPr marL="566420" marR="10160">
              <a:lnSpc>
                <a:spcPts val="930"/>
              </a:lnSpc>
              <a:spcBef>
                <a:spcPts val="470"/>
              </a:spcBef>
            </a:pPr>
            <a:r>
              <a:rPr sz="900" spc="-35" dirty="0"/>
              <a:t>Add</a:t>
            </a:r>
            <a:r>
              <a:rPr sz="900" spc="280" dirty="0"/>
              <a:t> </a:t>
            </a:r>
            <a:r>
              <a:rPr sz="900" dirty="0"/>
              <a:t>the</a:t>
            </a:r>
            <a:r>
              <a:rPr sz="900" spc="280" dirty="0"/>
              <a:t> </a:t>
            </a:r>
            <a:r>
              <a:rPr sz="900" dirty="0"/>
              <a:t>point</a:t>
            </a:r>
            <a:r>
              <a:rPr sz="900" spc="280" dirty="0"/>
              <a:t> </a:t>
            </a:r>
            <a:r>
              <a:rPr sz="900" spc="-10" dirty="0"/>
              <a:t>whose</a:t>
            </a:r>
            <a:r>
              <a:rPr sz="900" spc="280" dirty="0"/>
              <a:t> </a:t>
            </a:r>
            <a:r>
              <a:rPr sz="900" spc="-85" dirty="0"/>
              <a:t>minimum</a:t>
            </a:r>
            <a:r>
              <a:rPr sz="900" spc="280" dirty="0"/>
              <a:t> </a:t>
            </a:r>
            <a:r>
              <a:rPr sz="900" spc="45" dirty="0"/>
              <a:t>distance</a:t>
            </a:r>
            <a:r>
              <a:rPr sz="900" spc="280" dirty="0"/>
              <a:t> </a:t>
            </a:r>
            <a:r>
              <a:rPr sz="900" dirty="0"/>
              <a:t>from</a:t>
            </a:r>
            <a:r>
              <a:rPr sz="900" spc="280" dirty="0"/>
              <a:t> </a:t>
            </a:r>
            <a:r>
              <a:rPr sz="900" dirty="0"/>
              <a:t>the</a:t>
            </a:r>
            <a:r>
              <a:rPr sz="900" spc="280" dirty="0"/>
              <a:t> </a:t>
            </a:r>
            <a:r>
              <a:rPr sz="900" spc="60" dirty="0"/>
              <a:t>selected</a:t>
            </a:r>
            <a:r>
              <a:rPr sz="900" spc="280" dirty="0"/>
              <a:t> </a:t>
            </a:r>
            <a:r>
              <a:rPr sz="900" dirty="0"/>
              <a:t>points</a:t>
            </a:r>
            <a:r>
              <a:rPr sz="900" spc="280" dirty="0"/>
              <a:t> </a:t>
            </a:r>
            <a:r>
              <a:rPr sz="900" spc="140" dirty="0"/>
              <a:t>is</a:t>
            </a:r>
            <a:r>
              <a:rPr sz="900" spc="280" dirty="0"/>
              <a:t> </a:t>
            </a:r>
            <a:r>
              <a:rPr sz="900" dirty="0"/>
              <a:t>as</a:t>
            </a:r>
            <a:r>
              <a:rPr sz="900" spc="280" dirty="0"/>
              <a:t> </a:t>
            </a:r>
            <a:r>
              <a:rPr sz="900" spc="70" dirty="0"/>
              <a:t>large</a:t>
            </a:r>
            <a:r>
              <a:rPr sz="900" spc="280" dirty="0"/>
              <a:t> </a:t>
            </a:r>
            <a:r>
              <a:rPr sz="900" spc="-25" dirty="0"/>
              <a:t>as</a:t>
            </a:r>
            <a:r>
              <a:rPr sz="900" spc="60" dirty="0"/>
              <a:t> possible;</a:t>
            </a:r>
            <a:endParaRPr sz="900"/>
          </a:p>
          <a:p>
            <a:pPr marL="289560">
              <a:lnSpc>
                <a:spcPct val="100000"/>
              </a:lnSpc>
              <a:spcBef>
                <a:spcPts val="315"/>
              </a:spcBef>
            </a:pPr>
            <a:r>
              <a:rPr sz="1000" spc="-25" dirty="0">
                <a:latin typeface="Calibri"/>
                <a:cs typeface="Calibri"/>
              </a:rPr>
              <a:t>END</a:t>
            </a:r>
            <a:endParaRPr sz="1000">
              <a:latin typeface="Calibri"/>
              <a:cs typeface="Calibri"/>
            </a:endParaRPr>
          </a:p>
        </p:txBody>
      </p:sp>
      <p:sp>
        <p:nvSpPr>
          <p:cNvPr id="7" name="object 7"/>
          <p:cNvSpPr/>
          <p:nvPr/>
        </p:nvSpPr>
        <p:spPr>
          <a:xfrm>
            <a:off x="337972" y="148813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1709153"/>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64</a:t>
            </a:fld>
            <a:r>
              <a:rPr dirty="0"/>
              <a:t> </a:t>
            </a:r>
            <a:r>
              <a:rPr spc="75" dirty="0"/>
              <a:t>/</a:t>
            </a:r>
            <a:r>
              <a:rPr spc="5" dirty="0"/>
              <a:t> </a:t>
            </a:r>
            <a:r>
              <a:rPr spc="35" dirty="0"/>
              <a:t>135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Initialization</a:t>
            </a:r>
            <a:r>
              <a:rPr spc="195" dirty="0"/>
              <a:t> </a:t>
            </a:r>
            <a:r>
              <a:rPr dirty="0"/>
              <a:t>for</a:t>
            </a:r>
            <a:r>
              <a:rPr spc="204" dirty="0"/>
              <a:t> </a:t>
            </a:r>
            <a:r>
              <a:rPr i="1" spc="85" dirty="0">
                <a:latin typeface="Calibri"/>
                <a:cs typeface="Calibri"/>
              </a:rPr>
              <a:t>k</a:t>
            </a:r>
            <a:r>
              <a:rPr i="1" spc="285" dirty="0">
                <a:latin typeface="Calibri"/>
                <a:cs typeface="Calibri"/>
              </a:rPr>
              <a:t> </a:t>
            </a:r>
            <a:r>
              <a:rPr dirty="0"/>
              <a:t>mean</a:t>
            </a:r>
            <a:r>
              <a:rPr spc="195" dirty="0"/>
              <a:t> </a:t>
            </a:r>
            <a:r>
              <a:rPr dirty="0"/>
              <a:t>vectors</a:t>
            </a:r>
            <a:r>
              <a:rPr spc="204" dirty="0"/>
              <a:t> </a:t>
            </a:r>
            <a:r>
              <a:rPr b="1" spc="100" dirty="0">
                <a:latin typeface="Yu Gothic"/>
                <a:cs typeface="Yu Gothic"/>
              </a:rPr>
              <a:t>µ</a:t>
            </a:r>
            <a:r>
              <a:rPr sz="1500" i="1" spc="150" baseline="-19444" dirty="0">
                <a:latin typeface="Calibri"/>
                <a:cs typeface="Calibri"/>
              </a:rPr>
              <a:t>i</a:t>
            </a:r>
            <a:r>
              <a:rPr sz="1400" spc="100" dirty="0"/>
              <a:t>:</a:t>
            </a:r>
            <a:r>
              <a:rPr sz="1400" spc="385" dirty="0"/>
              <a:t> </a:t>
            </a:r>
            <a:r>
              <a:rPr sz="1400" spc="-10" dirty="0"/>
              <a:t>example</a:t>
            </a:r>
            <a:endParaRPr sz="1400">
              <a:latin typeface="Calibri"/>
              <a:cs typeface="Calibri"/>
            </a:endParaRPr>
          </a:p>
        </p:txBody>
      </p:sp>
      <p:pic>
        <p:nvPicPr>
          <p:cNvPr id="3" name="object 3"/>
          <p:cNvPicPr/>
          <p:nvPr/>
        </p:nvPicPr>
        <p:blipFill>
          <a:blip r:embed="rId2" cstate="print"/>
          <a:stretch>
            <a:fillRect/>
          </a:stretch>
        </p:blipFill>
        <p:spPr>
          <a:xfrm>
            <a:off x="1641741" y="614781"/>
            <a:ext cx="2469895" cy="1994408"/>
          </a:xfrm>
          <a:prstGeom prst="rect">
            <a:avLst/>
          </a:prstGeom>
        </p:spPr>
      </p:pic>
      <p:sp>
        <p:nvSpPr>
          <p:cNvPr id="4" name="object 4"/>
          <p:cNvSpPr txBox="1"/>
          <p:nvPr/>
        </p:nvSpPr>
        <p:spPr>
          <a:xfrm>
            <a:off x="786587" y="2713798"/>
            <a:ext cx="4187190" cy="147320"/>
          </a:xfrm>
          <a:prstGeom prst="rect">
            <a:avLst/>
          </a:prstGeom>
        </p:spPr>
        <p:txBody>
          <a:bodyPr vert="horz" wrap="square" lIns="0" tIns="12065" rIns="0" bIns="0" rtlCol="0">
            <a:spAutoFit/>
          </a:bodyPr>
          <a:lstStyle/>
          <a:p>
            <a:pPr marL="12700">
              <a:lnSpc>
                <a:spcPct val="100000"/>
              </a:lnSpc>
              <a:spcBef>
                <a:spcPts val="95"/>
              </a:spcBef>
            </a:pPr>
            <a:r>
              <a:rPr sz="800" dirty="0">
                <a:latin typeface="Georgia"/>
                <a:cs typeface="Georgia"/>
              </a:rPr>
              <a:t>Initial</a:t>
            </a:r>
            <a:r>
              <a:rPr sz="800" spc="80" dirty="0">
                <a:latin typeface="Georgia"/>
                <a:cs typeface="Georgia"/>
              </a:rPr>
              <a:t> </a:t>
            </a:r>
            <a:r>
              <a:rPr sz="800" dirty="0">
                <a:latin typeface="Georgia"/>
                <a:cs typeface="Georgia"/>
              </a:rPr>
              <a:t>selection</a:t>
            </a:r>
            <a:r>
              <a:rPr sz="800" spc="85" dirty="0">
                <a:latin typeface="Georgia"/>
                <a:cs typeface="Georgia"/>
              </a:rPr>
              <a:t> </a:t>
            </a:r>
            <a:r>
              <a:rPr sz="800" dirty="0">
                <a:latin typeface="Georgia"/>
                <a:cs typeface="Georgia"/>
              </a:rPr>
              <a:t>for</a:t>
            </a:r>
            <a:r>
              <a:rPr sz="800" spc="80" dirty="0">
                <a:latin typeface="Georgia"/>
                <a:cs typeface="Georgia"/>
              </a:rPr>
              <a:t> </a:t>
            </a:r>
            <a:r>
              <a:rPr sz="800" dirty="0">
                <a:latin typeface="Georgia"/>
                <a:cs typeface="Georgia"/>
              </a:rPr>
              <a:t>mean</a:t>
            </a:r>
            <a:r>
              <a:rPr sz="800" spc="85" dirty="0">
                <a:latin typeface="Georgia"/>
                <a:cs typeface="Georgia"/>
              </a:rPr>
              <a:t> </a:t>
            </a:r>
            <a:r>
              <a:rPr sz="800" dirty="0">
                <a:latin typeface="Georgia"/>
                <a:cs typeface="Georgia"/>
              </a:rPr>
              <a:t>values</a:t>
            </a:r>
            <a:r>
              <a:rPr sz="800" spc="85" dirty="0">
                <a:latin typeface="Georgia"/>
                <a:cs typeface="Georgia"/>
              </a:rPr>
              <a:t> </a:t>
            </a:r>
            <a:r>
              <a:rPr sz="800" dirty="0">
                <a:latin typeface="Georgia"/>
                <a:cs typeface="Georgia"/>
              </a:rPr>
              <a:t>[from</a:t>
            </a:r>
            <a:r>
              <a:rPr sz="800" spc="80" dirty="0">
                <a:latin typeface="Georgia"/>
                <a:cs typeface="Georgia"/>
              </a:rPr>
              <a:t> </a:t>
            </a:r>
            <a:r>
              <a:rPr sz="800" i="1" dirty="0">
                <a:latin typeface="Georgia"/>
                <a:cs typeface="Georgia"/>
              </a:rPr>
              <a:t>Mining</a:t>
            </a:r>
            <a:r>
              <a:rPr sz="800" i="1" spc="105" dirty="0">
                <a:latin typeface="Georgia"/>
                <a:cs typeface="Georgia"/>
              </a:rPr>
              <a:t> </a:t>
            </a:r>
            <a:r>
              <a:rPr sz="800" i="1" dirty="0">
                <a:latin typeface="Georgia"/>
                <a:cs typeface="Georgia"/>
              </a:rPr>
              <a:t>of</a:t>
            </a:r>
            <a:r>
              <a:rPr sz="800" i="1" spc="100" dirty="0">
                <a:latin typeface="Georgia"/>
                <a:cs typeface="Georgia"/>
              </a:rPr>
              <a:t> </a:t>
            </a:r>
            <a:r>
              <a:rPr sz="800" i="1" dirty="0">
                <a:latin typeface="Georgia"/>
                <a:cs typeface="Georgia"/>
              </a:rPr>
              <a:t>Massive</a:t>
            </a:r>
            <a:r>
              <a:rPr sz="800" i="1" spc="105" dirty="0">
                <a:latin typeface="Georgia"/>
                <a:cs typeface="Georgia"/>
              </a:rPr>
              <a:t> </a:t>
            </a:r>
            <a:r>
              <a:rPr sz="800" i="1" dirty="0">
                <a:latin typeface="Georgia"/>
                <a:cs typeface="Georgia"/>
              </a:rPr>
              <a:t>Datasets</a:t>
            </a:r>
            <a:r>
              <a:rPr sz="800" i="1" spc="140" dirty="0">
                <a:latin typeface="Georgia"/>
                <a:cs typeface="Georgia"/>
              </a:rPr>
              <a:t> </a:t>
            </a:r>
            <a:r>
              <a:rPr sz="800" dirty="0">
                <a:latin typeface="Georgia"/>
                <a:cs typeface="Georgia"/>
              </a:rPr>
              <a:t>by</a:t>
            </a:r>
            <a:r>
              <a:rPr sz="800" spc="80" dirty="0">
                <a:latin typeface="Georgia"/>
                <a:cs typeface="Georgia"/>
              </a:rPr>
              <a:t> </a:t>
            </a:r>
            <a:r>
              <a:rPr sz="800" dirty="0">
                <a:latin typeface="Georgia"/>
                <a:cs typeface="Georgia"/>
              </a:rPr>
              <a:t>J.</a:t>
            </a:r>
            <a:r>
              <a:rPr sz="800" spc="85" dirty="0">
                <a:latin typeface="Georgia"/>
                <a:cs typeface="Georgia"/>
              </a:rPr>
              <a:t> </a:t>
            </a:r>
            <a:r>
              <a:rPr sz="800" dirty="0">
                <a:latin typeface="Georgia"/>
                <a:cs typeface="Georgia"/>
              </a:rPr>
              <a:t>Leskovec</a:t>
            </a:r>
            <a:r>
              <a:rPr sz="800" spc="80" dirty="0">
                <a:latin typeface="Georgia"/>
                <a:cs typeface="Georgia"/>
              </a:rPr>
              <a:t> </a:t>
            </a:r>
            <a:r>
              <a:rPr sz="800" dirty="0">
                <a:latin typeface="Georgia"/>
                <a:cs typeface="Georgia"/>
              </a:rPr>
              <a:t>et</a:t>
            </a:r>
            <a:r>
              <a:rPr sz="800" spc="85" dirty="0">
                <a:latin typeface="Georgia"/>
                <a:cs typeface="Georgia"/>
              </a:rPr>
              <a:t> </a:t>
            </a:r>
            <a:r>
              <a:rPr sz="800" spc="-20" dirty="0">
                <a:latin typeface="Georgia"/>
                <a:cs typeface="Georgia"/>
              </a:rPr>
              <a:t>al.]</a:t>
            </a:r>
            <a:endParaRPr sz="800">
              <a:latin typeface="Georgia"/>
              <a:cs typeface="Georgia"/>
            </a:endParaRPr>
          </a:p>
        </p:txBody>
      </p:sp>
      <p:grpSp>
        <p:nvGrpSpPr>
          <p:cNvPr id="5" name="object 5"/>
          <p:cNvGrpSpPr/>
          <p:nvPr/>
        </p:nvGrpSpPr>
        <p:grpSpPr>
          <a:xfrm>
            <a:off x="0" y="3121545"/>
            <a:ext cx="5760085" cy="118745"/>
            <a:chOff x="0" y="3121545"/>
            <a:chExt cx="5760085" cy="118745"/>
          </a:xfrm>
        </p:grpSpPr>
        <p:sp>
          <p:nvSpPr>
            <p:cNvPr id="6" name="object 6"/>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7" name="object 7"/>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8" name="object 8"/>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9" name="object 9"/>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0" name="object 10"/>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65</a:t>
            </a:fld>
            <a:r>
              <a:rPr dirty="0"/>
              <a:t> </a:t>
            </a:r>
            <a:r>
              <a:rPr spc="75" dirty="0"/>
              <a:t>/</a:t>
            </a:r>
            <a:r>
              <a:rPr spc="5" dirty="0"/>
              <a:t> </a:t>
            </a:r>
            <a:r>
              <a:rPr spc="35" dirty="0"/>
              <a:t>135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Initialization</a:t>
            </a:r>
            <a:r>
              <a:rPr spc="195" dirty="0"/>
              <a:t> </a:t>
            </a:r>
            <a:r>
              <a:rPr dirty="0"/>
              <a:t>for</a:t>
            </a:r>
            <a:r>
              <a:rPr spc="204" dirty="0"/>
              <a:t> </a:t>
            </a:r>
            <a:r>
              <a:rPr i="1" spc="85" dirty="0">
                <a:latin typeface="Calibri"/>
                <a:cs typeface="Calibri"/>
              </a:rPr>
              <a:t>k</a:t>
            </a:r>
            <a:r>
              <a:rPr i="1" spc="290" dirty="0">
                <a:latin typeface="Calibri"/>
                <a:cs typeface="Calibri"/>
              </a:rPr>
              <a:t> </a:t>
            </a:r>
            <a:r>
              <a:rPr dirty="0"/>
              <a:t>mean</a:t>
            </a:r>
            <a:r>
              <a:rPr spc="200" dirty="0"/>
              <a:t> </a:t>
            </a:r>
            <a:r>
              <a:rPr dirty="0"/>
              <a:t>vectors</a:t>
            </a:r>
            <a:r>
              <a:rPr spc="204" dirty="0"/>
              <a:t> </a:t>
            </a:r>
            <a:r>
              <a:rPr b="1" spc="100" dirty="0">
                <a:latin typeface="Yu Gothic"/>
                <a:cs typeface="Yu Gothic"/>
              </a:rPr>
              <a:t>µ</a:t>
            </a:r>
            <a:r>
              <a:rPr sz="1500" i="1" spc="150" baseline="-19444" dirty="0">
                <a:latin typeface="Calibri"/>
                <a:cs typeface="Calibri"/>
              </a:rPr>
              <a:t>i</a:t>
            </a:r>
            <a:r>
              <a:rPr sz="1400" spc="100" dirty="0"/>
              <a:t>:</a:t>
            </a:r>
            <a:r>
              <a:rPr sz="1400" spc="390" dirty="0"/>
              <a:t> </a:t>
            </a:r>
            <a:r>
              <a:rPr sz="1400" dirty="0"/>
              <a:t>example</a:t>
            </a:r>
            <a:r>
              <a:rPr sz="1400" spc="195" dirty="0"/>
              <a:t> </a:t>
            </a:r>
            <a:r>
              <a:rPr sz="1400" spc="-10" dirty="0"/>
              <a:t>(cont’d)</a:t>
            </a:r>
            <a:endParaRPr sz="1400">
              <a:latin typeface="Calibri"/>
              <a:cs typeface="Calibri"/>
            </a:endParaRPr>
          </a:p>
        </p:txBody>
      </p:sp>
      <p:grpSp>
        <p:nvGrpSpPr>
          <p:cNvPr id="13" name="object 13"/>
          <p:cNvGrpSpPr/>
          <p:nvPr/>
        </p:nvGrpSpPr>
        <p:grpSpPr>
          <a:xfrm>
            <a:off x="0" y="3121545"/>
            <a:ext cx="5760085" cy="118745"/>
            <a:chOff x="0" y="3121545"/>
            <a:chExt cx="5760085" cy="118745"/>
          </a:xfrm>
        </p:grpSpPr>
        <p:sp>
          <p:nvSpPr>
            <p:cNvPr id="14" name="object 14"/>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5" name="object 15"/>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6" name="object 1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7" name="object 17"/>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8" name="object 18"/>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66</a:t>
            </a:fld>
            <a:r>
              <a:rPr dirty="0"/>
              <a:t> </a:t>
            </a:r>
            <a:r>
              <a:rPr spc="75" dirty="0"/>
              <a:t>/</a:t>
            </a:r>
            <a:r>
              <a:rPr spc="5" dirty="0"/>
              <a:t> </a:t>
            </a:r>
            <a:r>
              <a:rPr spc="35" dirty="0"/>
              <a:t>135</a:t>
            </a:r>
          </a:p>
        </p:txBody>
      </p:sp>
      <p:pic>
        <p:nvPicPr>
          <p:cNvPr id="20" name="Picture 19">
            <a:extLst>
              <a:ext uri="{FF2B5EF4-FFF2-40B4-BE49-F238E27FC236}">
                <a16:creationId xmlns:a16="http://schemas.microsoft.com/office/drawing/2014/main" id="{E9099BCD-EEED-5505-0ACB-C53171CCA4E2}"/>
              </a:ext>
            </a:extLst>
          </p:cNvPr>
          <p:cNvPicPr>
            <a:picLocks noChangeAspect="1"/>
          </p:cNvPicPr>
          <p:nvPr/>
        </p:nvPicPr>
        <p:blipFill>
          <a:blip r:embed="rId4"/>
          <a:stretch>
            <a:fillRect/>
          </a:stretch>
        </p:blipFill>
        <p:spPr>
          <a:xfrm>
            <a:off x="90106" y="555625"/>
            <a:ext cx="5579795" cy="1978907"/>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90" dirty="0">
                <a:latin typeface="Calibri"/>
                <a:cs typeface="Calibri"/>
              </a:rPr>
              <a:t>K</a:t>
            </a:r>
            <a:r>
              <a:rPr spc="90" dirty="0"/>
              <a:t>–means</a:t>
            </a:r>
            <a:r>
              <a:rPr spc="120" dirty="0"/>
              <a:t> </a:t>
            </a:r>
            <a:r>
              <a:rPr dirty="0"/>
              <a:t>is</a:t>
            </a:r>
            <a:r>
              <a:rPr spc="120" dirty="0"/>
              <a:t> </a:t>
            </a:r>
            <a:r>
              <a:rPr dirty="0"/>
              <a:t>sensitive</a:t>
            </a:r>
            <a:r>
              <a:rPr spc="120" dirty="0"/>
              <a:t> </a:t>
            </a:r>
            <a:r>
              <a:rPr spc="55" dirty="0"/>
              <a:t>to</a:t>
            </a:r>
            <a:r>
              <a:rPr spc="114" dirty="0"/>
              <a:t> </a:t>
            </a:r>
            <a:r>
              <a:rPr spc="-10" dirty="0"/>
              <a:t>outliers</a:t>
            </a:r>
          </a:p>
        </p:txBody>
      </p:sp>
      <p:sp>
        <p:nvSpPr>
          <p:cNvPr id="3" name="object 3"/>
          <p:cNvSpPr/>
          <p:nvPr/>
        </p:nvSpPr>
        <p:spPr>
          <a:xfrm>
            <a:off x="337972" y="44291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1216659"/>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620229" y="1390650"/>
            <a:ext cx="54610" cy="54610"/>
          </a:xfrm>
          <a:custGeom>
            <a:avLst/>
            <a:gdLst/>
            <a:ahLst/>
            <a:cxnLst/>
            <a:rect l="l" t="t" r="r" b="b"/>
            <a:pathLst>
              <a:path w="54609" h="54609">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6" name="object 6"/>
          <p:cNvSpPr/>
          <p:nvPr/>
        </p:nvSpPr>
        <p:spPr>
          <a:xfrm>
            <a:off x="620229" y="1813826"/>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7" name="object 7"/>
          <p:cNvSpPr/>
          <p:nvPr/>
        </p:nvSpPr>
        <p:spPr>
          <a:xfrm>
            <a:off x="620229" y="2280577"/>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8" name="object 8"/>
          <p:cNvSpPr/>
          <p:nvPr/>
        </p:nvSpPr>
        <p:spPr>
          <a:xfrm>
            <a:off x="620229" y="2747340"/>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9" name="object 9"/>
          <p:cNvSpPr txBox="1"/>
          <p:nvPr/>
        </p:nvSpPr>
        <p:spPr>
          <a:xfrm>
            <a:off x="441477" y="351306"/>
            <a:ext cx="5154295" cy="2747010"/>
          </a:xfrm>
          <a:prstGeom prst="rect">
            <a:avLst/>
          </a:prstGeom>
        </p:spPr>
        <p:txBody>
          <a:bodyPr vert="horz" wrap="square" lIns="0" tIns="34290" rIns="0" bIns="0" rtlCol="0">
            <a:spAutoFit/>
          </a:bodyPr>
          <a:lstStyle/>
          <a:p>
            <a:pPr marL="25400" marR="73025">
              <a:lnSpc>
                <a:spcPts val="1150"/>
              </a:lnSpc>
              <a:spcBef>
                <a:spcPts val="270"/>
              </a:spcBef>
            </a:pPr>
            <a:r>
              <a:rPr sz="1100" dirty="0">
                <a:latin typeface="Georgia"/>
                <a:cs typeface="Georgia"/>
              </a:rPr>
              <a:t>The</a:t>
            </a:r>
            <a:r>
              <a:rPr sz="1100" spc="25" dirty="0">
                <a:latin typeface="Georgia"/>
                <a:cs typeface="Georgia"/>
              </a:rPr>
              <a:t> </a:t>
            </a:r>
            <a:r>
              <a:rPr sz="1100" i="1" spc="-35" dirty="0">
                <a:latin typeface="Calibri"/>
                <a:cs typeface="Calibri"/>
              </a:rPr>
              <a:t>k</a:t>
            </a:r>
            <a:r>
              <a:rPr sz="1100" spc="-35" dirty="0">
                <a:latin typeface="Georgia"/>
                <a:cs typeface="Georgia"/>
              </a:rPr>
              <a:t>–means</a:t>
            </a:r>
            <a:r>
              <a:rPr sz="1100" spc="30" dirty="0">
                <a:latin typeface="Georgia"/>
                <a:cs typeface="Georgia"/>
              </a:rPr>
              <a:t> </a:t>
            </a:r>
            <a:r>
              <a:rPr sz="1100" spc="-20" dirty="0">
                <a:latin typeface="Georgia"/>
                <a:cs typeface="Georgia"/>
              </a:rPr>
              <a:t>algorithm</a:t>
            </a:r>
            <a:r>
              <a:rPr sz="1100" spc="25" dirty="0">
                <a:latin typeface="Georgia"/>
                <a:cs typeface="Georgia"/>
              </a:rPr>
              <a:t> </a:t>
            </a:r>
            <a:r>
              <a:rPr sz="1100" dirty="0">
                <a:latin typeface="Georgia"/>
                <a:cs typeface="Georgia"/>
              </a:rPr>
              <a:t>is</a:t>
            </a:r>
            <a:r>
              <a:rPr sz="1100" spc="30" dirty="0">
                <a:latin typeface="Georgia"/>
                <a:cs typeface="Georgia"/>
              </a:rPr>
              <a:t> </a:t>
            </a:r>
            <a:r>
              <a:rPr sz="1100" b="1" spc="-35" dirty="0">
                <a:latin typeface="Georgia"/>
                <a:cs typeface="Georgia"/>
              </a:rPr>
              <a:t>sensitive</a:t>
            </a:r>
            <a:r>
              <a:rPr sz="1100" b="1" spc="60" dirty="0">
                <a:latin typeface="Georgia"/>
                <a:cs typeface="Georgia"/>
              </a:rPr>
              <a:t> </a:t>
            </a:r>
            <a:r>
              <a:rPr sz="1100" b="1" dirty="0">
                <a:latin typeface="Georgia"/>
                <a:cs typeface="Georgia"/>
              </a:rPr>
              <a:t>to</a:t>
            </a:r>
            <a:r>
              <a:rPr sz="1100" b="1" spc="60" dirty="0">
                <a:latin typeface="Georgia"/>
                <a:cs typeface="Georgia"/>
              </a:rPr>
              <a:t> </a:t>
            </a:r>
            <a:r>
              <a:rPr sz="1100" b="1" spc="-40" dirty="0">
                <a:latin typeface="Georgia"/>
                <a:cs typeface="Georgia"/>
              </a:rPr>
              <a:t>outliers</a:t>
            </a:r>
            <a:r>
              <a:rPr sz="1100" b="1" spc="10" dirty="0">
                <a:latin typeface="Georgia"/>
                <a:cs typeface="Georgia"/>
              </a:rPr>
              <a:t> </a:t>
            </a:r>
            <a:r>
              <a:rPr sz="1100" spc="-20" dirty="0">
                <a:latin typeface="Georgia"/>
                <a:cs typeface="Georgia"/>
              </a:rPr>
              <a:t>because</a:t>
            </a:r>
            <a:r>
              <a:rPr sz="1100" spc="25" dirty="0">
                <a:latin typeface="Georgia"/>
                <a:cs typeface="Georgia"/>
              </a:rPr>
              <a:t> </a:t>
            </a:r>
            <a:r>
              <a:rPr sz="1100" spc="-20" dirty="0">
                <a:latin typeface="Georgia"/>
                <a:cs typeface="Georgia"/>
              </a:rPr>
              <a:t>such</a:t>
            </a:r>
            <a:r>
              <a:rPr sz="1100" spc="30" dirty="0">
                <a:latin typeface="Georgia"/>
                <a:cs typeface="Georgia"/>
              </a:rPr>
              <a:t> </a:t>
            </a:r>
            <a:r>
              <a:rPr sz="1100" dirty="0">
                <a:latin typeface="Georgia"/>
                <a:cs typeface="Georgia"/>
              </a:rPr>
              <a:t>objects</a:t>
            </a:r>
            <a:r>
              <a:rPr sz="1100" spc="25" dirty="0">
                <a:latin typeface="Georgia"/>
                <a:cs typeface="Georgia"/>
              </a:rPr>
              <a:t> </a:t>
            </a:r>
            <a:r>
              <a:rPr sz="1100" dirty="0">
                <a:latin typeface="Georgia"/>
                <a:cs typeface="Georgia"/>
              </a:rPr>
              <a:t>are</a:t>
            </a:r>
            <a:r>
              <a:rPr sz="1100" spc="30" dirty="0">
                <a:latin typeface="Georgia"/>
                <a:cs typeface="Georgia"/>
              </a:rPr>
              <a:t> </a:t>
            </a:r>
            <a:r>
              <a:rPr sz="1100" dirty="0">
                <a:latin typeface="Georgia"/>
                <a:cs typeface="Georgia"/>
              </a:rPr>
              <a:t>far</a:t>
            </a:r>
            <a:r>
              <a:rPr sz="1100" spc="30" dirty="0">
                <a:latin typeface="Georgia"/>
                <a:cs typeface="Georgia"/>
              </a:rPr>
              <a:t> </a:t>
            </a:r>
            <a:r>
              <a:rPr sz="1100" spc="-20" dirty="0">
                <a:latin typeface="Georgia"/>
                <a:cs typeface="Georgia"/>
              </a:rPr>
              <a:t>away </a:t>
            </a:r>
            <a:r>
              <a:rPr sz="1100" spc="-25" dirty="0">
                <a:latin typeface="Georgia"/>
                <a:cs typeface="Georgia"/>
              </a:rPr>
              <a:t>from</a:t>
            </a:r>
            <a:r>
              <a:rPr sz="1100" spc="25" dirty="0">
                <a:latin typeface="Georgia"/>
                <a:cs typeface="Georgia"/>
              </a:rPr>
              <a:t> </a:t>
            </a:r>
            <a:r>
              <a:rPr sz="1100" dirty="0">
                <a:latin typeface="Georgia"/>
                <a:cs typeface="Georgia"/>
              </a:rPr>
              <a:t>the</a:t>
            </a:r>
            <a:r>
              <a:rPr sz="1100" spc="30" dirty="0">
                <a:latin typeface="Georgia"/>
                <a:cs typeface="Georgia"/>
              </a:rPr>
              <a:t> </a:t>
            </a:r>
            <a:r>
              <a:rPr sz="1100" dirty="0">
                <a:latin typeface="Georgia"/>
                <a:cs typeface="Georgia"/>
              </a:rPr>
              <a:t>majority</a:t>
            </a:r>
            <a:r>
              <a:rPr sz="1100" spc="30" dirty="0">
                <a:latin typeface="Georgia"/>
                <a:cs typeface="Georgia"/>
              </a:rPr>
              <a:t> </a:t>
            </a:r>
            <a:r>
              <a:rPr sz="1100" dirty="0">
                <a:latin typeface="Georgia"/>
                <a:cs typeface="Georgia"/>
              </a:rPr>
              <a:t>of</a:t>
            </a:r>
            <a:r>
              <a:rPr sz="1100" spc="30" dirty="0">
                <a:latin typeface="Georgia"/>
                <a:cs typeface="Georgia"/>
              </a:rPr>
              <a:t> </a:t>
            </a:r>
            <a:r>
              <a:rPr sz="1100" dirty="0">
                <a:latin typeface="Georgia"/>
                <a:cs typeface="Georgia"/>
              </a:rPr>
              <a:t>the</a:t>
            </a:r>
            <a:r>
              <a:rPr sz="1100" spc="30" dirty="0">
                <a:latin typeface="Georgia"/>
                <a:cs typeface="Georgia"/>
              </a:rPr>
              <a:t> </a:t>
            </a:r>
            <a:r>
              <a:rPr sz="1100" dirty="0">
                <a:latin typeface="Georgia"/>
                <a:cs typeface="Georgia"/>
              </a:rPr>
              <a:t>data,</a:t>
            </a:r>
            <a:r>
              <a:rPr sz="1100" spc="30" dirty="0">
                <a:latin typeface="Georgia"/>
                <a:cs typeface="Georgia"/>
              </a:rPr>
              <a:t> </a:t>
            </a:r>
            <a:r>
              <a:rPr sz="1100" dirty="0">
                <a:latin typeface="Georgia"/>
                <a:cs typeface="Georgia"/>
              </a:rPr>
              <a:t>and</a:t>
            </a:r>
            <a:r>
              <a:rPr sz="1100" spc="30" dirty="0">
                <a:latin typeface="Georgia"/>
                <a:cs typeface="Georgia"/>
              </a:rPr>
              <a:t> </a:t>
            </a:r>
            <a:r>
              <a:rPr sz="1100" dirty="0">
                <a:latin typeface="Georgia"/>
                <a:cs typeface="Georgia"/>
              </a:rPr>
              <a:t>thus,</a:t>
            </a:r>
            <a:r>
              <a:rPr sz="1100" spc="30" dirty="0">
                <a:latin typeface="Georgia"/>
                <a:cs typeface="Georgia"/>
              </a:rPr>
              <a:t> </a:t>
            </a:r>
            <a:r>
              <a:rPr sz="1100" spc="-20" dirty="0">
                <a:latin typeface="Georgia"/>
                <a:cs typeface="Georgia"/>
              </a:rPr>
              <a:t>when</a:t>
            </a:r>
            <a:r>
              <a:rPr sz="1100" spc="30" dirty="0">
                <a:latin typeface="Georgia"/>
                <a:cs typeface="Georgia"/>
              </a:rPr>
              <a:t> </a:t>
            </a:r>
            <a:r>
              <a:rPr sz="1100" spc="-30" dirty="0">
                <a:latin typeface="Georgia"/>
                <a:cs typeface="Georgia"/>
              </a:rPr>
              <a:t>assigned</a:t>
            </a:r>
            <a:r>
              <a:rPr sz="1100" spc="30" dirty="0">
                <a:latin typeface="Georgia"/>
                <a:cs typeface="Georgia"/>
              </a:rPr>
              <a:t> </a:t>
            </a:r>
            <a:r>
              <a:rPr sz="1100" dirty="0">
                <a:latin typeface="Georgia"/>
                <a:cs typeface="Georgia"/>
              </a:rPr>
              <a:t>to</a:t>
            </a:r>
            <a:r>
              <a:rPr sz="1100" spc="30" dirty="0">
                <a:latin typeface="Georgia"/>
                <a:cs typeface="Georgia"/>
              </a:rPr>
              <a:t> </a:t>
            </a:r>
            <a:r>
              <a:rPr sz="1100" dirty="0">
                <a:latin typeface="Georgia"/>
                <a:cs typeface="Georgia"/>
              </a:rPr>
              <a:t>a</a:t>
            </a:r>
            <a:r>
              <a:rPr sz="1100" spc="30" dirty="0">
                <a:latin typeface="Georgia"/>
                <a:cs typeface="Georgia"/>
              </a:rPr>
              <a:t> </a:t>
            </a:r>
            <a:r>
              <a:rPr sz="1100" spc="-10" dirty="0">
                <a:latin typeface="Georgia"/>
                <a:cs typeface="Georgia"/>
              </a:rPr>
              <a:t>cluster,</a:t>
            </a:r>
            <a:r>
              <a:rPr sz="1100" spc="30" dirty="0">
                <a:latin typeface="Georgia"/>
                <a:cs typeface="Georgia"/>
              </a:rPr>
              <a:t> </a:t>
            </a:r>
            <a:r>
              <a:rPr sz="1100" dirty="0">
                <a:latin typeface="Georgia"/>
                <a:cs typeface="Georgia"/>
              </a:rPr>
              <a:t>they</a:t>
            </a:r>
            <a:r>
              <a:rPr sz="1100" spc="30" dirty="0">
                <a:latin typeface="Georgia"/>
                <a:cs typeface="Georgia"/>
              </a:rPr>
              <a:t> </a:t>
            </a:r>
            <a:r>
              <a:rPr sz="1100" spc="-25" dirty="0">
                <a:latin typeface="Georgia"/>
                <a:cs typeface="Georgia"/>
              </a:rPr>
              <a:t>can </a:t>
            </a:r>
            <a:r>
              <a:rPr sz="1100" spc="-10" dirty="0">
                <a:latin typeface="Georgia"/>
                <a:cs typeface="Georgia"/>
              </a:rPr>
              <a:t>dramatically</a:t>
            </a:r>
            <a:r>
              <a:rPr sz="1100" spc="20" dirty="0">
                <a:latin typeface="Georgia"/>
                <a:cs typeface="Georgia"/>
              </a:rPr>
              <a:t> </a:t>
            </a:r>
            <a:r>
              <a:rPr sz="1100" dirty="0">
                <a:latin typeface="Georgia"/>
                <a:cs typeface="Georgia"/>
              </a:rPr>
              <a:t>distort</a:t>
            </a:r>
            <a:r>
              <a:rPr sz="1100" spc="25" dirty="0">
                <a:latin typeface="Georgia"/>
                <a:cs typeface="Georgia"/>
              </a:rPr>
              <a:t> </a:t>
            </a:r>
            <a:r>
              <a:rPr sz="1100" dirty="0">
                <a:latin typeface="Georgia"/>
                <a:cs typeface="Georgia"/>
              </a:rPr>
              <a:t>the</a:t>
            </a:r>
            <a:r>
              <a:rPr sz="1100" spc="25" dirty="0">
                <a:latin typeface="Georgia"/>
                <a:cs typeface="Georgia"/>
              </a:rPr>
              <a:t> </a:t>
            </a:r>
            <a:r>
              <a:rPr sz="1100" spc="-25" dirty="0">
                <a:latin typeface="Georgia"/>
                <a:cs typeface="Georgia"/>
              </a:rPr>
              <a:t>mean</a:t>
            </a:r>
            <a:r>
              <a:rPr sz="1100" spc="25" dirty="0">
                <a:latin typeface="Georgia"/>
                <a:cs typeface="Georgia"/>
              </a:rPr>
              <a:t> </a:t>
            </a:r>
            <a:r>
              <a:rPr sz="1100" spc="-10" dirty="0">
                <a:latin typeface="Georgia"/>
                <a:cs typeface="Georgia"/>
              </a:rPr>
              <a:t>value</a:t>
            </a:r>
            <a:r>
              <a:rPr sz="1100" spc="20" dirty="0">
                <a:latin typeface="Georgia"/>
                <a:cs typeface="Georgia"/>
              </a:rPr>
              <a:t> </a:t>
            </a:r>
            <a:r>
              <a:rPr sz="1100" dirty="0">
                <a:latin typeface="Georgia"/>
                <a:cs typeface="Georgia"/>
              </a:rPr>
              <a:t>of</a:t>
            </a:r>
            <a:r>
              <a:rPr sz="1100" spc="25"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cluster.</a:t>
            </a:r>
            <a:r>
              <a:rPr sz="1100" spc="114" dirty="0">
                <a:latin typeface="Georgia"/>
                <a:cs typeface="Georgia"/>
              </a:rPr>
              <a:t> </a:t>
            </a:r>
            <a:r>
              <a:rPr sz="1100" dirty="0">
                <a:latin typeface="Georgia"/>
                <a:cs typeface="Georgia"/>
              </a:rPr>
              <a:t>This</a:t>
            </a:r>
            <a:r>
              <a:rPr sz="1100" spc="25" dirty="0">
                <a:latin typeface="Georgia"/>
                <a:cs typeface="Georgia"/>
              </a:rPr>
              <a:t> </a:t>
            </a:r>
            <a:r>
              <a:rPr sz="1100" spc="-20" dirty="0">
                <a:latin typeface="Georgia"/>
                <a:cs typeface="Georgia"/>
              </a:rPr>
              <a:t>inadvertently</a:t>
            </a:r>
            <a:r>
              <a:rPr sz="1100" spc="25" dirty="0">
                <a:latin typeface="Georgia"/>
                <a:cs typeface="Georgia"/>
              </a:rPr>
              <a:t> </a:t>
            </a:r>
            <a:r>
              <a:rPr sz="1100" spc="-10" dirty="0">
                <a:latin typeface="Georgia"/>
                <a:cs typeface="Georgia"/>
              </a:rPr>
              <a:t>affects</a:t>
            </a:r>
            <a:r>
              <a:rPr sz="1100" spc="20" dirty="0">
                <a:latin typeface="Georgia"/>
                <a:cs typeface="Georgia"/>
              </a:rPr>
              <a:t> </a:t>
            </a:r>
            <a:r>
              <a:rPr sz="1100" spc="-25" dirty="0">
                <a:latin typeface="Georgia"/>
                <a:cs typeface="Georgia"/>
              </a:rPr>
              <a:t>the </a:t>
            </a:r>
            <a:r>
              <a:rPr sz="1100" spc="-35" dirty="0">
                <a:latin typeface="Georgia"/>
                <a:cs typeface="Georgia"/>
              </a:rPr>
              <a:t>assignment</a:t>
            </a:r>
            <a:r>
              <a:rPr sz="1100" spc="20" dirty="0">
                <a:latin typeface="Georgia"/>
                <a:cs typeface="Georgia"/>
              </a:rPr>
              <a:t> </a:t>
            </a:r>
            <a:r>
              <a:rPr sz="1100" dirty="0">
                <a:latin typeface="Georgia"/>
                <a:cs typeface="Georgia"/>
              </a:rPr>
              <a:t>of</a:t>
            </a:r>
            <a:r>
              <a:rPr sz="1100" spc="25" dirty="0">
                <a:latin typeface="Georgia"/>
                <a:cs typeface="Georgia"/>
              </a:rPr>
              <a:t> </a:t>
            </a:r>
            <a:r>
              <a:rPr sz="1100" spc="-10" dirty="0">
                <a:latin typeface="Georgia"/>
                <a:cs typeface="Georgia"/>
              </a:rPr>
              <a:t>other</a:t>
            </a:r>
            <a:r>
              <a:rPr sz="1100" spc="25" dirty="0">
                <a:latin typeface="Georgia"/>
                <a:cs typeface="Georgia"/>
              </a:rPr>
              <a:t> </a:t>
            </a:r>
            <a:r>
              <a:rPr sz="1100" dirty="0">
                <a:latin typeface="Georgia"/>
                <a:cs typeface="Georgia"/>
              </a:rPr>
              <a:t>objects</a:t>
            </a:r>
            <a:r>
              <a:rPr sz="1100" spc="25" dirty="0">
                <a:latin typeface="Georgia"/>
                <a:cs typeface="Georgia"/>
              </a:rPr>
              <a:t> </a:t>
            </a:r>
            <a:r>
              <a:rPr sz="1100" dirty="0">
                <a:latin typeface="Georgia"/>
                <a:cs typeface="Georgia"/>
              </a:rPr>
              <a:t>to</a:t>
            </a:r>
            <a:r>
              <a:rPr sz="1100" spc="25" dirty="0">
                <a:latin typeface="Georgia"/>
                <a:cs typeface="Georgia"/>
              </a:rPr>
              <a:t> </a:t>
            </a:r>
            <a:r>
              <a:rPr sz="1100" spc="-10" dirty="0">
                <a:latin typeface="Georgia"/>
                <a:cs typeface="Georgia"/>
              </a:rPr>
              <a:t>clusters.</a:t>
            </a:r>
            <a:r>
              <a:rPr sz="1100" spc="114" dirty="0">
                <a:latin typeface="Georgia"/>
                <a:cs typeface="Georgia"/>
              </a:rPr>
              <a:t> </a:t>
            </a:r>
            <a:r>
              <a:rPr sz="1100" dirty="0">
                <a:latin typeface="Georgia"/>
                <a:cs typeface="Georgia"/>
              </a:rPr>
              <a:t>This</a:t>
            </a:r>
            <a:r>
              <a:rPr sz="1100" spc="25" dirty="0">
                <a:latin typeface="Georgia"/>
                <a:cs typeface="Georgia"/>
              </a:rPr>
              <a:t> </a:t>
            </a:r>
            <a:r>
              <a:rPr sz="1100" spc="-20" dirty="0">
                <a:latin typeface="Georgia"/>
                <a:cs typeface="Georgia"/>
              </a:rPr>
              <a:t>effect</a:t>
            </a:r>
            <a:r>
              <a:rPr sz="1100" spc="25" dirty="0">
                <a:latin typeface="Georgia"/>
                <a:cs typeface="Georgia"/>
              </a:rPr>
              <a:t> </a:t>
            </a:r>
            <a:r>
              <a:rPr sz="1100" dirty="0">
                <a:latin typeface="Georgia"/>
                <a:cs typeface="Georgia"/>
              </a:rPr>
              <a:t>is</a:t>
            </a:r>
            <a:r>
              <a:rPr sz="1100" spc="25" dirty="0">
                <a:latin typeface="Georgia"/>
                <a:cs typeface="Georgia"/>
              </a:rPr>
              <a:t> </a:t>
            </a:r>
            <a:r>
              <a:rPr sz="1100" spc="-30" dirty="0">
                <a:latin typeface="Georgia"/>
                <a:cs typeface="Georgia"/>
              </a:rPr>
              <a:t>more</a:t>
            </a:r>
            <a:r>
              <a:rPr sz="1100" spc="25" dirty="0">
                <a:latin typeface="Georgia"/>
                <a:cs typeface="Georgia"/>
              </a:rPr>
              <a:t> </a:t>
            </a:r>
            <a:r>
              <a:rPr sz="1100" spc="-25" dirty="0">
                <a:latin typeface="Georgia"/>
                <a:cs typeface="Georgia"/>
              </a:rPr>
              <a:t>serious</a:t>
            </a:r>
            <a:r>
              <a:rPr sz="1100" spc="25" dirty="0">
                <a:latin typeface="Georgia"/>
                <a:cs typeface="Georgia"/>
              </a:rPr>
              <a:t> </a:t>
            </a:r>
            <a:r>
              <a:rPr sz="1100" spc="-10" dirty="0">
                <a:latin typeface="Georgia"/>
                <a:cs typeface="Georgia"/>
              </a:rPr>
              <a:t>due</a:t>
            </a:r>
            <a:r>
              <a:rPr sz="1100" spc="25" dirty="0">
                <a:latin typeface="Georgia"/>
                <a:cs typeface="Georgia"/>
              </a:rPr>
              <a:t> </a:t>
            </a:r>
            <a:r>
              <a:rPr sz="1100" dirty="0">
                <a:latin typeface="Georgia"/>
                <a:cs typeface="Georgia"/>
              </a:rPr>
              <a:t>to</a:t>
            </a:r>
            <a:r>
              <a:rPr sz="1100" spc="20"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use</a:t>
            </a:r>
            <a:r>
              <a:rPr sz="1100" spc="25" dirty="0">
                <a:latin typeface="Georgia"/>
                <a:cs typeface="Georgia"/>
              </a:rPr>
              <a:t> </a:t>
            </a:r>
            <a:r>
              <a:rPr sz="1100" spc="-25" dirty="0">
                <a:latin typeface="Georgia"/>
                <a:cs typeface="Georgia"/>
              </a:rPr>
              <a:t>of </a:t>
            </a:r>
            <a:r>
              <a:rPr sz="1100" dirty="0">
                <a:latin typeface="Georgia"/>
                <a:cs typeface="Georgia"/>
              </a:rPr>
              <a:t>the</a:t>
            </a:r>
            <a:r>
              <a:rPr sz="1100" spc="70" dirty="0">
                <a:latin typeface="Georgia"/>
                <a:cs typeface="Georgia"/>
              </a:rPr>
              <a:t> </a:t>
            </a:r>
            <a:r>
              <a:rPr sz="1100" i="1" dirty="0">
                <a:latin typeface="Palatino Linotype"/>
                <a:cs typeface="Palatino Linotype"/>
              </a:rPr>
              <a:t>squared</a:t>
            </a:r>
            <a:r>
              <a:rPr sz="1100" i="1" spc="85" dirty="0">
                <a:latin typeface="Palatino Linotype"/>
                <a:cs typeface="Palatino Linotype"/>
              </a:rPr>
              <a:t> </a:t>
            </a:r>
            <a:r>
              <a:rPr sz="1100" i="1" spc="-10" dirty="0">
                <a:latin typeface="Palatino Linotype"/>
                <a:cs typeface="Palatino Linotype"/>
              </a:rPr>
              <a:t>error</a:t>
            </a:r>
            <a:r>
              <a:rPr sz="1100" spc="-10" dirty="0">
                <a:latin typeface="Georgia"/>
                <a:cs typeface="Georgia"/>
              </a:rPr>
              <a:t>.</a:t>
            </a:r>
            <a:endParaRPr sz="1100">
              <a:latin typeface="Georgia"/>
              <a:cs typeface="Georgia"/>
            </a:endParaRPr>
          </a:p>
          <a:p>
            <a:pPr marL="25400">
              <a:lnSpc>
                <a:spcPct val="100000"/>
              </a:lnSpc>
              <a:spcBef>
                <a:spcPts val="160"/>
              </a:spcBef>
            </a:pPr>
            <a:r>
              <a:rPr sz="1100" spc="-10" dirty="0">
                <a:latin typeface="Georgia"/>
                <a:cs typeface="Georgia"/>
              </a:rPr>
              <a:t>Example:</a:t>
            </a:r>
            <a:r>
              <a:rPr sz="1100" spc="40" dirty="0">
                <a:latin typeface="Georgia"/>
                <a:cs typeface="Georgia"/>
              </a:rPr>
              <a:t> </a:t>
            </a:r>
            <a:r>
              <a:rPr sz="1100" spc="-30" dirty="0">
                <a:latin typeface="Georgia"/>
                <a:cs typeface="Georgia"/>
              </a:rPr>
              <a:t>consider</a:t>
            </a:r>
            <a:r>
              <a:rPr sz="1100" spc="10" dirty="0">
                <a:latin typeface="Georgia"/>
                <a:cs typeface="Georgia"/>
              </a:rPr>
              <a:t> </a:t>
            </a:r>
            <a:r>
              <a:rPr sz="1100" dirty="0">
                <a:latin typeface="Georgia"/>
                <a:cs typeface="Georgia"/>
              </a:rPr>
              <a:t>7</a:t>
            </a:r>
            <a:r>
              <a:rPr sz="1100" spc="50" dirty="0">
                <a:latin typeface="Georgia"/>
                <a:cs typeface="Georgia"/>
              </a:rPr>
              <a:t> </a:t>
            </a:r>
            <a:r>
              <a:rPr sz="1100" dirty="0">
                <a:latin typeface="Georgia"/>
                <a:cs typeface="Georgia"/>
              </a:rPr>
              <a:t>data</a:t>
            </a:r>
            <a:r>
              <a:rPr sz="1100" spc="45" dirty="0">
                <a:latin typeface="Georgia"/>
                <a:cs typeface="Georgia"/>
              </a:rPr>
              <a:t> </a:t>
            </a:r>
            <a:r>
              <a:rPr sz="1100" spc="-10" dirty="0">
                <a:latin typeface="Georgia"/>
                <a:cs typeface="Georgia"/>
              </a:rPr>
              <a:t>points</a:t>
            </a:r>
            <a:r>
              <a:rPr sz="1100" spc="50" dirty="0">
                <a:latin typeface="Georgia"/>
                <a:cs typeface="Georgia"/>
              </a:rPr>
              <a:t> </a:t>
            </a:r>
            <a:r>
              <a:rPr sz="1100" dirty="0">
                <a:latin typeface="Georgia"/>
                <a:cs typeface="Georgia"/>
              </a:rPr>
              <a:t>in</a:t>
            </a:r>
            <a:r>
              <a:rPr sz="1100" spc="50" dirty="0">
                <a:latin typeface="Georgia"/>
                <a:cs typeface="Georgia"/>
              </a:rPr>
              <a:t> </a:t>
            </a:r>
            <a:r>
              <a:rPr sz="1100" dirty="0">
                <a:latin typeface="Georgia"/>
                <a:cs typeface="Georgia"/>
              </a:rPr>
              <a:t>the</a:t>
            </a:r>
            <a:r>
              <a:rPr sz="1100" spc="45" dirty="0">
                <a:latin typeface="Georgia"/>
                <a:cs typeface="Georgia"/>
              </a:rPr>
              <a:t> </a:t>
            </a:r>
            <a:r>
              <a:rPr sz="1100" spc="-45" dirty="0">
                <a:latin typeface="Calibri"/>
                <a:cs typeface="Calibri"/>
              </a:rPr>
              <a:t>1</a:t>
            </a:r>
            <a:r>
              <a:rPr sz="1100" spc="-45" dirty="0">
                <a:latin typeface="Georgia"/>
                <a:cs typeface="Georgia"/>
              </a:rPr>
              <a:t>–d</a:t>
            </a:r>
            <a:r>
              <a:rPr sz="1100" spc="50" dirty="0">
                <a:latin typeface="Georgia"/>
                <a:cs typeface="Georgia"/>
              </a:rPr>
              <a:t> </a:t>
            </a:r>
            <a:r>
              <a:rPr sz="1100" spc="-10" dirty="0">
                <a:latin typeface="Georgia"/>
                <a:cs typeface="Georgia"/>
              </a:rPr>
              <a:t>space:</a:t>
            </a:r>
            <a:r>
              <a:rPr sz="1100" spc="145" dirty="0">
                <a:latin typeface="Georgia"/>
                <a:cs typeface="Georgia"/>
              </a:rPr>
              <a:t> </a:t>
            </a:r>
            <a:r>
              <a:rPr sz="1100" spc="-10" dirty="0">
                <a:latin typeface="Calibri"/>
                <a:cs typeface="Calibri"/>
              </a:rPr>
              <a:t>1</a:t>
            </a:r>
            <a:r>
              <a:rPr sz="1100" i="1" spc="-10" dirty="0">
                <a:latin typeface="Calibri"/>
                <a:cs typeface="Calibri"/>
              </a:rPr>
              <a:t>,</a:t>
            </a:r>
            <a:r>
              <a:rPr sz="1100" i="1" spc="-70" dirty="0">
                <a:latin typeface="Calibri"/>
                <a:cs typeface="Calibri"/>
              </a:rPr>
              <a:t> </a:t>
            </a:r>
            <a:r>
              <a:rPr sz="1100" dirty="0">
                <a:latin typeface="Calibri"/>
                <a:cs typeface="Calibri"/>
              </a:rPr>
              <a:t>2</a:t>
            </a:r>
            <a:r>
              <a:rPr sz="1100" i="1" dirty="0">
                <a:latin typeface="Calibri"/>
                <a:cs typeface="Calibri"/>
              </a:rPr>
              <a:t>,</a:t>
            </a:r>
            <a:r>
              <a:rPr sz="1100" i="1" spc="-70" dirty="0">
                <a:latin typeface="Calibri"/>
                <a:cs typeface="Calibri"/>
              </a:rPr>
              <a:t> </a:t>
            </a:r>
            <a:r>
              <a:rPr sz="1100" dirty="0">
                <a:latin typeface="Calibri"/>
                <a:cs typeface="Calibri"/>
              </a:rPr>
              <a:t>3</a:t>
            </a:r>
            <a:r>
              <a:rPr sz="1100" i="1" dirty="0">
                <a:latin typeface="Calibri"/>
                <a:cs typeface="Calibri"/>
              </a:rPr>
              <a:t>,</a:t>
            </a:r>
            <a:r>
              <a:rPr sz="1100" i="1" spc="-70" dirty="0">
                <a:latin typeface="Calibri"/>
                <a:cs typeface="Calibri"/>
              </a:rPr>
              <a:t> </a:t>
            </a:r>
            <a:r>
              <a:rPr sz="1100" dirty="0">
                <a:latin typeface="Calibri"/>
                <a:cs typeface="Calibri"/>
              </a:rPr>
              <a:t>8</a:t>
            </a:r>
            <a:r>
              <a:rPr sz="1100" i="1" dirty="0">
                <a:latin typeface="Calibri"/>
                <a:cs typeface="Calibri"/>
              </a:rPr>
              <a:t>,</a:t>
            </a:r>
            <a:r>
              <a:rPr sz="1100" i="1" spc="-70" dirty="0">
                <a:latin typeface="Calibri"/>
                <a:cs typeface="Calibri"/>
              </a:rPr>
              <a:t> </a:t>
            </a:r>
            <a:r>
              <a:rPr sz="1100" dirty="0">
                <a:latin typeface="Calibri"/>
                <a:cs typeface="Calibri"/>
              </a:rPr>
              <a:t>9</a:t>
            </a:r>
            <a:r>
              <a:rPr sz="1100" i="1" dirty="0">
                <a:latin typeface="Calibri"/>
                <a:cs typeface="Calibri"/>
              </a:rPr>
              <a:t>,</a:t>
            </a:r>
            <a:r>
              <a:rPr sz="1100" i="1" spc="-70" dirty="0">
                <a:latin typeface="Calibri"/>
                <a:cs typeface="Calibri"/>
              </a:rPr>
              <a:t> </a:t>
            </a:r>
            <a:r>
              <a:rPr sz="1100" spc="-10" dirty="0">
                <a:latin typeface="Calibri"/>
                <a:cs typeface="Calibri"/>
              </a:rPr>
              <a:t>10</a:t>
            </a:r>
            <a:r>
              <a:rPr sz="1100" i="1" spc="-10" dirty="0">
                <a:latin typeface="Calibri"/>
                <a:cs typeface="Calibri"/>
              </a:rPr>
              <a:t>,</a:t>
            </a:r>
            <a:r>
              <a:rPr sz="1100" i="1" spc="-70" dirty="0">
                <a:latin typeface="Calibri"/>
                <a:cs typeface="Calibri"/>
              </a:rPr>
              <a:t> </a:t>
            </a:r>
            <a:r>
              <a:rPr sz="1100" dirty="0">
                <a:latin typeface="Calibri"/>
                <a:cs typeface="Calibri"/>
              </a:rPr>
              <a:t>25</a:t>
            </a:r>
            <a:r>
              <a:rPr sz="1100" dirty="0">
                <a:latin typeface="Georgia"/>
                <a:cs typeface="Georgia"/>
              </a:rPr>
              <a:t>,</a:t>
            </a:r>
            <a:r>
              <a:rPr sz="1100" spc="50" dirty="0">
                <a:latin typeface="Georgia"/>
                <a:cs typeface="Georgia"/>
              </a:rPr>
              <a:t> </a:t>
            </a:r>
            <a:r>
              <a:rPr sz="1100" dirty="0">
                <a:latin typeface="Georgia"/>
                <a:cs typeface="Georgia"/>
              </a:rPr>
              <a:t>with</a:t>
            </a:r>
            <a:r>
              <a:rPr sz="1100" spc="50" dirty="0">
                <a:latin typeface="Georgia"/>
                <a:cs typeface="Georgia"/>
              </a:rPr>
              <a:t> </a:t>
            </a:r>
            <a:r>
              <a:rPr sz="1100" i="1" spc="65" dirty="0">
                <a:latin typeface="Calibri"/>
                <a:cs typeface="Calibri"/>
              </a:rPr>
              <a:t>k</a:t>
            </a:r>
            <a:r>
              <a:rPr sz="1100" i="1" spc="40" dirty="0">
                <a:latin typeface="Calibri"/>
                <a:cs typeface="Calibri"/>
              </a:rPr>
              <a:t> </a:t>
            </a:r>
            <a:r>
              <a:rPr sz="1100" spc="295" dirty="0">
                <a:latin typeface="Calibri"/>
                <a:cs typeface="Calibri"/>
              </a:rPr>
              <a:t>=</a:t>
            </a:r>
            <a:r>
              <a:rPr sz="1100" spc="15" dirty="0">
                <a:latin typeface="Calibri"/>
                <a:cs typeface="Calibri"/>
              </a:rPr>
              <a:t> </a:t>
            </a:r>
            <a:r>
              <a:rPr sz="1100" spc="-25" dirty="0">
                <a:latin typeface="Calibri"/>
                <a:cs typeface="Calibri"/>
              </a:rPr>
              <a:t>2</a:t>
            </a:r>
            <a:r>
              <a:rPr sz="1100" spc="-25" dirty="0">
                <a:latin typeface="Georgia"/>
                <a:cs typeface="Georgia"/>
              </a:rPr>
              <a:t>.</a:t>
            </a:r>
            <a:endParaRPr sz="1100">
              <a:latin typeface="Georgia"/>
              <a:cs typeface="Georgia"/>
            </a:endParaRPr>
          </a:p>
          <a:p>
            <a:pPr marL="302260">
              <a:lnSpc>
                <a:spcPts val="1110"/>
              </a:lnSpc>
              <a:spcBef>
                <a:spcPts val="110"/>
              </a:spcBef>
            </a:pPr>
            <a:r>
              <a:rPr sz="1000" spc="-10" dirty="0">
                <a:latin typeface="Georgia"/>
                <a:cs typeface="Georgia"/>
              </a:rPr>
              <a:t>Intuitively,</a:t>
            </a:r>
            <a:r>
              <a:rPr sz="1000" spc="5" dirty="0">
                <a:latin typeface="Georgia"/>
                <a:cs typeface="Georgia"/>
              </a:rPr>
              <a:t> </a:t>
            </a:r>
            <a:r>
              <a:rPr sz="1000" dirty="0">
                <a:latin typeface="Georgia"/>
                <a:cs typeface="Georgia"/>
              </a:rPr>
              <a:t>by</a:t>
            </a:r>
            <a:r>
              <a:rPr sz="1000" spc="5" dirty="0">
                <a:latin typeface="Georgia"/>
                <a:cs typeface="Georgia"/>
              </a:rPr>
              <a:t> </a:t>
            </a:r>
            <a:r>
              <a:rPr sz="1000" dirty="0">
                <a:latin typeface="Georgia"/>
                <a:cs typeface="Georgia"/>
              </a:rPr>
              <a:t>visual </a:t>
            </a:r>
            <a:r>
              <a:rPr sz="1000" spc="-20" dirty="0">
                <a:latin typeface="Georgia"/>
                <a:cs typeface="Georgia"/>
              </a:rPr>
              <a:t>inspection</a:t>
            </a:r>
            <a:r>
              <a:rPr sz="1000" spc="5" dirty="0">
                <a:latin typeface="Georgia"/>
                <a:cs typeface="Georgia"/>
              </a:rPr>
              <a:t> </a:t>
            </a:r>
            <a:r>
              <a:rPr sz="1000" dirty="0">
                <a:latin typeface="Georgia"/>
                <a:cs typeface="Georgia"/>
              </a:rPr>
              <a:t>we</a:t>
            </a:r>
            <a:r>
              <a:rPr sz="1000" spc="5" dirty="0">
                <a:latin typeface="Georgia"/>
                <a:cs typeface="Georgia"/>
              </a:rPr>
              <a:t> </a:t>
            </a:r>
            <a:r>
              <a:rPr sz="1000" dirty="0">
                <a:latin typeface="Georgia"/>
                <a:cs typeface="Georgia"/>
              </a:rPr>
              <a:t>may </a:t>
            </a:r>
            <a:r>
              <a:rPr sz="1000" spc="-20" dirty="0">
                <a:latin typeface="Georgia"/>
                <a:cs typeface="Georgia"/>
              </a:rPr>
              <a:t>imagine</a:t>
            </a:r>
            <a:r>
              <a:rPr sz="1000" spc="5" dirty="0">
                <a:latin typeface="Georgia"/>
                <a:cs typeface="Georgia"/>
              </a:rPr>
              <a:t> </a:t>
            </a:r>
            <a:r>
              <a:rPr sz="1000" dirty="0">
                <a:latin typeface="Georgia"/>
                <a:cs typeface="Georgia"/>
              </a:rPr>
              <a:t>the</a:t>
            </a:r>
            <a:r>
              <a:rPr sz="1000" spc="5" dirty="0">
                <a:latin typeface="Georgia"/>
                <a:cs typeface="Georgia"/>
              </a:rPr>
              <a:t> </a:t>
            </a:r>
            <a:r>
              <a:rPr sz="1000" spc="-10" dirty="0">
                <a:latin typeface="Georgia"/>
                <a:cs typeface="Georgia"/>
              </a:rPr>
              <a:t>points</a:t>
            </a:r>
            <a:r>
              <a:rPr sz="1000" dirty="0">
                <a:latin typeface="Georgia"/>
                <a:cs typeface="Georgia"/>
              </a:rPr>
              <a:t> </a:t>
            </a:r>
            <a:r>
              <a:rPr sz="1000" spc="-10" dirty="0">
                <a:latin typeface="Georgia"/>
                <a:cs typeface="Georgia"/>
              </a:rPr>
              <a:t>partitioned</a:t>
            </a:r>
            <a:r>
              <a:rPr sz="1000" spc="5" dirty="0">
                <a:latin typeface="Georgia"/>
                <a:cs typeface="Georgia"/>
              </a:rPr>
              <a:t> </a:t>
            </a:r>
            <a:r>
              <a:rPr sz="1000" dirty="0">
                <a:latin typeface="Georgia"/>
                <a:cs typeface="Georgia"/>
              </a:rPr>
              <a:t>into</a:t>
            </a:r>
            <a:r>
              <a:rPr sz="1000" spc="5" dirty="0">
                <a:latin typeface="Georgia"/>
                <a:cs typeface="Georgia"/>
              </a:rPr>
              <a:t> </a:t>
            </a:r>
            <a:r>
              <a:rPr sz="1000" dirty="0">
                <a:latin typeface="Georgia"/>
                <a:cs typeface="Georgia"/>
              </a:rPr>
              <a:t>the </a:t>
            </a:r>
            <a:r>
              <a:rPr sz="1000" spc="-10" dirty="0">
                <a:latin typeface="Georgia"/>
                <a:cs typeface="Georgia"/>
              </a:rPr>
              <a:t>clusters</a:t>
            </a:r>
            <a:endParaRPr sz="1000">
              <a:latin typeface="Georgia"/>
              <a:cs typeface="Georgia"/>
            </a:endParaRPr>
          </a:p>
          <a:p>
            <a:pPr marL="302260" marR="81915">
              <a:lnSpc>
                <a:spcPts val="1019"/>
              </a:lnSpc>
              <a:spcBef>
                <a:spcPts val="95"/>
              </a:spcBef>
            </a:pPr>
            <a:r>
              <a:rPr sz="1000" dirty="0">
                <a:latin typeface="Cambria"/>
                <a:cs typeface="Cambria"/>
              </a:rPr>
              <a:t>{</a:t>
            </a:r>
            <a:r>
              <a:rPr sz="1000" dirty="0">
                <a:latin typeface="Calibri"/>
                <a:cs typeface="Calibri"/>
              </a:rPr>
              <a:t>1</a:t>
            </a:r>
            <a:r>
              <a:rPr sz="1000" i="1" dirty="0">
                <a:latin typeface="Calibri"/>
                <a:cs typeface="Calibri"/>
              </a:rPr>
              <a:t>,</a:t>
            </a:r>
            <a:r>
              <a:rPr sz="1000" i="1" spc="-60" dirty="0">
                <a:latin typeface="Calibri"/>
                <a:cs typeface="Calibri"/>
              </a:rPr>
              <a:t> </a:t>
            </a:r>
            <a:r>
              <a:rPr sz="1000" dirty="0">
                <a:latin typeface="Calibri"/>
                <a:cs typeface="Calibri"/>
              </a:rPr>
              <a:t>2</a:t>
            </a:r>
            <a:r>
              <a:rPr sz="1000" i="1" dirty="0">
                <a:latin typeface="Calibri"/>
                <a:cs typeface="Calibri"/>
              </a:rPr>
              <a:t>,</a:t>
            </a:r>
            <a:r>
              <a:rPr sz="1000" i="1" spc="-60" dirty="0">
                <a:latin typeface="Calibri"/>
                <a:cs typeface="Calibri"/>
              </a:rPr>
              <a:t> </a:t>
            </a:r>
            <a:r>
              <a:rPr sz="1000" dirty="0">
                <a:latin typeface="Calibri"/>
                <a:cs typeface="Calibri"/>
              </a:rPr>
              <a:t>3</a:t>
            </a:r>
            <a:r>
              <a:rPr sz="1000" dirty="0">
                <a:latin typeface="Cambria"/>
                <a:cs typeface="Cambria"/>
              </a:rPr>
              <a:t>}</a:t>
            </a:r>
            <a:r>
              <a:rPr sz="1000" spc="55" dirty="0">
                <a:latin typeface="Cambria"/>
                <a:cs typeface="Cambria"/>
              </a:rPr>
              <a:t> </a:t>
            </a:r>
            <a:r>
              <a:rPr sz="1000" dirty="0">
                <a:latin typeface="Georgia"/>
                <a:cs typeface="Georgia"/>
              </a:rPr>
              <a:t>and</a:t>
            </a:r>
            <a:r>
              <a:rPr sz="1000" spc="70" dirty="0">
                <a:latin typeface="Georgia"/>
                <a:cs typeface="Georgia"/>
              </a:rPr>
              <a:t> </a:t>
            </a:r>
            <a:r>
              <a:rPr sz="1000" dirty="0">
                <a:latin typeface="Cambria"/>
                <a:cs typeface="Cambria"/>
              </a:rPr>
              <a:t>{</a:t>
            </a:r>
            <a:r>
              <a:rPr sz="1000" dirty="0">
                <a:latin typeface="Calibri"/>
                <a:cs typeface="Calibri"/>
              </a:rPr>
              <a:t>8</a:t>
            </a:r>
            <a:r>
              <a:rPr sz="1000" i="1" dirty="0">
                <a:latin typeface="Calibri"/>
                <a:cs typeface="Calibri"/>
              </a:rPr>
              <a:t>,</a:t>
            </a:r>
            <a:r>
              <a:rPr sz="1000" i="1" spc="-60" dirty="0">
                <a:latin typeface="Calibri"/>
                <a:cs typeface="Calibri"/>
              </a:rPr>
              <a:t> </a:t>
            </a:r>
            <a:r>
              <a:rPr sz="1000" dirty="0">
                <a:latin typeface="Calibri"/>
                <a:cs typeface="Calibri"/>
              </a:rPr>
              <a:t>9</a:t>
            </a:r>
            <a:r>
              <a:rPr sz="1000" i="1" dirty="0">
                <a:latin typeface="Calibri"/>
                <a:cs typeface="Calibri"/>
              </a:rPr>
              <a:t>,</a:t>
            </a:r>
            <a:r>
              <a:rPr sz="1000" i="1" spc="-60" dirty="0">
                <a:latin typeface="Calibri"/>
                <a:cs typeface="Calibri"/>
              </a:rPr>
              <a:t> </a:t>
            </a:r>
            <a:r>
              <a:rPr sz="1000" dirty="0">
                <a:latin typeface="Calibri"/>
                <a:cs typeface="Calibri"/>
              </a:rPr>
              <a:t>10</a:t>
            </a:r>
            <a:r>
              <a:rPr sz="1000" dirty="0">
                <a:latin typeface="Cambria"/>
                <a:cs typeface="Cambria"/>
              </a:rPr>
              <a:t>}</a:t>
            </a:r>
            <a:r>
              <a:rPr sz="1000" dirty="0">
                <a:latin typeface="Georgia"/>
                <a:cs typeface="Georgia"/>
              </a:rPr>
              <a:t>,</a:t>
            </a:r>
            <a:r>
              <a:rPr sz="1000" spc="70" dirty="0">
                <a:latin typeface="Georgia"/>
                <a:cs typeface="Georgia"/>
              </a:rPr>
              <a:t> </a:t>
            </a:r>
            <a:r>
              <a:rPr sz="1000" spc="-20" dirty="0">
                <a:latin typeface="Georgia"/>
                <a:cs typeface="Georgia"/>
              </a:rPr>
              <a:t>where</a:t>
            </a:r>
            <a:r>
              <a:rPr sz="1000" spc="70" dirty="0">
                <a:latin typeface="Georgia"/>
                <a:cs typeface="Georgia"/>
              </a:rPr>
              <a:t> </a:t>
            </a:r>
            <a:r>
              <a:rPr sz="1000" dirty="0">
                <a:latin typeface="Georgia"/>
                <a:cs typeface="Georgia"/>
              </a:rPr>
              <a:t>point</a:t>
            </a:r>
            <a:r>
              <a:rPr sz="1000" spc="75" dirty="0">
                <a:latin typeface="Georgia"/>
                <a:cs typeface="Georgia"/>
              </a:rPr>
              <a:t> </a:t>
            </a:r>
            <a:r>
              <a:rPr sz="1000" dirty="0">
                <a:latin typeface="Calibri"/>
                <a:cs typeface="Calibri"/>
              </a:rPr>
              <a:t>25</a:t>
            </a:r>
            <a:r>
              <a:rPr sz="1000" spc="85" dirty="0">
                <a:latin typeface="Calibri"/>
                <a:cs typeface="Calibri"/>
              </a:rPr>
              <a:t> </a:t>
            </a:r>
            <a:r>
              <a:rPr sz="1000" dirty="0">
                <a:latin typeface="Georgia"/>
                <a:cs typeface="Georgia"/>
              </a:rPr>
              <a:t>is</a:t>
            </a:r>
            <a:r>
              <a:rPr sz="1000" spc="70" dirty="0">
                <a:latin typeface="Georgia"/>
                <a:cs typeface="Georgia"/>
              </a:rPr>
              <a:t> </a:t>
            </a:r>
            <a:r>
              <a:rPr sz="1000" spc="-10" dirty="0">
                <a:latin typeface="Georgia"/>
                <a:cs typeface="Georgia"/>
              </a:rPr>
              <a:t>excluded</a:t>
            </a:r>
            <a:r>
              <a:rPr sz="1000" spc="70" dirty="0">
                <a:latin typeface="Georgia"/>
                <a:cs typeface="Georgia"/>
              </a:rPr>
              <a:t> </a:t>
            </a:r>
            <a:r>
              <a:rPr sz="1000" spc="-10" dirty="0">
                <a:latin typeface="Georgia"/>
                <a:cs typeface="Georgia"/>
              </a:rPr>
              <a:t>because</a:t>
            </a:r>
            <a:r>
              <a:rPr sz="1000" spc="70" dirty="0">
                <a:latin typeface="Georgia"/>
                <a:cs typeface="Georgia"/>
              </a:rPr>
              <a:t> </a:t>
            </a:r>
            <a:r>
              <a:rPr sz="1000" dirty="0">
                <a:latin typeface="Georgia"/>
                <a:cs typeface="Georgia"/>
              </a:rPr>
              <a:t>it</a:t>
            </a:r>
            <a:r>
              <a:rPr sz="1000" spc="75" dirty="0">
                <a:latin typeface="Georgia"/>
                <a:cs typeface="Georgia"/>
              </a:rPr>
              <a:t> </a:t>
            </a:r>
            <a:r>
              <a:rPr sz="1000" spc="-10" dirty="0">
                <a:latin typeface="Georgia"/>
                <a:cs typeface="Georgia"/>
              </a:rPr>
              <a:t>appears</a:t>
            </a:r>
            <a:r>
              <a:rPr sz="1000" spc="70" dirty="0">
                <a:latin typeface="Georgia"/>
                <a:cs typeface="Georgia"/>
              </a:rPr>
              <a:t> </a:t>
            </a:r>
            <a:r>
              <a:rPr sz="1000" dirty="0">
                <a:latin typeface="Georgia"/>
                <a:cs typeface="Georgia"/>
              </a:rPr>
              <a:t>to</a:t>
            </a:r>
            <a:r>
              <a:rPr sz="1000" spc="70" dirty="0">
                <a:latin typeface="Georgia"/>
                <a:cs typeface="Georgia"/>
              </a:rPr>
              <a:t> </a:t>
            </a:r>
            <a:r>
              <a:rPr sz="1000" dirty="0">
                <a:latin typeface="Georgia"/>
                <a:cs typeface="Georgia"/>
              </a:rPr>
              <a:t>be</a:t>
            </a:r>
            <a:r>
              <a:rPr sz="1000" spc="70" dirty="0">
                <a:latin typeface="Georgia"/>
                <a:cs typeface="Georgia"/>
              </a:rPr>
              <a:t> </a:t>
            </a:r>
            <a:r>
              <a:rPr sz="1000" dirty="0">
                <a:latin typeface="Georgia"/>
                <a:cs typeface="Georgia"/>
              </a:rPr>
              <a:t>an</a:t>
            </a:r>
            <a:r>
              <a:rPr sz="1000" spc="70" dirty="0">
                <a:latin typeface="Georgia"/>
                <a:cs typeface="Georgia"/>
              </a:rPr>
              <a:t> </a:t>
            </a:r>
            <a:r>
              <a:rPr sz="1000" spc="-10" dirty="0">
                <a:latin typeface="Georgia"/>
                <a:cs typeface="Georgia"/>
              </a:rPr>
              <a:t>outlier. </a:t>
            </a:r>
            <a:r>
              <a:rPr sz="1000" spc="-25" dirty="0">
                <a:latin typeface="Georgia"/>
                <a:cs typeface="Georgia"/>
              </a:rPr>
              <a:t>How</a:t>
            </a:r>
            <a:r>
              <a:rPr sz="1000" spc="35" dirty="0">
                <a:latin typeface="Georgia"/>
                <a:cs typeface="Georgia"/>
              </a:rPr>
              <a:t> </a:t>
            </a:r>
            <a:r>
              <a:rPr sz="1000" spc="-10" dirty="0">
                <a:latin typeface="Georgia"/>
                <a:cs typeface="Georgia"/>
              </a:rPr>
              <a:t>would</a:t>
            </a:r>
            <a:r>
              <a:rPr sz="1000" spc="40" dirty="0">
                <a:latin typeface="Georgia"/>
                <a:cs typeface="Georgia"/>
              </a:rPr>
              <a:t> </a:t>
            </a:r>
            <a:r>
              <a:rPr sz="1000" i="1" spc="-25" dirty="0">
                <a:latin typeface="Calibri"/>
                <a:cs typeface="Calibri"/>
              </a:rPr>
              <a:t>k</a:t>
            </a:r>
            <a:r>
              <a:rPr sz="1000" spc="-25" dirty="0">
                <a:latin typeface="Georgia"/>
                <a:cs typeface="Georgia"/>
              </a:rPr>
              <a:t>–means</a:t>
            </a:r>
            <a:r>
              <a:rPr sz="1000" spc="35" dirty="0">
                <a:latin typeface="Georgia"/>
                <a:cs typeface="Georgia"/>
              </a:rPr>
              <a:t> </a:t>
            </a:r>
            <a:r>
              <a:rPr sz="1000" spc="-10" dirty="0">
                <a:latin typeface="Georgia"/>
                <a:cs typeface="Georgia"/>
              </a:rPr>
              <a:t>partition</a:t>
            </a:r>
            <a:r>
              <a:rPr sz="1000" spc="40" dirty="0">
                <a:latin typeface="Georgia"/>
                <a:cs typeface="Georgia"/>
              </a:rPr>
              <a:t> </a:t>
            </a:r>
            <a:r>
              <a:rPr sz="1000" dirty="0">
                <a:latin typeface="Georgia"/>
                <a:cs typeface="Georgia"/>
              </a:rPr>
              <a:t>the</a:t>
            </a:r>
            <a:r>
              <a:rPr sz="1000" spc="40" dirty="0">
                <a:latin typeface="Georgia"/>
                <a:cs typeface="Georgia"/>
              </a:rPr>
              <a:t> </a:t>
            </a:r>
            <a:r>
              <a:rPr sz="1000" spc="-20" dirty="0">
                <a:latin typeface="Georgia"/>
                <a:cs typeface="Georgia"/>
              </a:rPr>
              <a:t>values</a:t>
            </a:r>
            <a:r>
              <a:rPr sz="1000" spc="35" dirty="0">
                <a:latin typeface="Georgia"/>
                <a:cs typeface="Georgia"/>
              </a:rPr>
              <a:t> </a:t>
            </a:r>
            <a:r>
              <a:rPr sz="1000" dirty="0">
                <a:latin typeface="Georgia"/>
                <a:cs typeface="Georgia"/>
              </a:rPr>
              <a:t>with</a:t>
            </a:r>
            <a:r>
              <a:rPr sz="1000" spc="40" dirty="0">
                <a:latin typeface="Georgia"/>
                <a:cs typeface="Georgia"/>
              </a:rPr>
              <a:t> </a:t>
            </a:r>
            <a:r>
              <a:rPr sz="1000" i="1" spc="65" dirty="0">
                <a:latin typeface="Calibri"/>
                <a:cs typeface="Calibri"/>
              </a:rPr>
              <a:t>k</a:t>
            </a:r>
            <a:r>
              <a:rPr sz="1000" i="1" spc="30" dirty="0">
                <a:latin typeface="Calibri"/>
                <a:cs typeface="Calibri"/>
              </a:rPr>
              <a:t> </a:t>
            </a:r>
            <a:r>
              <a:rPr sz="1000" spc="270" dirty="0">
                <a:latin typeface="Calibri"/>
                <a:cs typeface="Calibri"/>
              </a:rPr>
              <a:t>=</a:t>
            </a:r>
            <a:r>
              <a:rPr sz="1000" spc="10" dirty="0">
                <a:latin typeface="Calibri"/>
                <a:cs typeface="Calibri"/>
              </a:rPr>
              <a:t> </a:t>
            </a:r>
            <a:r>
              <a:rPr sz="1000" spc="-25" dirty="0">
                <a:latin typeface="Calibri"/>
                <a:cs typeface="Calibri"/>
              </a:rPr>
              <a:t>2</a:t>
            </a:r>
            <a:r>
              <a:rPr sz="1000" spc="-25" dirty="0">
                <a:latin typeface="Georgia"/>
                <a:cs typeface="Georgia"/>
              </a:rPr>
              <a:t>?</a:t>
            </a:r>
            <a:endParaRPr sz="1000">
              <a:latin typeface="Georgia"/>
              <a:cs typeface="Georgia"/>
            </a:endParaRPr>
          </a:p>
          <a:p>
            <a:pPr marL="302260">
              <a:lnSpc>
                <a:spcPct val="100000"/>
              </a:lnSpc>
              <a:spcBef>
                <a:spcPts val="90"/>
              </a:spcBef>
            </a:pPr>
            <a:r>
              <a:rPr sz="1000" dirty="0">
                <a:latin typeface="Georgia"/>
                <a:cs typeface="Georgia"/>
              </a:rPr>
              <a:t>Solution1:</a:t>
            </a:r>
            <a:r>
              <a:rPr sz="1000" spc="155" dirty="0">
                <a:latin typeface="Georgia"/>
                <a:cs typeface="Georgia"/>
              </a:rPr>
              <a:t> </a:t>
            </a:r>
            <a:r>
              <a:rPr sz="1000" dirty="0">
                <a:latin typeface="Cambria"/>
                <a:cs typeface="Cambria"/>
              </a:rPr>
              <a:t>{</a:t>
            </a:r>
            <a:r>
              <a:rPr sz="1000" dirty="0">
                <a:latin typeface="Calibri"/>
                <a:cs typeface="Calibri"/>
              </a:rPr>
              <a:t>1</a:t>
            </a:r>
            <a:r>
              <a:rPr sz="1000" i="1" dirty="0">
                <a:latin typeface="Calibri"/>
                <a:cs typeface="Calibri"/>
              </a:rPr>
              <a:t>,</a:t>
            </a:r>
            <a:r>
              <a:rPr sz="1000" i="1" spc="-60" dirty="0">
                <a:latin typeface="Calibri"/>
                <a:cs typeface="Calibri"/>
              </a:rPr>
              <a:t> </a:t>
            </a:r>
            <a:r>
              <a:rPr sz="1000" dirty="0">
                <a:latin typeface="Calibri"/>
                <a:cs typeface="Calibri"/>
              </a:rPr>
              <a:t>2</a:t>
            </a:r>
            <a:r>
              <a:rPr sz="1000" i="1" dirty="0">
                <a:latin typeface="Calibri"/>
                <a:cs typeface="Calibri"/>
              </a:rPr>
              <a:t>,</a:t>
            </a:r>
            <a:r>
              <a:rPr sz="1000" i="1" spc="-60" dirty="0">
                <a:latin typeface="Calibri"/>
                <a:cs typeface="Calibri"/>
              </a:rPr>
              <a:t> </a:t>
            </a:r>
            <a:r>
              <a:rPr sz="1000" dirty="0">
                <a:latin typeface="Calibri"/>
                <a:cs typeface="Calibri"/>
              </a:rPr>
              <a:t>3</a:t>
            </a:r>
            <a:r>
              <a:rPr sz="1000" dirty="0">
                <a:latin typeface="Cambria"/>
                <a:cs typeface="Cambria"/>
              </a:rPr>
              <a:t>}</a:t>
            </a:r>
            <a:r>
              <a:rPr sz="1000" spc="105" dirty="0">
                <a:latin typeface="Cambria"/>
                <a:cs typeface="Cambria"/>
              </a:rPr>
              <a:t> </a:t>
            </a:r>
            <a:r>
              <a:rPr sz="1000" dirty="0">
                <a:latin typeface="Georgia"/>
                <a:cs typeface="Georgia"/>
              </a:rPr>
              <a:t>with</a:t>
            </a:r>
            <a:r>
              <a:rPr sz="1000" spc="80" dirty="0">
                <a:latin typeface="Georgia"/>
                <a:cs typeface="Georgia"/>
              </a:rPr>
              <a:t> </a:t>
            </a:r>
            <a:r>
              <a:rPr sz="1000" spc="-10" dirty="0">
                <a:latin typeface="Georgia"/>
                <a:cs typeface="Georgia"/>
              </a:rPr>
              <a:t>mean</a:t>
            </a:r>
            <a:r>
              <a:rPr sz="1000" spc="80" dirty="0">
                <a:latin typeface="Georgia"/>
                <a:cs typeface="Georgia"/>
              </a:rPr>
              <a:t> </a:t>
            </a:r>
            <a:r>
              <a:rPr sz="1000" spc="175" dirty="0">
                <a:latin typeface="Calibri"/>
                <a:cs typeface="Calibri"/>
              </a:rPr>
              <a:t>=</a:t>
            </a:r>
            <a:r>
              <a:rPr sz="1000" spc="-5" dirty="0">
                <a:latin typeface="Calibri"/>
                <a:cs typeface="Calibri"/>
              </a:rPr>
              <a:t> </a:t>
            </a:r>
            <a:r>
              <a:rPr sz="1000" spc="125" dirty="0">
                <a:latin typeface="Calibri"/>
                <a:cs typeface="Calibri"/>
              </a:rPr>
              <a:t>2</a:t>
            </a:r>
            <a:r>
              <a:rPr sz="1000" spc="95" dirty="0">
                <a:latin typeface="Calibri"/>
                <a:cs typeface="Calibri"/>
              </a:rPr>
              <a:t> </a:t>
            </a:r>
            <a:r>
              <a:rPr sz="1000" dirty="0">
                <a:latin typeface="Georgia"/>
                <a:cs typeface="Georgia"/>
              </a:rPr>
              <a:t>and</a:t>
            </a:r>
            <a:r>
              <a:rPr sz="1000" spc="80" dirty="0">
                <a:latin typeface="Georgia"/>
                <a:cs typeface="Georgia"/>
              </a:rPr>
              <a:t> </a:t>
            </a:r>
            <a:r>
              <a:rPr sz="1000" dirty="0">
                <a:latin typeface="Cambria"/>
                <a:cs typeface="Cambria"/>
              </a:rPr>
              <a:t>{</a:t>
            </a:r>
            <a:r>
              <a:rPr sz="1000" dirty="0">
                <a:latin typeface="Calibri"/>
                <a:cs typeface="Calibri"/>
              </a:rPr>
              <a:t>8</a:t>
            </a:r>
            <a:r>
              <a:rPr sz="1000" i="1" dirty="0">
                <a:latin typeface="Calibri"/>
                <a:cs typeface="Calibri"/>
              </a:rPr>
              <a:t>,</a:t>
            </a:r>
            <a:r>
              <a:rPr sz="1000" i="1" spc="-60" dirty="0">
                <a:latin typeface="Calibri"/>
                <a:cs typeface="Calibri"/>
              </a:rPr>
              <a:t> </a:t>
            </a:r>
            <a:r>
              <a:rPr sz="1000" dirty="0">
                <a:latin typeface="Calibri"/>
                <a:cs typeface="Calibri"/>
              </a:rPr>
              <a:t>9</a:t>
            </a:r>
            <a:r>
              <a:rPr sz="1000" i="1" dirty="0">
                <a:latin typeface="Calibri"/>
                <a:cs typeface="Calibri"/>
              </a:rPr>
              <a:t>,</a:t>
            </a:r>
            <a:r>
              <a:rPr sz="1000" i="1" spc="-60" dirty="0">
                <a:latin typeface="Calibri"/>
                <a:cs typeface="Calibri"/>
              </a:rPr>
              <a:t> </a:t>
            </a:r>
            <a:r>
              <a:rPr sz="1000" spc="-10" dirty="0">
                <a:latin typeface="Calibri"/>
                <a:cs typeface="Calibri"/>
              </a:rPr>
              <a:t>10</a:t>
            </a:r>
            <a:r>
              <a:rPr sz="1000" i="1" spc="-10" dirty="0">
                <a:latin typeface="Calibri"/>
                <a:cs typeface="Calibri"/>
              </a:rPr>
              <a:t>,</a:t>
            </a:r>
            <a:r>
              <a:rPr sz="1000" i="1" spc="-60" dirty="0">
                <a:latin typeface="Calibri"/>
                <a:cs typeface="Calibri"/>
              </a:rPr>
              <a:t> </a:t>
            </a:r>
            <a:r>
              <a:rPr sz="1000" dirty="0">
                <a:latin typeface="Calibri"/>
                <a:cs typeface="Calibri"/>
              </a:rPr>
              <a:t>25</a:t>
            </a:r>
            <a:r>
              <a:rPr sz="1000" dirty="0">
                <a:latin typeface="Cambria"/>
                <a:cs typeface="Cambria"/>
              </a:rPr>
              <a:t>}</a:t>
            </a:r>
            <a:r>
              <a:rPr sz="1000" spc="105" dirty="0">
                <a:latin typeface="Cambria"/>
                <a:cs typeface="Cambria"/>
              </a:rPr>
              <a:t> </a:t>
            </a:r>
            <a:r>
              <a:rPr sz="1000" dirty="0">
                <a:latin typeface="Georgia"/>
                <a:cs typeface="Georgia"/>
              </a:rPr>
              <a:t>with</a:t>
            </a:r>
            <a:r>
              <a:rPr sz="1000" spc="80" dirty="0">
                <a:latin typeface="Georgia"/>
                <a:cs typeface="Georgia"/>
              </a:rPr>
              <a:t> </a:t>
            </a:r>
            <a:r>
              <a:rPr sz="1000" spc="-10" dirty="0">
                <a:latin typeface="Georgia"/>
                <a:cs typeface="Georgia"/>
              </a:rPr>
              <a:t>mean</a:t>
            </a:r>
            <a:r>
              <a:rPr sz="1000" spc="80" dirty="0">
                <a:latin typeface="Georgia"/>
                <a:cs typeface="Georgia"/>
              </a:rPr>
              <a:t> </a:t>
            </a:r>
            <a:r>
              <a:rPr sz="1000" spc="270" dirty="0">
                <a:latin typeface="Calibri"/>
                <a:cs typeface="Calibri"/>
              </a:rPr>
              <a:t>=</a:t>
            </a:r>
            <a:r>
              <a:rPr sz="1000" spc="45" dirty="0">
                <a:latin typeface="Calibri"/>
                <a:cs typeface="Calibri"/>
              </a:rPr>
              <a:t> </a:t>
            </a:r>
            <a:r>
              <a:rPr sz="1000" dirty="0">
                <a:latin typeface="Calibri"/>
                <a:cs typeface="Calibri"/>
              </a:rPr>
              <a:t>13</a:t>
            </a:r>
            <a:r>
              <a:rPr sz="1000" dirty="0">
                <a:latin typeface="Georgia"/>
                <a:cs typeface="Georgia"/>
              </a:rPr>
              <a:t>.</a:t>
            </a:r>
            <a:r>
              <a:rPr sz="1000" spc="175" dirty="0">
                <a:latin typeface="Georgia"/>
                <a:cs typeface="Georgia"/>
              </a:rPr>
              <a:t> </a:t>
            </a:r>
            <a:r>
              <a:rPr sz="1000" dirty="0">
                <a:latin typeface="Georgia"/>
                <a:cs typeface="Georgia"/>
              </a:rPr>
              <a:t>The</a:t>
            </a:r>
            <a:r>
              <a:rPr sz="1000" spc="80" dirty="0">
                <a:latin typeface="Georgia"/>
                <a:cs typeface="Georgia"/>
              </a:rPr>
              <a:t> </a:t>
            </a:r>
            <a:r>
              <a:rPr sz="1000" spc="-20" dirty="0">
                <a:latin typeface="Georgia"/>
                <a:cs typeface="Georgia"/>
              </a:rPr>
              <a:t>error</a:t>
            </a:r>
            <a:r>
              <a:rPr sz="1000" spc="80" dirty="0">
                <a:latin typeface="Georgia"/>
                <a:cs typeface="Georgia"/>
              </a:rPr>
              <a:t> </a:t>
            </a:r>
            <a:r>
              <a:rPr sz="1000" spc="-25" dirty="0">
                <a:latin typeface="Georgia"/>
                <a:cs typeface="Georgia"/>
              </a:rPr>
              <a:t>is:</a:t>
            </a:r>
            <a:endParaRPr sz="1000">
              <a:latin typeface="Georgia"/>
              <a:cs typeface="Georgia"/>
            </a:endParaRPr>
          </a:p>
          <a:p>
            <a:pPr marL="276860" algn="ctr">
              <a:lnSpc>
                <a:spcPct val="100000"/>
              </a:lnSpc>
              <a:spcBef>
                <a:spcPts val="830"/>
              </a:spcBef>
            </a:pPr>
            <a:r>
              <a:rPr sz="1000" dirty="0">
                <a:latin typeface="Calibri"/>
                <a:cs typeface="Calibri"/>
              </a:rPr>
              <a:t>(1</a:t>
            </a:r>
            <a:r>
              <a:rPr sz="1000" spc="15" dirty="0">
                <a:latin typeface="Calibri"/>
                <a:cs typeface="Calibri"/>
              </a:rPr>
              <a:t> </a:t>
            </a:r>
            <a:r>
              <a:rPr sz="1000" spc="-229" dirty="0">
                <a:latin typeface="Lucida Sans Unicode"/>
                <a:cs typeface="Lucida Sans Unicode"/>
              </a:rPr>
              <a:t>—</a:t>
            </a:r>
            <a:r>
              <a:rPr sz="1000" spc="-70" dirty="0">
                <a:latin typeface="Lucida Sans Unicode"/>
                <a:cs typeface="Lucida Sans Unicode"/>
              </a:rPr>
              <a:t> </a:t>
            </a:r>
            <a:r>
              <a:rPr sz="1000" dirty="0">
                <a:latin typeface="Calibri"/>
                <a:cs typeface="Calibri"/>
              </a:rPr>
              <a:t>2)</a:t>
            </a:r>
            <a:r>
              <a:rPr sz="1050" baseline="31746" dirty="0">
                <a:latin typeface="Sitka Text"/>
                <a:cs typeface="Sitka Text"/>
              </a:rPr>
              <a:t>2</a:t>
            </a:r>
            <a:r>
              <a:rPr sz="1050" spc="150" baseline="31746" dirty="0">
                <a:latin typeface="Sitka Text"/>
                <a:cs typeface="Sitka Text"/>
              </a:rPr>
              <a:t> </a:t>
            </a:r>
            <a:r>
              <a:rPr sz="1000" spc="270" dirty="0">
                <a:latin typeface="Calibri"/>
                <a:cs typeface="Calibri"/>
              </a:rPr>
              <a:t>+</a:t>
            </a:r>
            <a:r>
              <a:rPr sz="1000" spc="20" dirty="0">
                <a:latin typeface="Calibri"/>
                <a:cs typeface="Calibri"/>
              </a:rPr>
              <a:t> </a:t>
            </a:r>
            <a:r>
              <a:rPr sz="1000" dirty="0">
                <a:latin typeface="Calibri"/>
                <a:cs typeface="Calibri"/>
              </a:rPr>
              <a:t>(2</a:t>
            </a:r>
            <a:r>
              <a:rPr sz="1000" spc="15" dirty="0">
                <a:latin typeface="Calibri"/>
                <a:cs typeface="Calibri"/>
              </a:rPr>
              <a:t> </a:t>
            </a:r>
            <a:r>
              <a:rPr sz="1000" spc="-229" dirty="0">
                <a:latin typeface="Lucida Sans Unicode"/>
                <a:cs typeface="Lucida Sans Unicode"/>
              </a:rPr>
              <a:t>—</a:t>
            </a:r>
            <a:r>
              <a:rPr sz="1000" spc="-70" dirty="0">
                <a:latin typeface="Lucida Sans Unicode"/>
                <a:cs typeface="Lucida Sans Unicode"/>
              </a:rPr>
              <a:t> </a:t>
            </a:r>
            <a:r>
              <a:rPr sz="1000" dirty="0">
                <a:latin typeface="Calibri"/>
                <a:cs typeface="Calibri"/>
              </a:rPr>
              <a:t>2)</a:t>
            </a:r>
            <a:r>
              <a:rPr sz="1050" baseline="31746" dirty="0">
                <a:latin typeface="Sitka Text"/>
                <a:cs typeface="Sitka Text"/>
              </a:rPr>
              <a:t>2</a:t>
            </a:r>
            <a:r>
              <a:rPr sz="1050" spc="150" baseline="31746" dirty="0">
                <a:latin typeface="Sitka Text"/>
                <a:cs typeface="Sitka Text"/>
              </a:rPr>
              <a:t> </a:t>
            </a:r>
            <a:r>
              <a:rPr sz="1000" spc="270" dirty="0">
                <a:latin typeface="Calibri"/>
                <a:cs typeface="Calibri"/>
              </a:rPr>
              <a:t>+</a:t>
            </a:r>
            <a:r>
              <a:rPr sz="1000" spc="20" dirty="0">
                <a:latin typeface="Calibri"/>
                <a:cs typeface="Calibri"/>
              </a:rPr>
              <a:t> </a:t>
            </a:r>
            <a:r>
              <a:rPr sz="1000" dirty="0">
                <a:latin typeface="Calibri"/>
                <a:cs typeface="Calibri"/>
              </a:rPr>
              <a:t>(3</a:t>
            </a:r>
            <a:r>
              <a:rPr sz="1000" spc="20" dirty="0">
                <a:latin typeface="Calibri"/>
                <a:cs typeface="Calibri"/>
              </a:rPr>
              <a:t> </a:t>
            </a:r>
            <a:r>
              <a:rPr sz="1000" spc="-229" dirty="0">
                <a:latin typeface="Lucida Sans Unicode"/>
                <a:cs typeface="Lucida Sans Unicode"/>
              </a:rPr>
              <a:t>—</a:t>
            </a:r>
            <a:r>
              <a:rPr sz="1000" spc="-75" dirty="0">
                <a:latin typeface="Lucida Sans Unicode"/>
                <a:cs typeface="Lucida Sans Unicode"/>
              </a:rPr>
              <a:t> </a:t>
            </a:r>
            <a:r>
              <a:rPr sz="1000" dirty="0">
                <a:latin typeface="Calibri"/>
                <a:cs typeface="Calibri"/>
              </a:rPr>
              <a:t>2)</a:t>
            </a:r>
            <a:r>
              <a:rPr sz="1050" baseline="31746" dirty="0">
                <a:latin typeface="Sitka Text"/>
                <a:cs typeface="Sitka Text"/>
              </a:rPr>
              <a:t>2</a:t>
            </a:r>
            <a:r>
              <a:rPr sz="1050" spc="150" baseline="31746" dirty="0">
                <a:latin typeface="Sitka Text"/>
                <a:cs typeface="Sitka Text"/>
              </a:rPr>
              <a:t> </a:t>
            </a:r>
            <a:r>
              <a:rPr sz="1000" spc="270" dirty="0">
                <a:latin typeface="Calibri"/>
                <a:cs typeface="Calibri"/>
              </a:rPr>
              <a:t>+</a:t>
            </a:r>
            <a:r>
              <a:rPr sz="1000" spc="20" dirty="0">
                <a:latin typeface="Calibri"/>
                <a:cs typeface="Calibri"/>
              </a:rPr>
              <a:t> </a:t>
            </a:r>
            <a:r>
              <a:rPr sz="1000" spc="65" dirty="0">
                <a:latin typeface="Cambria"/>
                <a:cs typeface="Cambria"/>
              </a:rPr>
              <a:t>··</a:t>
            </a:r>
            <a:r>
              <a:rPr sz="1000" spc="-35" dirty="0">
                <a:latin typeface="Cambria"/>
                <a:cs typeface="Cambria"/>
              </a:rPr>
              <a:t> </a:t>
            </a:r>
            <a:r>
              <a:rPr sz="1000" dirty="0">
                <a:latin typeface="Cambria"/>
                <a:cs typeface="Cambria"/>
              </a:rPr>
              <a:t>·</a:t>
            </a:r>
            <a:r>
              <a:rPr sz="1000" spc="20" dirty="0">
                <a:latin typeface="Cambria"/>
                <a:cs typeface="Cambria"/>
              </a:rPr>
              <a:t> </a:t>
            </a:r>
            <a:r>
              <a:rPr sz="1000" spc="270" dirty="0">
                <a:latin typeface="Calibri"/>
                <a:cs typeface="Calibri"/>
              </a:rPr>
              <a:t>+</a:t>
            </a:r>
            <a:r>
              <a:rPr sz="1000" spc="20" dirty="0">
                <a:latin typeface="Calibri"/>
                <a:cs typeface="Calibri"/>
              </a:rPr>
              <a:t> </a:t>
            </a:r>
            <a:r>
              <a:rPr sz="1000" dirty="0">
                <a:latin typeface="Calibri"/>
                <a:cs typeface="Calibri"/>
              </a:rPr>
              <a:t>(10</a:t>
            </a:r>
            <a:r>
              <a:rPr sz="1000" spc="20" dirty="0">
                <a:latin typeface="Calibri"/>
                <a:cs typeface="Calibri"/>
              </a:rPr>
              <a:t> </a:t>
            </a:r>
            <a:r>
              <a:rPr sz="1000" spc="-229" dirty="0">
                <a:latin typeface="Lucida Sans Unicode"/>
                <a:cs typeface="Lucida Sans Unicode"/>
              </a:rPr>
              <a:t>—</a:t>
            </a:r>
            <a:r>
              <a:rPr sz="1000" spc="-70" dirty="0">
                <a:latin typeface="Lucida Sans Unicode"/>
                <a:cs typeface="Lucida Sans Unicode"/>
              </a:rPr>
              <a:t> </a:t>
            </a:r>
            <a:r>
              <a:rPr sz="1000" dirty="0">
                <a:latin typeface="Calibri"/>
                <a:cs typeface="Calibri"/>
              </a:rPr>
              <a:t>13)</a:t>
            </a:r>
            <a:r>
              <a:rPr sz="1050" baseline="31746" dirty="0">
                <a:latin typeface="Sitka Text"/>
                <a:cs typeface="Sitka Text"/>
              </a:rPr>
              <a:t>2</a:t>
            </a:r>
            <a:r>
              <a:rPr sz="1050" spc="150" baseline="31746" dirty="0">
                <a:latin typeface="Sitka Text"/>
                <a:cs typeface="Sitka Text"/>
              </a:rPr>
              <a:t> </a:t>
            </a:r>
            <a:r>
              <a:rPr sz="1000" spc="270" dirty="0">
                <a:latin typeface="Calibri"/>
                <a:cs typeface="Calibri"/>
              </a:rPr>
              <a:t>+</a:t>
            </a:r>
            <a:r>
              <a:rPr sz="1000" spc="15" dirty="0">
                <a:latin typeface="Calibri"/>
                <a:cs typeface="Calibri"/>
              </a:rPr>
              <a:t> </a:t>
            </a:r>
            <a:r>
              <a:rPr sz="1000" dirty="0">
                <a:latin typeface="Calibri"/>
                <a:cs typeface="Calibri"/>
              </a:rPr>
              <a:t>(25</a:t>
            </a:r>
            <a:r>
              <a:rPr sz="1000" spc="20" dirty="0">
                <a:latin typeface="Calibri"/>
                <a:cs typeface="Calibri"/>
              </a:rPr>
              <a:t> </a:t>
            </a:r>
            <a:r>
              <a:rPr sz="1000" spc="-229" dirty="0">
                <a:latin typeface="Lucida Sans Unicode"/>
                <a:cs typeface="Lucida Sans Unicode"/>
              </a:rPr>
              <a:t>—</a:t>
            </a:r>
            <a:r>
              <a:rPr sz="1000" spc="-70" dirty="0">
                <a:latin typeface="Lucida Sans Unicode"/>
                <a:cs typeface="Lucida Sans Unicode"/>
              </a:rPr>
              <a:t> </a:t>
            </a:r>
            <a:r>
              <a:rPr sz="1000" dirty="0">
                <a:latin typeface="Calibri"/>
                <a:cs typeface="Calibri"/>
              </a:rPr>
              <a:t>13)</a:t>
            </a:r>
            <a:r>
              <a:rPr sz="1050" baseline="31746" dirty="0">
                <a:latin typeface="Sitka Text"/>
                <a:cs typeface="Sitka Text"/>
              </a:rPr>
              <a:t>2</a:t>
            </a:r>
            <a:r>
              <a:rPr sz="1050" spc="240" baseline="31746" dirty="0">
                <a:latin typeface="Sitka Text"/>
                <a:cs typeface="Sitka Text"/>
              </a:rPr>
              <a:t> </a:t>
            </a:r>
            <a:r>
              <a:rPr sz="1000" spc="270" dirty="0">
                <a:latin typeface="Calibri"/>
                <a:cs typeface="Calibri"/>
              </a:rPr>
              <a:t>=</a:t>
            </a:r>
            <a:r>
              <a:rPr sz="1000" spc="80" dirty="0">
                <a:latin typeface="Calibri"/>
                <a:cs typeface="Calibri"/>
              </a:rPr>
              <a:t> </a:t>
            </a:r>
            <a:r>
              <a:rPr sz="1000" spc="-25" dirty="0">
                <a:latin typeface="Calibri"/>
                <a:cs typeface="Calibri"/>
              </a:rPr>
              <a:t>196</a:t>
            </a:r>
            <a:endParaRPr sz="1000">
              <a:latin typeface="Calibri"/>
              <a:cs typeface="Calibri"/>
            </a:endParaRPr>
          </a:p>
          <a:p>
            <a:pPr marL="302260">
              <a:lnSpc>
                <a:spcPct val="100000"/>
              </a:lnSpc>
              <a:spcBef>
                <a:spcPts val="445"/>
              </a:spcBef>
            </a:pPr>
            <a:r>
              <a:rPr sz="1000" spc="-20" dirty="0">
                <a:latin typeface="Georgia"/>
                <a:cs typeface="Georgia"/>
              </a:rPr>
              <a:t>Solution2:</a:t>
            </a:r>
            <a:r>
              <a:rPr sz="1000" spc="160" dirty="0">
                <a:latin typeface="Georgia"/>
                <a:cs typeface="Georgia"/>
              </a:rPr>
              <a:t> </a:t>
            </a:r>
            <a:r>
              <a:rPr sz="1000" dirty="0">
                <a:latin typeface="Cambria"/>
                <a:cs typeface="Cambria"/>
              </a:rPr>
              <a:t>{</a:t>
            </a:r>
            <a:r>
              <a:rPr sz="1000" dirty="0">
                <a:latin typeface="Calibri"/>
                <a:cs typeface="Calibri"/>
              </a:rPr>
              <a:t>1</a:t>
            </a:r>
            <a:r>
              <a:rPr sz="1000" i="1" dirty="0">
                <a:latin typeface="Calibri"/>
                <a:cs typeface="Calibri"/>
              </a:rPr>
              <a:t>,</a:t>
            </a:r>
            <a:r>
              <a:rPr sz="1000" i="1" spc="-60" dirty="0">
                <a:latin typeface="Calibri"/>
                <a:cs typeface="Calibri"/>
              </a:rPr>
              <a:t> </a:t>
            </a:r>
            <a:r>
              <a:rPr sz="1000" dirty="0">
                <a:latin typeface="Calibri"/>
                <a:cs typeface="Calibri"/>
              </a:rPr>
              <a:t>2</a:t>
            </a:r>
            <a:r>
              <a:rPr sz="1000" i="1" dirty="0">
                <a:latin typeface="Calibri"/>
                <a:cs typeface="Calibri"/>
              </a:rPr>
              <a:t>,</a:t>
            </a:r>
            <a:r>
              <a:rPr sz="1000" i="1" spc="-60" dirty="0">
                <a:latin typeface="Calibri"/>
                <a:cs typeface="Calibri"/>
              </a:rPr>
              <a:t> </a:t>
            </a:r>
            <a:r>
              <a:rPr sz="1000" dirty="0">
                <a:latin typeface="Calibri"/>
                <a:cs typeface="Calibri"/>
              </a:rPr>
              <a:t>3</a:t>
            </a:r>
            <a:r>
              <a:rPr sz="1000" i="1" dirty="0">
                <a:latin typeface="Calibri"/>
                <a:cs typeface="Calibri"/>
              </a:rPr>
              <a:t>,</a:t>
            </a:r>
            <a:r>
              <a:rPr sz="1000" i="1" spc="-60" dirty="0">
                <a:latin typeface="Calibri"/>
                <a:cs typeface="Calibri"/>
              </a:rPr>
              <a:t> </a:t>
            </a:r>
            <a:r>
              <a:rPr sz="1000" dirty="0">
                <a:latin typeface="Calibri"/>
                <a:cs typeface="Calibri"/>
              </a:rPr>
              <a:t>8</a:t>
            </a:r>
            <a:r>
              <a:rPr sz="1000" dirty="0">
                <a:latin typeface="Cambria"/>
                <a:cs typeface="Cambria"/>
              </a:rPr>
              <a:t>}</a:t>
            </a:r>
            <a:r>
              <a:rPr sz="1000" spc="95" dirty="0">
                <a:latin typeface="Cambria"/>
                <a:cs typeface="Cambria"/>
              </a:rPr>
              <a:t> </a:t>
            </a:r>
            <a:r>
              <a:rPr sz="1000" dirty="0">
                <a:latin typeface="Georgia"/>
                <a:cs typeface="Georgia"/>
              </a:rPr>
              <a:t>with</a:t>
            </a:r>
            <a:r>
              <a:rPr sz="1000" spc="75" dirty="0">
                <a:latin typeface="Georgia"/>
                <a:cs typeface="Georgia"/>
              </a:rPr>
              <a:t> </a:t>
            </a:r>
            <a:r>
              <a:rPr sz="1000" spc="-10" dirty="0">
                <a:latin typeface="Georgia"/>
                <a:cs typeface="Georgia"/>
              </a:rPr>
              <a:t>mean</a:t>
            </a:r>
            <a:r>
              <a:rPr sz="1000" spc="75" dirty="0">
                <a:latin typeface="Georgia"/>
                <a:cs typeface="Georgia"/>
              </a:rPr>
              <a:t> </a:t>
            </a:r>
            <a:r>
              <a:rPr sz="1000" spc="270" dirty="0">
                <a:latin typeface="Calibri"/>
                <a:cs typeface="Calibri"/>
              </a:rPr>
              <a:t>=</a:t>
            </a:r>
            <a:r>
              <a:rPr sz="1000" spc="45" dirty="0">
                <a:latin typeface="Calibri"/>
                <a:cs typeface="Calibri"/>
              </a:rPr>
              <a:t> </a:t>
            </a:r>
            <a:r>
              <a:rPr sz="1000" dirty="0">
                <a:latin typeface="Calibri"/>
                <a:cs typeface="Calibri"/>
              </a:rPr>
              <a:t>3</a:t>
            </a:r>
            <a:r>
              <a:rPr sz="1000" i="1" dirty="0">
                <a:latin typeface="Calibri"/>
                <a:cs typeface="Calibri"/>
              </a:rPr>
              <a:t>.</a:t>
            </a:r>
            <a:r>
              <a:rPr sz="1000" dirty="0">
                <a:latin typeface="Calibri"/>
                <a:cs typeface="Calibri"/>
              </a:rPr>
              <a:t>5</a:t>
            </a:r>
            <a:r>
              <a:rPr sz="1000" spc="85" dirty="0">
                <a:latin typeface="Calibri"/>
                <a:cs typeface="Calibri"/>
              </a:rPr>
              <a:t> </a:t>
            </a:r>
            <a:r>
              <a:rPr sz="1000" dirty="0">
                <a:latin typeface="Georgia"/>
                <a:cs typeface="Georgia"/>
              </a:rPr>
              <a:t>and</a:t>
            </a:r>
            <a:r>
              <a:rPr sz="1000" spc="75" dirty="0">
                <a:latin typeface="Georgia"/>
                <a:cs typeface="Georgia"/>
              </a:rPr>
              <a:t> </a:t>
            </a:r>
            <a:r>
              <a:rPr sz="1000" dirty="0">
                <a:latin typeface="Cambria"/>
                <a:cs typeface="Cambria"/>
              </a:rPr>
              <a:t>{</a:t>
            </a:r>
            <a:r>
              <a:rPr sz="1000" dirty="0">
                <a:latin typeface="Calibri"/>
                <a:cs typeface="Calibri"/>
              </a:rPr>
              <a:t>9</a:t>
            </a:r>
            <a:r>
              <a:rPr sz="1000" i="1" dirty="0">
                <a:latin typeface="Calibri"/>
                <a:cs typeface="Calibri"/>
              </a:rPr>
              <a:t>,</a:t>
            </a:r>
            <a:r>
              <a:rPr sz="1000" i="1" spc="-60" dirty="0">
                <a:latin typeface="Calibri"/>
                <a:cs typeface="Calibri"/>
              </a:rPr>
              <a:t> </a:t>
            </a:r>
            <a:r>
              <a:rPr sz="1000" spc="-10" dirty="0">
                <a:latin typeface="Calibri"/>
                <a:cs typeface="Calibri"/>
              </a:rPr>
              <a:t>10</a:t>
            </a:r>
            <a:r>
              <a:rPr sz="1000" i="1" spc="-10" dirty="0">
                <a:latin typeface="Calibri"/>
                <a:cs typeface="Calibri"/>
              </a:rPr>
              <a:t>,</a:t>
            </a:r>
            <a:r>
              <a:rPr sz="1000" i="1" spc="-60" dirty="0">
                <a:latin typeface="Calibri"/>
                <a:cs typeface="Calibri"/>
              </a:rPr>
              <a:t> </a:t>
            </a:r>
            <a:r>
              <a:rPr sz="1000" dirty="0">
                <a:latin typeface="Calibri"/>
                <a:cs typeface="Calibri"/>
              </a:rPr>
              <a:t>25</a:t>
            </a:r>
            <a:r>
              <a:rPr sz="1000" dirty="0">
                <a:latin typeface="Cambria"/>
                <a:cs typeface="Cambria"/>
              </a:rPr>
              <a:t>}</a:t>
            </a:r>
            <a:r>
              <a:rPr sz="1000" spc="95" dirty="0">
                <a:latin typeface="Cambria"/>
                <a:cs typeface="Cambria"/>
              </a:rPr>
              <a:t> </a:t>
            </a:r>
            <a:r>
              <a:rPr sz="1000" dirty="0">
                <a:latin typeface="Georgia"/>
                <a:cs typeface="Georgia"/>
              </a:rPr>
              <a:t>with</a:t>
            </a:r>
            <a:r>
              <a:rPr sz="1000" spc="70" dirty="0">
                <a:latin typeface="Georgia"/>
                <a:cs typeface="Georgia"/>
              </a:rPr>
              <a:t> </a:t>
            </a:r>
            <a:r>
              <a:rPr sz="1000" spc="-10" dirty="0">
                <a:latin typeface="Georgia"/>
                <a:cs typeface="Georgia"/>
              </a:rPr>
              <a:t>mean</a:t>
            </a:r>
            <a:r>
              <a:rPr sz="1000" spc="75" dirty="0">
                <a:latin typeface="Georgia"/>
                <a:cs typeface="Georgia"/>
              </a:rPr>
              <a:t> </a:t>
            </a:r>
            <a:r>
              <a:rPr sz="1000" spc="270" dirty="0">
                <a:latin typeface="Calibri"/>
                <a:cs typeface="Calibri"/>
              </a:rPr>
              <a:t>=</a:t>
            </a:r>
            <a:r>
              <a:rPr sz="1000" spc="45" dirty="0">
                <a:latin typeface="Calibri"/>
                <a:cs typeface="Calibri"/>
              </a:rPr>
              <a:t> </a:t>
            </a:r>
            <a:r>
              <a:rPr sz="1000" dirty="0">
                <a:latin typeface="Calibri"/>
                <a:cs typeface="Calibri"/>
              </a:rPr>
              <a:t>14</a:t>
            </a:r>
            <a:r>
              <a:rPr sz="1000" i="1" dirty="0">
                <a:latin typeface="Calibri"/>
                <a:cs typeface="Calibri"/>
              </a:rPr>
              <a:t>.</a:t>
            </a:r>
            <a:r>
              <a:rPr sz="1000" dirty="0">
                <a:latin typeface="Calibri"/>
                <a:cs typeface="Calibri"/>
              </a:rPr>
              <a:t>67</a:t>
            </a:r>
            <a:r>
              <a:rPr sz="1000" dirty="0">
                <a:latin typeface="Georgia"/>
                <a:cs typeface="Georgia"/>
              </a:rPr>
              <a:t>.</a:t>
            </a:r>
            <a:r>
              <a:rPr sz="1000" spc="180" dirty="0">
                <a:latin typeface="Georgia"/>
                <a:cs typeface="Georgia"/>
              </a:rPr>
              <a:t> </a:t>
            </a:r>
            <a:r>
              <a:rPr sz="1000" dirty="0">
                <a:latin typeface="Georgia"/>
                <a:cs typeface="Georgia"/>
              </a:rPr>
              <a:t>The</a:t>
            </a:r>
            <a:r>
              <a:rPr sz="1000" spc="75" dirty="0">
                <a:latin typeface="Georgia"/>
                <a:cs typeface="Georgia"/>
              </a:rPr>
              <a:t> </a:t>
            </a:r>
            <a:r>
              <a:rPr sz="1000" spc="-20" dirty="0">
                <a:latin typeface="Georgia"/>
                <a:cs typeface="Georgia"/>
              </a:rPr>
              <a:t>error</a:t>
            </a:r>
            <a:r>
              <a:rPr sz="1000" spc="75" dirty="0">
                <a:latin typeface="Georgia"/>
                <a:cs typeface="Georgia"/>
              </a:rPr>
              <a:t> </a:t>
            </a:r>
            <a:r>
              <a:rPr sz="1000" spc="-25" dirty="0">
                <a:latin typeface="Georgia"/>
                <a:cs typeface="Georgia"/>
              </a:rPr>
              <a:t>is:</a:t>
            </a:r>
            <a:endParaRPr sz="1000">
              <a:latin typeface="Georgia"/>
              <a:cs typeface="Georgia"/>
            </a:endParaRPr>
          </a:p>
          <a:p>
            <a:pPr marL="276860" algn="ctr">
              <a:lnSpc>
                <a:spcPct val="100000"/>
              </a:lnSpc>
              <a:spcBef>
                <a:spcPts val="835"/>
              </a:spcBef>
            </a:pPr>
            <a:r>
              <a:rPr sz="1000" dirty="0">
                <a:latin typeface="Calibri"/>
                <a:cs typeface="Calibri"/>
              </a:rPr>
              <a:t>(1</a:t>
            </a:r>
            <a:r>
              <a:rPr sz="1000" spc="20" dirty="0">
                <a:latin typeface="Calibri"/>
                <a:cs typeface="Calibri"/>
              </a:rPr>
              <a:t> </a:t>
            </a:r>
            <a:r>
              <a:rPr sz="1000" spc="-229" dirty="0">
                <a:latin typeface="Lucida Sans Unicode"/>
                <a:cs typeface="Lucida Sans Unicode"/>
              </a:rPr>
              <a:t>—</a:t>
            </a:r>
            <a:r>
              <a:rPr sz="1000" spc="-65" dirty="0">
                <a:latin typeface="Lucida Sans Unicode"/>
                <a:cs typeface="Lucida Sans Unicode"/>
              </a:rPr>
              <a:t> </a:t>
            </a:r>
            <a:r>
              <a:rPr sz="1000" dirty="0">
                <a:latin typeface="Calibri"/>
                <a:cs typeface="Calibri"/>
              </a:rPr>
              <a:t>3</a:t>
            </a:r>
            <a:r>
              <a:rPr sz="1000" i="1" dirty="0">
                <a:latin typeface="Calibri"/>
                <a:cs typeface="Calibri"/>
              </a:rPr>
              <a:t>.</a:t>
            </a:r>
            <a:r>
              <a:rPr sz="1000" dirty="0">
                <a:latin typeface="Calibri"/>
                <a:cs typeface="Calibri"/>
              </a:rPr>
              <a:t>5)</a:t>
            </a:r>
            <a:r>
              <a:rPr sz="1050" baseline="31746" dirty="0">
                <a:latin typeface="Sitka Text"/>
                <a:cs typeface="Sitka Text"/>
              </a:rPr>
              <a:t>2</a:t>
            </a:r>
            <a:r>
              <a:rPr sz="1050" spc="157" baseline="31746" dirty="0">
                <a:latin typeface="Sitka Text"/>
                <a:cs typeface="Sitka Text"/>
              </a:rPr>
              <a:t> </a:t>
            </a:r>
            <a:r>
              <a:rPr sz="1000" spc="270" dirty="0">
                <a:latin typeface="Calibri"/>
                <a:cs typeface="Calibri"/>
              </a:rPr>
              <a:t>+</a:t>
            </a:r>
            <a:r>
              <a:rPr sz="1000" spc="20" dirty="0">
                <a:latin typeface="Calibri"/>
                <a:cs typeface="Calibri"/>
              </a:rPr>
              <a:t> </a:t>
            </a:r>
            <a:r>
              <a:rPr sz="1000" dirty="0">
                <a:latin typeface="Calibri"/>
                <a:cs typeface="Calibri"/>
              </a:rPr>
              <a:t>(2</a:t>
            </a:r>
            <a:r>
              <a:rPr sz="1000" spc="25" dirty="0">
                <a:latin typeface="Calibri"/>
                <a:cs typeface="Calibri"/>
              </a:rPr>
              <a:t> </a:t>
            </a:r>
            <a:r>
              <a:rPr sz="1000" spc="-229" dirty="0">
                <a:latin typeface="Lucida Sans Unicode"/>
                <a:cs typeface="Lucida Sans Unicode"/>
              </a:rPr>
              <a:t>—</a:t>
            </a:r>
            <a:r>
              <a:rPr sz="1000" spc="-70" dirty="0">
                <a:latin typeface="Lucida Sans Unicode"/>
                <a:cs typeface="Lucida Sans Unicode"/>
              </a:rPr>
              <a:t> </a:t>
            </a:r>
            <a:r>
              <a:rPr sz="1000" dirty="0">
                <a:latin typeface="Calibri"/>
                <a:cs typeface="Calibri"/>
              </a:rPr>
              <a:t>3</a:t>
            </a:r>
            <a:r>
              <a:rPr sz="1000" i="1" dirty="0">
                <a:latin typeface="Calibri"/>
                <a:cs typeface="Calibri"/>
              </a:rPr>
              <a:t>.</a:t>
            </a:r>
            <a:r>
              <a:rPr sz="1000" dirty="0">
                <a:latin typeface="Calibri"/>
                <a:cs typeface="Calibri"/>
              </a:rPr>
              <a:t>5)</a:t>
            </a:r>
            <a:r>
              <a:rPr sz="1050" baseline="31746" dirty="0">
                <a:latin typeface="Sitka Text"/>
                <a:cs typeface="Sitka Text"/>
              </a:rPr>
              <a:t>2</a:t>
            </a:r>
            <a:r>
              <a:rPr sz="1050" spc="157" baseline="31746" dirty="0">
                <a:latin typeface="Sitka Text"/>
                <a:cs typeface="Sitka Text"/>
              </a:rPr>
              <a:t> </a:t>
            </a:r>
            <a:r>
              <a:rPr sz="1000" spc="270" dirty="0">
                <a:latin typeface="Calibri"/>
                <a:cs typeface="Calibri"/>
              </a:rPr>
              <a:t>+</a:t>
            </a:r>
            <a:r>
              <a:rPr sz="1000" spc="25" dirty="0">
                <a:latin typeface="Calibri"/>
                <a:cs typeface="Calibri"/>
              </a:rPr>
              <a:t> </a:t>
            </a:r>
            <a:r>
              <a:rPr sz="1000" dirty="0">
                <a:latin typeface="Calibri"/>
                <a:cs typeface="Calibri"/>
              </a:rPr>
              <a:t>(3</a:t>
            </a:r>
            <a:r>
              <a:rPr sz="1000" spc="25" dirty="0">
                <a:latin typeface="Calibri"/>
                <a:cs typeface="Calibri"/>
              </a:rPr>
              <a:t> </a:t>
            </a:r>
            <a:r>
              <a:rPr sz="1000" spc="-229" dirty="0">
                <a:latin typeface="Lucida Sans Unicode"/>
                <a:cs typeface="Lucida Sans Unicode"/>
              </a:rPr>
              <a:t>—</a:t>
            </a:r>
            <a:r>
              <a:rPr sz="1000" spc="-70" dirty="0">
                <a:latin typeface="Lucida Sans Unicode"/>
                <a:cs typeface="Lucida Sans Unicode"/>
              </a:rPr>
              <a:t> </a:t>
            </a:r>
            <a:r>
              <a:rPr sz="1000" dirty="0">
                <a:latin typeface="Calibri"/>
                <a:cs typeface="Calibri"/>
              </a:rPr>
              <a:t>3</a:t>
            </a:r>
            <a:r>
              <a:rPr sz="1000" i="1" dirty="0">
                <a:latin typeface="Calibri"/>
                <a:cs typeface="Calibri"/>
              </a:rPr>
              <a:t>.</a:t>
            </a:r>
            <a:r>
              <a:rPr sz="1000" dirty="0">
                <a:latin typeface="Calibri"/>
                <a:cs typeface="Calibri"/>
              </a:rPr>
              <a:t>5)</a:t>
            </a:r>
            <a:r>
              <a:rPr sz="1050" baseline="31746" dirty="0">
                <a:latin typeface="Sitka Text"/>
                <a:cs typeface="Sitka Text"/>
              </a:rPr>
              <a:t>2</a:t>
            </a:r>
            <a:r>
              <a:rPr sz="1050" spc="157" baseline="31746" dirty="0">
                <a:latin typeface="Sitka Text"/>
                <a:cs typeface="Sitka Text"/>
              </a:rPr>
              <a:t> </a:t>
            </a:r>
            <a:r>
              <a:rPr sz="1000" spc="270" dirty="0">
                <a:latin typeface="Calibri"/>
                <a:cs typeface="Calibri"/>
              </a:rPr>
              <a:t>+</a:t>
            </a:r>
            <a:r>
              <a:rPr sz="1000" spc="25" dirty="0">
                <a:latin typeface="Calibri"/>
                <a:cs typeface="Calibri"/>
              </a:rPr>
              <a:t> </a:t>
            </a:r>
            <a:r>
              <a:rPr sz="1000" dirty="0">
                <a:latin typeface="Calibri"/>
                <a:cs typeface="Calibri"/>
              </a:rPr>
              <a:t>(10</a:t>
            </a:r>
            <a:r>
              <a:rPr sz="1000" spc="20" dirty="0">
                <a:latin typeface="Calibri"/>
                <a:cs typeface="Calibri"/>
              </a:rPr>
              <a:t> </a:t>
            </a:r>
            <a:r>
              <a:rPr sz="1000" spc="-229" dirty="0">
                <a:latin typeface="Lucida Sans Unicode"/>
                <a:cs typeface="Lucida Sans Unicode"/>
              </a:rPr>
              <a:t>—</a:t>
            </a:r>
            <a:r>
              <a:rPr sz="1000" spc="-65" dirty="0">
                <a:latin typeface="Lucida Sans Unicode"/>
                <a:cs typeface="Lucida Sans Unicode"/>
              </a:rPr>
              <a:t> </a:t>
            </a:r>
            <a:r>
              <a:rPr sz="1000" dirty="0">
                <a:latin typeface="Calibri"/>
                <a:cs typeface="Calibri"/>
              </a:rPr>
              <a:t>14</a:t>
            </a:r>
            <a:r>
              <a:rPr sz="1000" i="1" dirty="0">
                <a:latin typeface="Calibri"/>
                <a:cs typeface="Calibri"/>
              </a:rPr>
              <a:t>.</a:t>
            </a:r>
            <a:r>
              <a:rPr sz="1000" dirty="0">
                <a:latin typeface="Calibri"/>
                <a:cs typeface="Calibri"/>
              </a:rPr>
              <a:t>67)</a:t>
            </a:r>
            <a:r>
              <a:rPr sz="1050" baseline="31746" dirty="0">
                <a:latin typeface="Sitka Text"/>
                <a:cs typeface="Sitka Text"/>
              </a:rPr>
              <a:t>2</a:t>
            </a:r>
            <a:r>
              <a:rPr sz="1050" spc="157" baseline="31746" dirty="0">
                <a:latin typeface="Sitka Text"/>
                <a:cs typeface="Sitka Text"/>
              </a:rPr>
              <a:t> </a:t>
            </a:r>
            <a:r>
              <a:rPr sz="1000" spc="270" dirty="0">
                <a:latin typeface="Calibri"/>
                <a:cs typeface="Calibri"/>
              </a:rPr>
              <a:t>+</a:t>
            </a:r>
            <a:r>
              <a:rPr sz="1000" spc="20" dirty="0">
                <a:latin typeface="Calibri"/>
                <a:cs typeface="Calibri"/>
              </a:rPr>
              <a:t> </a:t>
            </a:r>
            <a:r>
              <a:rPr sz="1000" dirty="0">
                <a:latin typeface="Calibri"/>
                <a:cs typeface="Calibri"/>
              </a:rPr>
              <a:t>(25</a:t>
            </a:r>
            <a:r>
              <a:rPr sz="1000" spc="25" dirty="0">
                <a:latin typeface="Calibri"/>
                <a:cs typeface="Calibri"/>
              </a:rPr>
              <a:t> </a:t>
            </a:r>
            <a:r>
              <a:rPr sz="1000" spc="-229" dirty="0">
                <a:latin typeface="Lucida Sans Unicode"/>
                <a:cs typeface="Lucida Sans Unicode"/>
              </a:rPr>
              <a:t>—</a:t>
            </a:r>
            <a:r>
              <a:rPr sz="1000" spc="-65" dirty="0">
                <a:latin typeface="Lucida Sans Unicode"/>
                <a:cs typeface="Lucida Sans Unicode"/>
              </a:rPr>
              <a:t> </a:t>
            </a:r>
            <a:r>
              <a:rPr sz="1000" dirty="0">
                <a:latin typeface="Calibri"/>
                <a:cs typeface="Calibri"/>
              </a:rPr>
              <a:t>14</a:t>
            </a:r>
            <a:r>
              <a:rPr sz="1000" i="1" dirty="0">
                <a:latin typeface="Calibri"/>
                <a:cs typeface="Calibri"/>
              </a:rPr>
              <a:t>.</a:t>
            </a:r>
            <a:r>
              <a:rPr sz="1000" dirty="0">
                <a:latin typeface="Calibri"/>
                <a:cs typeface="Calibri"/>
              </a:rPr>
              <a:t>67)</a:t>
            </a:r>
            <a:r>
              <a:rPr sz="1050" baseline="31746" dirty="0">
                <a:latin typeface="Sitka Text"/>
                <a:cs typeface="Sitka Text"/>
              </a:rPr>
              <a:t>2</a:t>
            </a:r>
            <a:r>
              <a:rPr sz="1050" spc="247" baseline="31746" dirty="0">
                <a:latin typeface="Sitka Text"/>
                <a:cs typeface="Sitka Text"/>
              </a:rPr>
              <a:t> </a:t>
            </a:r>
            <a:r>
              <a:rPr sz="1000" spc="270" dirty="0">
                <a:latin typeface="Calibri"/>
                <a:cs typeface="Calibri"/>
              </a:rPr>
              <a:t>=</a:t>
            </a:r>
            <a:r>
              <a:rPr sz="1000" spc="85" dirty="0">
                <a:latin typeface="Calibri"/>
                <a:cs typeface="Calibri"/>
              </a:rPr>
              <a:t> </a:t>
            </a:r>
            <a:r>
              <a:rPr sz="1000" spc="-10" dirty="0">
                <a:latin typeface="Calibri"/>
                <a:cs typeface="Calibri"/>
              </a:rPr>
              <a:t>189</a:t>
            </a:r>
            <a:r>
              <a:rPr sz="1000" i="1" spc="-10" dirty="0">
                <a:latin typeface="Calibri"/>
                <a:cs typeface="Calibri"/>
              </a:rPr>
              <a:t>.</a:t>
            </a:r>
            <a:r>
              <a:rPr sz="1000" spc="-10" dirty="0">
                <a:latin typeface="Calibri"/>
                <a:cs typeface="Calibri"/>
              </a:rPr>
              <a:t>67</a:t>
            </a:r>
            <a:r>
              <a:rPr sz="1000" i="1" spc="-10" dirty="0">
                <a:latin typeface="Calibri"/>
                <a:cs typeface="Calibri"/>
              </a:rPr>
              <a:t>.</a:t>
            </a:r>
            <a:endParaRPr sz="1000">
              <a:latin typeface="Calibri"/>
              <a:cs typeface="Calibri"/>
            </a:endParaRPr>
          </a:p>
          <a:p>
            <a:pPr marL="302260" marR="17780">
              <a:lnSpc>
                <a:spcPts val="1019"/>
              </a:lnSpc>
              <a:spcBef>
                <a:spcPts val="625"/>
              </a:spcBef>
            </a:pPr>
            <a:r>
              <a:rPr sz="1000" dirty="0">
                <a:latin typeface="Georgia"/>
                <a:cs typeface="Georgia"/>
              </a:rPr>
              <a:t>The</a:t>
            </a:r>
            <a:r>
              <a:rPr sz="1000" spc="30" dirty="0">
                <a:latin typeface="Georgia"/>
                <a:cs typeface="Georgia"/>
              </a:rPr>
              <a:t> </a:t>
            </a:r>
            <a:r>
              <a:rPr sz="1000" spc="-20" dirty="0">
                <a:latin typeface="Georgia"/>
                <a:cs typeface="Georgia"/>
              </a:rPr>
              <a:t>Solution2</a:t>
            </a:r>
            <a:r>
              <a:rPr sz="1000" spc="30" dirty="0">
                <a:latin typeface="Georgia"/>
                <a:cs typeface="Georgia"/>
              </a:rPr>
              <a:t> </a:t>
            </a:r>
            <a:r>
              <a:rPr sz="1000" dirty="0">
                <a:latin typeface="Georgia"/>
                <a:cs typeface="Georgia"/>
              </a:rPr>
              <a:t>is</a:t>
            </a:r>
            <a:r>
              <a:rPr sz="1000" spc="30" dirty="0">
                <a:latin typeface="Georgia"/>
                <a:cs typeface="Georgia"/>
              </a:rPr>
              <a:t> </a:t>
            </a:r>
            <a:r>
              <a:rPr sz="1000" spc="-30" dirty="0">
                <a:latin typeface="Georgia"/>
                <a:cs typeface="Georgia"/>
              </a:rPr>
              <a:t>chosen</a:t>
            </a:r>
            <a:r>
              <a:rPr sz="1000" spc="30" dirty="0">
                <a:latin typeface="Georgia"/>
                <a:cs typeface="Georgia"/>
              </a:rPr>
              <a:t> </a:t>
            </a:r>
            <a:r>
              <a:rPr sz="1000" spc="-10" dirty="0">
                <a:latin typeface="Georgia"/>
                <a:cs typeface="Georgia"/>
              </a:rPr>
              <a:t>because</a:t>
            </a:r>
            <a:r>
              <a:rPr sz="1000" spc="30" dirty="0">
                <a:latin typeface="Georgia"/>
                <a:cs typeface="Georgia"/>
              </a:rPr>
              <a:t> </a:t>
            </a:r>
            <a:r>
              <a:rPr sz="1000" dirty="0">
                <a:latin typeface="Georgia"/>
                <a:cs typeface="Georgia"/>
              </a:rPr>
              <a:t>it</a:t>
            </a:r>
            <a:r>
              <a:rPr sz="1000" spc="30" dirty="0">
                <a:latin typeface="Georgia"/>
                <a:cs typeface="Georgia"/>
              </a:rPr>
              <a:t> </a:t>
            </a:r>
            <a:r>
              <a:rPr sz="1000" dirty="0">
                <a:latin typeface="Georgia"/>
                <a:cs typeface="Georgia"/>
              </a:rPr>
              <a:t>has</a:t>
            </a:r>
            <a:r>
              <a:rPr sz="1000" spc="30" dirty="0">
                <a:latin typeface="Georgia"/>
                <a:cs typeface="Georgia"/>
              </a:rPr>
              <a:t> </a:t>
            </a:r>
            <a:r>
              <a:rPr sz="1000" dirty="0">
                <a:latin typeface="Georgia"/>
                <a:cs typeface="Georgia"/>
              </a:rPr>
              <a:t>the</a:t>
            </a:r>
            <a:r>
              <a:rPr sz="1000" spc="30" dirty="0">
                <a:latin typeface="Georgia"/>
                <a:cs typeface="Georgia"/>
              </a:rPr>
              <a:t> </a:t>
            </a:r>
            <a:r>
              <a:rPr sz="1000" spc="-25" dirty="0">
                <a:latin typeface="Georgia"/>
                <a:cs typeface="Georgia"/>
              </a:rPr>
              <a:t>lowest</a:t>
            </a:r>
            <a:r>
              <a:rPr sz="1000" spc="30" dirty="0">
                <a:latin typeface="Georgia"/>
                <a:cs typeface="Georgia"/>
              </a:rPr>
              <a:t> </a:t>
            </a:r>
            <a:r>
              <a:rPr sz="1000" spc="-25" dirty="0">
                <a:latin typeface="Georgia"/>
                <a:cs typeface="Georgia"/>
              </a:rPr>
              <a:t>squared</a:t>
            </a:r>
            <a:r>
              <a:rPr sz="1000" spc="30" dirty="0">
                <a:latin typeface="Georgia"/>
                <a:cs typeface="Georgia"/>
              </a:rPr>
              <a:t> </a:t>
            </a:r>
            <a:r>
              <a:rPr sz="1000" spc="-10" dirty="0">
                <a:latin typeface="Georgia"/>
                <a:cs typeface="Georgia"/>
              </a:rPr>
              <a:t>error.</a:t>
            </a:r>
            <a:r>
              <a:rPr sz="1000" spc="120" dirty="0">
                <a:latin typeface="Georgia"/>
                <a:cs typeface="Georgia"/>
              </a:rPr>
              <a:t> </a:t>
            </a:r>
            <a:r>
              <a:rPr sz="1000" spc="-35" dirty="0">
                <a:latin typeface="Georgia"/>
                <a:cs typeface="Georgia"/>
              </a:rPr>
              <a:t>However,</a:t>
            </a:r>
            <a:r>
              <a:rPr sz="1000" spc="30" dirty="0">
                <a:latin typeface="Georgia"/>
                <a:cs typeface="Georgia"/>
              </a:rPr>
              <a:t> </a:t>
            </a:r>
            <a:r>
              <a:rPr sz="1000" dirty="0">
                <a:latin typeface="Calibri"/>
                <a:cs typeface="Calibri"/>
              </a:rPr>
              <a:t>8</a:t>
            </a:r>
            <a:r>
              <a:rPr sz="1000" spc="45" dirty="0">
                <a:latin typeface="Calibri"/>
                <a:cs typeface="Calibri"/>
              </a:rPr>
              <a:t> </a:t>
            </a:r>
            <a:r>
              <a:rPr sz="1000" spc="-20" dirty="0">
                <a:latin typeface="Georgia"/>
                <a:cs typeface="Georgia"/>
              </a:rPr>
              <a:t>should</a:t>
            </a:r>
            <a:r>
              <a:rPr sz="1000" spc="30" dirty="0">
                <a:latin typeface="Georgia"/>
                <a:cs typeface="Georgia"/>
              </a:rPr>
              <a:t> </a:t>
            </a:r>
            <a:r>
              <a:rPr sz="1000" spc="-25" dirty="0">
                <a:latin typeface="Georgia"/>
                <a:cs typeface="Georgia"/>
              </a:rPr>
              <a:t>not </a:t>
            </a:r>
            <a:r>
              <a:rPr sz="1000" dirty="0">
                <a:latin typeface="Georgia"/>
                <a:cs typeface="Georgia"/>
              </a:rPr>
              <a:t>be</a:t>
            </a:r>
            <a:r>
              <a:rPr sz="1000" spc="30" dirty="0">
                <a:latin typeface="Georgia"/>
                <a:cs typeface="Georgia"/>
              </a:rPr>
              <a:t> </a:t>
            </a:r>
            <a:r>
              <a:rPr sz="1000" dirty="0">
                <a:latin typeface="Georgia"/>
                <a:cs typeface="Georgia"/>
              </a:rPr>
              <a:t>in</a:t>
            </a:r>
            <a:r>
              <a:rPr sz="1000" spc="35" dirty="0">
                <a:latin typeface="Georgia"/>
                <a:cs typeface="Georgia"/>
              </a:rPr>
              <a:t> </a:t>
            </a:r>
            <a:r>
              <a:rPr sz="1000" spc="-10" dirty="0">
                <a:latin typeface="Georgia"/>
                <a:cs typeface="Georgia"/>
              </a:rPr>
              <a:t>cluster</a:t>
            </a:r>
            <a:r>
              <a:rPr sz="1000" spc="35" dirty="0">
                <a:latin typeface="Georgia"/>
                <a:cs typeface="Georgia"/>
              </a:rPr>
              <a:t> </a:t>
            </a:r>
            <a:r>
              <a:rPr sz="1000" dirty="0">
                <a:latin typeface="Georgia"/>
                <a:cs typeface="Georgia"/>
              </a:rPr>
              <a:t>1.</a:t>
            </a:r>
            <a:r>
              <a:rPr sz="1000" spc="120" dirty="0">
                <a:latin typeface="Georgia"/>
                <a:cs typeface="Georgia"/>
              </a:rPr>
              <a:t> </a:t>
            </a:r>
            <a:r>
              <a:rPr sz="1000" dirty="0">
                <a:latin typeface="Georgia"/>
                <a:cs typeface="Georgia"/>
              </a:rPr>
              <a:t>In</a:t>
            </a:r>
            <a:r>
              <a:rPr sz="1000" spc="30" dirty="0">
                <a:latin typeface="Georgia"/>
                <a:cs typeface="Georgia"/>
              </a:rPr>
              <a:t> </a:t>
            </a:r>
            <a:r>
              <a:rPr sz="1000" spc="-10" dirty="0">
                <a:latin typeface="Georgia"/>
                <a:cs typeface="Georgia"/>
              </a:rPr>
              <a:t>addition,</a:t>
            </a:r>
            <a:r>
              <a:rPr sz="1000" spc="35" dirty="0">
                <a:latin typeface="Georgia"/>
                <a:cs typeface="Georgia"/>
              </a:rPr>
              <a:t> </a:t>
            </a:r>
            <a:r>
              <a:rPr sz="1000" dirty="0">
                <a:latin typeface="Georgia"/>
                <a:cs typeface="Georgia"/>
              </a:rPr>
              <a:t>the</a:t>
            </a:r>
            <a:r>
              <a:rPr sz="1000" spc="35" dirty="0">
                <a:latin typeface="Georgia"/>
                <a:cs typeface="Georgia"/>
              </a:rPr>
              <a:t> </a:t>
            </a:r>
            <a:r>
              <a:rPr sz="1000" spc="-10" dirty="0">
                <a:latin typeface="Georgia"/>
                <a:cs typeface="Georgia"/>
              </a:rPr>
              <a:t>mean</a:t>
            </a:r>
            <a:r>
              <a:rPr sz="1000" spc="35" dirty="0">
                <a:latin typeface="Georgia"/>
                <a:cs typeface="Georgia"/>
              </a:rPr>
              <a:t> </a:t>
            </a:r>
            <a:r>
              <a:rPr sz="1000" dirty="0">
                <a:latin typeface="Georgia"/>
                <a:cs typeface="Georgia"/>
              </a:rPr>
              <a:t>of</a:t>
            </a:r>
            <a:r>
              <a:rPr sz="1000" spc="35" dirty="0">
                <a:latin typeface="Georgia"/>
                <a:cs typeface="Georgia"/>
              </a:rPr>
              <a:t> </a:t>
            </a:r>
            <a:r>
              <a:rPr sz="1000" dirty="0">
                <a:latin typeface="Georgia"/>
                <a:cs typeface="Georgia"/>
              </a:rPr>
              <a:t>the</a:t>
            </a:r>
            <a:r>
              <a:rPr sz="1000" spc="35" dirty="0">
                <a:latin typeface="Georgia"/>
                <a:cs typeface="Georgia"/>
              </a:rPr>
              <a:t> </a:t>
            </a:r>
            <a:r>
              <a:rPr sz="1000" spc="-25" dirty="0">
                <a:latin typeface="Georgia"/>
                <a:cs typeface="Georgia"/>
              </a:rPr>
              <a:t>second</a:t>
            </a:r>
            <a:r>
              <a:rPr sz="1000" spc="35" dirty="0">
                <a:latin typeface="Georgia"/>
                <a:cs typeface="Georgia"/>
              </a:rPr>
              <a:t> </a:t>
            </a:r>
            <a:r>
              <a:rPr sz="1000" spc="-10" dirty="0">
                <a:latin typeface="Georgia"/>
                <a:cs typeface="Georgia"/>
              </a:rPr>
              <a:t>cluster</a:t>
            </a:r>
            <a:r>
              <a:rPr sz="1000" spc="35" dirty="0">
                <a:latin typeface="Georgia"/>
                <a:cs typeface="Georgia"/>
              </a:rPr>
              <a:t> </a:t>
            </a:r>
            <a:r>
              <a:rPr sz="1000" dirty="0">
                <a:latin typeface="Georgia"/>
                <a:cs typeface="Georgia"/>
              </a:rPr>
              <a:t>is</a:t>
            </a:r>
            <a:r>
              <a:rPr sz="1000" spc="30" dirty="0">
                <a:latin typeface="Georgia"/>
                <a:cs typeface="Georgia"/>
              </a:rPr>
              <a:t> </a:t>
            </a:r>
            <a:r>
              <a:rPr sz="1000" dirty="0">
                <a:latin typeface="Calibri"/>
                <a:cs typeface="Calibri"/>
              </a:rPr>
              <a:t>14</a:t>
            </a:r>
            <a:r>
              <a:rPr sz="1000" i="1" dirty="0">
                <a:latin typeface="Calibri"/>
                <a:cs typeface="Calibri"/>
              </a:rPr>
              <a:t>.</a:t>
            </a:r>
            <a:r>
              <a:rPr sz="1000" dirty="0">
                <a:latin typeface="Calibri"/>
                <a:cs typeface="Calibri"/>
              </a:rPr>
              <a:t>67</a:t>
            </a:r>
            <a:r>
              <a:rPr sz="1000" spc="50" dirty="0">
                <a:latin typeface="Calibri"/>
                <a:cs typeface="Calibri"/>
              </a:rPr>
              <a:t> </a:t>
            </a:r>
            <a:r>
              <a:rPr sz="1000" dirty="0">
                <a:latin typeface="Georgia"/>
                <a:cs typeface="Georgia"/>
              </a:rPr>
              <a:t>and</a:t>
            </a:r>
            <a:r>
              <a:rPr sz="1000" spc="35" dirty="0">
                <a:latin typeface="Georgia"/>
                <a:cs typeface="Georgia"/>
              </a:rPr>
              <a:t> </a:t>
            </a:r>
            <a:r>
              <a:rPr sz="1000" dirty="0">
                <a:latin typeface="Georgia"/>
                <a:cs typeface="Georgia"/>
              </a:rPr>
              <a:t>quite</a:t>
            </a:r>
            <a:r>
              <a:rPr sz="1000" spc="35" dirty="0">
                <a:latin typeface="Georgia"/>
                <a:cs typeface="Georgia"/>
              </a:rPr>
              <a:t> </a:t>
            </a:r>
            <a:r>
              <a:rPr sz="1000" dirty="0">
                <a:latin typeface="Georgia"/>
                <a:cs typeface="Georgia"/>
              </a:rPr>
              <a:t>far</a:t>
            </a:r>
            <a:r>
              <a:rPr sz="1000" spc="35" dirty="0">
                <a:latin typeface="Georgia"/>
                <a:cs typeface="Georgia"/>
              </a:rPr>
              <a:t> </a:t>
            </a:r>
            <a:r>
              <a:rPr sz="1000" spc="-20" dirty="0">
                <a:latin typeface="Georgia"/>
                <a:cs typeface="Georgia"/>
              </a:rPr>
              <a:t>from</a:t>
            </a:r>
            <a:r>
              <a:rPr sz="1000" spc="500" dirty="0">
                <a:latin typeface="Georgia"/>
                <a:cs typeface="Georgia"/>
              </a:rPr>
              <a:t> </a:t>
            </a:r>
            <a:r>
              <a:rPr sz="1000" dirty="0">
                <a:latin typeface="Calibri"/>
                <a:cs typeface="Calibri"/>
              </a:rPr>
              <a:t>9</a:t>
            </a:r>
            <a:r>
              <a:rPr sz="1000" spc="50" dirty="0">
                <a:latin typeface="Calibri"/>
                <a:cs typeface="Calibri"/>
              </a:rPr>
              <a:t> </a:t>
            </a:r>
            <a:r>
              <a:rPr sz="1000" dirty="0">
                <a:latin typeface="Georgia"/>
                <a:cs typeface="Georgia"/>
              </a:rPr>
              <a:t>and</a:t>
            </a:r>
            <a:r>
              <a:rPr sz="1000" spc="40" dirty="0">
                <a:latin typeface="Georgia"/>
                <a:cs typeface="Georgia"/>
              </a:rPr>
              <a:t> </a:t>
            </a:r>
            <a:r>
              <a:rPr sz="1000" dirty="0">
                <a:latin typeface="Calibri"/>
                <a:cs typeface="Calibri"/>
              </a:rPr>
              <a:t>10</a:t>
            </a:r>
            <a:r>
              <a:rPr sz="1000" spc="50" dirty="0">
                <a:latin typeface="Calibri"/>
                <a:cs typeface="Calibri"/>
              </a:rPr>
              <a:t> </a:t>
            </a:r>
            <a:r>
              <a:rPr sz="1000" dirty="0">
                <a:latin typeface="Georgia"/>
                <a:cs typeface="Georgia"/>
              </a:rPr>
              <a:t>due</a:t>
            </a:r>
            <a:r>
              <a:rPr sz="1000" spc="40" dirty="0">
                <a:latin typeface="Georgia"/>
                <a:cs typeface="Georgia"/>
              </a:rPr>
              <a:t> </a:t>
            </a:r>
            <a:r>
              <a:rPr sz="1000" dirty="0">
                <a:latin typeface="Georgia"/>
                <a:cs typeface="Georgia"/>
              </a:rPr>
              <a:t>to</a:t>
            </a:r>
            <a:r>
              <a:rPr sz="1000" spc="40" dirty="0">
                <a:latin typeface="Georgia"/>
                <a:cs typeface="Georgia"/>
              </a:rPr>
              <a:t> </a:t>
            </a:r>
            <a:r>
              <a:rPr sz="1000" dirty="0">
                <a:latin typeface="Georgia"/>
                <a:cs typeface="Georgia"/>
              </a:rPr>
              <a:t>the</a:t>
            </a:r>
            <a:r>
              <a:rPr sz="1000" spc="35" dirty="0">
                <a:latin typeface="Georgia"/>
                <a:cs typeface="Georgia"/>
              </a:rPr>
              <a:t> </a:t>
            </a:r>
            <a:r>
              <a:rPr sz="1000" spc="-10" dirty="0">
                <a:latin typeface="Georgia"/>
                <a:cs typeface="Georgia"/>
              </a:rPr>
              <a:t>outlier</a:t>
            </a:r>
            <a:r>
              <a:rPr sz="1000" spc="40" dirty="0">
                <a:latin typeface="Georgia"/>
                <a:cs typeface="Georgia"/>
              </a:rPr>
              <a:t> </a:t>
            </a:r>
            <a:r>
              <a:rPr sz="1000" spc="-25" dirty="0">
                <a:latin typeface="Calibri"/>
                <a:cs typeface="Calibri"/>
              </a:rPr>
              <a:t>25</a:t>
            </a:r>
            <a:r>
              <a:rPr sz="1000" spc="-25" dirty="0">
                <a:latin typeface="Georgia"/>
                <a:cs typeface="Georgia"/>
              </a:rPr>
              <a:t>.</a:t>
            </a:r>
            <a:endParaRPr sz="1000">
              <a:latin typeface="Georgia"/>
              <a:cs typeface="Georgia"/>
            </a:endParaRPr>
          </a:p>
        </p:txBody>
      </p:sp>
      <p:grpSp>
        <p:nvGrpSpPr>
          <p:cNvPr id="10" name="object 10"/>
          <p:cNvGrpSpPr/>
          <p:nvPr/>
        </p:nvGrpSpPr>
        <p:grpSpPr>
          <a:xfrm>
            <a:off x="0" y="3121545"/>
            <a:ext cx="5760085" cy="118745"/>
            <a:chOff x="0" y="3121545"/>
            <a:chExt cx="5760085" cy="118745"/>
          </a:xfrm>
        </p:grpSpPr>
        <p:sp>
          <p:nvSpPr>
            <p:cNvPr id="11" name="object 11"/>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2" name="object 12"/>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3" name="object 13"/>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4" name="object 14"/>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5" name="object 15"/>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67</a:t>
            </a:fld>
            <a:r>
              <a:rPr dirty="0"/>
              <a:t> </a:t>
            </a:r>
            <a:r>
              <a:rPr spc="75" dirty="0"/>
              <a:t>/</a:t>
            </a:r>
            <a:r>
              <a:rPr spc="5" dirty="0"/>
              <a:t> </a:t>
            </a:r>
            <a:r>
              <a:rPr spc="35" dirty="0"/>
              <a:t>135</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65" dirty="0">
                <a:latin typeface="Calibri"/>
                <a:cs typeface="Calibri"/>
              </a:rPr>
              <a:t>K</a:t>
            </a:r>
            <a:r>
              <a:rPr spc="65" dirty="0"/>
              <a:t>–medoids</a:t>
            </a:r>
            <a:r>
              <a:rPr spc="215" dirty="0"/>
              <a:t> </a:t>
            </a:r>
            <a:r>
              <a:rPr dirty="0"/>
              <a:t>clustering</a:t>
            </a:r>
            <a:r>
              <a:rPr spc="215" dirty="0"/>
              <a:t> </a:t>
            </a:r>
            <a:r>
              <a:rPr spc="-10" dirty="0"/>
              <a:t>algorithm</a:t>
            </a:r>
          </a:p>
        </p:txBody>
      </p:sp>
      <p:sp>
        <p:nvSpPr>
          <p:cNvPr id="3" name="object 3"/>
          <p:cNvSpPr/>
          <p:nvPr/>
        </p:nvSpPr>
        <p:spPr>
          <a:xfrm>
            <a:off x="337972" y="50153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28777" y="409929"/>
            <a:ext cx="5179695" cy="1529906"/>
          </a:xfrm>
          <a:prstGeom prst="rect">
            <a:avLst/>
          </a:prstGeom>
        </p:spPr>
        <p:txBody>
          <a:bodyPr vert="horz" wrap="square" lIns="0" tIns="34290" rIns="0" bIns="0" rtlCol="0">
            <a:spAutoFit/>
          </a:bodyPr>
          <a:lstStyle/>
          <a:p>
            <a:pPr marL="38100" marR="317500">
              <a:lnSpc>
                <a:spcPts val="1150"/>
              </a:lnSpc>
              <a:spcBef>
                <a:spcPts val="270"/>
              </a:spcBef>
            </a:pPr>
            <a:r>
              <a:rPr sz="1100" dirty="0">
                <a:latin typeface="Georgia"/>
                <a:cs typeface="Georgia"/>
              </a:rPr>
              <a:t>Rather</a:t>
            </a:r>
            <a:r>
              <a:rPr sz="1100" spc="20" dirty="0">
                <a:latin typeface="Georgia"/>
                <a:cs typeface="Georgia"/>
              </a:rPr>
              <a:t> </a:t>
            </a:r>
            <a:r>
              <a:rPr sz="1100" spc="-20" dirty="0">
                <a:latin typeface="Georgia"/>
                <a:cs typeface="Georgia"/>
              </a:rPr>
              <a:t>using</a:t>
            </a:r>
            <a:r>
              <a:rPr sz="1100" spc="20" dirty="0">
                <a:latin typeface="Georgia"/>
                <a:cs typeface="Georgia"/>
              </a:rPr>
              <a:t> </a:t>
            </a:r>
            <a:r>
              <a:rPr sz="1100" spc="-25" dirty="0">
                <a:latin typeface="Georgia"/>
                <a:cs typeface="Georgia"/>
              </a:rPr>
              <a:t>mean</a:t>
            </a:r>
            <a:r>
              <a:rPr sz="1100" spc="20" dirty="0">
                <a:latin typeface="Georgia"/>
                <a:cs typeface="Georgia"/>
              </a:rPr>
              <a:t> </a:t>
            </a:r>
            <a:r>
              <a:rPr sz="1100" spc="-20" dirty="0">
                <a:latin typeface="Georgia"/>
                <a:cs typeface="Georgia"/>
              </a:rPr>
              <a:t>values,</a:t>
            </a:r>
            <a:r>
              <a:rPr sz="1100" spc="20" dirty="0">
                <a:latin typeface="Georgia"/>
                <a:cs typeface="Georgia"/>
              </a:rPr>
              <a:t> </a:t>
            </a:r>
            <a:r>
              <a:rPr sz="1100" i="1" spc="-35" dirty="0">
                <a:latin typeface="Calibri"/>
                <a:cs typeface="Calibri"/>
              </a:rPr>
              <a:t>k</a:t>
            </a:r>
            <a:r>
              <a:rPr sz="1100" spc="-35" dirty="0">
                <a:latin typeface="Georgia"/>
                <a:cs typeface="Georgia"/>
              </a:rPr>
              <a:t>–mediods</a:t>
            </a:r>
            <a:r>
              <a:rPr sz="1100" spc="20" dirty="0">
                <a:latin typeface="Georgia"/>
                <a:cs typeface="Georgia"/>
              </a:rPr>
              <a:t> </a:t>
            </a:r>
            <a:r>
              <a:rPr sz="1100" dirty="0">
                <a:latin typeface="Georgia"/>
                <a:cs typeface="Georgia"/>
              </a:rPr>
              <a:t>pick</a:t>
            </a:r>
            <a:r>
              <a:rPr sz="1100" spc="20" dirty="0">
                <a:latin typeface="Georgia"/>
                <a:cs typeface="Georgia"/>
              </a:rPr>
              <a:t> </a:t>
            </a:r>
            <a:r>
              <a:rPr sz="1100" dirty="0">
                <a:latin typeface="Georgia"/>
                <a:cs typeface="Georgia"/>
              </a:rPr>
              <a:t>actual</a:t>
            </a:r>
            <a:r>
              <a:rPr sz="1100" spc="25" dirty="0">
                <a:latin typeface="Georgia"/>
                <a:cs typeface="Georgia"/>
              </a:rPr>
              <a:t> </a:t>
            </a:r>
            <a:r>
              <a:rPr sz="1100" dirty="0">
                <a:latin typeface="Georgia"/>
                <a:cs typeface="Georgia"/>
              </a:rPr>
              <a:t>data</a:t>
            </a:r>
            <a:r>
              <a:rPr sz="1100" spc="20" dirty="0">
                <a:latin typeface="Georgia"/>
                <a:cs typeface="Georgia"/>
              </a:rPr>
              <a:t> </a:t>
            </a:r>
            <a:r>
              <a:rPr sz="1100" dirty="0">
                <a:latin typeface="Georgia"/>
                <a:cs typeface="Georgia"/>
              </a:rPr>
              <a:t>objects</a:t>
            </a:r>
            <a:r>
              <a:rPr sz="1100" spc="20" dirty="0">
                <a:latin typeface="Georgia"/>
                <a:cs typeface="Georgia"/>
              </a:rPr>
              <a:t> </a:t>
            </a:r>
            <a:r>
              <a:rPr sz="1100" dirty="0">
                <a:latin typeface="Georgia"/>
                <a:cs typeface="Georgia"/>
              </a:rPr>
              <a:t>in</a:t>
            </a:r>
            <a:r>
              <a:rPr sz="1100" spc="20" dirty="0">
                <a:latin typeface="Georgia"/>
                <a:cs typeface="Georgia"/>
              </a:rPr>
              <a:t> </a:t>
            </a:r>
            <a:r>
              <a:rPr sz="1100" dirty="0">
                <a:latin typeface="Georgia"/>
                <a:cs typeface="Georgia"/>
              </a:rPr>
              <a:t>the</a:t>
            </a:r>
            <a:r>
              <a:rPr sz="1100" spc="20" dirty="0">
                <a:latin typeface="Georgia"/>
                <a:cs typeface="Georgia"/>
              </a:rPr>
              <a:t> </a:t>
            </a:r>
            <a:r>
              <a:rPr sz="1100" dirty="0">
                <a:latin typeface="Georgia"/>
                <a:cs typeface="Georgia"/>
              </a:rPr>
              <a:t>dataset</a:t>
            </a:r>
            <a:r>
              <a:rPr sz="1100" spc="20" dirty="0">
                <a:latin typeface="Georgia"/>
                <a:cs typeface="Georgia"/>
              </a:rPr>
              <a:t> </a:t>
            </a:r>
            <a:r>
              <a:rPr sz="1100" spc="-25" dirty="0">
                <a:latin typeface="Georgia"/>
                <a:cs typeface="Georgia"/>
              </a:rPr>
              <a:t>to </a:t>
            </a:r>
            <a:r>
              <a:rPr sz="1100" spc="-35" dirty="0">
                <a:latin typeface="Georgia"/>
                <a:cs typeface="Georgia"/>
              </a:rPr>
              <a:t>represent</a:t>
            </a:r>
            <a:r>
              <a:rPr sz="1100" spc="35" dirty="0">
                <a:latin typeface="Georgia"/>
                <a:cs typeface="Georgia"/>
              </a:rPr>
              <a:t> </a:t>
            </a:r>
            <a:r>
              <a:rPr sz="1100" dirty="0">
                <a:latin typeface="Georgia"/>
                <a:cs typeface="Georgia"/>
              </a:rPr>
              <a:t>the</a:t>
            </a:r>
            <a:r>
              <a:rPr sz="1100" spc="35" dirty="0">
                <a:latin typeface="Georgia"/>
                <a:cs typeface="Georgia"/>
              </a:rPr>
              <a:t> </a:t>
            </a:r>
            <a:r>
              <a:rPr sz="1100" spc="-20" dirty="0">
                <a:latin typeface="Georgia"/>
                <a:cs typeface="Georgia"/>
              </a:rPr>
              <a:t>clusters,</a:t>
            </a:r>
            <a:r>
              <a:rPr sz="1100" spc="35" dirty="0">
                <a:latin typeface="Georgia"/>
                <a:cs typeface="Georgia"/>
              </a:rPr>
              <a:t> </a:t>
            </a:r>
            <a:r>
              <a:rPr sz="1100" spc="-20" dirty="0">
                <a:latin typeface="Georgia"/>
                <a:cs typeface="Georgia"/>
              </a:rPr>
              <a:t>using</a:t>
            </a:r>
            <a:r>
              <a:rPr sz="1100" spc="40" dirty="0">
                <a:latin typeface="Georgia"/>
                <a:cs typeface="Georgia"/>
              </a:rPr>
              <a:t> </a:t>
            </a:r>
            <a:r>
              <a:rPr sz="1100" spc="-20" dirty="0">
                <a:latin typeface="Georgia"/>
                <a:cs typeface="Georgia"/>
              </a:rPr>
              <a:t>one</a:t>
            </a:r>
            <a:r>
              <a:rPr sz="1100" spc="35" dirty="0">
                <a:latin typeface="Georgia"/>
                <a:cs typeface="Georgia"/>
              </a:rPr>
              <a:t> </a:t>
            </a:r>
            <a:r>
              <a:rPr sz="1100" spc="-30" dirty="0">
                <a:latin typeface="Georgia"/>
                <a:cs typeface="Georgia"/>
              </a:rPr>
              <a:t>representative</a:t>
            </a:r>
            <a:r>
              <a:rPr sz="1100" spc="35" dirty="0">
                <a:latin typeface="Georgia"/>
                <a:cs typeface="Georgia"/>
              </a:rPr>
              <a:t> </a:t>
            </a:r>
            <a:r>
              <a:rPr sz="1100" dirty="0">
                <a:latin typeface="Georgia"/>
                <a:cs typeface="Georgia"/>
              </a:rPr>
              <a:t>object</a:t>
            </a:r>
            <a:r>
              <a:rPr sz="1100" spc="40" dirty="0">
                <a:latin typeface="Georgia"/>
                <a:cs typeface="Georgia"/>
              </a:rPr>
              <a:t> </a:t>
            </a:r>
            <a:r>
              <a:rPr sz="1100" dirty="0">
                <a:latin typeface="Georgia"/>
                <a:cs typeface="Georgia"/>
              </a:rPr>
              <a:t>per</a:t>
            </a:r>
            <a:r>
              <a:rPr sz="1100" spc="35" dirty="0">
                <a:latin typeface="Georgia"/>
                <a:cs typeface="Georgia"/>
              </a:rPr>
              <a:t> </a:t>
            </a:r>
            <a:r>
              <a:rPr sz="1100" spc="-10" dirty="0">
                <a:latin typeface="Georgia"/>
                <a:cs typeface="Georgia"/>
              </a:rPr>
              <a:t>cluster.</a:t>
            </a:r>
            <a:endParaRPr sz="1100">
              <a:latin typeface="Georgia"/>
              <a:cs typeface="Georgia"/>
            </a:endParaRPr>
          </a:p>
          <a:p>
            <a:pPr marL="38100" marR="30480">
              <a:lnSpc>
                <a:spcPts val="1150"/>
              </a:lnSpc>
              <a:spcBef>
                <a:spcPts val="725"/>
              </a:spcBef>
            </a:pPr>
            <a:r>
              <a:rPr sz="1100" dirty="0">
                <a:latin typeface="Georgia"/>
                <a:cs typeface="Georgia"/>
              </a:rPr>
              <a:t>Each</a:t>
            </a:r>
            <a:r>
              <a:rPr sz="1100" spc="25" dirty="0">
                <a:latin typeface="Georgia"/>
                <a:cs typeface="Georgia"/>
              </a:rPr>
              <a:t> </a:t>
            </a:r>
            <a:r>
              <a:rPr sz="1100" spc="-35" dirty="0">
                <a:latin typeface="Georgia"/>
                <a:cs typeface="Georgia"/>
              </a:rPr>
              <a:t>remaining</a:t>
            </a:r>
            <a:r>
              <a:rPr sz="1100" spc="30" dirty="0">
                <a:latin typeface="Georgia"/>
                <a:cs typeface="Georgia"/>
              </a:rPr>
              <a:t> </a:t>
            </a:r>
            <a:r>
              <a:rPr sz="1100" dirty="0">
                <a:latin typeface="Georgia"/>
                <a:cs typeface="Georgia"/>
              </a:rPr>
              <a:t>object</a:t>
            </a:r>
            <a:r>
              <a:rPr sz="1100" spc="25" dirty="0">
                <a:latin typeface="Georgia"/>
                <a:cs typeface="Georgia"/>
              </a:rPr>
              <a:t> </a:t>
            </a:r>
            <a:r>
              <a:rPr sz="1100" dirty="0">
                <a:latin typeface="Georgia"/>
                <a:cs typeface="Georgia"/>
              </a:rPr>
              <a:t>is</a:t>
            </a:r>
            <a:r>
              <a:rPr sz="1100" spc="30" dirty="0">
                <a:latin typeface="Georgia"/>
                <a:cs typeface="Georgia"/>
              </a:rPr>
              <a:t> </a:t>
            </a:r>
            <a:r>
              <a:rPr sz="1100" spc="-30" dirty="0">
                <a:latin typeface="Georgia"/>
                <a:cs typeface="Georgia"/>
              </a:rPr>
              <a:t>assigned</a:t>
            </a:r>
            <a:r>
              <a:rPr sz="1100" spc="30" dirty="0">
                <a:latin typeface="Georgia"/>
                <a:cs typeface="Georgia"/>
              </a:rPr>
              <a:t> </a:t>
            </a:r>
            <a:r>
              <a:rPr sz="1100" dirty="0">
                <a:latin typeface="Georgia"/>
                <a:cs typeface="Georgia"/>
              </a:rPr>
              <a:t>to</a:t>
            </a:r>
            <a:r>
              <a:rPr sz="1100" spc="25"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cluster</a:t>
            </a:r>
            <a:r>
              <a:rPr sz="1100" spc="30" dirty="0">
                <a:latin typeface="Georgia"/>
                <a:cs typeface="Georgia"/>
              </a:rPr>
              <a:t> </a:t>
            </a:r>
            <a:r>
              <a:rPr sz="1100" dirty="0">
                <a:latin typeface="Georgia"/>
                <a:cs typeface="Georgia"/>
              </a:rPr>
              <a:t>of</a:t>
            </a:r>
            <a:r>
              <a:rPr sz="1100" spc="25" dirty="0">
                <a:latin typeface="Georgia"/>
                <a:cs typeface="Georgia"/>
              </a:rPr>
              <a:t> </a:t>
            </a:r>
            <a:r>
              <a:rPr sz="1100" spc="-20" dirty="0">
                <a:latin typeface="Georgia"/>
                <a:cs typeface="Georgia"/>
              </a:rPr>
              <a:t>which</a:t>
            </a:r>
            <a:r>
              <a:rPr sz="1100" spc="30" dirty="0">
                <a:latin typeface="Georgia"/>
                <a:cs typeface="Georgia"/>
              </a:rPr>
              <a:t> </a:t>
            </a:r>
            <a:r>
              <a:rPr sz="1100" dirty="0">
                <a:latin typeface="Georgia"/>
                <a:cs typeface="Georgia"/>
              </a:rPr>
              <a:t>the</a:t>
            </a:r>
            <a:r>
              <a:rPr sz="1100" spc="25" dirty="0">
                <a:latin typeface="Georgia"/>
                <a:cs typeface="Georgia"/>
              </a:rPr>
              <a:t> </a:t>
            </a:r>
            <a:r>
              <a:rPr sz="1100" spc="-30" dirty="0">
                <a:latin typeface="Georgia"/>
                <a:cs typeface="Georgia"/>
              </a:rPr>
              <a:t>representative</a:t>
            </a:r>
            <a:r>
              <a:rPr sz="1100" spc="30" dirty="0">
                <a:latin typeface="Georgia"/>
                <a:cs typeface="Georgia"/>
              </a:rPr>
              <a:t> </a:t>
            </a:r>
            <a:r>
              <a:rPr sz="1100" dirty="0">
                <a:latin typeface="Georgia"/>
                <a:cs typeface="Georgia"/>
              </a:rPr>
              <a:t>object</a:t>
            </a:r>
            <a:r>
              <a:rPr sz="1100" spc="30" dirty="0">
                <a:latin typeface="Georgia"/>
                <a:cs typeface="Georgia"/>
              </a:rPr>
              <a:t> </a:t>
            </a:r>
            <a:r>
              <a:rPr sz="1100" spc="-25" dirty="0">
                <a:latin typeface="Georgia"/>
                <a:cs typeface="Georgia"/>
              </a:rPr>
              <a:t>is </a:t>
            </a:r>
            <a:r>
              <a:rPr sz="1100" dirty="0">
                <a:latin typeface="Georgia"/>
                <a:cs typeface="Georgia"/>
              </a:rPr>
              <a:t>the</a:t>
            </a:r>
            <a:r>
              <a:rPr sz="1100" spc="20" dirty="0">
                <a:latin typeface="Georgia"/>
                <a:cs typeface="Georgia"/>
              </a:rPr>
              <a:t> </a:t>
            </a:r>
            <a:r>
              <a:rPr sz="1100" spc="-10" dirty="0">
                <a:latin typeface="Georgia"/>
                <a:cs typeface="Georgia"/>
              </a:rPr>
              <a:t>most</a:t>
            </a:r>
            <a:r>
              <a:rPr sz="1100" spc="20" dirty="0">
                <a:latin typeface="Georgia"/>
                <a:cs typeface="Georgia"/>
              </a:rPr>
              <a:t> </a:t>
            </a:r>
            <a:r>
              <a:rPr sz="1100" spc="-10" dirty="0">
                <a:latin typeface="Georgia"/>
                <a:cs typeface="Georgia"/>
              </a:rPr>
              <a:t>similar.</a:t>
            </a:r>
            <a:endParaRPr sz="1100">
              <a:latin typeface="Georgia"/>
              <a:cs typeface="Georgia"/>
            </a:endParaRPr>
          </a:p>
          <a:p>
            <a:pPr marL="38100" marR="30480" algn="just">
              <a:lnSpc>
                <a:spcPts val="1150"/>
              </a:lnSpc>
              <a:spcBef>
                <a:spcPts val="730"/>
              </a:spcBef>
            </a:pPr>
            <a:r>
              <a:rPr sz="1100" dirty="0">
                <a:latin typeface="Georgia"/>
                <a:cs typeface="Georgia"/>
              </a:rPr>
              <a:t>The </a:t>
            </a:r>
            <a:r>
              <a:rPr sz="1100" spc="-10" dirty="0">
                <a:latin typeface="Georgia"/>
                <a:cs typeface="Georgia"/>
              </a:rPr>
              <a:t>partitioning</a:t>
            </a:r>
            <a:r>
              <a:rPr sz="1100" spc="5" dirty="0">
                <a:latin typeface="Georgia"/>
                <a:cs typeface="Georgia"/>
              </a:rPr>
              <a:t> </a:t>
            </a:r>
            <a:r>
              <a:rPr sz="1100" spc="-10" dirty="0">
                <a:latin typeface="Georgia"/>
                <a:cs typeface="Georgia"/>
              </a:rPr>
              <a:t>method</a:t>
            </a:r>
            <a:r>
              <a:rPr sz="1100" spc="5" dirty="0">
                <a:latin typeface="Georgia"/>
                <a:cs typeface="Georgia"/>
              </a:rPr>
              <a:t> </a:t>
            </a:r>
            <a:r>
              <a:rPr sz="1100" dirty="0">
                <a:latin typeface="Georgia"/>
                <a:cs typeface="Georgia"/>
              </a:rPr>
              <a:t>is</a:t>
            </a:r>
            <a:r>
              <a:rPr sz="1100" spc="5" dirty="0">
                <a:latin typeface="Georgia"/>
                <a:cs typeface="Georgia"/>
              </a:rPr>
              <a:t> </a:t>
            </a:r>
            <a:r>
              <a:rPr sz="1100" dirty="0">
                <a:latin typeface="Georgia"/>
                <a:cs typeface="Georgia"/>
              </a:rPr>
              <a:t>then </a:t>
            </a:r>
            <a:r>
              <a:rPr sz="1100" spc="-30" dirty="0">
                <a:latin typeface="Georgia"/>
                <a:cs typeface="Georgia"/>
              </a:rPr>
              <a:t>performed</a:t>
            </a:r>
            <a:r>
              <a:rPr sz="1100" spc="5" dirty="0">
                <a:latin typeface="Georgia"/>
                <a:cs typeface="Georgia"/>
              </a:rPr>
              <a:t> </a:t>
            </a:r>
            <a:r>
              <a:rPr sz="1100" spc="-10" dirty="0">
                <a:latin typeface="Georgia"/>
                <a:cs typeface="Georgia"/>
              </a:rPr>
              <a:t>based</a:t>
            </a:r>
            <a:r>
              <a:rPr sz="1100" spc="5" dirty="0">
                <a:latin typeface="Georgia"/>
                <a:cs typeface="Georgia"/>
              </a:rPr>
              <a:t> </a:t>
            </a:r>
            <a:r>
              <a:rPr sz="1100" dirty="0">
                <a:latin typeface="Georgia"/>
                <a:cs typeface="Georgia"/>
              </a:rPr>
              <a:t>on</a:t>
            </a:r>
            <a:r>
              <a:rPr sz="1100" spc="5" dirty="0">
                <a:latin typeface="Georgia"/>
                <a:cs typeface="Georgia"/>
              </a:rPr>
              <a:t> </a:t>
            </a:r>
            <a:r>
              <a:rPr sz="1100" dirty="0">
                <a:latin typeface="Georgia"/>
                <a:cs typeface="Georgia"/>
              </a:rPr>
              <a:t>the </a:t>
            </a:r>
            <a:r>
              <a:rPr sz="1100" spc="-20" dirty="0">
                <a:latin typeface="Georgia"/>
                <a:cs typeface="Georgia"/>
              </a:rPr>
              <a:t>principle</a:t>
            </a:r>
            <a:r>
              <a:rPr sz="1100" spc="5" dirty="0">
                <a:latin typeface="Georgia"/>
                <a:cs typeface="Georgia"/>
              </a:rPr>
              <a:t> </a:t>
            </a:r>
            <a:r>
              <a:rPr sz="1100" dirty="0">
                <a:latin typeface="Georgia"/>
                <a:cs typeface="Georgia"/>
              </a:rPr>
              <a:t>of</a:t>
            </a:r>
            <a:r>
              <a:rPr sz="1100" spc="5" dirty="0">
                <a:latin typeface="Georgia"/>
                <a:cs typeface="Georgia"/>
              </a:rPr>
              <a:t> </a:t>
            </a:r>
            <a:r>
              <a:rPr sz="1100" spc="-30" dirty="0">
                <a:latin typeface="Georgia"/>
                <a:cs typeface="Georgia"/>
              </a:rPr>
              <a:t>minimizing</a:t>
            </a:r>
            <a:r>
              <a:rPr sz="1100" spc="5" dirty="0">
                <a:latin typeface="Georgia"/>
                <a:cs typeface="Georgia"/>
              </a:rPr>
              <a:t> </a:t>
            </a:r>
            <a:r>
              <a:rPr sz="1100" spc="-25" dirty="0">
                <a:latin typeface="Georgia"/>
                <a:cs typeface="Georgia"/>
              </a:rPr>
              <a:t>the </a:t>
            </a:r>
            <a:r>
              <a:rPr sz="1100" spc="-10" dirty="0">
                <a:latin typeface="Georgia"/>
                <a:cs typeface="Georgia"/>
              </a:rPr>
              <a:t>sum</a:t>
            </a:r>
            <a:r>
              <a:rPr sz="1100" spc="15" dirty="0">
                <a:latin typeface="Georgia"/>
                <a:cs typeface="Georgia"/>
              </a:rPr>
              <a:t> </a:t>
            </a:r>
            <a:r>
              <a:rPr sz="1100" dirty="0">
                <a:latin typeface="Georgia"/>
                <a:cs typeface="Georgia"/>
              </a:rPr>
              <a:t>of</a:t>
            </a:r>
            <a:r>
              <a:rPr sz="1100" spc="15" dirty="0">
                <a:latin typeface="Georgia"/>
                <a:cs typeface="Georgia"/>
              </a:rPr>
              <a:t> </a:t>
            </a:r>
            <a:r>
              <a:rPr sz="1100" dirty="0">
                <a:latin typeface="Georgia"/>
                <a:cs typeface="Georgia"/>
              </a:rPr>
              <a:t>the</a:t>
            </a:r>
            <a:r>
              <a:rPr sz="1100" spc="15" dirty="0">
                <a:latin typeface="Georgia"/>
                <a:cs typeface="Georgia"/>
              </a:rPr>
              <a:t> </a:t>
            </a:r>
            <a:r>
              <a:rPr sz="1100" spc="-30" dirty="0">
                <a:latin typeface="Georgia"/>
                <a:cs typeface="Georgia"/>
              </a:rPr>
              <a:t>dissimilarities</a:t>
            </a:r>
            <a:r>
              <a:rPr sz="1100" spc="15" dirty="0">
                <a:latin typeface="Georgia"/>
                <a:cs typeface="Georgia"/>
              </a:rPr>
              <a:t> </a:t>
            </a:r>
            <a:r>
              <a:rPr sz="1100" spc="-25" dirty="0">
                <a:latin typeface="Georgia"/>
                <a:cs typeface="Georgia"/>
              </a:rPr>
              <a:t>between</a:t>
            </a:r>
            <a:r>
              <a:rPr sz="1100" spc="10" dirty="0">
                <a:latin typeface="Georgia"/>
                <a:cs typeface="Georgia"/>
              </a:rPr>
              <a:t> </a:t>
            </a:r>
            <a:r>
              <a:rPr sz="1100" spc="-10" dirty="0">
                <a:latin typeface="Georgia"/>
                <a:cs typeface="Georgia"/>
              </a:rPr>
              <a:t>each</a:t>
            </a:r>
            <a:r>
              <a:rPr sz="1100" spc="15" dirty="0">
                <a:latin typeface="Georgia"/>
                <a:cs typeface="Georgia"/>
              </a:rPr>
              <a:t> </a:t>
            </a:r>
            <a:r>
              <a:rPr sz="1100" dirty="0">
                <a:latin typeface="Georgia"/>
                <a:cs typeface="Georgia"/>
              </a:rPr>
              <a:t>object</a:t>
            </a:r>
            <a:r>
              <a:rPr sz="1100" spc="15" dirty="0">
                <a:latin typeface="Georgia"/>
                <a:cs typeface="Georgia"/>
              </a:rPr>
              <a:t> </a:t>
            </a:r>
            <a:r>
              <a:rPr sz="1100" spc="114" dirty="0">
                <a:latin typeface="Cambria"/>
                <a:cs typeface="Cambria"/>
              </a:rPr>
              <a:t>x</a:t>
            </a:r>
            <a:r>
              <a:rPr sz="1100" spc="40" dirty="0">
                <a:latin typeface="Cambria"/>
                <a:cs typeface="Cambria"/>
              </a:rPr>
              <a:t> </a:t>
            </a:r>
            <a:r>
              <a:rPr sz="1100" dirty="0">
                <a:latin typeface="Georgia"/>
                <a:cs typeface="Georgia"/>
              </a:rPr>
              <a:t>and</a:t>
            </a:r>
            <a:r>
              <a:rPr sz="1100" spc="15" dirty="0">
                <a:latin typeface="Georgia"/>
                <a:cs typeface="Georgia"/>
              </a:rPr>
              <a:t> </a:t>
            </a:r>
            <a:r>
              <a:rPr sz="1100" dirty="0">
                <a:latin typeface="Georgia"/>
                <a:cs typeface="Georgia"/>
              </a:rPr>
              <a:t>its</a:t>
            </a:r>
            <a:r>
              <a:rPr sz="1100" spc="15" dirty="0">
                <a:latin typeface="Georgia"/>
                <a:cs typeface="Georgia"/>
              </a:rPr>
              <a:t> </a:t>
            </a:r>
            <a:r>
              <a:rPr sz="1100" spc="-35" dirty="0">
                <a:latin typeface="Georgia"/>
                <a:cs typeface="Georgia"/>
              </a:rPr>
              <a:t>corresponding</a:t>
            </a:r>
            <a:r>
              <a:rPr sz="1100" spc="10" dirty="0">
                <a:latin typeface="Georgia"/>
                <a:cs typeface="Georgia"/>
              </a:rPr>
              <a:t> </a:t>
            </a:r>
            <a:r>
              <a:rPr sz="1100" spc="-10" dirty="0">
                <a:latin typeface="Georgia"/>
                <a:cs typeface="Georgia"/>
              </a:rPr>
              <a:t>representative </a:t>
            </a:r>
            <a:r>
              <a:rPr sz="1100" dirty="0">
                <a:latin typeface="Georgia"/>
                <a:cs typeface="Georgia"/>
              </a:rPr>
              <a:t>object</a:t>
            </a:r>
            <a:r>
              <a:rPr sz="1100" spc="60" dirty="0">
                <a:latin typeface="Georgia"/>
                <a:cs typeface="Georgia"/>
              </a:rPr>
              <a:t> </a:t>
            </a:r>
            <a:r>
              <a:rPr sz="1100" spc="55" dirty="0">
                <a:latin typeface="Cambria"/>
                <a:cs typeface="Cambria"/>
              </a:rPr>
              <a:t>o</a:t>
            </a:r>
            <a:r>
              <a:rPr sz="1200" i="1" spc="82" baseline="-10416" dirty="0">
                <a:latin typeface="Calibri"/>
                <a:cs typeface="Calibri"/>
              </a:rPr>
              <a:t>i</a:t>
            </a:r>
            <a:r>
              <a:rPr sz="1100" spc="55" dirty="0">
                <a:latin typeface="Georgia"/>
                <a:cs typeface="Georgia"/>
              </a:rPr>
              <a:t>.</a:t>
            </a:r>
            <a:r>
              <a:rPr sz="1100" spc="170" dirty="0">
                <a:latin typeface="Georgia"/>
                <a:cs typeface="Georgia"/>
              </a:rPr>
              <a:t> </a:t>
            </a:r>
            <a:r>
              <a:rPr sz="1100" dirty="0">
                <a:latin typeface="Georgia"/>
                <a:cs typeface="Georgia"/>
              </a:rPr>
              <a:t>That</a:t>
            </a:r>
            <a:r>
              <a:rPr sz="1100" spc="65" dirty="0">
                <a:latin typeface="Georgia"/>
                <a:cs typeface="Georgia"/>
              </a:rPr>
              <a:t> </a:t>
            </a:r>
            <a:r>
              <a:rPr sz="1100" dirty="0">
                <a:latin typeface="Georgia"/>
                <a:cs typeface="Georgia"/>
              </a:rPr>
              <a:t>is,</a:t>
            </a:r>
            <a:r>
              <a:rPr sz="1100" spc="65" dirty="0">
                <a:latin typeface="Georgia"/>
                <a:cs typeface="Georgia"/>
              </a:rPr>
              <a:t> </a:t>
            </a:r>
            <a:r>
              <a:rPr sz="1100" dirty="0">
                <a:latin typeface="Georgia"/>
                <a:cs typeface="Georgia"/>
              </a:rPr>
              <a:t>an</a:t>
            </a:r>
            <a:r>
              <a:rPr sz="1100" spc="60" dirty="0">
                <a:latin typeface="Georgia"/>
                <a:cs typeface="Georgia"/>
              </a:rPr>
              <a:t> </a:t>
            </a:r>
            <a:r>
              <a:rPr sz="1100" b="1" spc="-60" dirty="0">
                <a:latin typeface="Georgia"/>
                <a:cs typeface="Georgia"/>
              </a:rPr>
              <a:t>absolute–error</a:t>
            </a:r>
            <a:r>
              <a:rPr sz="1100" b="1" spc="100" dirty="0">
                <a:latin typeface="Georgia"/>
                <a:cs typeface="Georgia"/>
              </a:rPr>
              <a:t> </a:t>
            </a:r>
            <a:r>
              <a:rPr sz="1100" b="1" spc="-45" dirty="0">
                <a:latin typeface="Georgia"/>
                <a:cs typeface="Georgia"/>
              </a:rPr>
              <a:t>criterion</a:t>
            </a:r>
            <a:r>
              <a:rPr sz="1100" b="1" spc="50" dirty="0">
                <a:latin typeface="Georgia"/>
                <a:cs typeface="Georgia"/>
              </a:rPr>
              <a:t> </a:t>
            </a:r>
            <a:r>
              <a:rPr sz="1100" dirty="0">
                <a:latin typeface="Georgia"/>
                <a:cs typeface="Georgia"/>
              </a:rPr>
              <a:t>is</a:t>
            </a:r>
            <a:r>
              <a:rPr sz="1100" spc="65" dirty="0">
                <a:latin typeface="Georgia"/>
                <a:cs typeface="Georgia"/>
              </a:rPr>
              <a:t> </a:t>
            </a:r>
            <a:r>
              <a:rPr sz="1100" spc="-20" dirty="0">
                <a:latin typeface="Georgia"/>
                <a:cs typeface="Georgia"/>
              </a:rPr>
              <a:t>used,</a:t>
            </a:r>
            <a:r>
              <a:rPr sz="1100" spc="60" dirty="0">
                <a:latin typeface="Georgia"/>
                <a:cs typeface="Georgia"/>
              </a:rPr>
              <a:t> </a:t>
            </a:r>
            <a:r>
              <a:rPr sz="1100" spc="-40" dirty="0">
                <a:latin typeface="Georgia"/>
                <a:cs typeface="Georgia"/>
              </a:rPr>
              <a:t>defined</a:t>
            </a:r>
            <a:r>
              <a:rPr sz="1100" spc="65" dirty="0">
                <a:latin typeface="Georgia"/>
                <a:cs typeface="Georgia"/>
              </a:rPr>
              <a:t> </a:t>
            </a:r>
            <a:r>
              <a:rPr sz="1100" spc="-25" dirty="0">
                <a:latin typeface="Georgia"/>
                <a:cs typeface="Georgia"/>
              </a:rPr>
              <a:t>as:</a:t>
            </a:r>
            <a:endParaRPr sz="1100">
              <a:latin typeface="Georgia"/>
              <a:cs typeface="Georgia"/>
            </a:endParaRPr>
          </a:p>
          <a:p>
            <a:pPr marR="574675" algn="ctr">
              <a:lnSpc>
                <a:spcPct val="100000"/>
              </a:lnSpc>
              <a:spcBef>
                <a:spcPts val="885"/>
              </a:spcBef>
            </a:pPr>
            <a:endParaRPr sz="800">
              <a:latin typeface="Calibri"/>
              <a:cs typeface="Calibri"/>
            </a:endParaRPr>
          </a:p>
        </p:txBody>
      </p:sp>
      <p:sp>
        <p:nvSpPr>
          <p:cNvPr id="5" name="object 5"/>
          <p:cNvSpPr/>
          <p:nvPr/>
        </p:nvSpPr>
        <p:spPr>
          <a:xfrm>
            <a:off x="337972" y="886015"/>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27050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1" name="object 11"/>
          <p:cNvSpPr txBox="1"/>
          <p:nvPr/>
        </p:nvSpPr>
        <p:spPr>
          <a:xfrm>
            <a:off x="428777" y="2276524"/>
            <a:ext cx="5068570" cy="722630"/>
          </a:xfrm>
          <a:prstGeom prst="rect">
            <a:avLst/>
          </a:prstGeom>
        </p:spPr>
        <p:txBody>
          <a:bodyPr vert="horz" wrap="square" lIns="0" tIns="34290" rIns="0" bIns="0" rtlCol="0">
            <a:spAutoFit/>
          </a:bodyPr>
          <a:lstStyle/>
          <a:p>
            <a:pPr marL="38100" marR="30480">
              <a:lnSpc>
                <a:spcPts val="1150"/>
              </a:lnSpc>
              <a:spcBef>
                <a:spcPts val="270"/>
              </a:spcBef>
            </a:pPr>
            <a:r>
              <a:rPr sz="1100" dirty="0">
                <a:latin typeface="Georgia"/>
                <a:cs typeface="Georgia"/>
              </a:rPr>
              <a:t>This</a:t>
            </a:r>
            <a:r>
              <a:rPr sz="1100" spc="25" dirty="0">
                <a:latin typeface="Georgia"/>
                <a:cs typeface="Georgia"/>
              </a:rPr>
              <a:t> </a:t>
            </a:r>
            <a:r>
              <a:rPr sz="1100" dirty="0">
                <a:latin typeface="Georgia"/>
                <a:cs typeface="Georgia"/>
              </a:rPr>
              <a:t>is</a:t>
            </a:r>
            <a:r>
              <a:rPr sz="1100" spc="30"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basis</a:t>
            </a:r>
            <a:r>
              <a:rPr sz="1100" spc="30" dirty="0">
                <a:latin typeface="Georgia"/>
                <a:cs typeface="Georgia"/>
              </a:rPr>
              <a:t> </a:t>
            </a:r>
            <a:r>
              <a:rPr sz="1100" dirty="0">
                <a:latin typeface="Georgia"/>
                <a:cs typeface="Georgia"/>
              </a:rPr>
              <a:t>for</a:t>
            </a:r>
            <a:r>
              <a:rPr sz="1100" spc="30" dirty="0">
                <a:latin typeface="Georgia"/>
                <a:cs typeface="Georgia"/>
              </a:rPr>
              <a:t> </a:t>
            </a:r>
            <a:r>
              <a:rPr sz="1100" dirty="0">
                <a:latin typeface="Georgia"/>
                <a:cs typeface="Georgia"/>
              </a:rPr>
              <a:t>the</a:t>
            </a:r>
            <a:r>
              <a:rPr sz="1100" spc="30" dirty="0">
                <a:latin typeface="Georgia"/>
                <a:cs typeface="Georgia"/>
              </a:rPr>
              <a:t> </a:t>
            </a:r>
            <a:r>
              <a:rPr sz="1100" i="1" spc="-40" dirty="0">
                <a:latin typeface="Calibri"/>
                <a:cs typeface="Calibri"/>
              </a:rPr>
              <a:t>k</a:t>
            </a:r>
            <a:r>
              <a:rPr sz="1100" spc="-40" dirty="0">
                <a:latin typeface="Georgia"/>
                <a:cs typeface="Georgia"/>
              </a:rPr>
              <a:t>–medoids</a:t>
            </a:r>
            <a:r>
              <a:rPr sz="1100" spc="30" dirty="0">
                <a:latin typeface="Georgia"/>
                <a:cs typeface="Georgia"/>
              </a:rPr>
              <a:t> </a:t>
            </a:r>
            <a:r>
              <a:rPr sz="1100" spc="-10" dirty="0">
                <a:latin typeface="Georgia"/>
                <a:cs typeface="Georgia"/>
              </a:rPr>
              <a:t>method,</a:t>
            </a:r>
            <a:r>
              <a:rPr sz="1100" spc="30" dirty="0">
                <a:latin typeface="Georgia"/>
                <a:cs typeface="Georgia"/>
              </a:rPr>
              <a:t> </a:t>
            </a:r>
            <a:r>
              <a:rPr sz="1100" spc="-20" dirty="0">
                <a:latin typeface="Georgia"/>
                <a:cs typeface="Georgia"/>
              </a:rPr>
              <a:t>which</a:t>
            </a:r>
            <a:r>
              <a:rPr sz="1100" spc="30" dirty="0">
                <a:latin typeface="Georgia"/>
                <a:cs typeface="Georgia"/>
              </a:rPr>
              <a:t> </a:t>
            </a:r>
            <a:r>
              <a:rPr sz="1100" spc="-25" dirty="0">
                <a:latin typeface="Georgia"/>
                <a:cs typeface="Georgia"/>
              </a:rPr>
              <a:t>groups</a:t>
            </a:r>
            <a:r>
              <a:rPr sz="1100" spc="25" dirty="0">
                <a:latin typeface="Georgia"/>
                <a:cs typeface="Georgia"/>
              </a:rPr>
              <a:t> </a:t>
            </a:r>
            <a:r>
              <a:rPr sz="1100" i="1" spc="90" dirty="0">
                <a:latin typeface="Calibri"/>
                <a:cs typeface="Calibri"/>
              </a:rPr>
              <a:t>n</a:t>
            </a:r>
            <a:r>
              <a:rPr sz="1100" i="1" spc="45" dirty="0">
                <a:latin typeface="Calibri"/>
                <a:cs typeface="Calibri"/>
              </a:rPr>
              <a:t> </a:t>
            </a:r>
            <a:r>
              <a:rPr sz="1100" dirty="0">
                <a:latin typeface="Georgia"/>
                <a:cs typeface="Georgia"/>
              </a:rPr>
              <a:t>objects</a:t>
            </a:r>
            <a:r>
              <a:rPr sz="1100" spc="30" dirty="0">
                <a:latin typeface="Georgia"/>
                <a:cs typeface="Georgia"/>
              </a:rPr>
              <a:t> </a:t>
            </a:r>
            <a:r>
              <a:rPr sz="1100" dirty="0">
                <a:latin typeface="Georgia"/>
                <a:cs typeface="Georgia"/>
              </a:rPr>
              <a:t>into</a:t>
            </a:r>
            <a:r>
              <a:rPr sz="1100" spc="30" dirty="0">
                <a:latin typeface="Georgia"/>
                <a:cs typeface="Georgia"/>
              </a:rPr>
              <a:t> </a:t>
            </a:r>
            <a:r>
              <a:rPr sz="1100" i="1" spc="65" dirty="0">
                <a:latin typeface="Calibri"/>
                <a:cs typeface="Calibri"/>
              </a:rPr>
              <a:t>k</a:t>
            </a:r>
            <a:r>
              <a:rPr sz="1100" i="1" spc="75" dirty="0">
                <a:latin typeface="Calibri"/>
                <a:cs typeface="Calibri"/>
              </a:rPr>
              <a:t> </a:t>
            </a:r>
            <a:r>
              <a:rPr sz="1100" spc="-10" dirty="0">
                <a:latin typeface="Georgia"/>
                <a:cs typeface="Georgia"/>
              </a:rPr>
              <a:t>clusters </a:t>
            </a:r>
            <a:r>
              <a:rPr sz="1100" dirty="0">
                <a:latin typeface="Georgia"/>
                <a:cs typeface="Georgia"/>
              </a:rPr>
              <a:t>by</a:t>
            </a:r>
            <a:r>
              <a:rPr sz="1100" spc="35" dirty="0">
                <a:latin typeface="Georgia"/>
                <a:cs typeface="Georgia"/>
              </a:rPr>
              <a:t> </a:t>
            </a:r>
            <a:r>
              <a:rPr sz="1100" spc="-35" dirty="0">
                <a:latin typeface="Georgia"/>
                <a:cs typeface="Georgia"/>
              </a:rPr>
              <a:t>minimizing</a:t>
            </a:r>
            <a:r>
              <a:rPr sz="1100" spc="40"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absolute</a:t>
            </a:r>
            <a:r>
              <a:rPr sz="1100" spc="40" dirty="0">
                <a:latin typeface="Georgia"/>
                <a:cs typeface="Georgia"/>
              </a:rPr>
              <a:t> </a:t>
            </a:r>
            <a:r>
              <a:rPr sz="1100" spc="-10" dirty="0">
                <a:latin typeface="Georgia"/>
                <a:cs typeface="Georgia"/>
              </a:rPr>
              <a:t>error.</a:t>
            </a:r>
            <a:endParaRPr sz="1100">
              <a:latin typeface="Georgia"/>
              <a:cs typeface="Georgia"/>
            </a:endParaRPr>
          </a:p>
          <a:p>
            <a:pPr marL="38100" marR="174625">
              <a:lnSpc>
                <a:spcPts val="1150"/>
              </a:lnSpc>
              <a:spcBef>
                <a:spcPts val="725"/>
              </a:spcBef>
            </a:pPr>
            <a:r>
              <a:rPr sz="1100" dirty="0">
                <a:latin typeface="Georgia"/>
                <a:cs typeface="Georgia"/>
              </a:rPr>
              <a:t>When</a:t>
            </a:r>
            <a:r>
              <a:rPr sz="1100" spc="30" dirty="0">
                <a:latin typeface="Georgia"/>
                <a:cs typeface="Georgia"/>
              </a:rPr>
              <a:t> </a:t>
            </a:r>
            <a:r>
              <a:rPr sz="1100" i="1" spc="65" dirty="0">
                <a:latin typeface="Calibri"/>
                <a:cs typeface="Calibri"/>
              </a:rPr>
              <a:t>k</a:t>
            </a:r>
            <a:r>
              <a:rPr sz="1100" i="1" spc="30" dirty="0">
                <a:latin typeface="Calibri"/>
                <a:cs typeface="Calibri"/>
              </a:rPr>
              <a:t> </a:t>
            </a:r>
            <a:r>
              <a:rPr sz="1100" spc="295" dirty="0">
                <a:latin typeface="Calibri"/>
                <a:cs typeface="Calibri"/>
              </a:rPr>
              <a:t>=</a:t>
            </a:r>
            <a:r>
              <a:rPr sz="1100" spc="5" dirty="0">
                <a:latin typeface="Calibri"/>
                <a:cs typeface="Calibri"/>
              </a:rPr>
              <a:t> </a:t>
            </a:r>
            <a:r>
              <a:rPr sz="1100" dirty="0">
                <a:latin typeface="Calibri"/>
                <a:cs typeface="Calibri"/>
              </a:rPr>
              <a:t>1</a:t>
            </a:r>
            <a:r>
              <a:rPr sz="1100" dirty="0">
                <a:latin typeface="Georgia"/>
                <a:cs typeface="Georgia"/>
              </a:rPr>
              <a:t>,</a:t>
            </a:r>
            <a:r>
              <a:rPr sz="1100" spc="35" dirty="0">
                <a:latin typeface="Georgia"/>
                <a:cs typeface="Georgia"/>
              </a:rPr>
              <a:t> </a:t>
            </a:r>
            <a:r>
              <a:rPr sz="1100" spc="-10" dirty="0">
                <a:latin typeface="Georgia"/>
                <a:cs typeface="Georgia"/>
              </a:rPr>
              <a:t>we</a:t>
            </a:r>
            <a:r>
              <a:rPr sz="1100" spc="35" dirty="0">
                <a:latin typeface="Georgia"/>
                <a:cs typeface="Georgia"/>
              </a:rPr>
              <a:t> </a:t>
            </a:r>
            <a:r>
              <a:rPr sz="1100" dirty="0">
                <a:latin typeface="Georgia"/>
                <a:cs typeface="Georgia"/>
              </a:rPr>
              <a:t>can</a:t>
            </a:r>
            <a:r>
              <a:rPr sz="1100" spc="35" dirty="0">
                <a:latin typeface="Georgia"/>
                <a:cs typeface="Georgia"/>
              </a:rPr>
              <a:t> </a:t>
            </a:r>
            <a:r>
              <a:rPr sz="1100" spc="-20" dirty="0">
                <a:latin typeface="Georgia"/>
                <a:cs typeface="Georgia"/>
              </a:rPr>
              <a:t>find</a:t>
            </a:r>
            <a:r>
              <a:rPr sz="1100" spc="35"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exact</a:t>
            </a:r>
            <a:r>
              <a:rPr sz="1100" spc="35" dirty="0">
                <a:latin typeface="Georgia"/>
                <a:cs typeface="Georgia"/>
              </a:rPr>
              <a:t> </a:t>
            </a:r>
            <a:r>
              <a:rPr sz="1100" spc="-30" dirty="0">
                <a:latin typeface="Georgia"/>
                <a:cs typeface="Georgia"/>
              </a:rPr>
              <a:t>median</a:t>
            </a:r>
            <a:r>
              <a:rPr sz="1100" spc="35" dirty="0">
                <a:latin typeface="Georgia"/>
                <a:cs typeface="Georgia"/>
              </a:rPr>
              <a:t> </a:t>
            </a:r>
            <a:r>
              <a:rPr sz="1100" dirty="0">
                <a:latin typeface="Georgia"/>
                <a:cs typeface="Georgia"/>
              </a:rPr>
              <a:t>in</a:t>
            </a:r>
            <a:r>
              <a:rPr sz="1100" spc="35" dirty="0">
                <a:latin typeface="Georgia"/>
                <a:cs typeface="Georgia"/>
              </a:rPr>
              <a:t> </a:t>
            </a:r>
            <a:r>
              <a:rPr sz="1100" i="1" spc="90" dirty="0">
                <a:latin typeface="Calibri"/>
                <a:cs typeface="Calibri"/>
              </a:rPr>
              <a:t>O</a:t>
            </a:r>
            <a:r>
              <a:rPr sz="1100" spc="90" dirty="0">
                <a:latin typeface="Calibri"/>
                <a:cs typeface="Calibri"/>
              </a:rPr>
              <a:t>(</a:t>
            </a:r>
            <a:r>
              <a:rPr sz="1100" i="1" spc="90" dirty="0">
                <a:latin typeface="Calibri"/>
                <a:cs typeface="Calibri"/>
              </a:rPr>
              <a:t>n</a:t>
            </a:r>
            <a:r>
              <a:rPr sz="1200" spc="135" baseline="27777" dirty="0">
                <a:latin typeface="Calibri"/>
                <a:cs typeface="Calibri"/>
              </a:rPr>
              <a:t>2</a:t>
            </a:r>
            <a:r>
              <a:rPr sz="1100" spc="90" dirty="0">
                <a:latin typeface="Calibri"/>
                <a:cs typeface="Calibri"/>
              </a:rPr>
              <a:t>)</a:t>
            </a:r>
            <a:r>
              <a:rPr sz="1100" spc="50" dirty="0">
                <a:latin typeface="Calibri"/>
                <a:cs typeface="Calibri"/>
              </a:rPr>
              <a:t> </a:t>
            </a:r>
            <a:r>
              <a:rPr sz="1100" dirty="0">
                <a:latin typeface="Georgia"/>
                <a:cs typeface="Georgia"/>
              </a:rPr>
              <a:t>time.</a:t>
            </a:r>
            <a:r>
              <a:rPr sz="1100" spc="130" dirty="0">
                <a:latin typeface="Georgia"/>
                <a:cs typeface="Georgia"/>
              </a:rPr>
              <a:t> </a:t>
            </a:r>
            <a:r>
              <a:rPr sz="1100" spc="-40" dirty="0">
                <a:latin typeface="Georgia"/>
                <a:cs typeface="Georgia"/>
              </a:rPr>
              <a:t>However,</a:t>
            </a:r>
            <a:r>
              <a:rPr sz="1100" spc="35" dirty="0">
                <a:latin typeface="Georgia"/>
                <a:cs typeface="Georgia"/>
              </a:rPr>
              <a:t> </a:t>
            </a:r>
            <a:r>
              <a:rPr sz="1100" spc="-20" dirty="0">
                <a:latin typeface="Georgia"/>
                <a:cs typeface="Georgia"/>
              </a:rPr>
              <a:t>when</a:t>
            </a:r>
            <a:r>
              <a:rPr sz="1100" spc="35" dirty="0">
                <a:latin typeface="Georgia"/>
                <a:cs typeface="Georgia"/>
              </a:rPr>
              <a:t> </a:t>
            </a:r>
            <a:r>
              <a:rPr sz="1100" i="1" spc="65" dirty="0">
                <a:latin typeface="Calibri"/>
                <a:cs typeface="Calibri"/>
              </a:rPr>
              <a:t>k</a:t>
            </a:r>
            <a:r>
              <a:rPr sz="1100" i="1" spc="75" dirty="0">
                <a:latin typeface="Calibri"/>
                <a:cs typeface="Calibri"/>
              </a:rPr>
              <a:t> </a:t>
            </a:r>
            <a:r>
              <a:rPr sz="1100" dirty="0">
                <a:latin typeface="Georgia"/>
                <a:cs typeface="Georgia"/>
              </a:rPr>
              <a:t>is</a:t>
            </a:r>
            <a:r>
              <a:rPr sz="1100" spc="35" dirty="0">
                <a:latin typeface="Georgia"/>
                <a:cs typeface="Georgia"/>
              </a:rPr>
              <a:t> </a:t>
            </a:r>
            <a:r>
              <a:rPr sz="1100" spc="-50" dirty="0">
                <a:latin typeface="Georgia"/>
                <a:cs typeface="Georgia"/>
              </a:rPr>
              <a:t>a </a:t>
            </a:r>
            <a:r>
              <a:rPr sz="1100" spc="-25" dirty="0">
                <a:latin typeface="Georgia"/>
                <a:cs typeface="Georgia"/>
              </a:rPr>
              <a:t>general</a:t>
            </a:r>
            <a:r>
              <a:rPr sz="1100" spc="25" dirty="0">
                <a:latin typeface="Georgia"/>
                <a:cs typeface="Georgia"/>
              </a:rPr>
              <a:t> </a:t>
            </a:r>
            <a:r>
              <a:rPr sz="1100" spc="-10" dirty="0">
                <a:latin typeface="Georgia"/>
                <a:cs typeface="Georgia"/>
              </a:rPr>
              <a:t>positive</a:t>
            </a:r>
            <a:r>
              <a:rPr sz="1100" spc="25" dirty="0">
                <a:latin typeface="Georgia"/>
                <a:cs typeface="Georgia"/>
              </a:rPr>
              <a:t> </a:t>
            </a:r>
            <a:r>
              <a:rPr sz="1100" spc="-35" dirty="0">
                <a:latin typeface="Georgia"/>
                <a:cs typeface="Georgia"/>
              </a:rPr>
              <a:t>number,</a:t>
            </a:r>
            <a:r>
              <a:rPr sz="1100" spc="25" dirty="0">
                <a:latin typeface="Georgia"/>
                <a:cs typeface="Georgia"/>
              </a:rPr>
              <a:t> </a:t>
            </a:r>
            <a:r>
              <a:rPr sz="1100" dirty="0">
                <a:latin typeface="Georgia"/>
                <a:cs typeface="Georgia"/>
              </a:rPr>
              <a:t>the</a:t>
            </a:r>
            <a:r>
              <a:rPr sz="1100" spc="30" dirty="0">
                <a:latin typeface="Georgia"/>
                <a:cs typeface="Georgia"/>
              </a:rPr>
              <a:t> </a:t>
            </a:r>
            <a:r>
              <a:rPr sz="1100" i="1" spc="-35" dirty="0">
                <a:latin typeface="Calibri"/>
                <a:cs typeface="Calibri"/>
              </a:rPr>
              <a:t>k</a:t>
            </a:r>
            <a:r>
              <a:rPr sz="1100" spc="-35" dirty="0">
                <a:latin typeface="Georgia"/>
                <a:cs typeface="Georgia"/>
              </a:rPr>
              <a:t>–medoid</a:t>
            </a:r>
            <a:r>
              <a:rPr sz="1100" spc="25" dirty="0">
                <a:latin typeface="Georgia"/>
                <a:cs typeface="Georgia"/>
              </a:rPr>
              <a:t> </a:t>
            </a:r>
            <a:r>
              <a:rPr sz="1100" spc="-30" dirty="0">
                <a:latin typeface="Georgia"/>
                <a:cs typeface="Georgia"/>
              </a:rPr>
              <a:t>problem</a:t>
            </a:r>
            <a:r>
              <a:rPr sz="1100" spc="25" dirty="0">
                <a:latin typeface="Georgia"/>
                <a:cs typeface="Georgia"/>
              </a:rPr>
              <a:t> </a:t>
            </a:r>
            <a:r>
              <a:rPr sz="1100" dirty="0">
                <a:latin typeface="Georgia"/>
                <a:cs typeface="Georgia"/>
              </a:rPr>
              <a:t>is</a:t>
            </a:r>
            <a:r>
              <a:rPr sz="1100" spc="30" dirty="0">
                <a:latin typeface="Georgia"/>
                <a:cs typeface="Georgia"/>
              </a:rPr>
              <a:t> </a:t>
            </a:r>
            <a:r>
              <a:rPr sz="1100" spc="-20" dirty="0">
                <a:latin typeface="Georgia"/>
                <a:cs typeface="Georgia"/>
              </a:rPr>
              <a:t>NP-</a:t>
            </a:r>
            <a:r>
              <a:rPr sz="1100" spc="-10" dirty="0">
                <a:latin typeface="Georgia"/>
                <a:cs typeface="Georgia"/>
              </a:rPr>
              <a:t>hard.</a:t>
            </a:r>
            <a:endParaRPr sz="1100">
              <a:latin typeface="Georgia"/>
              <a:cs typeface="Georgia"/>
            </a:endParaRPr>
          </a:p>
        </p:txBody>
      </p:sp>
      <p:sp>
        <p:nvSpPr>
          <p:cNvPr id="12" name="object 12"/>
          <p:cNvSpPr/>
          <p:nvPr/>
        </p:nvSpPr>
        <p:spPr>
          <a:xfrm>
            <a:off x="337972" y="2752610"/>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3" name="object 13"/>
          <p:cNvGrpSpPr/>
          <p:nvPr/>
        </p:nvGrpSpPr>
        <p:grpSpPr>
          <a:xfrm>
            <a:off x="0" y="3121545"/>
            <a:ext cx="5760085" cy="118745"/>
            <a:chOff x="0" y="3121545"/>
            <a:chExt cx="5760085" cy="118745"/>
          </a:xfrm>
        </p:grpSpPr>
        <p:sp>
          <p:nvSpPr>
            <p:cNvPr id="14" name="object 14"/>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5" name="object 15"/>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6" name="object 1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7" name="object 17"/>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8" name="object 18"/>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68</a:t>
            </a:fld>
            <a:r>
              <a:rPr dirty="0"/>
              <a:t> </a:t>
            </a:r>
            <a:r>
              <a:rPr spc="75" dirty="0"/>
              <a:t>/</a:t>
            </a:r>
            <a:r>
              <a:rPr spc="5" dirty="0"/>
              <a:t> </a:t>
            </a:r>
            <a:r>
              <a:rPr spc="35" dirty="0"/>
              <a:t>135</a:t>
            </a:r>
          </a:p>
        </p:txBody>
      </p:sp>
      <p:pic>
        <p:nvPicPr>
          <p:cNvPr id="19" name="Picture 18">
            <a:extLst>
              <a:ext uri="{FF2B5EF4-FFF2-40B4-BE49-F238E27FC236}">
                <a16:creationId xmlns:a16="http://schemas.microsoft.com/office/drawing/2014/main" id="{F4091529-42E4-F977-60FB-EF29B97A7C7E}"/>
              </a:ext>
            </a:extLst>
          </p:cNvPr>
          <p:cNvPicPr>
            <a:picLocks noChangeAspect="1"/>
          </p:cNvPicPr>
          <p:nvPr/>
        </p:nvPicPr>
        <p:blipFill>
          <a:blip r:embed="rId4"/>
          <a:stretch>
            <a:fillRect/>
          </a:stretch>
        </p:blipFill>
        <p:spPr>
          <a:xfrm>
            <a:off x="1968500" y="1718718"/>
            <a:ext cx="3111500" cy="515149"/>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60" dirty="0">
                <a:latin typeface="Calibri"/>
                <a:cs typeface="Calibri"/>
              </a:rPr>
              <a:t>K</a:t>
            </a:r>
            <a:r>
              <a:rPr spc="60" dirty="0"/>
              <a:t>–mediods:</a:t>
            </a:r>
            <a:r>
              <a:rPr spc="430" dirty="0"/>
              <a:t> </a:t>
            </a:r>
            <a:r>
              <a:rPr spc="10" dirty="0"/>
              <a:t>partitioning</a:t>
            </a:r>
            <a:r>
              <a:rPr spc="240" dirty="0"/>
              <a:t> </a:t>
            </a:r>
            <a:r>
              <a:rPr spc="10" dirty="0"/>
              <a:t>around</a:t>
            </a:r>
            <a:r>
              <a:rPr spc="235" dirty="0"/>
              <a:t> </a:t>
            </a:r>
            <a:r>
              <a:rPr spc="10" dirty="0"/>
              <a:t>mediods</a:t>
            </a:r>
            <a:r>
              <a:rPr spc="240" dirty="0"/>
              <a:t> </a:t>
            </a:r>
            <a:r>
              <a:rPr spc="10" dirty="0"/>
              <a:t>(PAM)</a:t>
            </a:r>
            <a:r>
              <a:rPr spc="235" dirty="0"/>
              <a:t> </a:t>
            </a:r>
            <a:r>
              <a:rPr spc="-10" dirty="0"/>
              <a:t>algorithm</a:t>
            </a:r>
          </a:p>
        </p:txBody>
      </p:sp>
      <p:sp>
        <p:nvSpPr>
          <p:cNvPr id="3" name="object 3"/>
          <p:cNvSpPr/>
          <p:nvPr/>
        </p:nvSpPr>
        <p:spPr>
          <a:xfrm>
            <a:off x="337972" y="72520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633601"/>
            <a:ext cx="5128895" cy="2022475"/>
          </a:xfrm>
          <a:prstGeom prst="rect">
            <a:avLst/>
          </a:prstGeom>
        </p:spPr>
        <p:txBody>
          <a:bodyPr vert="horz" wrap="square" lIns="0" tIns="11430" rIns="0" bIns="0" rtlCol="0">
            <a:spAutoFit/>
          </a:bodyPr>
          <a:lstStyle/>
          <a:p>
            <a:pPr marL="12700">
              <a:lnSpc>
                <a:spcPts val="1235"/>
              </a:lnSpc>
              <a:spcBef>
                <a:spcPts val="90"/>
              </a:spcBef>
            </a:pPr>
            <a:r>
              <a:rPr sz="1100" dirty="0">
                <a:latin typeface="Georgia"/>
                <a:cs typeface="Georgia"/>
              </a:rPr>
              <a:t>The</a:t>
            </a:r>
            <a:r>
              <a:rPr sz="1100" spc="60" dirty="0">
                <a:latin typeface="Georgia"/>
                <a:cs typeface="Georgia"/>
              </a:rPr>
              <a:t> </a:t>
            </a:r>
            <a:r>
              <a:rPr sz="1100" b="1" spc="-35" dirty="0">
                <a:latin typeface="Georgia"/>
                <a:cs typeface="Georgia"/>
              </a:rPr>
              <a:t>partitioning</a:t>
            </a:r>
            <a:r>
              <a:rPr sz="1100" b="1" spc="100" dirty="0">
                <a:latin typeface="Georgia"/>
                <a:cs typeface="Georgia"/>
              </a:rPr>
              <a:t> </a:t>
            </a:r>
            <a:r>
              <a:rPr sz="1100" b="1" spc="-50" dirty="0">
                <a:latin typeface="Georgia"/>
                <a:cs typeface="Georgia"/>
              </a:rPr>
              <a:t>around</a:t>
            </a:r>
            <a:r>
              <a:rPr sz="1100" b="1" spc="100" dirty="0">
                <a:latin typeface="Georgia"/>
                <a:cs typeface="Georgia"/>
              </a:rPr>
              <a:t> </a:t>
            </a:r>
            <a:r>
              <a:rPr sz="1100" b="1" spc="-50" dirty="0">
                <a:latin typeface="Georgia"/>
                <a:cs typeface="Georgia"/>
              </a:rPr>
              <a:t>medoids</a:t>
            </a:r>
            <a:r>
              <a:rPr sz="1100" b="1" spc="45" dirty="0">
                <a:latin typeface="Georgia"/>
                <a:cs typeface="Georgia"/>
              </a:rPr>
              <a:t> </a:t>
            </a:r>
            <a:r>
              <a:rPr sz="1100" dirty="0">
                <a:latin typeface="Georgia"/>
                <a:cs typeface="Georgia"/>
              </a:rPr>
              <a:t>(</a:t>
            </a:r>
            <a:r>
              <a:rPr sz="1100" b="1" dirty="0">
                <a:latin typeface="Georgia"/>
                <a:cs typeface="Georgia"/>
              </a:rPr>
              <a:t>PAM</a:t>
            </a:r>
            <a:r>
              <a:rPr sz="1100" dirty="0">
                <a:latin typeface="Georgia"/>
                <a:cs typeface="Georgia"/>
              </a:rPr>
              <a:t>)</a:t>
            </a:r>
            <a:r>
              <a:rPr sz="1100" spc="65" dirty="0">
                <a:latin typeface="Georgia"/>
                <a:cs typeface="Georgia"/>
              </a:rPr>
              <a:t> </a:t>
            </a:r>
            <a:r>
              <a:rPr sz="1100" spc="-20" dirty="0">
                <a:latin typeface="Georgia"/>
                <a:cs typeface="Georgia"/>
              </a:rPr>
              <a:t>algorithm</a:t>
            </a:r>
            <a:r>
              <a:rPr sz="1100" spc="65" dirty="0">
                <a:latin typeface="Georgia"/>
                <a:cs typeface="Georgia"/>
              </a:rPr>
              <a:t> </a:t>
            </a:r>
            <a:r>
              <a:rPr sz="1100" dirty="0">
                <a:latin typeface="Georgia"/>
                <a:cs typeface="Georgia"/>
              </a:rPr>
              <a:t>is</a:t>
            </a:r>
            <a:r>
              <a:rPr sz="1100" spc="65" dirty="0">
                <a:latin typeface="Georgia"/>
                <a:cs typeface="Georgia"/>
              </a:rPr>
              <a:t> </a:t>
            </a:r>
            <a:r>
              <a:rPr sz="1100" dirty="0">
                <a:latin typeface="Georgia"/>
                <a:cs typeface="Georgia"/>
              </a:rPr>
              <a:t>a</a:t>
            </a:r>
            <a:r>
              <a:rPr sz="1100" spc="65" dirty="0">
                <a:latin typeface="Georgia"/>
                <a:cs typeface="Georgia"/>
              </a:rPr>
              <a:t> </a:t>
            </a:r>
            <a:r>
              <a:rPr sz="1100" spc="-10" dirty="0">
                <a:latin typeface="Georgia"/>
                <a:cs typeface="Georgia"/>
              </a:rPr>
              <a:t>popular</a:t>
            </a:r>
            <a:r>
              <a:rPr sz="1100" spc="65" dirty="0">
                <a:latin typeface="Georgia"/>
                <a:cs typeface="Georgia"/>
              </a:rPr>
              <a:t> </a:t>
            </a:r>
            <a:r>
              <a:rPr sz="1100" spc="-20" dirty="0">
                <a:latin typeface="Georgia"/>
                <a:cs typeface="Georgia"/>
              </a:rPr>
              <a:t>realization</a:t>
            </a:r>
            <a:r>
              <a:rPr sz="1100" spc="65" dirty="0">
                <a:latin typeface="Georgia"/>
                <a:cs typeface="Georgia"/>
              </a:rPr>
              <a:t> </a:t>
            </a:r>
            <a:r>
              <a:rPr sz="1100" spc="-25" dirty="0">
                <a:latin typeface="Georgia"/>
                <a:cs typeface="Georgia"/>
              </a:rPr>
              <a:t>of</a:t>
            </a:r>
            <a:endParaRPr sz="1100">
              <a:latin typeface="Georgia"/>
              <a:cs typeface="Georgia"/>
            </a:endParaRPr>
          </a:p>
          <a:p>
            <a:pPr marL="12700">
              <a:lnSpc>
                <a:spcPts val="1235"/>
              </a:lnSpc>
            </a:pPr>
            <a:r>
              <a:rPr sz="1100" i="1" spc="-40" dirty="0">
                <a:latin typeface="Calibri"/>
                <a:cs typeface="Calibri"/>
              </a:rPr>
              <a:t>k</a:t>
            </a:r>
            <a:r>
              <a:rPr sz="1100" spc="-40" dirty="0">
                <a:latin typeface="Georgia"/>
                <a:cs typeface="Georgia"/>
              </a:rPr>
              <a:t>–medoids</a:t>
            </a:r>
            <a:r>
              <a:rPr sz="1100" spc="25" dirty="0">
                <a:latin typeface="Georgia"/>
                <a:cs typeface="Georgia"/>
              </a:rPr>
              <a:t> </a:t>
            </a:r>
            <a:r>
              <a:rPr sz="1100" spc="-10" dirty="0">
                <a:latin typeface="Georgia"/>
                <a:cs typeface="Georgia"/>
              </a:rPr>
              <a:t>clustering.</a:t>
            </a:r>
            <a:r>
              <a:rPr sz="1100" spc="114" dirty="0">
                <a:latin typeface="Georgia"/>
                <a:cs typeface="Georgia"/>
              </a:rPr>
              <a:t> </a:t>
            </a:r>
            <a:r>
              <a:rPr sz="1100" dirty="0">
                <a:latin typeface="Georgia"/>
                <a:cs typeface="Georgia"/>
              </a:rPr>
              <a:t>It</a:t>
            </a:r>
            <a:r>
              <a:rPr sz="1100" spc="25" dirty="0">
                <a:latin typeface="Georgia"/>
                <a:cs typeface="Georgia"/>
              </a:rPr>
              <a:t> </a:t>
            </a:r>
            <a:r>
              <a:rPr sz="1100" spc="-10" dirty="0">
                <a:latin typeface="Georgia"/>
                <a:cs typeface="Georgia"/>
              </a:rPr>
              <a:t>tackles</a:t>
            </a:r>
            <a:r>
              <a:rPr sz="1100" spc="25" dirty="0">
                <a:latin typeface="Georgia"/>
                <a:cs typeface="Georgia"/>
              </a:rPr>
              <a:t> </a:t>
            </a:r>
            <a:r>
              <a:rPr sz="1100" dirty="0">
                <a:latin typeface="Georgia"/>
                <a:cs typeface="Georgia"/>
              </a:rPr>
              <a:t>the</a:t>
            </a:r>
            <a:r>
              <a:rPr sz="1100" spc="25" dirty="0">
                <a:latin typeface="Georgia"/>
                <a:cs typeface="Georgia"/>
              </a:rPr>
              <a:t> </a:t>
            </a:r>
            <a:r>
              <a:rPr sz="1100" spc="-30" dirty="0">
                <a:latin typeface="Georgia"/>
                <a:cs typeface="Georgia"/>
              </a:rPr>
              <a:t>problem</a:t>
            </a:r>
            <a:r>
              <a:rPr sz="1100" spc="25"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an</a:t>
            </a:r>
            <a:r>
              <a:rPr sz="1100" spc="30" dirty="0">
                <a:latin typeface="Georgia"/>
                <a:cs typeface="Georgia"/>
              </a:rPr>
              <a:t> </a:t>
            </a:r>
            <a:r>
              <a:rPr sz="1100" b="1" spc="-20" dirty="0">
                <a:latin typeface="Georgia"/>
                <a:cs typeface="Georgia"/>
              </a:rPr>
              <a:t>iterative</a:t>
            </a:r>
            <a:r>
              <a:rPr sz="1100" spc="-20" dirty="0">
                <a:latin typeface="Georgia"/>
                <a:cs typeface="Georgia"/>
              </a:rPr>
              <a:t>,</a:t>
            </a:r>
            <a:r>
              <a:rPr sz="1100" spc="25" dirty="0">
                <a:latin typeface="Georgia"/>
                <a:cs typeface="Georgia"/>
              </a:rPr>
              <a:t> </a:t>
            </a:r>
            <a:r>
              <a:rPr sz="1100" b="1" spc="-10" dirty="0">
                <a:latin typeface="Georgia"/>
                <a:cs typeface="Georgia"/>
              </a:rPr>
              <a:t>greedy</a:t>
            </a:r>
            <a:r>
              <a:rPr sz="1100" b="1" spc="25" dirty="0">
                <a:latin typeface="Georgia"/>
                <a:cs typeface="Georgia"/>
              </a:rPr>
              <a:t> </a:t>
            </a:r>
            <a:r>
              <a:rPr sz="1100" spc="-20" dirty="0">
                <a:latin typeface="Georgia"/>
                <a:cs typeface="Georgia"/>
              </a:rPr>
              <a:t>way.</a:t>
            </a:r>
            <a:endParaRPr sz="1100">
              <a:latin typeface="Georgia"/>
              <a:cs typeface="Georgia"/>
            </a:endParaRPr>
          </a:p>
          <a:p>
            <a:pPr marL="12700" marR="311150">
              <a:lnSpc>
                <a:spcPts val="1150"/>
              </a:lnSpc>
              <a:spcBef>
                <a:spcPts val="735"/>
              </a:spcBef>
            </a:pPr>
            <a:r>
              <a:rPr sz="1100" spc="-10" dirty="0">
                <a:latin typeface="Georgia"/>
                <a:cs typeface="Georgia"/>
              </a:rPr>
              <a:t>Like</a:t>
            </a:r>
            <a:r>
              <a:rPr sz="1100" spc="25" dirty="0">
                <a:latin typeface="Georgia"/>
                <a:cs typeface="Georgia"/>
              </a:rPr>
              <a:t> </a:t>
            </a:r>
            <a:r>
              <a:rPr sz="1100" dirty="0">
                <a:latin typeface="Georgia"/>
                <a:cs typeface="Georgia"/>
              </a:rPr>
              <a:t>the</a:t>
            </a:r>
            <a:r>
              <a:rPr sz="1100" spc="25" dirty="0">
                <a:latin typeface="Georgia"/>
                <a:cs typeface="Georgia"/>
              </a:rPr>
              <a:t> </a:t>
            </a:r>
            <a:r>
              <a:rPr sz="1100" i="1" spc="-35" dirty="0">
                <a:latin typeface="Calibri"/>
                <a:cs typeface="Calibri"/>
              </a:rPr>
              <a:t>k</a:t>
            </a:r>
            <a:r>
              <a:rPr sz="1100" spc="-35" dirty="0">
                <a:latin typeface="Georgia"/>
                <a:cs typeface="Georgia"/>
              </a:rPr>
              <a:t>–means</a:t>
            </a:r>
            <a:r>
              <a:rPr sz="1100" spc="30" dirty="0">
                <a:latin typeface="Georgia"/>
                <a:cs typeface="Georgia"/>
              </a:rPr>
              <a:t> </a:t>
            </a:r>
            <a:r>
              <a:rPr sz="1100" spc="-20" dirty="0">
                <a:latin typeface="Georgia"/>
                <a:cs typeface="Georgia"/>
              </a:rPr>
              <a:t>algorithm,</a:t>
            </a:r>
            <a:r>
              <a:rPr sz="1100" spc="25" dirty="0">
                <a:latin typeface="Georgia"/>
                <a:cs typeface="Georgia"/>
              </a:rPr>
              <a:t> </a:t>
            </a:r>
            <a:r>
              <a:rPr sz="1100" dirty="0">
                <a:latin typeface="Georgia"/>
                <a:cs typeface="Georgia"/>
              </a:rPr>
              <a:t>the</a:t>
            </a:r>
            <a:r>
              <a:rPr sz="1100" spc="30" dirty="0">
                <a:latin typeface="Georgia"/>
                <a:cs typeface="Georgia"/>
              </a:rPr>
              <a:t> </a:t>
            </a:r>
            <a:r>
              <a:rPr sz="1100" dirty="0">
                <a:latin typeface="Georgia"/>
                <a:cs typeface="Georgia"/>
              </a:rPr>
              <a:t>initial</a:t>
            </a:r>
            <a:r>
              <a:rPr sz="1100" spc="25" dirty="0">
                <a:latin typeface="Georgia"/>
                <a:cs typeface="Georgia"/>
              </a:rPr>
              <a:t> </a:t>
            </a:r>
            <a:r>
              <a:rPr sz="1100" spc="-30" dirty="0">
                <a:latin typeface="Georgia"/>
                <a:cs typeface="Georgia"/>
              </a:rPr>
              <a:t>representative</a:t>
            </a:r>
            <a:r>
              <a:rPr sz="1100" spc="25" dirty="0">
                <a:latin typeface="Georgia"/>
                <a:cs typeface="Georgia"/>
              </a:rPr>
              <a:t> </a:t>
            </a:r>
            <a:r>
              <a:rPr sz="1100" dirty="0">
                <a:latin typeface="Georgia"/>
                <a:cs typeface="Georgia"/>
              </a:rPr>
              <a:t>objects</a:t>
            </a:r>
            <a:r>
              <a:rPr sz="1100" spc="30" dirty="0">
                <a:latin typeface="Georgia"/>
                <a:cs typeface="Georgia"/>
              </a:rPr>
              <a:t> </a:t>
            </a:r>
            <a:r>
              <a:rPr sz="1100" spc="-10" dirty="0">
                <a:latin typeface="Georgia"/>
                <a:cs typeface="Georgia"/>
              </a:rPr>
              <a:t>(called</a:t>
            </a:r>
            <a:r>
              <a:rPr sz="1100" spc="25" dirty="0">
                <a:latin typeface="Georgia"/>
                <a:cs typeface="Georgia"/>
              </a:rPr>
              <a:t> </a:t>
            </a:r>
            <a:r>
              <a:rPr sz="1100" spc="-25" dirty="0">
                <a:latin typeface="Georgia"/>
                <a:cs typeface="Georgia"/>
              </a:rPr>
              <a:t>seeds)</a:t>
            </a:r>
            <a:r>
              <a:rPr sz="1100" spc="30" dirty="0">
                <a:latin typeface="Georgia"/>
                <a:cs typeface="Georgia"/>
              </a:rPr>
              <a:t> </a:t>
            </a:r>
            <a:r>
              <a:rPr sz="1100" spc="-25" dirty="0">
                <a:latin typeface="Georgia"/>
                <a:cs typeface="Georgia"/>
              </a:rPr>
              <a:t>are </a:t>
            </a:r>
            <a:r>
              <a:rPr sz="1100" spc="-35" dirty="0">
                <a:latin typeface="Georgia"/>
                <a:cs typeface="Georgia"/>
              </a:rPr>
              <a:t>chosen</a:t>
            </a:r>
            <a:r>
              <a:rPr sz="1100" spc="10" dirty="0">
                <a:latin typeface="Georgia"/>
                <a:cs typeface="Georgia"/>
              </a:rPr>
              <a:t> </a:t>
            </a:r>
            <a:r>
              <a:rPr sz="1100" spc="-10" dirty="0">
                <a:latin typeface="Georgia"/>
                <a:cs typeface="Georgia"/>
              </a:rPr>
              <a:t>arbitrarily.</a:t>
            </a:r>
            <a:endParaRPr sz="1100">
              <a:latin typeface="Georgia"/>
              <a:cs typeface="Georgia"/>
            </a:endParaRPr>
          </a:p>
          <a:p>
            <a:pPr marL="12700" marR="76200">
              <a:lnSpc>
                <a:spcPts val="1150"/>
              </a:lnSpc>
              <a:spcBef>
                <a:spcPts val="730"/>
              </a:spcBef>
            </a:pPr>
            <a:r>
              <a:rPr sz="1100" dirty="0">
                <a:latin typeface="Georgia"/>
                <a:cs typeface="Georgia"/>
              </a:rPr>
              <a:t>We</a:t>
            </a:r>
            <a:r>
              <a:rPr sz="1100" spc="50" dirty="0">
                <a:latin typeface="Georgia"/>
                <a:cs typeface="Georgia"/>
              </a:rPr>
              <a:t> </a:t>
            </a:r>
            <a:r>
              <a:rPr sz="1100" spc="-30" dirty="0">
                <a:latin typeface="Georgia"/>
                <a:cs typeface="Georgia"/>
              </a:rPr>
              <a:t>consider</a:t>
            </a:r>
            <a:r>
              <a:rPr sz="1100" spc="50" dirty="0">
                <a:latin typeface="Georgia"/>
                <a:cs typeface="Georgia"/>
              </a:rPr>
              <a:t> </a:t>
            </a:r>
            <a:r>
              <a:rPr sz="1100" spc="-20" dirty="0">
                <a:latin typeface="Georgia"/>
                <a:cs typeface="Georgia"/>
              </a:rPr>
              <a:t>whether</a:t>
            </a:r>
            <a:r>
              <a:rPr sz="1100" spc="50" dirty="0">
                <a:latin typeface="Georgia"/>
                <a:cs typeface="Georgia"/>
              </a:rPr>
              <a:t> </a:t>
            </a:r>
            <a:r>
              <a:rPr sz="1100" spc="-25" dirty="0">
                <a:latin typeface="Georgia"/>
                <a:cs typeface="Georgia"/>
              </a:rPr>
              <a:t>replacing</a:t>
            </a:r>
            <a:r>
              <a:rPr sz="1100" spc="50" dirty="0">
                <a:latin typeface="Georgia"/>
                <a:cs typeface="Georgia"/>
              </a:rPr>
              <a:t> </a:t>
            </a:r>
            <a:r>
              <a:rPr sz="1100" dirty="0">
                <a:latin typeface="Georgia"/>
                <a:cs typeface="Georgia"/>
              </a:rPr>
              <a:t>a</a:t>
            </a:r>
            <a:r>
              <a:rPr sz="1100" spc="50" dirty="0">
                <a:latin typeface="Georgia"/>
                <a:cs typeface="Georgia"/>
              </a:rPr>
              <a:t> </a:t>
            </a:r>
            <a:r>
              <a:rPr sz="1100" spc="-30" dirty="0">
                <a:latin typeface="Georgia"/>
                <a:cs typeface="Georgia"/>
              </a:rPr>
              <a:t>representative</a:t>
            </a:r>
            <a:r>
              <a:rPr sz="1100" spc="50" dirty="0">
                <a:latin typeface="Georgia"/>
                <a:cs typeface="Georgia"/>
              </a:rPr>
              <a:t> </a:t>
            </a:r>
            <a:r>
              <a:rPr sz="1100" dirty="0">
                <a:latin typeface="Georgia"/>
                <a:cs typeface="Georgia"/>
              </a:rPr>
              <a:t>object</a:t>
            </a:r>
            <a:r>
              <a:rPr sz="1100" spc="50" dirty="0">
                <a:latin typeface="Georgia"/>
                <a:cs typeface="Georgia"/>
              </a:rPr>
              <a:t> </a:t>
            </a:r>
            <a:r>
              <a:rPr sz="1100" dirty="0">
                <a:latin typeface="Georgia"/>
                <a:cs typeface="Georgia"/>
              </a:rPr>
              <a:t>by</a:t>
            </a:r>
            <a:r>
              <a:rPr sz="1100" spc="50" dirty="0">
                <a:latin typeface="Georgia"/>
                <a:cs typeface="Georgia"/>
              </a:rPr>
              <a:t> </a:t>
            </a:r>
            <a:r>
              <a:rPr sz="1100" dirty="0">
                <a:latin typeface="Georgia"/>
                <a:cs typeface="Georgia"/>
              </a:rPr>
              <a:t>a</a:t>
            </a:r>
            <a:r>
              <a:rPr sz="1100" spc="50" dirty="0">
                <a:latin typeface="Georgia"/>
                <a:cs typeface="Georgia"/>
              </a:rPr>
              <a:t> </a:t>
            </a:r>
            <a:r>
              <a:rPr sz="1100" spc="-10" dirty="0">
                <a:latin typeface="Georgia"/>
                <a:cs typeface="Georgia"/>
              </a:rPr>
              <a:t>non–representative </a:t>
            </a:r>
            <a:r>
              <a:rPr sz="1100" dirty="0">
                <a:latin typeface="Georgia"/>
                <a:cs typeface="Georgia"/>
              </a:rPr>
              <a:t>object</a:t>
            </a:r>
            <a:r>
              <a:rPr sz="1100" spc="40" dirty="0">
                <a:latin typeface="Georgia"/>
                <a:cs typeface="Georgia"/>
              </a:rPr>
              <a:t> </a:t>
            </a:r>
            <a:r>
              <a:rPr sz="1100" spc="-25" dirty="0">
                <a:latin typeface="Georgia"/>
                <a:cs typeface="Georgia"/>
              </a:rPr>
              <a:t>would</a:t>
            </a:r>
            <a:r>
              <a:rPr sz="1100" spc="40" dirty="0">
                <a:latin typeface="Georgia"/>
                <a:cs typeface="Georgia"/>
              </a:rPr>
              <a:t> </a:t>
            </a:r>
            <a:r>
              <a:rPr sz="1100" spc="-35" dirty="0">
                <a:latin typeface="Georgia"/>
                <a:cs typeface="Georgia"/>
              </a:rPr>
              <a:t>improve</a:t>
            </a:r>
            <a:r>
              <a:rPr sz="1100" spc="40" dirty="0">
                <a:latin typeface="Georgia"/>
                <a:cs typeface="Georgia"/>
              </a:rPr>
              <a:t> </a:t>
            </a:r>
            <a:r>
              <a:rPr sz="1100" dirty="0">
                <a:latin typeface="Georgia"/>
                <a:cs typeface="Georgia"/>
              </a:rPr>
              <a:t>the</a:t>
            </a:r>
            <a:r>
              <a:rPr sz="1100" spc="40" dirty="0">
                <a:latin typeface="Georgia"/>
                <a:cs typeface="Georgia"/>
              </a:rPr>
              <a:t> </a:t>
            </a:r>
            <a:r>
              <a:rPr sz="1100" spc="-20" dirty="0">
                <a:latin typeface="Georgia"/>
                <a:cs typeface="Georgia"/>
              </a:rPr>
              <a:t>clustering</a:t>
            </a:r>
            <a:r>
              <a:rPr sz="1100" spc="40" dirty="0">
                <a:latin typeface="Georgia"/>
                <a:cs typeface="Georgia"/>
              </a:rPr>
              <a:t> </a:t>
            </a:r>
            <a:r>
              <a:rPr sz="1100" spc="-10" dirty="0">
                <a:latin typeface="Georgia"/>
                <a:cs typeface="Georgia"/>
              </a:rPr>
              <a:t>quality.</a:t>
            </a:r>
            <a:r>
              <a:rPr sz="1100" spc="140" dirty="0">
                <a:latin typeface="Georgia"/>
                <a:cs typeface="Georgia"/>
              </a:rPr>
              <a:t> </a:t>
            </a:r>
            <a:r>
              <a:rPr sz="1100" dirty="0">
                <a:latin typeface="Georgia"/>
                <a:cs typeface="Georgia"/>
              </a:rPr>
              <a:t>All</a:t>
            </a:r>
            <a:r>
              <a:rPr sz="1100" spc="40" dirty="0">
                <a:latin typeface="Georgia"/>
                <a:cs typeface="Georgia"/>
              </a:rPr>
              <a:t> </a:t>
            </a:r>
            <a:r>
              <a:rPr sz="1100" dirty="0">
                <a:latin typeface="Georgia"/>
                <a:cs typeface="Georgia"/>
              </a:rPr>
              <a:t>the</a:t>
            </a:r>
            <a:r>
              <a:rPr sz="1100" spc="40" dirty="0">
                <a:latin typeface="Georgia"/>
                <a:cs typeface="Georgia"/>
              </a:rPr>
              <a:t> </a:t>
            </a:r>
            <a:r>
              <a:rPr sz="1100" spc="-25" dirty="0">
                <a:latin typeface="Georgia"/>
                <a:cs typeface="Georgia"/>
              </a:rPr>
              <a:t>possible</a:t>
            </a:r>
            <a:r>
              <a:rPr sz="1100" spc="40" dirty="0">
                <a:latin typeface="Georgia"/>
                <a:cs typeface="Georgia"/>
              </a:rPr>
              <a:t> </a:t>
            </a:r>
            <a:r>
              <a:rPr sz="1100" spc="-35" dirty="0">
                <a:latin typeface="Georgia"/>
                <a:cs typeface="Georgia"/>
              </a:rPr>
              <a:t>replacements</a:t>
            </a:r>
            <a:r>
              <a:rPr sz="1100" spc="40" dirty="0">
                <a:latin typeface="Georgia"/>
                <a:cs typeface="Georgia"/>
              </a:rPr>
              <a:t> </a:t>
            </a:r>
            <a:r>
              <a:rPr sz="1100" dirty="0">
                <a:latin typeface="Georgia"/>
                <a:cs typeface="Georgia"/>
              </a:rPr>
              <a:t>are</a:t>
            </a:r>
            <a:r>
              <a:rPr sz="1100" spc="45" dirty="0">
                <a:latin typeface="Georgia"/>
                <a:cs typeface="Georgia"/>
              </a:rPr>
              <a:t> </a:t>
            </a:r>
            <a:r>
              <a:rPr sz="1100" spc="-10" dirty="0">
                <a:latin typeface="Georgia"/>
                <a:cs typeface="Georgia"/>
              </a:rPr>
              <a:t>tried </a:t>
            </a:r>
            <a:r>
              <a:rPr sz="1100" spc="-20" dirty="0">
                <a:latin typeface="Georgia"/>
                <a:cs typeface="Georgia"/>
              </a:rPr>
              <a:t>out.</a:t>
            </a:r>
            <a:endParaRPr sz="1100">
              <a:latin typeface="Georgia"/>
              <a:cs typeface="Georgia"/>
            </a:endParaRPr>
          </a:p>
          <a:p>
            <a:pPr marL="12700" marR="65405">
              <a:lnSpc>
                <a:spcPts val="1150"/>
              </a:lnSpc>
              <a:spcBef>
                <a:spcPts val="725"/>
              </a:spcBef>
            </a:pPr>
            <a:r>
              <a:rPr sz="1100" dirty="0">
                <a:latin typeface="Georgia"/>
                <a:cs typeface="Georgia"/>
              </a:rPr>
              <a:t>The</a:t>
            </a:r>
            <a:r>
              <a:rPr sz="1100" spc="40" dirty="0">
                <a:latin typeface="Georgia"/>
                <a:cs typeface="Georgia"/>
              </a:rPr>
              <a:t> </a:t>
            </a:r>
            <a:r>
              <a:rPr sz="1100" spc="-10" dirty="0">
                <a:latin typeface="Georgia"/>
                <a:cs typeface="Georgia"/>
              </a:rPr>
              <a:t>iterative</a:t>
            </a:r>
            <a:r>
              <a:rPr sz="1100" spc="40" dirty="0">
                <a:latin typeface="Georgia"/>
                <a:cs typeface="Georgia"/>
              </a:rPr>
              <a:t> </a:t>
            </a:r>
            <a:r>
              <a:rPr sz="1100" spc="-25" dirty="0">
                <a:latin typeface="Georgia"/>
                <a:cs typeface="Georgia"/>
              </a:rPr>
              <a:t>process</a:t>
            </a:r>
            <a:r>
              <a:rPr sz="1100" spc="40" dirty="0">
                <a:latin typeface="Georgia"/>
                <a:cs typeface="Georgia"/>
              </a:rPr>
              <a:t> </a:t>
            </a:r>
            <a:r>
              <a:rPr sz="1100" dirty="0">
                <a:latin typeface="Georgia"/>
                <a:cs typeface="Georgia"/>
              </a:rPr>
              <a:t>of</a:t>
            </a:r>
            <a:r>
              <a:rPr sz="1100" spc="40" dirty="0">
                <a:latin typeface="Georgia"/>
                <a:cs typeface="Georgia"/>
              </a:rPr>
              <a:t> </a:t>
            </a:r>
            <a:r>
              <a:rPr sz="1100" spc="-25" dirty="0">
                <a:latin typeface="Georgia"/>
                <a:cs typeface="Georgia"/>
              </a:rPr>
              <a:t>replacing</a:t>
            </a:r>
            <a:r>
              <a:rPr sz="1100" spc="40" dirty="0">
                <a:latin typeface="Georgia"/>
                <a:cs typeface="Georgia"/>
              </a:rPr>
              <a:t> </a:t>
            </a:r>
            <a:r>
              <a:rPr sz="1100" spc="-30" dirty="0">
                <a:latin typeface="Georgia"/>
                <a:cs typeface="Georgia"/>
              </a:rPr>
              <a:t>representative</a:t>
            </a:r>
            <a:r>
              <a:rPr sz="1100" spc="40" dirty="0">
                <a:latin typeface="Georgia"/>
                <a:cs typeface="Georgia"/>
              </a:rPr>
              <a:t> </a:t>
            </a:r>
            <a:r>
              <a:rPr sz="1100" dirty="0">
                <a:latin typeface="Georgia"/>
                <a:cs typeface="Georgia"/>
              </a:rPr>
              <a:t>objects</a:t>
            </a:r>
            <a:r>
              <a:rPr sz="1100" spc="40" dirty="0">
                <a:latin typeface="Georgia"/>
                <a:cs typeface="Georgia"/>
              </a:rPr>
              <a:t> </a:t>
            </a:r>
            <a:r>
              <a:rPr sz="1100" dirty="0">
                <a:latin typeface="Georgia"/>
                <a:cs typeface="Georgia"/>
              </a:rPr>
              <a:t>by</a:t>
            </a:r>
            <a:r>
              <a:rPr sz="1100" spc="40" dirty="0">
                <a:latin typeface="Georgia"/>
                <a:cs typeface="Georgia"/>
              </a:rPr>
              <a:t> </a:t>
            </a:r>
            <a:r>
              <a:rPr sz="1100" spc="-10" dirty="0">
                <a:latin typeface="Georgia"/>
                <a:cs typeface="Georgia"/>
              </a:rPr>
              <a:t>other</a:t>
            </a:r>
            <a:r>
              <a:rPr sz="1100" spc="40" dirty="0">
                <a:latin typeface="Georgia"/>
                <a:cs typeface="Georgia"/>
              </a:rPr>
              <a:t> </a:t>
            </a:r>
            <a:r>
              <a:rPr sz="1100" dirty="0">
                <a:latin typeface="Georgia"/>
                <a:cs typeface="Georgia"/>
              </a:rPr>
              <a:t>objects</a:t>
            </a:r>
            <a:r>
              <a:rPr sz="1100" spc="40" dirty="0">
                <a:latin typeface="Georgia"/>
                <a:cs typeface="Georgia"/>
              </a:rPr>
              <a:t> </a:t>
            </a:r>
            <a:r>
              <a:rPr sz="1100" spc="-10" dirty="0">
                <a:latin typeface="Georgia"/>
                <a:cs typeface="Georgia"/>
              </a:rPr>
              <a:t>continues until</a:t>
            </a:r>
            <a:r>
              <a:rPr sz="1100" spc="15" dirty="0">
                <a:latin typeface="Georgia"/>
                <a:cs typeface="Georgia"/>
              </a:rPr>
              <a:t> </a:t>
            </a:r>
            <a:r>
              <a:rPr sz="1100" dirty="0">
                <a:latin typeface="Georgia"/>
                <a:cs typeface="Georgia"/>
              </a:rPr>
              <a:t>the</a:t>
            </a:r>
            <a:r>
              <a:rPr sz="1100" spc="15" dirty="0">
                <a:latin typeface="Georgia"/>
                <a:cs typeface="Georgia"/>
              </a:rPr>
              <a:t> </a:t>
            </a:r>
            <a:r>
              <a:rPr sz="1100" dirty="0">
                <a:latin typeface="Georgia"/>
                <a:cs typeface="Georgia"/>
              </a:rPr>
              <a:t>quality</a:t>
            </a:r>
            <a:r>
              <a:rPr sz="1100" spc="20" dirty="0">
                <a:latin typeface="Georgia"/>
                <a:cs typeface="Georgia"/>
              </a:rPr>
              <a:t> </a:t>
            </a:r>
            <a:r>
              <a:rPr sz="1100" dirty="0">
                <a:latin typeface="Georgia"/>
                <a:cs typeface="Georgia"/>
              </a:rPr>
              <a:t>of</a:t>
            </a:r>
            <a:r>
              <a:rPr sz="1100" spc="25" dirty="0">
                <a:latin typeface="Georgia"/>
                <a:cs typeface="Georgia"/>
              </a:rPr>
              <a:t> </a:t>
            </a:r>
            <a:r>
              <a:rPr sz="1100" dirty="0">
                <a:latin typeface="Georgia"/>
                <a:cs typeface="Georgia"/>
              </a:rPr>
              <a:t>the</a:t>
            </a:r>
            <a:r>
              <a:rPr sz="1100" spc="20" dirty="0">
                <a:latin typeface="Georgia"/>
                <a:cs typeface="Georgia"/>
              </a:rPr>
              <a:t> </a:t>
            </a:r>
            <a:r>
              <a:rPr sz="1100" spc="-25" dirty="0">
                <a:latin typeface="Georgia"/>
                <a:cs typeface="Georgia"/>
              </a:rPr>
              <a:t>resulting</a:t>
            </a:r>
            <a:r>
              <a:rPr sz="1100" spc="15" dirty="0">
                <a:latin typeface="Georgia"/>
                <a:cs typeface="Georgia"/>
              </a:rPr>
              <a:t> </a:t>
            </a:r>
            <a:r>
              <a:rPr sz="1100" spc="-25" dirty="0">
                <a:latin typeface="Georgia"/>
                <a:cs typeface="Georgia"/>
              </a:rPr>
              <a:t>clustering</a:t>
            </a:r>
            <a:r>
              <a:rPr sz="1100" spc="15" dirty="0">
                <a:latin typeface="Georgia"/>
                <a:cs typeface="Georgia"/>
              </a:rPr>
              <a:t> </a:t>
            </a:r>
            <a:r>
              <a:rPr sz="1100" spc="-10" dirty="0">
                <a:latin typeface="Georgia"/>
                <a:cs typeface="Georgia"/>
              </a:rPr>
              <a:t>cannot</a:t>
            </a:r>
            <a:r>
              <a:rPr sz="1100" spc="20" dirty="0">
                <a:latin typeface="Georgia"/>
                <a:cs typeface="Georgia"/>
              </a:rPr>
              <a:t> </a:t>
            </a:r>
            <a:r>
              <a:rPr sz="1100" dirty="0">
                <a:latin typeface="Georgia"/>
                <a:cs typeface="Georgia"/>
              </a:rPr>
              <a:t>be</a:t>
            </a:r>
            <a:r>
              <a:rPr sz="1100" spc="20" dirty="0">
                <a:latin typeface="Georgia"/>
                <a:cs typeface="Georgia"/>
              </a:rPr>
              <a:t> </a:t>
            </a:r>
            <a:r>
              <a:rPr sz="1100" spc="-35" dirty="0">
                <a:latin typeface="Georgia"/>
                <a:cs typeface="Georgia"/>
              </a:rPr>
              <a:t>improved</a:t>
            </a:r>
            <a:r>
              <a:rPr sz="1100" spc="15" dirty="0">
                <a:latin typeface="Georgia"/>
                <a:cs typeface="Georgia"/>
              </a:rPr>
              <a:t> </a:t>
            </a:r>
            <a:r>
              <a:rPr sz="1100" dirty="0">
                <a:latin typeface="Georgia"/>
                <a:cs typeface="Georgia"/>
              </a:rPr>
              <a:t>by</a:t>
            </a:r>
            <a:r>
              <a:rPr sz="1100" spc="20" dirty="0">
                <a:latin typeface="Georgia"/>
                <a:cs typeface="Georgia"/>
              </a:rPr>
              <a:t> </a:t>
            </a:r>
            <a:r>
              <a:rPr sz="1100" dirty="0">
                <a:latin typeface="Georgia"/>
                <a:cs typeface="Georgia"/>
              </a:rPr>
              <a:t>any</a:t>
            </a:r>
            <a:r>
              <a:rPr sz="1100" spc="15" dirty="0">
                <a:latin typeface="Georgia"/>
                <a:cs typeface="Georgia"/>
              </a:rPr>
              <a:t> </a:t>
            </a:r>
            <a:r>
              <a:rPr sz="1100" spc="-10" dirty="0">
                <a:latin typeface="Georgia"/>
                <a:cs typeface="Georgia"/>
              </a:rPr>
              <a:t>replacement.</a:t>
            </a:r>
            <a:endParaRPr sz="1100">
              <a:latin typeface="Georgia"/>
              <a:cs typeface="Georgia"/>
            </a:endParaRPr>
          </a:p>
          <a:p>
            <a:pPr marL="12700" marR="5080">
              <a:lnSpc>
                <a:spcPts val="1150"/>
              </a:lnSpc>
              <a:spcBef>
                <a:spcPts val="730"/>
              </a:spcBef>
            </a:pPr>
            <a:r>
              <a:rPr sz="1100" dirty="0">
                <a:latin typeface="Georgia"/>
                <a:cs typeface="Georgia"/>
              </a:rPr>
              <a:t>This</a:t>
            </a:r>
            <a:r>
              <a:rPr sz="1100" spc="20" dirty="0">
                <a:latin typeface="Georgia"/>
                <a:cs typeface="Georgia"/>
              </a:rPr>
              <a:t> </a:t>
            </a:r>
            <a:r>
              <a:rPr sz="1100" dirty="0">
                <a:latin typeface="Georgia"/>
                <a:cs typeface="Georgia"/>
              </a:rPr>
              <a:t>quality</a:t>
            </a:r>
            <a:r>
              <a:rPr sz="1100" spc="20" dirty="0">
                <a:latin typeface="Georgia"/>
                <a:cs typeface="Georgia"/>
              </a:rPr>
              <a:t> </a:t>
            </a:r>
            <a:r>
              <a:rPr sz="1100" dirty="0">
                <a:latin typeface="Georgia"/>
                <a:cs typeface="Georgia"/>
              </a:rPr>
              <a:t>is</a:t>
            </a:r>
            <a:r>
              <a:rPr sz="1100" spc="25" dirty="0">
                <a:latin typeface="Georgia"/>
                <a:cs typeface="Georgia"/>
              </a:rPr>
              <a:t> </a:t>
            </a:r>
            <a:r>
              <a:rPr sz="1100" spc="-40" dirty="0">
                <a:latin typeface="Georgia"/>
                <a:cs typeface="Georgia"/>
              </a:rPr>
              <a:t>measured</a:t>
            </a:r>
            <a:r>
              <a:rPr sz="1100" spc="20" dirty="0">
                <a:latin typeface="Georgia"/>
                <a:cs typeface="Georgia"/>
              </a:rPr>
              <a:t> </a:t>
            </a:r>
            <a:r>
              <a:rPr sz="1100" dirty="0">
                <a:latin typeface="Georgia"/>
                <a:cs typeface="Georgia"/>
              </a:rPr>
              <a:t>by</a:t>
            </a:r>
            <a:r>
              <a:rPr sz="1100" spc="20" dirty="0">
                <a:latin typeface="Georgia"/>
                <a:cs typeface="Georgia"/>
              </a:rPr>
              <a:t> </a:t>
            </a:r>
            <a:r>
              <a:rPr sz="1100" dirty="0">
                <a:latin typeface="Georgia"/>
                <a:cs typeface="Georgia"/>
              </a:rPr>
              <a:t>a</a:t>
            </a:r>
            <a:r>
              <a:rPr sz="1100" spc="25" dirty="0">
                <a:latin typeface="Georgia"/>
                <a:cs typeface="Georgia"/>
              </a:rPr>
              <a:t> </a:t>
            </a:r>
            <a:r>
              <a:rPr sz="1100" dirty="0">
                <a:latin typeface="Georgia"/>
                <a:cs typeface="Georgia"/>
              </a:rPr>
              <a:t>cost</a:t>
            </a:r>
            <a:r>
              <a:rPr sz="1100" spc="20" dirty="0">
                <a:latin typeface="Georgia"/>
                <a:cs typeface="Georgia"/>
              </a:rPr>
              <a:t> </a:t>
            </a:r>
            <a:r>
              <a:rPr sz="1100" spc="-20" dirty="0">
                <a:latin typeface="Georgia"/>
                <a:cs typeface="Georgia"/>
              </a:rPr>
              <a:t>function</a:t>
            </a:r>
            <a:r>
              <a:rPr sz="1100" spc="20" dirty="0">
                <a:latin typeface="Georgia"/>
                <a:cs typeface="Georgia"/>
              </a:rPr>
              <a:t> </a:t>
            </a:r>
            <a:r>
              <a:rPr sz="1100" dirty="0">
                <a:latin typeface="Georgia"/>
                <a:cs typeface="Georgia"/>
              </a:rPr>
              <a:t>of</a:t>
            </a:r>
            <a:r>
              <a:rPr sz="1100" spc="25" dirty="0">
                <a:latin typeface="Georgia"/>
                <a:cs typeface="Georgia"/>
              </a:rPr>
              <a:t> </a:t>
            </a:r>
            <a:r>
              <a:rPr sz="1100" dirty="0">
                <a:latin typeface="Georgia"/>
                <a:cs typeface="Georgia"/>
              </a:rPr>
              <a:t>the</a:t>
            </a:r>
            <a:r>
              <a:rPr sz="1100" spc="20" dirty="0">
                <a:latin typeface="Georgia"/>
                <a:cs typeface="Georgia"/>
              </a:rPr>
              <a:t> </a:t>
            </a:r>
            <a:r>
              <a:rPr sz="1100" spc="-25" dirty="0">
                <a:latin typeface="Georgia"/>
                <a:cs typeface="Georgia"/>
              </a:rPr>
              <a:t>sum</a:t>
            </a:r>
            <a:r>
              <a:rPr sz="1100" spc="20" dirty="0">
                <a:latin typeface="Georgia"/>
                <a:cs typeface="Georgia"/>
              </a:rPr>
              <a:t> </a:t>
            </a:r>
            <a:r>
              <a:rPr sz="1100" dirty="0">
                <a:latin typeface="Georgia"/>
                <a:cs typeface="Georgia"/>
              </a:rPr>
              <a:t>of</a:t>
            </a:r>
            <a:r>
              <a:rPr sz="1100" spc="25" dirty="0">
                <a:latin typeface="Georgia"/>
                <a:cs typeface="Georgia"/>
              </a:rPr>
              <a:t> </a:t>
            </a:r>
            <a:r>
              <a:rPr sz="1100" spc="-25" dirty="0">
                <a:latin typeface="Georgia"/>
                <a:cs typeface="Georgia"/>
              </a:rPr>
              <a:t>dissimilarity</a:t>
            </a:r>
            <a:r>
              <a:rPr sz="1100" spc="20" dirty="0">
                <a:latin typeface="Georgia"/>
                <a:cs typeface="Georgia"/>
              </a:rPr>
              <a:t> </a:t>
            </a:r>
            <a:r>
              <a:rPr sz="1100" spc="-30" dirty="0">
                <a:latin typeface="Georgia"/>
                <a:cs typeface="Georgia"/>
              </a:rPr>
              <a:t>between</a:t>
            </a:r>
            <a:r>
              <a:rPr sz="1100" spc="25" dirty="0">
                <a:latin typeface="Georgia"/>
                <a:cs typeface="Georgia"/>
              </a:rPr>
              <a:t> </a:t>
            </a:r>
            <a:r>
              <a:rPr sz="1100" spc="-10" dirty="0">
                <a:latin typeface="Georgia"/>
                <a:cs typeface="Georgia"/>
              </a:rPr>
              <a:t>every </a:t>
            </a:r>
            <a:r>
              <a:rPr sz="1100" dirty="0">
                <a:latin typeface="Georgia"/>
                <a:cs typeface="Georgia"/>
              </a:rPr>
              <a:t>data</a:t>
            </a:r>
            <a:r>
              <a:rPr sz="1100" spc="40" dirty="0">
                <a:latin typeface="Georgia"/>
                <a:cs typeface="Georgia"/>
              </a:rPr>
              <a:t> </a:t>
            </a:r>
            <a:r>
              <a:rPr sz="1100" dirty="0">
                <a:latin typeface="Georgia"/>
                <a:cs typeface="Georgia"/>
              </a:rPr>
              <a:t>object</a:t>
            </a:r>
            <a:r>
              <a:rPr sz="1100" spc="40" dirty="0">
                <a:latin typeface="Georgia"/>
                <a:cs typeface="Georgia"/>
              </a:rPr>
              <a:t> </a:t>
            </a:r>
            <a:r>
              <a:rPr sz="1100" dirty="0">
                <a:latin typeface="Georgia"/>
                <a:cs typeface="Georgia"/>
              </a:rPr>
              <a:t>and</a:t>
            </a:r>
            <a:r>
              <a:rPr sz="1100" spc="45" dirty="0">
                <a:latin typeface="Georgia"/>
                <a:cs typeface="Georgia"/>
              </a:rPr>
              <a:t> </a:t>
            </a:r>
            <a:r>
              <a:rPr sz="1100" dirty="0">
                <a:latin typeface="Georgia"/>
                <a:cs typeface="Georgia"/>
              </a:rPr>
              <a:t>the</a:t>
            </a:r>
            <a:r>
              <a:rPr sz="1100" spc="40" dirty="0">
                <a:latin typeface="Georgia"/>
                <a:cs typeface="Georgia"/>
              </a:rPr>
              <a:t> </a:t>
            </a:r>
            <a:r>
              <a:rPr sz="1100" spc="-30" dirty="0">
                <a:latin typeface="Georgia"/>
                <a:cs typeface="Georgia"/>
              </a:rPr>
              <a:t>representative</a:t>
            </a:r>
            <a:r>
              <a:rPr sz="1100" spc="45" dirty="0">
                <a:latin typeface="Georgia"/>
                <a:cs typeface="Georgia"/>
              </a:rPr>
              <a:t> </a:t>
            </a:r>
            <a:r>
              <a:rPr sz="1100" dirty="0">
                <a:latin typeface="Georgia"/>
                <a:cs typeface="Georgia"/>
              </a:rPr>
              <a:t>object</a:t>
            </a:r>
            <a:r>
              <a:rPr sz="1100" spc="40" dirty="0">
                <a:latin typeface="Georgia"/>
                <a:cs typeface="Georgia"/>
              </a:rPr>
              <a:t> </a:t>
            </a:r>
            <a:r>
              <a:rPr sz="1100" dirty="0">
                <a:latin typeface="Georgia"/>
                <a:cs typeface="Georgia"/>
              </a:rPr>
              <a:t>of</a:t>
            </a:r>
            <a:r>
              <a:rPr sz="1100" spc="40" dirty="0">
                <a:latin typeface="Georgia"/>
                <a:cs typeface="Georgia"/>
              </a:rPr>
              <a:t> </a:t>
            </a:r>
            <a:r>
              <a:rPr sz="1100" dirty="0">
                <a:latin typeface="Georgia"/>
                <a:cs typeface="Georgia"/>
              </a:rPr>
              <a:t>its</a:t>
            </a:r>
            <a:r>
              <a:rPr sz="1100" spc="45" dirty="0">
                <a:latin typeface="Georgia"/>
                <a:cs typeface="Georgia"/>
              </a:rPr>
              <a:t> </a:t>
            </a:r>
            <a:r>
              <a:rPr sz="1100" spc="-10" dirty="0">
                <a:latin typeface="Georgia"/>
                <a:cs typeface="Georgia"/>
              </a:rPr>
              <a:t>cluster</a:t>
            </a:r>
            <a:r>
              <a:rPr sz="1100" spc="40" dirty="0">
                <a:latin typeface="Georgia"/>
                <a:cs typeface="Georgia"/>
              </a:rPr>
              <a:t> </a:t>
            </a:r>
            <a:r>
              <a:rPr sz="1100" spc="-20" dirty="0">
                <a:latin typeface="Georgia"/>
                <a:cs typeface="Georgia"/>
              </a:rPr>
              <a:t>(equation</a:t>
            </a:r>
            <a:r>
              <a:rPr sz="1100" spc="45" dirty="0">
                <a:latin typeface="Georgia"/>
                <a:cs typeface="Georgia"/>
              </a:rPr>
              <a:t> </a:t>
            </a:r>
            <a:r>
              <a:rPr sz="1100" spc="-20" dirty="0">
                <a:latin typeface="Georgia"/>
                <a:cs typeface="Georgia"/>
                <a:hlinkClick r:id="rId2" action="ppaction://hlinksldjump"/>
              </a:rPr>
              <a:t>21</a:t>
            </a:r>
            <a:r>
              <a:rPr sz="1100" spc="-20" dirty="0">
                <a:latin typeface="Georgia"/>
                <a:cs typeface="Georgia"/>
              </a:rPr>
              <a:t>).</a:t>
            </a:r>
            <a:endParaRPr sz="1100">
              <a:latin typeface="Georgia"/>
              <a:cs typeface="Georgia"/>
            </a:endParaRPr>
          </a:p>
        </p:txBody>
      </p:sp>
      <p:sp>
        <p:nvSpPr>
          <p:cNvPr id="5" name="object 5"/>
          <p:cNvSpPr/>
          <p:nvPr/>
        </p:nvSpPr>
        <p:spPr>
          <a:xfrm>
            <a:off x="337972" y="110968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49418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202492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240940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69</a:t>
            </a:fld>
            <a:r>
              <a:rPr dirty="0"/>
              <a:t> </a:t>
            </a:r>
            <a:r>
              <a:rPr spc="75" dirty="0"/>
              <a:t>/</a:t>
            </a:r>
            <a:r>
              <a:rPr spc="5" dirty="0"/>
              <a:t> </a:t>
            </a:r>
            <a:r>
              <a:rPr spc="35" dirty="0"/>
              <a:t>135</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60" dirty="0">
                <a:latin typeface="Calibri"/>
                <a:cs typeface="Calibri"/>
              </a:rPr>
              <a:t>K</a:t>
            </a:r>
            <a:r>
              <a:rPr spc="60" dirty="0"/>
              <a:t>–mediods:</a:t>
            </a:r>
            <a:r>
              <a:rPr spc="445" dirty="0"/>
              <a:t> </a:t>
            </a:r>
            <a:r>
              <a:rPr spc="10" dirty="0"/>
              <a:t>partitioning</a:t>
            </a:r>
            <a:r>
              <a:rPr spc="245" dirty="0"/>
              <a:t> </a:t>
            </a:r>
            <a:r>
              <a:rPr spc="10" dirty="0"/>
              <a:t>around</a:t>
            </a:r>
            <a:r>
              <a:rPr spc="245" dirty="0"/>
              <a:t> </a:t>
            </a:r>
            <a:r>
              <a:rPr spc="10" dirty="0"/>
              <a:t>mediods</a:t>
            </a:r>
            <a:r>
              <a:rPr spc="245" dirty="0"/>
              <a:t> </a:t>
            </a:r>
            <a:r>
              <a:rPr spc="10" dirty="0"/>
              <a:t>(PAM)</a:t>
            </a:r>
            <a:r>
              <a:rPr spc="245" dirty="0"/>
              <a:t> </a:t>
            </a:r>
            <a:r>
              <a:rPr spc="10" dirty="0"/>
              <a:t>algorithm</a:t>
            </a:r>
            <a:r>
              <a:rPr spc="240" dirty="0"/>
              <a:t> </a:t>
            </a:r>
            <a:r>
              <a:rPr spc="-10" dirty="0"/>
              <a:t>(cont’d)</a:t>
            </a:r>
          </a:p>
        </p:txBody>
      </p:sp>
      <p:sp>
        <p:nvSpPr>
          <p:cNvPr id="3" name="object 3"/>
          <p:cNvSpPr/>
          <p:nvPr/>
        </p:nvSpPr>
        <p:spPr>
          <a:xfrm>
            <a:off x="337972" y="468477"/>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p:nvPr/>
        </p:nvSpPr>
        <p:spPr>
          <a:xfrm>
            <a:off x="337972" y="851319"/>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5" name="object 5"/>
          <p:cNvSpPr/>
          <p:nvPr/>
        </p:nvSpPr>
        <p:spPr>
          <a:xfrm>
            <a:off x="337972" y="1523911"/>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txBox="1"/>
          <p:nvPr/>
        </p:nvSpPr>
        <p:spPr>
          <a:xfrm>
            <a:off x="377977" y="376871"/>
            <a:ext cx="5158105" cy="1247140"/>
          </a:xfrm>
          <a:prstGeom prst="rect">
            <a:avLst/>
          </a:prstGeom>
        </p:spPr>
        <p:txBody>
          <a:bodyPr vert="horz" wrap="square" lIns="0" tIns="34290" rIns="0" bIns="0" rtlCol="0">
            <a:spAutoFit/>
          </a:bodyPr>
          <a:lstStyle/>
          <a:p>
            <a:pPr marL="88900" marR="376555">
              <a:lnSpc>
                <a:spcPts val="1150"/>
              </a:lnSpc>
              <a:spcBef>
                <a:spcPts val="270"/>
              </a:spcBef>
            </a:pPr>
            <a:r>
              <a:rPr sz="1100" spc="-25" dirty="0">
                <a:latin typeface="Georgia"/>
                <a:cs typeface="Georgia"/>
              </a:rPr>
              <a:t>Specifically,</a:t>
            </a:r>
            <a:r>
              <a:rPr sz="1100" spc="30" dirty="0">
                <a:latin typeface="Georgia"/>
                <a:cs typeface="Georgia"/>
              </a:rPr>
              <a:t> </a:t>
            </a:r>
            <a:r>
              <a:rPr sz="1100" dirty="0">
                <a:latin typeface="Georgia"/>
                <a:cs typeface="Georgia"/>
              </a:rPr>
              <a:t>let</a:t>
            </a:r>
            <a:r>
              <a:rPr sz="1100" spc="70" dirty="0">
                <a:latin typeface="Georgia"/>
                <a:cs typeface="Georgia"/>
              </a:rPr>
              <a:t> </a:t>
            </a:r>
            <a:r>
              <a:rPr sz="1100" dirty="0">
                <a:latin typeface="Cambria"/>
                <a:cs typeface="Cambria"/>
              </a:rPr>
              <a:t>o</a:t>
            </a:r>
            <a:r>
              <a:rPr sz="1200" baseline="-10416" dirty="0">
                <a:latin typeface="Calibri"/>
                <a:cs typeface="Calibri"/>
              </a:rPr>
              <a:t>1</a:t>
            </a:r>
            <a:r>
              <a:rPr sz="1100" i="1" dirty="0">
                <a:latin typeface="Calibri"/>
                <a:cs typeface="Calibri"/>
              </a:rPr>
              <a:t>,</a:t>
            </a:r>
            <a:r>
              <a:rPr sz="1100" i="1" spc="-70" dirty="0">
                <a:latin typeface="Calibri"/>
                <a:cs typeface="Calibri"/>
              </a:rPr>
              <a:t> </a:t>
            </a:r>
            <a:r>
              <a:rPr sz="1100" spc="80" dirty="0">
                <a:latin typeface="Cambria"/>
                <a:cs typeface="Cambria"/>
              </a:rPr>
              <a:t>o</a:t>
            </a:r>
            <a:r>
              <a:rPr sz="1200" spc="120" baseline="-10416" dirty="0">
                <a:latin typeface="Calibri"/>
                <a:cs typeface="Calibri"/>
              </a:rPr>
              <a:t>2</a:t>
            </a:r>
            <a:r>
              <a:rPr sz="1100" i="1" spc="8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50" dirty="0">
                <a:latin typeface="Cambria"/>
                <a:cs typeface="Cambria"/>
              </a:rPr>
              <a:t>o</a:t>
            </a:r>
            <a:r>
              <a:rPr sz="1200" i="1" spc="75" baseline="-13888" dirty="0">
                <a:latin typeface="Calibri"/>
                <a:cs typeface="Calibri"/>
              </a:rPr>
              <a:t>k</a:t>
            </a:r>
            <a:r>
              <a:rPr sz="1200" i="1" spc="322" baseline="-13888" dirty="0">
                <a:latin typeface="Calibri"/>
                <a:cs typeface="Calibri"/>
              </a:rPr>
              <a:t> </a:t>
            </a:r>
            <a:r>
              <a:rPr sz="1100" dirty="0">
                <a:latin typeface="Georgia"/>
                <a:cs typeface="Georgia"/>
              </a:rPr>
              <a:t>be</a:t>
            </a:r>
            <a:r>
              <a:rPr sz="1100" spc="70" dirty="0">
                <a:latin typeface="Georgia"/>
                <a:cs typeface="Georgia"/>
              </a:rPr>
              <a:t> </a:t>
            </a:r>
            <a:r>
              <a:rPr sz="1100" dirty="0">
                <a:latin typeface="Georgia"/>
                <a:cs typeface="Georgia"/>
              </a:rPr>
              <a:t>the</a:t>
            </a:r>
            <a:r>
              <a:rPr sz="1100" spc="70" dirty="0">
                <a:latin typeface="Georgia"/>
                <a:cs typeface="Georgia"/>
              </a:rPr>
              <a:t> </a:t>
            </a:r>
            <a:r>
              <a:rPr sz="1100" spc="-20" dirty="0">
                <a:latin typeface="Georgia"/>
                <a:cs typeface="Georgia"/>
              </a:rPr>
              <a:t>current</a:t>
            </a:r>
            <a:r>
              <a:rPr sz="1100" spc="70" dirty="0">
                <a:latin typeface="Georgia"/>
                <a:cs typeface="Georgia"/>
              </a:rPr>
              <a:t> </a:t>
            </a:r>
            <a:r>
              <a:rPr sz="1100" dirty="0">
                <a:latin typeface="Georgia"/>
                <a:cs typeface="Georgia"/>
              </a:rPr>
              <a:t>set</a:t>
            </a:r>
            <a:r>
              <a:rPr sz="1100" spc="65" dirty="0">
                <a:latin typeface="Georgia"/>
                <a:cs typeface="Georgia"/>
              </a:rPr>
              <a:t> </a:t>
            </a:r>
            <a:r>
              <a:rPr sz="1100" dirty="0">
                <a:latin typeface="Georgia"/>
                <a:cs typeface="Georgia"/>
              </a:rPr>
              <a:t>of</a:t>
            </a:r>
            <a:r>
              <a:rPr sz="1100" spc="70" dirty="0">
                <a:latin typeface="Georgia"/>
                <a:cs typeface="Georgia"/>
              </a:rPr>
              <a:t> </a:t>
            </a:r>
            <a:r>
              <a:rPr sz="1100" spc="-30" dirty="0">
                <a:latin typeface="Georgia"/>
                <a:cs typeface="Georgia"/>
              </a:rPr>
              <a:t>representative</a:t>
            </a:r>
            <a:r>
              <a:rPr sz="1100" spc="70" dirty="0">
                <a:latin typeface="Georgia"/>
                <a:cs typeface="Georgia"/>
              </a:rPr>
              <a:t> </a:t>
            </a:r>
            <a:r>
              <a:rPr sz="1100" dirty="0">
                <a:latin typeface="Georgia"/>
                <a:cs typeface="Georgia"/>
              </a:rPr>
              <a:t>objects</a:t>
            </a:r>
            <a:r>
              <a:rPr sz="1100" spc="70" dirty="0">
                <a:latin typeface="Georgia"/>
                <a:cs typeface="Georgia"/>
              </a:rPr>
              <a:t> </a:t>
            </a:r>
            <a:r>
              <a:rPr sz="1100" spc="-10" dirty="0">
                <a:latin typeface="Georgia"/>
                <a:cs typeface="Georgia"/>
              </a:rPr>
              <a:t>(i.e., </a:t>
            </a:r>
            <a:r>
              <a:rPr sz="1100" spc="-30" dirty="0">
                <a:latin typeface="Georgia"/>
                <a:cs typeface="Georgia"/>
              </a:rPr>
              <a:t>medoids)</a:t>
            </a:r>
            <a:r>
              <a:rPr sz="1100" spc="40" dirty="0">
                <a:latin typeface="Georgia"/>
                <a:cs typeface="Georgia"/>
              </a:rPr>
              <a:t> </a:t>
            </a:r>
            <a:r>
              <a:rPr sz="1100" dirty="0">
                <a:latin typeface="Georgia"/>
                <a:cs typeface="Georgia"/>
              </a:rPr>
              <a:t>of</a:t>
            </a:r>
            <a:r>
              <a:rPr sz="1100" spc="40" dirty="0">
                <a:latin typeface="Georgia"/>
                <a:cs typeface="Georgia"/>
              </a:rPr>
              <a:t> </a:t>
            </a:r>
            <a:r>
              <a:rPr sz="1100" dirty="0">
                <a:latin typeface="Georgia"/>
                <a:cs typeface="Georgia"/>
              </a:rPr>
              <a:t>the</a:t>
            </a:r>
            <a:r>
              <a:rPr sz="1100" spc="40" dirty="0">
                <a:latin typeface="Georgia"/>
                <a:cs typeface="Georgia"/>
              </a:rPr>
              <a:t> </a:t>
            </a:r>
            <a:r>
              <a:rPr sz="1100" i="1" spc="65" dirty="0">
                <a:latin typeface="Calibri"/>
                <a:cs typeface="Calibri"/>
              </a:rPr>
              <a:t>k</a:t>
            </a:r>
            <a:r>
              <a:rPr sz="1100" i="1" spc="90" dirty="0">
                <a:latin typeface="Calibri"/>
                <a:cs typeface="Calibri"/>
              </a:rPr>
              <a:t> </a:t>
            </a:r>
            <a:r>
              <a:rPr sz="1100" spc="-10" dirty="0">
                <a:latin typeface="Georgia"/>
                <a:cs typeface="Georgia"/>
              </a:rPr>
              <a:t>clusters.</a:t>
            </a:r>
            <a:endParaRPr sz="1100">
              <a:latin typeface="Georgia"/>
              <a:cs typeface="Georgia"/>
            </a:endParaRPr>
          </a:p>
          <a:p>
            <a:pPr marL="88900" marR="68580">
              <a:lnSpc>
                <a:spcPts val="1150"/>
              </a:lnSpc>
              <a:spcBef>
                <a:spcPts val="715"/>
              </a:spcBef>
            </a:pPr>
            <a:r>
              <a:rPr sz="1100" dirty="0">
                <a:latin typeface="Georgia"/>
                <a:cs typeface="Georgia"/>
              </a:rPr>
              <a:t>To</a:t>
            </a:r>
            <a:r>
              <a:rPr sz="1100" spc="60" dirty="0">
                <a:latin typeface="Georgia"/>
                <a:cs typeface="Georgia"/>
              </a:rPr>
              <a:t> </a:t>
            </a:r>
            <a:r>
              <a:rPr sz="1100" spc="-35" dirty="0">
                <a:latin typeface="Georgia"/>
                <a:cs typeface="Georgia"/>
              </a:rPr>
              <a:t>determine</a:t>
            </a:r>
            <a:r>
              <a:rPr sz="1100" spc="60" dirty="0">
                <a:latin typeface="Georgia"/>
                <a:cs typeface="Georgia"/>
              </a:rPr>
              <a:t> </a:t>
            </a:r>
            <a:r>
              <a:rPr sz="1100" spc="-20" dirty="0">
                <a:latin typeface="Georgia"/>
                <a:cs typeface="Georgia"/>
              </a:rPr>
              <a:t>whether</a:t>
            </a:r>
            <a:r>
              <a:rPr sz="1100" spc="60" dirty="0">
                <a:latin typeface="Georgia"/>
                <a:cs typeface="Georgia"/>
              </a:rPr>
              <a:t> </a:t>
            </a:r>
            <a:r>
              <a:rPr sz="1100" dirty="0">
                <a:latin typeface="Georgia"/>
                <a:cs typeface="Georgia"/>
              </a:rPr>
              <a:t>a</a:t>
            </a:r>
            <a:r>
              <a:rPr sz="1100" spc="60" dirty="0">
                <a:latin typeface="Georgia"/>
                <a:cs typeface="Georgia"/>
              </a:rPr>
              <a:t> </a:t>
            </a:r>
            <a:r>
              <a:rPr sz="1100" spc="-40" dirty="0">
                <a:latin typeface="Georgia"/>
                <a:cs typeface="Georgia"/>
              </a:rPr>
              <a:t>non–representative</a:t>
            </a:r>
            <a:r>
              <a:rPr sz="1100" spc="60" dirty="0">
                <a:latin typeface="Georgia"/>
                <a:cs typeface="Georgia"/>
              </a:rPr>
              <a:t> </a:t>
            </a:r>
            <a:r>
              <a:rPr sz="1100" dirty="0">
                <a:latin typeface="Georgia"/>
                <a:cs typeface="Georgia"/>
              </a:rPr>
              <a:t>object,</a:t>
            </a:r>
            <a:r>
              <a:rPr sz="1100" spc="65" dirty="0">
                <a:latin typeface="Georgia"/>
                <a:cs typeface="Georgia"/>
              </a:rPr>
              <a:t> </a:t>
            </a:r>
            <a:r>
              <a:rPr sz="1100" spc="-25" dirty="0">
                <a:latin typeface="Georgia"/>
                <a:cs typeface="Georgia"/>
              </a:rPr>
              <a:t>denoted</a:t>
            </a:r>
            <a:r>
              <a:rPr sz="1100" spc="60" dirty="0">
                <a:latin typeface="Georgia"/>
                <a:cs typeface="Georgia"/>
              </a:rPr>
              <a:t> </a:t>
            </a:r>
            <a:r>
              <a:rPr sz="1100" dirty="0">
                <a:latin typeface="Georgia"/>
                <a:cs typeface="Georgia"/>
              </a:rPr>
              <a:t>by</a:t>
            </a:r>
            <a:r>
              <a:rPr sz="1100" spc="60" dirty="0">
                <a:latin typeface="Georgia"/>
                <a:cs typeface="Georgia"/>
              </a:rPr>
              <a:t> </a:t>
            </a:r>
            <a:r>
              <a:rPr sz="1100" spc="55" dirty="0">
                <a:latin typeface="Cambria"/>
                <a:cs typeface="Cambria"/>
              </a:rPr>
              <a:t>o</a:t>
            </a:r>
            <a:r>
              <a:rPr sz="1200" i="1" spc="82" baseline="-13888" dirty="0">
                <a:latin typeface="Calibri"/>
                <a:cs typeface="Calibri"/>
              </a:rPr>
              <a:t>random</a:t>
            </a:r>
            <a:r>
              <a:rPr sz="1100" spc="55" dirty="0">
                <a:latin typeface="Georgia"/>
                <a:cs typeface="Georgia"/>
              </a:rPr>
              <a:t>,</a:t>
            </a:r>
            <a:r>
              <a:rPr sz="1100" spc="60" dirty="0">
                <a:latin typeface="Georgia"/>
                <a:cs typeface="Georgia"/>
              </a:rPr>
              <a:t> </a:t>
            </a:r>
            <a:r>
              <a:rPr sz="1100" dirty="0">
                <a:latin typeface="Georgia"/>
                <a:cs typeface="Georgia"/>
              </a:rPr>
              <a:t>is</a:t>
            </a:r>
            <a:r>
              <a:rPr sz="1100" spc="60" dirty="0">
                <a:latin typeface="Georgia"/>
                <a:cs typeface="Georgia"/>
              </a:rPr>
              <a:t> </a:t>
            </a:r>
            <a:r>
              <a:rPr sz="1100" dirty="0">
                <a:latin typeface="Georgia"/>
                <a:cs typeface="Georgia"/>
              </a:rPr>
              <a:t>a</a:t>
            </a:r>
            <a:r>
              <a:rPr sz="1100" spc="60" dirty="0">
                <a:latin typeface="Georgia"/>
                <a:cs typeface="Georgia"/>
              </a:rPr>
              <a:t> </a:t>
            </a:r>
            <a:r>
              <a:rPr sz="1100" spc="-20" dirty="0">
                <a:latin typeface="Georgia"/>
                <a:cs typeface="Georgia"/>
              </a:rPr>
              <a:t>good </a:t>
            </a:r>
            <a:r>
              <a:rPr sz="1100" spc="-30" dirty="0">
                <a:latin typeface="Georgia"/>
                <a:cs typeface="Georgia"/>
              </a:rPr>
              <a:t>replacement</a:t>
            </a:r>
            <a:r>
              <a:rPr sz="1100" spc="50" dirty="0">
                <a:latin typeface="Georgia"/>
                <a:cs typeface="Georgia"/>
              </a:rPr>
              <a:t> </a:t>
            </a:r>
            <a:r>
              <a:rPr sz="1100" dirty="0">
                <a:latin typeface="Georgia"/>
                <a:cs typeface="Georgia"/>
              </a:rPr>
              <a:t>for</a:t>
            </a:r>
            <a:r>
              <a:rPr sz="1100" spc="50" dirty="0">
                <a:latin typeface="Georgia"/>
                <a:cs typeface="Georgia"/>
              </a:rPr>
              <a:t> </a:t>
            </a:r>
            <a:r>
              <a:rPr sz="1100" dirty="0">
                <a:latin typeface="Georgia"/>
                <a:cs typeface="Georgia"/>
              </a:rPr>
              <a:t>a</a:t>
            </a:r>
            <a:r>
              <a:rPr sz="1100" spc="50" dirty="0">
                <a:latin typeface="Georgia"/>
                <a:cs typeface="Georgia"/>
              </a:rPr>
              <a:t> </a:t>
            </a:r>
            <a:r>
              <a:rPr sz="1100" spc="-20" dirty="0">
                <a:latin typeface="Georgia"/>
                <a:cs typeface="Georgia"/>
              </a:rPr>
              <a:t>current</a:t>
            </a:r>
            <a:r>
              <a:rPr sz="1100" spc="55" dirty="0">
                <a:latin typeface="Georgia"/>
                <a:cs typeface="Georgia"/>
              </a:rPr>
              <a:t> </a:t>
            </a:r>
            <a:r>
              <a:rPr sz="1100" spc="-35" dirty="0">
                <a:latin typeface="Georgia"/>
                <a:cs typeface="Georgia"/>
              </a:rPr>
              <a:t>medoid</a:t>
            </a:r>
            <a:r>
              <a:rPr sz="1100" spc="50" dirty="0">
                <a:latin typeface="Georgia"/>
                <a:cs typeface="Georgia"/>
              </a:rPr>
              <a:t> </a:t>
            </a:r>
            <a:r>
              <a:rPr sz="1100" spc="90" dirty="0">
                <a:latin typeface="Cambria"/>
                <a:cs typeface="Cambria"/>
              </a:rPr>
              <a:t>o</a:t>
            </a:r>
            <a:r>
              <a:rPr sz="1200" i="1" spc="135" baseline="-10416" dirty="0">
                <a:latin typeface="Calibri"/>
                <a:cs typeface="Calibri"/>
              </a:rPr>
              <a:t>j</a:t>
            </a:r>
            <a:r>
              <a:rPr sz="1200" i="1" spc="315" baseline="-10416" dirty="0">
                <a:latin typeface="Calibri"/>
                <a:cs typeface="Calibri"/>
              </a:rPr>
              <a:t> </a:t>
            </a:r>
            <a:r>
              <a:rPr sz="1100" dirty="0">
                <a:latin typeface="Calibri"/>
                <a:cs typeface="Calibri"/>
              </a:rPr>
              <a:t>(1</a:t>
            </a:r>
            <a:r>
              <a:rPr sz="1100" spc="15" dirty="0">
                <a:latin typeface="Calibri"/>
                <a:cs typeface="Calibri"/>
              </a:rPr>
              <a:t> </a:t>
            </a:r>
            <a:r>
              <a:rPr sz="1100" dirty="0">
                <a:latin typeface="Lucida Sans Unicode"/>
                <a:cs typeface="Lucida Sans Unicode"/>
              </a:rPr>
              <a:t>≤</a:t>
            </a:r>
            <a:r>
              <a:rPr sz="1100" spc="-80" dirty="0">
                <a:latin typeface="Lucida Sans Unicode"/>
                <a:cs typeface="Lucida Sans Unicode"/>
              </a:rPr>
              <a:t> </a:t>
            </a:r>
            <a:r>
              <a:rPr sz="1100" i="1" spc="180" dirty="0">
                <a:latin typeface="Calibri"/>
                <a:cs typeface="Calibri"/>
              </a:rPr>
              <a:t>j</a:t>
            </a:r>
            <a:r>
              <a:rPr sz="1100" i="1" spc="70" dirty="0">
                <a:latin typeface="Calibri"/>
                <a:cs typeface="Calibri"/>
              </a:rPr>
              <a:t> </a:t>
            </a:r>
            <a:r>
              <a:rPr sz="1100" dirty="0">
                <a:latin typeface="Lucida Sans Unicode"/>
                <a:cs typeface="Lucida Sans Unicode"/>
              </a:rPr>
              <a:t>≤</a:t>
            </a:r>
            <a:r>
              <a:rPr sz="1100" spc="-85" dirty="0">
                <a:latin typeface="Lucida Sans Unicode"/>
                <a:cs typeface="Lucida Sans Unicode"/>
              </a:rPr>
              <a:t> </a:t>
            </a:r>
            <a:r>
              <a:rPr sz="1100" i="1" spc="60" dirty="0">
                <a:latin typeface="Calibri"/>
                <a:cs typeface="Calibri"/>
              </a:rPr>
              <a:t>k</a:t>
            </a:r>
            <a:r>
              <a:rPr sz="1100" spc="60" dirty="0">
                <a:latin typeface="Calibri"/>
                <a:cs typeface="Calibri"/>
              </a:rPr>
              <a:t>)</a:t>
            </a:r>
            <a:r>
              <a:rPr sz="1100" spc="60" dirty="0">
                <a:latin typeface="Georgia"/>
                <a:cs typeface="Georgia"/>
              </a:rPr>
              <a:t>,</a:t>
            </a:r>
            <a:r>
              <a:rPr sz="1100" spc="55" dirty="0">
                <a:latin typeface="Georgia"/>
                <a:cs typeface="Georgia"/>
              </a:rPr>
              <a:t> </a:t>
            </a:r>
            <a:r>
              <a:rPr sz="1100" dirty="0">
                <a:latin typeface="Georgia"/>
                <a:cs typeface="Georgia"/>
              </a:rPr>
              <a:t>we</a:t>
            </a:r>
            <a:r>
              <a:rPr sz="1100" spc="50" dirty="0">
                <a:latin typeface="Georgia"/>
                <a:cs typeface="Georgia"/>
              </a:rPr>
              <a:t> </a:t>
            </a:r>
            <a:r>
              <a:rPr sz="1100" spc="-10" dirty="0">
                <a:latin typeface="Georgia"/>
                <a:cs typeface="Georgia"/>
              </a:rPr>
              <a:t>calculate</a:t>
            </a:r>
            <a:r>
              <a:rPr sz="1100" spc="50" dirty="0">
                <a:latin typeface="Georgia"/>
                <a:cs typeface="Georgia"/>
              </a:rPr>
              <a:t> </a:t>
            </a:r>
            <a:r>
              <a:rPr sz="1100" dirty="0">
                <a:latin typeface="Georgia"/>
                <a:cs typeface="Georgia"/>
              </a:rPr>
              <a:t>the</a:t>
            </a:r>
            <a:r>
              <a:rPr sz="1100" spc="50" dirty="0">
                <a:latin typeface="Georgia"/>
                <a:cs typeface="Georgia"/>
              </a:rPr>
              <a:t> </a:t>
            </a:r>
            <a:r>
              <a:rPr sz="1100" spc="-20" dirty="0">
                <a:latin typeface="Georgia"/>
                <a:cs typeface="Georgia"/>
              </a:rPr>
              <a:t>distance</a:t>
            </a:r>
            <a:r>
              <a:rPr sz="1100" spc="55" dirty="0">
                <a:latin typeface="Georgia"/>
                <a:cs typeface="Georgia"/>
              </a:rPr>
              <a:t> </a:t>
            </a:r>
            <a:r>
              <a:rPr sz="1100" spc="-20" dirty="0">
                <a:latin typeface="Georgia"/>
                <a:cs typeface="Georgia"/>
              </a:rPr>
              <a:t>from </a:t>
            </a:r>
            <a:r>
              <a:rPr sz="1100" spc="-10" dirty="0">
                <a:latin typeface="Georgia"/>
                <a:cs typeface="Georgia"/>
              </a:rPr>
              <a:t>every</a:t>
            </a:r>
            <a:r>
              <a:rPr sz="1100" spc="10" dirty="0">
                <a:latin typeface="Georgia"/>
                <a:cs typeface="Georgia"/>
              </a:rPr>
              <a:t> </a:t>
            </a:r>
            <a:r>
              <a:rPr sz="1100" dirty="0">
                <a:latin typeface="Georgia"/>
                <a:cs typeface="Georgia"/>
              </a:rPr>
              <a:t>object</a:t>
            </a:r>
            <a:r>
              <a:rPr sz="1100" spc="75" dirty="0">
                <a:latin typeface="Georgia"/>
                <a:cs typeface="Georgia"/>
              </a:rPr>
              <a:t> </a:t>
            </a:r>
            <a:r>
              <a:rPr sz="1100" spc="114" dirty="0">
                <a:latin typeface="Cambria"/>
                <a:cs typeface="Cambria"/>
              </a:rPr>
              <a:t>x</a:t>
            </a:r>
            <a:r>
              <a:rPr sz="1100" spc="100" dirty="0">
                <a:latin typeface="Cambria"/>
                <a:cs typeface="Cambria"/>
              </a:rPr>
              <a:t> </a:t>
            </a:r>
            <a:r>
              <a:rPr sz="1100" dirty="0">
                <a:latin typeface="Georgia"/>
                <a:cs typeface="Georgia"/>
              </a:rPr>
              <a:t>to</a:t>
            </a:r>
            <a:r>
              <a:rPr sz="1100" spc="75" dirty="0">
                <a:latin typeface="Georgia"/>
                <a:cs typeface="Georgia"/>
              </a:rPr>
              <a:t> </a:t>
            </a:r>
            <a:r>
              <a:rPr sz="1100" dirty="0">
                <a:latin typeface="Georgia"/>
                <a:cs typeface="Georgia"/>
              </a:rPr>
              <a:t>the</a:t>
            </a:r>
            <a:r>
              <a:rPr sz="1100" spc="75" dirty="0">
                <a:latin typeface="Georgia"/>
                <a:cs typeface="Georgia"/>
              </a:rPr>
              <a:t> </a:t>
            </a:r>
            <a:r>
              <a:rPr sz="1100" spc="-10" dirty="0">
                <a:latin typeface="Georgia"/>
                <a:cs typeface="Georgia"/>
              </a:rPr>
              <a:t>closest</a:t>
            </a:r>
            <a:r>
              <a:rPr sz="1100" spc="75" dirty="0">
                <a:latin typeface="Georgia"/>
                <a:cs typeface="Georgia"/>
              </a:rPr>
              <a:t> </a:t>
            </a:r>
            <a:r>
              <a:rPr sz="1100" dirty="0">
                <a:latin typeface="Georgia"/>
                <a:cs typeface="Georgia"/>
              </a:rPr>
              <a:t>object</a:t>
            </a:r>
            <a:r>
              <a:rPr sz="1100" spc="75" dirty="0">
                <a:latin typeface="Georgia"/>
                <a:cs typeface="Georgia"/>
              </a:rPr>
              <a:t> </a:t>
            </a:r>
            <a:r>
              <a:rPr sz="1100" dirty="0">
                <a:latin typeface="Georgia"/>
                <a:cs typeface="Georgia"/>
              </a:rPr>
              <a:t>in</a:t>
            </a:r>
            <a:r>
              <a:rPr sz="1100" spc="75" dirty="0">
                <a:latin typeface="Georgia"/>
                <a:cs typeface="Georgia"/>
              </a:rPr>
              <a:t> </a:t>
            </a:r>
            <a:r>
              <a:rPr sz="1100" dirty="0">
                <a:latin typeface="Georgia"/>
                <a:cs typeface="Georgia"/>
              </a:rPr>
              <a:t>the</a:t>
            </a:r>
            <a:r>
              <a:rPr sz="1100" spc="75" dirty="0">
                <a:latin typeface="Georgia"/>
                <a:cs typeface="Georgia"/>
              </a:rPr>
              <a:t> </a:t>
            </a:r>
            <a:r>
              <a:rPr sz="1100" dirty="0">
                <a:latin typeface="Georgia"/>
                <a:cs typeface="Georgia"/>
              </a:rPr>
              <a:t>set</a:t>
            </a:r>
            <a:r>
              <a:rPr sz="1100" spc="75" dirty="0">
                <a:latin typeface="Georgia"/>
                <a:cs typeface="Georgia"/>
              </a:rPr>
              <a:t> </a:t>
            </a:r>
            <a:r>
              <a:rPr sz="1100" spc="85" dirty="0">
                <a:latin typeface="Cambria"/>
                <a:cs typeface="Cambria"/>
              </a:rPr>
              <a:t>{o</a:t>
            </a:r>
            <a:r>
              <a:rPr sz="1200" spc="127" baseline="-10416" dirty="0">
                <a:latin typeface="Calibri"/>
                <a:cs typeface="Calibri"/>
              </a:rPr>
              <a:t>1</a:t>
            </a:r>
            <a:r>
              <a:rPr sz="1100" i="1" spc="8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dirty="0">
                <a:latin typeface="Cambria"/>
                <a:cs typeface="Cambria"/>
              </a:rPr>
              <a:t>o</a:t>
            </a:r>
            <a:r>
              <a:rPr sz="1200" i="1" baseline="-10416" dirty="0">
                <a:latin typeface="Calibri"/>
                <a:cs typeface="Calibri"/>
              </a:rPr>
              <a:t>j</a:t>
            </a:r>
            <a:r>
              <a:rPr sz="1200" baseline="-10416" dirty="0">
                <a:latin typeface="Lucida Sans Unicode"/>
                <a:cs typeface="Lucida Sans Unicode"/>
              </a:rPr>
              <a:t>—</a:t>
            </a:r>
            <a:r>
              <a:rPr sz="1200" baseline="-10416" dirty="0">
                <a:latin typeface="Calibri"/>
                <a:cs typeface="Calibri"/>
              </a:rPr>
              <a:t>1</a:t>
            </a:r>
            <a:r>
              <a:rPr sz="1100" i="1" dirty="0">
                <a:latin typeface="Calibri"/>
                <a:cs typeface="Calibri"/>
              </a:rPr>
              <a:t>,</a:t>
            </a:r>
            <a:r>
              <a:rPr sz="1100" i="1" spc="-70" dirty="0">
                <a:latin typeface="Calibri"/>
                <a:cs typeface="Calibri"/>
              </a:rPr>
              <a:t> </a:t>
            </a:r>
            <a:r>
              <a:rPr sz="1100" spc="60" dirty="0">
                <a:latin typeface="Cambria"/>
                <a:cs typeface="Cambria"/>
              </a:rPr>
              <a:t>o</a:t>
            </a:r>
            <a:r>
              <a:rPr sz="1200" i="1" spc="89" baseline="-13888" dirty="0">
                <a:latin typeface="Calibri"/>
                <a:cs typeface="Calibri"/>
              </a:rPr>
              <a:t>random</a:t>
            </a:r>
            <a:r>
              <a:rPr sz="1100" i="1" spc="60" dirty="0">
                <a:latin typeface="Calibri"/>
                <a:cs typeface="Calibri"/>
              </a:rPr>
              <a:t>,</a:t>
            </a:r>
            <a:r>
              <a:rPr sz="1100" i="1" spc="-70" dirty="0">
                <a:latin typeface="Calibri"/>
                <a:cs typeface="Calibri"/>
              </a:rPr>
              <a:t> </a:t>
            </a:r>
            <a:r>
              <a:rPr sz="1100" spc="130" dirty="0">
                <a:latin typeface="Cambria"/>
                <a:cs typeface="Cambria"/>
              </a:rPr>
              <a:t>o</a:t>
            </a:r>
            <a:r>
              <a:rPr sz="1200" i="1" spc="195" baseline="-10416" dirty="0">
                <a:latin typeface="Calibri"/>
                <a:cs typeface="Calibri"/>
              </a:rPr>
              <a:t>j</a:t>
            </a:r>
            <a:r>
              <a:rPr sz="1200" spc="195" baseline="-10416" dirty="0">
                <a:latin typeface="Calibri"/>
                <a:cs typeface="Calibri"/>
              </a:rPr>
              <a:t>+1</a:t>
            </a:r>
            <a:r>
              <a:rPr sz="1100" i="1" spc="13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50" dirty="0">
                <a:latin typeface="Cambria"/>
                <a:cs typeface="Cambria"/>
              </a:rPr>
              <a:t>o</a:t>
            </a:r>
            <a:r>
              <a:rPr sz="1200" i="1" spc="75" baseline="-13888" dirty="0">
                <a:latin typeface="Calibri"/>
                <a:cs typeface="Calibri"/>
              </a:rPr>
              <a:t>k</a:t>
            </a:r>
            <a:r>
              <a:rPr sz="1100" spc="50" dirty="0">
                <a:latin typeface="Cambria"/>
                <a:cs typeface="Cambria"/>
              </a:rPr>
              <a:t>}</a:t>
            </a:r>
            <a:r>
              <a:rPr sz="1100" spc="50" dirty="0">
                <a:latin typeface="Georgia"/>
                <a:cs typeface="Georgia"/>
              </a:rPr>
              <a:t>, </a:t>
            </a:r>
            <a:r>
              <a:rPr sz="1100" dirty="0">
                <a:latin typeface="Georgia"/>
                <a:cs typeface="Georgia"/>
              </a:rPr>
              <a:t>and</a:t>
            </a:r>
            <a:r>
              <a:rPr sz="1100" spc="20" dirty="0">
                <a:latin typeface="Georgia"/>
                <a:cs typeface="Georgia"/>
              </a:rPr>
              <a:t> </a:t>
            </a:r>
            <a:r>
              <a:rPr sz="1100" spc="-10" dirty="0">
                <a:latin typeface="Georgia"/>
                <a:cs typeface="Georgia"/>
              </a:rPr>
              <a:t>use</a:t>
            </a:r>
            <a:r>
              <a:rPr sz="1100" spc="25" dirty="0">
                <a:latin typeface="Georgia"/>
                <a:cs typeface="Georgia"/>
              </a:rPr>
              <a:t> </a:t>
            </a:r>
            <a:r>
              <a:rPr sz="1100" dirty="0">
                <a:latin typeface="Georgia"/>
                <a:cs typeface="Georgia"/>
              </a:rPr>
              <a:t>the</a:t>
            </a:r>
            <a:r>
              <a:rPr sz="1100" spc="25" dirty="0">
                <a:latin typeface="Georgia"/>
                <a:cs typeface="Georgia"/>
              </a:rPr>
              <a:t> </a:t>
            </a:r>
            <a:r>
              <a:rPr sz="1100" spc="-20" dirty="0">
                <a:latin typeface="Georgia"/>
                <a:cs typeface="Georgia"/>
              </a:rPr>
              <a:t>distance</a:t>
            </a:r>
            <a:r>
              <a:rPr sz="1100" spc="20" dirty="0">
                <a:latin typeface="Georgia"/>
                <a:cs typeface="Georgia"/>
              </a:rPr>
              <a:t> </a:t>
            </a:r>
            <a:r>
              <a:rPr sz="1100" dirty="0">
                <a:latin typeface="Georgia"/>
                <a:cs typeface="Georgia"/>
              </a:rPr>
              <a:t>to</a:t>
            </a:r>
            <a:r>
              <a:rPr sz="1100" spc="25" dirty="0">
                <a:latin typeface="Georgia"/>
                <a:cs typeface="Georgia"/>
              </a:rPr>
              <a:t> </a:t>
            </a:r>
            <a:r>
              <a:rPr sz="1100" dirty="0">
                <a:latin typeface="Georgia"/>
                <a:cs typeface="Georgia"/>
              </a:rPr>
              <a:t>update</a:t>
            </a:r>
            <a:r>
              <a:rPr sz="1100" spc="25" dirty="0">
                <a:latin typeface="Georgia"/>
                <a:cs typeface="Georgia"/>
              </a:rPr>
              <a:t> </a:t>
            </a:r>
            <a:r>
              <a:rPr sz="1100" dirty="0">
                <a:latin typeface="Georgia"/>
                <a:cs typeface="Georgia"/>
              </a:rPr>
              <a:t>the</a:t>
            </a:r>
            <a:r>
              <a:rPr sz="1100" spc="20" dirty="0">
                <a:latin typeface="Georgia"/>
                <a:cs typeface="Georgia"/>
              </a:rPr>
              <a:t> </a:t>
            </a:r>
            <a:r>
              <a:rPr sz="1100" dirty="0">
                <a:latin typeface="Georgia"/>
                <a:cs typeface="Georgia"/>
              </a:rPr>
              <a:t>cost</a:t>
            </a:r>
            <a:r>
              <a:rPr sz="1100" spc="25" dirty="0">
                <a:latin typeface="Georgia"/>
                <a:cs typeface="Georgia"/>
              </a:rPr>
              <a:t> </a:t>
            </a:r>
            <a:r>
              <a:rPr sz="1100" spc="-10" dirty="0">
                <a:latin typeface="Georgia"/>
                <a:cs typeface="Georgia"/>
              </a:rPr>
              <a:t>function.</a:t>
            </a:r>
            <a:endParaRPr sz="1100">
              <a:latin typeface="Georgia"/>
              <a:cs typeface="Georgia"/>
            </a:endParaRPr>
          </a:p>
          <a:p>
            <a:pPr marL="88900">
              <a:lnSpc>
                <a:spcPct val="100000"/>
              </a:lnSpc>
              <a:spcBef>
                <a:spcPts val="515"/>
              </a:spcBef>
            </a:pPr>
            <a:r>
              <a:rPr sz="1100" dirty="0">
                <a:latin typeface="Georgia"/>
                <a:cs typeface="Georgia"/>
              </a:rPr>
              <a:t>The</a:t>
            </a:r>
            <a:r>
              <a:rPr sz="1100" spc="90" dirty="0">
                <a:latin typeface="Georgia"/>
                <a:cs typeface="Georgia"/>
              </a:rPr>
              <a:t> </a:t>
            </a:r>
            <a:r>
              <a:rPr sz="1100" spc="-40" dirty="0">
                <a:latin typeface="Georgia"/>
                <a:cs typeface="Georgia"/>
              </a:rPr>
              <a:t>reassignments</a:t>
            </a:r>
            <a:r>
              <a:rPr sz="1100" spc="95" dirty="0">
                <a:latin typeface="Georgia"/>
                <a:cs typeface="Georgia"/>
              </a:rPr>
              <a:t> </a:t>
            </a:r>
            <a:r>
              <a:rPr sz="1100" dirty="0">
                <a:latin typeface="Georgia"/>
                <a:cs typeface="Georgia"/>
              </a:rPr>
              <a:t>of</a:t>
            </a:r>
            <a:r>
              <a:rPr sz="1100" spc="95" dirty="0">
                <a:latin typeface="Georgia"/>
                <a:cs typeface="Georgia"/>
              </a:rPr>
              <a:t> </a:t>
            </a:r>
            <a:r>
              <a:rPr sz="1100" dirty="0">
                <a:latin typeface="Georgia"/>
                <a:cs typeface="Georgia"/>
              </a:rPr>
              <a:t>objects</a:t>
            </a:r>
            <a:r>
              <a:rPr sz="1100" spc="95" dirty="0">
                <a:latin typeface="Georgia"/>
                <a:cs typeface="Georgia"/>
              </a:rPr>
              <a:t> </a:t>
            </a:r>
            <a:r>
              <a:rPr sz="1100" dirty="0">
                <a:latin typeface="Georgia"/>
                <a:cs typeface="Georgia"/>
              </a:rPr>
              <a:t>to</a:t>
            </a:r>
            <a:r>
              <a:rPr sz="1100" spc="95" dirty="0">
                <a:latin typeface="Georgia"/>
                <a:cs typeface="Georgia"/>
              </a:rPr>
              <a:t> </a:t>
            </a:r>
            <a:r>
              <a:rPr sz="1100" spc="85" dirty="0">
                <a:latin typeface="Cambria"/>
                <a:cs typeface="Cambria"/>
              </a:rPr>
              <a:t>{o</a:t>
            </a:r>
            <a:r>
              <a:rPr sz="1200" spc="127" baseline="-10416" dirty="0">
                <a:latin typeface="Calibri"/>
                <a:cs typeface="Calibri"/>
              </a:rPr>
              <a:t>1</a:t>
            </a:r>
            <a:r>
              <a:rPr sz="1100" i="1" spc="85"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dirty="0">
                <a:latin typeface="Cambria"/>
                <a:cs typeface="Cambria"/>
              </a:rPr>
              <a:t>o</a:t>
            </a:r>
            <a:r>
              <a:rPr sz="1200" i="1" baseline="-10416" dirty="0">
                <a:latin typeface="Calibri"/>
                <a:cs typeface="Calibri"/>
              </a:rPr>
              <a:t>j</a:t>
            </a:r>
            <a:r>
              <a:rPr sz="1200" baseline="-10416" dirty="0">
                <a:latin typeface="Lucida Sans Unicode"/>
                <a:cs typeface="Lucida Sans Unicode"/>
              </a:rPr>
              <a:t>—</a:t>
            </a:r>
            <a:r>
              <a:rPr sz="1200" baseline="-10416" dirty="0">
                <a:latin typeface="Calibri"/>
                <a:cs typeface="Calibri"/>
              </a:rPr>
              <a:t>1</a:t>
            </a:r>
            <a:r>
              <a:rPr sz="1100" i="1" dirty="0">
                <a:latin typeface="Calibri"/>
                <a:cs typeface="Calibri"/>
              </a:rPr>
              <a:t>,</a:t>
            </a:r>
            <a:r>
              <a:rPr sz="1100" i="1" spc="-70" dirty="0">
                <a:latin typeface="Calibri"/>
                <a:cs typeface="Calibri"/>
              </a:rPr>
              <a:t> </a:t>
            </a:r>
            <a:r>
              <a:rPr sz="1100" spc="60" dirty="0">
                <a:latin typeface="Cambria"/>
                <a:cs typeface="Cambria"/>
              </a:rPr>
              <a:t>o</a:t>
            </a:r>
            <a:r>
              <a:rPr sz="1200" i="1" spc="89" baseline="-13888" dirty="0">
                <a:latin typeface="Calibri"/>
                <a:cs typeface="Calibri"/>
              </a:rPr>
              <a:t>random</a:t>
            </a:r>
            <a:r>
              <a:rPr sz="1100" i="1" spc="60" dirty="0">
                <a:latin typeface="Calibri"/>
                <a:cs typeface="Calibri"/>
              </a:rPr>
              <a:t>,</a:t>
            </a:r>
            <a:r>
              <a:rPr sz="1100" i="1" spc="-70" dirty="0">
                <a:latin typeface="Calibri"/>
                <a:cs typeface="Calibri"/>
              </a:rPr>
              <a:t> </a:t>
            </a:r>
            <a:r>
              <a:rPr sz="1100" spc="130" dirty="0">
                <a:latin typeface="Cambria"/>
                <a:cs typeface="Cambria"/>
              </a:rPr>
              <a:t>o</a:t>
            </a:r>
            <a:r>
              <a:rPr sz="1200" i="1" spc="195" baseline="-10416" dirty="0">
                <a:latin typeface="Calibri"/>
                <a:cs typeface="Calibri"/>
              </a:rPr>
              <a:t>j</a:t>
            </a:r>
            <a:r>
              <a:rPr sz="1200" spc="195" baseline="-10416" dirty="0">
                <a:latin typeface="Calibri"/>
                <a:cs typeface="Calibri"/>
              </a:rPr>
              <a:t>+1</a:t>
            </a:r>
            <a:r>
              <a:rPr sz="1100" i="1" spc="130" dirty="0">
                <a:latin typeface="Calibri"/>
                <a:cs typeface="Calibri"/>
              </a:rPr>
              <a:t>,.</a:t>
            </a:r>
            <a:r>
              <a:rPr sz="1100" i="1" spc="-70" dirty="0">
                <a:latin typeface="Calibri"/>
                <a:cs typeface="Calibri"/>
              </a:rPr>
              <a:t> </a:t>
            </a:r>
            <a:r>
              <a:rPr sz="1100" i="1" spc="140" dirty="0">
                <a:latin typeface="Calibri"/>
                <a:cs typeface="Calibri"/>
              </a:rPr>
              <a:t>..,</a:t>
            </a:r>
            <a:r>
              <a:rPr sz="1100" i="1" spc="-70" dirty="0">
                <a:latin typeface="Calibri"/>
                <a:cs typeface="Calibri"/>
              </a:rPr>
              <a:t> </a:t>
            </a:r>
            <a:r>
              <a:rPr sz="1100" spc="100" dirty="0">
                <a:latin typeface="Cambria"/>
                <a:cs typeface="Cambria"/>
              </a:rPr>
              <a:t>o</a:t>
            </a:r>
            <a:r>
              <a:rPr sz="1200" i="1" spc="150" baseline="-13888" dirty="0">
                <a:latin typeface="Calibri"/>
                <a:cs typeface="Calibri"/>
              </a:rPr>
              <a:t>k</a:t>
            </a:r>
            <a:r>
              <a:rPr sz="1100" spc="100" dirty="0">
                <a:latin typeface="Cambria"/>
                <a:cs typeface="Cambria"/>
              </a:rPr>
              <a:t>}</a:t>
            </a:r>
            <a:r>
              <a:rPr sz="1100" spc="114" dirty="0">
                <a:latin typeface="Cambria"/>
                <a:cs typeface="Cambria"/>
              </a:rPr>
              <a:t> </a:t>
            </a:r>
            <a:r>
              <a:rPr sz="1100" dirty="0">
                <a:latin typeface="Georgia"/>
                <a:cs typeface="Georgia"/>
              </a:rPr>
              <a:t>are</a:t>
            </a:r>
            <a:r>
              <a:rPr sz="1100" spc="95" dirty="0">
                <a:latin typeface="Georgia"/>
                <a:cs typeface="Georgia"/>
              </a:rPr>
              <a:t> </a:t>
            </a:r>
            <a:r>
              <a:rPr sz="1100" spc="-10" dirty="0">
                <a:latin typeface="Georgia"/>
                <a:cs typeface="Georgia"/>
              </a:rPr>
              <a:t>simple:</a:t>
            </a:r>
            <a:endParaRPr sz="1100">
              <a:latin typeface="Georgia"/>
              <a:cs typeface="Georgia"/>
            </a:endParaRPr>
          </a:p>
        </p:txBody>
      </p:sp>
      <p:sp>
        <p:nvSpPr>
          <p:cNvPr id="7" name="object 7"/>
          <p:cNvSpPr/>
          <p:nvPr/>
        </p:nvSpPr>
        <p:spPr>
          <a:xfrm>
            <a:off x="620229" y="1718360"/>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8" name="object 8"/>
          <p:cNvSpPr txBox="1"/>
          <p:nvPr/>
        </p:nvSpPr>
        <p:spPr>
          <a:xfrm>
            <a:off x="731266" y="1891708"/>
            <a:ext cx="1800225" cy="177800"/>
          </a:xfrm>
          <a:prstGeom prst="rect">
            <a:avLst/>
          </a:prstGeom>
        </p:spPr>
        <p:txBody>
          <a:bodyPr vert="horz" wrap="square" lIns="0" tIns="12065" rIns="0" bIns="0" rtlCol="0">
            <a:spAutoFit/>
          </a:bodyPr>
          <a:lstStyle/>
          <a:p>
            <a:pPr marL="12700">
              <a:lnSpc>
                <a:spcPct val="100000"/>
              </a:lnSpc>
              <a:spcBef>
                <a:spcPts val="95"/>
              </a:spcBef>
            </a:pPr>
            <a:r>
              <a:rPr sz="1000" spc="60" dirty="0">
                <a:latin typeface="Georgia"/>
                <a:cs typeface="Georgia"/>
              </a:rPr>
              <a:t>(</a:t>
            </a:r>
            <a:r>
              <a:rPr sz="1000" i="1" spc="60" dirty="0">
                <a:latin typeface="Calibri"/>
                <a:cs typeface="Calibri"/>
              </a:rPr>
              <a:t>i</a:t>
            </a:r>
            <a:r>
              <a:rPr sz="1000" i="1" dirty="0">
                <a:latin typeface="Calibri"/>
                <a:cs typeface="Calibri"/>
              </a:rPr>
              <a:t> </a:t>
            </a:r>
            <a:r>
              <a:rPr sz="1000" spc="-395" dirty="0">
                <a:latin typeface="Lucida Sans Unicode"/>
                <a:cs typeface="Lucida Sans Unicode"/>
              </a:rPr>
              <a:t>/</a:t>
            </a:r>
            <a:r>
              <a:rPr sz="1000" spc="140" dirty="0">
                <a:latin typeface="Calibri"/>
                <a:cs typeface="Calibri"/>
              </a:rPr>
              <a:t>=</a:t>
            </a:r>
            <a:r>
              <a:rPr sz="1000" spc="50" dirty="0">
                <a:latin typeface="Calibri"/>
                <a:cs typeface="Calibri"/>
              </a:rPr>
              <a:t> </a:t>
            </a:r>
            <a:r>
              <a:rPr sz="1000" i="1" spc="75" dirty="0">
                <a:latin typeface="Calibri"/>
                <a:cs typeface="Calibri"/>
              </a:rPr>
              <a:t>j</a:t>
            </a:r>
            <a:r>
              <a:rPr sz="1000" spc="75" dirty="0">
                <a:latin typeface="Georgia"/>
                <a:cs typeface="Georgia"/>
              </a:rPr>
              <a:t>),</a:t>
            </a:r>
            <a:r>
              <a:rPr sz="1000" spc="65" dirty="0">
                <a:latin typeface="Georgia"/>
                <a:cs typeface="Georgia"/>
              </a:rPr>
              <a:t> </a:t>
            </a:r>
            <a:r>
              <a:rPr sz="1000" spc="-25" dirty="0">
                <a:latin typeface="Georgia"/>
                <a:cs typeface="Georgia"/>
              </a:rPr>
              <a:t>whichever</a:t>
            </a:r>
            <a:r>
              <a:rPr sz="1000" spc="65" dirty="0">
                <a:latin typeface="Georgia"/>
                <a:cs typeface="Georgia"/>
              </a:rPr>
              <a:t> </a:t>
            </a:r>
            <a:r>
              <a:rPr sz="1000" dirty="0">
                <a:latin typeface="Georgia"/>
                <a:cs typeface="Georgia"/>
              </a:rPr>
              <a:t>is</a:t>
            </a:r>
            <a:r>
              <a:rPr sz="1000" spc="60" dirty="0">
                <a:latin typeface="Georgia"/>
                <a:cs typeface="Georgia"/>
              </a:rPr>
              <a:t> </a:t>
            </a:r>
            <a:r>
              <a:rPr sz="1000" dirty="0">
                <a:latin typeface="Georgia"/>
                <a:cs typeface="Georgia"/>
              </a:rPr>
              <a:t>the</a:t>
            </a:r>
            <a:r>
              <a:rPr sz="1000" spc="65" dirty="0">
                <a:latin typeface="Georgia"/>
                <a:cs typeface="Georgia"/>
              </a:rPr>
              <a:t> </a:t>
            </a:r>
            <a:r>
              <a:rPr sz="1000" spc="-10" dirty="0">
                <a:latin typeface="Georgia"/>
                <a:cs typeface="Georgia"/>
              </a:rPr>
              <a:t>closest.</a:t>
            </a:r>
            <a:endParaRPr sz="1000">
              <a:latin typeface="Georgia"/>
              <a:cs typeface="Georgia"/>
            </a:endParaRPr>
          </a:p>
        </p:txBody>
      </p:sp>
      <p:sp>
        <p:nvSpPr>
          <p:cNvPr id="9" name="object 9"/>
          <p:cNvSpPr txBox="1"/>
          <p:nvPr/>
        </p:nvSpPr>
        <p:spPr>
          <a:xfrm>
            <a:off x="705866" y="1633593"/>
            <a:ext cx="4692650" cy="729615"/>
          </a:xfrm>
          <a:prstGeom prst="rect">
            <a:avLst/>
          </a:prstGeom>
        </p:spPr>
        <p:txBody>
          <a:bodyPr vert="horz" wrap="square" lIns="0" tIns="12065" rIns="0" bIns="0" rtlCol="0">
            <a:spAutoFit/>
          </a:bodyPr>
          <a:lstStyle/>
          <a:p>
            <a:pPr marL="38100">
              <a:lnSpc>
                <a:spcPts val="1110"/>
              </a:lnSpc>
              <a:spcBef>
                <a:spcPts val="95"/>
              </a:spcBef>
            </a:pPr>
            <a:r>
              <a:rPr sz="1000" spc="-20" dirty="0">
                <a:latin typeface="Georgia"/>
                <a:cs typeface="Georgia"/>
              </a:rPr>
              <a:t>Suppose</a:t>
            </a:r>
            <a:r>
              <a:rPr sz="1000" spc="40" dirty="0">
                <a:latin typeface="Georgia"/>
                <a:cs typeface="Georgia"/>
              </a:rPr>
              <a:t> </a:t>
            </a:r>
            <a:r>
              <a:rPr sz="1000" dirty="0">
                <a:latin typeface="Georgia"/>
                <a:cs typeface="Georgia"/>
              </a:rPr>
              <a:t>an</a:t>
            </a:r>
            <a:r>
              <a:rPr sz="1000" spc="55" dirty="0">
                <a:latin typeface="Georgia"/>
                <a:cs typeface="Georgia"/>
              </a:rPr>
              <a:t> </a:t>
            </a:r>
            <a:r>
              <a:rPr sz="1000" dirty="0">
                <a:latin typeface="Georgia"/>
                <a:cs typeface="Georgia"/>
              </a:rPr>
              <a:t>object</a:t>
            </a:r>
            <a:r>
              <a:rPr sz="1000" spc="55" dirty="0">
                <a:latin typeface="Georgia"/>
                <a:cs typeface="Georgia"/>
              </a:rPr>
              <a:t> </a:t>
            </a:r>
            <a:r>
              <a:rPr sz="1000" spc="110" dirty="0">
                <a:latin typeface="Cambria"/>
                <a:cs typeface="Cambria"/>
              </a:rPr>
              <a:t>x</a:t>
            </a:r>
            <a:r>
              <a:rPr sz="1000" spc="75" dirty="0">
                <a:latin typeface="Cambria"/>
                <a:cs typeface="Cambria"/>
              </a:rPr>
              <a:t> </a:t>
            </a:r>
            <a:r>
              <a:rPr sz="1000" dirty="0">
                <a:latin typeface="Georgia"/>
                <a:cs typeface="Georgia"/>
              </a:rPr>
              <a:t>is</a:t>
            </a:r>
            <a:r>
              <a:rPr sz="1000" spc="55" dirty="0">
                <a:latin typeface="Georgia"/>
                <a:cs typeface="Georgia"/>
              </a:rPr>
              <a:t> </a:t>
            </a:r>
            <a:r>
              <a:rPr sz="1000" spc="-10" dirty="0">
                <a:latin typeface="Georgia"/>
                <a:cs typeface="Georgia"/>
              </a:rPr>
              <a:t>currently</a:t>
            </a:r>
            <a:r>
              <a:rPr sz="1000" spc="55" dirty="0">
                <a:latin typeface="Georgia"/>
                <a:cs typeface="Georgia"/>
              </a:rPr>
              <a:t> </a:t>
            </a:r>
            <a:r>
              <a:rPr sz="1000" spc="-25" dirty="0">
                <a:latin typeface="Georgia"/>
                <a:cs typeface="Georgia"/>
              </a:rPr>
              <a:t>assigned</a:t>
            </a:r>
            <a:r>
              <a:rPr sz="1000" spc="55" dirty="0">
                <a:latin typeface="Georgia"/>
                <a:cs typeface="Georgia"/>
              </a:rPr>
              <a:t> </a:t>
            </a:r>
            <a:r>
              <a:rPr sz="1000" dirty="0">
                <a:latin typeface="Georgia"/>
                <a:cs typeface="Georgia"/>
              </a:rPr>
              <a:t>to</a:t>
            </a:r>
            <a:r>
              <a:rPr sz="1000" spc="55" dirty="0">
                <a:latin typeface="Georgia"/>
                <a:cs typeface="Georgia"/>
              </a:rPr>
              <a:t> </a:t>
            </a:r>
            <a:r>
              <a:rPr sz="1000" dirty="0">
                <a:latin typeface="Georgia"/>
                <a:cs typeface="Georgia"/>
              </a:rPr>
              <a:t>a</a:t>
            </a:r>
            <a:r>
              <a:rPr sz="1000" spc="50" dirty="0">
                <a:latin typeface="Georgia"/>
                <a:cs typeface="Georgia"/>
              </a:rPr>
              <a:t> </a:t>
            </a:r>
            <a:r>
              <a:rPr sz="1000" spc="-10" dirty="0">
                <a:latin typeface="Georgia"/>
                <a:cs typeface="Georgia"/>
              </a:rPr>
              <a:t>cluster</a:t>
            </a:r>
            <a:r>
              <a:rPr sz="1000" spc="55" dirty="0">
                <a:latin typeface="Georgia"/>
                <a:cs typeface="Georgia"/>
              </a:rPr>
              <a:t> </a:t>
            </a:r>
            <a:r>
              <a:rPr sz="1000" spc="-30" dirty="0">
                <a:latin typeface="Georgia"/>
                <a:cs typeface="Georgia"/>
              </a:rPr>
              <a:t>represented</a:t>
            </a:r>
            <a:r>
              <a:rPr sz="1000" spc="55" dirty="0">
                <a:latin typeface="Georgia"/>
                <a:cs typeface="Georgia"/>
              </a:rPr>
              <a:t> </a:t>
            </a:r>
            <a:r>
              <a:rPr sz="1000" dirty="0">
                <a:latin typeface="Georgia"/>
                <a:cs typeface="Georgia"/>
              </a:rPr>
              <a:t>by</a:t>
            </a:r>
            <a:r>
              <a:rPr sz="1000" spc="55" dirty="0">
                <a:latin typeface="Georgia"/>
                <a:cs typeface="Georgia"/>
              </a:rPr>
              <a:t> </a:t>
            </a:r>
            <a:r>
              <a:rPr sz="1000" spc="-20" dirty="0">
                <a:latin typeface="Georgia"/>
                <a:cs typeface="Georgia"/>
              </a:rPr>
              <a:t>mediod</a:t>
            </a:r>
            <a:r>
              <a:rPr sz="1000" spc="45" dirty="0">
                <a:latin typeface="Georgia"/>
                <a:cs typeface="Georgia"/>
              </a:rPr>
              <a:t> </a:t>
            </a:r>
            <a:r>
              <a:rPr sz="1000" spc="105" dirty="0">
                <a:latin typeface="Cambria"/>
                <a:cs typeface="Cambria"/>
              </a:rPr>
              <a:t>o</a:t>
            </a:r>
            <a:r>
              <a:rPr sz="1050" i="1" spc="157" baseline="-11904" dirty="0">
                <a:latin typeface="Calibri"/>
                <a:cs typeface="Calibri"/>
              </a:rPr>
              <a:t>j</a:t>
            </a:r>
            <a:r>
              <a:rPr sz="1050" i="1" spc="-104" baseline="-11904" dirty="0">
                <a:latin typeface="Calibri"/>
                <a:cs typeface="Calibri"/>
              </a:rPr>
              <a:t> </a:t>
            </a:r>
            <a:r>
              <a:rPr sz="1000" dirty="0">
                <a:latin typeface="Georgia"/>
                <a:cs typeface="Georgia"/>
              </a:rPr>
              <a:t>:</a:t>
            </a:r>
            <a:r>
              <a:rPr sz="1000" spc="145" dirty="0">
                <a:latin typeface="Georgia"/>
                <a:cs typeface="Georgia"/>
              </a:rPr>
              <a:t> </a:t>
            </a:r>
            <a:r>
              <a:rPr sz="1000" spc="60" dirty="0">
                <a:latin typeface="Cambria"/>
                <a:cs typeface="Cambria"/>
              </a:rPr>
              <a:t>x</a:t>
            </a:r>
            <a:endParaRPr sz="1000">
              <a:latin typeface="Cambria"/>
              <a:cs typeface="Cambria"/>
            </a:endParaRPr>
          </a:p>
          <a:p>
            <a:pPr marL="38100">
              <a:lnSpc>
                <a:spcPts val="1110"/>
              </a:lnSpc>
            </a:pPr>
            <a:r>
              <a:rPr sz="1000" spc="-25" dirty="0">
                <a:latin typeface="Georgia"/>
                <a:cs typeface="Georgia"/>
              </a:rPr>
              <a:t>needs</a:t>
            </a:r>
            <a:r>
              <a:rPr sz="1000" spc="45" dirty="0">
                <a:latin typeface="Georgia"/>
                <a:cs typeface="Georgia"/>
              </a:rPr>
              <a:t> </a:t>
            </a:r>
            <a:r>
              <a:rPr sz="1000" dirty="0">
                <a:latin typeface="Georgia"/>
                <a:cs typeface="Georgia"/>
              </a:rPr>
              <a:t>to</a:t>
            </a:r>
            <a:r>
              <a:rPr sz="1000" spc="45" dirty="0">
                <a:latin typeface="Georgia"/>
                <a:cs typeface="Georgia"/>
              </a:rPr>
              <a:t> </a:t>
            </a:r>
            <a:r>
              <a:rPr sz="1000" dirty="0">
                <a:latin typeface="Georgia"/>
                <a:cs typeface="Georgia"/>
              </a:rPr>
              <a:t>be</a:t>
            </a:r>
            <a:r>
              <a:rPr sz="1000" spc="45" dirty="0">
                <a:latin typeface="Georgia"/>
                <a:cs typeface="Georgia"/>
              </a:rPr>
              <a:t> </a:t>
            </a:r>
            <a:r>
              <a:rPr sz="1000" spc="-30" dirty="0">
                <a:latin typeface="Georgia"/>
                <a:cs typeface="Georgia"/>
              </a:rPr>
              <a:t>reassigned</a:t>
            </a:r>
            <a:r>
              <a:rPr sz="1000" spc="45" dirty="0">
                <a:latin typeface="Georgia"/>
                <a:cs typeface="Georgia"/>
              </a:rPr>
              <a:t> </a:t>
            </a:r>
            <a:r>
              <a:rPr sz="1000" dirty="0">
                <a:latin typeface="Georgia"/>
                <a:cs typeface="Georgia"/>
              </a:rPr>
              <a:t>to</a:t>
            </a:r>
            <a:r>
              <a:rPr sz="1000" spc="45" dirty="0">
                <a:latin typeface="Georgia"/>
                <a:cs typeface="Georgia"/>
              </a:rPr>
              <a:t> </a:t>
            </a:r>
            <a:r>
              <a:rPr sz="1000" spc="-10" dirty="0">
                <a:latin typeface="Georgia"/>
                <a:cs typeface="Georgia"/>
              </a:rPr>
              <a:t>either</a:t>
            </a:r>
            <a:r>
              <a:rPr sz="1000" spc="45" dirty="0">
                <a:latin typeface="Georgia"/>
                <a:cs typeface="Georgia"/>
              </a:rPr>
              <a:t> </a:t>
            </a:r>
            <a:r>
              <a:rPr sz="1000" spc="85" dirty="0">
                <a:latin typeface="Cambria"/>
                <a:cs typeface="Cambria"/>
              </a:rPr>
              <a:t>o</a:t>
            </a:r>
            <a:r>
              <a:rPr sz="1050" i="1" spc="127" baseline="-11904" dirty="0">
                <a:latin typeface="Calibri"/>
                <a:cs typeface="Calibri"/>
              </a:rPr>
              <a:t>random</a:t>
            </a:r>
            <a:r>
              <a:rPr sz="1050" i="1" spc="262" baseline="-11904" dirty="0">
                <a:latin typeface="Calibri"/>
                <a:cs typeface="Calibri"/>
              </a:rPr>
              <a:t> </a:t>
            </a:r>
            <a:r>
              <a:rPr sz="1000" dirty="0">
                <a:latin typeface="Georgia"/>
                <a:cs typeface="Georgia"/>
              </a:rPr>
              <a:t>or</a:t>
            </a:r>
            <a:r>
              <a:rPr sz="1000" spc="45" dirty="0">
                <a:latin typeface="Georgia"/>
                <a:cs typeface="Georgia"/>
              </a:rPr>
              <a:t> </a:t>
            </a:r>
            <a:r>
              <a:rPr sz="1000" spc="-30" dirty="0">
                <a:latin typeface="Georgia"/>
                <a:cs typeface="Georgia"/>
              </a:rPr>
              <a:t>some</a:t>
            </a:r>
            <a:r>
              <a:rPr sz="1000" spc="45" dirty="0">
                <a:latin typeface="Georgia"/>
                <a:cs typeface="Georgia"/>
              </a:rPr>
              <a:t> </a:t>
            </a:r>
            <a:r>
              <a:rPr sz="1000" spc="-10" dirty="0">
                <a:latin typeface="Georgia"/>
                <a:cs typeface="Georgia"/>
              </a:rPr>
              <a:t>other</a:t>
            </a:r>
            <a:r>
              <a:rPr sz="1000" spc="45" dirty="0">
                <a:latin typeface="Georgia"/>
                <a:cs typeface="Georgia"/>
              </a:rPr>
              <a:t> </a:t>
            </a:r>
            <a:r>
              <a:rPr sz="1000" spc="-10" dirty="0">
                <a:latin typeface="Georgia"/>
                <a:cs typeface="Georgia"/>
              </a:rPr>
              <a:t>cluster</a:t>
            </a:r>
            <a:r>
              <a:rPr sz="1000" spc="45" dirty="0">
                <a:latin typeface="Georgia"/>
                <a:cs typeface="Georgia"/>
              </a:rPr>
              <a:t> </a:t>
            </a:r>
            <a:r>
              <a:rPr sz="1000" spc="-35" dirty="0">
                <a:latin typeface="Georgia"/>
                <a:cs typeface="Georgia"/>
              </a:rPr>
              <a:t>represented</a:t>
            </a:r>
            <a:r>
              <a:rPr sz="1000" spc="45" dirty="0">
                <a:latin typeface="Georgia"/>
                <a:cs typeface="Georgia"/>
              </a:rPr>
              <a:t> </a:t>
            </a:r>
            <a:r>
              <a:rPr sz="1000" dirty="0">
                <a:latin typeface="Georgia"/>
                <a:cs typeface="Georgia"/>
              </a:rPr>
              <a:t>by</a:t>
            </a:r>
            <a:r>
              <a:rPr sz="1000" spc="45" dirty="0">
                <a:latin typeface="Georgia"/>
                <a:cs typeface="Georgia"/>
              </a:rPr>
              <a:t> </a:t>
            </a:r>
            <a:r>
              <a:rPr sz="1000" spc="55" dirty="0">
                <a:latin typeface="Cambria"/>
                <a:cs typeface="Cambria"/>
              </a:rPr>
              <a:t>o</a:t>
            </a:r>
            <a:r>
              <a:rPr sz="1050" i="1" spc="82" baseline="-11904" dirty="0">
                <a:latin typeface="Calibri"/>
                <a:cs typeface="Calibri"/>
              </a:rPr>
              <a:t>i</a:t>
            </a:r>
            <a:endParaRPr sz="1050" baseline="-11904">
              <a:latin typeface="Calibri"/>
              <a:cs typeface="Calibri"/>
            </a:endParaRPr>
          </a:p>
          <a:p>
            <a:pPr marL="38100">
              <a:lnSpc>
                <a:spcPts val="1110"/>
              </a:lnSpc>
              <a:spcBef>
                <a:spcPts val="1115"/>
              </a:spcBef>
            </a:pPr>
            <a:r>
              <a:rPr sz="1000" spc="-20" dirty="0">
                <a:latin typeface="Georgia"/>
                <a:cs typeface="Georgia"/>
              </a:rPr>
              <a:t>Suppose</a:t>
            </a:r>
            <a:r>
              <a:rPr sz="1000" spc="45" dirty="0">
                <a:latin typeface="Georgia"/>
                <a:cs typeface="Georgia"/>
              </a:rPr>
              <a:t> </a:t>
            </a:r>
            <a:r>
              <a:rPr sz="1000" dirty="0">
                <a:latin typeface="Georgia"/>
                <a:cs typeface="Georgia"/>
              </a:rPr>
              <a:t>an</a:t>
            </a:r>
            <a:r>
              <a:rPr sz="1000" spc="45" dirty="0">
                <a:latin typeface="Georgia"/>
                <a:cs typeface="Georgia"/>
              </a:rPr>
              <a:t> </a:t>
            </a:r>
            <a:r>
              <a:rPr sz="1000" dirty="0">
                <a:latin typeface="Georgia"/>
                <a:cs typeface="Georgia"/>
              </a:rPr>
              <a:t>object</a:t>
            </a:r>
            <a:r>
              <a:rPr sz="1000" spc="50" dirty="0">
                <a:latin typeface="Georgia"/>
                <a:cs typeface="Georgia"/>
              </a:rPr>
              <a:t> </a:t>
            </a:r>
            <a:r>
              <a:rPr sz="1000" spc="110" dirty="0">
                <a:latin typeface="Cambria"/>
                <a:cs typeface="Cambria"/>
              </a:rPr>
              <a:t>x</a:t>
            </a:r>
            <a:r>
              <a:rPr sz="1000" spc="70" dirty="0">
                <a:latin typeface="Cambria"/>
                <a:cs typeface="Cambria"/>
              </a:rPr>
              <a:t> </a:t>
            </a:r>
            <a:r>
              <a:rPr sz="1000" dirty="0">
                <a:latin typeface="Georgia"/>
                <a:cs typeface="Georgia"/>
              </a:rPr>
              <a:t>is</a:t>
            </a:r>
            <a:r>
              <a:rPr sz="1000" spc="50" dirty="0">
                <a:latin typeface="Georgia"/>
                <a:cs typeface="Georgia"/>
              </a:rPr>
              <a:t> </a:t>
            </a:r>
            <a:r>
              <a:rPr sz="1000" spc="-10" dirty="0">
                <a:latin typeface="Georgia"/>
                <a:cs typeface="Georgia"/>
              </a:rPr>
              <a:t>currently</a:t>
            </a:r>
            <a:r>
              <a:rPr sz="1000" spc="45" dirty="0">
                <a:latin typeface="Georgia"/>
                <a:cs typeface="Georgia"/>
              </a:rPr>
              <a:t> </a:t>
            </a:r>
            <a:r>
              <a:rPr sz="1000" spc="-25" dirty="0">
                <a:latin typeface="Georgia"/>
                <a:cs typeface="Georgia"/>
              </a:rPr>
              <a:t>assigned</a:t>
            </a:r>
            <a:r>
              <a:rPr sz="1000" spc="50" dirty="0">
                <a:latin typeface="Georgia"/>
                <a:cs typeface="Georgia"/>
              </a:rPr>
              <a:t> </a:t>
            </a:r>
            <a:r>
              <a:rPr sz="1000" dirty="0">
                <a:latin typeface="Georgia"/>
                <a:cs typeface="Georgia"/>
              </a:rPr>
              <a:t>to</a:t>
            </a:r>
            <a:r>
              <a:rPr sz="1000" spc="45" dirty="0">
                <a:latin typeface="Georgia"/>
                <a:cs typeface="Georgia"/>
              </a:rPr>
              <a:t> </a:t>
            </a:r>
            <a:r>
              <a:rPr sz="1000" dirty="0">
                <a:latin typeface="Georgia"/>
                <a:cs typeface="Georgia"/>
              </a:rPr>
              <a:t>a</a:t>
            </a:r>
            <a:r>
              <a:rPr sz="1000" spc="50" dirty="0">
                <a:latin typeface="Georgia"/>
                <a:cs typeface="Georgia"/>
              </a:rPr>
              <a:t> </a:t>
            </a:r>
            <a:r>
              <a:rPr sz="1000" spc="-10" dirty="0">
                <a:latin typeface="Georgia"/>
                <a:cs typeface="Georgia"/>
              </a:rPr>
              <a:t>cluster</a:t>
            </a:r>
            <a:r>
              <a:rPr sz="1000" spc="45" dirty="0">
                <a:latin typeface="Georgia"/>
                <a:cs typeface="Georgia"/>
              </a:rPr>
              <a:t> </a:t>
            </a:r>
            <a:r>
              <a:rPr sz="1000" spc="-30" dirty="0">
                <a:latin typeface="Georgia"/>
                <a:cs typeface="Georgia"/>
              </a:rPr>
              <a:t>represented</a:t>
            </a:r>
            <a:r>
              <a:rPr sz="1000" spc="50" dirty="0">
                <a:latin typeface="Georgia"/>
                <a:cs typeface="Georgia"/>
              </a:rPr>
              <a:t> </a:t>
            </a:r>
            <a:r>
              <a:rPr sz="1000" dirty="0">
                <a:latin typeface="Georgia"/>
                <a:cs typeface="Georgia"/>
              </a:rPr>
              <a:t>by</a:t>
            </a:r>
            <a:r>
              <a:rPr sz="1000" spc="45" dirty="0">
                <a:latin typeface="Georgia"/>
                <a:cs typeface="Georgia"/>
              </a:rPr>
              <a:t> </a:t>
            </a:r>
            <a:r>
              <a:rPr sz="1000" spc="-25" dirty="0">
                <a:latin typeface="Georgia"/>
                <a:cs typeface="Georgia"/>
              </a:rPr>
              <a:t>some</a:t>
            </a:r>
            <a:r>
              <a:rPr sz="1000" spc="45" dirty="0">
                <a:latin typeface="Georgia"/>
                <a:cs typeface="Georgia"/>
              </a:rPr>
              <a:t> </a:t>
            </a:r>
            <a:r>
              <a:rPr sz="1000" spc="-10" dirty="0">
                <a:latin typeface="Georgia"/>
                <a:cs typeface="Georgia"/>
              </a:rPr>
              <a:t>other</a:t>
            </a:r>
            <a:r>
              <a:rPr sz="1000" spc="40" dirty="0">
                <a:latin typeface="Georgia"/>
                <a:cs typeface="Georgia"/>
              </a:rPr>
              <a:t> </a:t>
            </a:r>
            <a:r>
              <a:rPr sz="1000" spc="55" dirty="0">
                <a:latin typeface="Cambria"/>
                <a:cs typeface="Cambria"/>
              </a:rPr>
              <a:t>o</a:t>
            </a:r>
            <a:r>
              <a:rPr sz="1050" i="1" spc="82" baseline="-11904" dirty="0">
                <a:latin typeface="Calibri"/>
                <a:cs typeface="Calibri"/>
              </a:rPr>
              <a:t>i</a:t>
            </a:r>
            <a:endParaRPr sz="1050" baseline="-11904">
              <a:latin typeface="Calibri"/>
              <a:cs typeface="Calibri"/>
            </a:endParaRPr>
          </a:p>
          <a:p>
            <a:pPr marL="38100">
              <a:lnSpc>
                <a:spcPts val="1110"/>
              </a:lnSpc>
            </a:pPr>
            <a:r>
              <a:rPr sz="1000" spc="60" dirty="0">
                <a:latin typeface="Georgia"/>
                <a:cs typeface="Georgia"/>
              </a:rPr>
              <a:t>(</a:t>
            </a:r>
            <a:r>
              <a:rPr sz="1000" i="1" spc="60" dirty="0">
                <a:latin typeface="Calibri"/>
                <a:cs typeface="Calibri"/>
              </a:rPr>
              <a:t>i</a:t>
            </a:r>
            <a:r>
              <a:rPr sz="1000" i="1" spc="-5" dirty="0">
                <a:latin typeface="Calibri"/>
                <a:cs typeface="Calibri"/>
              </a:rPr>
              <a:t> </a:t>
            </a:r>
            <a:r>
              <a:rPr sz="1000" spc="-395" dirty="0">
                <a:latin typeface="Lucida Sans Unicode"/>
                <a:cs typeface="Lucida Sans Unicode"/>
              </a:rPr>
              <a:t>/</a:t>
            </a:r>
            <a:r>
              <a:rPr sz="1000" spc="140" dirty="0">
                <a:latin typeface="Calibri"/>
                <a:cs typeface="Calibri"/>
              </a:rPr>
              <a:t>=</a:t>
            </a:r>
            <a:r>
              <a:rPr sz="1000" spc="50" dirty="0">
                <a:latin typeface="Calibri"/>
                <a:cs typeface="Calibri"/>
              </a:rPr>
              <a:t> </a:t>
            </a:r>
            <a:r>
              <a:rPr sz="1000" i="1" spc="60" dirty="0">
                <a:latin typeface="Calibri"/>
                <a:cs typeface="Calibri"/>
              </a:rPr>
              <a:t>j</a:t>
            </a:r>
            <a:r>
              <a:rPr sz="1000" spc="60" dirty="0">
                <a:latin typeface="Georgia"/>
                <a:cs typeface="Georgia"/>
              </a:rPr>
              <a:t>):</a:t>
            </a:r>
            <a:r>
              <a:rPr sz="1000" spc="155" dirty="0">
                <a:latin typeface="Georgia"/>
                <a:cs typeface="Georgia"/>
              </a:rPr>
              <a:t> </a:t>
            </a:r>
            <a:r>
              <a:rPr sz="1000" spc="110" dirty="0">
                <a:latin typeface="Cambria"/>
                <a:cs typeface="Cambria"/>
              </a:rPr>
              <a:t>x</a:t>
            </a:r>
            <a:r>
              <a:rPr sz="1000" spc="85" dirty="0">
                <a:latin typeface="Cambria"/>
                <a:cs typeface="Cambria"/>
              </a:rPr>
              <a:t> </a:t>
            </a:r>
            <a:r>
              <a:rPr sz="1000" spc="-25" dirty="0">
                <a:latin typeface="Georgia"/>
                <a:cs typeface="Georgia"/>
              </a:rPr>
              <a:t>remains</a:t>
            </a:r>
            <a:r>
              <a:rPr sz="1000" spc="60" dirty="0">
                <a:latin typeface="Georgia"/>
                <a:cs typeface="Georgia"/>
              </a:rPr>
              <a:t> </a:t>
            </a:r>
            <a:r>
              <a:rPr sz="1000" spc="-25" dirty="0">
                <a:latin typeface="Georgia"/>
                <a:cs typeface="Georgia"/>
              </a:rPr>
              <a:t>assigned</a:t>
            </a:r>
            <a:r>
              <a:rPr sz="1000" spc="60" dirty="0">
                <a:latin typeface="Georgia"/>
                <a:cs typeface="Georgia"/>
              </a:rPr>
              <a:t> </a:t>
            </a:r>
            <a:r>
              <a:rPr sz="1000" dirty="0">
                <a:latin typeface="Georgia"/>
                <a:cs typeface="Georgia"/>
              </a:rPr>
              <a:t>to</a:t>
            </a:r>
            <a:r>
              <a:rPr sz="1000" spc="50" dirty="0">
                <a:latin typeface="Georgia"/>
                <a:cs typeface="Georgia"/>
              </a:rPr>
              <a:t> </a:t>
            </a:r>
            <a:r>
              <a:rPr sz="1000" spc="80" dirty="0">
                <a:latin typeface="Cambria"/>
                <a:cs typeface="Cambria"/>
              </a:rPr>
              <a:t>o</a:t>
            </a:r>
            <a:r>
              <a:rPr sz="1050" i="1" spc="120" baseline="-11904" dirty="0">
                <a:latin typeface="Calibri"/>
                <a:cs typeface="Calibri"/>
              </a:rPr>
              <a:t>i</a:t>
            </a:r>
            <a:r>
              <a:rPr sz="1050" i="1" spc="284" baseline="-11904" dirty="0">
                <a:latin typeface="Calibri"/>
                <a:cs typeface="Calibri"/>
              </a:rPr>
              <a:t> </a:t>
            </a:r>
            <a:r>
              <a:rPr sz="1000" dirty="0">
                <a:latin typeface="Georgia"/>
                <a:cs typeface="Georgia"/>
              </a:rPr>
              <a:t>as</a:t>
            </a:r>
            <a:r>
              <a:rPr sz="1000" spc="60" dirty="0">
                <a:latin typeface="Georgia"/>
                <a:cs typeface="Georgia"/>
              </a:rPr>
              <a:t> </a:t>
            </a:r>
            <a:r>
              <a:rPr sz="1000" dirty="0">
                <a:latin typeface="Georgia"/>
                <a:cs typeface="Georgia"/>
              </a:rPr>
              <a:t>long</a:t>
            </a:r>
            <a:r>
              <a:rPr sz="1000" spc="60" dirty="0">
                <a:latin typeface="Georgia"/>
                <a:cs typeface="Georgia"/>
              </a:rPr>
              <a:t> </a:t>
            </a:r>
            <a:r>
              <a:rPr sz="1000" dirty="0">
                <a:latin typeface="Georgia"/>
                <a:cs typeface="Georgia"/>
              </a:rPr>
              <a:t>as</a:t>
            </a:r>
            <a:r>
              <a:rPr sz="1000" spc="60" dirty="0">
                <a:latin typeface="Georgia"/>
                <a:cs typeface="Georgia"/>
              </a:rPr>
              <a:t> </a:t>
            </a:r>
            <a:r>
              <a:rPr sz="1000" spc="110" dirty="0">
                <a:latin typeface="Cambria"/>
                <a:cs typeface="Cambria"/>
              </a:rPr>
              <a:t>x</a:t>
            </a:r>
            <a:r>
              <a:rPr sz="1000" spc="80" dirty="0">
                <a:latin typeface="Cambria"/>
                <a:cs typeface="Cambria"/>
              </a:rPr>
              <a:t> </a:t>
            </a:r>
            <a:r>
              <a:rPr sz="1000" dirty="0">
                <a:latin typeface="Georgia"/>
                <a:cs typeface="Georgia"/>
              </a:rPr>
              <a:t>is</a:t>
            </a:r>
            <a:r>
              <a:rPr sz="1000" spc="60" dirty="0">
                <a:latin typeface="Georgia"/>
                <a:cs typeface="Georgia"/>
              </a:rPr>
              <a:t> </a:t>
            </a:r>
            <a:r>
              <a:rPr sz="1000" dirty="0">
                <a:latin typeface="Georgia"/>
                <a:cs typeface="Georgia"/>
              </a:rPr>
              <a:t>still</a:t>
            </a:r>
            <a:r>
              <a:rPr sz="1000" spc="60" dirty="0">
                <a:latin typeface="Georgia"/>
                <a:cs typeface="Georgia"/>
              </a:rPr>
              <a:t> </a:t>
            </a:r>
            <a:r>
              <a:rPr sz="1000" spc="-20" dirty="0">
                <a:latin typeface="Georgia"/>
                <a:cs typeface="Georgia"/>
              </a:rPr>
              <a:t>closer</a:t>
            </a:r>
            <a:r>
              <a:rPr sz="1000" spc="60" dirty="0">
                <a:latin typeface="Georgia"/>
                <a:cs typeface="Georgia"/>
              </a:rPr>
              <a:t> </a:t>
            </a:r>
            <a:r>
              <a:rPr sz="1000" dirty="0">
                <a:latin typeface="Georgia"/>
                <a:cs typeface="Georgia"/>
              </a:rPr>
              <a:t>to</a:t>
            </a:r>
            <a:r>
              <a:rPr sz="1000" spc="55" dirty="0">
                <a:latin typeface="Georgia"/>
                <a:cs typeface="Georgia"/>
              </a:rPr>
              <a:t> </a:t>
            </a:r>
            <a:r>
              <a:rPr sz="1000" spc="80" dirty="0">
                <a:latin typeface="Cambria"/>
                <a:cs typeface="Cambria"/>
              </a:rPr>
              <a:t>o</a:t>
            </a:r>
            <a:r>
              <a:rPr sz="1050" i="1" spc="120" baseline="-11904" dirty="0">
                <a:latin typeface="Calibri"/>
                <a:cs typeface="Calibri"/>
              </a:rPr>
              <a:t>i</a:t>
            </a:r>
            <a:r>
              <a:rPr sz="1050" i="1" spc="284" baseline="-11904" dirty="0">
                <a:latin typeface="Calibri"/>
                <a:cs typeface="Calibri"/>
              </a:rPr>
              <a:t> </a:t>
            </a:r>
            <a:r>
              <a:rPr sz="1000" dirty="0">
                <a:latin typeface="Georgia"/>
                <a:cs typeface="Georgia"/>
              </a:rPr>
              <a:t>than</a:t>
            </a:r>
            <a:r>
              <a:rPr sz="1000" spc="60" dirty="0">
                <a:latin typeface="Georgia"/>
                <a:cs typeface="Georgia"/>
              </a:rPr>
              <a:t> </a:t>
            </a:r>
            <a:r>
              <a:rPr sz="1000" dirty="0">
                <a:latin typeface="Georgia"/>
                <a:cs typeface="Georgia"/>
              </a:rPr>
              <a:t>to</a:t>
            </a:r>
            <a:r>
              <a:rPr sz="1000" spc="60" dirty="0">
                <a:latin typeface="Georgia"/>
                <a:cs typeface="Georgia"/>
              </a:rPr>
              <a:t> </a:t>
            </a:r>
            <a:r>
              <a:rPr sz="1000" spc="70" dirty="0">
                <a:latin typeface="Cambria"/>
                <a:cs typeface="Cambria"/>
              </a:rPr>
              <a:t>o</a:t>
            </a:r>
            <a:r>
              <a:rPr sz="1050" i="1" spc="104" baseline="-11904" dirty="0">
                <a:latin typeface="Calibri"/>
                <a:cs typeface="Calibri"/>
              </a:rPr>
              <a:t>random</a:t>
            </a:r>
            <a:r>
              <a:rPr sz="1000" spc="70" dirty="0">
                <a:latin typeface="Georgia"/>
                <a:cs typeface="Georgia"/>
              </a:rPr>
              <a:t>.</a:t>
            </a:r>
            <a:endParaRPr sz="1000">
              <a:latin typeface="Georgia"/>
              <a:cs typeface="Georgia"/>
            </a:endParaRPr>
          </a:p>
        </p:txBody>
      </p:sp>
      <p:sp>
        <p:nvSpPr>
          <p:cNvPr id="10" name="object 10"/>
          <p:cNvSpPr/>
          <p:nvPr/>
        </p:nvSpPr>
        <p:spPr>
          <a:xfrm>
            <a:off x="620229" y="2141537"/>
            <a:ext cx="54610" cy="54610"/>
          </a:xfrm>
          <a:custGeom>
            <a:avLst/>
            <a:gdLst/>
            <a:ahLst/>
            <a:cxnLst/>
            <a:rect l="l" t="t" r="r" b="b"/>
            <a:pathLst>
              <a:path w="54609" h="54610">
                <a:moveTo>
                  <a:pt x="54457" y="0"/>
                </a:moveTo>
                <a:lnTo>
                  <a:pt x="0" y="0"/>
                </a:lnTo>
                <a:lnTo>
                  <a:pt x="0" y="54457"/>
                </a:lnTo>
                <a:lnTo>
                  <a:pt x="54457" y="54457"/>
                </a:lnTo>
                <a:lnTo>
                  <a:pt x="54457" y="0"/>
                </a:lnTo>
                <a:close/>
              </a:path>
            </a:pathLst>
          </a:custGeom>
          <a:solidFill>
            <a:srgbClr val="3333B3"/>
          </a:solidFill>
        </p:spPr>
        <p:txBody>
          <a:bodyPr wrap="square" lIns="0" tIns="0" rIns="0" bIns="0" rtlCol="0"/>
          <a:lstStyle/>
          <a:p>
            <a:endParaRPr/>
          </a:p>
        </p:txBody>
      </p:sp>
      <p:sp>
        <p:nvSpPr>
          <p:cNvPr id="11" name="object 11"/>
          <p:cNvSpPr txBox="1"/>
          <p:nvPr/>
        </p:nvSpPr>
        <p:spPr>
          <a:xfrm>
            <a:off x="428777" y="2226375"/>
            <a:ext cx="4987925" cy="821690"/>
          </a:xfrm>
          <a:prstGeom prst="rect">
            <a:avLst/>
          </a:prstGeom>
        </p:spPr>
        <p:txBody>
          <a:bodyPr vert="horz" wrap="square" lIns="0" tIns="100330" rIns="0" bIns="0" rtlCol="0">
            <a:spAutoFit/>
          </a:bodyPr>
          <a:lstStyle/>
          <a:p>
            <a:pPr marL="314960">
              <a:lnSpc>
                <a:spcPct val="100000"/>
              </a:lnSpc>
              <a:spcBef>
                <a:spcPts val="790"/>
              </a:spcBef>
            </a:pPr>
            <a:r>
              <a:rPr sz="1000" spc="-10" dirty="0">
                <a:latin typeface="Georgia"/>
                <a:cs typeface="Georgia"/>
              </a:rPr>
              <a:t>Otherwise,</a:t>
            </a:r>
            <a:r>
              <a:rPr sz="1000" spc="45" dirty="0">
                <a:latin typeface="Georgia"/>
                <a:cs typeface="Georgia"/>
              </a:rPr>
              <a:t> </a:t>
            </a:r>
            <a:r>
              <a:rPr sz="1000" spc="110" dirty="0">
                <a:latin typeface="Cambria"/>
                <a:cs typeface="Cambria"/>
              </a:rPr>
              <a:t>x</a:t>
            </a:r>
            <a:r>
              <a:rPr sz="1000" spc="75" dirty="0">
                <a:latin typeface="Cambria"/>
                <a:cs typeface="Cambria"/>
              </a:rPr>
              <a:t> </a:t>
            </a:r>
            <a:r>
              <a:rPr sz="1000" dirty="0">
                <a:latin typeface="Georgia"/>
                <a:cs typeface="Georgia"/>
              </a:rPr>
              <a:t>is</a:t>
            </a:r>
            <a:r>
              <a:rPr sz="1000" spc="50" dirty="0">
                <a:latin typeface="Georgia"/>
                <a:cs typeface="Georgia"/>
              </a:rPr>
              <a:t> </a:t>
            </a:r>
            <a:r>
              <a:rPr sz="1000" spc="-30" dirty="0">
                <a:latin typeface="Georgia"/>
                <a:cs typeface="Georgia"/>
              </a:rPr>
              <a:t>reassigned</a:t>
            </a:r>
            <a:r>
              <a:rPr sz="1000" spc="50" dirty="0">
                <a:latin typeface="Georgia"/>
                <a:cs typeface="Georgia"/>
              </a:rPr>
              <a:t> </a:t>
            </a:r>
            <a:r>
              <a:rPr sz="1000" dirty="0">
                <a:latin typeface="Georgia"/>
                <a:cs typeface="Georgia"/>
              </a:rPr>
              <a:t>to</a:t>
            </a:r>
            <a:r>
              <a:rPr sz="1000" spc="45" dirty="0">
                <a:latin typeface="Georgia"/>
                <a:cs typeface="Georgia"/>
              </a:rPr>
              <a:t> </a:t>
            </a:r>
            <a:r>
              <a:rPr sz="1000" spc="70" dirty="0">
                <a:latin typeface="Cambria"/>
                <a:cs typeface="Cambria"/>
              </a:rPr>
              <a:t>o</a:t>
            </a:r>
            <a:r>
              <a:rPr sz="1050" i="1" spc="104" baseline="-11904" dirty="0">
                <a:latin typeface="Calibri"/>
                <a:cs typeface="Calibri"/>
              </a:rPr>
              <a:t>random</a:t>
            </a:r>
            <a:r>
              <a:rPr sz="1000" spc="70" dirty="0">
                <a:latin typeface="Georgia"/>
                <a:cs typeface="Georgia"/>
              </a:rPr>
              <a:t>.</a:t>
            </a:r>
            <a:endParaRPr sz="1000">
              <a:latin typeface="Georgia"/>
              <a:cs typeface="Georgia"/>
            </a:endParaRPr>
          </a:p>
          <a:p>
            <a:pPr marL="38100" marR="30480">
              <a:lnSpc>
                <a:spcPts val="1150"/>
              </a:lnSpc>
              <a:spcBef>
                <a:spcPts val="935"/>
              </a:spcBef>
            </a:pPr>
            <a:r>
              <a:rPr sz="1100" dirty="0">
                <a:latin typeface="Georgia"/>
                <a:cs typeface="Georgia"/>
              </a:rPr>
              <a:t>If</a:t>
            </a:r>
            <a:r>
              <a:rPr sz="1100" spc="60" dirty="0">
                <a:latin typeface="Georgia"/>
                <a:cs typeface="Georgia"/>
              </a:rPr>
              <a:t> </a:t>
            </a:r>
            <a:r>
              <a:rPr sz="1100" dirty="0">
                <a:latin typeface="Georgia"/>
                <a:cs typeface="Georgia"/>
              </a:rPr>
              <a:t>the</a:t>
            </a:r>
            <a:r>
              <a:rPr sz="1100" spc="65" dirty="0">
                <a:latin typeface="Georgia"/>
                <a:cs typeface="Georgia"/>
              </a:rPr>
              <a:t> </a:t>
            </a:r>
            <a:r>
              <a:rPr sz="1100" spc="-25" dirty="0">
                <a:latin typeface="Georgia"/>
                <a:cs typeface="Georgia"/>
              </a:rPr>
              <a:t>error</a:t>
            </a:r>
            <a:r>
              <a:rPr sz="1100" spc="65" dirty="0">
                <a:latin typeface="Georgia"/>
                <a:cs typeface="Georgia"/>
              </a:rPr>
              <a:t> </a:t>
            </a:r>
            <a:r>
              <a:rPr sz="1100" i="1" spc="260" dirty="0">
                <a:latin typeface="Calibri"/>
                <a:cs typeface="Calibri"/>
              </a:rPr>
              <a:t>E</a:t>
            </a:r>
            <a:r>
              <a:rPr sz="1100" i="1" spc="135" dirty="0">
                <a:latin typeface="Calibri"/>
                <a:cs typeface="Calibri"/>
              </a:rPr>
              <a:t> </a:t>
            </a:r>
            <a:r>
              <a:rPr sz="1100" spc="-20" dirty="0">
                <a:latin typeface="Georgia"/>
                <a:cs typeface="Georgia"/>
              </a:rPr>
              <a:t>(equation</a:t>
            </a:r>
            <a:r>
              <a:rPr sz="1100" spc="65" dirty="0">
                <a:latin typeface="Georgia"/>
                <a:cs typeface="Georgia"/>
              </a:rPr>
              <a:t> </a:t>
            </a:r>
            <a:r>
              <a:rPr sz="1100" dirty="0">
                <a:latin typeface="Georgia"/>
                <a:cs typeface="Georgia"/>
                <a:hlinkClick r:id="rId3" action="ppaction://hlinksldjump"/>
              </a:rPr>
              <a:t>21</a:t>
            </a:r>
            <a:r>
              <a:rPr sz="1100" dirty="0">
                <a:latin typeface="Georgia"/>
                <a:cs typeface="Georgia"/>
              </a:rPr>
              <a:t>)</a:t>
            </a:r>
            <a:r>
              <a:rPr sz="1100" spc="65" dirty="0">
                <a:latin typeface="Georgia"/>
                <a:cs typeface="Georgia"/>
              </a:rPr>
              <a:t> </a:t>
            </a:r>
            <a:r>
              <a:rPr sz="1100" spc="-35" dirty="0">
                <a:latin typeface="Georgia"/>
                <a:cs typeface="Georgia"/>
              </a:rPr>
              <a:t>decreases,</a:t>
            </a:r>
            <a:r>
              <a:rPr sz="1100" spc="60" dirty="0">
                <a:latin typeface="Georgia"/>
                <a:cs typeface="Georgia"/>
              </a:rPr>
              <a:t> </a:t>
            </a:r>
            <a:r>
              <a:rPr sz="1100" spc="-20" dirty="0">
                <a:latin typeface="Georgia"/>
                <a:cs typeface="Georgia"/>
              </a:rPr>
              <a:t>replace</a:t>
            </a:r>
            <a:r>
              <a:rPr sz="1100" spc="65" dirty="0">
                <a:latin typeface="Georgia"/>
                <a:cs typeface="Georgia"/>
              </a:rPr>
              <a:t> </a:t>
            </a:r>
            <a:r>
              <a:rPr sz="1100" spc="90" dirty="0">
                <a:latin typeface="Cambria"/>
                <a:cs typeface="Cambria"/>
              </a:rPr>
              <a:t>o</a:t>
            </a:r>
            <a:r>
              <a:rPr sz="1200" i="1" spc="135" baseline="-10416" dirty="0">
                <a:latin typeface="Calibri"/>
                <a:cs typeface="Calibri"/>
              </a:rPr>
              <a:t>j</a:t>
            </a:r>
            <a:r>
              <a:rPr sz="1200" i="1" spc="337" baseline="-10416" dirty="0">
                <a:latin typeface="Calibri"/>
                <a:cs typeface="Calibri"/>
              </a:rPr>
              <a:t> </a:t>
            </a:r>
            <a:r>
              <a:rPr sz="1100" dirty="0">
                <a:latin typeface="Georgia"/>
                <a:cs typeface="Georgia"/>
              </a:rPr>
              <a:t>with</a:t>
            </a:r>
            <a:r>
              <a:rPr sz="1100" spc="65" dirty="0">
                <a:latin typeface="Georgia"/>
                <a:cs typeface="Georgia"/>
              </a:rPr>
              <a:t> </a:t>
            </a:r>
            <a:r>
              <a:rPr sz="1100" spc="55" dirty="0">
                <a:latin typeface="Cambria"/>
                <a:cs typeface="Cambria"/>
              </a:rPr>
              <a:t>o</a:t>
            </a:r>
            <a:r>
              <a:rPr sz="1200" i="1" spc="82" baseline="-13888" dirty="0">
                <a:latin typeface="Calibri"/>
                <a:cs typeface="Calibri"/>
              </a:rPr>
              <a:t>random</a:t>
            </a:r>
            <a:r>
              <a:rPr sz="1100" spc="55" dirty="0">
                <a:latin typeface="Georgia"/>
                <a:cs typeface="Georgia"/>
              </a:rPr>
              <a:t>.</a:t>
            </a:r>
            <a:r>
              <a:rPr sz="1100" spc="170" dirty="0">
                <a:latin typeface="Georgia"/>
                <a:cs typeface="Georgia"/>
              </a:rPr>
              <a:t> </a:t>
            </a:r>
            <a:r>
              <a:rPr sz="1100" spc="-20" dirty="0">
                <a:latin typeface="Georgia"/>
                <a:cs typeface="Georgia"/>
              </a:rPr>
              <a:t>Otherwise,</a:t>
            </a:r>
            <a:r>
              <a:rPr sz="1100" spc="60" dirty="0">
                <a:latin typeface="Georgia"/>
                <a:cs typeface="Georgia"/>
              </a:rPr>
              <a:t> </a:t>
            </a:r>
            <a:r>
              <a:rPr sz="1100" spc="90" dirty="0">
                <a:latin typeface="Cambria"/>
                <a:cs typeface="Cambria"/>
              </a:rPr>
              <a:t>o</a:t>
            </a:r>
            <a:r>
              <a:rPr sz="1200" i="1" spc="135" baseline="-10416" dirty="0">
                <a:latin typeface="Calibri"/>
                <a:cs typeface="Calibri"/>
              </a:rPr>
              <a:t>j</a:t>
            </a:r>
            <a:r>
              <a:rPr sz="1200" i="1" spc="345" baseline="-10416" dirty="0">
                <a:latin typeface="Calibri"/>
                <a:cs typeface="Calibri"/>
              </a:rPr>
              <a:t> </a:t>
            </a:r>
            <a:r>
              <a:rPr sz="1100" spc="-25" dirty="0">
                <a:latin typeface="Georgia"/>
                <a:cs typeface="Georgia"/>
              </a:rPr>
              <a:t>is </a:t>
            </a:r>
            <a:r>
              <a:rPr sz="1100" spc="-10" dirty="0">
                <a:latin typeface="Georgia"/>
                <a:cs typeface="Georgia"/>
              </a:rPr>
              <a:t>acceptable</a:t>
            </a:r>
            <a:r>
              <a:rPr sz="1100" spc="25" dirty="0">
                <a:latin typeface="Georgia"/>
                <a:cs typeface="Georgia"/>
              </a:rPr>
              <a:t> </a:t>
            </a:r>
            <a:r>
              <a:rPr sz="1100" dirty="0">
                <a:latin typeface="Georgia"/>
                <a:cs typeface="Georgia"/>
              </a:rPr>
              <a:t>and</a:t>
            </a:r>
            <a:r>
              <a:rPr sz="1100" spc="30" dirty="0">
                <a:latin typeface="Georgia"/>
                <a:cs typeface="Georgia"/>
              </a:rPr>
              <a:t> </a:t>
            </a:r>
            <a:r>
              <a:rPr sz="1100" spc="-20" dirty="0">
                <a:latin typeface="Georgia"/>
                <a:cs typeface="Georgia"/>
              </a:rPr>
              <a:t>nothing</a:t>
            </a:r>
            <a:r>
              <a:rPr sz="1100" spc="30" dirty="0">
                <a:latin typeface="Georgia"/>
                <a:cs typeface="Georgia"/>
              </a:rPr>
              <a:t> </a:t>
            </a:r>
            <a:r>
              <a:rPr sz="1100" dirty="0">
                <a:latin typeface="Georgia"/>
                <a:cs typeface="Georgia"/>
              </a:rPr>
              <a:t>is</a:t>
            </a:r>
            <a:r>
              <a:rPr sz="1100" spc="30" dirty="0">
                <a:latin typeface="Georgia"/>
                <a:cs typeface="Georgia"/>
              </a:rPr>
              <a:t> </a:t>
            </a:r>
            <a:r>
              <a:rPr sz="1100" spc="-30" dirty="0">
                <a:latin typeface="Georgia"/>
                <a:cs typeface="Georgia"/>
              </a:rPr>
              <a:t>changed</a:t>
            </a:r>
            <a:r>
              <a:rPr sz="1100" spc="30" dirty="0">
                <a:latin typeface="Georgia"/>
                <a:cs typeface="Georgia"/>
              </a:rPr>
              <a:t> </a:t>
            </a:r>
            <a:r>
              <a:rPr sz="1100" dirty="0">
                <a:latin typeface="Georgia"/>
                <a:cs typeface="Georgia"/>
              </a:rPr>
              <a:t>in</a:t>
            </a:r>
            <a:r>
              <a:rPr sz="1100" spc="30"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iteration.</a:t>
            </a:r>
            <a:r>
              <a:rPr sz="1100" spc="120" dirty="0">
                <a:latin typeface="Georgia"/>
                <a:cs typeface="Georgia"/>
              </a:rPr>
              <a:t> </a:t>
            </a:r>
            <a:r>
              <a:rPr sz="1100" dirty="0">
                <a:latin typeface="Georgia"/>
                <a:cs typeface="Georgia"/>
              </a:rPr>
              <a:t>The</a:t>
            </a:r>
            <a:r>
              <a:rPr sz="1100" spc="30" dirty="0">
                <a:latin typeface="Georgia"/>
                <a:cs typeface="Georgia"/>
              </a:rPr>
              <a:t> </a:t>
            </a:r>
            <a:r>
              <a:rPr sz="1100" spc="-20" dirty="0">
                <a:latin typeface="Georgia"/>
                <a:cs typeface="Georgia"/>
              </a:rPr>
              <a:t>algorithm</a:t>
            </a:r>
            <a:r>
              <a:rPr sz="1100" spc="30" dirty="0">
                <a:latin typeface="Georgia"/>
                <a:cs typeface="Georgia"/>
              </a:rPr>
              <a:t> </a:t>
            </a:r>
            <a:r>
              <a:rPr sz="1100" dirty="0">
                <a:latin typeface="Georgia"/>
                <a:cs typeface="Georgia"/>
              </a:rPr>
              <a:t>will</a:t>
            </a:r>
            <a:r>
              <a:rPr sz="1100" spc="30" dirty="0">
                <a:latin typeface="Georgia"/>
                <a:cs typeface="Georgia"/>
              </a:rPr>
              <a:t> </a:t>
            </a:r>
            <a:r>
              <a:rPr sz="1100" dirty="0">
                <a:latin typeface="Georgia"/>
                <a:cs typeface="Georgia"/>
              </a:rPr>
              <a:t>stop</a:t>
            </a:r>
            <a:r>
              <a:rPr sz="1100" spc="30" dirty="0">
                <a:latin typeface="Georgia"/>
                <a:cs typeface="Georgia"/>
              </a:rPr>
              <a:t> </a:t>
            </a:r>
            <a:r>
              <a:rPr sz="1100" spc="-20" dirty="0">
                <a:latin typeface="Georgia"/>
                <a:cs typeface="Georgia"/>
              </a:rPr>
              <a:t>when </a:t>
            </a:r>
            <a:r>
              <a:rPr sz="1100" spc="-10" dirty="0">
                <a:latin typeface="Georgia"/>
                <a:cs typeface="Georgia"/>
              </a:rPr>
              <a:t>there</a:t>
            </a:r>
            <a:r>
              <a:rPr sz="1100" spc="30" dirty="0">
                <a:latin typeface="Georgia"/>
                <a:cs typeface="Georgia"/>
              </a:rPr>
              <a:t> </a:t>
            </a:r>
            <a:r>
              <a:rPr sz="1100" dirty="0">
                <a:latin typeface="Georgia"/>
                <a:cs typeface="Georgia"/>
              </a:rPr>
              <a:t>is</a:t>
            </a:r>
            <a:r>
              <a:rPr sz="1100" spc="30" dirty="0">
                <a:latin typeface="Georgia"/>
                <a:cs typeface="Georgia"/>
              </a:rPr>
              <a:t> </a:t>
            </a:r>
            <a:r>
              <a:rPr sz="1100" dirty="0">
                <a:latin typeface="Georgia"/>
                <a:cs typeface="Georgia"/>
              </a:rPr>
              <a:t>no</a:t>
            </a:r>
            <a:r>
              <a:rPr sz="1100" spc="30" dirty="0">
                <a:latin typeface="Georgia"/>
                <a:cs typeface="Georgia"/>
              </a:rPr>
              <a:t> </a:t>
            </a:r>
            <a:r>
              <a:rPr sz="1100" spc="-25" dirty="0">
                <a:latin typeface="Georgia"/>
                <a:cs typeface="Georgia"/>
              </a:rPr>
              <a:t>change</a:t>
            </a:r>
            <a:r>
              <a:rPr sz="1100" spc="30" dirty="0">
                <a:latin typeface="Georgia"/>
                <a:cs typeface="Georgia"/>
              </a:rPr>
              <a:t> </a:t>
            </a:r>
            <a:r>
              <a:rPr sz="1100" dirty="0">
                <a:latin typeface="Georgia"/>
                <a:cs typeface="Georgia"/>
              </a:rPr>
              <a:t>in</a:t>
            </a:r>
            <a:r>
              <a:rPr sz="1100" spc="30" dirty="0">
                <a:latin typeface="Georgia"/>
                <a:cs typeface="Georgia"/>
              </a:rPr>
              <a:t> </a:t>
            </a:r>
            <a:r>
              <a:rPr sz="1100" spc="-25" dirty="0">
                <a:latin typeface="Georgia"/>
                <a:cs typeface="Georgia"/>
              </a:rPr>
              <a:t>error</a:t>
            </a:r>
            <a:r>
              <a:rPr sz="1100" spc="30" dirty="0">
                <a:latin typeface="Georgia"/>
                <a:cs typeface="Georgia"/>
              </a:rPr>
              <a:t> </a:t>
            </a:r>
            <a:r>
              <a:rPr sz="1100" i="1" spc="260" dirty="0">
                <a:latin typeface="Calibri"/>
                <a:cs typeface="Calibri"/>
              </a:rPr>
              <a:t>E</a:t>
            </a:r>
            <a:r>
              <a:rPr sz="1100" i="1" spc="100" dirty="0">
                <a:latin typeface="Calibri"/>
                <a:cs typeface="Calibri"/>
              </a:rPr>
              <a:t> </a:t>
            </a:r>
            <a:r>
              <a:rPr sz="1100" dirty="0">
                <a:latin typeface="Georgia"/>
                <a:cs typeface="Georgia"/>
              </a:rPr>
              <a:t>with</a:t>
            </a:r>
            <a:r>
              <a:rPr sz="1100" spc="30" dirty="0">
                <a:latin typeface="Georgia"/>
                <a:cs typeface="Georgia"/>
              </a:rPr>
              <a:t> </a:t>
            </a:r>
            <a:r>
              <a:rPr sz="1100" dirty="0">
                <a:latin typeface="Georgia"/>
                <a:cs typeface="Georgia"/>
              </a:rPr>
              <a:t>all</a:t>
            </a:r>
            <a:r>
              <a:rPr sz="1100" spc="30" dirty="0">
                <a:latin typeface="Georgia"/>
                <a:cs typeface="Georgia"/>
              </a:rPr>
              <a:t> </a:t>
            </a:r>
            <a:r>
              <a:rPr sz="1100" spc="-25" dirty="0">
                <a:latin typeface="Georgia"/>
                <a:cs typeface="Georgia"/>
              </a:rPr>
              <a:t>possible</a:t>
            </a:r>
            <a:r>
              <a:rPr sz="1100" spc="30" dirty="0">
                <a:latin typeface="Georgia"/>
                <a:cs typeface="Georgia"/>
              </a:rPr>
              <a:t> </a:t>
            </a:r>
            <a:r>
              <a:rPr sz="1100" spc="-10" dirty="0">
                <a:latin typeface="Georgia"/>
                <a:cs typeface="Georgia"/>
              </a:rPr>
              <a:t>replacements.</a:t>
            </a:r>
            <a:endParaRPr sz="1100">
              <a:latin typeface="Georgia"/>
              <a:cs typeface="Georgia"/>
            </a:endParaRPr>
          </a:p>
        </p:txBody>
      </p:sp>
      <p:sp>
        <p:nvSpPr>
          <p:cNvPr id="12" name="object 12"/>
          <p:cNvSpPr/>
          <p:nvPr/>
        </p:nvSpPr>
        <p:spPr>
          <a:xfrm>
            <a:off x="337972" y="2655239"/>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3" name="object 13"/>
          <p:cNvGrpSpPr/>
          <p:nvPr/>
        </p:nvGrpSpPr>
        <p:grpSpPr>
          <a:xfrm>
            <a:off x="0" y="3121545"/>
            <a:ext cx="5760085" cy="118745"/>
            <a:chOff x="0" y="3121545"/>
            <a:chExt cx="5760085" cy="118745"/>
          </a:xfrm>
        </p:grpSpPr>
        <p:sp>
          <p:nvSpPr>
            <p:cNvPr id="14" name="object 14"/>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5" name="object 15"/>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6" name="object 16"/>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7" name="object 17"/>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4" action="ppaction://hlinksldjump"/>
              </a:rPr>
              <a:t>data</a:t>
            </a:r>
            <a:r>
              <a:rPr sz="600" spc="110" dirty="0">
                <a:solidFill>
                  <a:srgbClr val="7A0000"/>
                </a:solidFill>
                <a:latin typeface="Georgia"/>
                <a:cs typeface="Georgia"/>
                <a:hlinkClick r:id="rId4" action="ppaction://hlinksldjump"/>
              </a:rPr>
              <a:t> </a:t>
            </a:r>
            <a:r>
              <a:rPr sz="600" spc="-10" dirty="0">
                <a:solidFill>
                  <a:srgbClr val="7A0000"/>
                </a:solidFill>
                <a:latin typeface="Georgia"/>
                <a:cs typeface="Georgia"/>
                <a:hlinkClick r:id="rId4" action="ppaction://hlinksldjump"/>
              </a:rPr>
              <a:t>clustering</a:t>
            </a:r>
            <a:endParaRPr sz="600">
              <a:latin typeface="Georgia"/>
              <a:cs typeface="Georgia"/>
            </a:endParaRPr>
          </a:p>
        </p:txBody>
      </p:sp>
      <p:sp>
        <p:nvSpPr>
          <p:cNvPr id="18" name="object 18"/>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70</a:t>
            </a:fld>
            <a:r>
              <a:rPr dirty="0"/>
              <a:t> </a:t>
            </a:r>
            <a:r>
              <a:rPr spc="75" dirty="0"/>
              <a:t>/</a:t>
            </a:r>
            <a:r>
              <a:rPr spc="5" dirty="0"/>
              <a:t> </a:t>
            </a:r>
            <a:r>
              <a:rPr spc="35" dirty="0"/>
              <a:t>135</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dirty="0"/>
              <a:t>Which</a:t>
            </a:r>
            <a:r>
              <a:rPr spc="225" dirty="0"/>
              <a:t> </a:t>
            </a:r>
            <a:r>
              <a:rPr dirty="0"/>
              <a:t>method</a:t>
            </a:r>
            <a:r>
              <a:rPr spc="229" dirty="0"/>
              <a:t> </a:t>
            </a:r>
            <a:r>
              <a:rPr dirty="0"/>
              <a:t>is</a:t>
            </a:r>
            <a:r>
              <a:rPr spc="229" dirty="0"/>
              <a:t> </a:t>
            </a:r>
            <a:r>
              <a:rPr dirty="0"/>
              <a:t>more</a:t>
            </a:r>
            <a:r>
              <a:rPr spc="235" dirty="0"/>
              <a:t> </a:t>
            </a:r>
            <a:r>
              <a:rPr dirty="0"/>
              <a:t>robust?</a:t>
            </a:r>
            <a:r>
              <a:rPr spc="430" dirty="0"/>
              <a:t> </a:t>
            </a:r>
            <a:r>
              <a:rPr i="1" dirty="0">
                <a:latin typeface="Calibri"/>
                <a:cs typeface="Calibri"/>
              </a:rPr>
              <a:t>k</a:t>
            </a:r>
            <a:r>
              <a:rPr dirty="0"/>
              <a:t>–means</a:t>
            </a:r>
            <a:r>
              <a:rPr spc="235" dirty="0"/>
              <a:t> </a:t>
            </a:r>
            <a:r>
              <a:rPr dirty="0"/>
              <a:t>or</a:t>
            </a:r>
            <a:r>
              <a:rPr spc="229" dirty="0"/>
              <a:t> </a:t>
            </a:r>
            <a:r>
              <a:rPr i="1" spc="-10" dirty="0">
                <a:latin typeface="Calibri"/>
                <a:cs typeface="Calibri"/>
              </a:rPr>
              <a:t>k</a:t>
            </a:r>
            <a:r>
              <a:rPr spc="-10" dirty="0"/>
              <a:t>–medoids?</a:t>
            </a:r>
          </a:p>
        </p:txBody>
      </p:sp>
      <p:sp>
        <p:nvSpPr>
          <p:cNvPr id="3" name="object 3"/>
          <p:cNvSpPr/>
          <p:nvPr/>
        </p:nvSpPr>
        <p:spPr>
          <a:xfrm>
            <a:off x="337972" y="725208"/>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28777" y="633601"/>
            <a:ext cx="5137150" cy="2022475"/>
          </a:xfrm>
          <a:prstGeom prst="rect">
            <a:avLst/>
          </a:prstGeom>
        </p:spPr>
        <p:txBody>
          <a:bodyPr vert="horz" wrap="square" lIns="0" tIns="34290" rIns="0" bIns="0" rtlCol="0">
            <a:spAutoFit/>
          </a:bodyPr>
          <a:lstStyle/>
          <a:p>
            <a:pPr marL="38100" marR="30480">
              <a:lnSpc>
                <a:spcPts val="1150"/>
              </a:lnSpc>
              <a:spcBef>
                <a:spcPts val="270"/>
              </a:spcBef>
            </a:pPr>
            <a:r>
              <a:rPr sz="1100" dirty="0">
                <a:latin typeface="Georgia"/>
                <a:cs typeface="Georgia"/>
              </a:rPr>
              <a:t>The</a:t>
            </a:r>
            <a:r>
              <a:rPr sz="1100" spc="25" dirty="0">
                <a:latin typeface="Georgia"/>
                <a:cs typeface="Georgia"/>
              </a:rPr>
              <a:t> </a:t>
            </a:r>
            <a:r>
              <a:rPr sz="1100" i="1" spc="-40" dirty="0">
                <a:latin typeface="Calibri"/>
                <a:cs typeface="Calibri"/>
              </a:rPr>
              <a:t>k</a:t>
            </a:r>
            <a:r>
              <a:rPr sz="1100" spc="-40" dirty="0">
                <a:latin typeface="Georgia"/>
                <a:cs typeface="Georgia"/>
              </a:rPr>
              <a:t>–medoids</a:t>
            </a:r>
            <a:r>
              <a:rPr sz="1100" spc="30" dirty="0">
                <a:latin typeface="Georgia"/>
                <a:cs typeface="Georgia"/>
              </a:rPr>
              <a:t> </a:t>
            </a:r>
            <a:r>
              <a:rPr sz="1100" spc="-20" dirty="0">
                <a:latin typeface="Georgia"/>
                <a:cs typeface="Georgia"/>
              </a:rPr>
              <a:t>method</a:t>
            </a:r>
            <a:r>
              <a:rPr sz="1100" spc="30" dirty="0">
                <a:latin typeface="Georgia"/>
                <a:cs typeface="Georgia"/>
              </a:rPr>
              <a:t> </a:t>
            </a:r>
            <a:r>
              <a:rPr sz="1100" dirty="0">
                <a:latin typeface="Georgia"/>
                <a:cs typeface="Georgia"/>
              </a:rPr>
              <a:t>is</a:t>
            </a:r>
            <a:r>
              <a:rPr sz="1100" spc="30" dirty="0">
                <a:latin typeface="Georgia"/>
                <a:cs typeface="Georgia"/>
              </a:rPr>
              <a:t> </a:t>
            </a:r>
            <a:r>
              <a:rPr sz="1100" spc="-30" dirty="0">
                <a:latin typeface="Georgia"/>
                <a:cs typeface="Georgia"/>
              </a:rPr>
              <a:t>more</a:t>
            </a:r>
            <a:r>
              <a:rPr sz="1100" spc="25" dirty="0">
                <a:latin typeface="Georgia"/>
                <a:cs typeface="Georgia"/>
              </a:rPr>
              <a:t> </a:t>
            </a:r>
            <a:r>
              <a:rPr sz="1100" spc="-10" dirty="0">
                <a:latin typeface="Georgia"/>
                <a:cs typeface="Georgia"/>
              </a:rPr>
              <a:t>robust</a:t>
            </a:r>
            <a:r>
              <a:rPr sz="1100" spc="30" dirty="0">
                <a:latin typeface="Georgia"/>
                <a:cs typeface="Georgia"/>
              </a:rPr>
              <a:t> </a:t>
            </a:r>
            <a:r>
              <a:rPr sz="1100" dirty="0">
                <a:latin typeface="Georgia"/>
                <a:cs typeface="Georgia"/>
              </a:rPr>
              <a:t>than</a:t>
            </a:r>
            <a:r>
              <a:rPr sz="1100" spc="30" dirty="0">
                <a:latin typeface="Georgia"/>
                <a:cs typeface="Georgia"/>
              </a:rPr>
              <a:t> </a:t>
            </a:r>
            <a:r>
              <a:rPr sz="1100" i="1" spc="-35" dirty="0">
                <a:latin typeface="Calibri"/>
                <a:cs typeface="Calibri"/>
              </a:rPr>
              <a:t>k</a:t>
            </a:r>
            <a:r>
              <a:rPr sz="1100" spc="-35" dirty="0">
                <a:latin typeface="Georgia"/>
                <a:cs typeface="Georgia"/>
              </a:rPr>
              <a:t>–means</a:t>
            </a:r>
            <a:r>
              <a:rPr sz="1100" spc="30" dirty="0">
                <a:latin typeface="Georgia"/>
                <a:cs typeface="Georgia"/>
              </a:rPr>
              <a:t> </a:t>
            </a:r>
            <a:r>
              <a:rPr sz="1100" dirty="0">
                <a:latin typeface="Georgia"/>
                <a:cs typeface="Georgia"/>
              </a:rPr>
              <a:t>in</a:t>
            </a:r>
            <a:r>
              <a:rPr sz="1100" spc="25" dirty="0">
                <a:latin typeface="Georgia"/>
                <a:cs typeface="Georgia"/>
              </a:rPr>
              <a:t> </a:t>
            </a:r>
            <a:r>
              <a:rPr sz="1100" dirty="0">
                <a:latin typeface="Georgia"/>
                <a:cs typeface="Georgia"/>
              </a:rPr>
              <a:t>the</a:t>
            </a:r>
            <a:r>
              <a:rPr sz="1100" spc="30" dirty="0">
                <a:latin typeface="Georgia"/>
                <a:cs typeface="Georgia"/>
              </a:rPr>
              <a:t> </a:t>
            </a:r>
            <a:r>
              <a:rPr sz="1100" spc="-35" dirty="0">
                <a:latin typeface="Georgia"/>
                <a:cs typeface="Georgia"/>
              </a:rPr>
              <a:t>presence</a:t>
            </a:r>
            <a:r>
              <a:rPr sz="1100" spc="30" dirty="0">
                <a:latin typeface="Georgia"/>
                <a:cs typeface="Georgia"/>
              </a:rPr>
              <a:t> </a:t>
            </a:r>
            <a:r>
              <a:rPr sz="1100" dirty="0">
                <a:latin typeface="Georgia"/>
                <a:cs typeface="Georgia"/>
              </a:rPr>
              <a:t>of</a:t>
            </a:r>
            <a:r>
              <a:rPr sz="1100" spc="30" dirty="0">
                <a:latin typeface="Georgia"/>
                <a:cs typeface="Georgia"/>
              </a:rPr>
              <a:t> </a:t>
            </a:r>
            <a:r>
              <a:rPr sz="1100" spc="-30" dirty="0">
                <a:latin typeface="Georgia"/>
                <a:cs typeface="Georgia"/>
              </a:rPr>
              <a:t>noise</a:t>
            </a:r>
            <a:r>
              <a:rPr sz="1100" spc="25" dirty="0">
                <a:latin typeface="Georgia"/>
                <a:cs typeface="Georgia"/>
              </a:rPr>
              <a:t> </a:t>
            </a:r>
            <a:r>
              <a:rPr sz="1100" spc="-25" dirty="0">
                <a:latin typeface="Georgia"/>
                <a:cs typeface="Georgia"/>
              </a:rPr>
              <a:t>and </a:t>
            </a:r>
            <a:r>
              <a:rPr sz="1100" spc="-20" dirty="0">
                <a:latin typeface="Georgia"/>
                <a:cs typeface="Georgia"/>
              </a:rPr>
              <a:t>outliers</a:t>
            </a:r>
            <a:r>
              <a:rPr sz="1100" spc="25" dirty="0">
                <a:latin typeface="Georgia"/>
                <a:cs typeface="Georgia"/>
              </a:rPr>
              <a:t> </a:t>
            </a:r>
            <a:r>
              <a:rPr sz="1100" spc="-20" dirty="0">
                <a:latin typeface="Georgia"/>
                <a:cs typeface="Georgia"/>
              </a:rPr>
              <a:t>because</a:t>
            </a:r>
            <a:r>
              <a:rPr sz="1100" spc="30" dirty="0">
                <a:latin typeface="Georgia"/>
                <a:cs typeface="Georgia"/>
              </a:rPr>
              <a:t> </a:t>
            </a:r>
            <a:r>
              <a:rPr sz="1100" dirty="0">
                <a:latin typeface="Georgia"/>
                <a:cs typeface="Georgia"/>
              </a:rPr>
              <a:t>a</a:t>
            </a:r>
            <a:r>
              <a:rPr sz="1100" spc="30" dirty="0">
                <a:latin typeface="Georgia"/>
                <a:cs typeface="Georgia"/>
              </a:rPr>
              <a:t> </a:t>
            </a:r>
            <a:r>
              <a:rPr sz="1100" spc="-35" dirty="0">
                <a:latin typeface="Georgia"/>
                <a:cs typeface="Georgia"/>
              </a:rPr>
              <a:t>medoid</a:t>
            </a:r>
            <a:r>
              <a:rPr sz="1100" spc="30" dirty="0">
                <a:latin typeface="Georgia"/>
                <a:cs typeface="Georgia"/>
              </a:rPr>
              <a:t> </a:t>
            </a:r>
            <a:r>
              <a:rPr sz="1100" dirty="0">
                <a:latin typeface="Georgia"/>
                <a:cs typeface="Georgia"/>
              </a:rPr>
              <a:t>is</a:t>
            </a:r>
            <a:r>
              <a:rPr sz="1100" spc="25" dirty="0">
                <a:latin typeface="Georgia"/>
                <a:cs typeface="Georgia"/>
              </a:rPr>
              <a:t> </a:t>
            </a:r>
            <a:r>
              <a:rPr sz="1100" spc="-20" dirty="0">
                <a:latin typeface="Georgia"/>
                <a:cs typeface="Georgia"/>
              </a:rPr>
              <a:t>less</a:t>
            </a:r>
            <a:r>
              <a:rPr sz="1100" spc="30" dirty="0">
                <a:latin typeface="Georgia"/>
                <a:cs typeface="Georgia"/>
              </a:rPr>
              <a:t> </a:t>
            </a:r>
            <a:r>
              <a:rPr sz="1100" spc="-35" dirty="0">
                <a:latin typeface="Georgia"/>
                <a:cs typeface="Georgia"/>
              </a:rPr>
              <a:t>influenced</a:t>
            </a:r>
            <a:r>
              <a:rPr sz="1100" spc="30" dirty="0">
                <a:latin typeface="Georgia"/>
                <a:cs typeface="Georgia"/>
              </a:rPr>
              <a:t> </a:t>
            </a:r>
            <a:r>
              <a:rPr sz="1100" dirty="0">
                <a:latin typeface="Georgia"/>
                <a:cs typeface="Georgia"/>
              </a:rPr>
              <a:t>by</a:t>
            </a:r>
            <a:r>
              <a:rPr sz="1100" spc="30" dirty="0">
                <a:latin typeface="Georgia"/>
                <a:cs typeface="Georgia"/>
              </a:rPr>
              <a:t> </a:t>
            </a:r>
            <a:r>
              <a:rPr sz="1100" spc="-20" dirty="0">
                <a:latin typeface="Georgia"/>
                <a:cs typeface="Georgia"/>
              </a:rPr>
              <a:t>outliers</a:t>
            </a:r>
            <a:r>
              <a:rPr sz="1100" spc="25" dirty="0">
                <a:latin typeface="Georgia"/>
                <a:cs typeface="Georgia"/>
              </a:rPr>
              <a:t> </a:t>
            </a:r>
            <a:r>
              <a:rPr sz="1100" dirty="0">
                <a:latin typeface="Georgia"/>
                <a:cs typeface="Georgia"/>
              </a:rPr>
              <a:t>or</a:t>
            </a:r>
            <a:r>
              <a:rPr sz="1100" spc="30" dirty="0">
                <a:latin typeface="Georgia"/>
                <a:cs typeface="Georgia"/>
              </a:rPr>
              <a:t> </a:t>
            </a:r>
            <a:r>
              <a:rPr sz="1100" spc="-10" dirty="0">
                <a:latin typeface="Georgia"/>
                <a:cs typeface="Georgia"/>
              </a:rPr>
              <a:t>other</a:t>
            </a:r>
            <a:r>
              <a:rPr sz="1100" spc="30" dirty="0">
                <a:latin typeface="Georgia"/>
                <a:cs typeface="Georgia"/>
              </a:rPr>
              <a:t> </a:t>
            </a:r>
            <a:r>
              <a:rPr sz="1100" spc="-20" dirty="0">
                <a:latin typeface="Georgia"/>
                <a:cs typeface="Georgia"/>
              </a:rPr>
              <a:t>extreme</a:t>
            </a:r>
            <a:r>
              <a:rPr sz="1100" spc="30" dirty="0">
                <a:latin typeface="Georgia"/>
                <a:cs typeface="Georgia"/>
              </a:rPr>
              <a:t> </a:t>
            </a:r>
            <a:r>
              <a:rPr sz="1100" spc="-25" dirty="0">
                <a:latin typeface="Georgia"/>
                <a:cs typeface="Georgia"/>
              </a:rPr>
              <a:t>values</a:t>
            </a:r>
            <a:r>
              <a:rPr sz="1100" spc="30" dirty="0">
                <a:latin typeface="Georgia"/>
                <a:cs typeface="Georgia"/>
              </a:rPr>
              <a:t> </a:t>
            </a:r>
            <a:r>
              <a:rPr sz="1100" spc="-20" dirty="0">
                <a:latin typeface="Georgia"/>
                <a:cs typeface="Georgia"/>
              </a:rPr>
              <a:t>than </a:t>
            </a:r>
            <a:r>
              <a:rPr sz="1100" dirty="0">
                <a:latin typeface="Georgia"/>
                <a:cs typeface="Georgia"/>
              </a:rPr>
              <a:t>a</a:t>
            </a:r>
            <a:r>
              <a:rPr sz="1100" spc="80" dirty="0">
                <a:latin typeface="Georgia"/>
                <a:cs typeface="Georgia"/>
              </a:rPr>
              <a:t> </a:t>
            </a:r>
            <a:r>
              <a:rPr sz="1100" spc="-10" dirty="0">
                <a:latin typeface="Georgia"/>
                <a:cs typeface="Georgia"/>
              </a:rPr>
              <a:t>mean.</a:t>
            </a:r>
            <a:endParaRPr sz="1100">
              <a:latin typeface="Georgia"/>
              <a:cs typeface="Georgia"/>
            </a:endParaRPr>
          </a:p>
          <a:p>
            <a:pPr marL="38100">
              <a:lnSpc>
                <a:spcPct val="100000"/>
              </a:lnSpc>
              <a:spcBef>
                <a:spcPts val="550"/>
              </a:spcBef>
            </a:pPr>
            <a:r>
              <a:rPr sz="1100" spc="-40" dirty="0">
                <a:latin typeface="Georgia"/>
                <a:cs typeface="Georgia"/>
              </a:rPr>
              <a:t>However,</a:t>
            </a:r>
            <a:r>
              <a:rPr sz="1100" spc="5" dirty="0">
                <a:latin typeface="Georgia"/>
                <a:cs typeface="Georgia"/>
              </a:rPr>
              <a:t> </a:t>
            </a:r>
            <a:r>
              <a:rPr sz="1100" dirty="0">
                <a:latin typeface="Georgia"/>
                <a:cs typeface="Georgia"/>
              </a:rPr>
              <a:t>the</a:t>
            </a:r>
            <a:r>
              <a:rPr sz="1100" spc="5" dirty="0">
                <a:latin typeface="Georgia"/>
                <a:cs typeface="Georgia"/>
              </a:rPr>
              <a:t> </a:t>
            </a:r>
            <a:r>
              <a:rPr sz="1100" spc="-10" dirty="0">
                <a:latin typeface="Georgia"/>
                <a:cs typeface="Georgia"/>
              </a:rPr>
              <a:t>complexity</a:t>
            </a:r>
            <a:r>
              <a:rPr sz="1100" spc="10" dirty="0">
                <a:latin typeface="Georgia"/>
                <a:cs typeface="Georgia"/>
              </a:rPr>
              <a:t> </a:t>
            </a:r>
            <a:r>
              <a:rPr sz="1100" dirty="0">
                <a:latin typeface="Georgia"/>
                <a:cs typeface="Georgia"/>
              </a:rPr>
              <a:t>of</a:t>
            </a:r>
            <a:r>
              <a:rPr sz="1100" spc="5" dirty="0">
                <a:latin typeface="Georgia"/>
                <a:cs typeface="Georgia"/>
              </a:rPr>
              <a:t> </a:t>
            </a:r>
            <a:r>
              <a:rPr sz="1100" spc="-10" dirty="0">
                <a:latin typeface="Georgia"/>
                <a:cs typeface="Georgia"/>
              </a:rPr>
              <a:t>each</a:t>
            </a:r>
            <a:r>
              <a:rPr sz="1100" spc="5" dirty="0">
                <a:latin typeface="Georgia"/>
                <a:cs typeface="Georgia"/>
              </a:rPr>
              <a:t> </a:t>
            </a:r>
            <a:r>
              <a:rPr sz="1100" spc="-10" dirty="0">
                <a:latin typeface="Georgia"/>
                <a:cs typeface="Georgia"/>
              </a:rPr>
              <a:t>iteration</a:t>
            </a:r>
            <a:r>
              <a:rPr sz="1100" spc="5" dirty="0">
                <a:latin typeface="Georgia"/>
                <a:cs typeface="Georgia"/>
              </a:rPr>
              <a:t> </a:t>
            </a:r>
            <a:r>
              <a:rPr sz="1100" dirty="0">
                <a:latin typeface="Georgia"/>
                <a:cs typeface="Georgia"/>
              </a:rPr>
              <a:t>in</a:t>
            </a:r>
            <a:r>
              <a:rPr sz="1100" spc="5" dirty="0">
                <a:latin typeface="Georgia"/>
                <a:cs typeface="Georgia"/>
              </a:rPr>
              <a:t> </a:t>
            </a:r>
            <a:r>
              <a:rPr sz="1100" dirty="0">
                <a:latin typeface="Georgia"/>
                <a:cs typeface="Georgia"/>
              </a:rPr>
              <a:t>the</a:t>
            </a:r>
            <a:r>
              <a:rPr sz="1100" spc="5" dirty="0">
                <a:latin typeface="Georgia"/>
                <a:cs typeface="Georgia"/>
              </a:rPr>
              <a:t> </a:t>
            </a:r>
            <a:r>
              <a:rPr sz="1100" i="1" spc="-40" dirty="0">
                <a:latin typeface="Calibri"/>
                <a:cs typeface="Calibri"/>
              </a:rPr>
              <a:t>k</a:t>
            </a:r>
            <a:r>
              <a:rPr sz="1100" spc="-40" dirty="0">
                <a:latin typeface="Georgia"/>
                <a:cs typeface="Georgia"/>
              </a:rPr>
              <a:t>–medoids</a:t>
            </a:r>
            <a:r>
              <a:rPr sz="1100" spc="5" dirty="0">
                <a:latin typeface="Georgia"/>
                <a:cs typeface="Georgia"/>
              </a:rPr>
              <a:t> </a:t>
            </a:r>
            <a:r>
              <a:rPr sz="1100" spc="-20" dirty="0">
                <a:latin typeface="Georgia"/>
                <a:cs typeface="Georgia"/>
              </a:rPr>
              <a:t>algorithm</a:t>
            </a:r>
            <a:r>
              <a:rPr sz="1100" spc="5" dirty="0">
                <a:latin typeface="Georgia"/>
                <a:cs typeface="Georgia"/>
              </a:rPr>
              <a:t> </a:t>
            </a:r>
            <a:r>
              <a:rPr sz="1100" dirty="0">
                <a:latin typeface="Georgia"/>
                <a:cs typeface="Georgia"/>
              </a:rPr>
              <a:t>is</a:t>
            </a:r>
            <a:r>
              <a:rPr sz="1100" spc="5" dirty="0">
                <a:latin typeface="Georgia"/>
                <a:cs typeface="Georgia"/>
              </a:rPr>
              <a:t> </a:t>
            </a:r>
            <a:r>
              <a:rPr sz="1100" i="1" spc="70" dirty="0">
                <a:latin typeface="Calibri"/>
                <a:cs typeface="Calibri"/>
              </a:rPr>
              <a:t>O</a:t>
            </a:r>
            <a:r>
              <a:rPr sz="1100" spc="70" dirty="0">
                <a:latin typeface="Calibri"/>
                <a:cs typeface="Calibri"/>
              </a:rPr>
              <a:t>(</a:t>
            </a:r>
            <a:r>
              <a:rPr sz="1100" i="1" spc="70" dirty="0">
                <a:latin typeface="Calibri"/>
                <a:cs typeface="Calibri"/>
              </a:rPr>
              <a:t>k</a:t>
            </a:r>
            <a:r>
              <a:rPr sz="1100" spc="70" dirty="0">
                <a:latin typeface="Calibri"/>
                <a:cs typeface="Calibri"/>
              </a:rPr>
              <a:t>(</a:t>
            </a:r>
            <a:r>
              <a:rPr sz="1100" i="1" spc="70" dirty="0">
                <a:latin typeface="Calibri"/>
                <a:cs typeface="Calibri"/>
              </a:rPr>
              <a:t>nk</a:t>
            </a:r>
            <a:r>
              <a:rPr sz="1100" spc="70" dirty="0">
                <a:latin typeface="Calibri"/>
                <a:cs typeface="Calibri"/>
              </a:rPr>
              <a:t>)</a:t>
            </a:r>
            <a:r>
              <a:rPr sz="1200" spc="104" baseline="27777" dirty="0">
                <a:latin typeface="Calibri"/>
                <a:cs typeface="Calibri"/>
              </a:rPr>
              <a:t>2</a:t>
            </a:r>
            <a:r>
              <a:rPr sz="1100" spc="70" dirty="0">
                <a:latin typeface="Calibri"/>
                <a:cs typeface="Calibri"/>
              </a:rPr>
              <a:t>)</a:t>
            </a:r>
            <a:r>
              <a:rPr sz="1100" spc="70" dirty="0">
                <a:latin typeface="Georgia"/>
                <a:cs typeface="Georgia"/>
              </a:rPr>
              <a:t>.</a:t>
            </a:r>
            <a:endParaRPr sz="1100">
              <a:latin typeface="Georgia"/>
              <a:cs typeface="Georgia"/>
            </a:endParaRPr>
          </a:p>
          <a:p>
            <a:pPr marL="38100" marR="293370">
              <a:lnSpc>
                <a:spcPts val="1150"/>
              </a:lnSpc>
              <a:spcBef>
                <a:spcPts val="735"/>
              </a:spcBef>
            </a:pPr>
            <a:r>
              <a:rPr sz="1100" spc="-10" dirty="0">
                <a:latin typeface="Georgia"/>
                <a:cs typeface="Georgia"/>
              </a:rPr>
              <a:t>For</a:t>
            </a:r>
            <a:r>
              <a:rPr sz="1100" spc="25" dirty="0">
                <a:latin typeface="Georgia"/>
                <a:cs typeface="Georgia"/>
              </a:rPr>
              <a:t> </a:t>
            </a:r>
            <a:r>
              <a:rPr sz="1100" spc="-10" dirty="0">
                <a:latin typeface="Georgia"/>
                <a:cs typeface="Georgia"/>
              </a:rPr>
              <a:t>large</a:t>
            </a:r>
            <a:r>
              <a:rPr sz="1100" spc="25" dirty="0">
                <a:latin typeface="Georgia"/>
                <a:cs typeface="Georgia"/>
              </a:rPr>
              <a:t> </a:t>
            </a:r>
            <a:r>
              <a:rPr sz="1100" spc="-25" dirty="0">
                <a:latin typeface="Georgia"/>
                <a:cs typeface="Georgia"/>
              </a:rPr>
              <a:t>values</a:t>
            </a:r>
            <a:r>
              <a:rPr sz="1100" spc="25" dirty="0">
                <a:latin typeface="Georgia"/>
                <a:cs typeface="Georgia"/>
              </a:rPr>
              <a:t> </a:t>
            </a:r>
            <a:r>
              <a:rPr sz="1100" dirty="0">
                <a:latin typeface="Georgia"/>
                <a:cs typeface="Georgia"/>
              </a:rPr>
              <a:t>of</a:t>
            </a:r>
            <a:r>
              <a:rPr sz="1100" spc="25" dirty="0">
                <a:latin typeface="Georgia"/>
                <a:cs typeface="Georgia"/>
              </a:rPr>
              <a:t> </a:t>
            </a:r>
            <a:r>
              <a:rPr sz="1100" i="1" spc="90" dirty="0">
                <a:latin typeface="Calibri"/>
                <a:cs typeface="Calibri"/>
              </a:rPr>
              <a:t>n</a:t>
            </a:r>
            <a:r>
              <a:rPr sz="1100" i="1" spc="40" dirty="0">
                <a:latin typeface="Calibri"/>
                <a:cs typeface="Calibri"/>
              </a:rPr>
              <a:t> </a:t>
            </a:r>
            <a:r>
              <a:rPr sz="1100" dirty="0">
                <a:latin typeface="Georgia"/>
                <a:cs typeface="Georgia"/>
              </a:rPr>
              <a:t>and</a:t>
            </a:r>
            <a:r>
              <a:rPr sz="1100" spc="25" dirty="0">
                <a:latin typeface="Georgia"/>
                <a:cs typeface="Georgia"/>
              </a:rPr>
              <a:t> </a:t>
            </a:r>
            <a:r>
              <a:rPr sz="1100" i="1" spc="50" dirty="0">
                <a:latin typeface="Calibri"/>
                <a:cs typeface="Calibri"/>
              </a:rPr>
              <a:t>k</a:t>
            </a:r>
            <a:r>
              <a:rPr sz="1100" spc="50" dirty="0">
                <a:latin typeface="Georgia"/>
                <a:cs typeface="Georgia"/>
              </a:rPr>
              <a:t>,</a:t>
            </a:r>
            <a:r>
              <a:rPr sz="1100" spc="25" dirty="0">
                <a:latin typeface="Georgia"/>
                <a:cs typeface="Georgia"/>
              </a:rPr>
              <a:t> </a:t>
            </a:r>
            <a:r>
              <a:rPr sz="1100" spc="-20" dirty="0">
                <a:latin typeface="Georgia"/>
                <a:cs typeface="Georgia"/>
              </a:rPr>
              <a:t>such</a:t>
            </a:r>
            <a:r>
              <a:rPr sz="1100" spc="25" dirty="0">
                <a:latin typeface="Georgia"/>
                <a:cs typeface="Georgia"/>
              </a:rPr>
              <a:t> </a:t>
            </a:r>
            <a:r>
              <a:rPr sz="1100" spc="-20" dirty="0">
                <a:latin typeface="Georgia"/>
                <a:cs typeface="Georgia"/>
              </a:rPr>
              <a:t>computation</a:t>
            </a:r>
            <a:r>
              <a:rPr sz="1100" spc="25" dirty="0">
                <a:latin typeface="Georgia"/>
                <a:cs typeface="Georgia"/>
              </a:rPr>
              <a:t> </a:t>
            </a:r>
            <a:r>
              <a:rPr sz="1100" spc="-35" dirty="0">
                <a:latin typeface="Georgia"/>
                <a:cs typeface="Georgia"/>
              </a:rPr>
              <a:t>becomes</a:t>
            </a:r>
            <a:r>
              <a:rPr sz="1100" spc="25" dirty="0">
                <a:latin typeface="Georgia"/>
                <a:cs typeface="Georgia"/>
              </a:rPr>
              <a:t> </a:t>
            </a:r>
            <a:r>
              <a:rPr sz="1100" b="1" dirty="0">
                <a:latin typeface="Georgia"/>
                <a:cs typeface="Georgia"/>
              </a:rPr>
              <a:t>very</a:t>
            </a:r>
            <a:r>
              <a:rPr sz="1100" b="1" spc="55" dirty="0">
                <a:latin typeface="Georgia"/>
                <a:cs typeface="Georgia"/>
              </a:rPr>
              <a:t> </a:t>
            </a:r>
            <a:r>
              <a:rPr sz="1100" b="1" spc="-10" dirty="0">
                <a:latin typeface="Georgia"/>
                <a:cs typeface="Georgia"/>
              </a:rPr>
              <a:t>costly</a:t>
            </a:r>
            <a:r>
              <a:rPr sz="1100" spc="-10" dirty="0">
                <a:latin typeface="Georgia"/>
                <a:cs typeface="Georgia"/>
              </a:rPr>
              <a:t>,</a:t>
            </a:r>
            <a:r>
              <a:rPr sz="1100" spc="25" dirty="0">
                <a:latin typeface="Georgia"/>
                <a:cs typeface="Georgia"/>
              </a:rPr>
              <a:t> </a:t>
            </a:r>
            <a:r>
              <a:rPr sz="1100" dirty="0">
                <a:latin typeface="Georgia"/>
                <a:cs typeface="Georgia"/>
              </a:rPr>
              <a:t>and</a:t>
            </a:r>
            <a:r>
              <a:rPr sz="1100" spc="25" dirty="0">
                <a:latin typeface="Georgia"/>
                <a:cs typeface="Georgia"/>
              </a:rPr>
              <a:t> </a:t>
            </a:r>
            <a:r>
              <a:rPr sz="1100" spc="-20" dirty="0">
                <a:latin typeface="Georgia"/>
                <a:cs typeface="Georgia"/>
              </a:rPr>
              <a:t>much </a:t>
            </a:r>
            <a:r>
              <a:rPr sz="1100" spc="-30" dirty="0">
                <a:latin typeface="Georgia"/>
                <a:cs typeface="Georgia"/>
              </a:rPr>
              <a:t>more</a:t>
            </a:r>
            <a:r>
              <a:rPr sz="1100" spc="25" dirty="0">
                <a:latin typeface="Georgia"/>
                <a:cs typeface="Georgia"/>
              </a:rPr>
              <a:t> </a:t>
            </a:r>
            <a:r>
              <a:rPr sz="1100" dirty="0">
                <a:latin typeface="Georgia"/>
                <a:cs typeface="Georgia"/>
              </a:rPr>
              <a:t>costly</a:t>
            </a:r>
            <a:r>
              <a:rPr sz="1100" spc="25" dirty="0">
                <a:latin typeface="Georgia"/>
                <a:cs typeface="Georgia"/>
              </a:rPr>
              <a:t> </a:t>
            </a:r>
            <a:r>
              <a:rPr sz="1100" dirty="0">
                <a:latin typeface="Georgia"/>
                <a:cs typeface="Georgia"/>
              </a:rPr>
              <a:t>than</a:t>
            </a:r>
            <a:r>
              <a:rPr sz="1100" spc="30" dirty="0">
                <a:latin typeface="Georgia"/>
                <a:cs typeface="Georgia"/>
              </a:rPr>
              <a:t> </a:t>
            </a:r>
            <a:r>
              <a:rPr sz="1100" dirty="0">
                <a:latin typeface="Georgia"/>
                <a:cs typeface="Georgia"/>
              </a:rPr>
              <a:t>the</a:t>
            </a:r>
            <a:r>
              <a:rPr sz="1100" spc="25" dirty="0">
                <a:latin typeface="Georgia"/>
                <a:cs typeface="Georgia"/>
              </a:rPr>
              <a:t> </a:t>
            </a:r>
            <a:r>
              <a:rPr sz="1100" i="1" spc="-35" dirty="0">
                <a:latin typeface="Calibri"/>
                <a:cs typeface="Calibri"/>
              </a:rPr>
              <a:t>k</a:t>
            </a:r>
            <a:r>
              <a:rPr sz="1100" spc="-35" dirty="0">
                <a:latin typeface="Georgia"/>
                <a:cs typeface="Georgia"/>
              </a:rPr>
              <a:t>–means</a:t>
            </a:r>
            <a:r>
              <a:rPr sz="1100" spc="25" dirty="0">
                <a:latin typeface="Georgia"/>
                <a:cs typeface="Georgia"/>
              </a:rPr>
              <a:t> </a:t>
            </a:r>
            <a:r>
              <a:rPr sz="1100" spc="-10" dirty="0">
                <a:latin typeface="Georgia"/>
                <a:cs typeface="Georgia"/>
              </a:rPr>
              <a:t>method.</a:t>
            </a:r>
            <a:endParaRPr sz="1100">
              <a:latin typeface="Georgia"/>
              <a:cs typeface="Georgia"/>
            </a:endParaRPr>
          </a:p>
          <a:p>
            <a:pPr marL="38100">
              <a:lnSpc>
                <a:spcPct val="100000"/>
              </a:lnSpc>
              <a:spcBef>
                <a:spcPts val="545"/>
              </a:spcBef>
            </a:pPr>
            <a:r>
              <a:rPr sz="1100" dirty="0">
                <a:latin typeface="Georgia"/>
                <a:cs typeface="Georgia"/>
              </a:rPr>
              <a:t>Both</a:t>
            </a:r>
            <a:r>
              <a:rPr sz="1100" spc="40" dirty="0">
                <a:latin typeface="Georgia"/>
                <a:cs typeface="Georgia"/>
              </a:rPr>
              <a:t> </a:t>
            </a:r>
            <a:r>
              <a:rPr sz="1100" spc="-25" dirty="0">
                <a:latin typeface="Georgia"/>
                <a:cs typeface="Georgia"/>
              </a:rPr>
              <a:t>methods</a:t>
            </a:r>
            <a:r>
              <a:rPr sz="1100" spc="40" dirty="0">
                <a:latin typeface="Georgia"/>
                <a:cs typeface="Georgia"/>
              </a:rPr>
              <a:t> </a:t>
            </a:r>
            <a:r>
              <a:rPr sz="1100" spc="-35" dirty="0">
                <a:latin typeface="Georgia"/>
                <a:cs typeface="Georgia"/>
              </a:rPr>
              <a:t>require</a:t>
            </a:r>
            <a:r>
              <a:rPr sz="1100" spc="45" dirty="0">
                <a:latin typeface="Georgia"/>
                <a:cs typeface="Georgia"/>
              </a:rPr>
              <a:t> </a:t>
            </a:r>
            <a:r>
              <a:rPr sz="1100" dirty="0">
                <a:latin typeface="Georgia"/>
                <a:cs typeface="Georgia"/>
              </a:rPr>
              <a:t>the</a:t>
            </a:r>
            <a:r>
              <a:rPr sz="1100" spc="40" dirty="0">
                <a:latin typeface="Georgia"/>
                <a:cs typeface="Georgia"/>
              </a:rPr>
              <a:t> </a:t>
            </a:r>
            <a:r>
              <a:rPr sz="1100" spc="-20" dirty="0">
                <a:latin typeface="Georgia"/>
                <a:cs typeface="Georgia"/>
              </a:rPr>
              <a:t>user</a:t>
            </a:r>
            <a:r>
              <a:rPr sz="1100" spc="45" dirty="0">
                <a:latin typeface="Georgia"/>
                <a:cs typeface="Georgia"/>
              </a:rPr>
              <a:t> </a:t>
            </a:r>
            <a:r>
              <a:rPr sz="1100" dirty="0">
                <a:latin typeface="Georgia"/>
                <a:cs typeface="Georgia"/>
              </a:rPr>
              <a:t>to</a:t>
            </a:r>
            <a:r>
              <a:rPr sz="1100" spc="40" dirty="0">
                <a:latin typeface="Georgia"/>
                <a:cs typeface="Georgia"/>
              </a:rPr>
              <a:t> </a:t>
            </a:r>
            <a:r>
              <a:rPr sz="1100" spc="-10" dirty="0">
                <a:latin typeface="Georgia"/>
                <a:cs typeface="Georgia"/>
              </a:rPr>
              <a:t>specify</a:t>
            </a:r>
            <a:r>
              <a:rPr sz="1100" spc="45" dirty="0">
                <a:latin typeface="Georgia"/>
                <a:cs typeface="Georgia"/>
              </a:rPr>
              <a:t> </a:t>
            </a:r>
            <a:r>
              <a:rPr sz="1100" i="1" spc="50" dirty="0">
                <a:latin typeface="Calibri"/>
                <a:cs typeface="Calibri"/>
              </a:rPr>
              <a:t>k</a:t>
            </a:r>
            <a:r>
              <a:rPr sz="1100" spc="50" dirty="0">
                <a:latin typeface="Georgia"/>
                <a:cs typeface="Georgia"/>
              </a:rPr>
              <a:t>,</a:t>
            </a:r>
            <a:r>
              <a:rPr sz="1100" spc="40" dirty="0">
                <a:latin typeface="Georgia"/>
                <a:cs typeface="Georgia"/>
              </a:rPr>
              <a:t> </a:t>
            </a:r>
            <a:r>
              <a:rPr sz="1100" dirty="0">
                <a:latin typeface="Georgia"/>
                <a:cs typeface="Georgia"/>
              </a:rPr>
              <a:t>the</a:t>
            </a:r>
            <a:r>
              <a:rPr sz="1100" spc="40" dirty="0">
                <a:latin typeface="Georgia"/>
                <a:cs typeface="Georgia"/>
              </a:rPr>
              <a:t> </a:t>
            </a:r>
            <a:r>
              <a:rPr sz="1100" spc="-40" dirty="0">
                <a:latin typeface="Georgia"/>
                <a:cs typeface="Georgia"/>
              </a:rPr>
              <a:t>number</a:t>
            </a:r>
            <a:r>
              <a:rPr sz="1100" spc="45" dirty="0">
                <a:latin typeface="Georgia"/>
                <a:cs typeface="Georgia"/>
              </a:rPr>
              <a:t> </a:t>
            </a:r>
            <a:r>
              <a:rPr sz="1100" dirty="0">
                <a:latin typeface="Georgia"/>
                <a:cs typeface="Georgia"/>
              </a:rPr>
              <a:t>of</a:t>
            </a:r>
            <a:r>
              <a:rPr sz="1100" spc="40" dirty="0">
                <a:latin typeface="Georgia"/>
                <a:cs typeface="Georgia"/>
              </a:rPr>
              <a:t> </a:t>
            </a:r>
            <a:r>
              <a:rPr sz="1100" spc="-10" dirty="0">
                <a:latin typeface="Georgia"/>
                <a:cs typeface="Georgia"/>
              </a:rPr>
              <a:t>clusters.</a:t>
            </a:r>
            <a:endParaRPr sz="1100">
              <a:latin typeface="Georgia"/>
              <a:cs typeface="Georgia"/>
            </a:endParaRPr>
          </a:p>
          <a:p>
            <a:pPr marL="38100" marR="253365">
              <a:lnSpc>
                <a:spcPts val="1150"/>
              </a:lnSpc>
              <a:spcBef>
                <a:spcPts val="735"/>
              </a:spcBef>
            </a:pPr>
            <a:r>
              <a:rPr sz="1100" spc="70" dirty="0">
                <a:latin typeface="Georgia"/>
                <a:cs typeface="Georgia"/>
              </a:rPr>
              <a:t>A</a:t>
            </a:r>
            <a:r>
              <a:rPr sz="1100" spc="30" dirty="0">
                <a:latin typeface="Georgia"/>
                <a:cs typeface="Georgia"/>
              </a:rPr>
              <a:t> </a:t>
            </a:r>
            <a:r>
              <a:rPr sz="1100" dirty="0">
                <a:latin typeface="Georgia"/>
                <a:cs typeface="Georgia"/>
              </a:rPr>
              <a:t>typical</a:t>
            </a:r>
            <a:r>
              <a:rPr sz="1100" spc="30" dirty="0">
                <a:latin typeface="Georgia"/>
                <a:cs typeface="Georgia"/>
              </a:rPr>
              <a:t> </a:t>
            </a:r>
            <a:r>
              <a:rPr sz="1100" i="1" spc="-40" dirty="0">
                <a:latin typeface="Calibri"/>
                <a:cs typeface="Calibri"/>
              </a:rPr>
              <a:t>k</a:t>
            </a:r>
            <a:r>
              <a:rPr sz="1100" spc="-40" dirty="0">
                <a:latin typeface="Georgia"/>
                <a:cs typeface="Georgia"/>
              </a:rPr>
              <a:t>–medoids</a:t>
            </a:r>
            <a:r>
              <a:rPr sz="1100" spc="30" dirty="0">
                <a:latin typeface="Georgia"/>
                <a:cs typeface="Georgia"/>
              </a:rPr>
              <a:t> </a:t>
            </a:r>
            <a:r>
              <a:rPr sz="1100" spc="-10" dirty="0">
                <a:latin typeface="Georgia"/>
                <a:cs typeface="Georgia"/>
              </a:rPr>
              <a:t>partitioning</a:t>
            </a:r>
            <a:r>
              <a:rPr sz="1100" spc="30" dirty="0">
                <a:latin typeface="Georgia"/>
                <a:cs typeface="Georgia"/>
              </a:rPr>
              <a:t> </a:t>
            </a:r>
            <a:r>
              <a:rPr sz="1100" spc="-20" dirty="0">
                <a:latin typeface="Georgia"/>
                <a:cs typeface="Georgia"/>
              </a:rPr>
              <a:t>algorithm</a:t>
            </a:r>
            <a:r>
              <a:rPr sz="1100" spc="35" dirty="0">
                <a:latin typeface="Georgia"/>
                <a:cs typeface="Georgia"/>
              </a:rPr>
              <a:t> </a:t>
            </a:r>
            <a:r>
              <a:rPr sz="1100" spc="-10" dirty="0">
                <a:latin typeface="Georgia"/>
                <a:cs typeface="Georgia"/>
              </a:rPr>
              <a:t>like</a:t>
            </a:r>
            <a:r>
              <a:rPr sz="1100" spc="30" dirty="0">
                <a:latin typeface="Georgia"/>
                <a:cs typeface="Georgia"/>
              </a:rPr>
              <a:t> </a:t>
            </a:r>
            <a:r>
              <a:rPr sz="1100" dirty="0">
                <a:latin typeface="Georgia"/>
                <a:cs typeface="Georgia"/>
              </a:rPr>
              <a:t>PAM</a:t>
            </a:r>
            <a:r>
              <a:rPr sz="1100" spc="30" dirty="0">
                <a:latin typeface="Georgia"/>
                <a:cs typeface="Georgia"/>
              </a:rPr>
              <a:t> </a:t>
            </a:r>
            <a:r>
              <a:rPr sz="1100" spc="-25" dirty="0">
                <a:latin typeface="Georgia"/>
                <a:cs typeface="Georgia"/>
              </a:rPr>
              <a:t>works</a:t>
            </a:r>
            <a:r>
              <a:rPr sz="1100" spc="30" dirty="0">
                <a:latin typeface="Georgia"/>
                <a:cs typeface="Georgia"/>
              </a:rPr>
              <a:t> </a:t>
            </a:r>
            <a:r>
              <a:rPr sz="1100" spc="-20" dirty="0">
                <a:latin typeface="Georgia"/>
                <a:cs typeface="Georgia"/>
              </a:rPr>
              <a:t>effectively</a:t>
            </a:r>
            <a:r>
              <a:rPr sz="1100" spc="35" dirty="0">
                <a:latin typeface="Georgia"/>
                <a:cs typeface="Georgia"/>
              </a:rPr>
              <a:t> </a:t>
            </a:r>
            <a:r>
              <a:rPr sz="1100" dirty="0">
                <a:latin typeface="Georgia"/>
                <a:cs typeface="Georgia"/>
              </a:rPr>
              <a:t>for</a:t>
            </a:r>
            <a:r>
              <a:rPr sz="1100" spc="30" dirty="0">
                <a:latin typeface="Georgia"/>
                <a:cs typeface="Georgia"/>
              </a:rPr>
              <a:t> </a:t>
            </a:r>
            <a:r>
              <a:rPr sz="1100" spc="-10" dirty="0">
                <a:latin typeface="Georgia"/>
                <a:cs typeface="Georgia"/>
              </a:rPr>
              <a:t>small </a:t>
            </a:r>
            <a:r>
              <a:rPr sz="1100" dirty="0">
                <a:latin typeface="Georgia"/>
                <a:cs typeface="Georgia"/>
              </a:rPr>
              <a:t>data</a:t>
            </a:r>
            <a:r>
              <a:rPr sz="1100" spc="15" dirty="0">
                <a:latin typeface="Georgia"/>
                <a:cs typeface="Georgia"/>
              </a:rPr>
              <a:t> </a:t>
            </a:r>
            <a:r>
              <a:rPr sz="1100" dirty="0">
                <a:latin typeface="Georgia"/>
                <a:cs typeface="Georgia"/>
              </a:rPr>
              <a:t>sets,</a:t>
            </a:r>
            <a:r>
              <a:rPr sz="1100" spc="15" dirty="0">
                <a:latin typeface="Georgia"/>
                <a:cs typeface="Georgia"/>
              </a:rPr>
              <a:t> </a:t>
            </a:r>
            <a:r>
              <a:rPr sz="1100" dirty="0">
                <a:latin typeface="Georgia"/>
                <a:cs typeface="Georgia"/>
              </a:rPr>
              <a:t>but</a:t>
            </a:r>
            <a:r>
              <a:rPr sz="1100" spc="15" dirty="0">
                <a:latin typeface="Georgia"/>
                <a:cs typeface="Georgia"/>
              </a:rPr>
              <a:t> </a:t>
            </a:r>
            <a:r>
              <a:rPr sz="1100" spc="-20" dirty="0">
                <a:latin typeface="Georgia"/>
                <a:cs typeface="Georgia"/>
              </a:rPr>
              <a:t>does</a:t>
            </a:r>
            <a:r>
              <a:rPr sz="1100" spc="15" dirty="0">
                <a:latin typeface="Georgia"/>
                <a:cs typeface="Georgia"/>
              </a:rPr>
              <a:t> </a:t>
            </a:r>
            <a:r>
              <a:rPr sz="1100" dirty="0">
                <a:latin typeface="Georgia"/>
                <a:cs typeface="Georgia"/>
              </a:rPr>
              <a:t>not</a:t>
            </a:r>
            <a:r>
              <a:rPr sz="1100" spc="15" dirty="0">
                <a:latin typeface="Georgia"/>
                <a:cs typeface="Georgia"/>
              </a:rPr>
              <a:t> </a:t>
            </a:r>
            <a:r>
              <a:rPr sz="1100" spc="-10" dirty="0">
                <a:latin typeface="Georgia"/>
                <a:cs typeface="Georgia"/>
              </a:rPr>
              <a:t>scale</a:t>
            </a:r>
            <a:r>
              <a:rPr sz="1100" spc="20" dirty="0">
                <a:latin typeface="Georgia"/>
                <a:cs typeface="Georgia"/>
              </a:rPr>
              <a:t> </a:t>
            </a:r>
            <a:r>
              <a:rPr sz="1100" spc="-10" dirty="0">
                <a:latin typeface="Georgia"/>
                <a:cs typeface="Georgia"/>
              </a:rPr>
              <a:t>well</a:t>
            </a:r>
            <a:r>
              <a:rPr sz="1100" spc="15" dirty="0">
                <a:latin typeface="Georgia"/>
                <a:cs typeface="Georgia"/>
              </a:rPr>
              <a:t> </a:t>
            </a:r>
            <a:r>
              <a:rPr sz="1100" dirty="0">
                <a:latin typeface="Georgia"/>
                <a:cs typeface="Georgia"/>
              </a:rPr>
              <a:t>for</a:t>
            </a:r>
            <a:r>
              <a:rPr sz="1100" spc="15" dirty="0">
                <a:latin typeface="Georgia"/>
                <a:cs typeface="Georgia"/>
              </a:rPr>
              <a:t> </a:t>
            </a:r>
            <a:r>
              <a:rPr sz="1100" spc="-10" dirty="0">
                <a:latin typeface="Georgia"/>
                <a:cs typeface="Georgia"/>
              </a:rPr>
              <a:t>large</a:t>
            </a:r>
            <a:r>
              <a:rPr sz="1100" spc="15" dirty="0">
                <a:latin typeface="Georgia"/>
                <a:cs typeface="Georgia"/>
              </a:rPr>
              <a:t> </a:t>
            </a:r>
            <a:r>
              <a:rPr sz="1100" dirty="0">
                <a:latin typeface="Georgia"/>
                <a:cs typeface="Georgia"/>
              </a:rPr>
              <a:t>data</a:t>
            </a:r>
            <a:r>
              <a:rPr sz="1100" spc="15" dirty="0">
                <a:latin typeface="Georgia"/>
                <a:cs typeface="Georgia"/>
              </a:rPr>
              <a:t> </a:t>
            </a:r>
            <a:r>
              <a:rPr sz="1100" dirty="0">
                <a:latin typeface="Georgia"/>
                <a:cs typeface="Georgia"/>
              </a:rPr>
              <a:t>sets.</a:t>
            </a:r>
            <a:r>
              <a:rPr sz="1100" spc="105" dirty="0">
                <a:latin typeface="Georgia"/>
                <a:cs typeface="Georgia"/>
              </a:rPr>
              <a:t> </a:t>
            </a:r>
            <a:r>
              <a:rPr sz="1100" spc="-35" dirty="0">
                <a:latin typeface="Georgia"/>
                <a:cs typeface="Georgia"/>
              </a:rPr>
              <a:t>How</a:t>
            </a:r>
            <a:r>
              <a:rPr sz="1100" spc="20" dirty="0">
                <a:latin typeface="Georgia"/>
                <a:cs typeface="Georgia"/>
              </a:rPr>
              <a:t> </a:t>
            </a:r>
            <a:r>
              <a:rPr sz="1100" dirty="0">
                <a:latin typeface="Georgia"/>
                <a:cs typeface="Georgia"/>
              </a:rPr>
              <a:t>can</a:t>
            </a:r>
            <a:r>
              <a:rPr sz="1100" spc="15" dirty="0">
                <a:latin typeface="Georgia"/>
                <a:cs typeface="Georgia"/>
              </a:rPr>
              <a:t> </a:t>
            </a:r>
            <a:r>
              <a:rPr sz="1100" dirty="0">
                <a:latin typeface="Georgia"/>
                <a:cs typeface="Georgia"/>
              </a:rPr>
              <a:t>we</a:t>
            </a:r>
            <a:r>
              <a:rPr sz="1100" spc="15" dirty="0">
                <a:latin typeface="Georgia"/>
                <a:cs typeface="Georgia"/>
              </a:rPr>
              <a:t> </a:t>
            </a:r>
            <a:r>
              <a:rPr sz="1100" spc="-10" dirty="0">
                <a:latin typeface="Georgia"/>
                <a:cs typeface="Georgia"/>
              </a:rPr>
              <a:t>scale</a:t>
            </a:r>
            <a:r>
              <a:rPr sz="1100" spc="15" dirty="0">
                <a:latin typeface="Georgia"/>
                <a:cs typeface="Georgia"/>
              </a:rPr>
              <a:t> </a:t>
            </a:r>
            <a:r>
              <a:rPr sz="1100" dirty="0">
                <a:latin typeface="Georgia"/>
                <a:cs typeface="Georgia"/>
              </a:rPr>
              <a:t>up</a:t>
            </a:r>
            <a:r>
              <a:rPr sz="1100" spc="15" dirty="0">
                <a:latin typeface="Georgia"/>
                <a:cs typeface="Georgia"/>
              </a:rPr>
              <a:t> </a:t>
            </a:r>
            <a:r>
              <a:rPr sz="1100" spc="-25" dirty="0">
                <a:latin typeface="Georgia"/>
                <a:cs typeface="Georgia"/>
              </a:rPr>
              <a:t>the</a:t>
            </a:r>
            <a:endParaRPr sz="1100">
              <a:latin typeface="Georgia"/>
              <a:cs typeface="Georgia"/>
            </a:endParaRPr>
          </a:p>
          <a:p>
            <a:pPr marL="38100">
              <a:lnSpc>
                <a:spcPts val="1060"/>
              </a:lnSpc>
            </a:pPr>
            <a:r>
              <a:rPr sz="1100" i="1" spc="-40" dirty="0">
                <a:latin typeface="Calibri"/>
                <a:cs typeface="Calibri"/>
              </a:rPr>
              <a:t>k</a:t>
            </a:r>
            <a:r>
              <a:rPr sz="1100" spc="-40" dirty="0">
                <a:latin typeface="Georgia"/>
                <a:cs typeface="Georgia"/>
              </a:rPr>
              <a:t>–medoids</a:t>
            </a:r>
            <a:r>
              <a:rPr sz="1100" spc="30" dirty="0">
                <a:latin typeface="Georgia"/>
                <a:cs typeface="Georgia"/>
              </a:rPr>
              <a:t> </a:t>
            </a:r>
            <a:r>
              <a:rPr sz="1100" spc="-10" dirty="0">
                <a:latin typeface="Georgia"/>
                <a:cs typeface="Georgia"/>
              </a:rPr>
              <a:t>method?</a:t>
            </a:r>
            <a:r>
              <a:rPr sz="1100" spc="130" dirty="0">
                <a:latin typeface="Georgia"/>
                <a:cs typeface="Georgia"/>
              </a:rPr>
              <a:t> </a:t>
            </a:r>
            <a:r>
              <a:rPr sz="1100" dirty="0">
                <a:latin typeface="Georgia"/>
                <a:cs typeface="Georgia"/>
              </a:rPr>
              <a:t>To</a:t>
            </a:r>
            <a:r>
              <a:rPr sz="1100" spc="35" dirty="0">
                <a:latin typeface="Georgia"/>
                <a:cs typeface="Georgia"/>
              </a:rPr>
              <a:t> </a:t>
            </a:r>
            <a:r>
              <a:rPr sz="1100" dirty="0">
                <a:latin typeface="Georgia"/>
                <a:cs typeface="Georgia"/>
              </a:rPr>
              <a:t>deal</a:t>
            </a:r>
            <a:r>
              <a:rPr sz="1100" spc="35" dirty="0">
                <a:latin typeface="Georgia"/>
                <a:cs typeface="Georgia"/>
              </a:rPr>
              <a:t> </a:t>
            </a:r>
            <a:r>
              <a:rPr sz="1100" dirty="0">
                <a:latin typeface="Georgia"/>
                <a:cs typeface="Georgia"/>
              </a:rPr>
              <a:t>with</a:t>
            </a:r>
            <a:r>
              <a:rPr sz="1100" spc="35" dirty="0">
                <a:latin typeface="Georgia"/>
                <a:cs typeface="Georgia"/>
              </a:rPr>
              <a:t> </a:t>
            </a:r>
            <a:r>
              <a:rPr sz="1100" spc="-10" dirty="0">
                <a:latin typeface="Georgia"/>
                <a:cs typeface="Georgia"/>
              </a:rPr>
              <a:t>larger</a:t>
            </a:r>
            <a:r>
              <a:rPr sz="1100" spc="35" dirty="0">
                <a:latin typeface="Georgia"/>
                <a:cs typeface="Georgia"/>
              </a:rPr>
              <a:t> </a:t>
            </a:r>
            <a:r>
              <a:rPr sz="1100" dirty="0">
                <a:latin typeface="Georgia"/>
                <a:cs typeface="Georgia"/>
              </a:rPr>
              <a:t>data</a:t>
            </a:r>
            <a:r>
              <a:rPr sz="1100" spc="35" dirty="0">
                <a:latin typeface="Georgia"/>
                <a:cs typeface="Georgia"/>
              </a:rPr>
              <a:t> </a:t>
            </a:r>
            <a:r>
              <a:rPr sz="1100" dirty="0">
                <a:latin typeface="Georgia"/>
                <a:cs typeface="Georgia"/>
              </a:rPr>
              <a:t>sets,</a:t>
            </a:r>
            <a:r>
              <a:rPr sz="1100" spc="35" dirty="0">
                <a:latin typeface="Georgia"/>
                <a:cs typeface="Georgia"/>
              </a:rPr>
              <a:t> </a:t>
            </a:r>
            <a:r>
              <a:rPr sz="1100" dirty="0">
                <a:latin typeface="Georgia"/>
                <a:cs typeface="Georgia"/>
              </a:rPr>
              <a:t>a</a:t>
            </a:r>
            <a:r>
              <a:rPr sz="1100" spc="35" dirty="0">
                <a:latin typeface="Georgia"/>
                <a:cs typeface="Georgia"/>
              </a:rPr>
              <a:t> </a:t>
            </a:r>
            <a:r>
              <a:rPr sz="1100" spc="-45" dirty="0">
                <a:latin typeface="Georgia"/>
                <a:cs typeface="Georgia"/>
              </a:rPr>
              <a:t>sampling–based</a:t>
            </a:r>
            <a:r>
              <a:rPr sz="1100" spc="30" dirty="0">
                <a:latin typeface="Georgia"/>
                <a:cs typeface="Georgia"/>
              </a:rPr>
              <a:t> </a:t>
            </a:r>
            <a:r>
              <a:rPr sz="1100" spc="-20" dirty="0">
                <a:latin typeface="Georgia"/>
                <a:cs typeface="Georgia"/>
              </a:rPr>
              <a:t>method</a:t>
            </a:r>
            <a:r>
              <a:rPr sz="1100" spc="35" dirty="0">
                <a:latin typeface="Georgia"/>
                <a:cs typeface="Georgia"/>
              </a:rPr>
              <a:t> </a:t>
            </a:r>
            <a:r>
              <a:rPr sz="1100" spc="-10" dirty="0">
                <a:latin typeface="Georgia"/>
                <a:cs typeface="Georgia"/>
              </a:rPr>
              <a:t>called</a:t>
            </a:r>
            <a:endParaRPr sz="1100">
              <a:latin typeface="Georgia"/>
              <a:cs typeface="Georgia"/>
            </a:endParaRPr>
          </a:p>
          <a:p>
            <a:pPr marL="38100">
              <a:lnSpc>
                <a:spcPts val="1235"/>
              </a:lnSpc>
            </a:pPr>
            <a:r>
              <a:rPr sz="1100" b="1" spc="70" dirty="0">
                <a:latin typeface="Georgia"/>
                <a:cs typeface="Georgia"/>
              </a:rPr>
              <a:t>CLARA</a:t>
            </a:r>
            <a:r>
              <a:rPr sz="1100" b="1" spc="50" dirty="0">
                <a:latin typeface="Georgia"/>
                <a:cs typeface="Georgia"/>
              </a:rPr>
              <a:t> </a:t>
            </a:r>
            <a:r>
              <a:rPr sz="1100" spc="-20" dirty="0">
                <a:latin typeface="Georgia"/>
                <a:cs typeface="Georgia"/>
              </a:rPr>
              <a:t>(</a:t>
            </a:r>
            <a:r>
              <a:rPr sz="1100" b="1" spc="-20" dirty="0">
                <a:latin typeface="Georgia"/>
                <a:cs typeface="Georgia"/>
              </a:rPr>
              <a:t>Clustering</a:t>
            </a:r>
            <a:r>
              <a:rPr sz="1100" b="1" spc="105" dirty="0">
                <a:latin typeface="Georgia"/>
                <a:cs typeface="Georgia"/>
              </a:rPr>
              <a:t> </a:t>
            </a:r>
            <a:r>
              <a:rPr sz="1100" b="1" dirty="0">
                <a:latin typeface="Georgia"/>
                <a:cs typeface="Georgia"/>
              </a:rPr>
              <a:t>LARge</a:t>
            </a:r>
            <a:r>
              <a:rPr sz="1100" b="1" spc="105" dirty="0">
                <a:latin typeface="Georgia"/>
                <a:cs typeface="Georgia"/>
              </a:rPr>
              <a:t> </a:t>
            </a:r>
            <a:r>
              <a:rPr sz="1100" b="1" spc="-25" dirty="0">
                <a:latin typeface="Georgia"/>
                <a:cs typeface="Georgia"/>
              </a:rPr>
              <a:t>Applications</a:t>
            </a:r>
            <a:r>
              <a:rPr sz="1100" spc="-25" dirty="0">
                <a:latin typeface="Georgia"/>
                <a:cs typeface="Georgia"/>
              </a:rPr>
              <a:t>)</a:t>
            </a:r>
            <a:r>
              <a:rPr sz="1100" spc="70" dirty="0">
                <a:latin typeface="Georgia"/>
                <a:cs typeface="Georgia"/>
              </a:rPr>
              <a:t> </a:t>
            </a:r>
            <a:r>
              <a:rPr sz="1100" dirty="0">
                <a:latin typeface="Georgia"/>
                <a:cs typeface="Georgia"/>
              </a:rPr>
              <a:t>can</a:t>
            </a:r>
            <a:r>
              <a:rPr sz="1100" spc="70" dirty="0">
                <a:latin typeface="Georgia"/>
                <a:cs typeface="Georgia"/>
              </a:rPr>
              <a:t> </a:t>
            </a:r>
            <a:r>
              <a:rPr sz="1100" dirty="0">
                <a:latin typeface="Georgia"/>
                <a:cs typeface="Georgia"/>
              </a:rPr>
              <a:t>be</a:t>
            </a:r>
            <a:r>
              <a:rPr sz="1100" spc="65" dirty="0">
                <a:latin typeface="Georgia"/>
                <a:cs typeface="Georgia"/>
              </a:rPr>
              <a:t> </a:t>
            </a:r>
            <a:r>
              <a:rPr sz="1100" spc="-10" dirty="0">
                <a:latin typeface="Georgia"/>
                <a:cs typeface="Georgia"/>
              </a:rPr>
              <a:t>used.</a:t>
            </a:r>
            <a:endParaRPr sz="1100">
              <a:latin typeface="Georgia"/>
              <a:cs typeface="Georgia"/>
            </a:endParaRPr>
          </a:p>
        </p:txBody>
      </p:sp>
      <p:sp>
        <p:nvSpPr>
          <p:cNvPr id="5" name="object 5"/>
          <p:cNvSpPr/>
          <p:nvPr/>
        </p:nvSpPr>
        <p:spPr>
          <a:xfrm>
            <a:off x="337972" y="1255953"/>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494180"/>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1878660"/>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8" name="object 8"/>
          <p:cNvSpPr/>
          <p:nvPr/>
        </p:nvSpPr>
        <p:spPr>
          <a:xfrm>
            <a:off x="337972" y="2116874"/>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9" name="object 9"/>
          <p:cNvGrpSpPr/>
          <p:nvPr/>
        </p:nvGrpSpPr>
        <p:grpSpPr>
          <a:xfrm>
            <a:off x="0" y="3121545"/>
            <a:ext cx="5760085" cy="118745"/>
            <a:chOff x="0" y="3121545"/>
            <a:chExt cx="5760085" cy="118745"/>
          </a:xfrm>
        </p:grpSpPr>
        <p:sp>
          <p:nvSpPr>
            <p:cNvPr id="10" name="object 10"/>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1" name="object 11"/>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2" name="object 12"/>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3" name="object 13"/>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14" name="object 14"/>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71</a:t>
            </a:fld>
            <a:r>
              <a:rPr dirty="0"/>
              <a:t> </a:t>
            </a:r>
            <a:r>
              <a:rPr spc="75" dirty="0"/>
              <a:t>/</a:t>
            </a:r>
            <a:r>
              <a:rPr spc="5" dirty="0"/>
              <a:t> </a:t>
            </a:r>
            <a:r>
              <a:rPr spc="35" dirty="0"/>
              <a:t>135</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i="1" spc="75" dirty="0">
                <a:latin typeface="Calibri"/>
                <a:cs typeface="Calibri"/>
              </a:rPr>
              <a:t>K</a:t>
            </a:r>
            <a:r>
              <a:rPr spc="75" dirty="0"/>
              <a:t>–medians</a:t>
            </a:r>
            <a:r>
              <a:rPr spc="210" dirty="0"/>
              <a:t> </a:t>
            </a:r>
            <a:r>
              <a:rPr dirty="0"/>
              <a:t>clustering</a:t>
            </a:r>
            <a:r>
              <a:rPr spc="210" dirty="0"/>
              <a:t> </a:t>
            </a:r>
            <a:r>
              <a:rPr spc="-10" dirty="0"/>
              <a:t>algorithm</a:t>
            </a:r>
          </a:p>
        </p:txBody>
      </p:sp>
      <p:sp>
        <p:nvSpPr>
          <p:cNvPr id="3" name="object 3"/>
          <p:cNvSpPr/>
          <p:nvPr/>
        </p:nvSpPr>
        <p:spPr>
          <a:xfrm>
            <a:off x="337972" y="47480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28777" y="383195"/>
            <a:ext cx="5071110" cy="484505"/>
          </a:xfrm>
          <a:prstGeom prst="rect">
            <a:avLst/>
          </a:prstGeom>
        </p:spPr>
        <p:txBody>
          <a:bodyPr vert="horz" wrap="square" lIns="0" tIns="34290" rIns="0" bIns="0" rtlCol="0">
            <a:spAutoFit/>
          </a:bodyPr>
          <a:lstStyle/>
          <a:p>
            <a:pPr marL="38100" marR="30480">
              <a:lnSpc>
                <a:spcPts val="1150"/>
              </a:lnSpc>
              <a:spcBef>
                <a:spcPts val="270"/>
              </a:spcBef>
            </a:pPr>
            <a:r>
              <a:rPr sz="1100" dirty="0">
                <a:latin typeface="Georgia"/>
                <a:cs typeface="Georgia"/>
              </a:rPr>
              <a:t>In</a:t>
            </a:r>
            <a:r>
              <a:rPr sz="1100" spc="30" dirty="0">
                <a:latin typeface="Georgia"/>
                <a:cs typeface="Georgia"/>
              </a:rPr>
              <a:t> </a:t>
            </a:r>
            <a:r>
              <a:rPr sz="1100" dirty="0">
                <a:latin typeface="Georgia"/>
                <a:cs typeface="Georgia"/>
              </a:rPr>
              <a:t>the</a:t>
            </a:r>
            <a:r>
              <a:rPr sz="1100" spc="30" dirty="0">
                <a:latin typeface="Georgia"/>
                <a:cs typeface="Georgia"/>
              </a:rPr>
              <a:t> </a:t>
            </a:r>
            <a:r>
              <a:rPr sz="1100" i="1" spc="-35" dirty="0">
                <a:latin typeface="Calibri"/>
                <a:cs typeface="Calibri"/>
              </a:rPr>
              <a:t>k</a:t>
            </a:r>
            <a:r>
              <a:rPr sz="1100" spc="-35" dirty="0">
                <a:latin typeface="Georgia"/>
                <a:cs typeface="Georgia"/>
              </a:rPr>
              <a:t>–medians</a:t>
            </a:r>
            <a:r>
              <a:rPr sz="1100" spc="30" dirty="0">
                <a:latin typeface="Georgia"/>
                <a:cs typeface="Georgia"/>
              </a:rPr>
              <a:t> </a:t>
            </a:r>
            <a:r>
              <a:rPr sz="1100" spc="-20" dirty="0">
                <a:latin typeface="Georgia"/>
                <a:cs typeface="Georgia"/>
              </a:rPr>
              <a:t>algorithm,</a:t>
            </a:r>
            <a:r>
              <a:rPr sz="1100" spc="30" dirty="0">
                <a:latin typeface="Georgia"/>
                <a:cs typeface="Georgia"/>
              </a:rPr>
              <a:t> </a:t>
            </a:r>
            <a:r>
              <a:rPr sz="1100" dirty="0">
                <a:latin typeface="Georgia"/>
                <a:cs typeface="Georgia"/>
              </a:rPr>
              <a:t>the</a:t>
            </a:r>
            <a:r>
              <a:rPr sz="1100" spc="35" dirty="0">
                <a:latin typeface="Georgia"/>
                <a:cs typeface="Georgia"/>
              </a:rPr>
              <a:t> </a:t>
            </a:r>
            <a:r>
              <a:rPr sz="1100" spc="-10" dirty="0">
                <a:latin typeface="Georgia"/>
                <a:cs typeface="Georgia"/>
              </a:rPr>
              <a:t>Manhattan</a:t>
            </a:r>
            <a:r>
              <a:rPr sz="1100" spc="30" dirty="0">
                <a:latin typeface="Georgia"/>
                <a:cs typeface="Georgia"/>
              </a:rPr>
              <a:t> </a:t>
            </a:r>
            <a:r>
              <a:rPr sz="1100" spc="-20" dirty="0">
                <a:latin typeface="Georgia"/>
                <a:cs typeface="Georgia"/>
              </a:rPr>
              <a:t>distance</a:t>
            </a:r>
            <a:r>
              <a:rPr sz="1100" spc="30" dirty="0">
                <a:latin typeface="Georgia"/>
                <a:cs typeface="Georgia"/>
              </a:rPr>
              <a:t> </a:t>
            </a:r>
            <a:r>
              <a:rPr sz="1100" spc="100" dirty="0">
                <a:latin typeface="Georgia"/>
                <a:cs typeface="Georgia"/>
              </a:rPr>
              <a:t>(</a:t>
            </a:r>
            <a:r>
              <a:rPr sz="1100" i="1" spc="100" dirty="0">
                <a:latin typeface="Calibri"/>
                <a:cs typeface="Calibri"/>
              </a:rPr>
              <a:t>L</a:t>
            </a:r>
            <a:r>
              <a:rPr sz="1200" spc="150" baseline="-10416" dirty="0">
                <a:latin typeface="Calibri"/>
                <a:cs typeface="Calibri"/>
              </a:rPr>
              <a:t>1</a:t>
            </a:r>
            <a:r>
              <a:rPr sz="1200" spc="232" baseline="-10416" dirty="0">
                <a:latin typeface="Calibri"/>
                <a:cs typeface="Calibri"/>
              </a:rPr>
              <a:t> </a:t>
            </a:r>
            <a:r>
              <a:rPr sz="1100" spc="-10" dirty="0">
                <a:latin typeface="Georgia"/>
                <a:cs typeface="Georgia"/>
              </a:rPr>
              <a:t>distance)</a:t>
            </a:r>
            <a:r>
              <a:rPr sz="1100" spc="30" dirty="0">
                <a:latin typeface="Georgia"/>
                <a:cs typeface="Georgia"/>
              </a:rPr>
              <a:t> </a:t>
            </a:r>
            <a:r>
              <a:rPr sz="1100" dirty="0">
                <a:latin typeface="Georgia"/>
                <a:cs typeface="Georgia"/>
              </a:rPr>
              <a:t>is</a:t>
            </a:r>
            <a:r>
              <a:rPr sz="1100" spc="30" dirty="0">
                <a:latin typeface="Georgia"/>
                <a:cs typeface="Georgia"/>
              </a:rPr>
              <a:t> </a:t>
            </a:r>
            <a:r>
              <a:rPr sz="1100" spc="-20" dirty="0">
                <a:latin typeface="Georgia"/>
                <a:cs typeface="Georgia"/>
              </a:rPr>
              <a:t>used</a:t>
            </a:r>
            <a:r>
              <a:rPr sz="1100" spc="35" dirty="0">
                <a:latin typeface="Georgia"/>
                <a:cs typeface="Georgia"/>
              </a:rPr>
              <a:t> </a:t>
            </a:r>
            <a:r>
              <a:rPr sz="1100" dirty="0">
                <a:latin typeface="Georgia"/>
                <a:cs typeface="Georgia"/>
              </a:rPr>
              <a:t>in</a:t>
            </a:r>
            <a:r>
              <a:rPr sz="1100" spc="30" dirty="0">
                <a:latin typeface="Georgia"/>
                <a:cs typeface="Georgia"/>
              </a:rPr>
              <a:t> </a:t>
            </a:r>
            <a:r>
              <a:rPr sz="1100" spc="-25" dirty="0">
                <a:latin typeface="Georgia"/>
                <a:cs typeface="Georgia"/>
              </a:rPr>
              <a:t>the </a:t>
            </a:r>
            <a:r>
              <a:rPr sz="1100" spc="-10" dirty="0">
                <a:latin typeface="Georgia"/>
                <a:cs typeface="Georgia"/>
              </a:rPr>
              <a:t>objective</a:t>
            </a:r>
            <a:r>
              <a:rPr sz="1100" spc="45" dirty="0">
                <a:latin typeface="Georgia"/>
                <a:cs typeface="Georgia"/>
              </a:rPr>
              <a:t> </a:t>
            </a:r>
            <a:r>
              <a:rPr sz="1100" spc="-20" dirty="0">
                <a:latin typeface="Georgia"/>
                <a:cs typeface="Georgia"/>
              </a:rPr>
              <a:t>function</a:t>
            </a:r>
            <a:r>
              <a:rPr sz="1100" spc="45" dirty="0">
                <a:latin typeface="Georgia"/>
                <a:cs typeface="Georgia"/>
              </a:rPr>
              <a:t> </a:t>
            </a:r>
            <a:r>
              <a:rPr sz="1100" spc="-10" dirty="0">
                <a:latin typeface="Georgia"/>
                <a:cs typeface="Georgia"/>
              </a:rPr>
              <a:t>rather</a:t>
            </a:r>
            <a:r>
              <a:rPr sz="1100" spc="45" dirty="0">
                <a:latin typeface="Georgia"/>
                <a:cs typeface="Georgia"/>
              </a:rPr>
              <a:t> </a:t>
            </a:r>
            <a:r>
              <a:rPr sz="1100" dirty="0">
                <a:latin typeface="Georgia"/>
                <a:cs typeface="Georgia"/>
              </a:rPr>
              <a:t>than</a:t>
            </a:r>
            <a:r>
              <a:rPr sz="1100" spc="45" dirty="0">
                <a:latin typeface="Georgia"/>
                <a:cs typeface="Georgia"/>
              </a:rPr>
              <a:t> </a:t>
            </a:r>
            <a:r>
              <a:rPr sz="1100" dirty="0">
                <a:latin typeface="Georgia"/>
                <a:cs typeface="Georgia"/>
              </a:rPr>
              <a:t>the</a:t>
            </a:r>
            <a:r>
              <a:rPr sz="1100" spc="50" dirty="0">
                <a:latin typeface="Georgia"/>
                <a:cs typeface="Georgia"/>
              </a:rPr>
              <a:t> </a:t>
            </a:r>
            <a:r>
              <a:rPr sz="1100" spc="-20" dirty="0">
                <a:latin typeface="Georgia"/>
                <a:cs typeface="Georgia"/>
              </a:rPr>
              <a:t>Euclidean</a:t>
            </a:r>
            <a:r>
              <a:rPr sz="1100" spc="45" dirty="0">
                <a:latin typeface="Georgia"/>
                <a:cs typeface="Georgia"/>
              </a:rPr>
              <a:t> </a:t>
            </a:r>
            <a:r>
              <a:rPr sz="1100" spc="100" dirty="0">
                <a:latin typeface="Georgia"/>
                <a:cs typeface="Georgia"/>
              </a:rPr>
              <a:t>(</a:t>
            </a:r>
            <a:r>
              <a:rPr sz="1100" i="1" spc="100" dirty="0">
                <a:latin typeface="Calibri"/>
                <a:cs typeface="Calibri"/>
              </a:rPr>
              <a:t>L</a:t>
            </a:r>
            <a:r>
              <a:rPr sz="1200" spc="150" baseline="-10416" dirty="0">
                <a:latin typeface="Calibri"/>
                <a:cs typeface="Calibri"/>
              </a:rPr>
              <a:t>2</a:t>
            </a:r>
            <a:r>
              <a:rPr sz="1200" spc="254" baseline="-10416" dirty="0">
                <a:latin typeface="Calibri"/>
                <a:cs typeface="Calibri"/>
              </a:rPr>
              <a:t> </a:t>
            </a:r>
            <a:r>
              <a:rPr sz="1100" spc="-10" dirty="0">
                <a:latin typeface="Georgia"/>
                <a:cs typeface="Georgia"/>
              </a:rPr>
              <a:t>distance).</a:t>
            </a:r>
            <a:r>
              <a:rPr sz="1100" spc="145" dirty="0">
                <a:latin typeface="Georgia"/>
                <a:cs typeface="Georgia"/>
              </a:rPr>
              <a:t> </a:t>
            </a:r>
            <a:r>
              <a:rPr sz="1100" dirty="0">
                <a:latin typeface="Georgia"/>
                <a:cs typeface="Georgia"/>
              </a:rPr>
              <a:t>The</a:t>
            </a:r>
            <a:r>
              <a:rPr sz="1100" spc="45" dirty="0">
                <a:latin typeface="Georgia"/>
                <a:cs typeface="Georgia"/>
              </a:rPr>
              <a:t> </a:t>
            </a:r>
            <a:r>
              <a:rPr sz="1100" spc="-10" dirty="0">
                <a:latin typeface="Georgia"/>
                <a:cs typeface="Georgia"/>
              </a:rPr>
              <a:t>objective</a:t>
            </a:r>
            <a:r>
              <a:rPr sz="1100" spc="50" dirty="0">
                <a:latin typeface="Georgia"/>
                <a:cs typeface="Georgia"/>
              </a:rPr>
              <a:t> </a:t>
            </a:r>
            <a:r>
              <a:rPr sz="1100" spc="-10" dirty="0">
                <a:latin typeface="Georgia"/>
                <a:cs typeface="Georgia"/>
              </a:rPr>
              <a:t>function </a:t>
            </a:r>
            <a:r>
              <a:rPr sz="1100" dirty="0">
                <a:latin typeface="Georgia"/>
                <a:cs typeface="Georgia"/>
              </a:rPr>
              <a:t>in</a:t>
            </a:r>
            <a:r>
              <a:rPr sz="1100" spc="20" dirty="0">
                <a:latin typeface="Georgia"/>
                <a:cs typeface="Georgia"/>
              </a:rPr>
              <a:t> </a:t>
            </a:r>
            <a:r>
              <a:rPr sz="1100" i="1" spc="-35" dirty="0">
                <a:latin typeface="Calibri"/>
                <a:cs typeface="Calibri"/>
              </a:rPr>
              <a:t>k</a:t>
            </a:r>
            <a:r>
              <a:rPr sz="1100" spc="-35" dirty="0">
                <a:latin typeface="Georgia"/>
                <a:cs typeface="Georgia"/>
              </a:rPr>
              <a:t>–medians</a:t>
            </a:r>
            <a:r>
              <a:rPr sz="1100" spc="20" dirty="0">
                <a:latin typeface="Georgia"/>
                <a:cs typeface="Georgia"/>
              </a:rPr>
              <a:t> </a:t>
            </a:r>
            <a:r>
              <a:rPr sz="1100" spc="-25" dirty="0">
                <a:latin typeface="Georgia"/>
                <a:cs typeface="Georgia"/>
              </a:rPr>
              <a:t>is:</a:t>
            </a:r>
            <a:endParaRPr sz="1100">
              <a:latin typeface="Georgia"/>
              <a:cs typeface="Georgia"/>
            </a:endParaRPr>
          </a:p>
        </p:txBody>
      </p:sp>
      <p:sp>
        <p:nvSpPr>
          <p:cNvPr id="14" name="object 14"/>
          <p:cNvSpPr txBox="1"/>
          <p:nvPr/>
        </p:nvSpPr>
        <p:spPr>
          <a:xfrm>
            <a:off x="5312587" y="983969"/>
            <a:ext cx="270510" cy="191770"/>
          </a:xfrm>
          <a:prstGeom prst="rect">
            <a:avLst/>
          </a:prstGeom>
        </p:spPr>
        <p:txBody>
          <a:bodyPr vert="horz" wrap="square" lIns="0" tIns="11430" rIns="0" bIns="0" rtlCol="0">
            <a:spAutoFit/>
          </a:bodyPr>
          <a:lstStyle/>
          <a:p>
            <a:pPr marL="12700">
              <a:lnSpc>
                <a:spcPct val="100000"/>
              </a:lnSpc>
              <a:spcBef>
                <a:spcPts val="90"/>
              </a:spcBef>
            </a:pPr>
            <a:r>
              <a:rPr sz="1100" spc="-25" dirty="0">
                <a:latin typeface="Georgia"/>
                <a:cs typeface="Georgia"/>
              </a:rPr>
              <a:t>(22)</a:t>
            </a:r>
            <a:endParaRPr sz="1100">
              <a:latin typeface="Georgia"/>
              <a:cs typeface="Georgia"/>
            </a:endParaRPr>
          </a:p>
        </p:txBody>
      </p:sp>
      <p:sp>
        <p:nvSpPr>
          <p:cNvPr id="15" name="object 15"/>
          <p:cNvSpPr/>
          <p:nvPr/>
        </p:nvSpPr>
        <p:spPr>
          <a:xfrm>
            <a:off x="337972" y="1996376"/>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6" name="object 16"/>
          <p:cNvSpPr/>
          <p:nvPr/>
        </p:nvSpPr>
        <p:spPr>
          <a:xfrm>
            <a:off x="337972" y="2673387"/>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17" name="object 17"/>
          <p:cNvSpPr txBox="1"/>
          <p:nvPr/>
        </p:nvSpPr>
        <p:spPr>
          <a:xfrm>
            <a:off x="390677" y="1143857"/>
            <a:ext cx="5201920" cy="1989647"/>
          </a:xfrm>
          <a:prstGeom prst="rect">
            <a:avLst/>
          </a:prstGeom>
        </p:spPr>
        <p:txBody>
          <a:bodyPr vert="horz" wrap="square" lIns="0" tIns="57785" rIns="0" bIns="0" rtlCol="0">
            <a:spAutoFit/>
          </a:bodyPr>
          <a:lstStyle/>
          <a:p>
            <a:pPr marR="217804" algn="ctr">
              <a:lnSpc>
                <a:spcPct val="100000"/>
              </a:lnSpc>
              <a:spcBef>
                <a:spcPts val="455"/>
              </a:spcBef>
              <a:tabLst>
                <a:tab pos="1312545" algn="l"/>
              </a:tabLst>
            </a:pPr>
            <a:r>
              <a:rPr sz="900" i="1" baseline="-9259" dirty="0">
                <a:latin typeface="Calibri"/>
                <a:cs typeface="Calibri"/>
              </a:rPr>
              <a:t>	</a:t>
            </a:r>
            <a:endParaRPr sz="800">
              <a:latin typeface="Calibri"/>
              <a:cs typeface="Calibri"/>
            </a:endParaRPr>
          </a:p>
          <a:p>
            <a:pPr marL="76200" marR="73025">
              <a:lnSpc>
                <a:spcPts val="1150"/>
              </a:lnSpc>
              <a:spcBef>
                <a:spcPts val="665"/>
              </a:spcBef>
            </a:pPr>
            <a:r>
              <a:rPr sz="1100" spc="-30" dirty="0">
                <a:latin typeface="Georgia"/>
                <a:cs typeface="Georgia"/>
              </a:rPr>
              <a:t>where</a:t>
            </a:r>
            <a:r>
              <a:rPr sz="1100" spc="30" dirty="0">
                <a:latin typeface="Georgia"/>
                <a:cs typeface="Georgia"/>
              </a:rPr>
              <a:t> </a:t>
            </a:r>
            <a:r>
              <a:rPr sz="1100" spc="110" dirty="0">
                <a:latin typeface="Cambria"/>
                <a:cs typeface="Cambria"/>
              </a:rPr>
              <a:t>m</a:t>
            </a:r>
            <a:r>
              <a:rPr sz="1200" i="1" spc="165" baseline="-10416" dirty="0">
                <a:latin typeface="Calibri"/>
                <a:cs typeface="Calibri"/>
              </a:rPr>
              <a:t>i</a:t>
            </a:r>
            <a:r>
              <a:rPr sz="1200" i="1" spc="225" baseline="-10416" dirty="0">
                <a:latin typeface="Calibri"/>
                <a:cs typeface="Calibri"/>
              </a:rPr>
              <a:t> </a:t>
            </a:r>
            <a:r>
              <a:rPr sz="1100" dirty="0">
                <a:latin typeface="Georgia"/>
                <a:cs typeface="Georgia"/>
              </a:rPr>
              <a:t>is</a:t>
            </a:r>
            <a:r>
              <a:rPr sz="1100" spc="35" dirty="0">
                <a:latin typeface="Georgia"/>
                <a:cs typeface="Georgia"/>
              </a:rPr>
              <a:t> </a:t>
            </a:r>
            <a:r>
              <a:rPr sz="1100" dirty="0">
                <a:latin typeface="Georgia"/>
                <a:cs typeface="Georgia"/>
              </a:rPr>
              <a:t>the</a:t>
            </a:r>
            <a:r>
              <a:rPr sz="1100" spc="30" dirty="0">
                <a:latin typeface="Georgia"/>
                <a:cs typeface="Georgia"/>
              </a:rPr>
              <a:t> </a:t>
            </a:r>
            <a:r>
              <a:rPr sz="1100" spc="-30" dirty="0">
                <a:latin typeface="Georgia"/>
                <a:cs typeface="Georgia"/>
              </a:rPr>
              <a:t>median</a:t>
            </a:r>
            <a:r>
              <a:rPr sz="1100" spc="30" dirty="0">
                <a:latin typeface="Georgia"/>
                <a:cs typeface="Georgia"/>
              </a:rPr>
              <a:t> </a:t>
            </a:r>
            <a:r>
              <a:rPr sz="1100" dirty="0">
                <a:latin typeface="Georgia"/>
                <a:cs typeface="Georgia"/>
              </a:rPr>
              <a:t>of</a:t>
            </a:r>
            <a:r>
              <a:rPr sz="1100" spc="30"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data</a:t>
            </a:r>
            <a:r>
              <a:rPr sz="1100" spc="30" dirty="0">
                <a:latin typeface="Georgia"/>
                <a:cs typeface="Georgia"/>
              </a:rPr>
              <a:t> </a:t>
            </a:r>
            <a:r>
              <a:rPr sz="1100" spc="-10" dirty="0">
                <a:latin typeface="Georgia"/>
                <a:cs typeface="Georgia"/>
              </a:rPr>
              <a:t>points</a:t>
            </a:r>
            <a:r>
              <a:rPr sz="1100" spc="30" dirty="0">
                <a:latin typeface="Georgia"/>
                <a:cs typeface="Georgia"/>
              </a:rPr>
              <a:t> </a:t>
            </a:r>
            <a:r>
              <a:rPr sz="1100" spc="-10" dirty="0">
                <a:latin typeface="Georgia"/>
                <a:cs typeface="Georgia"/>
              </a:rPr>
              <a:t>along</a:t>
            </a:r>
            <a:r>
              <a:rPr sz="1100" spc="30" dirty="0">
                <a:latin typeface="Georgia"/>
                <a:cs typeface="Georgia"/>
              </a:rPr>
              <a:t> </a:t>
            </a:r>
            <a:r>
              <a:rPr sz="1100" spc="-10" dirty="0">
                <a:latin typeface="Georgia"/>
                <a:cs typeface="Georgia"/>
              </a:rPr>
              <a:t>each</a:t>
            </a:r>
            <a:r>
              <a:rPr sz="1100" spc="35" dirty="0">
                <a:latin typeface="Georgia"/>
                <a:cs typeface="Georgia"/>
              </a:rPr>
              <a:t> </a:t>
            </a:r>
            <a:r>
              <a:rPr sz="1100" spc="-40" dirty="0">
                <a:latin typeface="Georgia"/>
                <a:cs typeface="Georgia"/>
              </a:rPr>
              <a:t>dimension</a:t>
            </a:r>
            <a:r>
              <a:rPr sz="1100" spc="30" dirty="0">
                <a:latin typeface="Georgia"/>
                <a:cs typeface="Georgia"/>
              </a:rPr>
              <a:t> </a:t>
            </a:r>
            <a:r>
              <a:rPr sz="1100" dirty="0">
                <a:latin typeface="Georgia"/>
                <a:cs typeface="Georgia"/>
              </a:rPr>
              <a:t>in</a:t>
            </a:r>
            <a:r>
              <a:rPr sz="1100" spc="30" dirty="0">
                <a:latin typeface="Georgia"/>
                <a:cs typeface="Georgia"/>
              </a:rPr>
              <a:t> </a:t>
            </a:r>
            <a:r>
              <a:rPr sz="1100" spc="-10" dirty="0">
                <a:latin typeface="Georgia"/>
                <a:cs typeface="Georgia"/>
              </a:rPr>
              <a:t>cluster</a:t>
            </a:r>
            <a:r>
              <a:rPr sz="1100" spc="30" dirty="0">
                <a:latin typeface="Georgia"/>
                <a:cs typeface="Georgia"/>
              </a:rPr>
              <a:t> </a:t>
            </a:r>
            <a:r>
              <a:rPr sz="1100" i="1" spc="114" dirty="0">
                <a:latin typeface="Calibri"/>
                <a:cs typeface="Calibri"/>
              </a:rPr>
              <a:t>C</a:t>
            </a:r>
            <a:r>
              <a:rPr sz="1200" i="1" spc="172" baseline="-10416" dirty="0">
                <a:latin typeface="Calibri"/>
                <a:cs typeface="Calibri"/>
              </a:rPr>
              <a:t>i</a:t>
            </a:r>
            <a:r>
              <a:rPr sz="1100" spc="114" dirty="0">
                <a:latin typeface="Georgia"/>
                <a:cs typeface="Georgia"/>
              </a:rPr>
              <a:t>.</a:t>
            </a:r>
            <a:r>
              <a:rPr sz="1100" spc="130" dirty="0">
                <a:latin typeface="Georgia"/>
                <a:cs typeface="Georgia"/>
              </a:rPr>
              <a:t> </a:t>
            </a:r>
            <a:r>
              <a:rPr sz="1100" spc="-20" dirty="0">
                <a:latin typeface="Georgia"/>
                <a:cs typeface="Georgia"/>
              </a:rPr>
              <a:t>This </a:t>
            </a:r>
            <a:r>
              <a:rPr sz="1100" dirty="0">
                <a:latin typeface="Georgia"/>
                <a:cs typeface="Georgia"/>
              </a:rPr>
              <a:t>is</a:t>
            </a:r>
            <a:r>
              <a:rPr sz="1100" spc="30" dirty="0">
                <a:latin typeface="Georgia"/>
                <a:cs typeface="Georgia"/>
              </a:rPr>
              <a:t> </a:t>
            </a:r>
            <a:r>
              <a:rPr sz="1100" spc="-20" dirty="0">
                <a:latin typeface="Georgia"/>
                <a:cs typeface="Georgia"/>
              </a:rPr>
              <a:t>because</a:t>
            </a:r>
            <a:r>
              <a:rPr sz="1100" spc="35" dirty="0">
                <a:latin typeface="Georgia"/>
                <a:cs typeface="Georgia"/>
              </a:rPr>
              <a:t> </a:t>
            </a:r>
            <a:r>
              <a:rPr sz="1100" dirty="0">
                <a:latin typeface="Georgia"/>
                <a:cs typeface="Georgia"/>
              </a:rPr>
              <a:t>the</a:t>
            </a:r>
            <a:r>
              <a:rPr sz="1100" spc="35" dirty="0">
                <a:latin typeface="Georgia"/>
                <a:cs typeface="Georgia"/>
              </a:rPr>
              <a:t> </a:t>
            </a:r>
            <a:r>
              <a:rPr sz="1100" dirty="0">
                <a:latin typeface="Georgia"/>
                <a:cs typeface="Georgia"/>
              </a:rPr>
              <a:t>point</a:t>
            </a:r>
            <a:r>
              <a:rPr sz="1100" spc="30" dirty="0">
                <a:latin typeface="Georgia"/>
                <a:cs typeface="Georgia"/>
              </a:rPr>
              <a:t> </a:t>
            </a:r>
            <a:r>
              <a:rPr sz="1100" dirty="0">
                <a:latin typeface="Georgia"/>
                <a:cs typeface="Georgia"/>
              </a:rPr>
              <a:t>that</a:t>
            </a:r>
            <a:r>
              <a:rPr sz="1100" spc="35" dirty="0">
                <a:latin typeface="Georgia"/>
                <a:cs typeface="Georgia"/>
              </a:rPr>
              <a:t> </a:t>
            </a:r>
            <a:r>
              <a:rPr sz="1100" dirty="0">
                <a:latin typeface="Georgia"/>
                <a:cs typeface="Georgia"/>
              </a:rPr>
              <a:t>has</a:t>
            </a:r>
            <a:r>
              <a:rPr sz="1100" spc="35" dirty="0">
                <a:latin typeface="Georgia"/>
                <a:cs typeface="Georgia"/>
              </a:rPr>
              <a:t> </a:t>
            </a:r>
            <a:r>
              <a:rPr sz="1100" dirty="0">
                <a:latin typeface="Georgia"/>
                <a:cs typeface="Georgia"/>
              </a:rPr>
              <a:t>the</a:t>
            </a:r>
            <a:r>
              <a:rPr sz="1100" spc="30" dirty="0">
                <a:latin typeface="Georgia"/>
                <a:cs typeface="Georgia"/>
              </a:rPr>
              <a:t> </a:t>
            </a:r>
            <a:r>
              <a:rPr sz="1100" spc="-50" dirty="0">
                <a:latin typeface="Georgia"/>
                <a:cs typeface="Georgia"/>
              </a:rPr>
              <a:t>minimum</a:t>
            </a:r>
            <a:r>
              <a:rPr sz="1100" spc="35" dirty="0">
                <a:latin typeface="Georgia"/>
                <a:cs typeface="Georgia"/>
              </a:rPr>
              <a:t> </a:t>
            </a:r>
            <a:r>
              <a:rPr sz="1100" spc="-20" dirty="0">
                <a:latin typeface="Georgia"/>
                <a:cs typeface="Georgia"/>
              </a:rPr>
              <a:t>sum</a:t>
            </a:r>
            <a:r>
              <a:rPr sz="1100" spc="35" dirty="0">
                <a:latin typeface="Georgia"/>
                <a:cs typeface="Georgia"/>
              </a:rPr>
              <a:t> </a:t>
            </a:r>
            <a:r>
              <a:rPr sz="1100" dirty="0">
                <a:latin typeface="Georgia"/>
                <a:cs typeface="Georgia"/>
              </a:rPr>
              <a:t>of</a:t>
            </a:r>
            <a:r>
              <a:rPr sz="1100" spc="30" dirty="0">
                <a:latin typeface="Georgia"/>
                <a:cs typeface="Georgia"/>
              </a:rPr>
              <a:t> </a:t>
            </a:r>
            <a:r>
              <a:rPr sz="1100" i="1" dirty="0">
                <a:latin typeface="Calibri"/>
                <a:cs typeface="Calibri"/>
              </a:rPr>
              <a:t>L</a:t>
            </a:r>
            <a:r>
              <a:rPr sz="1200" baseline="-10416" dirty="0">
                <a:latin typeface="Calibri"/>
                <a:cs typeface="Calibri"/>
              </a:rPr>
              <a:t>1</a:t>
            </a:r>
            <a:r>
              <a:rPr sz="1100" dirty="0">
                <a:latin typeface="Georgia"/>
                <a:cs typeface="Georgia"/>
              </a:rPr>
              <a:t>–distances</a:t>
            </a:r>
            <a:r>
              <a:rPr sz="1100" spc="35" dirty="0">
                <a:latin typeface="Georgia"/>
                <a:cs typeface="Georgia"/>
              </a:rPr>
              <a:t> </a:t>
            </a:r>
            <a:r>
              <a:rPr sz="1100" dirty="0">
                <a:latin typeface="Georgia"/>
                <a:cs typeface="Georgia"/>
              </a:rPr>
              <a:t>to</a:t>
            </a:r>
            <a:r>
              <a:rPr sz="1100" spc="35" dirty="0">
                <a:latin typeface="Georgia"/>
                <a:cs typeface="Georgia"/>
              </a:rPr>
              <a:t> </a:t>
            </a:r>
            <a:r>
              <a:rPr sz="1100" dirty="0">
                <a:latin typeface="Georgia"/>
                <a:cs typeface="Georgia"/>
              </a:rPr>
              <a:t>a</a:t>
            </a:r>
            <a:r>
              <a:rPr sz="1100" spc="30" dirty="0">
                <a:latin typeface="Georgia"/>
                <a:cs typeface="Georgia"/>
              </a:rPr>
              <a:t> </a:t>
            </a:r>
            <a:r>
              <a:rPr sz="1100" dirty="0">
                <a:latin typeface="Georgia"/>
                <a:cs typeface="Georgia"/>
              </a:rPr>
              <a:t>set</a:t>
            </a:r>
            <a:r>
              <a:rPr sz="1100" spc="35" dirty="0">
                <a:latin typeface="Georgia"/>
                <a:cs typeface="Georgia"/>
              </a:rPr>
              <a:t> </a:t>
            </a:r>
            <a:r>
              <a:rPr sz="1100" dirty="0">
                <a:latin typeface="Georgia"/>
                <a:cs typeface="Georgia"/>
              </a:rPr>
              <a:t>of</a:t>
            </a:r>
            <a:r>
              <a:rPr sz="1100" spc="35" dirty="0">
                <a:latin typeface="Georgia"/>
                <a:cs typeface="Georgia"/>
              </a:rPr>
              <a:t> </a:t>
            </a:r>
            <a:r>
              <a:rPr sz="1100" spc="-10" dirty="0">
                <a:latin typeface="Georgia"/>
                <a:cs typeface="Georgia"/>
              </a:rPr>
              <a:t>points </a:t>
            </a:r>
            <a:r>
              <a:rPr sz="1100" spc="-20" dirty="0">
                <a:latin typeface="Georgia"/>
                <a:cs typeface="Georgia"/>
              </a:rPr>
              <a:t>distributed</a:t>
            </a:r>
            <a:r>
              <a:rPr sz="1100" spc="35" dirty="0">
                <a:latin typeface="Georgia"/>
                <a:cs typeface="Georgia"/>
              </a:rPr>
              <a:t> </a:t>
            </a:r>
            <a:r>
              <a:rPr sz="1100" dirty="0">
                <a:latin typeface="Georgia"/>
                <a:cs typeface="Georgia"/>
              </a:rPr>
              <a:t>on</a:t>
            </a:r>
            <a:r>
              <a:rPr sz="1100" spc="40" dirty="0">
                <a:latin typeface="Georgia"/>
                <a:cs typeface="Georgia"/>
              </a:rPr>
              <a:t> </a:t>
            </a:r>
            <a:r>
              <a:rPr sz="1100" dirty="0">
                <a:latin typeface="Georgia"/>
                <a:cs typeface="Georgia"/>
              </a:rPr>
              <a:t>a</a:t>
            </a:r>
            <a:r>
              <a:rPr sz="1100" spc="40" dirty="0">
                <a:latin typeface="Georgia"/>
                <a:cs typeface="Georgia"/>
              </a:rPr>
              <a:t> </a:t>
            </a:r>
            <a:r>
              <a:rPr sz="1100" spc="-10" dirty="0">
                <a:latin typeface="Georgia"/>
                <a:cs typeface="Georgia"/>
              </a:rPr>
              <a:t>line</a:t>
            </a:r>
            <a:r>
              <a:rPr sz="1100" spc="40" dirty="0">
                <a:latin typeface="Georgia"/>
                <a:cs typeface="Georgia"/>
              </a:rPr>
              <a:t> </a:t>
            </a:r>
            <a:r>
              <a:rPr sz="1100" dirty="0">
                <a:latin typeface="Georgia"/>
                <a:cs typeface="Georgia"/>
              </a:rPr>
              <a:t>is</a:t>
            </a:r>
            <a:r>
              <a:rPr sz="1100" spc="40" dirty="0">
                <a:latin typeface="Georgia"/>
                <a:cs typeface="Georgia"/>
              </a:rPr>
              <a:t> </a:t>
            </a:r>
            <a:r>
              <a:rPr sz="1100" dirty="0">
                <a:latin typeface="Georgia"/>
                <a:cs typeface="Georgia"/>
              </a:rPr>
              <a:t>the</a:t>
            </a:r>
            <a:r>
              <a:rPr sz="1100" spc="40" dirty="0">
                <a:latin typeface="Georgia"/>
                <a:cs typeface="Georgia"/>
              </a:rPr>
              <a:t> </a:t>
            </a:r>
            <a:r>
              <a:rPr sz="1100" spc="-30" dirty="0">
                <a:latin typeface="Georgia"/>
                <a:cs typeface="Georgia"/>
              </a:rPr>
              <a:t>median</a:t>
            </a:r>
            <a:r>
              <a:rPr sz="1100" spc="40" dirty="0">
                <a:latin typeface="Georgia"/>
                <a:cs typeface="Georgia"/>
              </a:rPr>
              <a:t> </a:t>
            </a:r>
            <a:r>
              <a:rPr sz="1100" dirty="0">
                <a:latin typeface="Georgia"/>
                <a:cs typeface="Georgia"/>
              </a:rPr>
              <a:t>of</a:t>
            </a:r>
            <a:r>
              <a:rPr sz="1100" spc="40" dirty="0">
                <a:latin typeface="Georgia"/>
                <a:cs typeface="Georgia"/>
              </a:rPr>
              <a:t> </a:t>
            </a:r>
            <a:r>
              <a:rPr sz="1100" dirty="0">
                <a:latin typeface="Georgia"/>
                <a:cs typeface="Georgia"/>
              </a:rPr>
              <a:t>that</a:t>
            </a:r>
            <a:r>
              <a:rPr sz="1100" spc="40" dirty="0">
                <a:latin typeface="Georgia"/>
                <a:cs typeface="Georgia"/>
              </a:rPr>
              <a:t> </a:t>
            </a:r>
            <a:r>
              <a:rPr sz="1100" spc="-20" dirty="0">
                <a:latin typeface="Georgia"/>
                <a:cs typeface="Georgia"/>
              </a:rPr>
              <a:t>set.</a:t>
            </a:r>
            <a:endParaRPr sz="1100">
              <a:latin typeface="Georgia"/>
              <a:cs typeface="Georgia"/>
            </a:endParaRPr>
          </a:p>
          <a:p>
            <a:pPr marL="76200">
              <a:lnSpc>
                <a:spcPts val="1235"/>
              </a:lnSpc>
              <a:spcBef>
                <a:spcPts val="550"/>
              </a:spcBef>
            </a:pPr>
            <a:r>
              <a:rPr sz="1100" dirty="0">
                <a:latin typeface="Georgia"/>
                <a:cs typeface="Georgia"/>
              </a:rPr>
              <a:t>As</a:t>
            </a:r>
            <a:r>
              <a:rPr sz="1100" spc="30" dirty="0">
                <a:latin typeface="Georgia"/>
                <a:cs typeface="Georgia"/>
              </a:rPr>
              <a:t> </a:t>
            </a:r>
            <a:r>
              <a:rPr sz="1100" dirty="0">
                <a:latin typeface="Georgia"/>
                <a:cs typeface="Georgia"/>
              </a:rPr>
              <a:t>the</a:t>
            </a:r>
            <a:r>
              <a:rPr sz="1100" spc="30" dirty="0">
                <a:latin typeface="Georgia"/>
                <a:cs typeface="Georgia"/>
              </a:rPr>
              <a:t> </a:t>
            </a:r>
            <a:r>
              <a:rPr sz="1100" spc="-30" dirty="0">
                <a:latin typeface="Georgia"/>
                <a:cs typeface="Georgia"/>
              </a:rPr>
              <a:t>median</a:t>
            </a:r>
            <a:r>
              <a:rPr sz="1100" spc="35" dirty="0">
                <a:latin typeface="Georgia"/>
                <a:cs typeface="Georgia"/>
              </a:rPr>
              <a:t> </a:t>
            </a:r>
            <a:r>
              <a:rPr sz="1100" dirty="0">
                <a:latin typeface="Georgia"/>
                <a:cs typeface="Georgia"/>
              </a:rPr>
              <a:t>is</a:t>
            </a:r>
            <a:r>
              <a:rPr sz="1100" spc="30" dirty="0">
                <a:latin typeface="Georgia"/>
                <a:cs typeface="Georgia"/>
              </a:rPr>
              <a:t> </a:t>
            </a:r>
            <a:r>
              <a:rPr sz="1100" spc="-35" dirty="0">
                <a:latin typeface="Georgia"/>
                <a:cs typeface="Georgia"/>
              </a:rPr>
              <a:t>chosen</a:t>
            </a:r>
            <a:r>
              <a:rPr sz="1100" spc="35" dirty="0">
                <a:latin typeface="Georgia"/>
                <a:cs typeface="Georgia"/>
              </a:rPr>
              <a:t> </a:t>
            </a:r>
            <a:r>
              <a:rPr sz="1100" spc="-30" dirty="0">
                <a:latin typeface="Georgia"/>
                <a:cs typeface="Georgia"/>
              </a:rPr>
              <a:t>independently</a:t>
            </a:r>
            <a:r>
              <a:rPr sz="1100" spc="30" dirty="0">
                <a:latin typeface="Georgia"/>
                <a:cs typeface="Georgia"/>
              </a:rPr>
              <a:t> </a:t>
            </a:r>
            <a:r>
              <a:rPr sz="1100" spc="-10" dirty="0">
                <a:latin typeface="Georgia"/>
                <a:cs typeface="Georgia"/>
              </a:rPr>
              <a:t>along</a:t>
            </a:r>
            <a:r>
              <a:rPr sz="1100" spc="35" dirty="0">
                <a:latin typeface="Georgia"/>
                <a:cs typeface="Georgia"/>
              </a:rPr>
              <a:t> </a:t>
            </a:r>
            <a:r>
              <a:rPr sz="1100" spc="-10" dirty="0">
                <a:latin typeface="Georgia"/>
                <a:cs typeface="Georgia"/>
              </a:rPr>
              <a:t>each</a:t>
            </a:r>
            <a:r>
              <a:rPr sz="1100" spc="30" dirty="0">
                <a:latin typeface="Georgia"/>
                <a:cs typeface="Georgia"/>
              </a:rPr>
              <a:t> </a:t>
            </a:r>
            <a:r>
              <a:rPr sz="1100" spc="-35" dirty="0">
                <a:latin typeface="Georgia"/>
                <a:cs typeface="Georgia"/>
              </a:rPr>
              <a:t>dimension,</a:t>
            </a:r>
            <a:r>
              <a:rPr sz="1100" spc="35" dirty="0">
                <a:latin typeface="Georgia"/>
                <a:cs typeface="Georgia"/>
              </a:rPr>
              <a:t> </a:t>
            </a:r>
            <a:r>
              <a:rPr sz="1100" dirty="0">
                <a:latin typeface="Georgia"/>
                <a:cs typeface="Georgia"/>
              </a:rPr>
              <a:t>the</a:t>
            </a:r>
            <a:r>
              <a:rPr sz="1100" spc="30" dirty="0">
                <a:latin typeface="Georgia"/>
                <a:cs typeface="Georgia"/>
              </a:rPr>
              <a:t> </a:t>
            </a:r>
            <a:r>
              <a:rPr sz="1100" spc="-10" dirty="0">
                <a:latin typeface="Georgia"/>
                <a:cs typeface="Georgia"/>
              </a:rPr>
              <a:t>resulting</a:t>
            </a:r>
            <a:endParaRPr sz="1100">
              <a:latin typeface="Georgia"/>
              <a:cs typeface="Georgia"/>
            </a:endParaRPr>
          </a:p>
          <a:p>
            <a:pPr marL="76200" marR="182880">
              <a:lnSpc>
                <a:spcPts val="1150"/>
              </a:lnSpc>
              <a:spcBef>
                <a:spcPts val="95"/>
              </a:spcBef>
            </a:pPr>
            <a:r>
              <a:rPr sz="1100" i="1" spc="-45" dirty="0">
                <a:latin typeface="Calibri"/>
                <a:cs typeface="Calibri"/>
              </a:rPr>
              <a:t>d</a:t>
            </a:r>
            <a:r>
              <a:rPr sz="1100" spc="-45" dirty="0">
                <a:latin typeface="Georgia"/>
                <a:cs typeface="Georgia"/>
              </a:rPr>
              <a:t>–dimensional</a:t>
            </a:r>
            <a:r>
              <a:rPr sz="1100" spc="40" dirty="0">
                <a:latin typeface="Georgia"/>
                <a:cs typeface="Georgia"/>
              </a:rPr>
              <a:t> </a:t>
            </a:r>
            <a:r>
              <a:rPr sz="1100" spc="-30" dirty="0">
                <a:latin typeface="Georgia"/>
                <a:cs typeface="Georgia"/>
              </a:rPr>
              <a:t>representative</a:t>
            </a:r>
            <a:r>
              <a:rPr sz="1100" spc="40" dirty="0">
                <a:latin typeface="Georgia"/>
                <a:cs typeface="Georgia"/>
              </a:rPr>
              <a:t> </a:t>
            </a:r>
            <a:r>
              <a:rPr sz="1100" dirty="0">
                <a:latin typeface="Georgia"/>
                <a:cs typeface="Georgia"/>
              </a:rPr>
              <a:t>will</a:t>
            </a:r>
            <a:r>
              <a:rPr sz="1100" spc="40" dirty="0">
                <a:latin typeface="Georgia"/>
                <a:cs typeface="Georgia"/>
              </a:rPr>
              <a:t> </a:t>
            </a:r>
            <a:r>
              <a:rPr sz="1100" dirty="0">
                <a:latin typeface="Georgia"/>
                <a:cs typeface="Georgia"/>
              </a:rPr>
              <a:t>(typically)</a:t>
            </a:r>
            <a:r>
              <a:rPr sz="1100" spc="40" dirty="0">
                <a:latin typeface="Georgia"/>
                <a:cs typeface="Georgia"/>
              </a:rPr>
              <a:t> </a:t>
            </a:r>
            <a:r>
              <a:rPr sz="1100" dirty="0">
                <a:latin typeface="Georgia"/>
                <a:cs typeface="Georgia"/>
              </a:rPr>
              <a:t>not</a:t>
            </a:r>
            <a:r>
              <a:rPr sz="1100" spc="40" dirty="0">
                <a:latin typeface="Georgia"/>
                <a:cs typeface="Georgia"/>
              </a:rPr>
              <a:t> </a:t>
            </a:r>
            <a:r>
              <a:rPr sz="1100" spc="-10" dirty="0">
                <a:latin typeface="Georgia"/>
                <a:cs typeface="Georgia"/>
              </a:rPr>
              <a:t>belong</a:t>
            </a:r>
            <a:r>
              <a:rPr sz="1100" spc="40" dirty="0">
                <a:latin typeface="Georgia"/>
                <a:cs typeface="Georgia"/>
              </a:rPr>
              <a:t> </a:t>
            </a:r>
            <a:r>
              <a:rPr sz="1100" dirty="0">
                <a:latin typeface="Georgia"/>
                <a:cs typeface="Georgia"/>
              </a:rPr>
              <a:t>to</a:t>
            </a:r>
            <a:r>
              <a:rPr sz="1100" spc="45" dirty="0">
                <a:latin typeface="Georgia"/>
                <a:cs typeface="Georgia"/>
              </a:rPr>
              <a:t> </a:t>
            </a:r>
            <a:r>
              <a:rPr sz="1100" dirty="0">
                <a:latin typeface="Georgia"/>
                <a:cs typeface="Georgia"/>
              </a:rPr>
              <a:t>the</a:t>
            </a:r>
            <a:r>
              <a:rPr sz="1100" spc="40" dirty="0">
                <a:latin typeface="Georgia"/>
                <a:cs typeface="Georgia"/>
              </a:rPr>
              <a:t> </a:t>
            </a:r>
            <a:r>
              <a:rPr sz="1100" spc="-20" dirty="0">
                <a:latin typeface="Georgia"/>
                <a:cs typeface="Georgia"/>
              </a:rPr>
              <a:t>original</a:t>
            </a:r>
            <a:r>
              <a:rPr sz="1100" spc="40" dirty="0">
                <a:latin typeface="Georgia"/>
                <a:cs typeface="Georgia"/>
              </a:rPr>
              <a:t> </a:t>
            </a:r>
            <a:r>
              <a:rPr sz="1100" dirty="0">
                <a:latin typeface="Georgia"/>
                <a:cs typeface="Georgia"/>
              </a:rPr>
              <a:t>dataset</a:t>
            </a:r>
            <a:r>
              <a:rPr sz="1100" spc="40" dirty="0">
                <a:latin typeface="Georgia"/>
                <a:cs typeface="Georgia"/>
              </a:rPr>
              <a:t> </a:t>
            </a:r>
            <a:r>
              <a:rPr sz="1100" spc="45" dirty="0">
                <a:latin typeface="Cambria"/>
                <a:cs typeface="Cambria"/>
              </a:rPr>
              <a:t>D</a:t>
            </a:r>
            <a:r>
              <a:rPr sz="1100" spc="45" dirty="0">
                <a:latin typeface="Georgia"/>
                <a:cs typeface="Georgia"/>
              </a:rPr>
              <a:t>. </a:t>
            </a:r>
            <a:r>
              <a:rPr sz="1100" dirty="0">
                <a:latin typeface="Georgia"/>
                <a:cs typeface="Georgia"/>
              </a:rPr>
              <a:t>The</a:t>
            </a:r>
            <a:r>
              <a:rPr sz="1100" spc="45" dirty="0">
                <a:latin typeface="Georgia"/>
                <a:cs typeface="Georgia"/>
              </a:rPr>
              <a:t> </a:t>
            </a:r>
            <a:r>
              <a:rPr sz="1100" i="1" spc="-35" dirty="0">
                <a:latin typeface="Calibri"/>
                <a:cs typeface="Calibri"/>
              </a:rPr>
              <a:t>k</a:t>
            </a:r>
            <a:r>
              <a:rPr sz="1100" spc="-35" dirty="0">
                <a:latin typeface="Georgia"/>
                <a:cs typeface="Georgia"/>
              </a:rPr>
              <a:t>–medians</a:t>
            </a:r>
            <a:r>
              <a:rPr sz="1100" spc="45" dirty="0">
                <a:latin typeface="Georgia"/>
                <a:cs typeface="Georgia"/>
              </a:rPr>
              <a:t> </a:t>
            </a:r>
            <a:r>
              <a:rPr sz="1100" spc="-25" dirty="0">
                <a:latin typeface="Georgia"/>
                <a:cs typeface="Georgia"/>
              </a:rPr>
              <a:t>approach</a:t>
            </a:r>
            <a:r>
              <a:rPr sz="1100" spc="50" dirty="0">
                <a:latin typeface="Georgia"/>
                <a:cs typeface="Georgia"/>
              </a:rPr>
              <a:t> </a:t>
            </a:r>
            <a:r>
              <a:rPr sz="1100" dirty="0">
                <a:latin typeface="Georgia"/>
                <a:cs typeface="Georgia"/>
              </a:rPr>
              <a:t>is</a:t>
            </a:r>
            <a:r>
              <a:rPr sz="1100" spc="45" dirty="0">
                <a:latin typeface="Georgia"/>
                <a:cs typeface="Georgia"/>
              </a:rPr>
              <a:t> </a:t>
            </a:r>
            <a:r>
              <a:rPr sz="1100" spc="-40" dirty="0">
                <a:latin typeface="Georgia"/>
                <a:cs typeface="Georgia"/>
              </a:rPr>
              <a:t>sometimes</a:t>
            </a:r>
            <a:r>
              <a:rPr sz="1100" spc="50" dirty="0">
                <a:latin typeface="Georgia"/>
                <a:cs typeface="Georgia"/>
              </a:rPr>
              <a:t> </a:t>
            </a:r>
            <a:r>
              <a:rPr sz="1100" spc="-35" dirty="0">
                <a:latin typeface="Georgia"/>
                <a:cs typeface="Georgia"/>
              </a:rPr>
              <a:t>confused</a:t>
            </a:r>
            <a:r>
              <a:rPr sz="1100" spc="45" dirty="0">
                <a:latin typeface="Georgia"/>
                <a:cs typeface="Georgia"/>
              </a:rPr>
              <a:t> </a:t>
            </a:r>
            <a:r>
              <a:rPr sz="1100" dirty="0">
                <a:latin typeface="Georgia"/>
                <a:cs typeface="Georgia"/>
              </a:rPr>
              <a:t>with</a:t>
            </a:r>
            <a:r>
              <a:rPr sz="1100" spc="50" dirty="0">
                <a:latin typeface="Georgia"/>
                <a:cs typeface="Georgia"/>
              </a:rPr>
              <a:t> </a:t>
            </a:r>
            <a:r>
              <a:rPr sz="1100" dirty="0">
                <a:latin typeface="Georgia"/>
                <a:cs typeface="Georgia"/>
              </a:rPr>
              <a:t>the</a:t>
            </a:r>
            <a:r>
              <a:rPr sz="1100" spc="45" dirty="0">
                <a:latin typeface="Georgia"/>
                <a:cs typeface="Georgia"/>
              </a:rPr>
              <a:t> </a:t>
            </a:r>
            <a:r>
              <a:rPr sz="1100" i="1" spc="-40" dirty="0">
                <a:latin typeface="Calibri"/>
                <a:cs typeface="Calibri"/>
              </a:rPr>
              <a:t>k</a:t>
            </a:r>
            <a:r>
              <a:rPr sz="1100" spc="-40" dirty="0">
                <a:latin typeface="Georgia"/>
                <a:cs typeface="Georgia"/>
              </a:rPr>
              <a:t>–medoids</a:t>
            </a:r>
            <a:r>
              <a:rPr sz="1100" spc="45" dirty="0">
                <a:latin typeface="Georgia"/>
                <a:cs typeface="Georgia"/>
              </a:rPr>
              <a:t> </a:t>
            </a:r>
            <a:r>
              <a:rPr sz="1100" spc="-10" dirty="0">
                <a:latin typeface="Georgia"/>
                <a:cs typeface="Georgia"/>
              </a:rPr>
              <a:t>approach, </a:t>
            </a:r>
            <a:r>
              <a:rPr sz="1100" spc="-20" dirty="0">
                <a:latin typeface="Georgia"/>
                <a:cs typeface="Georgia"/>
              </a:rPr>
              <a:t>which</a:t>
            </a:r>
            <a:r>
              <a:rPr sz="1100" spc="15" dirty="0">
                <a:latin typeface="Georgia"/>
                <a:cs typeface="Georgia"/>
              </a:rPr>
              <a:t> </a:t>
            </a:r>
            <a:r>
              <a:rPr sz="1100" spc="-35" dirty="0">
                <a:latin typeface="Georgia"/>
                <a:cs typeface="Georgia"/>
              </a:rPr>
              <a:t>chooses</a:t>
            </a:r>
            <a:r>
              <a:rPr sz="1100" spc="20" dirty="0">
                <a:latin typeface="Georgia"/>
                <a:cs typeface="Georgia"/>
              </a:rPr>
              <a:t> </a:t>
            </a:r>
            <a:r>
              <a:rPr sz="1100" spc="-10" dirty="0">
                <a:latin typeface="Georgia"/>
                <a:cs typeface="Georgia"/>
              </a:rPr>
              <a:t>these</a:t>
            </a:r>
            <a:r>
              <a:rPr sz="1100" spc="20" dirty="0">
                <a:latin typeface="Georgia"/>
                <a:cs typeface="Georgia"/>
              </a:rPr>
              <a:t> </a:t>
            </a:r>
            <a:r>
              <a:rPr sz="1100" spc="-30" dirty="0">
                <a:latin typeface="Georgia"/>
                <a:cs typeface="Georgia"/>
              </a:rPr>
              <a:t>representatives</a:t>
            </a:r>
            <a:r>
              <a:rPr sz="1100" spc="15" dirty="0">
                <a:latin typeface="Georgia"/>
                <a:cs typeface="Georgia"/>
              </a:rPr>
              <a:t> </a:t>
            </a:r>
            <a:r>
              <a:rPr sz="1100" spc="-25" dirty="0">
                <a:latin typeface="Georgia"/>
                <a:cs typeface="Georgia"/>
              </a:rPr>
              <a:t>from</a:t>
            </a:r>
            <a:r>
              <a:rPr sz="1100" spc="20" dirty="0">
                <a:latin typeface="Georgia"/>
                <a:cs typeface="Georgia"/>
              </a:rPr>
              <a:t> </a:t>
            </a:r>
            <a:r>
              <a:rPr sz="1100" dirty="0">
                <a:latin typeface="Georgia"/>
                <a:cs typeface="Georgia"/>
              </a:rPr>
              <a:t>the</a:t>
            </a:r>
            <a:r>
              <a:rPr sz="1100" spc="20" dirty="0">
                <a:latin typeface="Georgia"/>
                <a:cs typeface="Georgia"/>
              </a:rPr>
              <a:t> </a:t>
            </a:r>
            <a:r>
              <a:rPr sz="1100" spc="-20" dirty="0">
                <a:latin typeface="Georgia"/>
                <a:cs typeface="Georgia"/>
              </a:rPr>
              <a:t>original</a:t>
            </a:r>
            <a:r>
              <a:rPr sz="1100" spc="15" dirty="0">
                <a:latin typeface="Georgia"/>
                <a:cs typeface="Georgia"/>
              </a:rPr>
              <a:t> </a:t>
            </a:r>
            <a:r>
              <a:rPr sz="1100" spc="-10" dirty="0">
                <a:latin typeface="Georgia"/>
                <a:cs typeface="Georgia"/>
              </a:rPr>
              <a:t>database</a:t>
            </a:r>
            <a:r>
              <a:rPr sz="1100" spc="20" dirty="0">
                <a:latin typeface="Georgia"/>
                <a:cs typeface="Georgia"/>
              </a:rPr>
              <a:t> </a:t>
            </a:r>
            <a:r>
              <a:rPr sz="1100" spc="45" dirty="0">
                <a:latin typeface="Cambria"/>
                <a:cs typeface="Cambria"/>
              </a:rPr>
              <a:t>D</a:t>
            </a:r>
            <a:r>
              <a:rPr sz="1100" spc="45" dirty="0">
                <a:latin typeface="Georgia"/>
                <a:cs typeface="Georgia"/>
              </a:rPr>
              <a:t>.</a:t>
            </a:r>
            <a:endParaRPr sz="1100">
              <a:latin typeface="Georgia"/>
              <a:cs typeface="Georgia"/>
            </a:endParaRPr>
          </a:p>
          <a:p>
            <a:pPr marL="76200" marR="17780">
              <a:lnSpc>
                <a:spcPts val="1150"/>
              </a:lnSpc>
              <a:spcBef>
                <a:spcPts val="730"/>
              </a:spcBef>
            </a:pPr>
            <a:r>
              <a:rPr sz="1100" dirty="0">
                <a:latin typeface="Georgia"/>
                <a:cs typeface="Georgia"/>
              </a:rPr>
              <a:t>The</a:t>
            </a:r>
            <a:r>
              <a:rPr sz="1100" spc="40" dirty="0">
                <a:latin typeface="Georgia"/>
                <a:cs typeface="Georgia"/>
              </a:rPr>
              <a:t> </a:t>
            </a:r>
            <a:r>
              <a:rPr sz="1100" i="1" spc="-35" dirty="0">
                <a:latin typeface="Calibri"/>
                <a:cs typeface="Calibri"/>
              </a:rPr>
              <a:t>k</a:t>
            </a:r>
            <a:r>
              <a:rPr sz="1100" spc="-35" dirty="0">
                <a:latin typeface="Georgia"/>
                <a:cs typeface="Georgia"/>
              </a:rPr>
              <a:t>–medians</a:t>
            </a:r>
            <a:r>
              <a:rPr sz="1100" spc="40" dirty="0">
                <a:latin typeface="Georgia"/>
                <a:cs typeface="Georgia"/>
              </a:rPr>
              <a:t> </a:t>
            </a:r>
            <a:r>
              <a:rPr sz="1100" spc="-25" dirty="0">
                <a:latin typeface="Georgia"/>
                <a:cs typeface="Georgia"/>
              </a:rPr>
              <a:t>approach</a:t>
            </a:r>
            <a:r>
              <a:rPr sz="1100" spc="40" dirty="0">
                <a:latin typeface="Georgia"/>
                <a:cs typeface="Georgia"/>
              </a:rPr>
              <a:t> </a:t>
            </a:r>
            <a:r>
              <a:rPr sz="1100" spc="-20" dirty="0">
                <a:latin typeface="Georgia"/>
                <a:cs typeface="Georgia"/>
              </a:rPr>
              <a:t>generally</a:t>
            </a:r>
            <a:r>
              <a:rPr sz="1100" spc="45" dirty="0">
                <a:latin typeface="Georgia"/>
                <a:cs typeface="Georgia"/>
              </a:rPr>
              <a:t> </a:t>
            </a:r>
            <a:r>
              <a:rPr sz="1100" spc="-20" dirty="0">
                <a:latin typeface="Georgia"/>
                <a:cs typeface="Georgia"/>
              </a:rPr>
              <a:t>selects</a:t>
            </a:r>
            <a:r>
              <a:rPr sz="1100" spc="40" dirty="0">
                <a:latin typeface="Georgia"/>
                <a:cs typeface="Georgia"/>
              </a:rPr>
              <a:t> </a:t>
            </a:r>
            <a:r>
              <a:rPr sz="1100" spc="-10" dirty="0">
                <a:latin typeface="Georgia"/>
                <a:cs typeface="Georgia"/>
              </a:rPr>
              <a:t>cluster</a:t>
            </a:r>
            <a:r>
              <a:rPr sz="1100" spc="40" dirty="0">
                <a:latin typeface="Georgia"/>
                <a:cs typeface="Georgia"/>
              </a:rPr>
              <a:t> </a:t>
            </a:r>
            <a:r>
              <a:rPr sz="1100" spc="-30" dirty="0">
                <a:latin typeface="Georgia"/>
                <a:cs typeface="Georgia"/>
              </a:rPr>
              <a:t>representatives</a:t>
            </a:r>
            <a:r>
              <a:rPr sz="1100" spc="45" dirty="0">
                <a:latin typeface="Georgia"/>
                <a:cs typeface="Georgia"/>
              </a:rPr>
              <a:t> </a:t>
            </a:r>
            <a:r>
              <a:rPr sz="1100" dirty="0">
                <a:latin typeface="Georgia"/>
                <a:cs typeface="Georgia"/>
              </a:rPr>
              <a:t>in</a:t>
            </a:r>
            <a:r>
              <a:rPr sz="1100" spc="40" dirty="0">
                <a:latin typeface="Georgia"/>
                <a:cs typeface="Georgia"/>
              </a:rPr>
              <a:t> </a:t>
            </a:r>
            <a:r>
              <a:rPr sz="1100" dirty="0">
                <a:latin typeface="Georgia"/>
                <a:cs typeface="Georgia"/>
              </a:rPr>
              <a:t>a</a:t>
            </a:r>
            <a:r>
              <a:rPr sz="1100" spc="40" dirty="0">
                <a:latin typeface="Georgia"/>
                <a:cs typeface="Georgia"/>
              </a:rPr>
              <a:t> </a:t>
            </a:r>
            <a:r>
              <a:rPr sz="1100" spc="-30" dirty="0">
                <a:latin typeface="Georgia"/>
                <a:cs typeface="Georgia"/>
              </a:rPr>
              <a:t>more</a:t>
            </a:r>
            <a:r>
              <a:rPr sz="1100" spc="40" dirty="0">
                <a:latin typeface="Georgia"/>
                <a:cs typeface="Georgia"/>
              </a:rPr>
              <a:t> </a:t>
            </a:r>
            <a:r>
              <a:rPr sz="1100" spc="-10" dirty="0">
                <a:latin typeface="Georgia"/>
                <a:cs typeface="Georgia"/>
              </a:rPr>
              <a:t>robust </a:t>
            </a:r>
            <a:r>
              <a:rPr sz="1100" dirty="0">
                <a:latin typeface="Georgia"/>
                <a:cs typeface="Georgia"/>
              </a:rPr>
              <a:t>way</a:t>
            </a:r>
            <a:r>
              <a:rPr sz="1100" spc="30" dirty="0">
                <a:latin typeface="Georgia"/>
                <a:cs typeface="Georgia"/>
              </a:rPr>
              <a:t> </a:t>
            </a:r>
            <a:r>
              <a:rPr sz="1100" dirty="0">
                <a:latin typeface="Georgia"/>
                <a:cs typeface="Georgia"/>
              </a:rPr>
              <a:t>than</a:t>
            </a:r>
            <a:r>
              <a:rPr sz="1100" spc="30" dirty="0">
                <a:latin typeface="Georgia"/>
                <a:cs typeface="Georgia"/>
              </a:rPr>
              <a:t> </a:t>
            </a:r>
            <a:r>
              <a:rPr sz="1100" i="1" spc="-30" dirty="0">
                <a:latin typeface="Calibri"/>
                <a:cs typeface="Calibri"/>
              </a:rPr>
              <a:t>k</a:t>
            </a:r>
            <a:r>
              <a:rPr sz="1100" spc="-30" dirty="0">
                <a:latin typeface="Georgia"/>
                <a:cs typeface="Georgia"/>
              </a:rPr>
              <a:t>–means,</a:t>
            </a:r>
            <a:r>
              <a:rPr sz="1100" spc="30" dirty="0">
                <a:latin typeface="Georgia"/>
                <a:cs typeface="Georgia"/>
              </a:rPr>
              <a:t> </a:t>
            </a:r>
            <a:r>
              <a:rPr sz="1100" spc="-20" dirty="0">
                <a:latin typeface="Georgia"/>
                <a:cs typeface="Georgia"/>
              </a:rPr>
              <a:t>because</a:t>
            </a:r>
            <a:r>
              <a:rPr sz="1100" spc="30" dirty="0">
                <a:latin typeface="Georgia"/>
                <a:cs typeface="Georgia"/>
              </a:rPr>
              <a:t> </a:t>
            </a:r>
            <a:r>
              <a:rPr sz="1100" dirty="0">
                <a:latin typeface="Georgia"/>
                <a:cs typeface="Georgia"/>
              </a:rPr>
              <a:t>the</a:t>
            </a:r>
            <a:r>
              <a:rPr sz="1100" spc="30" dirty="0">
                <a:latin typeface="Georgia"/>
                <a:cs typeface="Georgia"/>
              </a:rPr>
              <a:t> </a:t>
            </a:r>
            <a:r>
              <a:rPr sz="1100" spc="-30" dirty="0">
                <a:latin typeface="Georgia"/>
                <a:cs typeface="Georgia"/>
              </a:rPr>
              <a:t>median</a:t>
            </a:r>
            <a:r>
              <a:rPr sz="1100" spc="30" dirty="0">
                <a:latin typeface="Georgia"/>
                <a:cs typeface="Georgia"/>
              </a:rPr>
              <a:t> </a:t>
            </a:r>
            <a:r>
              <a:rPr sz="1100" dirty="0">
                <a:latin typeface="Georgia"/>
                <a:cs typeface="Georgia"/>
              </a:rPr>
              <a:t>is</a:t>
            </a:r>
            <a:r>
              <a:rPr sz="1100" spc="30" dirty="0">
                <a:latin typeface="Georgia"/>
                <a:cs typeface="Georgia"/>
              </a:rPr>
              <a:t> </a:t>
            </a:r>
            <a:r>
              <a:rPr sz="1100" dirty="0">
                <a:latin typeface="Georgia"/>
                <a:cs typeface="Georgia"/>
              </a:rPr>
              <a:t>not</a:t>
            </a:r>
            <a:r>
              <a:rPr sz="1100" spc="30" dirty="0">
                <a:latin typeface="Georgia"/>
                <a:cs typeface="Georgia"/>
              </a:rPr>
              <a:t> </a:t>
            </a:r>
            <a:r>
              <a:rPr sz="1100" dirty="0">
                <a:latin typeface="Georgia"/>
                <a:cs typeface="Georgia"/>
              </a:rPr>
              <a:t>as</a:t>
            </a:r>
            <a:r>
              <a:rPr sz="1100" spc="30" dirty="0">
                <a:latin typeface="Georgia"/>
                <a:cs typeface="Georgia"/>
              </a:rPr>
              <a:t> </a:t>
            </a:r>
            <a:r>
              <a:rPr sz="1100" spc="-25" dirty="0">
                <a:latin typeface="Georgia"/>
                <a:cs typeface="Georgia"/>
              </a:rPr>
              <a:t>sensitive</a:t>
            </a:r>
            <a:r>
              <a:rPr sz="1100" spc="30" dirty="0">
                <a:latin typeface="Georgia"/>
                <a:cs typeface="Georgia"/>
              </a:rPr>
              <a:t> </a:t>
            </a:r>
            <a:r>
              <a:rPr sz="1100" dirty="0">
                <a:latin typeface="Georgia"/>
                <a:cs typeface="Georgia"/>
              </a:rPr>
              <a:t>to</a:t>
            </a:r>
            <a:r>
              <a:rPr sz="1100" spc="35" dirty="0">
                <a:latin typeface="Georgia"/>
                <a:cs typeface="Georgia"/>
              </a:rPr>
              <a:t> </a:t>
            </a:r>
            <a:r>
              <a:rPr sz="1100" dirty="0">
                <a:latin typeface="Georgia"/>
                <a:cs typeface="Georgia"/>
              </a:rPr>
              <a:t>the</a:t>
            </a:r>
            <a:r>
              <a:rPr sz="1100" spc="30" dirty="0">
                <a:latin typeface="Georgia"/>
                <a:cs typeface="Georgia"/>
              </a:rPr>
              <a:t> </a:t>
            </a:r>
            <a:r>
              <a:rPr sz="1100" spc="-35" dirty="0">
                <a:latin typeface="Georgia"/>
                <a:cs typeface="Georgia"/>
              </a:rPr>
              <a:t>presence</a:t>
            </a:r>
            <a:r>
              <a:rPr sz="1100" spc="30" dirty="0">
                <a:latin typeface="Georgia"/>
                <a:cs typeface="Georgia"/>
              </a:rPr>
              <a:t> </a:t>
            </a:r>
            <a:r>
              <a:rPr sz="1100" dirty="0">
                <a:latin typeface="Georgia"/>
                <a:cs typeface="Georgia"/>
              </a:rPr>
              <a:t>of</a:t>
            </a:r>
            <a:r>
              <a:rPr sz="1100" spc="30" dirty="0">
                <a:latin typeface="Georgia"/>
                <a:cs typeface="Georgia"/>
              </a:rPr>
              <a:t> </a:t>
            </a:r>
            <a:r>
              <a:rPr sz="1100" spc="-10" dirty="0">
                <a:latin typeface="Georgia"/>
                <a:cs typeface="Georgia"/>
              </a:rPr>
              <a:t>outliers </a:t>
            </a:r>
            <a:r>
              <a:rPr sz="1100" dirty="0">
                <a:latin typeface="Georgia"/>
                <a:cs typeface="Georgia"/>
              </a:rPr>
              <a:t>in</a:t>
            </a:r>
            <a:r>
              <a:rPr sz="1100" spc="25" dirty="0">
                <a:latin typeface="Georgia"/>
                <a:cs typeface="Georgia"/>
              </a:rPr>
              <a:t> </a:t>
            </a:r>
            <a:r>
              <a:rPr sz="1100" dirty="0">
                <a:latin typeface="Georgia"/>
                <a:cs typeface="Georgia"/>
              </a:rPr>
              <a:t>the</a:t>
            </a:r>
            <a:r>
              <a:rPr sz="1100" spc="25" dirty="0">
                <a:latin typeface="Georgia"/>
                <a:cs typeface="Georgia"/>
              </a:rPr>
              <a:t> </a:t>
            </a:r>
            <a:r>
              <a:rPr sz="1100" spc="-10" dirty="0">
                <a:latin typeface="Georgia"/>
                <a:cs typeface="Georgia"/>
              </a:rPr>
              <a:t>cluster</a:t>
            </a:r>
            <a:r>
              <a:rPr sz="1100" spc="25" dirty="0">
                <a:latin typeface="Georgia"/>
                <a:cs typeface="Georgia"/>
              </a:rPr>
              <a:t> </a:t>
            </a:r>
            <a:r>
              <a:rPr sz="1100" dirty="0">
                <a:latin typeface="Georgia"/>
                <a:cs typeface="Georgia"/>
              </a:rPr>
              <a:t>as</a:t>
            </a:r>
            <a:r>
              <a:rPr sz="1100" spc="25" dirty="0">
                <a:latin typeface="Georgia"/>
                <a:cs typeface="Georgia"/>
              </a:rPr>
              <a:t> </a:t>
            </a:r>
            <a:r>
              <a:rPr sz="1100" dirty="0">
                <a:latin typeface="Georgia"/>
                <a:cs typeface="Georgia"/>
              </a:rPr>
              <a:t>the</a:t>
            </a:r>
            <a:r>
              <a:rPr sz="1100" spc="25" dirty="0">
                <a:latin typeface="Georgia"/>
                <a:cs typeface="Georgia"/>
              </a:rPr>
              <a:t> </a:t>
            </a:r>
            <a:r>
              <a:rPr sz="1100" spc="-20" dirty="0">
                <a:latin typeface="Georgia"/>
                <a:cs typeface="Georgia"/>
              </a:rPr>
              <a:t>mean.</a:t>
            </a:r>
            <a:endParaRPr sz="1100">
              <a:latin typeface="Georgia"/>
              <a:cs typeface="Georgia"/>
            </a:endParaRPr>
          </a:p>
        </p:txBody>
      </p:sp>
      <p:grpSp>
        <p:nvGrpSpPr>
          <p:cNvPr id="18" name="object 18"/>
          <p:cNvGrpSpPr/>
          <p:nvPr/>
        </p:nvGrpSpPr>
        <p:grpSpPr>
          <a:xfrm>
            <a:off x="0" y="3121545"/>
            <a:ext cx="5760085" cy="118745"/>
            <a:chOff x="0" y="3121545"/>
            <a:chExt cx="5760085" cy="118745"/>
          </a:xfrm>
        </p:grpSpPr>
        <p:sp>
          <p:nvSpPr>
            <p:cNvPr id="19" name="object 19"/>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20" name="object 20"/>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21" name="object 21"/>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22" name="object 22"/>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3" action="ppaction://hlinksldjump"/>
              </a:rPr>
              <a:t>data</a:t>
            </a:r>
            <a:r>
              <a:rPr sz="600" spc="110" dirty="0">
                <a:solidFill>
                  <a:srgbClr val="7A0000"/>
                </a:solidFill>
                <a:latin typeface="Georgia"/>
                <a:cs typeface="Georgia"/>
                <a:hlinkClick r:id="rId3" action="ppaction://hlinksldjump"/>
              </a:rPr>
              <a:t> </a:t>
            </a:r>
            <a:r>
              <a:rPr sz="600" spc="-10" dirty="0">
                <a:solidFill>
                  <a:srgbClr val="7A0000"/>
                </a:solidFill>
                <a:latin typeface="Georgia"/>
                <a:cs typeface="Georgia"/>
                <a:hlinkClick r:id="rId3" action="ppaction://hlinksldjump"/>
              </a:rPr>
              <a:t>clustering</a:t>
            </a:r>
            <a:endParaRPr sz="600">
              <a:latin typeface="Georgia"/>
              <a:cs typeface="Georgia"/>
            </a:endParaRPr>
          </a:p>
        </p:txBody>
      </p:sp>
      <p:sp>
        <p:nvSpPr>
          <p:cNvPr id="23" name="object 23"/>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72</a:t>
            </a:fld>
            <a:r>
              <a:rPr dirty="0"/>
              <a:t> </a:t>
            </a:r>
            <a:r>
              <a:rPr spc="75" dirty="0"/>
              <a:t>/</a:t>
            </a:r>
            <a:r>
              <a:rPr spc="5" dirty="0"/>
              <a:t> </a:t>
            </a:r>
            <a:r>
              <a:rPr spc="35" dirty="0"/>
              <a:t>135</a:t>
            </a:r>
          </a:p>
        </p:txBody>
      </p:sp>
      <p:pic>
        <p:nvPicPr>
          <p:cNvPr id="24" name="Picture 23">
            <a:extLst>
              <a:ext uri="{FF2B5EF4-FFF2-40B4-BE49-F238E27FC236}">
                <a16:creationId xmlns:a16="http://schemas.microsoft.com/office/drawing/2014/main" id="{E4965F73-1676-C13A-0DB1-DF897C017B87}"/>
              </a:ext>
            </a:extLst>
          </p:cNvPr>
          <p:cNvPicPr>
            <a:picLocks noChangeAspect="1"/>
          </p:cNvPicPr>
          <p:nvPr/>
        </p:nvPicPr>
        <p:blipFill>
          <a:blip r:embed="rId4"/>
          <a:stretch>
            <a:fillRect/>
          </a:stretch>
        </p:blipFill>
        <p:spPr>
          <a:xfrm>
            <a:off x="1622630" y="901767"/>
            <a:ext cx="2785338" cy="465584"/>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Outline</a:t>
            </a:r>
          </a:p>
        </p:txBody>
      </p:sp>
      <p:sp>
        <p:nvSpPr>
          <p:cNvPr id="3" name="object 3"/>
          <p:cNvSpPr/>
          <p:nvPr/>
        </p:nvSpPr>
        <p:spPr>
          <a:xfrm>
            <a:off x="171615" y="515531"/>
            <a:ext cx="122555" cy="122555"/>
          </a:xfrm>
          <a:custGeom>
            <a:avLst/>
            <a:gdLst/>
            <a:ahLst/>
            <a:cxnLst/>
            <a:rect l="l" t="t" r="r" b="b"/>
            <a:pathLst>
              <a:path w="122554" h="122554">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4" name="object 4"/>
          <p:cNvSpPr/>
          <p:nvPr/>
        </p:nvSpPr>
        <p:spPr>
          <a:xfrm>
            <a:off x="171615" y="819784"/>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5" name="object 5"/>
          <p:cNvSpPr/>
          <p:nvPr/>
        </p:nvSpPr>
        <p:spPr>
          <a:xfrm>
            <a:off x="171615" y="1124038"/>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6" name="object 6"/>
          <p:cNvSpPr/>
          <p:nvPr/>
        </p:nvSpPr>
        <p:spPr>
          <a:xfrm>
            <a:off x="171615" y="1428280"/>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7" name="object 7"/>
          <p:cNvSpPr/>
          <p:nvPr/>
        </p:nvSpPr>
        <p:spPr>
          <a:xfrm>
            <a:off x="171615" y="1732533"/>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3333B3"/>
          </a:solidFill>
        </p:spPr>
        <p:txBody>
          <a:bodyPr wrap="square" lIns="0" tIns="0" rIns="0" bIns="0" rtlCol="0"/>
          <a:lstStyle/>
          <a:p>
            <a:endParaRPr/>
          </a:p>
        </p:txBody>
      </p:sp>
      <p:sp>
        <p:nvSpPr>
          <p:cNvPr id="8" name="object 8"/>
          <p:cNvSpPr/>
          <p:nvPr/>
        </p:nvSpPr>
        <p:spPr>
          <a:xfrm>
            <a:off x="171615" y="2036787"/>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9" name="object 9"/>
          <p:cNvSpPr/>
          <p:nvPr/>
        </p:nvSpPr>
        <p:spPr>
          <a:xfrm>
            <a:off x="171615" y="2341041"/>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0" name="object 10"/>
          <p:cNvSpPr/>
          <p:nvPr/>
        </p:nvSpPr>
        <p:spPr>
          <a:xfrm>
            <a:off x="171615" y="2645282"/>
            <a:ext cx="122555" cy="122555"/>
          </a:xfrm>
          <a:custGeom>
            <a:avLst/>
            <a:gdLst/>
            <a:ahLst/>
            <a:cxnLst/>
            <a:rect l="l" t="t" r="r" b="b"/>
            <a:pathLst>
              <a:path w="122554" h="122555">
                <a:moveTo>
                  <a:pt x="122542" y="0"/>
                </a:moveTo>
                <a:lnTo>
                  <a:pt x="0" y="0"/>
                </a:lnTo>
                <a:lnTo>
                  <a:pt x="0" y="122542"/>
                </a:lnTo>
                <a:lnTo>
                  <a:pt x="122542" y="122542"/>
                </a:lnTo>
                <a:lnTo>
                  <a:pt x="122542" y="0"/>
                </a:lnTo>
                <a:close/>
              </a:path>
            </a:pathLst>
          </a:custGeom>
          <a:solidFill>
            <a:srgbClr val="D6D6F0"/>
          </a:solidFill>
        </p:spPr>
        <p:txBody>
          <a:bodyPr wrap="square" lIns="0" tIns="0" rIns="0" bIns="0" rtlCol="0"/>
          <a:lstStyle/>
          <a:p>
            <a:endParaRPr/>
          </a:p>
        </p:txBody>
      </p:sp>
      <p:sp>
        <p:nvSpPr>
          <p:cNvPr id="11" name="object 11"/>
          <p:cNvSpPr txBox="1"/>
          <p:nvPr/>
        </p:nvSpPr>
        <p:spPr>
          <a:xfrm>
            <a:off x="188556" y="465047"/>
            <a:ext cx="2435225" cy="2321560"/>
          </a:xfrm>
          <a:prstGeom prst="rect">
            <a:avLst/>
          </a:prstGeom>
        </p:spPr>
        <p:txBody>
          <a:bodyPr vert="horz" wrap="square" lIns="0" tIns="11430" rIns="0" bIns="0" rtlCol="0">
            <a:spAutoFit/>
          </a:bodyPr>
          <a:lstStyle/>
          <a:p>
            <a:pPr marL="178435" indent="-165735">
              <a:lnSpc>
                <a:spcPct val="100000"/>
              </a:lnSpc>
              <a:spcBef>
                <a:spcPts val="90"/>
              </a:spcBef>
              <a:buClr>
                <a:srgbClr val="FFFFFF"/>
              </a:buClr>
              <a:buSzPct val="90909"/>
              <a:buAutoNum type="arabicPlain"/>
              <a:tabLst>
                <a:tab pos="178435" algn="l"/>
              </a:tabLst>
            </a:pPr>
            <a:r>
              <a:rPr sz="1100" dirty="0">
                <a:solidFill>
                  <a:srgbClr val="CCCCCC"/>
                </a:solidFill>
                <a:latin typeface="Georgia"/>
                <a:cs typeface="Georgia"/>
                <a:hlinkClick r:id="rId2" action="ppaction://hlinksldjump"/>
              </a:rPr>
              <a:t>Data</a:t>
            </a:r>
            <a:r>
              <a:rPr sz="1100" spc="90" dirty="0">
                <a:solidFill>
                  <a:srgbClr val="CCCCCC"/>
                </a:solidFill>
                <a:latin typeface="Georgia"/>
                <a:cs typeface="Georgia"/>
                <a:hlinkClick r:id="rId2" action="ppaction://hlinksldjump"/>
              </a:rPr>
              <a:t> </a:t>
            </a:r>
            <a:r>
              <a:rPr sz="1100" spc="-25" dirty="0">
                <a:solidFill>
                  <a:srgbClr val="CCCCCC"/>
                </a:solidFill>
                <a:latin typeface="Georgia"/>
                <a:cs typeface="Georgia"/>
                <a:hlinkClick r:id="rId2" action="ppaction://hlinksldjump"/>
              </a:rPr>
              <a:t>clustering</a:t>
            </a:r>
            <a:r>
              <a:rPr sz="1100" spc="90" dirty="0">
                <a:solidFill>
                  <a:srgbClr val="CCCCCC"/>
                </a:solidFill>
                <a:latin typeface="Georgia"/>
                <a:cs typeface="Georgia"/>
                <a:hlinkClick r:id="rId2" action="ppaction://hlinksldjump"/>
              </a:rPr>
              <a:t> </a:t>
            </a:r>
            <a:r>
              <a:rPr sz="1100" spc="-10" dirty="0">
                <a:solidFill>
                  <a:srgbClr val="CCCCCC"/>
                </a:solidFill>
                <a:latin typeface="Georgia"/>
                <a:cs typeface="Georgia"/>
                <a:hlinkClick r:id="rId2" action="ppaction://hlinksldjump"/>
              </a:rPr>
              <a:t>concepts</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dirty="0">
                <a:solidFill>
                  <a:srgbClr val="CCCCCC"/>
                </a:solidFill>
                <a:latin typeface="Georgia"/>
                <a:cs typeface="Georgia"/>
                <a:hlinkClick r:id="rId3" action="ppaction://hlinksldjump"/>
              </a:rPr>
              <a:t>Data</a:t>
            </a:r>
            <a:r>
              <a:rPr sz="1100" spc="60" dirty="0">
                <a:solidFill>
                  <a:srgbClr val="CCCCCC"/>
                </a:solidFill>
                <a:latin typeface="Georgia"/>
                <a:cs typeface="Georgia"/>
                <a:hlinkClick r:id="rId3" action="ppaction://hlinksldjump"/>
              </a:rPr>
              <a:t> </a:t>
            </a:r>
            <a:r>
              <a:rPr sz="1100" spc="-30" dirty="0">
                <a:solidFill>
                  <a:srgbClr val="CCCCCC"/>
                </a:solidFill>
                <a:latin typeface="Georgia"/>
                <a:cs typeface="Georgia"/>
                <a:hlinkClick r:id="rId3" action="ppaction://hlinksldjump"/>
              </a:rPr>
              <a:t>understanding</a:t>
            </a:r>
            <a:r>
              <a:rPr sz="1100" spc="65" dirty="0">
                <a:solidFill>
                  <a:srgbClr val="CCCCCC"/>
                </a:solidFill>
                <a:latin typeface="Georgia"/>
                <a:cs typeface="Georgia"/>
                <a:hlinkClick r:id="rId3" action="ppaction://hlinksldjump"/>
              </a:rPr>
              <a:t> </a:t>
            </a:r>
            <a:r>
              <a:rPr sz="1100" spc="-25" dirty="0">
                <a:solidFill>
                  <a:srgbClr val="CCCCCC"/>
                </a:solidFill>
                <a:latin typeface="Georgia"/>
                <a:cs typeface="Georgia"/>
                <a:hlinkClick r:id="rId3" action="ppaction://hlinksldjump"/>
              </a:rPr>
              <a:t>before</a:t>
            </a:r>
            <a:r>
              <a:rPr sz="1100" spc="60" dirty="0">
                <a:solidFill>
                  <a:srgbClr val="CCCCCC"/>
                </a:solidFill>
                <a:latin typeface="Georgia"/>
                <a:cs typeface="Georgia"/>
                <a:hlinkClick r:id="rId3" action="ppaction://hlinksldjump"/>
              </a:rPr>
              <a:t> </a:t>
            </a:r>
            <a:r>
              <a:rPr sz="1100" spc="-10" dirty="0">
                <a:solidFill>
                  <a:srgbClr val="CCCCCC"/>
                </a:solidFill>
                <a:latin typeface="Georgia"/>
                <a:cs typeface="Georgia"/>
                <a:hlinkClick r:id="rId3"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0" dirty="0">
                <a:solidFill>
                  <a:srgbClr val="CCCCCC"/>
                </a:solidFill>
                <a:latin typeface="Georgia"/>
                <a:cs typeface="Georgia"/>
                <a:hlinkClick r:id="rId4" action="ppaction://hlinksldjump"/>
              </a:rPr>
              <a:t>Hierarchical</a:t>
            </a:r>
            <a:r>
              <a:rPr sz="1100" spc="30" dirty="0">
                <a:solidFill>
                  <a:srgbClr val="CCCCCC"/>
                </a:solidFill>
                <a:latin typeface="Georgia"/>
                <a:cs typeface="Georgia"/>
                <a:hlinkClick r:id="rId4" action="ppaction://hlinksldjump"/>
              </a:rPr>
              <a:t> </a:t>
            </a:r>
            <a:r>
              <a:rPr sz="1100" spc="-10" dirty="0">
                <a:solidFill>
                  <a:srgbClr val="CCCCCC"/>
                </a:solidFill>
                <a:latin typeface="Georgia"/>
                <a:cs typeface="Georgia"/>
                <a:hlinkClick r:id="rId4"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rId5" action="ppaction://hlinksldjump"/>
              </a:rPr>
              <a:t>Partitioning</a:t>
            </a:r>
            <a:r>
              <a:rPr sz="1100" spc="20" dirty="0">
                <a:solidFill>
                  <a:srgbClr val="CCCCCC"/>
                </a:solidFill>
                <a:latin typeface="Georgia"/>
                <a:cs typeface="Georgia"/>
                <a:hlinkClick r:id="rId5" action="ppaction://hlinksldjump"/>
              </a:rPr>
              <a:t> </a:t>
            </a:r>
            <a:r>
              <a:rPr sz="1100" spc="-10" dirty="0">
                <a:solidFill>
                  <a:srgbClr val="CCCCCC"/>
                </a:solidFill>
                <a:latin typeface="Georgia"/>
                <a:cs typeface="Georgia"/>
                <a:hlinkClick r:id="rId5" action="ppaction://hlinksldjump"/>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latin typeface="Georgia"/>
                <a:cs typeface="Georgia"/>
                <a:hlinkClick r:id="rId6" action="ppaction://hlinksldjump"/>
              </a:rPr>
              <a:t>Distribution–based</a:t>
            </a:r>
            <a:r>
              <a:rPr sz="1100" spc="145" dirty="0">
                <a:latin typeface="Georgia"/>
                <a:cs typeface="Georgia"/>
                <a:hlinkClick r:id="rId6" action="ppaction://hlinksldjump"/>
              </a:rPr>
              <a:t> </a:t>
            </a:r>
            <a:r>
              <a:rPr sz="1100" spc="-10" dirty="0">
                <a:latin typeface="Georgia"/>
                <a:cs typeface="Georgia"/>
                <a:hlinkClick r:id="rId6" action="ppaction://hlinksldjump"/>
              </a:rPr>
              <a:t>clustering</a:t>
            </a:r>
            <a:endParaRPr sz="1100">
              <a:latin typeface="Georgia"/>
              <a:cs typeface="Georgia"/>
            </a:endParaRPr>
          </a:p>
          <a:p>
            <a:pPr marL="178435" indent="-165735">
              <a:lnSpc>
                <a:spcPct val="100000"/>
              </a:lnSpc>
              <a:spcBef>
                <a:spcPts val="1080"/>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Density–based</a:t>
            </a:r>
            <a:r>
              <a:rPr sz="1100" spc="7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clustering</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10" dirty="0">
                <a:solidFill>
                  <a:srgbClr val="CCCCCC"/>
                </a:solidFill>
                <a:latin typeface="Georgia"/>
                <a:cs typeface="Georgia"/>
                <a:hlinkClick r:id="" action="ppaction://noaction"/>
              </a:rPr>
              <a:t>Clustering</a:t>
            </a:r>
            <a:r>
              <a:rPr sz="1100" spc="20" dirty="0">
                <a:solidFill>
                  <a:srgbClr val="CCCCCC"/>
                </a:solidFill>
                <a:latin typeface="Georgia"/>
                <a:cs typeface="Georgia"/>
                <a:hlinkClick r:id="" action="ppaction://noaction"/>
              </a:rPr>
              <a:t> </a:t>
            </a:r>
            <a:r>
              <a:rPr sz="1100" spc="-20" dirty="0">
                <a:solidFill>
                  <a:srgbClr val="CCCCCC"/>
                </a:solidFill>
                <a:latin typeface="Georgia"/>
                <a:cs typeface="Georgia"/>
                <a:hlinkClick r:id="" action="ppaction://noaction"/>
              </a:rPr>
              <a:t>validation</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0"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evaluation</a:t>
            </a:r>
            <a:endParaRPr sz="1100">
              <a:latin typeface="Georgia"/>
              <a:cs typeface="Georgia"/>
            </a:endParaRPr>
          </a:p>
          <a:p>
            <a:pPr marL="178435" indent="-165735">
              <a:lnSpc>
                <a:spcPct val="100000"/>
              </a:lnSpc>
              <a:spcBef>
                <a:spcPts val="1075"/>
              </a:spcBef>
              <a:buClr>
                <a:srgbClr val="FFFFFF"/>
              </a:buClr>
              <a:buSzPct val="90909"/>
              <a:buAutoNum type="arabicPlain"/>
              <a:tabLst>
                <a:tab pos="178435" algn="l"/>
              </a:tabLst>
            </a:pPr>
            <a:r>
              <a:rPr sz="1100" spc="-35" dirty="0">
                <a:solidFill>
                  <a:srgbClr val="CCCCCC"/>
                </a:solidFill>
                <a:latin typeface="Georgia"/>
                <a:cs typeface="Georgia"/>
                <a:hlinkClick r:id="" action="ppaction://noaction"/>
              </a:rPr>
              <a:t>References</a:t>
            </a:r>
            <a:r>
              <a:rPr sz="1100" spc="25" dirty="0">
                <a:solidFill>
                  <a:srgbClr val="CCCCCC"/>
                </a:solidFill>
                <a:latin typeface="Georgia"/>
                <a:cs typeface="Georgia"/>
                <a:hlinkClick r:id="" action="ppaction://noaction"/>
              </a:rPr>
              <a:t> </a:t>
            </a:r>
            <a:r>
              <a:rPr sz="1100" dirty="0">
                <a:solidFill>
                  <a:srgbClr val="CCCCCC"/>
                </a:solidFill>
                <a:latin typeface="Georgia"/>
                <a:cs typeface="Georgia"/>
                <a:hlinkClick r:id="" action="ppaction://noaction"/>
              </a:rPr>
              <a:t>and</a:t>
            </a:r>
            <a:r>
              <a:rPr sz="1100" spc="25" dirty="0">
                <a:solidFill>
                  <a:srgbClr val="CCCCCC"/>
                </a:solidFill>
                <a:latin typeface="Georgia"/>
                <a:cs typeface="Georgia"/>
                <a:hlinkClick r:id="" action="ppaction://noaction"/>
              </a:rPr>
              <a:t> </a:t>
            </a:r>
            <a:r>
              <a:rPr sz="1100" spc="-10" dirty="0">
                <a:solidFill>
                  <a:srgbClr val="CCCCCC"/>
                </a:solidFill>
                <a:latin typeface="Georgia"/>
                <a:cs typeface="Georgia"/>
                <a:hlinkClick r:id="" action="ppaction://noaction"/>
              </a:rPr>
              <a:t>Summary</a:t>
            </a:r>
            <a:endParaRPr sz="1100">
              <a:latin typeface="Georgia"/>
              <a:cs typeface="Georgia"/>
            </a:endParaRPr>
          </a:p>
        </p:txBody>
      </p:sp>
      <p:grpSp>
        <p:nvGrpSpPr>
          <p:cNvPr id="12" name="object 12"/>
          <p:cNvGrpSpPr/>
          <p:nvPr/>
        </p:nvGrpSpPr>
        <p:grpSpPr>
          <a:xfrm>
            <a:off x="0" y="3121545"/>
            <a:ext cx="5760085" cy="118745"/>
            <a:chOff x="0" y="3121545"/>
            <a:chExt cx="5760085" cy="118745"/>
          </a:xfrm>
        </p:grpSpPr>
        <p:sp>
          <p:nvSpPr>
            <p:cNvPr id="13" name="object 13"/>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4" name="object 14"/>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5" name="object 15"/>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6" name="object 16"/>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7" action="ppaction://hlinksldjump"/>
              </a:rPr>
              <a:t>data</a:t>
            </a:r>
            <a:r>
              <a:rPr sz="600" spc="110" dirty="0">
                <a:solidFill>
                  <a:srgbClr val="7A0000"/>
                </a:solidFill>
                <a:latin typeface="Georgia"/>
                <a:cs typeface="Georgia"/>
                <a:hlinkClick r:id="rId7" action="ppaction://hlinksldjump"/>
              </a:rPr>
              <a:t> </a:t>
            </a:r>
            <a:r>
              <a:rPr sz="600" spc="-10" dirty="0">
                <a:solidFill>
                  <a:srgbClr val="7A0000"/>
                </a:solidFill>
                <a:latin typeface="Georgia"/>
                <a:cs typeface="Georgia"/>
                <a:hlinkClick r:id="rId7" action="ppaction://hlinksldjump"/>
              </a:rPr>
              <a:t>clustering</a:t>
            </a:r>
            <a:endParaRPr sz="600">
              <a:latin typeface="Georgia"/>
              <a:cs typeface="Georgia"/>
            </a:endParaRPr>
          </a:p>
        </p:txBody>
      </p:sp>
      <p:sp>
        <p:nvSpPr>
          <p:cNvPr id="17" name="object 17"/>
          <p:cNvSpPr txBox="1">
            <a:spLocks noGrp="1"/>
          </p:cNvSpPr>
          <p:nvPr>
            <p:ph type="sldNum" sz="quarter" idx="7"/>
          </p:nvPr>
        </p:nvSpPr>
        <p:spPr>
          <a:prstGeom prst="rect">
            <a:avLst/>
          </a:prstGeom>
        </p:spPr>
        <p:txBody>
          <a:bodyPr vert="horz" wrap="square" lIns="0" tIns="8255" rIns="0" bIns="0" rtlCol="0">
            <a:spAutoFit/>
          </a:bodyPr>
          <a:lstStyle/>
          <a:p>
            <a:pPr marL="60960">
              <a:lnSpc>
                <a:spcPct val="100000"/>
              </a:lnSpc>
              <a:spcBef>
                <a:spcPts val="65"/>
              </a:spcBef>
            </a:pPr>
            <a:fld id="{81D60167-4931-47E6-BA6A-407CBD079E47}" type="slidenum">
              <a:rPr dirty="0"/>
              <a:t>73</a:t>
            </a:fld>
            <a:r>
              <a:rPr dirty="0"/>
              <a:t> </a:t>
            </a:r>
            <a:r>
              <a:rPr spc="75" dirty="0"/>
              <a:t>/</a:t>
            </a:r>
            <a:r>
              <a:rPr spc="5" dirty="0"/>
              <a:t> </a:t>
            </a:r>
            <a:r>
              <a:rPr spc="35" dirty="0"/>
              <a:t>135</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References</a:t>
            </a:r>
          </a:p>
        </p:txBody>
      </p:sp>
      <p:sp>
        <p:nvSpPr>
          <p:cNvPr id="3" name="object 3"/>
          <p:cNvSpPr txBox="1"/>
          <p:nvPr/>
        </p:nvSpPr>
        <p:spPr>
          <a:xfrm>
            <a:off x="245973" y="587805"/>
            <a:ext cx="5160645" cy="2174875"/>
          </a:xfrm>
          <a:prstGeom prst="rect">
            <a:avLst/>
          </a:prstGeom>
        </p:spPr>
        <p:txBody>
          <a:bodyPr vert="horz" wrap="square" lIns="0" tIns="34290" rIns="0" bIns="0" rtlCol="0">
            <a:spAutoFit/>
          </a:bodyPr>
          <a:lstStyle/>
          <a:p>
            <a:pPr marL="225425" marR="9525" indent="-213360">
              <a:lnSpc>
                <a:spcPts val="1150"/>
              </a:lnSpc>
              <a:spcBef>
                <a:spcPts val="270"/>
              </a:spcBef>
              <a:buFont typeface="Georgia"/>
              <a:buAutoNum type="arabicPlain"/>
              <a:tabLst>
                <a:tab pos="227329" algn="l"/>
              </a:tabLst>
            </a:pPr>
            <a:r>
              <a:rPr sz="1100" dirty="0">
                <a:latin typeface="Georgia"/>
                <a:cs typeface="Georgia"/>
              </a:rPr>
              <a:t>J.</a:t>
            </a:r>
            <a:r>
              <a:rPr sz="1100" spc="85" dirty="0">
                <a:latin typeface="Georgia"/>
                <a:cs typeface="Georgia"/>
              </a:rPr>
              <a:t> </a:t>
            </a:r>
            <a:r>
              <a:rPr sz="1100" spc="-10" dirty="0">
                <a:latin typeface="Georgia"/>
                <a:cs typeface="Georgia"/>
              </a:rPr>
              <a:t>Han,</a:t>
            </a:r>
            <a:r>
              <a:rPr sz="1100" spc="90" dirty="0">
                <a:latin typeface="Georgia"/>
                <a:cs typeface="Georgia"/>
              </a:rPr>
              <a:t> </a:t>
            </a:r>
            <a:r>
              <a:rPr sz="1100" dirty="0">
                <a:latin typeface="Georgia"/>
                <a:cs typeface="Georgia"/>
              </a:rPr>
              <a:t>M.</a:t>
            </a:r>
            <a:r>
              <a:rPr sz="1100" spc="90" dirty="0">
                <a:latin typeface="Georgia"/>
                <a:cs typeface="Georgia"/>
              </a:rPr>
              <a:t> </a:t>
            </a:r>
            <a:r>
              <a:rPr sz="1100" spc="-10" dirty="0">
                <a:latin typeface="Georgia"/>
                <a:cs typeface="Georgia"/>
              </a:rPr>
              <a:t>Kamber,</a:t>
            </a:r>
            <a:r>
              <a:rPr sz="1100" spc="85" dirty="0">
                <a:latin typeface="Georgia"/>
                <a:cs typeface="Georgia"/>
              </a:rPr>
              <a:t> </a:t>
            </a:r>
            <a:r>
              <a:rPr sz="1100" dirty="0">
                <a:latin typeface="Georgia"/>
                <a:cs typeface="Georgia"/>
              </a:rPr>
              <a:t>and</a:t>
            </a:r>
            <a:r>
              <a:rPr sz="1100" spc="90" dirty="0">
                <a:latin typeface="Georgia"/>
                <a:cs typeface="Georgia"/>
              </a:rPr>
              <a:t> </a:t>
            </a:r>
            <a:r>
              <a:rPr sz="1100" dirty="0">
                <a:latin typeface="Georgia"/>
                <a:cs typeface="Georgia"/>
              </a:rPr>
              <a:t>J.</a:t>
            </a:r>
            <a:r>
              <a:rPr sz="1100" spc="90" dirty="0">
                <a:latin typeface="Georgia"/>
                <a:cs typeface="Georgia"/>
              </a:rPr>
              <a:t> </a:t>
            </a:r>
            <a:r>
              <a:rPr sz="1100" dirty="0">
                <a:latin typeface="Georgia"/>
                <a:cs typeface="Georgia"/>
              </a:rPr>
              <a:t>Pei.</a:t>
            </a:r>
            <a:r>
              <a:rPr sz="1100" spc="200" dirty="0">
                <a:latin typeface="Georgia"/>
                <a:cs typeface="Georgia"/>
              </a:rPr>
              <a:t> </a:t>
            </a:r>
            <a:r>
              <a:rPr sz="1100" i="1" dirty="0">
                <a:latin typeface="Palatino Linotype"/>
                <a:cs typeface="Palatino Linotype"/>
              </a:rPr>
              <a:t>Data</a:t>
            </a:r>
            <a:r>
              <a:rPr sz="1100" i="1" spc="100" dirty="0">
                <a:latin typeface="Palatino Linotype"/>
                <a:cs typeface="Palatino Linotype"/>
              </a:rPr>
              <a:t> </a:t>
            </a:r>
            <a:r>
              <a:rPr sz="1100" i="1" dirty="0">
                <a:latin typeface="Palatino Linotype"/>
                <a:cs typeface="Palatino Linotype"/>
              </a:rPr>
              <a:t>Mining:</a:t>
            </a:r>
            <a:r>
              <a:rPr sz="1100" i="1" spc="210" dirty="0">
                <a:latin typeface="Palatino Linotype"/>
                <a:cs typeface="Palatino Linotype"/>
              </a:rPr>
              <a:t> </a:t>
            </a:r>
            <a:r>
              <a:rPr sz="1100" i="1" dirty="0">
                <a:latin typeface="Palatino Linotype"/>
                <a:cs typeface="Palatino Linotype"/>
              </a:rPr>
              <a:t>Concepts</a:t>
            </a:r>
            <a:r>
              <a:rPr sz="1100" i="1" spc="105" dirty="0">
                <a:latin typeface="Palatino Linotype"/>
                <a:cs typeface="Palatino Linotype"/>
              </a:rPr>
              <a:t> </a:t>
            </a:r>
            <a:r>
              <a:rPr sz="1100" i="1" dirty="0">
                <a:latin typeface="Palatino Linotype"/>
                <a:cs typeface="Palatino Linotype"/>
              </a:rPr>
              <a:t>and</a:t>
            </a:r>
            <a:r>
              <a:rPr sz="1100" i="1" spc="105" dirty="0">
                <a:latin typeface="Palatino Linotype"/>
                <a:cs typeface="Palatino Linotype"/>
              </a:rPr>
              <a:t> </a:t>
            </a:r>
            <a:r>
              <a:rPr sz="1100" i="1" dirty="0">
                <a:latin typeface="Palatino Linotype"/>
                <a:cs typeface="Palatino Linotype"/>
              </a:rPr>
              <a:t>Techniques</a:t>
            </a:r>
            <a:r>
              <a:rPr sz="1100" dirty="0">
                <a:latin typeface="Georgia"/>
                <a:cs typeface="Georgia"/>
              </a:rPr>
              <a:t>.</a:t>
            </a:r>
            <a:r>
              <a:rPr sz="1100" spc="200" dirty="0">
                <a:latin typeface="Georgia"/>
                <a:cs typeface="Georgia"/>
              </a:rPr>
              <a:t> </a:t>
            </a:r>
            <a:r>
              <a:rPr sz="1100" spc="-10" dirty="0">
                <a:latin typeface="Georgia"/>
                <a:cs typeface="Georgia"/>
              </a:rPr>
              <a:t>Morgan 	Kaufmann,</a:t>
            </a:r>
            <a:r>
              <a:rPr sz="1100" spc="-15" dirty="0">
                <a:latin typeface="Georgia"/>
                <a:cs typeface="Georgia"/>
              </a:rPr>
              <a:t> </a:t>
            </a:r>
            <a:r>
              <a:rPr sz="1100" spc="-10" dirty="0">
                <a:latin typeface="Georgia"/>
                <a:cs typeface="Georgia"/>
              </a:rPr>
              <a:t>Elsevier, </a:t>
            </a:r>
            <a:r>
              <a:rPr sz="1100" spc="-30" dirty="0">
                <a:latin typeface="Georgia"/>
                <a:cs typeface="Georgia"/>
              </a:rPr>
              <a:t>2012</a:t>
            </a:r>
            <a:r>
              <a:rPr sz="1100" spc="-10" dirty="0">
                <a:latin typeface="Georgia"/>
                <a:cs typeface="Georgia"/>
              </a:rPr>
              <a:t> [</a:t>
            </a:r>
            <a:r>
              <a:rPr sz="1100" spc="-10" dirty="0">
                <a:solidFill>
                  <a:srgbClr val="FF0000"/>
                </a:solidFill>
                <a:latin typeface="Georgia"/>
                <a:cs typeface="Georgia"/>
              </a:rPr>
              <a:t>Book1</a:t>
            </a:r>
            <a:r>
              <a:rPr sz="1100" spc="-10" dirty="0">
                <a:latin typeface="Georgia"/>
                <a:cs typeface="Georgia"/>
              </a:rPr>
              <a:t>].</a:t>
            </a:r>
            <a:endParaRPr sz="1100">
              <a:latin typeface="Georgia"/>
              <a:cs typeface="Georgia"/>
            </a:endParaRPr>
          </a:p>
          <a:p>
            <a:pPr marL="226060" indent="-213360">
              <a:lnSpc>
                <a:spcPct val="100000"/>
              </a:lnSpc>
              <a:spcBef>
                <a:spcPts val="120"/>
              </a:spcBef>
              <a:buFont typeface="Georgia"/>
              <a:buAutoNum type="arabicPlain"/>
              <a:tabLst>
                <a:tab pos="226060" algn="l"/>
              </a:tabLst>
            </a:pPr>
            <a:r>
              <a:rPr sz="1100" dirty="0">
                <a:latin typeface="Georgia"/>
                <a:cs typeface="Georgia"/>
              </a:rPr>
              <a:t>C.</a:t>
            </a:r>
            <a:r>
              <a:rPr sz="1100" spc="80" dirty="0">
                <a:latin typeface="Georgia"/>
                <a:cs typeface="Georgia"/>
              </a:rPr>
              <a:t> </a:t>
            </a:r>
            <a:r>
              <a:rPr sz="1100" dirty="0">
                <a:latin typeface="Georgia"/>
                <a:cs typeface="Georgia"/>
              </a:rPr>
              <a:t>Aggarwal.</a:t>
            </a:r>
            <a:r>
              <a:rPr sz="1100" spc="190" dirty="0">
                <a:latin typeface="Georgia"/>
                <a:cs typeface="Georgia"/>
              </a:rPr>
              <a:t> </a:t>
            </a:r>
            <a:r>
              <a:rPr sz="1100" i="1" dirty="0">
                <a:latin typeface="Palatino Linotype"/>
                <a:cs typeface="Palatino Linotype"/>
              </a:rPr>
              <a:t>Data</a:t>
            </a:r>
            <a:r>
              <a:rPr sz="1100" i="1" spc="95" dirty="0">
                <a:latin typeface="Palatino Linotype"/>
                <a:cs typeface="Palatino Linotype"/>
              </a:rPr>
              <a:t> </a:t>
            </a:r>
            <a:r>
              <a:rPr sz="1100" i="1" dirty="0">
                <a:latin typeface="Palatino Linotype"/>
                <a:cs typeface="Palatino Linotype"/>
              </a:rPr>
              <a:t>Mining:</a:t>
            </a:r>
            <a:r>
              <a:rPr sz="1100" i="1" spc="204" dirty="0">
                <a:latin typeface="Palatino Linotype"/>
                <a:cs typeface="Palatino Linotype"/>
              </a:rPr>
              <a:t> </a:t>
            </a:r>
            <a:r>
              <a:rPr sz="1100" i="1" spc="50" dirty="0">
                <a:latin typeface="Palatino Linotype"/>
                <a:cs typeface="Palatino Linotype"/>
              </a:rPr>
              <a:t>The</a:t>
            </a:r>
            <a:r>
              <a:rPr sz="1100" i="1" spc="95" dirty="0">
                <a:latin typeface="Palatino Linotype"/>
                <a:cs typeface="Palatino Linotype"/>
              </a:rPr>
              <a:t> </a:t>
            </a:r>
            <a:r>
              <a:rPr sz="1100" i="1" dirty="0">
                <a:latin typeface="Palatino Linotype"/>
                <a:cs typeface="Palatino Linotype"/>
              </a:rPr>
              <a:t>Textbook</a:t>
            </a:r>
            <a:r>
              <a:rPr sz="1100" dirty="0">
                <a:latin typeface="Georgia"/>
                <a:cs typeface="Georgia"/>
              </a:rPr>
              <a:t>.</a:t>
            </a:r>
            <a:r>
              <a:rPr sz="1100" spc="190" dirty="0">
                <a:latin typeface="Georgia"/>
                <a:cs typeface="Georgia"/>
              </a:rPr>
              <a:t> </a:t>
            </a:r>
            <a:r>
              <a:rPr sz="1100" spc="-25" dirty="0">
                <a:latin typeface="Georgia"/>
                <a:cs typeface="Georgia"/>
              </a:rPr>
              <a:t>Springer,</a:t>
            </a:r>
            <a:r>
              <a:rPr sz="1100" spc="80" dirty="0">
                <a:latin typeface="Georgia"/>
                <a:cs typeface="Georgia"/>
              </a:rPr>
              <a:t> </a:t>
            </a:r>
            <a:r>
              <a:rPr sz="1100" spc="-20" dirty="0">
                <a:latin typeface="Georgia"/>
                <a:cs typeface="Georgia"/>
              </a:rPr>
              <a:t>2015</a:t>
            </a:r>
            <a:r>
              <a:rPr sz="1100" spc="85" dirty="0">
                <a:latin typeface="Georgia"/>
                <a:cs typeface="Georgia"/>
              </a:rPr>
              <a:t> </a:t>
            </a:r>
            <a:r>
              <a:rPr sz="1100" spc="-10" dirty="0">
                <a:latin typeface="Georgia"/>
                <a:cs typeface="Georgia"/>
              </a:rPr>
              <a:t>[</a:t>
            </a:r>
            <a:r>
              <a:rPr sz="1100" spc="-10" dirty="0">
                <a:solidFill>
                  <a:srgbClr val="FF0000"/>
                </a:solidFill>
                <a:latin typeface="Georgia"/>
                <a:cs typeface="Georgia"/>
              </a:rPr>
              <a:t>Book2</a:t>
            </a:r>
            <a:r>
              <a:rPr sz="1100" spc="-10" dirty="0">
                <a:latin typeface="Georgia"/>
                <a:cs typeface="Georgia"/>
              </a:rPr>
              <a:t>].</a:t>
            </a:r>
            <a:endParaRPr sz="1100">
              <a:latin typeface="Georgia"/>
              <a:cs typeface="Georgia"/>
            </a:endParaRPr>
          </a:p>
          <a:p>
            <a:pPr marL="225425" marR="354330" indent="-213360">
              <a:lnSpc>
                <a:spcPts val="1150"/>
              </a:lnSpc>
              <a:spcBef>
                <a:spcPts val="310"/>
              </a:spcBef>
              <a:buAutoNum type="arabicPlain"/>
              <a:tabLst>
                <a:tab pos="227329" algn="l"/>
              </a:tabLst>
            </a:pPr>
            <a:r>
              <a:rPr sz="1100" dirty="0">
                <a:latin typeface="Georgia"/>
                <a:cs typeface="Georgia"/>
              </a:rPr>
              <a:t>J.</a:t>
            </a:r>
            <a:r>
              <a:rPr sz="1100" spc="75" dirty="0">
                <a:latin typeface="Georgia"/>
                <a:cs typeface="Georgia"/>
              </a:rPr>
              <a:t> </a:t>
            </a:r>
            <a:r>
              <a:rPr sz="1100" spc="-30" dirty="0">
                <a:latin typeface="Georgia"/>
                <a:cs typeface="Georgia"/>
              </a:rPr>
              <a:t>Leskovec,</a:t>
            </a:r>
            <a:r>
              <a:rPr sz="1100" spc="80" dirty="0">
                <a:latin typeface="Georgia"/>
                <a:cs typeface="Georgia"/>
              </a:rPr>
              <a:t> </a:t>
            </a:r>
            <a:r>
              <a:rPr sz="1100" dirty="0">
                <a:latin typeface="Georgia"/>
                <a:cs typeface="Georgia"/>
              </a:rPr>
              <a:t>A.</a:t>
            </a:r>
            <a:r>
              <a:rPr sz="1100" spc="75" dirty="0">
                <a:latin typeface="Georgia"/>
                <a:cs typeface="Georgia"/>
              </a:rPr>
              <a:t> </a:t>
            </a:r>
            <a:r>
              <a:rPr sz="1100" spc="-10" dirty="0">
                <a:latin typeface="Georgia"/>
                <a:cs typeface="Georgia"/>
              </a:rPr>
              <a:t>Rajaraman,</a:t>
            </a:r>
            <a:r>
              <a:rPr sz="1100" spc="80" dirty="0">
                <a:latin typeface="Georgia"/>
                <a:cs typeface="Georgia"/>
              </a:rPr>
              <a:t> </a:t>
            </a:r>
            <a:r>
              <a:rPr sz="1100" dirty="0">
                <a:latin typeface="Georgia"/>
                <a:cs typeface="Georgia"/>
              </a:rPr>
              <a:t>and</a:t>
            </a:r>
            <a:r>
              <a:rPr sz="1100" spc="75" dirty="0">
                <a:latin typeface="Georgia"/>
                <a:cs typeface="Georgia"/>
              </a:rPr>
              <a:t> </a:t>
            </a:r>
            <a:r>
              <a:rPr sz="1100" dirty="0">
                <a:latin typeface="Georgia"/>
                <a:cs typeface="Georgia"/>
              </a:rPr>
              <a:t>J.</a:t>
            </a:r>
            <a:r>
              <a:rPr sz="1100" spc="80" dirty="0">
                <a:latin typeface="Georgia"/>
                <a:cs typeface="Georgia"/>
              </a:rPr>
              <a:t> </a:t>
            </a:r>
            <a:r>
              <a:rPr sz="1100" dirty="0">
                <a:latin typeface="Georgia"/>
                <a:cs typeface="Georgia"/>
              </a:rPr>
              <a:t>D.</a:t>
            </a:r>
            <a:r>
              <a:rPr sz="1100" spc="75" dirty="0">
                <a:latin typeface="Georgia"/>
                <a:cs typeface="Georgia"/>
              </a:rPr>
              <a:t> </a:t>
            </a:r>
            <a:r>
              <a:rPr sz="1100" spc="-10" dirty="0">
                <a:latin typeface="Georgia"/>
                <a:cs typeface="Georgia"/>
              </a:rPr>
              <a:t>Ullman.</a:t>
            </a:r>
            <a:r>
              <a:rPr sz="1100" spc="185" dirty="0">
                <a:latin typeface="Georgia"/>
                <a:cs typeface="Georgia"/>
              </a:rPr>
              <a:t> </a:t>
            </a:r>
            <a:r>
              <a:rPr sz="1100" i="1" dirty="0">
                <a:latin typeface="Palatino Linotype"/>
                <a:cs typeface="Palatino Linotype"/>
              </a:rPr>
              <a:t>Mining</a:t>
            </a:r>
            <a:r>
              <a:rPr sz="1100" i="1" spc="95" dirty="0">
                <a:latin typeface="Palatino Linotype"/>
                <a:cs typeface="Palatino Linotype"/>
              </a:rPr>
              <a:t> </a:t>
            </a:r>
            <a:r>
              <a:rPr sz="1100" i="1" dirty="0">
                <a:latin typeface="Palatino Linotype"/>
                <a:cs typeface="Palatino Linotype"/>
              </a:rPr>
              <a:t>of</a:t>
            </a:r>
            <a:r>
              <a:rPr sz="1100" i="1" spc="90" dirty="0">
                <a:latin typeface="Palatino Linotype"/>
                <a:cs typeface="Palatino Linotype"/>
              </a:rPr>
              <a:t> </a:t>
            </a:r>
            <a:r>
              <a:rPr sz="1100" i="1" dirty="0">
                <a:latin typeface="Palatino Linotype"/>
                <a:cs typeface="Palatino Linotype"/>
              </a:rPr>
              <a:t>Massive</a:t>
            </a:r>
            <a:r>
              <a:rPr sz="1100" i="1" spc="90" dirty="0">
                <a:latin typeface="Palatino Linotype"/>
                <a:cs typeface="Palatino Linotype"/>
              </a:rPr>
              <a:t> </a:t>
            </a:r>
            <a:r>
              <a:rPr sz="1100" i="1" spc="-10" dirty="0">
                <a:latin typeface="Palatino Linotype"/>
                <a:cs typeface="Palatino Linotype"/>
              </a:rPr>
              <a:t>Datasets</a:t>
            </a:r>
            <a:r>
              <a:rPr sz="1100" spc="-10" dirty="0">
                <a:latin typeface="Georgia"/>
                <a:cs typeface="Georgia"/>
              </a:rPr>
              <a:t>. 	</a:t>
            </a:r>
            <a:r>
              <a:rPr sz="1100" spc="-20" dirty="0">
                <a:latin typeface="Georgia"/>
                <a:cs typeface="Georgia"/>
              </a:rPr>
              <a:t>Cambridge</a:t>
            </a:r>
            <a:r>
              <a:rPr sz="1100" spc="20" dirty="0">
                <a:latin typeface="Georgia"/>
                <a:cs typeface="Georgia"/>
              </a:rPr>
              <a:t> </a:t>
            </a:r>
            <a:r>
              <a:rPr sz="1100" spc="-20" dirty="0">
                <a:latin typeface="Georgia"/>
                <a:cs typeface="Georgia"/>
              </a:rPr>
              <a:t>University</a:t>
            </a:r>
            <a:r>
              <a:rPr sz="1100" spc="25" dirty="0">
                <a:latin typeface="Georgia"/>
                <a:cs typeface="Georgia"/>
              </a:rPr>
              <a:t> </a:t>
            </a:r>
            <a:r>
              <a:rPr sz="1100" spc="-10" dirty="0">
                <a:latin typeface="Georgia"/>
                <a:cs typeface="Georgia"/>
              </a:rPr>
              <a:t>Press,</a:t>
            </a:r>
            <a:r>
              <a:rPr sz="1100" spc="25" dirty="0">
                <a:latin typeface="Georgia"/>
                <a:cs typeface="Georgia"/>
              </a:rPr>
              <a:t> </a:t>
            </a:r>
            <a:r>
              <a:rPr sz="1100" spc="-35" dirty="0">
                <a:latin typeface="Georgia"/>
                <a:cs typeface="Georgia"/>
              </a:rPr>
              <a:t>2014</a:t>
            </a:r>
            <a:r>
              <a:rPr sz="1100" spc="25" dirty="0">
                <a:latin typeface="Georgia"/>
                <a:cs typeface="Georgia"/>
              </a:rPr>
              <a:t> </a:t>
            </a:r>
            <a:r>
              <a:rPr sz="1100" spc="-10" dirty="0">
                <a:latin typeface="Georgia"/>
                <a:cs typeface="Georgia"/>
              </a:rPr>
              <a:t>[</a:t>
            </a:r>
            <a:r>
              <a:rPr sz="1100" spc="-10" dirty="0">
                <a:solidFill>
                  <a:srgbClr val="FF0000"/>
                </a:solidFill>
                <a:latin typeface="Georgia"/>
                <a:cs typeface="Georgia"/>
              </a:rPr>
              <a:t>Book3</a:t>
            </a:r>
            <a:r>
              <a:rPr sz="1100" spc="-10" dirty="0">
                <a:latin typeface="Georgia"/>
                <a:cs typeface="Georgia"/>
              </a:rPr>
              <a:t>].</a:t>
            </a:r>
            <a:endParaRPr sz="1100">
              <a:latin typeface="Georgia"/>
              <a:cs typeface="Georgia"/>
            </a:endParaRPr>
          </a:p>
          <a:p>
            <a:pPr marL="225425" marR="5080" indent="-213360">
              <a:lnSpc>
                <a:spcPts val="1150"/>
              </a:lnSpc>
              <a:spcBef>
                <a:spcPts val="305"/>
              </a:spcBef>
              <a:buAutoNum type="arabicPlain"/>
              <a:tabLst>
                <a:tab pos="227329" algn="l"/>
              </a:tabLst>
            </a:pPr>
            <a:r>
              <a:rPr sz="1100" dirty="0">
                <a:latin typeface="Georgia"/>
                <a:cs typeface="Georgia"/>
              </a:rPr>
              <a:t>M.</a:t>
            </a:r>
            <a:r>
              <a:rPr sz="1100" spc="95" dirty="0">
                <a:latin typeface="Georgia"/>
                <a:cs typeface="Georgia"/>
              </a:rPr>
              <a:t> </a:t>
            </a:r>
            <a:r>
              <a:rPr sz="1100" dirty="0">
                <a:latin typeface="Georgia"/>
                <a:cs typeface="Georgia"/>
              </a:rPr>
              <a:t>J.</a:t>
            </a:r>
            <a:r>
              <a:rPr sz="1100" spc="95" dirty="0">
                <a:latin typeface="Georgia"/>
                <a:cs typeface="Georgia"/>
              </a:rPr>
              <a:t> </a:t>
            </a:r>
            <a:r>
              <a:rPr sz="1100" dirty="0">
                <a:latin typeface="Georgia"/>
                <a:cs typeface="Georgia"/>
              </a:rPr>
              <a:t>Zaki</a:t>
            </a:r>
            <a:r>
              <a:rPr sz="1100" spc="95" dirty="0">
                <a:latin typeface="Georgia"/>
                <a:cs typeface="Georgia"/>
              </a:rPr>
              <a:t> </a:t>
            </a:r>
            <a:r>
              <a:rPr sz="1100" dirty="0">
                <a:latin typeface="Georgia"/>
                <a:cs typeface="Georgia"/>
              </a:rPr>
              <a:t>and</a:t>
            </a:r>
            <a:r>
              <a:rPr sz="1100" spc="100" dirty="0">
                <a:latin typeface="Georgia"/>
                <a:cs typeface="Georgia"/>
              </a:rPr>
              <a:t> </a:t>
            </a:r>
            <a:r>
              <a:rPr sz="1100" dirty="0">
                <a:latin typeface="Georgia"/>
                <a:cs typeface="Georgia"/>
              </a:rPr>
              <a:t>W.</a:t>
            </a:r>
            <a:r>
              <a:rPr sz="1100" spc="95" dirty="0">
                <a:latin typeface="Georgia"/>
                <a:cs typeface="Georgia"/>
              </a:rPr>
              <a:t> </a:t>
            </a:r>
            <a:r>
              <a:rPr sz="1100" dirty="0">
                <a:latin typeface="Georgia"/>
                <a:cs typeface="Georgia"/>
              </a:rPr>
              <a:t>M.</a:t>
            </a:r>
            <a:r>
              <a:rPr sz="1100" spc="95" dirty="0">
                <a:latin typeface="Georgia"/>
                <a:cs typeface="Georgia"/>
              </a:rPr>
              <a:t> </a:t>
            </a:r>
            <a:r>
              <a:rPr sz="1100" dirty="0">
                <a:latin typeface="Georgia"/>
                <a:cs typeface="Georgia"/>
              </a:rPr>
              <a:t>Jr.</a:t>
            </a:r>
            <a:r>
              <a:rPr sz="1100" spc="210" dirty="0">
                <a:latin typeface="Georgia"/>
                <a:cs typeface="Georgia"/>
              </a:rPr>
              <a:t> </a:t>
            </a:r>
            <a:r>
              <a:rPr sz="1100" i="1" dirty="0">
                <a:latin typeface="Palatino Linotype"/>
                <a:cs typeface="Palatino Linotype"/>
              </a:rPr>
              <a:t>Data</a:t>
            </a:r>
            <a:r>
              <a:rPr sz="1100" i="1" spc="110" dirty="0">
                <a:latin typeface="Palatino Linotype"/>
                <a:cs typeface="Palatino Linotype"/>
              </a:rPr>
              <a:t> </a:t>
            </a:r>
            <a:r>
              <a:rPr sz="1100" i="1" dirty="0">
                <a:latin typeface="Palatino Linotype"/>
                <a:cs typeface="Palatino Linotype"/>
              </a:rPr>
              <a:t>Mining</a:t>
            </a:r>
            <a:r>
              <a:rPr sz="1100" i="1" spc="110" dirty="0">
                <a:latin typeface="Palatino Linotype"/>
                <a:cs typeface="Palatino Linotype"/>
              </a:rPr>
              <a:t> </a:t>
            </a:r>
            <a:r>
              <a:rPr sz="1100" i="1" dirty="0">
                <a:latin typeface="Palatino Linotype"/>
                <a:cs typeface="Palatino Linotype"/>
              </a:rPr>
              <a:t>and</a:t>
            </a:r>
            <a:r>
              <a:rPr sz="1100" i="1" spc="114" dirty="0">
                <a:latin typeface="Palatino Linotype"/>
                <a:cs typeface="Palatino Linotype"/>
              </a:rPr>
              <a:t> </a:t>
            </a:r>
            <a:r>
              <a:rPr sz="1100" i="1" dirty="0">
                <a:latin typeface="Palatino Linotype"/>
                <a:cs typeface="Palatino Linotype"/>
              </a:rPr>
              <a:t>Analysis:</a:t>
            </a:r>
            <a:r>
              <a:rPr sz="1100" i="1" spc="220" dirty="0">
                <a:latin typeface="Palatino Linotype"/>
                <a:cs typeface="Palatino Linotype"/>
              </a:rPr>
              <a:t> </a:t>
            </a:r>
            <a:r>
              <a:rPr sz="1100" i="1" dirty="0">
                <a:latin typeface="Palatino Linotype"/>
                <a:cs typeface="Palatino Linotype"/>
              </a:rPr>
              <a:t>Fundamental</a:t>
            </a:r>
            <a:r>
              <a:rPr sz="1100" i="1" spc="110" dirty="0">
                <a:latin typeface="Palatino Linotype"/>
                <a:cs typeface="Palatino Linotype"/>
              </a:rPr>
              <a:t> </a:t>
            </a:r>
            <a:r>
              <a:rPr sz="1100" i="1" dirty="0">
                <a:latin typeface="Palatino Linotype"/>
                <a:cs typeface="Palatino Linotype"/>
              </a:rPr>
              <a:t>Concepts</a:t>
            </a:r>
            <a:r>
              <a:rPr sz="1100" i="1" spc="114" dirty="0">
                <a:latin typeface="Palatino Linotype"/>
                <a:cs typeface="Palatino Linotype"/>
              </a:rPr>
              <a:t> </a:t>
            </a:r>
            <a:r>
              <a:rPr sz="1100" i="1" spc="-25" dirty="0">
                <a:latin typeface="Palatino Linotype"/>
                <a:cs typeface="Palatino Linotype"/>
              </a:rPr>
              <a:t>and 	</a:t>
            </a:r>
            <a:r>
              <a:rPr sz="1100" i="1" dirty="0">
                <a:latin typeface="Palatino Linotype"/>
                <a:cs typeface="Palatino Linotype"/>
              </a:rPr>
              <a:t>Algorithms</a:t>
            </a:r>
            <a:r>
              <a:rPr sz="1100" dirty="0">
                <a:latin typeface="Georgia"/>
                <a:cs typeface="Georgia"/>
              </a:rPr>
              <a:t>.</a:t>
            </a:r>
            <a:r>
              <a:rPr sz="1100" spc="150" dirty="0">
                <a:latin typeface="Georgia"/>
                <a:cs typeface="Georgia"/>
              </a:rPr>
              <a:t> </a:t>
            </a:r>
            <a:r>
              <a:rPr sz="1100" spc="-20" dirty="0">
                <a:latin typeface="Georgia"/>
                <a:cs typeface="Georgia"/>
              </a:rPr>
              <a:t>Cambridge</a:t>
            </a:r>
            <a:r>
              <a:rPr sz="1100" spc="55" dirty="0">
                <a:latin typeface="Georgia"/>
                <a:cs typeface="Georgia"/>
              </a:rPr>
              <a:t> </a:t>
            </a:r>
            <a:r>
              <a:rPr sz="1100" spc="-20" dirty="0">
                <a:latin typeface="Georgia"/>
                <a:cs typeface="Georgia"/>
              </a:rPr>
              <a:t>University</a:t>
            </a:r>
            <a:r>
              <a:rPr sz="1100" spc="50" dirty="0">
                <a:latin typeface="Georgia"/>
                <a:cs typeface="Georgia"/>
              </a:rPr>
              <a:t> </a:t>
            </a:r>
            <a:r>
              <a:rPr sz="1100" spc="-10" dirty="0">
                <a:latin typeface="Georgia"/>
                <a:cs typeface="Georgia"/>
              </a:rPr>
              <a:t>Press,</a:t>
            </a:r>
            <a:r>
              <a:rPr sz="1100" spc="55" dirty="0">
                <a:latin typeface="Georgia"/>
                <a:cs typeface="Georgia"/>
              </a:rPr>
              <a:t> </a:t>
            </a:r>
            <a:r>
              <a:rPr sz="1100" spc="-30" dirty="0">
                <a:latin typeface="Georgia"/>
                <a:cs typeface="Georgia"/>
              </a:rPr>
              <a:t>2013</a:t>
            </a:r>
            <a:r>
              <a:rPr sz="1100" spc="50" dirty="0">
                <a:latin typeface="Georgia"/>
                <a:cs typeface="Georgia"/>
              </a:rPr>
              <a:t> </a:t>
            </a:r>
            <a:r>
              <a:rPr sz="1100" spc="-10" dirty="0">
                <a:latin typeface="Georgia"/>
                <a:cs typeface="Georgia"/>
              </a:rPr>
              <a:t>[</a:t>
            </a:r>
            <a:r>
              <a:rPr sz="1100" spc="-10" dirty="0">
                <a:solidFill>
                  <a:srgbClr val="FF0000"/>
                </a:solidFill>
                <a:latin typeface="Georgia"/>
                <a:cs typeface="Georgia"/>
              </a:rPr>
              <a:t>Book4</a:t>
            </a:r>
            <a:r>
              <a:rPr sz="1100" spc="-10" dirty="0">
                <a:latin typeface="Georgia"/>
                <a:cs typeface="Georgia"/>
              </a:rPr>
              <a:t>].</a:t>
            </a:r>
            <a:endParaRPr sz="1100">
              <a:latin typeface="Georgia"/>
              <a:cs typeface="Georgia"/>
            </a:endParaRPr>
          </a:p>
          <a:p>
            <a:pPr marL="225425" marR="55244" indent="-213360">
              <a:lnSpc>
                <a:spcPts val="1150"/>
              </a:lnSpc>
              <a:spcBef>
                <a:spcPts val="300"/>
              </a:spcBef>
              <a:buAutoNum type="arabicPlain"/>
              <a:tabLst>
                <a:tab pos="227329" algn="l"/>
              </a:tabLst>
            </a:pPr>
            <a:r>
              <a:rPr sz="1100" dirty="0">
                <a:latin typeface="Georgia"/>
                <a:cs typeface="Georgia"/>
              </a:rPr>
              <a:t>D.</a:t>
            </a:r>
            <a:r>
              <a:rPr sz="1100" spc="95" dirty="0">
                <a:latin typeface="Georgia"/>
                <a:cs typeface="Georgia"/>
              </a:rPr>
              <a:t> </a:t>
            </a:r>
            <a:r>
              <a:rPr sz="1100" dirty="0">
                <a:latin typeface="Georgia"/>
                <a:cs typeface="Georgia"/>
              </a:rPr>
              <a:t>Easley</a:t>
            </a:r>
            <a:r>
              <a:rPr sz="1100" spc="100" dirty="0">
                <a:latin typeface="Georgia"/>
                <a:cs typeface="Georgia"/>
              </a:rPr>
              <a:t> </a:t>
            </a:r>
            <a:r>
              <a:rPr sz="1100" dirty="0">
                <a:latin typeface="Georgia"/>
                <a:cs typeface="Georgia"/>
              </a:rPr>
              <a:t>and</a:t>
            </a:r>
            <a:r>
              <a:rPr sz="1100" spc="100" dirty="0">
                <a:latin typeface="Georgia"/>
                <a:cs typeface="Georgia"/>
              </a:rPr>
              <a:t> </a:t>
            </a:r>
            <a:r>
              <a:rPr sz="1100" dirty="0">
                <a:latin typeface="Georgia"/>
                <a:cs typeface="Georgia"/>
              </a:rPr>
              <a:t>J.</a:t>
            </a:r>
            <a:r>
              <a:rPr sz="1100" spc="100" dirty="0">
                <a:latin typeface="Georgia"/>
                <a:cs typeface="Georgia"/>
              </a:rPr>
              <a:t> </a:t>
            </a:r>
            <a:r>
              <a:rPr sz="1100" spc="-10" dirty="0">
                <a:latin typeface="Georgia"/>
                <a:cs typeface="Georgia"/>
              </a:rPr>
              <a:t>Kleinberg.</a:t>
            </a:r>
            <a:r>
              <a:rPr sz="1100" spc="215" dirty="0">
                <a:latin typeface="Georgia"/>
                <a:cs typeface="Georgia"/>
              </a:rPr>
              <a:t> </a:t>
            </a:r>
            <a:r>
              <a:rPr sz="1100" i="1" dirty="0">
                <a:latin typeface="Palatino Linotype"/>
                <a:cs typeface="Palatino Linotype"/>
              </a:rPr>
              <a:t>Networks,</a:t>
            </a:r>
            <a:r>
              <a:rPr sz="1100" i="1" spc="114" dirty="0">
                <a:latin typeface="Palatino Linotype"/>
                <a:cs typeface="Palatino Linotype"/>
              </a:rPr>
              <a:t> </a:t>
            </a:r>
            <a:r>
              <a:rPr sz="1100" i="1" dirty="0">
                <a:latin typeface="Palatino Linotype"/>
                <a:cs typeface="Palatino Linotype"/>
              </a:rPr>
              <a:t>Crowds,</a:t>
            </a:r>
            <a:r>
              <a:rPr sz="1100" i="1" spc="114" dirty="0">
                <a:latin typeface="Palatino Linotype"/>
                <a:cs typeface="Palatino Linotype"/>
              </a:rPr>
              <a:t> </a:t>
            </a:r>
            <a:r>
              <a:rPr sz="1100" i="1" dirty="0">
                <a:latin typeface="Palatino Linotype"/>
                <a:cs typeface="Palatino Linotype"/>
              </a:rPr>
              <a:t>and</a:t>
            </a:r>
            <a:r>
              <a:rPr sz="1100" i="1" spc="114" dirty="0">
                <a:latin typeface="Palatino Linotype"/>
                <a:cs typeface="Palatino Linotype"/>
              </a:rPr>
              <a:t> </a:t>
            </a:r>
            <a:r>
              <a:rPr sz="1100" i="1" dirty="0">
                <a:latin typeface="Palatino Linotype"/>
                <a:cs typeface="Palatino Linotype"/>
              </a:rPr>
              <a:t>Markets:</a:t>
            </a:r>
            <a:r>
              <a:rPr sz="1100" i="1" spc="225" dirty="0">
                <a:latin typeface="Palatino Linotype"/>
                <a:cs typeface="Palatino Linotype"/>
              </a:rPr>
              <a:t> </a:t>
            </a:r>
            <a:r>
              <a:rPr sz="1100" i="1" dirty="0">
                <a:latin typeface="Palatino Linotype"/>
                <a:cs typeface="Palatino Linotype"/>
              </a:rPr>
              <a:t>Reasoning</a:t>
            </a:r>
            <a:r>
              <a:rPr sz="1100" i="1" spc="114" dirty="0">
                <a:latin typeface="Palatino Linotype"/>
                <a:cs typeface="Palatino Linotype"/>
              </a:rPr>
              <a:t> </a:t>
            </a:r>
            <a:r>
              <a:rPr sz="1100" i="1" dirty="0">
                <a:latin typeface="Palatino Linotype"/>
                <a:cs typeface="Palatino Linotype"/>
              </a:rPr>
              <a:t>About</a:t>
            </a:r>
            <a:r>
              <a:rPr sz="1100" i="1" spc="114" dirty="0">
                <a:latin typeface="Palatino Linotype"/>
                <a:cs typeface="Palatino Linotype"/>
              </a:rPr>
              <a:t> </a:t>
            </a:r>
            <a:r>
              <a:rPr sz="1100" i="1" spc="10" dirty="0">
                <a:latin typeface="Palatino Linotype"/>
                <a:cs typeface="Palatino Linotype"/>
              </a:rPr>
              <a:t>a 	</a:t>
            </a:r>
            <a:r>
              <a:rPr sz="1100" i="1" dirty="0">
                <a:latin typeface="Palatino Linotype"/>
                <a:cs typeface="Palatino Linotype"/>
              </a:rPr>
              <a:t>Highly</a:t>
            </a:r>
            <a:r>
              <a:rPr sz="1100" i="1" spc="70" dirty="0">
                <a:latin typeface="Palatino Linotype"/>
                <a:cs typeface="Palatino Linotype"/>
              </a:rPr>
              <a:t> </a:t>
            </a:r>
            <a:r>
              <a:rPr sz="1100" i="1" dirty="0">
                <a:latin typeface="Palatino Linotype"/>
                <a:cs typeface="Palatino Linotype"/>
              </a:rPr>
              <a:t>Connected</a:t>
            </a:r>
            <a:r>
              <a:rPr sz="1100" i="1" spc="75" dirty="0">
                <a:latin typeface="Palatino Linotype"/>
                <a:cs typeface="Palatino Linotype"/>
              </a:rPr>
              <a:t> </a:t>
            </a:r>
            <a:r>
              <a:rPr sz="1100" i="1" dirty="0">
                <a:latin typeface="Palatino Linotype"/>
                <a:cs typeface="Palatino Linotype"/>
              </a:rPr>
              <a:t>World</a:t>
            </a:r>
            <a:r>
              <a:rPr sz="1100" dirty="0">
                <a:latin typeface="Georgia"/>
                <a:cs typeface="Georgia"/>
              </a:rPr>
              <a:t>.</a:t>
            </a:r>
            <a:r>
              <a:rPr sz="1100" spc="165" dirty="0">
                <a:latin typeface="Georgia"/>
                <a:cs typeface="Georgia"/>
              </a:rPr>
              <a:t> </a:t>
            </a:r>
            <a:r>
              <a:rPr sz="1100" spc="-20" dirty="0">
                <a:latin typeface="Georgia"/>
                <a:cs typeface="Georgia"/>
              </a:rPr>
              <a:t>Cambridge</a:t>
            </a:r>
            <a:r>
              <a:rPr sz="1100" spc="60" dirty="0">
                <a:latin typeface="Georgia"/>
                <a:cs typeface="Georgia"/>
              </a:rPr>
              <a:t> </a:t>
            </a:r>
            <a:r>
              <a:rPr sz="1100" spc="-20" dirty="0">
                <a:latin typeface="Georgia"/>
                <a:cs typeface="Georgia"/>
              </a:rPr>
              <a:t>University</a:t>
            </a:r>
            <a:r>
              <a:rPr sz="1100" spc="65" dirty="0">
                <a:latin typeface="Georgia"/>
                <a:cs typeface="Georgia"/>
              </a:rPr>
              <a:t> </a:t>
            </a:r>
            <a:r>
              <a:rPr sz="1100" spc="-10" dirty="0">
                <a:latin typeface="Georgia"/>
                <a:cs typeface="Georgia"/>
              </a:rPr>
              <a:t>Press,</a:t>
            </a:r>
            <a:r>
              <a:rPr sz="1100" spc="60" dirty="0">
                <a:latin typeface="Georgia"/>
                <a:cs typeface="Georgia"/>
              </a:rPr>
              <a:t> </a:t>
            </a:r>
            <a:r>
              <a:rPr sz="1100" spc="-45" dirty="0">
                <a:latin typeface="Georgia"/>
                <a:cs typeface="Georgia"/>
              </a:rPr>
              <a:t>2010</a:t>
            </a:r>
            <a:r>
              <a:rPr sz="1100" spc="60" dirty="0">
                <a:latin typeface="Georgia"/>
                <a:cs typeface="Georgia"/>
              </a:rPr>
              <a:t> </a:t>
            </a:r>
            <a:r>
              <a:rPr sz="1100" spc="-10" dirty="0">
                <a:latin typeface="Georgia"/>
                <a:cs typeface="Georgia"/>
              </a:rPr>
              <a:t>[</a:t>
            </a:r>
            <a:r>
              <a:rPr sz="1100" spc="-10" dirty="0">
                <a:solidFill>
                  <a:srgbClr val="FF0000"/>
                </a:solidFill>
                <a:latin typeface="Georgia"/>
                <a:cs typeface="Georgia"/>
              </a:rPr>
              <a:t>Book5</a:t>
            </a:r>
            <a:r>
              <a:rPr sz="1100" spc="-10" dirty="0">
                <a:latin typeface="Georgia"/>
                <a:cs typeface="Georgia"/>
              </a:rPr>
              <a:t>].</a:t>
            </a:r>
            <a:endParaRPr sz="1100">
              <a:latin typeface="Georgia"/>
              <a:cs typeface="Georgia"/>
            </a:endParaRPr>
          </a:p>
          <a:p>
            <a:pPr marL="225425" marR="34925" indent="-213360">
              <a:lnSpc>
                <a:spcPts val="1150"/>
              </a:lnSpc>
              <a:spcBef>
                <a:spcPts val="305"/>
              </a:spcBef>
              <a:buAutoNum type="arabicPlain"/>
              <a:tabLst>
                <a:tab pos="227329" algn="l"/>
              </a:tabLst>
            </a:pPr>
            <a:r>
              <a:rPr sz="1100" dirty="0">
                <a:latin typeface="Georgia"/>
                <a:cs typeface="Georgia"/>
              </a:rPr>
              <a:t>J.</a:t>
            </a:r>
            <a:r>
              <a:rPr sz="1100" spc="145" dirty="0">
                <a:latin typeface="Georgia"/>
                <a:cs typeface="Georgia"/>
              </a:rPr>
              <a:t> </a:t>
            </a:r>
            <a:r>
              <a:rPr sz="1100" spc="-10" dirty="0">
                <a:latin typeface="Georgia"/>
                <a:cs typeface="Georgia"/>
              </a:rPr>
              <a:t>VanderPlas.</a:t>
            </a:r>
            <a:r>
              <a:rPr sz="1100" spc="285" dirty="0">
                <a:latin typeface="Georgia"/>
                <a:cs typeface="Georgia"/>
              </a:rPr>
              <a:t> </a:t>
            </a:r>
            <a:r>
              <a:rPr sz="1100" i="1" dirty="0">
                <a:latin typeface="Palatino Linotype"/>
                <a:cs typeface="Palatino Linotype"/>
              </a:rPr>
              <a:t>Python</a:t>
            </a:r>
            <a:r>
              <a:rPr sz="1100" i="1" spc="165" dirty="0">
                <a:latin typeface="Palatino Linotype"/>
                <a:cs typeface="Palatino Linotype"/>
              </a:rPr>
              <a:t> </a:t>
            </a:r>
            <a:r>
              <a:rPr sz="1100" i="1" dirty="0">
                <a:latin typeface="Palatino Linotype"/>
                <a:cs typeface="Palatino Linotype"/>
              </a:rPr>
              <a:t>Data</a:t>
            </a:r>
            <a:r>
              <a:rPr sz="1100" i="1" spc="170" dirty="0">
                <a:latin typeface="Palatino Linotype"/>
                <a:cs typeface="Palatino Linotype"/>
              </a:rPr>
              <a:t> </a:t>
            </a:r>
            <a:r>
              <a:rPr sz="1100" i="1" dirty="0">
                <a:latin typeface="Palatino Linotype"/>
                <a:cs typeface="Palatino Linotype"/>
              </a:rPr>
              <a:t>Science</a:t>
            </a:r>
            <a:r>
              <a:rPr sz="1100" i="1" spc="165" dirty="0">
                <a:latin typeface="Palatino Linotype"/>
                <a:cs typeface="Palatino Linotype"/>
              </a:rPr>
              <a:t> </a:t>
            </a:r>
            <a:r>
              <a:rPr sz="1100" i="1" dirty="0">
                <a:latin typeface="Palatino Linotype"/>
                <a:cs typeface="Palatino Linotype"/>
              </a:rPr>
              <a:t>Handbook:</a:t>
            </a:r>
            <a:r>
              <a:rPr sz="1100" i="1" spc="295" dirty="0">
                <a:latin typeface="Palatino Linotype"/>
                <a:cs typeface="Palatino Linotype"/>
              </a:rPr>
              <a:t> </a:t>
            </a:r>
            <a:r>
              <a:rPr sz="1100" i="1" dirty="0">
                <a:latin typeface="Palatino Linotype"/>
                <a:cs typeface="Palatino Linotype"/>
              </a:rPr>
              <a:t>Essential</a:t>
            </a:r>
            <a:r>
              <a:rPr sz="1100" i="1" spc="170" dirty="0">
                <a:latin typeface="Palatino Linotype"/>
                <a:cs typeface="Palatino Linotype"/>
              </a:rPr>
              <a:t> </a:t>
            </a:r>
            <a:r>
              <a:rPr sz="1100" i="1" dirty="0">
                <a:latin typeface="Palatino Linotype"/>
                <a:cs typeface="Palatino Linotype"/>
              </a:rPr>
              <a:t>Tools</a:t>
            </a:r>
            <a:r>
              <a:rPr sz="1100" i="1" spc="170" dirty="0">
                <a:latin typeface="Palatino Linotype"/>
                <a:cs typeface="Palatino Linotype"/>
              </a:rPr>
              <a:t> </a:t>
            </a:r>
            <a:r>
              <a:rPr sz="1100" i="1" dirty="0">
                <a:latin typeface="Palatino Linotype"/>
                <a:cs typeface="Palatino Linotype"/>
              </a:rPr>
              <a:t>for</a:t>
            </a:r>
            <a:r>
              <a:rPr sz="1100" i="1" spc="165" dirty="0">
                <a:latin typeface="Palatino Linotype"/>
                <a:cs typeface="Palatino Linotype"/>
              </a:rPr>
              <a:t> </a:t>
            </a:r>
            <a:r>
              <a:rPr sz="1100" i="1" dirty="0">
                <a:latin typeface="Palatino Linotype"/>
                <a:cs typeface="Palatino Linotype"/>
              </a:rPr>
              <a:t>Working</a:t>
            </a:r>
            <a:r>
              <a:rPr sz="1100" i="1" spc="170" dirty="0">
                <a:latin typeface="Palatino Linotype"/>
                <a:cs typeface="Palatino Linotype"/>
              </a:rPr>
              <a:t> </a:t>
            </a:r>
            <a:r>
              <a:rPr sz="1100" i="1" spc="-20" dirty="0">
                <a:latin typeface="Palatino Linotype"/>
                <a:cs typeface="Palatino Linotype"/>
              </a:rPr>
              <a:t>with 	</a:t>
            </a:r>
            <a:r>
              <a:rPr sz="1100" i="1" dirty="0">
                <a:latin typeface="Palatino Linotype"/>
                <a:cs typeface="Palatino Linotype"/>
              </a:rPr>
              <a:t>Data</a:t>
            </a:r>
            <a:r>
              <a:rPr sz="1100" dirty="0">
                <a:latin typeface="Georgia"/>
                <a:cs typeface="Georgia"/>
              </a:rPr>
              <a:t>.</a:t>
            </a:r>
            <a:r>
              <a:rPr sz="1100" spc="160" dirty="0">
                <a:latin typeface="Georgia"/>
                <a:cs typeface="Georgia"/>
              </a:rPr>
              <a:t> </a:t>
            </a:r>
            <a:r>
              <a:rPr sz="1100" dirty="0">
                <a:latin typeface="Georgia"/>
                <a:cs typeface="Georgia"/>
              </a:rPr>
              <a:t>O’Reilly,</a:t>
            </a:r>
            <a:r>
              <a:rPr sz="1100" spc="55" dirty="0">
                <a:latin typeface="Georgia"/>
                <a:cs typeface="Georgia"/>
              </a:rPr>
              <a:t> </a:t>
            </a:r>
            <a:r>
              <a:rPr sz="1100" spc="-10" dirty="0">
                <a:latin typeface="Georgia"/>
                <a:cs typeface="Georgia"/>
              </a:rPr>
              <a:t>2017</a:t>
            </a:r>
            <a:r>
              <a:rPr sz="1100" spc="60" dirty="0">
                <a:latin typeface="Georgia"/>
                <a:cs typeface="Georgia"/>
              </a:rPr>
              <a:t> </a:t>
            </a:r>
            <a:r>
              <a:rPr sz="1100" spc="-10" dirty="0">
                <a:latin typeface="Georgia"/>
                <a:cs typeface="Georgia"/>
              </a:rPr>
              <a:t>[</a:t>
            </a:r>
            <a:r>
              <a:rPr sz="1100" spc="-10" dirty="0">
                <a:solidFill>
                  <a:srgbClr val="FF0000"/>
                </a:solidFill>
                <a:latin typeface="Georgia"/>
                <a:cs typeface="Georgia"/>
              </a:rPr>
              <a:t>Book6</a:t>
            </a:r>
            <a:r>
              <a:rPr sz="1100" spc="-10" dirty="0">
                <a:latin typeface="Georgia"/>
                <a:cs typeface="Georgia"/>
              </a:rPr>
              <a:t>].</a:t>
            </a:r>
            <a:endParaRPr sz="1100">
              <a:latin typeface="Georgia"/>
              <a:cs typeface="Georgia"/>
            </a:endParaRPr>
          </a:p>
          <a:p>
            <a:pPr marL="225425" marR="19685" indent="-213360">
              <a:lnSpc>
                <a:spcPts val="1150"/>
              </a:lnSpc>
              <a:spcBef>
                <a:spcPts val="300"/>
              </a:spcBef>
              <a:buAutoNum type="arabicPlain"/>
              <a:tabLst>
                <a:tab pos="227329" algn="l"/>
              </a:tabLst>
            </a:pPr>
            <a:r>
              <a:rPr sz="1100" dirty="0">
                <a:latin typeface="Georgia"/>
                <a:cs typeface="Georgia"/>
              </a:rPr>
              <a:t>J.</a:t>
            </a:r>
            <a:r>
              <a:rPr sz="1100" spc="150" dirty="0">
                <a:latin typeface="Georgia"/>
                <a:cs typeface="Georgia"/>
              </a:rPr>
              <a:t> </a:t>
            </a:r>
            <a:r>
              <a:rPr sz="1100" dirty="0">
                <a:latin typeface="Georgia"/>
                <a:cs typeface="Georgia"/>
              </a:rPr>
              <a:t>Grus.</a:t>
            </a:r>
            <a:r>
              <a:rPr sz="1100" spc="285" dirty="0">
                <a:latin typeface="Georgia"/>
                <a:cs typeface="Georgia"/>
              </a:rPr>
              <a:t> </a:t>
            </a:r>
            <a:r>
              <a:rPr sz="1100" i="1" dirty="0">
                <a:latin typeface="Palatino Linotype"/>
                <a:cs typeface="Palatino Linotype"/>
              </a:rPr>
              <a:t>Data</a:t>
            </a:r>
            <a:r>
              <a:rPr sz="1100" i="1" spc="175" dirty="0">
                <a:latin typeface="Palatino Linotype"/>
                <a:cs typeface="Palatino Linotype"/>
              </a:rPr>
              <a:t> </a:t>
            </a:r>
            <a:r>
              <a:rPr sz="1100" i="1" dirty="0">
                <a:latin typeface="Palatino Linotype"/>
                <a:cs typeface="Palatino Linotype"/>
              </a:rPr>
              <a:t>Science</a:t>
            </a:r>
            <a:r>
              <a:rPr sz="1100" i="1" spc="170" dirty="0">
                <a:latin typeface="Palatino Linotype"/>
                <a:cs typeface="Palatino Linotype"/>
              </a:rPr>
              <a:t> </a:t>
            </a:r>
            <a:r>
              <a:rPr sz="1100" i="1" dirty="0">
                <a:latin typeface="Palatino Linotype"/>
                <a:cs typeface="Palatino Linotype"/>
              </a:rPr>
              <a:t>from</a:t>
            </a:r>
            <a:r>
              <a:rPr sz="1100" i="1" spc="170" dirty="0">
                <a:latin typeface="Palatino Linotype"/>
                <a:cs typeface="Palatino Linotype"/>
              </a:rPr>
              <a:t> </a:t>
            </a:r>
            <a:r>
              <a:rPr sz="1100" i="1" dirty="0">
                <a:latin typeface="Palatino Linotype"/>
                <a:cs typeface="Palatino Linotype"/>
              </a:rPr>
              <a:t>Scratch:</a:t>
            </a:r>
            <a:r>
              <a:rPr sz="1100" i="1" spc="300" dirty="0">
                <a:latin typeface="Palatino Linotype"/>
                <a:cs typeface="Palatino Linotype"/>
              </a:rPr>
              <a:t> </a:t>
            </a:r>
            <a:r>
              <a:rPr sz="1100" i="1" dirty="0">
                <a:latin typeface="Palatino Linotype"/>
                <a:cs typeface="Palatino Linotype"/>
              </a:rPr>
              <a:t>First</a:t>
            </a:r>
            <a:r>
              <a:rPr sz="1100" i="1" spc="175" dirty="0">
                <a:latin typeface="Palatino Linotype"/>
                <a:cs typeface="Palatino Linotype"/>
              </a:rPr>
              <a:t> </a:t>
            </a:r>
            <a:r>
              <a:rPr sz="1100" i="1" dirty="0">
                <a:latin typeface="Palatino Linotype"/>
                <a:cs typeface="Palatino Linotype"/>
              </a:rPr>
              <a:t>Principles</a:t>
            </a:r>
            <a:r>
              <a:rPr sz="1100" i="1" spc="170" dirty="0">
                <a:latin typeface="Palatino Linotype"/>
                <a:cs typeface="Palatino Linotype"/>
              </a:rPr>
              <a:t> </a:t>
            </a:r>
            <a:r>
              <a:rPr sz="1100" i="1" dirty="0">
                <a:latin typeface="Palatino Linotype"/>
                <a:cs typeface="Palatino Linotype"/>
              </a:rPr>
              <a:t>with</a:t>
            </a:r>
            <a:r>
              <a:rPr sz="1100" i="1" spc="170" dirty="0">
                <a:latin typeface="Palatino Linotype"/>
                <a:cs typeface="Palatino Linotype"/>
              </a:rPr>
              <a:t> </a:t>
            </a:r>
            <a:r>
              <a:rPr sz="1100" i="1" dirty="0">
                <a:latin typeface="Palatino Linotype"/>
                <a:cs typeface="Palatino Linotype"/>
              </a:rPr>
              <a:t>Python</a:t>
            </a:r>
            <a:r>
              <a:rPr sz="1100" dirty="0">
                <a:latin typeface="Georgia"/>
                <a:cs typeface="Georgia"/>
              </a:rPr>
              <a:t>.</a:t>
            </a:r>
            <a:r>
              <a:rPr sz="1100" spc="290" dirty="0">
                <a:latin typeface="Georgia"/>
                <a:cs typeface="Georgia"/>
              </a:rPr>
              <a:t> </a:t>
            </a:r>
            <a:r>
              <a:rPr sz="1100" dirty="0">
                <a:latin typeface="Georgia"/>
                <a:cs typeface="Georgia"/>
              </a:rPr>
              <a:t>O’Reilly,</a:t>
            </a:r>
            <a:r>
              <a:rPr sz="1100" spc="150" dirty="0">
                <a:latin typeface="Georgia"/>
                <a:cs typeface="Georgia"/>
              </a:rPr>
              <a:t> </a:t>
            </a:r>
            <a:r>
              <a:rPr sz="1100" spc="-20" dirty="0">
                <a:latin typeface="Georgia"/>
                <a:cs typeface="Georgia"/>
              </a:rPr>
              <a:t>2015 	</a:t>
            </a:r>
            <a:r>
              <a:rPr sz="1100" spc="-10" dirty="0">
                <a:latin typeface="Georgia"/>
                <a:cs typeface="Georgia"/>
              </a:rPr>
              <a:t>[</a:t>
            </a:r>
            <a:r>
              <a:rPr sz="1100" spc="-10" dirty="0">
                <a:solidFill>
                  <a:srgbClr val="FF0000"/>
                </a:solidFill>
                <a:latin typeface="Georgia"/>
                <a:cs typeface="Georgia"/>
              </a:rPr>
              <a:t>Book7</a:t>
            </a:r>
            <a:r>
              <a:rPr sz="1100" spc="-10" dirty="0">
                <a:latin typeface="Georgia"/>
                <a:cs typeface="Georgia"/>
              </a:rPr>
              <a:t>].</a:t>
            </a:r>
            <a:endParaRPr sz="1100">
              <a:latin typeface="Georgia"/>
              <a:cs typeface="Georgia"/>
            </a:endParaRPr>
          </a:p>
        </p:txBody>
      </p:sp>
      <p:grpSp>
        <p:nvGrpSpPr>
          <p:cNvPr id="4" name="object 4"/>
          <p:cNvGrpSpPr/>
          <p:nvPr/>
        </p:nvGrpSpPr>
        <p:grpSpPr>
          <a:xfrm>
            <a:off x="0" y="3121545"/>
            <a:ext cx="5760085" cy="118745"/>
            <a:chOff x="0" y="3121545"/>
            <a:chExt cx="5760085" cy="118745"/>
          </a:xfrm>
        </p:grpSpPr>
        <p:sp>
          <p:nvSpPr>
            <p:cNvPr id="5" name="object 5"/>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6" name="object 6"/>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8" name="object 8"/>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9" name="object 9"/>
          <p:cNvSpPr txBox="1">
            <a:spLocks noGrp="1"/>
          </p:cNvSpPr>
          <p:nvPr>
            <p:ph type="sldNum" sz="quarter" idx="7"/>
          </p:nvPr>
        </p:nvSpPr>
        <p:spPr>
          <a:prstGeom prst="rect">
            <a:avLst/>
          </a:prstGeom>
        </p:spPr>
        <p:txBody>
          <a:bodyPr vert="horz" wrap="square" lIns="0" tIns="8255" rIns="0" bIns="0" rtlCol="0">
            <a:spAutoFit/>
          </a:bodyPr>
          <a:lstStyle/>
          <a:p>
            <a:pPr marL="38100">
              <a:lnSpc>
                <a:spcPct val="100000"/>
              </a:lnSpc>
              <a:spcBef>
                <a:spcPts val="65"/>
              </a:spcBef>
            </a:pPr>
            <a:fld id="{81D60167-4931-47E6-BA6A-407CBD079E47}" type="slidenum">
              <a:rPr spc="70" dirty="0"/>
              <a:t>74</a:t>
            </a:fld>
            <a:r>
              <a:rPr spc="-20" dirty="0"/>
              <a:t> </a:t>
            </a:r>
            <a:r>
              <a:rPr spc="75" dirty="0"/>
              <a:t>/</a:t>
            </a:r>
            <a:r>
              <a:rPr spc="-20" dirty="0"/>
              <a:t> </a:t>
            </a:r>
            <a:r>
              <a:rPr spc="35" dirty="0"/>
              <a:t>135</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38100">
              <a:lnSpc>
                <a:spcPct val="100000"/>
              </a:lnSpc>
              <a:spcBef>
                <a:spcPts val="135"/>
              </a:spcBef>
            </a:pPr>
            <a:r>
              <a:rPr spc="-10" dirty="0"/>
              <a:t>Summary</a:t>
            </a:r>
          </a:p>
        </p:txBody>
      </p:sp>
      <p:sp>
        <p:nvSpPr>
          <p:cNvPr id="3" name="object 3"/>
          <p:cNvSpPr/>
          <p:nvPr/>
        </p:nvSpPr>
        <p:spPr>
          <a:xfrm>
            <a:off x="337972" y="43976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4" name="object 4"/>
          <p:cNvSpPr txBox="1"/>
          <p:nvPr/>
        </p:nvSpPr>
        <p:spPr>
          <a:xfrm>
            <a:off x="454177" y="348156"/>
            <a:ext cx="5105400" cy="1727396"/>
          </a:xfrm>
          <a:prstGeom prst="rect">
            <a:avLst/>
          </a:prstGeom>
        </p:spPr>
        <p:txBody>
          <a:bodyPr vert="horz" wrap="square" lIns="0" tIns="34290" rIns="0" bIns="0" rtlCol="0">
            <a:spAutoFit/>
          </a:bodyPr>
          <a:lstStyle/>
          <a:p>
            <a:pPr marL="12700" marR="105410">
              <a:lnSpc>
                <a:spcPts val="1150"/>
              </a:lnSpc>
              <a:spcBef>
                <a:spcPts val="270"/>
              </a:spcBef>
            </a:pPr>
            <a:r>
              <a:rPr sz="1100" spc="-25" dirty="0">
                <a:latin typeface="Georgia"/>
                <a:cs typeface="Georgia"/>
              </a:rPr>
              <a:t>Introducing</a:t>
            </a:r>
            <a:r>
              <a:rPr sz="1100" spc="25" dirty="0">
                <a:latin typeface="Georgia"/>
                <a:cs typeface="Georgia"/>
              </a:rPr>
              <a:t> </a:t>
            </a:r>
            <a:r>
              <a:rPr sz="1100" spc="-10" dirty="0">
                <a:latin typeface="Georgia"/>
                <a:cs typeface="Georgia"/>
              </a:rPr>
              <a:t>important</a:t>
            </a:r>
            <a:r>
              <a:rPr sz="1100" spc="25" dirty="0">
                <a:latin typeface="Georgia"/>
                <a:cs typeface="Georgia"/>
              </a:rPr>
              <a:t> </a:t>
            </a:r>
            <a:r>
              <a:rPr sz="1100" spc="-20" dirty="0">
                <a:latin typeface="Georgia"/>
                <a:cs typeface="Georgia"/>
              </a:rPr>
              <a:t>concepts</a:t>
            </a:r>
            <a:r>
              <a:rPr sz="1100" spc="25" dirty="0">
                <a:latin typeface="Georgia"/>
                <a:cs typeface="Georgia"/>
              </a:rPr>
              <a:t> </a:t>
            </a:r>
            <a:r>
              <a:rPr sz="1100" dirty="0">
                <a:latin typeface="Georgia"/>
                <a:cs typeface="Georgia"/>
              </a:rPr>
              <a:t>of</a:t>
            </a:r>
            <a:r>
              <a:rPr sz="1100" spc="30" dirty="0">
                <a:latin typeface="Georgia"/>
                <a:cs typeface="Georgia"/>
              </a:rPr>
              <a:t> </a:t>
            </a:r>
            <a:r>
              <a:rPr sz="1100" spc="-20" dirty="0">
                <a:latin typeface="Georgia"/>
                <a:cs typeface="Georgia"/>
              </a:rPr>
              <a:t>clustering:</a:t>
            </a:r>
            <a:r>
              <a:rPr sz="1100" spc="120" dirty="0">
                <a:latin typeface="Georgia"/>
                <a:cs typeface="Georgia"/>
              </a:rPr>
              <a:t> </a:t>
            </a:r>
            <a:r>
              <a:rPr sz="1100" spc="-30" dirty="0">
                <a:latin typeface="Georgia"/>
                <a:cs typeface="Georgia"/>
              </a:rPr>
              <a:t>definitions,</a:t>
            </a:r>
            <a:r>
              <a:rPr sz="1100" spc="25" dirty="0">
                <a:latin typeface="Georgia"/>
                <a:cs typeface="Georgia"/>
              </a:rPr>
              <a:t> </a:t>
            </a:r>
            <a:r>
              <a:rPr sz="1100" dirty="0">
                <a:latin typeface="Georgia"/>
                <a:cs typeface="Georgia"/>
              </a:rPr>
              <a:t>types</a:t>
            </a:r>
            <a:r>
              <a:rPr sz="1100" spc="25" dirty="0">
                <a:latin typeface="Georgia"/>
                <a:cs typeface="Georgia"/>
              </a:rPr>
              <a:t> </a:t>
            </a:r>
            <a:r>
              <a:rPr sz="1100" dirty="0">
                <a:latin typeface="Georgia"/>
                <a:cs typeface="Georgia"/>
              </a:rPr>
              <a:t>of</a:t>
            </a:r>
            <a:r>
              <a:rPr sz="1100" spc="30" dirty="0">
                <a:latin typeface="Georgia"/>
                <a:cs typeface="Georgia"/>
              </a:rPr>
              <a:t> </a:t>
            </a:r>
            <a:r>
              <a:rPr sz="1100" spc="-25" dirty="0">
                <a:latin typeface="Georgia"/>
                <a:cs typeface="Georgia"/>
              </a:rPr>
              <a:t>clustering</a:t>
            </a:r>
            <a:r>
              <a:rPr sz="1100" spc="25" dirty="0">
                <a:latin typeface="Georgia"/>
                <a:cs typeface="Georgia"/>
              </a:rPr>
              <a:t> </a:t>
            </a:r>
            <a:r>
              <a:rPr sz="1100" spc="-10" dirty="0">
                <a:latin typeface="Georgia"/>
                <a:cs typeface="Georgia"/>
              </a:rPr>
              <a:t>(hard </a:t>
            </a:r>
            <a:r>
              <a:rPr sz="1100" dirty="0">
                <a:latin typeface="Georgia"/>
                <a:cs typeface="Georgia"/>
              </a:rPr>
              <a:t>vs.</a:t>
            </a:r>
            <a:r>
              <a:rPr sz="1100" spc="125" dirty="0">
                <a:latin typeface="Georgia"/>
                <a:cs typeface="Georgia"/>
              </a:rPr>
              <a:t> </a:t>
            </a:r>
            <a:r>
              <a:rPr sz="1100" dirty="0">
                <a:latin typeface="Georgia"/>
                <a:cs typeface="Georgia"/>
              </a:rPr>
              <a:t>soft),</a:t>
            </a:r>
            <a:r>
              <a:rPr sz="1100" spc="30" dirty="0">
                <a:latin typeface="Georgia"/>
                <a:cs typeface="Georgia"/>
              </a:rPr>
              <a:t> </a:t>
            </a:r>
            <a:r>
              <a:rPr sz="1100" spc="-20" dirty="0">
                <a:latin typeface="Georgia"/>
                <a:cs typeface="Georgia"/>
              </a:rPr>
              <a:t>main</a:t>
            </a:r>
            <a:r>
              <a:rPr sz="1100" spc="30" dirty="0">
                <a:latin typeface="Georgia"/>
                <a:cs typeface="Georgia"/>
              </a:rPr>
              <a:t> </a:t>
            </a:r>
            <a:r>
              <a:rPr sz="1100" spc="-40" dirty="0">
                <a:latin typeface="Georgia"/>
                <a:cs typeface="Georgia"/>
              </a:rPr>
              <a:t>requirements</a:t>
            </a:r>
            <a:r>
              <a:rPr sz="1100" spc="35" dirty="0">
                <a:latin typeface="Georgia"/>
                <a:cs typeface="Georgia"/>
              </a:rPr>
              <a:t> </a:t>
            </a:r>
            <a:r>
              <a:rPr sz="1100" dirty="0">
                <a:latin typeface="Georgia"/>
                <a:cs typeface="Georgia"/>
              </a:rPr>
              <a:t>for</a:t>
            </a:r>
            <a:r>
              <a:rPr sz="1100" spc="30" dirty="0">
                <a:latin typeface="Georgia"/>
                <a:cs typeface="Georgia"/>
              </a:rPr>
              <a:t> </a:t>
            </a:r>
            <a:r>
              <a:rPr sz="1100" spc="-20" dirty="0">
                <a:latin typeface="Georgia"/>
                <a:cs typeface="Georgia"/>
              </a:rPr>
              <a:t>clustering,</a:t>
            </a:r>
            <a:r>
              <a:rPr sz="1100" spc="30" dirty="0">
                <a:latin typeface="Georgia"/>
                <a:cs typeface="Georgia"/>
              </a:rPr>
              <a:t> </a:t>
            </a:r>
            <a:r>
              <a:rPr sz="1100" spc="-20" dirty="0">
                <a:latin typeface="Georgia"/>
                <a:cs typeface="Georgia"/>
              </a:rPr>
              <a:t>clustering</a:t>
            </a:r>
            <a:r>
              <a:rPr sz="1100" spc="30" dirty="0">
                <a:latin typeface="Georgia"/>
                <a:cs typeface="Georgia"/>
              </a:rPr>
              <a:t> </a:t>
            </a:r>
            <a:r>
              <a:rPr sz="1100" spc="-30" dirty="0">
                <a:latin typeface="Georgia"/>
                <a:cs typeface="Georgia"/>
              </a:rPr>
              <a:t>approaches,</a:t>
            </a:r>
            <a:r>
              <a:rPr sz="1100" spc="35" dirty="0">
                <a:latin typeface="Georgia"/>
                <a:cs typeface="Georgia"/>
              </a:rPr>
              <a:t> </a:t>
            </a:r>
            <a:r>
              <a:rPr sz="1100" spc="-30" dirty="0">
                <a:latin typeface="Georgia"/>
                <a:cs typeface="Georgia"/>
              </a:rPr>
              <a:t>challenges</a:t>
            </a:r>
            <a:r>
              <a:rPr sz="1100" spc="30" dirty="0">
                <a:latin typeface="Georgia"/>
                <a:cs typeface="Georgia"/>
              </a:rPr>
              <a:t> </a:t>
            </a:r>
            <a:r>
              <a:rPr sz="1100" spc="-25" dirty="0">
                <a:latin typeface="Georgia"/>
                <a:cs typeface="Georgia"/>
              </a:rPr>
              <a:t>in </a:t>
            </a:r>
            <a:r>
              <a:rPr sz="1100" spc="-20" dirty="0">
                <a:latin typeface="Georgia"/>
                <a:cs typeface="Georgia"/>
              </a:rPr>
              <a:t>clustering,</a:t>
            </a:r>
            <a:r>
              <a:rPr sz="1100" spc="30" dirty="0">
                <a:latin typeface="Georgia"/>
                <a:cs typeface="Georgia"/>
              </a:rPr>
              <a:t> </a:t>
            </a:r>
            <a:r>
              <a:rPr sz="1100" dirty="0">
                <a:latin typeface="Georgia"/>
                <a:cs typeface="Georgia"/>
              </a:rPr>
              <a:t>and</a:t>
            </a:r>
            <a:r>
              <a:rPr sz="1100" spc="35" dirty="0">
                <a:latin typeface="Georgia"/>
                <a:cs typeface="Georgia"/>
              </a:rPr>
              <a:t> </a:t>
            </a:r>
            <a:r>
              <a:rPr sz="1100" spc="-25" dirty="0">
                <a:latin typeface="Georgia"/>
                <a:cs typeface="Georgia"/>
              </a:rPr>
              <a:t>clustering</a:t>
            </a:r>
            <a:r>
              <a:rPr sz="1100" spc="35" dirty="0">
                <a:latin typeface="Georgia"/>
                <a:cs typeface="Georgia"/>
              </a:rPr>
              <a:t> </a:t>
            </a:r>
            <a:r>
              <a:rPr sz="1100" spc="-10" dirty="0">
                <a:latin typeface="Georgia"/>
                <a:cs typeface="Georgia"/>
              </a:rPr>
              <a:t>applications.</a:t>
            </a:r>
            <a:endParaRPr sz="1100">
              <a:latin typeface="Georgia"/>
              <a:cs typeface="Georgia"/>
            </a:endParaRPr>
          </a:p>
          <a:p>
            <a:pPr marL="12700" marR="186055">
              <a:lnSpc>
                <a:spcPts val="1150"/>
              </a:lnSpc>
              <a:spcBef>
                <a:spcPts val="445"/>
              </a:spcBef>
            </a:pPr>
            <a:r>
              <a:rPr sz="1100" spc="-10" dirty="0">
                <a:latin typeface="Georgia"/>
                <a:cs typeface="Georgia"/>
              </a:rPr>
              <a:t>Main</a:t>
            </a:r>
            <a:r>
              <a:rPr sz="1100" spc="45" dirty="0">
                <a:latin typeface="Georgia"/>
                <a:cs typeface="Georgia"/>
              </a:rPr>
              <a:t> </a:t>
            </a:r>
            <a:r>
              <a:rPr sz="1100" spc="-35" dirty="0">
                <a:latin typeface="Georgia"/>
                <a:cs typeface="Georgia"/>
              </a:rPr>
              <a:t>techniques</a:t>
            </a:r>
            <a:r>
              <a:rPr sz="1100" spc="45" dirty="0">
                <a:latin typeface="Georgia"/>
                <a:cs typeface="Georgia"/>
              </a:rPr>
              <a:t> </a:t>
            </a:r>
            <a:r>
              <a:rPr sz="1100" dirty="0">
                <a:latin typeface="Georgia"/>
                <a:cs typeface="Georgia"/>
              </a:rPr>
              <a:t>to</a:t>
            </a:r>
            <a:r>
              <a:rPr sz="1100" spc="45" dirty="0">
                <a:latin typeface="Georgia"/>
                <a:cs typeface="Georgia"/>
              </a:rPr>
              <a:t> </a:t>
            </a:r>
            <a:r>
              <a:rPr sz="1100" spc="-30" dirty="0">
                <a:latin typeface="Georgia"/>
                <a:cs typeface="Georgia"/>
              </a:rPr>
              <a:t>understanding</a:t>
            </a:r>
            <a:r>
              <a:rPr sz="1100" spc="45" dirty="0">
                <a:latin typeface="Georgia"/>
                <a:cs typeface="Georgia"/>
              </a:rPr>
              <a:t> </a:t>
            </a:r>
            <a:r>
              <a:rPr sz="1100" dirty="0">
                <a:latin typeface="Georgia"/>
                <a:cs typeface="Georgia"/>
              </a:rPr>
              <a:t>the</a:t>
            </a:r>
            <a:r>
              <a:rPr sz="1100" spc="45" dirty="0">
                <a:latin typeface="Georgia"/>
                <a:cs typeface="Georgia"/>
              </a:rPr>
              <a:t> </a:t>
            </a:r>
            <a:r>
              <a:rPr sz="1100" dirty="0">
                <a:latin typeface="Georgia"/>
                <a:cs typeface="Georgia"/>
              </a:rPr>
              <a:t>data</a:t>
            </a:r>
            <a:r>
              <a:rPr sz="1100" spc="45" dirty="0">
                <a:latin typeface="Georgia"/>
                <a:cs typeface="Georgia"/>
              </a:rPr>
              <a:t> </a:t>
            </a:r>
            <a:r>
              <a:rPr sz="1100" spc="-20" dirty="0">
                <a:latin typeface="Georgia"/>
                <a:cs typeface="Georgia"/>
              </a:rPr>
              <a:t>distribution</a:t>
            </a:r>
            <a:r>
              <a:rPr sz="1100" spc="45" dirty="0">
                <a:latin typeface="Georgia"/>
                <a:cs typeface="Georgia"/>
              </a:rPr>
              <a:t> </a:t>
            </a:r>
            <a:r>
              <a:rPr sz="1100" spc="-25" dirty="0">
                <a:latin typeface="Georgia"/>
                <a:cs typeface="Georgia"/>
              </a:rPr>
              <a:t>before</a:t>
            </a:r>
            <a:r>
              <a:rPr sz="1100" spc="45" dirty="0">
                <a:latin typeface="Georgia"/>
                <a:cs typeface="Georgia"/>
              </a:rPr>
              <a:t> </a:t>
            </a:r>
            <a:r>
              <a:rPr sz="1100" spc="-20" dirty="0">
                <a:latin typeface="Georgia"/>
                <a:cs typeface="Georgia"/>
              </a:rPr>
              <a:t>clustering:</a:t>
            </a:r>
            <a:r>
              <a:rPr sz="1100" spc="140" dirty="0">
                <a:latin typeface="Georgia"/>
                <a:cs typeface="Georgia"/>
              </a:rPr>
              <a:t> </a:t>
            </a:r>
            <a:r>
              <a:rPr sz="1100" spc="-10" dirty="0">
                <a:latin typeface="Georgia"/>
                <a:cs typeface="Georgia"/>
              </a:rPr>
              <a:t>spatial </a:t>
            </a:r>
            <a:r>
              <a:rPr sz="1100" spc="-20" dirty="0">
                <a:latin typeface="Georgia"/>
                <a:cs typeface="Georgia"/>
              </a:rPr>
              <a:t>histogram,</a:t>
            </a:r>
            <a:r>
              <a:rPr sz="1100" spc="35" dirty="0">
                <a:latin typeface="Georgia"/>
                <a:cs typeface="Georgia"/>
              </a:rPr>
              <a:t> </a:t>
            </a:r>
            <a:r>
              <a:rPr sz="1100" spc="-40" dirty="0">
                <a:latin typeface="Georgia"/>
                <a:cs typeface="Georgia"/>
              </a:rPr>
              <a:t>cell–based</a:t>
            </a:r>
            <a:r>
              <a:rPr sz="1100" spc="35" dirty="0">
                <a:latin typeface="Georgia"/>
                <a:cs typeface="Georgia"/>
              </a:rPr>
              <a:t> </a:t>
            </a:r>
            <a:r>
              <a:rPr sz="1100" spc="-30" dirty="0">
                <a:latin typeface="Georgia"/>
                <a:cs typeface="Georgia"/>
              </a:rPr>
              <a:t>entropy,</a:t>
            </a:r>
            <a:r>
              <a:rPr sz="1100" spc="35" dirty="0">
                <a:latin typeface="Georgia"/>
                <a:cs typeface="Georgia"/>
              </a:rPr>
              <a:t> </a:t>
            </a:r>
            <a:r>
              <a:rPr sz="1100" spc="-20" dirty="0">
                <a:latin typeface="Georgia"/>
                <a:cs typeface="Georgia"/>
              </a:rPr>
              <a:t>distance</a:t>
            </a:r>
            <a:r>
              <a:rPr sz="1100" spc="35" dirty="0">
                <a:latin typeface="Georgia"/>
                <a:cs typeface="Georgia"/>
              </a:rPr>
              <a:t> </a:t>
            </a:r>
            <a:r>
              <a:rPr sz="1100" spc="-20" dirty="0">
                <a:latin typeface="Georgia"/>
                <a:cs typeface="Georgia"/>
              </a:rPr>
              <a:t>distribution,</a:t>
            </a:r>
            <a:r>
              <a:rPr sz="1100" spc="35" dirty="0">
                <a:latin typeface="Georgia"/>
                <a:cs typeface="Georgia"/>
              </a:rPr>
              <a:t> </a:t>
            </a:r>
            <a:r>
              <a:rPr sz="1100" dirty="0">
                <a:latin typeface="Georgia"/>
                <a:cs typeface="Georgia"/>
              </a:rPr>
              <a:t>and</a:t>
            </a:r>
            <a:r>
              <a:rPr sz="1100" spc="35" dirty="0">
                <a:latin typeface="Georgia"/>
                <a:cs typeface="Georgia"/>
              </a:rPr>
              <a:t> </a:t>
            </a:r>
            <a:r>
              <a:rPr sz="1100" spc="-35" dirty="0">
                <a:latin typeface="Georgia"/>
                <a:cs typeface="Georgia"/>
              </a:rPr>
              <a:t>Hopkins</a:t>
            </a:r>
            <a:r>
              <a:rPr sz="1100" spc="35" dirty="0">
                <a:latin typeface="Georgia"/>
                <a:cs typeface="Georgia"/>
              </a:rPr>
              <a:t> </a:t>
            </a:r>
            <a:r>
              <a:rPr sz="1100" spc="-10" dirty="0">
                <a:latin typeface="Georgia"/>
                <a:cs typeface="Georgia"/>
              </a:rPr>
              <a:t>statistic.</a:t>
            </a:r>
            <a:endParaRPr sz="1100">
              <a:latin typeface="Georgia"/>
              <a:cs typeface="Georgia"/>
            </a:endParaRPr>
          </a:p>
          <a:p>
            <a:pPr marL="12700" marR="245110">
              <a:lnSpc>
                <a:spcPts val="1150"/>
              </a:lnSpc>
              <a:spcBef>
                <a:spcPts val="440"/>
              </a:spcBef>
            </a:pPr>
            <a:r>
              <a:rPr sz="1100" dirty="0">
                <a:latin typeface="Georgia"/>
                <a:cs typeface="Georgia"/>
              </a:rPr>
              <a:t>The</a:t>
            </a:r>
            <a:r>
              <a:rPr sz="1100" spc="50" dirty="0">
                <a:latin typeface="Georgia"/>
                <a:cs typeface="Georgia"/>
              </a:rPr>
              <a:t> </a:t>
            </a:r>
            <a:r>
              <a:rPr sz="1100" spc="-30" dirty="0">
                <a:latin typeface="Georgia"/>
                <a:cs typeface="Georgia"/>
              </a:rPr>
              <a:t>hierarchical</a:t>
            </a:r>
            <a:r>
              <a:rPr sz="1100" spc="55" dirty="0">
                <a:latin typeface="Georgia"/>
                <a:cs typeface="Georgia"/>
              </a:rPr>
              <a:t> </a:t>
            </a:r>
            <a:r>
              <a:rPr sz="1100" spc="-20" dirty="0">
                <a:latin typeface="Georgia"/>
                <a:cs typeface="Georgia"/>
              </a:rPr>
              <a:t>clustering</a:t>
            </a:r>
            <a:r>
              <a:rPr sz="1100" spc="55" dirty="0">
                <a:latin typeface="Georgia"/>
                <a:cs typeface="Georgia"/>
              </a:rPr>
              <a:t> </a:t>
            </a:r>
            <a:r>
              <a:rPr sz="1100" spc="-25" dirty="0">
                <a:latin typeface="Georgia"/>
                <a:cs typeface="Georgia"/>
              </a:rPr>
              <a:t>approach</a:t>
            </a:r>
            <a:r>
              <a:rPr sz="1100" spc="55" dirty="0">
                <a:latin typeface="Georgia"/>
                <a:cs typeface="Georgia"/>
              </a:rPr>
              <a:t> </a:t>
            </a:r>
            <a:r>
              <a:rPr sz="1100" dirty="0">
                <a:latin typeface="Georgia"/>
                <a:cs typeface="Georgia"/>
              </a:rPr>
              <a:t>with</a:t>
            </a:r>
            <a:r>
              <a:rPr sz="1100" spc="55" dirty="0">
                <a:latin typeface="Georgia"/>
                <a:cs typeface="Georgia"/>
              </a:rPr>
              <a:t> </a:t>
            </a:r>
            <a:r>
              <a:rPr sz="1100" spc="-25" dirty="0">
                <a:latin typeface="Georgia"/>
                <a:cs typeface="Georgia"/>
              </a:rPr>
              <a:t>agglomerative</a:t>
            </a:r>
            <a:r>
              <a:rPr sz="1100" spc="55" dirty="0">
                <a:latin typeface="Georgia"/>
                <a:cs typeface="Georgia"/>
              </a:rPr>
              <a:t> </a:t>
            </a:r>
            <a:r>
              <a:rPr sz="1100" spc="-20" dirty="0">
                <a:latin typeface="Georgia"/>
                <a:cs typeface="Georgia"/>
              </a:rPr>
              <a:t>method</a:t>
            </a:r>
            <a:r>
              <a:rPr sz="1100" spc="55" dirty="0">
                <a:latin typeface="Georgia"/>
                <a:cs typeface="Georgia"/>
              </a:rPr>
              <a:t> </a:t>
            </a:r>
            <a:r>
              <a:rPr sz="1100" spc="-10" dirty="0">
                <a:latin typeface="Georgia"/>
                <a:cs typeface="Georgia"/>
              </a:rPr>
              <a:t>(bottom–up), </a:t>
            </a:r>
            <a:r>
              <a:rPr sz="1100" spc="-35" dirty="0">
                <a:latin typeface="Georgia"/>
                <a:cs typeface="Georgia"/>
              </a:rPr>
              <a:t>dendrogram,</a:t>
            </a:r>
            <a:r>
              <a:rPr sz="1100" spc="20" dirty="0">
                <a:latin typeface="Georgia"/>
                <a:cs typeface="Georgia"/>
              </a:rPr>
              <a:t> </a:t>
            </a:r>
            <a:r>
              <a:rPr sz="1100" spc="-30" dirty="0">
                <a:latin typeface="Georgia"/>
                <a:cs typeface="Georgia"/>
              </a:rPr>
              <a:t>different</a:t>
            </a:r>
            <a:r>
              <a:rPr sz="1100" spc="25" dirty="0">
                <a:latin typeface="Georgia"/>
                <a:cs typeface="Georgia"/>
              </a:rPr>
              <a:t> </a:t>
            </a:r>
            <a:r>
              <a:rPr sz="1100" spc="-10" dirty="0">
                <a:latin typeface="Georgia"/>
                <a:cs typeface="Georgia"/>
              </a:rPr>
              <a:t>ways</a:t>
            </a:r>
            <a:r>
              <a:rPr sz="1100" spc="25" dirty="0">
                <a:latin typeface="Georgia"/>
                <a:cs typeface="Georgia"/>
              </a:rPr>
              <a:t> </a:t>
            </a:r>
            <a:r>
              <a:rPr sz="1100" dirty="0">
                <a:latin typeface="Georgia"/>
                <a:cs typeface="Georgia"/>
              </a:rPr>
              <a:t>to</a:t>
            </a:r>
            <a:r>
              <a:rPr sz="1100" spc="25" dirty="0">
                <a:latin typeface="Georgia"/>
                <a:cs typeface="Georgia"/>
              </a:rPr>
              <a:t> </a:t>
            </a:r>
            <a:r>
              <a:rPr sz="1100" spc="-35" dirty="0">
                <a:latin typeface="Georgia"/>
                <a:cs typeface="Georgia"/>
              </a:rPr>
              <a:t>merge</a:t>
            </a:r>
            <a:r>
              <a:rPr sz="1100" spc="25" dirty="0">
                <a:latin typeface="Georgia"/>
                <a:cs typeface="Georgia"/>
              </a:rPr>
              <a:t> </a:t>
            </a:r>
            <a:r>
              <a:rPr sz="1100" spc="-20" dirty="0">
                <a:latin typeface="Georgia"/>
                <a:cs typeface="Georgia"/>
              </a:rPr>
              <a:t>clusters</a:t>
            </a:r>
            <a:r>
              <a:rPr sz="1100" spc="25" dirty="0">
                <a:latin typeface="Georgia"/>
                <a:cs typeface="Georgia"/>
              </a:rPr>
              <a:t> </a:t>
            </a:r>
            <a:r>
              <a:rPr sz="1100" spc="-20" dirty="0">
                <a:latin typeface="Georgia"/>
                <a:cs typeface="Georgia"/>
              </a:rPr>
              <a:t>(single</a:t>
            </a:r>
            <a:r>
              <a:rPr sz="1100" spc="25" dirty="0">
                <a:latin typeface="Georgia"/>
                <a:cs typeface="Georgia"/>
              </a:rPr>
              <a:t> </a:t>
            </a:r>
            <a:r>
              <a:rPr sz="1100" dirty="0">
                <a:latin typeface="Georgia"/>
                <a:cs typeface="Georgia"/>
              </a:rPr>
              <a:t>link,</a:t>
            </a:r>
            <a:r>
              <a:rPr sz="1100" spc="25" dirty="0">
                <a:latin typeface="Georgia"/>
                <a:cs typeface="Georgia"/>
              </a:rPr>
              <a:t> </a:t>
            </a:r>
            <a:r>
              <a:rPr sz="1100" spc="-25" dirty="0">
                <a:latin typeface="Georgia"/>
                <a:cs typeface="Georgia"/>
              </a:rPr>
              <a:t>complete</a:t>
            </a:r>
            <a:r>
              <a:rPr sz="1100" spc="25" dirty="0">
                <a:latin typeface="Georgia"/>
                <a:cs typeface="Georgia"/>
              </a:rPr>
              <a:t> </a:t>
            </a:r>
            <a:r>
              <a:rPr sz="1100" dirty="0">
                <a:latin typeface="Georgia"/>
                <a:cs typeface="Georgia"/>
              </a:rPr>
              <a:t>link,</a:t>
            </a:r>
            <a:r>
              <a:rPr sz="1100" spc="25" dirty="0">
                <a:latin typeface="Georgia"/>
                <a:cs typeface="Georgia"/>
              </a:rPr>
              <a:t> </a:t>
            </a:r>
            <a:r>
              <a:rPr sz="1100" spc="-10" dirty="0">
                <a:latin typeface="Georgia"/>
                <a:cs typeface="Georgia"/>
              </a:rPr>
              <a:t>average </a:t>
            </a:r>
            <a:r>
              <a:rPr sz="1100" dirty="0">
                <a:latin typeface="Georgia"/>
                <a:cs typeface="Georgia"/>
              </a:rPr>
              <a:t>link, </a:t>
            </a:r>
            <a:r>
              <a:rPr sz="1100" spc="-25" dirty="0">
                <a:latin typeface="Georgia"/>
                <a:cs typeface="Georgia"/>
              </a:rPr>
              <a:t>centroid</a:t>
            </a:r>
            <a:r>
              <a:rPr sz="1100" dirty="0">
                <a:latin typeface="Georgia"/>
                <a:cs typeface="Georgia"/>
              </a:rPr>
              <a:t> link,</a:t>
            </a:r>
            <a:r>
              <a:rPr sz="1100" spc="5" dirty="0">
                <a:latin typeface="Georgia"/>
                <a:cs typeface="Georgia"/>
              </a:rPr>
              <a:t> </a:t>
            </a:r>
            <a:r>
              <a:rPr sz="1100" spc="-20" dirty="0">
                <a:latin typeface="Georgia"/>
                <a:cs typeface="Georgia"/>
              </a:rPr>
              <a:t>radius,</a:t>
            </a:r>
            <a:r>
              <a:rPr sz="1100" dirty="0">
                <a:latin typeface="Georgia"/>
                <a:cs typeface="Georgia"/>
              </a:rPr>
              <a:t> and</a:t>
            </a:r>
            <a:r>
              <a:rPr sz="1100" spc="5" dirty="0">
                <a:latin typeface="Georgia"/>
                <a:cs typeface="Georgia"/>
              </a:rPr>
              <a:t> </a:t>
            </a:r>
            <a:r>
              <a:rPr sz="1100" spc="-10" dirty="0">
                <a:latin typeface="Georgia"/>
                <a:cs typeface="Georgia"/>
              </a:rPr>
              <a:t>diameter).</a:t>
            </a:r>
            <a:endParaRPr sz="1100">
              <a:latin typeface="Georgia"/>
              <a:cs typeface="Georgia"/>
            </a:endParaRPr>
          </a:p>
          <a:p>
            <a:pPr marL="12700" marR="5080">
              <a:lnSpc>
                <a:spcPts val="1150"/>
              </a:lnSpc>
              <a:spcBef>
                <a:spcPts val="445"/>
              </a:spcBef>
            </a:pPr>
            <a:r>
              <a:rPr sz="1100" dirty="0">
                <a:latin typeface="Georgia"/>
                <a:cs typeface="Georgia"/>
              </a:rPr>
              <a:t>The</a:t>
            </a:r>
            <a:r>
              <a:rPr sz="1100" spc="35" dirty="0">
                <a:latin typeface="Georgia"/>
                <a:cs typeface="Georgia"/>
              </a:rPr>
              <a:t> </a:t>
            </a:r>
            <a:r>
              <a:rPr sz="1100" spc="-10" dirty="0">
                <a:latin typeface="Georgia"/>
                <a:cs typeface="Georgia"/>
              </a:rPr>
              <a:t>partitioning</a:t>
            </a:r>
            <a:r>
              <a:rPr sz="1100" spc="40" dirty="0">
                <a:latin typeface="Georgia"/>
                <a:cs typeface="Georgia"/>
              </a:rPr>
              <a:t> </a:t>
            </a:r>
            <a:r>
              <a:rPr sz="1100" spc="-25" dirty="0">
                <a:latin typeface="Georgia"/>
                <a:cs typeface="Georgia"/>
              </a:rPr>
              <a:t>approach</a:t>
            </a:r>
            <a:r>
              <a:rPr sz="1100" spc="40" dirty="0">
                <a:latin typeface="Georgia"/>
                <a:cs typeface="Georgia"/>
              </a:rPr>
              <a:t> </a:t>
            </a:r>
            <a:r>
              <a:rPr sz="1100" dirty="0">
                <a:latin typeface="Georgia"/>
                <a:cs typeface="Georgia"/>
              </a:rPr>
              <a:t>with</a:t>
            </a:r>
            <a:r>
              <a:rPr sz="1100" spc="35" dirty="0">
                <a:latin typeface="Georgia"/>
                <a:cs typeface="Georgia"/>
              </a:rPr>
              <a:t> </a:t>
            </a:r>
            <a:r>
              <a:rPr sz="1100" i="1" spc="-35" dirty="0">
                <a:latin typeface="Calibri"/>
                <a:cs typeface="Calibri"/>
              </a:rPr>
              <a:t>k</a:t>
            </a:r>
            <a:r>
              <a:rPr sz="1100" spc="-35" dirty="0">
                <a:latin typeface="Georgia"/>
                <a:cs typeface="Georgia"/>
              </a:rPr>
              <a:t>–means</a:t>
            </a:r>
            <a:r>
              <a:rPr sz="1100" spc="40" dirty="0">
                <a:latin typeface="Georgia"/>
                <a:cs typeface="Georgia"/>
              </a:rPr>
              <a:t> </a:t>
            </a:r>
            <a:r>
              <a:rPr sz="1100" spc="-20" dirty="0">
                <a:latin typeface="Georgia"/>
                <a:cs typeface="Georgia"/>
              </a:rPr>
              <a:t>algorithm,</a:t>
            </a:r>
            <a:r>
              <a:rPr sz="1100" spc="40" dirty="0">
                <a:latin typeface="Georgia"/>
                <a:cs typeface="Georgia"/>
              </a:rPr>
              <a:t> </a:t>
            </a:r>
            <a:r>
              <a:rPr sz="1100" dirty="0">
                <a:latin typeface="Georgia"/>
                <a:cs typeface="Georgia"/>
              </a:rPr>
              <a:t>the</a:t>
            </a:r>
            <a:r>
              <a:rPr sz="1100" spc="40" dirty="0">
                <a:latin typeface="Georgia"/>
                <a:cs typeface="Georgia"/>
              </a:rPr>
              <a:t> </a:t>
            </a:r>
            <a:r>
              <a:rPr sz="1100" spc="-10" dirty="0">
                <a:latin typeface="Georgia"/>
                <a:cs typeface="Georgia"/>
              </a:rPr>
              <a:t>initialization</a:t>
            </a:r>
            <a:r>
              <a:rPr sz="1100" spc="35" dirty="0">
                <a:latin typeface="Georgia"/>
                <a:cs typeface="Georgia"/>
              </a:rPr>
              <a:t> </a:t>
            </a:r>
            <a:r>
              <a:rPr sz="1100" dirty="0">
                <a:latin typeface="Georgia"/>
                <a:cs typeface="Georgia"/>
              </a:rPr>
              <a:t>of</a:t>
            </a:r>
            <a:r>
              <a:rPr sz="1100" spc="40" dirty="0">
                <a:latin typeface="Georgia"/>
                <a:cs typeface="Georgia"/>
              </a:rPr>
              <a:t> </a:t>
            </a:r>
            <a:r>
              <a:rPr sz="1100" i="1" spc="65" dirty="0">
                <a:latin typeface="Calibri"/>
                <a:cs typeface="Calibri"/>
              </a:rPr>
              <a:t>k</a:t>
            </a:r>
            <a:r>
              <a:rPr sz="1100" i="1" spc="85" dirty="0">
                <a:latin typeface="Calibri"/>
                <a:cs typeface="Calibri"/>
              </a:rPr>
              <a:t> </a:t>
            </a:r>
            <a:r>
              <a:rPr sz="1100" spc="-10" dirty="0">
                <a:latin typeface="Georgia"/>
                <a:cs typeface="Georgia"/>
              </a:rPr>
              <a:t>centroids, </a:t>
            </a:r>
            <a:r>
              <a:rPr sz="1100" dirty="0">
                <a:latin typeface="Georgia"/>
                <a:cs typeface="Georgia"/>
              </a:rPr>
              <a:t>and</a:t>
            </a:r>
            <a:r>
              <a:rPr sz="1100" spc="15" dirty="0">
                <a:latin typeface="Georgia"/>
                <a:cs typeface="Georgia"/>
              </a:rPr>
              <a:t> </a:t>
            </a:r>
            <a:r>
              <a:rPr sz="1100" dirty="0">
                <a:latin typeface="Georgia"/>
                <a:cs typeface="Georgia"/>
              </a:rPr>
              <a:t>the</a:t>
            </a:r>
            <a:r>
              <a:rPr sz="1100" spc="15" dirty="0">
                <a:latin typeface="Georgia"/>
                <a:cs typeface="Georgia"/>
              </a:rPr>
              <a:t> </a:t>
            </a:r>
            <a:r>
              <a:rPr sz="1100" spc="-20" dirty="0">
                <a:latin typeface="Georgia"/>
                <a:cs typeface="Georgia"/>
              </a:rPr>
              <a:t>variants</a:t>
            </a:r>
            <a:r>
              <a:rPr sz="1100" spc="15" dirty="0">
                <a:latin typeface="Georgia"/>
                <a:cs typeface="Georgia"/>
              </a:rPr>
              <a:t> </a:t>
            </a:r>
            <a:r>
              <a:rPr sz="1100" dirty="0">
                <a:latin typeface="Georgia"/>
                <a:cs typeface="Georgia"/>
              </a:rPr>
              <a:t>of</a:t>
            </a:r>
            <a:r>
              <a:rPr sz="1100" spc="15" dirty="0">
                <a:latin typeface="Georgia"/>
                <a:cs typeface="Georgia"/>
              </a:rPr>
              <a:t> </a:t>
            </a:r>
            <a:r>
              <a:rPr sz="1100" i="1" spc="-35" dirty="0">
                <a:latin typeface="Calibri"/>
                <a:cs typeface="Calibri"/>
              </a:rPr>
              <a:t>k</a:t>
            </a:r>
            <a:r>
              <a:rPr sz="1100" spc="-35" dirty="0">
                <a:latin typeface="Georgia"/>
                <a:cs typeface="Georgia"/>
              </a:rPr>
              <a:t>–means</a:t>
            </a:r>
            <a:r>
              <a:rPr sz="1100" spc="15" dirty="0">
                <a:latin typeface="Georgia"/>
                <a:cs typeface="Georgia"/>
              </a:rPr>
              <a:t> </a:t>
            </a:r>
            <a:r>
              <a:rPr sz="1100" spc="-25" dirty="0">
                <a:latin typeface="Georgia"/>
                <a:cs typeface="Georgia"/>
              </a:rPr>
              <a:t>including</a:t>
            </a:r>
            <a:r>
              <a:rPr sz="1100" spc="15" dirty="0">
                <a:latin typeface="Georgia"/>
                <a:cs typeface="Georgia"/>
              </a:rPr>
              <a:t> </a:t>
            </a:r>
            <a:r>
              <a:rPr sz="1100" i="1" spc="-35" dirty="0">
                <a:latin typeface="Calibri"/>
                <a:cs typeface="Calibri"/>
              </a:rPr>
              <a:t>k</a:t>
            </a:r>
            <a:r>
              <a:rPr sz="1100" spc="-35" dirty="0">
                <a:latin typeface="Georgia"/>
                <a:cs typeface="Georgia"/>
              </a:rPr>
              <a:t>–mediods</a:t>
            </a:r>
            <a:r>
              <a:rPr sz="1100" spc="20" dirty="0">
                <a:latin typeface="Georgia"/>
                <a:cs typeface="Georgia"/>
              </a:rPr>
              <a:t> </a:t>
            </a:r>
            <a:r>
              <a:rPr sz="1100" dirty="0">
                <a:latin typeface="Georgia"/>
                <a:cs typeface="Georgia"/>
              </a:rPr>
              <a:t>(PAM</a:t>
            </a:r>
            <a:r>
              <a:rPr sz="1100" spc="15" dirty="0">
                <a:latin typeface="Georgia"/>
                <a:cs typeface="Georgia"/>
              </a:rPr>
              <a:t> </a:t>
            </a:r>
            <a:r>
              <a:rPr sz="1100" spc="-20" dirty="0">
                <a:latin typeface="Georgia"/>
                <a:cs typeface="Georgia"/>
              </a:rPr>
              <a:t>algorithm)</a:t>
            </a:r>
            <a:r>
              <a:rPr sz="1100" spc="15" dirty="0">
                <a:latin typeface="Georgia"/>
                <a:cs typeface="Georgia"/>
              </a:rPr>
              <a:t> </a:t>
            </a:r>
            <a:r>
              <a:rPr sz="1100" dirty="0">
                <a:latin typeface="Georgia"/>
                <a:cs typeface="Georgia"/>
              </a:rPr>
              <a:t>and</a:t>
            </a:r>
            <a:r>
              <a:rPr sz="1100" spc="15" dirty="0">
                <a:latin typeface="Georgia"/>
                <a:cs typeface="Georgia"/>
              </a:rPr>
              <a:t> </a:t>
            </a:r>
            <a:r>
              <a:rPr sz="1100" i="1" spc="-10" dirty="0">
                <a:latin typeface="Calibri"/>
                <a:cs typeface="Calibri"/>
              </a:rPr>
              <a:t>k</a:t>
            </a:r>
            <a:r>
              <a:rPr sz="1100" spc="-10" dirty="0">
                <a:latin typeface="Georgia"/>
                <a:cs typeface="Georgia"/>
              </a:rPr>
              <a:t>–medians.</a:t>
            </a:r>
            <a:endParaRPr sz="1100">
              <a:latin typeface="Georgia"/>
              <a:cs typeface="Georgia"/>
            </a:endParaRPr>
          </a:p>
        </p:txBody>
      </p:sp>
      <p:sp>
        <p:nvSpPr>
          <p:cNvPr id="5" name="object 5"/>
          <p:cNvSpPr/>
          <p:nvPr/>
        </p:nvSpPr>
        <p:spPr>
          <a:xfrm>
            <a:off x="337972" y="934402"/>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6" name="object 6"/>
          <p:cNvSpPr/>
          <p:nvPr/>
        </p:nvSpPr>
        <p:spPr>
          <a:xfrm>
            <a:off x="337972" y="1282776"/>
            <a:ext cx="59690" cy="59690"/>
          </a:xfrm>
          <a:custGeom>
            <a:avLst/>
            <a:gdLst/>
            <a:ahLst/>
            <a:cxnLst/>
            <a:rect l="l" t="t" r="r" b="b"/>
            <a:pathLst>
              <a:path w="59689" h="59690">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sp>
        <p:nvSpPr>
          <p:cNvPr id="7" name="object 7"/>
          <p:cNvSpPr/>
          <p:nvPr/>
        </p:nvSpPr>
        <p:spPr>
          <a:xfrm>
            <a:off x="337972" y="1777415"/>
            <a:ext cx="59690" cy="59690"/>
          </a:xfrm>
          <a:custGeom>
            <a:avLst/>
            <a:gdLst/>
            <a:ahLst/>
            <a:cxnLst/>
            <a:rect l="l" t="t" r="r" b="b"/>
            <a:pathLst>
              <a:path w="59689" h="59689">
                <a:moveTo>
                  <a:pt x="59639" y="0"/>
                </a:moveTo>
                <a:lnTo>
                  <a:pt x="0" y="0"/>
                </a:lnTo>
                <a:lnTo>
                  <a:pt x="0" y="59639"/>
                </a:lnTo>
                <a:lnTo>
                  <a:pt x="59639" y="59639"/>
                </a:lnTo>
                <a:lnTo>
                  <a:pt x="59639" y="0"/>
                </a:lnTo>
                <a:close/>
              </a:path>
            </a:pathLst>
          </a:custGeom>
          <a:solidFill>
            <a:srgbClr val="3333B3"/>
          </a:solidFill>
        </p:spPr>
        <p:txBody>
          <a:bodyPr wrap="square" lIns="0" tIns="0" rIns="0" bIns="0" rtlCol="0"/>
          <a:lstStyle/>
          <a:p>
            <a:endParaRPr/>
          </a:p>
        </p:txBody>
      </p:sp>
      <p:grpSp>
        <p:nvGrpSpPr>
          <p:cNvPr id="11" name="object 11"/>
          <p:cNvGrpSpPr/>
          <p:nvPr/>
        </p:nvGrpSpPr>
        <p:grpSpPr>
          <a:xfrm>
            <a:off x="0" y="3121545"/>
            <a:ext cx="5760085" cy="118745"/>
            <a:chOff x="0" y="3121545"/>
            <a:chExt cx="5760085" cy="118745"/>
          </a:xfrm>
        </p:grpSpPr>
        <p:sp>
          <p:nvSpPr>
            <p:cNvPr id="12" name="object 12"/>
            <p:cNvSpPr/>
            <p:nvPr/>
          </p:nvSpPr>
          <p:spPr>
            <a:xfrm>
              <a:off x="0"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F9F9F9"/>
            </a:solidFill>
          </p:spPr>
          <p:txBody>
            <a:bodyPr wrap="square" lIns="0" tIns="0" rIns="0" bIns="0" rtlCol="0"/>
            <a:lstStyle/>
            <a:p>
              <a:endParaRPr/>
            </a:p>
          </p:txBody>
        </p:sp>
        <p:sp>
          <p:nvSpPr>
            <p:cNvPr id="13" name="object 13"/>
            <p:cNvSpPr/>
            <p:nvPr/>
          </p:nvSpPr>
          <p:spPr>
            <a:xfrm>
              <a:off x="2880004" y="3121545"/>
              <a:ext cx="2880360" cy="118745"/>
            </a:xfrm>
            <a:custGeom>
              <a:avLst/>
              <a:gdLst/>
              <a:ahLst/>
              <a:cxnLst/>
              <a:rect l="l" t="t" r="r" b="b"/>
              <a:pathLst>
                <a:path w="2880360" h="118744">
                  <a:moveTo>
                    <a:pt x="2880004" y="0"/>
                  </a:moveTo>
                  <a:lnTo>
                    <a:pt x="0" y="0"/>
                  </a:lnTo>
                  <a:lnTo>
                    <a:pt x="0" y="118452"/>
                  </a:lnTo>
                  <a:lnTo>
                    <a:pt x="2880004" y="118452"/>
                  </a:lnTo>
                  <a:lnTo>
                    <a:pt x="2880004" y="0"/>
                  </a:lnTo>
                  <a:close/>
                </a:path>
              </a:pathLst>
            </a:custGeom>
            <a:solidFill>
              <a:srgbClr val="D9D9D9"/>
            </a:solidFill>
          </p:spPr>
          <p:txBody>
            <a:bodyPr wrap="square" lIns="0" tIns="0" rIns="0" bIns="0" rtlCol="0"/>
            <a:lstStyle/>
            <a:p>
              <a:endParaRPr/>
            </a:p>
          </p:txBody>
        </p:sp>
      </p:grpSp>
      <p:sp>
        <p:nvSpPr>
          <p:cNvPr id="14" name="object 14"/>
          <p:cNvSpPr txBox="1">
            <a:spLocks noGrp="1"/>
          </p:cNvSpPr>
          <p:nvPr>
            <p:ph type="ftr" sz="quarter" idx="5"/>
          </p:nvPr>
        </p:nvSpPr>
        <p:spPr>
          <a:prstGeom prst="rect">
            <a:avLst/>
          </a:prstGeom>
        </p:spPr>
        <p:txBody>
          <a:bodyPr vert="horz" wrap="square" lIns="0" tIns="8255" rIns="0" bIns="0" rtlCol="0">
            <a:spAutoFit/>
          </a:bodyPr>
          <a:lstStyle/>
          <a:p>
            <a:pPr marL="12700">
              <a:lnSpc>
                <a:spcPct val="100000"/>
              </a:lnSpc>
              <a:spcBef>
                <a:spcPts val="65"/>
              </a:spcBef>
            </a:pPr>
            <a:r>
              <a:rPr spc="60" dirty="0"/>
              <a:t>data</a:t>
            </a:r>
            <a:r>
              <a:rPr spc="160" dirty="0"/>
              <a:t> </a:t>
            </a:r>
            <a:r>
              <a:rPr spc="45" dirty="0"/>
              <a:t>analysis</a:t>
            </a:r>
            <a:r>
              <a:rPr spc="165" dirty="0"/>
              <a:t> </a:t>
            </a:r>
            <a:r>
              <a:rPr spc="50" dirty="0"/>
              <a:t>and</a:t>
            </a:r>
            <a:r>
              <a:rPr spc="165" dirty="0"/>
              <a:t> </a:t>
            </a:r>
            <a:r>
              <a:rPr spc="10" dirty="0"/>
              <a:t>mining</a:t>
            </a:r>
            <a:r>
              <a:rPr spc="165" dirty="0"/>
              <a:t> </a:t>
            </a:r>
            <a:r>
              <a:rPr spc="10" dirty="0"/>
              <a:t>course</a:t>
            </a:r>
            <a:r>
              <a:rPr spc="165" dirty="0"/>
              <a:t> </a:t>
            </a:r>
            <a:r>
              <a:rPr spc="10" dirty="0"/>
              <a:t>@</a:t>
            </a:r>
            <a:r>
              <a:rPr spc="165" dirty="0"/>
              <a:t> </a:t>
            </a:r>
            <a:r>
              <a:rPr spc="45" dirty="0"/>
              <a:t>Xuan–Hieu</a:t>
            </a:r>
            <a:r>
              <a:rPr spc="160" dirty="0"/>
              <a:t> </a:t>
            </a:r>
            <a:r>
              <a:rPr spc="50" dirty="0"/>
              <a:t>Phan</a:t>
            </a:r>
          </a:p>
        </p:txBody>
      </p:sp>
      <p:sp>
        <p:nvSpPr>
          <p:cNvPr id="15" name="object 15"/>
          <p:cNvSpPr txBox="1"/>
          <p:nvPr/>
        </p:nvSpPr>
        <p:spPr>
          <a:xfrm>
            <a:off x="2975305" y="3118867"/>
            <a:ext cx="633095" cy="121920"/>
          </a:xfrm>
          <a:prstGeom prst="rect">
            <a:avLst/>
          </a:prstGeom>
        </p:spPr>
        <p:txBody>
          <a:bodyPr vert="horz" wrap="square" lIns="0" tIns="8255" rIns="0" bIns="0" rtlCol="0">
            <a:spAutoFit/>
          </a:bodyPr>
          <a:lstStyle/>
          <a:p>
            <a:pPr marL="12700">
              <a:lnSpc>
                <a:spcPct val="100000"/>
              </a:lnSpc>
              <a:spcBef>
                <a:spcPts val="65"/>
              </a:spcBef>
            </a:pPr>
            <a:r>
              <a:rPr sz="600" spc="60" dirty="0">
                <a:solidFill>
                  <a:srgbClr val="7A0000"/>
                </a:solidFill>
                <a:latin typeface="Georgia"/>
                <a:cs typeface="Georgia"/>
                <a:hlinkClick r:id="rId2" action="ppaction://hlinksldjump"/>
              </a:rPr>
              <a:t>data</a:t>
            </a:r>
            <a:r>
              <a:rPr sz="600" spc="110" dirty="0">
                <a:solidFill>
                  <a:srgbClr val="7A0000"/>
                </a:solidFill>
                <a:latin typeface="Georgia"/>
                <a:cs typeface="Georgia"/>
                <a:hlinkClick r:id="rId2" action="ppaction://hlinksldjump"/>
              </a:rPr>
              <a:t> </a:t>
            </a:r>
            <a:r>
              <a:rPr sz="600" spc="-10" dirty="0">
                <a:solidFill>
                  <a:srgbClr val="7A0000"/>
                </a:solidFill>
                <a:latin typeface="Georgia"/>
                <a:cs typeface="Georgia"/>
                <a:hlinkClick r:id="rId2" action="ppaction://hlinksldjump"/>
              </a:rPr>
              <a:t>clustering</a:t>
            </a:r>
            <a:endParaRPr sz="600">
              <a:latin typeface="Georgia"/>
              <a:cs typeface="Georgia"/>
            </a:endParaRPr>
          </a:p>
        </p:txBody>
      </p:sp>
      <p:sp>
        <p:nvSpPr>
          <p:cNvPr id="16" name="object 16"/>
          <p:cNvSpPr txBox="1">
            <a:spLocks noGrp="1"/>
          </p:cNvSpPr>
          <p:nvPr>
            <p:ph type="sldNum" sz="quarter" idx="7"/>
          </p:nvPr>
        </p:nvSpPr>
        <p:spPr>
          <a:prstGeom prst="rect">
            <a:avLst/>
          </a:prstGeom>
        </p:spPr>
        <p:txBody>
          <a:bodyPr vert="horz" wrap="square" lIns="0" tIns="8255" rIns="0" bIns="0" rtlCol="0">
            <a:spAutoFit/>
          </a:bodyPr>
          <a:lstStyle/>
          <a:p>
            <a:pPr marL="38100">
              <a:lnSpc>
                <a:spcPct val="100000"/>
              </a:lnSpc>
              <a:spcBef>
                <a:spcPts val="65"/>
              </a:spcBef>
            </a:pPr>
            <a:fld id="{81D60167-4931-47E6-BA6A-407CBD079E47}" type="slidenum">
              <a:rPr spc="70" dirty="0"/>
              <a:t>75</a:t>
            </a:fld>
            <a:r>
              <a:rPr spc="-20" dirty="0"/>
              <a:t> </a:t>
            </a:r>
            <a:r>
              <a:rPr spc="75" dirty="0"/>
              <a:t>/</a:t>
            </a:r>
            <a:r>
              <a:rPr spc="-20" dirty="0"/>
              <a:t> </a:t>
            </a:r>
            <a:r>
              <a:rPr spc="35" dirty="0"/>
              <a:t>135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752</TotalTime>
  <Words>9221</Words>
  <Application>Microsoft Macintosh PowerPoint</Application>
  <PresentationFormat>Custom</PresentationFormat>
  <Paragraphs>720</Paragraphs>
  <Slides>75</Slides>
  <Notes>15</Notes>
  <HiddenSlides>1</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75</vt:i4>
      </vt:variant>
    </vt:vector>
  </HeadingPairs>
  <TitlesOfParts>
    <vt:vector size="91" baseType="lpstr">
      <vt:lpstr>Yu Gothic</vt:lpstr>
      <vt:lpstr>Aptos</vt:lpstr>
      <vt:lpstr>Arial</vt:lpstr>
      <vt:lpstr>Arial MT</vt:lpstr>
      <vt:lpstr>Calibri</vt:lpstr>
      <vt:lpstr>Cambria</vt:lpstr>
      <vt:lpstr>Cambria Math</vt:lpstr>
      <vt:lpstr>Constantia</vt:lpstr>
      <vt:lpstr>Georgia</vt:lpstr>
      <vt:lpstr>Lucida Sans Unicode</vt:lpstr>
      <vt:lpstr>Palatino Linotype</vt:lpstr>
      <vt:lpstr>Roboto</vt:lpstr>
      <vt:lpstr>Segoe UI Symbol</vt:lpstr>
      <vt:lpstr>Sitka Text</vt:lpstr>
      <vt:lpstr>Times New Roman</vt:lpstr>
      <vt:lpstr>Office Theme</vt:lpstr>
      <vt:lpstr>Data clustering</vt:lpstr>
      <vt:lpstr>Expected lesson learning outcomes (LLOs)</vt:lpstr>
      <vt:lpstr>Outline</vt:lpstr>
      <vt:lpstr>Outline</vt:lpstr>
      <vt:lpstr>What is data clustering?</vt:lpstr>
      <vt:lpstr>Data clustering (cont’d)</vt:lpstr>
      <vt:lpstr>Data clustering problem</vt:lpstr>
      <vt:lpstr>PowerPoint Presentation</vt:lpstr>
      <vt:lpstr>Observations about the clustering process and the results</vt:lpstr>
      <vt:lpstr>Requirements for data clustering</vt:lpstr>
      <vt:lpstr>Requirements for data clustering (cont’d)</vt:lpstr>
      <vt:lpstr>Clustering approaches</vt:lpstr>
      <vt:lpstr>Clustering approaches (cont’d)</vt:lpstr>
      <vt:lpstr>Clustering approaches (cont’d)</vt:lpstr>
      <vt:lpstr>PowerPoint Presentation</vt:lpstr>
      <vt:lpstr>Challenges in data clustering</vt:lpstr>
      <vt:lpstr>Clustering in high–dimensional space: the curse of dimensionality</vt:lpstr>
      <vt:lpstr>Clustering in high–dimensional space: the curse of dimensionality (2)</vt:lpstr>
      <vt:lpstr>PowerPoint Presentation</vt:lpstr>
      <vt:lpstr>Applications of data clustering (cont’d)</vt:lpstr>
      <vt:lpstr>Outline</vt:lpstr>
      <vt:lpstr>Understanding of data distribution</vt:lpstr>
      <vt:lpstr>Clustering tendency identification methods</vt:lpstr>
      <vt:lpstr>Validating cluster tendency with spatial histogram</vt:lpstr>
      <vt:lpstr>Validating cluster tendency with spatial histogram (cont’d)</vt:lpstr>
      <vt:lpstr>Example of spatial histogram [4]</vt:lpstr>
      <vt:lpstr>PowerPoint Presentation</vt:lpstr>
      <vt:lpstr>Validating cluster tendency with cell–based entropy</vt:lpstr>
      <vt:lpstr>Validating cluster tendency with cell–based entropy (cont’d)</vt:lpstr>
      <vt:lpstr>Validating cluster tendency with cell–based entropy (cont’d)</vt:lpstr>
      <vt:lpstr>Validating cluster tendency with distance distribution</vt:lpstr>
      <vt:lpstr>Example of distance distribution [4]</vt:lpstr>
      <vt:lpstr>Validating cluster tendency with Hopkins statistic</vt:lpstr>
      <vt:lpstr>Validating cluster tendency with Hopkins statistic (cont’d)</vt:lpstr>
      <vt:lpstr>Example of Hopkins statistic with uniformly distributed data</vt:lpstr>
      <vt:lpstr>Example of Hopkins statistic with normal distribution clusters</vt:lpstr>
      <vt:lpstr>Example of Hopkins statistic with normal distribution data (cont’d)</vt:lpstr>
      <vt:lpstr>Outline</vt:lpstr>
      <vt:lpstr>Hierarchical clustering</vt:lpstr>
      <vt:lpstr>Hierarchical clustering (cont’d)</vt:lpstr>
      <vt:lpstr>The dendrogram and nested clustering solutions [4]</vt:lpstr>
      <vt:lpstr>Agglomerative hierarchical clustering</vt:lpstr>
      <vt:lpstr>PowerPoint Presentation</vt:lpstr>
      <vt:lpstr>Distance between clusters: different ways to merge clusters</vt:lpstr>
      <vt:lpstr>Distance between clusters: different ways to merge clusters (cont’d)</vt:lpstr>
      <vt:lpstr>Distance between clusters: different ways to merge clusters (cont’d)</vt:lpstr>
      <vt:lpstr>Distance between clusters: different ways to merge clusters (cont’d)</vt:lpstr>
      <vt:lpstr>Example of agglomerative hierarchical clustering</vt:lpstr>
      <vt:lpstr>PowerPoint Presentation</vt:lpstr>
      <vt:lpstr>PowerPoint Presentation</vt:lpstr>
      <vt:lpstr>When should we stop merging?</vt:lpstr>
      <vt:lpstr>Agglomerative clustering: computational complexity</vt:lpstr>
      <vt:lpstr>Outline</vt:lpstr>
      <vt:lpstr>Partitioning clustering methods</vt:lpstr>
      <vt:lpstr>Data clustering problem revisited</vt:lpstr>
      <vt:lpstr>K–means algorithm</vt:lpstr>
      <vt:lpstr>K–means algorithm (cont’d)</vt:lpstr>
      <vt:lpstr>K–means algorithm (cont’d)</vt:lpstr>
      <vt:lpstr>PowerPoint Presentation</vt:lpstr>
      <vt:lpstr>K–means algorithm: computational complexity</vt:lpstr>
      <vt:lpstr>K–means algorithm: example 1</vt:lpstr>
      <vt:lpstr>K–means algorithm: example 2</vt:lpstr>
      <vt:lpstr>K–means algorithm: example 3 (image segmentation)</vt:lpstr>
      <vt:lpstr>Initialization for k mean vectors µi</vt:lpstr>
      <vt:lpstr>Initialization for k mean vectors µi: example</vt:lpstr>
      <vt:lpstr>Initialization for k mean vectors µi: example (cont’d)</vt:lpstr>
      <vt:lpstr>K–means is sensitive to outliers</vt:lpstr>
      <vt:lpstr>K–medoids clustering algorithm</vt:lpstr>
      <vt:lpstr>K–mediods: partitioning around mediods (PAM) algorithm</vt:lpstr>
      <vt:lpstr>K–mediods: partitioning around mediods (PAM) algorithm (cont’d)</vt:lpstr>
      <vt:lpstr>Which method is more robust? k–means or k–medoids?</vt:lpstr>
      <vt:lpstr>K–medians clustering algorithm</vt:lpstr>
      <vt:lpstr>Outline</vt:lpstr>
      <vt:lpstr>References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Phuong Thai Nguyen</cp:lastModifiedBy>
  <cp:revision>23</cp:revision>
  <dcterms:created xsi:type="dcterms:W3CDTF">2024-10-20T14:13:04Z</dcterms:created>
  <dcterms:modified xsi:type="dcterms:W3CDTF">2024-10-21T04:27:13Z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2023-09-05T00:00:00Z</vt:filetime>
  </property>
  <property fmtid="{D5CDD505-2E9C-101B-9397-08002B2CF9AE}" pid="3" name="Creator">
    <vt:lpwstr>LaTeX with Beamer class</vt:lpwstr>
  </property>
  <property fmtid="{D5CDD505-2E9C-101B-9397-08002B2CF9AE}" pid="4" name="LastSaved">
    <vt:filetime>2024-10-20T00:00:00Z</vt:filetime>
  </property>
  <property fmtid="{D5CDD505-2E9C-101B-9397-08002B2CF9AE}" pid="5" name="Producer">
    <vt:lpwstr>macOS Version 13.5.1 (Build 22G90) Quartz PDFContext</vt:lpwstr>
  </property>
</Properties>
</file>
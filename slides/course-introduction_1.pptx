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5765800" cy="3244850"/>
  <p:notesSz cx="5765800" cy="324485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6"/>
    <p:restoredTop sz="94624"/>
  </p:normalViewPr>
  <p:slideViewPr>
    <p:cSldViewPr>
      <p:cViewPr varScale="1">
        <p:scale>
          <a:sx n="124" d="100"/>
          <a:sy n="124" d="100"/>
        </p:scale>
        <p:origin x="864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uong Thai Nguyen" userId="598680f98d4801c4" providerId="LiveId" clId="{B04C766F-8E13-6E43-8394-4D371ADF2F4C}"/>
    <pc:docChg chg="custSel addSld modSld sldOrd">
      <pc:chgData name="Phuong Thai Nguyen" userId="598680f98d4801c4" providerId="LiveId" clId="{B04C766F-8E13-6E43-8394-4D371ADF2F4C}" dt="2024-08-30T04:49:12.889" v="608" actId="113"/>
      <pc:docMkLst>
        <pc:docMk/>
      </pc:docMkLst>
      <pc:sldChg chg="modSp mod">
        <pc:chgData name="Phuong Thai Nguyen" userId="598680f98d4801c4" providerId="LiveId" clId="{B04C766F-8E13-6E43-8394-4D371ADF2F4C}" dt="2024-08-30T04:25:00.388" v="132" actId="14100"/>
        <pc:sldMkLst>
          <pc:docMk/>
          <pc:sldMk cId="0" sldId="256"/>
        </pc:sldMkLst>
        <pc:spChg chg="mod">
          <ac:chgData name="Phuong Thai Nguyen" userId="598680f98d4801c4" providerId="LiveId" clId="{B04C766F-8E13-6E43-8394-4D371ADF2F4C}" dt="2024-08-30T04:25:00.388" v="132" actId="1410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Phuong Thai Nguyen" userId="598680f98d4801c4" providerId="LiveId" clId="{B04C766F-8E13-6E43-8394-4D371ADF2F4C}" dt="2024-08-30T04:41:32.855" v="287" actId="20577"/>
        <pc:sldMkLst>
          <pc:docMk/>
          <pc:sldMk cId="0" sldId="273"/>
        </pc:sldMkLst>
        <pc:spChg chg="mod">
          <ac:chgData name="Phuong Thai Nguyen" userId="598680f98d4801c4" providerId="LiveId" clId="{B04C766F-8E13-6E43-8394-4D371ADF2F4C}" dt="2024-08-30T04:41:32.855" v="287" actId="20577"/>
          <ac:spMkLst>
            <pc:docMk/>
            <pc:sldMk cId="0" sldId="273"/>
            <ac:spMk id="4" creationId="{00000000-0000-0000-0000-000000000000}"/>
          </ac:spMkLst>
        </pc:spChg>
      </pc:sldChg>
      <pc:sldChg chg="modSp new mod ord">
        <pc:chgData name="Phuong Thai Nguyen" userId="598680f98d4801c4" providerId="LiveId" clId="{B04C766F-8E13-6E43-8394-4D371ADF2F4C}" dt="2024-08-30T04:49:12.889" v="608" actId="113"/>
        <pc:sldMkLst>
          <pc:docMk/>
          <pc:sldMk cId="3458108063" sldId="294"/>
        </pc:sldMkLst>
        <pc:spChg chg="mod">
          <ac:chgData name="Phuong Thai Nguyen" userId="598680f98d4801c4" providerId="LiveId" clId="{B04C766F-8E13-6E43-8394-4D371ADF2F4C}" dt="2024-08-30T04:30:22.043" v="182" actId="20577"/>
          <ac:spMkLst>
            <pc:docMk/>
            <pc:sldMk cId="3458108063" sldId="294"/>
            <ac:spMk id="2" creationId="{61BC549E-2514-911E-3907-DBFBFDEDA740}"/>
          </ac:spMkLst>
        </pc:spChg>
        <pc:spChg chg="mod">
          <ac:chgData name="Phuong Thai Nguyen" userId="598680f98d4801c4" providerId="LiveId" clId="{B04C766F-8E13-6E43-8394-4D371ADF2F4C}" dt="2024-08-30T04:49:12.889" v="608" actId="113"/>
          <ac:spMkLst>
            <pc:docMk/>
            <pc:sldMk cId="3458108063" sldId="294"/>
            <ac:spMk id="3" creationId="{D02B73E2-8D3E-7AA6-D034-69B78613827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C0000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‹#›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C0000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‹#›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C0000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‹#›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C0000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‹#›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C0000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‹#›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11150"/>
          </a:xfrm>
          <a:custGeom>
            <a:avLst/>
            <a:gdLst/>
            <a:ahLst/>
            <a:cxnLst/>
            <a:rect l="l" t="t" r="r" b="b"/>
            <a:pathLst>
              <a:path w="5760085" h="311150">
                <a:moveTo>
                  <a:pt x="5759996" y="0"/>
                </a:moveTo>
                <a:lnTo>
                  <a:pt x="0" y="0"/>
                </a:lnTo>
                <a:lnTo>
                  <a:pt x="0" y="310832"/>
                </a:lnTo>
                <a:lnTo>
                  <a:pt x="5759996" y="310832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28267"/>
            <a:ext cx="5575198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9582" y="806639"/>
            <a:ext cx="4926634" cy="1590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923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CC0000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544632" y="3118867"/>
            <a:ext cx="351789" cy="121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‹#›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39.xml"/><Relationship Id="rId3" Type="http://schemas.openxmlformats.org/officeDocument/2006/relationships/slide" Target="slide21.xml"/><Relationship Id="rId7" Type="http://schemas.openxmlformats.org/officeDocument/2006/relationships/slide" Target="slide3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6.xml"/><Relationship Id="rId5" Type="http://schemas.openxmlformats.org/officeDocument/2006/relationships/slide" Target="slide30.xml"/><Relationship Id="rId4" Type="http://schemas.openxmlformats.org/officeDocument/2006/relationships/slide" Target="slide2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21.xml"/><Relationship Id="rId7" Type="http://schemas.openxmlformats.org/officeDocument/2006/relationships/slide" Target="slide3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6.xml"/><Relationship Id="rId5" Type="http://schemas.openxmlformats.org/officeDocument/2006/relationships/slide" Target="slide30.xml"/><Relationship Id="rId4" Type="http://schemas.openxmlformats.org/officeDocument/2006/relationships/slide" Target="slide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3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21.xml"/><Relationship Id="rId7" Type="http://schemas.openxmlformats.org/officeDocument/2006/relationships/slide" Target="slide3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6.xml"/><Relationship Id="rId5" Type="http://schemas.openxmlformats.org/officeDocument/2006/relationships/slide" Target="slide30.xml"/><Relationship Id="rId4" Type="http://schemas.openxmlformats.org/officeDocument/2006/relationships/slide" Target="slide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21.xml"/><Relationship Id="rId7" Type="http://schemas.openxmlformats.org/officeDocument/2006/relationships/slide" Target="slide3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6.xml"/><Relationship Id="rId5" Type="http://schemas.openxmlformats.org/officeDocument/2006/relationships/slide" Target="slide30.xml"/><Relationship Id="rId4" Type="http://schemas.openxmlformats.org/officeDocument/2006/relationships/slide" Target="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21.xml"/><Relationship Id="rId7" Type="http://schemas.openxmlformats.org/officeDocument/2006/relationships/slide" Target="slide3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6.xml"/><Relationship Id="rId5" Type="http://schemas.openxmlformats.org/officeDocument/2006/relationships/slide" Target="slide30.xml"/><Relationship Id="rId4" Type="http://schemas.openxmlformats.org/officeDocument/2006/relationships/slide" Target="slide2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hyperlink" Target="http://www.datasciencecentral.com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21.xml"/><Relationship Id="rId7" Type="http://schemas.openxmlformats.org/officeDocument/2006/relationships/slide" Target="slide3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6.xml"/><Relationship Id="rId5" Type="http://schemas.openxmlformats.org/officeDocument/2006/relationships/slide" Target="slide30.xml"/><Relationship Id="rId4" Type="http://schemas.openxmlformats.org/officeDocument/2006/relationships/slide" Target="slide2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21.xml"/><Relationship Id="rId7" Type="http://schemas.openxmlformats.org/officeDocument/2006/relationships/slide" Target="slide3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6.xml"/><Relationship Id="rId5" Type="http://schemas.openxmlformats.org/officeDocument/2006/relationships/slide" Target="slide30.xml"/><Relationship Id="rId4" Type="http://schemas.openxmlformats.org/officeDocument/2006/relationships/slide" Target="slide2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788" y="704875"/>
            <a:ext cx="5380990" cy="36385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4889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4"/>
              </a:spcBef>
            </a:pPr>
            <a:r>
              <a:rPr spc="70" dirty="0"/>
              <a:t>Data</a:t>
            </a:r>
            <a:r>
              <a:rPr spc="85" dirty="0"/>
              <a:t> </a:t>
            </a:r>
            <a:r>
              <a:rPr spc="15" dirty="0"/>
              <a:t>analysis</a:t>
            </a:r>
            <a:r>
              <a:rPr spc="80" dirty="0"/>
              <a:t> </a:t>
            </a:r>
            <a:r>
              <a:rPr spc="55" dirty="0"/>
              <a:t>and</a:t>
            </a:r>
            <a:r>
              <a:rPr spc="80" dirty="0"/>
              <a:t> </a:t>
            </a:r>
            <a:r>
              <a:rPr spc="15" dirty="0"/>
              <a:t>mining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8900" y="1264093"/>
            <a:ext cx="3276600" cy="5764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vi-VN" sz="1050" spc="-50" dirty="0">
                <a:latin typeface="Georgia"/>
                <a:cs typeface="Georgia"/>
              </a:rPr>
              <a:t>Lecturer</a:t>
            </a:r>
            <a:r>
              <a:rPr lang="vi-VN" sz="1050" spc="-50">
                <a:latin typeface="Georgia"/>
                <a:cs typeface="Georgia"/>
              </a:rPr>
              <a:t>: </a:t>
            </a:r>
            <a:r>
              <a:rPr lang="en-US" sz="1050" spc="-50">
                <a:latin typeface="Georgia"/>
                <a:cs typeface="Georgia"/>
              </a:rPr>
              <a:t>Dr. Trần Hồng Việt</a:t>
            </a:r>
            <a:endParaRPr lang="vi-VN" sz="1050" spc="-50" dirty="0">
              <a:latin typeface="Georgia"/>
              <a:cs typeface="Georgia"/>
            </a:endParaRPr>
          </a:p>
          <a:p>
            <a:pPr marL="12700" marR="5080" algn="ctr">
              <a:lnSpc>
                <a:spcPct val="113300"/>
              </a:lnSpc>
              <a:spcBef>
                <a:spcPts val="1095"/>
              </a:spcBef>
            </a:pPr>
            <a:r>
              <a:rPr sz="800" spc="45" dirty="0">
                <a:latin typeface="Georgia"/>
                <a:cs typeface="Georgia"/>
              </a:rPr>
              <a:t>VNU</a:t>
            </a:r>
            <a:r>
              <a:rPr sz="800" spc="75" dirty="0">
                <a:latin typeface="Georgia"/>
                <a:cs typeface="Georgia"/>
              </a:rPr>
              <a:t> </a:t>
            </a:r>
            <a:r>
              <a:rPr sz="800" spc="10" dirty="0">
                <a:latin typeface="Georgia"/>
                <a:cs typeface="Georgia"/>
              </a:rPr>
              <a:t>University</a:t>
            </a:r>
            <a:r>
              <a:rPr sz="800" spc="75" dirty="0">
                <a:latin typeface="Georgia"/>
                <a:cs typeface="Georgia"/>
              </a:rPr>
              <a:t> </a:t>
            </a:r>
            <a:r>
              <a:rPr sz="800" spc="-5" dirty="0">
                <a:latin typeface="Georgia"/>
                <a:cs typeface="Georgia"/>
              </a:rPr>
              <a:t>of</a:t>
            </a:r>
            <a:r>
              <a:rPr sz="800" spc="75" dirty="0">
                <a:latin typeface="Georgia"/>
                <a:cs typeface="Georgia"/>
              </a:rPr>
              <a:t> </a:t>
            </a:r>
            <a:r>
              <a:rPr sz="800" spc="5" dirty="0">
                <a:latin typeface="Georgia"/>
                <a:cs typeface="Georgia"/>
              </a:rPr>
              <a:t>Engineering</a:t>
            </a:r>
            <a:r>
              <a:rPr sz="800" spc="80" dirty="0">
                <a:latin typeface="Georgia"/>
                <a:cs typeface="Georgia"/>
              </a:rPr>
              <a:t> </a:t>
            </a:r>
            <a:r>
              <a:rPr sz="800" spc="5" dirty="0">
                <a:latin typeface="Georgia"/>
                <a:cs typeface="Georgia"/>
              </a:rPr>
              <a:t>and</a:t>
            </a:r>
            <a:r>
              <a:rPr sz="800" spc="80" dirty="0">
                <a:latin typeface="Georgia"/>
                <a:cs typeface="Georgia"/>
              </a:rPr>
              <a:t> </a:t>
            </a:r>
            <a:r>
              <a:rPr sz="800" spc="5" dirty="0">
                <a:latin typeface="Georgia"/>
                <a:cs typeface="Georgia"/>
              </a:rPr>
              <a:t>Technology</a:t>
            </a:r>
            <a:endParaRPr sz="12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</a:pPr>
            <a:endParaRPr sz="800" i="1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5" name="object 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/>
              <a:t>and</a:t>
            </a:r>
            <a:r>
              <a:rPr spc="95"/>
              <a:t> </a:t>
            </a:r>
            <a:r>
              <a:rPr spc="45"/>
              <a:t>mining</a:t>
            </a:r>
            <a:endParaRPr spc="70" dirty="0"/>
          </a:p>
        </p:txBody>
      </p:sp>
      <p:sp>
        <p:nvSpPr>
          <p:cNvPr id="8" name="object 8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67786" y="3118867"/>
            <a:ext cx="30543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z="600" spc="105" dirty="0">
                <a:solidFill>
                  <a:srgbClr val="7A0000"/>
                </a:solidFill>
                <a:latin typeface="Georgia"/>
                <a:cs typeface="Georgia"/>
              </a:rPr>
              <a:t>1</a:t>
            </a:fld>
            <a:r>
              <a:rPr sz="600" spc="-25" dirty="0">
                <a:solidFill>
                  <a:srgbClr val="7A0000"/>
                </a:solidFill>
                <a:latin typeface="Georgia"/>
                <a:cs typeface="Georgia"/>
              </a:rPr>
              <a:t> </a:t>
            </a:r>
            <a:r>
              <a:rPr sz="600" spc="80" dirty="0">
                <a:solidFill>
                  <a:srgbClr val="7A0000"/>
                </a:solidFill>
                <a:latin typeface="Georgia"/>
                <a:cs typeface="Georgia"/>
              </a:rPr>
              <a:t>/</a:t>
            </a:r>
            <a:r>
              <a:rPr sz="600" spc="-25" dirty="0">
                <a:solidFill>
                  <a:srgbClr val="7A0000"/>
                </a:solidFill>
                <a:latin typeface="Georgia"/>
                <a:cs typeface="Georgia"/>
              </a:rPr>
              <a:t> </a:t>
            </a:r>
            <a:r>
              <a:rPr sz="600" spc="20" dirty="0">
                <a:solidFill>
                  <a:srgbClr val="7A0000"/>
                </a:solidFill>
                <a:latin typeface="Georgia"/>
                <a:cs typeface="Georgia"/>
              </a:rPr>
              <a:t>38</a:t>
            </a:r>
            <a:endParaRPr sz="6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C549E-2514-911E-3907-DBFBFDEDA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28267"/>
            <a:ext cx="5575198" cy="215444"/>
          </a:xfrm>
        </p:spPr>
        <p:txBody>
          <a:bodyPr/>
          <a:lstStyle/>
          <a:p>
            <a:r>
              <a:rPr lang="x-none"/>
              <a:t>Expected lesson learning outcomes (LLOs)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B73E2-8D3E-7AA6-D034-69B786138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582" y="806639"/>
            <a:ext cx="4926634" cy="1184940"/>
          </a:xfrm>
        </p:spPr>
        <p:txBody>
          <a:bodyPr/>
          <a:lstStyle/>
          <a:p>
            <a:r>
              <a:rPr lang="x-none" b="1"/>
              <a:t>LLO1.</a:t>
            </a:r>
            <a:r>
              <a:rPr lang="x-none"/>
              <a:t> Giải thích được các khái niệm cơ bản như khai phá dữ liệu, mô hình CRISP-DM, …</a:t>
            </a:r>
          </a:p>
          <a:p>
            <a:r>
              <a:rPr lang="x-none" b="1"/>
              <a:t>LLO2.</a:t>
            </a:r>
            <a:r>
              <a:rPr lang="x-none"/>
              <a:t> Đưa ra được ví dụ ứng dụng thực tế của khai phá và phân tích dữ liệu</a:t>
            </a:r>
          </a:p>
          <a:p>
            <a:r>
              <a:rPr lang="x-none" b="1"/>
              <a:t>LLO3.</a:t>
            </a:r>
            <a:r>
              <a:rPr lang="x-none"/>
              <a:t> Giải thích được các bài toán chính trong khai phá dữ liệu</a:t>
            </a:r>
          </a:p>
          <a:p>
            <a:r>
              <a:rPr lang="x-none" b="1"/>
              <a:t>LLO4.</a:t>
            </a:r>
            <a:r>
              <a:rPr lang="x-none"/>
              <a:t> Nắm được nội dung và yêu cầu của môn học</a:t>
            </a:r>
          </a:p>
          <a:p>
            <a:endParaRPr lang="x-none"/>
          </a:p>
          <a:p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58108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593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171615" y="646887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4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1615" y="1016812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615" y="1386751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1615" y="1751533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615" y="2116315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615" y="2481097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8556" y="596403"/>
            <a:ext cx="2301875" cy="202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9705" indent="-167640"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5" dirty="0">
                <a:latin typeface="Georgia"/>
                <a:cs typeface="Georgia"/>
                <a:hlinkClick r:id="rId2" action="ppaction://hlinksldjump"/>
              </a:rPr>
              <a:t>Data</a:t>
            </a:r>
            <a:r>
              <a:rPr sz="1100" spc="85" dirty="0"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25" dirty="0">
                <a:latin typeface="Georgia"/>
                <a:cs typeface="Georgia"/>
                <a:hlinkClick r:id="rId2" action="ppaction://hlinksldjump"/>
              </a:rPr>
              <a:t>analysis</a:t>
            </a:r>
            <a:r>
              <a:rPr sz="1100" spc="90" dirty="0"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30" dirty="0">
                <a:latin typeface="Georgia"/>
                <a:cs typeface="Georgia"/>
                <a:hlinkClick r:id="rId2" action="ppaction://hlinksldjump"/>
              </a:rPr>
              <a:t>and</a:t>
            </a:r>
            <a:r>
              <a:rPr sz="1100" spc="85" dirty="0"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40" dirty="0">
                <a:latin typeface="Georgia"/>
                <a:cs typeface="Georgia"/>
                <a:hlinkClick r:id="rId2" action="ppaction://hlinksldjump"/>
              </a:rPr>
              <a:t>mining</a:t>
            </a:r>
            <a:r>
              <a:rPr sz="1100" spc="90" dirty="0"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30" dirty="0">
                <a:latin typeface="Georgia"/>
                <a:cs typeface="Georgia"/>
                <a:hlinkClick r:id="rId2" action="ppaction://hlinksldjump"/>
              </a:rPr>
              <a:t>concepts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Georgia"/>
              <a:buAutoNum type="arabicPlain"/>
            </a:pPr>
            <a:endParaRPr sz="14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latin typeface="Georgia"/>
                <a:cs typeface="Georgia"/>
                <a:hlinkClick r:id="rId3" action="ppaction://hlinksldjump"/>
              </a:rPr>
              <a:t>Course</a:t>
            </a:r>
            <a:r>
              <a:rPr sz="1100" spc="90" dirty="0"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45" dirty="0">
                <a:latin typeface="Georgia"/>
                <a:cs typeface="Georgia"/>
                <a:hlinkClick r:id="rId3" action="ppaction://hlinksldjump"/>
              </a:rPr>
              <a:t>requirement</a:t>
            </a:r>
            <a:r>
              <a:rPr sz="1100" spc="90" dirty="0"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30" dirty="0">
                <a:latin typeface="Georgia"/>
                <a:cs typeface="Georgia"/>
                <a:hlinkClick r:id="rId3" action="ppaction://hlinksldjump"/>
              </a:rPr>
              <a:t>and</a:t>
            </a:r>
            <a:r>
              <a:rPr sz="1100" spc="90" dirty="0"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25" dirty="0">
                <a:latin typeface="Georgia"/>
                <a:cs typeface="Georgia"/>
                <a:hlinkClick r:id="rId3" action="ppaction://hlinksldjump"/>
              </a:rPr>
              <a:t>evaluation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Georgia"/>
              <a:buAutoNum type="arabicPlain"/>
            </a:pPr>
            <a:endParaRPr sz="14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latin typeface="Georgia"/>
                <a:cs typeface="Georgia"/>
                <a:hlinkClick r:id="rId4" action="ppaction://hlinksldjump"/>
              </a:rPr>
              <a:t>Course</a:t>
            </a:r>
            <a:r>
              <a:rPr sz="1100" spc="80" dirty="0"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35" dirty="0">
                <a:latin typeface="Georgia"/>
                <a:cs typeface="Georgia"/>
                <a:hlinkClick r:id="rId4" action="ppaction://hlinksldjump"/>
              </a:rPr>
              <a:t>contents</a:t>
            </a:r>
            <a:r>
              <a:rPr sz="1100" spc="85" dirty="0"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30" dirty="0"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1100" spc="85" dirty="0"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40" dirty="0">
                <a:latin typeface="Georgia"/>
                <a:cs typeface="Georgia"/>
                <a:hlinkClick r:id="rId4" action="ppaction://hlinksldjump"/>
              </a:rPr>
              <a:t>schedule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latin typeface="Georgia"/>
                <a:cs typeface="Georgia"/>
                <a:hlinkClick r:id="rId5" action="ppaction://hlinksldjump"/>
              </a:rPr>
              <a:t>Course</a:t>
            </a:r>
            <a:r>
              <a:rPr sz="1100" spc="60" dirty="0"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1100" spc="-45" dirty="0">
                <a:latin typeface="Georgia"/>
                <a:cs typeface="Georgia"/>
                <a:hlinkClick r:id="rId5" action="ppaction://hlinksldjump"/>
              </a:rPr>
              <a:t>resources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40" dirty="0">
                <a:latin typeface="Georgia"/>
                <a:cs typeface="Georgia"/>
                <a:hlinkClick r:id="rId6" action="ppaction://hlinksldjump"/>
              </a:rPr>
              <a:t>References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30" dirty="0">
                <a:latin typeface="Georgia"/>
                <a:cs typeface="Georgia"/>
                <a:hlinkClick r:id="rId7" action="ppaction://hlinksldjump"/>
              </a:rPr>
              <a:t>Summary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1" name="object 11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4" name="object 14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67786" y="3118867"/>
            <a:ext cx="30543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z="600" spc="105" dirty="0">
                <a:solidFill>
                  <a:srgbClr val="7A0000"/>
                </a:solidFill>
                <a:latin typeface="Georgia"/>
                <a:cs typeface="Georgia"/>
              </a:rPr>
              <a:t>3</a:t>
            </a:fld>
            <a:r>
              <a:rPr sz="600" spc="-25" dirty="0">
                <a:solidFill>
                  <a:srgbClr val="7A0000"/>
                </a:solidFill>
                <a:latin typeface="Georgia"/>
                <a:cs typeface="Georgia"/>
              </a:rPr>
              <a:t> </a:t>
            </a:r>
            <a:r>
              <a:rPr sz="600" spc="80" dirty="0">
                <a:solidFill>
                  <a:srgbClr val="7A0000"/>
                </a:solidFill>
                <a:latin typeface="Georgia"/>
                <a:cs typeface="Georgia"/>
              </a:rPr>
              <a:t>/</a:t>
            </a:r>
            <a:r>
              <a:rPr sz="600" spc="-25" dirty="0">
                <a:solidFill>
                  <a:srgbClr val="7A0000"/>
                </a:solidFill>
                <a:latin typeface="Georgia"/>
                <a:cs typeface="Georgia"/>
              </a:rPr>
              <a:t> </a:t>
            </a:r>
            <a:r>
              <a:rPr sz="600" spc="20" dirty="0">
                <a:solidFill>
                  <a:srgbClr val="7A0000"/>
                </a:solidFill>
                <a:latin typeface="Georgia"/>
                <a:cs typeface="Georgia"/>
              </a:rPr>
              <a:t>38</a:t>
            </a:r>
            <a:endParaRPr sz="6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593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171615" y="646887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4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1615" y="1016812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615" y="1386751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1615" y="1751533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615" y="2116315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615" y="2481097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8556" y="596403"/>
            <a:ext cx="2301875" cy="202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9705" indent="-167640"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5" dirty="0">
                <a:latin typeface="Georgia"/>
                <a:cs typeface="Georgia"/>
                <a:hlinkClick r:id="rId2" action="ppaction://hlinksldjump"/>
              </a:rPr>
              <a:t>Data</a:t>
            </a:r>
            <a:r>
              <a:rPr sz="1100" spc="85" dirty="0"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25" dirty="0">
                <a:latin typeface="Georgia"/>
                <a:cs typeface="Georgia"/>
                <a:hlinkClick r:id="rId2" action="ppaction://hlinksldjump"/>
              </a:rPr>
              <a:t>analysis</a:t>
            </a:r>
            <a:r>
              <a:rPr sz="1100" spc="90" dirty="0"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30" dirty="0">
                <a:latin typeface="Georgia"/>
                <a:cs typeface="Georgia"/>
                <a:hlinkClick r:id="rId2" action="ppaction://hlinksldjump"/>
              </a:rPr>
              <a:t>and</a:t>
            </a:r>
            <a:r>
              <a:rPr sz="1100" spc="85" dirty="0"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40" dirty="0">
                <a:latin typeface="Georgia"/>
                <a:cs typeface="Georgia"/>
                <a:hlinkClick r:id="rId2" action="ppaction://hlinksldjump"/>
              </a:rPr>
              <a:t>mining</a:t>
            </a:r>
            <a:r>
              <a:rPr sz="1100" spc="90" dirty="0"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30" dirty="0">
                <a:latin typeface="Georgia"/>
                <a:cs typeface="Georgia"/>
                <a:hlinkClick r:id="rId2" action="ppaction://hlinksldjump"/>
              </a:rPr>
              <a:t>concepts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Georgia"/>
              <a:buAutoNum type="arabicPlain"/>
            </a:pPr>
            <a:endParaRPr sz="14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Course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45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requirement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and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evaluation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Georgia"/>
              <a:buAutoNum type="arabicPlain"/>
            </a:pPr>
            <a:endParaRPr sz="14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Course</a:t>
            </a:r>
            <a:r>
              <a:rPr sz="1100" spc="80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contents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40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schedule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Course</a:t>
            </a:r>
            <a:r>
              <a:rPr sz="1100" spc="60" dirty="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1100" spc="-45" dirty="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resources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40" dirty="0">
                <a:solidFill>
                  <a:srgbClr val="CCCCCC"/>
                </a:solidFill>
                <a:latin typeface="Georgia"/>
                <a:cs typeface="Georgia"/>
                <a:hlinkClick r:id="rId6" action="ppaction://hlinksldjump"/>
              </a:rPr>
              <a:t>References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Summary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1" name="object 11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4" name="object 14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4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8267"/>
            <a:ext cx="26047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35" dirty="0">
                <a:solidFill>
                  <a:srgbClr val="CC0000"/>
                </a:solidFill>
                <a:latin typeface="Times New Roman"/>
                <a:cs typeface="Times New Roman"/>
              </a:rPr>
              <a:t>Why</a:t>
            </a:r>
            <a:r>
              <a:rPr sz="1400" spc="9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CC0000"/>
                </a:solidFill>
                <a:latin typeface="Times New Roman"/>
                <a:cs typeface="Times New Roman"/>
              </a:rPr>
              <a:t>is</a:t>
            </a:r>
            <a:r>
              <a:rPr sz="1400" spc="9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CC0000"/>
                </a:solidFill>
                <a:latin typeface="Times New Roman"/>
                <a:cs typeface="Times New Roman"/>
              </a:rPr>
              <a:t>data</a:t>
            </a:r>
            <a:r>
              <a:rPr sz="1400" spc="9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15" dirty="0">
                <a:solidFill>
                  <a:srgbClr val="CC0000"/>
                </a:solidFill>
                <a:latin typeface="Times New Roman"/>
                <a:cs typeface="Times New Roman"/>
              </a:rPr>
              <a:t>analysis</a:t>
            </a:r>
            <a:r>
              <a:rPr sz="1400" spc="9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CC0000"/>
                </a:solidFill>
                <a:latin typeface="Times New Roman"/>
                <a:cs typeface="Times New Roman"/>
              </a:rPr>
              <a:t>and</a:t>
            </a:r>
            <a:r>
              <a:rPr sz="1400" spc="9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15" dirty="0">
                <a:solidFill>
                  <a:srgbClr val="CC0000"/>
                </a:solidFill>
                <a:latin typeface="Times New Roman"/>
                <a:cs typeface="Times New Roman"/>
              </a:rPr>
              <a:t>mining?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6515" y="475228"/>
            <a:ext cx="3275015" cy="24864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5" name="object 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8" name="object 8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5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8267"/>
            <a:ext cx="1816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70" dirty="0">
                <a:solidFill>
                  <a:srgbClr val="CC0000"/>
                </a:solidFill>
                <a:latin typeface="Times New Roman"/>
                <a:cs typeface="Times New Roman"/>
              </a:rPr>
              <a:t>Data</a:t>
            </a:r>
            <a:r>
              <a:rPr sz="1400" spc="9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CC0000"/>
                </a:solidFill>
                <a:latin typeface="Times New Roman"/>
                <a:cs typeface="Times New Roman"/>
              </a:rPr>
              <a:t>is</a:t>
            </a:r>
            <a:r>
              <a:rPr sz="1400" spc="9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CC0000"/>
                </a:solidFill>
                <a:latin typeface="Times New Roman"/>
                <a:cs typeface="Times New Roman"/>
              </a:rPr>
              <a:t>growing</a:t>
            </a:r>
            <a:r>
              <a:rPr sz="1400" spc="8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30" dirty="0">
                <a:solidFill>
                  <a:srgbClr val="CC0000"/>
                </a:solidFill>
                <a:latin typeface="Times New Roman"/>
                <a:cs typeface="Times New Roman"/>
              </a:rPr>
              <a:t>rapidly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277" y="487273"/>
            <a:ext cx="3836860" cy="13515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0719" y="1964118"/>
            <a:ext cx="1168146" cy="96332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6" name="object 6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9" name="object 9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4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6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16827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What </a:t>
            </a:r>
            <a:r>
              <a:rPr spc="-10" dirty="0"/>
              <a:t>is</a:t>
            </a:r>
            <a:r>
              <a:rPr spc="85" dirty="0"/>
              <a:t> </a:t>
            </a:r>
            <a:r>
              <a:rPr spc="75" dirty="0"/>
              <a:t>data</a:t>
            </a:r>
            <a:r>
              <a:rPr spc="80" dirty="0"/>
              <a:t> </a:t>
            </a:r>
            <a:r>
              <a:rPr spc="15" dirty="0"/>
              <a:t>mining?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59" y="534695"/>
            <a:ext cx="5469890" cy="222250"/>
          </a:xfrm>
          <a:prstGeom prst="rect">
            <a:avLst/>
          </a:prstGeom>
          <a:solidFill>
            <a:srgbClr val="B2D8D8"/>
          </a:solidFill>
        </p:spPr>
        <p:txBody>
          <a:bodyPr vert="horz" wrap="square" lIns="0" tIns="889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70"/>
              </a:spcBef>
            </a:pPr>
            <a:r>
              <a:rPr sz="1100" spc="-25" dirty="0">
                <a:latin typeface="Georgia"/>
                <a:cs typeface="Georgia"/>
              </a:rPr>
              <a:t>According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to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Aggarwal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85" dirty="0">
                <a:latin typeface="Georgia"/>
                <a:cs typeface="Georgia"/>
                <a:hlinkClick r:id="rId2" action="ppaction://hlinksldjump"/>
              </a:rPr>
              <a:t>[2]: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59" y="756335"/>
            <a:ext cx="5469890" cy="361950"/>
          </a:xfrm>
          <a:prstGeom prst="rect">
            <a:avLst/>
          </a:prstGeom>
          <a:solidFill>
            <a:srgbClr val="EBEBEB"/>
          </a:solidFill>
        </p:spPr>
        <p:txBody>
          <a:bodyPr vert="horz" wrap="square" lIns="0" tIns="29209" rIns="0" bIns="0" rtlCol="0">
            <a:spAutoFit/>
          </a:bodyPr>
          <a:lstStyle/>
          <a:p>
            <a:pPr marL="44450" marR="37465">
              <a:lnSpc>
                <a:spcPts val="1150"/>
              </a:lnSpc>
              <a:spcBef>
                <a:spcPts val="229"/>
              </a:spcBef>
            </a:pPr>
            <a:r>
              <a:rPr sz="1000" i="1" spc="20" dirty="0">
                <a:latin typeface="Palatino Linotype"/>
                <a:cs typeface="Palatino Linotype"/>
              </a:rPr>
              <a:t>Data </a:t>
            </a:r>
            <a:r>
              <a:rPr sz="1000" i="1" spc="5" dirty="0">
                <a:latin typeface="Palatino Linotype"/>
                <a:cs typeface="Palatino Linotype"/>
              </a:rPr>
              <a:t>mining</a:t>
            </a:r>
            <a:r>
              <a:rPr sz="1000" i="1" spc="10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is </a:t>
            </a:r>
            <a:r>
              <a:rPr sz="1000" i="1" spc="25" dirty="0">
                <a:latin typeface="Palatino Linotype"/>
                <a:cs typeface="Palatino Linotype"/>
              </a:rPr>
              <a:t>the </a:t>
            </a:r>
            <a:r>
              <a:rPr sz="1000" i="1" spc="-10" dirty="0">
                <a:latin typeface="Palatino Linotype"/>
                <a:cs typeface="Palatino Linotype"/>
              </a:rPr>
              <a:t>study</a:t>
            </a:r>
            <a:r>
              <a:rPr sz="1000" i="1" spc="-5" dirty="0">
                <a:latin typeface="Palatino Linotype"/>
                <a:cs typeface="Palatino Linotype"/>
              </a:rPr>
              <a:t> </a:t>
            </a:r>
            <a:r>
              <a:rPr sz="1000" i="1" spc="45" dirty="0">
                <a:latin typeface="Palatino Linotype"/>
                <a:cs typeface="Palatino Linotype"/>
              </a:rPr>
              <a:t>of </a:t>
            </a:r>
            <a:r>
              <a:rPr sz="1000" i="1" spc="10" dirty="0">
                <a:latin typeface="Palatino Linotype"/>
                <a:cs typeface="Palatino Linotype"/>
              </a:rPr>
              <a:t>collecting, </a:t>
            </a:r>
            <a:r>
              <a:rPr sz="1000" i="1" spc="15" dirty="0">
                <a:latin typeface="Palatino Linotype"/>
                <a:cs typeface="Palatino Linotype"/>
              </a:rPr>
              <a:t>cleaning, </a:t>
            </a:r>
            <a:r>
              <a:rPr sz="1000" i="1" spc="10" dirty="0">
                <a:latin typeface="Palatino Linotype"/>
                <a:cs typeface="Palatino Linotype"/>
              </a:rPr>
              <a:t>processing, </a:t>
            </a:r>
            <a:r>
              <a:rPr sz="1000" i="1" spc="5" dirty="0">
                <a:latin typeface="Palatino Linotype"/>
                <a:cs typeface="Palatino Linotype"/>
              </a:rPr>
              <a:t>analyzing,</a:t>
            </a:r>
            <a:r>
              <a:rPr sz="1000" i="1" spc="10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and </a:t>
            </a:r>
            <a:r>
              <a:rPr sz="1000" i="1" dirty="0">
                <a:latin typeface="Palatino Linotype"/>
                <a:cs typeface="Palatino Linotype"/>
              </a:rPr>
              <a:t>gaining</a:t>
            </a:r>
            <a:r>
              <a:rPr sz="1000" i="1" spc="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useful</a:t>
            </a:r>
            <a:r>
              <a:rPr sz="1000" i="1" spc="5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insights </a:t>
            </a:r>
            <a:r>
              <a:rPr sz="1000" i="1" spc="-235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from</a:t>
            </a:r>
            <a:r>
              <a:rPr sz="1000" i="1" spc="100" dirty="0">
                <a:latin typeface="Palatino Linotype"/>
                <a:cs typeface="Palatino Linotype"/>
              </a:rPr>
              <a:t> </a:t>
            </a:r>
            <a:r>
              <a:rPr sz="1000" i="1" spc="35" dirty="0">
                <a:latin typeface="Palatino Linotype"/>
                <a:cs typeface="Palatino Linotype"/>
              </a:rPr>
              <a:t>data.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059" y="1244714"/>
            <a:ext cx="5469890" cy="222250"/>
          </a:xfrm>
          <a:prstGeom prst="rect">
            <a:avLst/>
          </a:prstGeom>
          <a:solidFill>
            <a:srgbClr val="B2D8D8"/>
          </a:solidFill>
        </p:spPr>
        <p:txBody>
          <a:bodyPr vert="horz" wrap="square" lIns="0" tIns="889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70"/>
              </a:spcBef>
            </a:pPr>
            <a:r>
              <a:rPr sz="1100" spc="-25" dirty="0">
                <a:latin typeface="Georgia"/>
                <a:cs typeface="Georgia"/>
              </a:rPr>
              <a:t>According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Leskovec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et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al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85" dirty="0">
                <a:latin typeface="Georgia"/>
                <a:cs typeface="Georgia"/>
                <a:hlinkClick r:id="rId2" action="ppaction://hlinksldjump"/>
              </a:rPr>
              <a:t>[3]: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059" y="1466367"/>
            <a:ext cx="5469890" cy="215900"/>
          </a:xfrm>
          <a:prstGeom prst="rect">
            <a:avLst/>
          </a:prstGeom>
          <a:solidFill>
            <a:srgbClr val="EBEBEB"/>
          </a:solidFill>
        </p:spPr>
        <p:txBody>
          <a:bodyPr vert="horz" wrap="square" lIns="0" tIns="1905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50"/>
              </a:spcBef>
            </a:pPr>
            <a:r>
              <a:rPr sz="1000" i="1" spc="55" dirty="0">
                <a:latin typeface="Palatino Linotype"/>
                <a:cs typeface="Palatino Linotype"/>
              </a:rPr>
              <a:t>The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most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commonly</a:t>
            </a:r>
            <a:r>
              <a:rPr sz="1000" i="1" spc="114" dirty="0">
                <a:latin typeface="Palatino Linotype"/>
                <a:cs typeface="Palatino Linotype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accepted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definition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45" dirty="0">
                <a:latin typeface="Palatino Linotype"/>
                <a:cs typeface="Palatino Linotype"/>
              </a:rPr>
              <a:t>of</a:t>
            </a:r>
            <a:r>
              <a:rPr sz="1000" i="1" spc="114" dirty="0">
                <a:latin typeface="Palatino Linotype"/>
                <a:cs typeface="Palatino Linotype"/>
              </a:rPr>
              <a:t> </a:t>
            </a:r>
            <a:r>
              <a:rPr sz="1000" i="1" spc="-5" dirty="0">
                <a:latin typeface="Palatino Linotype"/>
                <a:cs typeface="Palatino Linotype"/>
              </a:rPr>
              <a:t>“data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-20" dirty="0">
                <a:latin typeface="Palatino Linotype"/>
                <a:cs typeface="Palatino Linotype"/>
              </a:rPr>
              <a:t>mining”</a:t>
            </a:r>
            <a:r>
              <a:rPr sz="1000" i="1" spc="190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is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the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discovery</a:t>
            </a:r>
            <a:r>
              <a:rPr sz="1000" i="1" spc="114" dirty="0">
                <a:latin typeface="Palatino Linotype"/>
                <a:cs typeface="Palatino Linotype"/>
              </a:rPr>
              <a:t> </a:t>
            </a:r>
            <a:r>
              <a:rPr sz="1000" i="1" spc="45" dirty="0">
                <a:latin typeface="Palatino Linotype"/>
                <a:cs typeface="Palatino Linotype"/>
              </a:rPr>
              <a:t>of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-25" dirty="0">
                <a:latin typeface="Palatino Linotype"/>
                <a:cs typeface="Palatino Linotype"/>
              </a:rPr>
              <a:t>“models”</a:t>
            </a:r>
            <a:r>
              <a:rPr sz="1000" i="1" spc="190" dirty="0">
                <a:latin typeface="Palatino Linotype"/>
                <a:cs typeface="Palatino Linotype"/>
              </a:rPr>
              <a:t> </a:t>
            </a:r>
            <a:r>
              <a:rPr sz="1000" i="1" spc="35" dirty="0">
                <a:latin typeface="Palatino Linotype"/>
                <a:cs typeface="Palatino Linotype"/>
              </a:rPr>
              <a:t>for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35" dirty="0">
                <a:latin typeface="Palatino Linotype"/>
                <a:cs typeface="Palatino Linotype"/>
              </a:rPr>
              <a:t>data.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059" y="1808467"/>
            <a:ext cx="5469890" cy="205740"/>
          </a:xfrm>
          <a:prstGeom prst="rect">
            <a:avLst/>
          </a:prstGeom>
          <a:solidFill>
            <a:srgbClr val="B2D8D8"/>
          </a:solidFill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ct val="100000"/>
              </a:lnSpc>
            </a:pPr>
            <a:r>
              <a:rPr sz="1100" spc="-25" dirty="0">
                <a:latin typeface="Georgia"/>
                <a:cs typeface="Georgia"/>
              </a:rPr>
              <a:t>According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to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Wikipedia: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059" y="2013953"/>
            <a:ext cx="5469890" cy="800735"/>
          </a:xfrm>
          <a:prstGeom prst="rect">
            <a:avLst/>
          </a:prstGeom>
          <a:solidFill>
            <a:srgbClr val="EBEBEB"/>
          </a:solidFill>
        </p:spPr>
        <p:txBody>
          <a:bodyPr vert="horz" wrap="square" lIns="0" tIns="29209" rIns="0" bIns="0" rtlCol="0">
            <a:spAutoFit/>
          </a:bodyPr>
          <a:lstStyle/>
          <a:p>
            <a:pPr marL="44450" marR="37465">
              <a:lnSpc>
                <a:spcPts val="1150"/>
              </a:lnSpc>
              <a:spcBef>
                <a:spcPts val="229"/>
              </a:spcBef>
            </a:pPr>
            <a:r>
              <a:rPr sz="1000" i="1" spc="20" dirty="0">
                <a:latin typeface="Palatino Linotype"/>
                <a:cs typeface="Palatino Linotype"/>
              </a:rPr>
              <a:t>Data </a:t>
            </a:r>
            <a:r>
              <a:rPr sz="1000" i="1" spc="5" dirty="0">
                <a:latin typeface="Palatino Linotype"/>
                <a:cs typeface="Palatino Linotype"/>
              </a:rPr>
              <a:t>mining</a:t>
            </a:r>
            <a:r>
              <a:rPr sz="1000" i="1" spc="10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is </a:t>
            </a:r>
            <a:r>
              <a:rPr sz="1000" i="1" spc="25" dirty="0">
                <a:latin typeface="Palatino Linotype"/>
                <a:cs typeface="Palatino Linotype"/>
              </a:rPr>
              <a:t>the </a:t>
            </a:r>
            <a:r>
              <a:rPr sz="1000" i="1" spc="10" dirty="0">
                <a:latin typeface="Palatino Linotype"/>
                <a:cs typeface="Palatino Linotype"/>
              </a:rPr>
              <a:t>process</a:t>
            </a:r>
            <a:r>
              <a:rPr sz="1000" i="1" spc="15" dirty="0">
                <a:latin typeface="Palatino Linotype"/>
                <a:cs typeface="Palatino Linotype"/>
              </a:rPr>
              <a:t> </a:t>
            </a:r>
            <a:r>
              <a:rPr sz="1000" i="1" spc="45" dirty="0">
                <a:latin typeface="Palatino Linotype"/>
                <a:cs typeface="Palatino Linotype"/>
              </a:rPr>
              <a:t>of </a:t>
            </a:r>
            <a:r>
              <a:rPr sz="1000" i="1" spc="5" dirty="0">
                <a:latin typeface="Palatino Linotype"/>
                <a:cs typeface="Palatino Linotype"/>
              </a:rPr>
              <a:t>extracting</a:t>
            </a:r>
            <a:r>
              <a:rPr sz="1000" i="1" spc="10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and </a:t>
            </a:r>
            <a:r>
              <a:rPr sz="1000" i="1" spc="15" dirty="0">
                <a:latin typeface="Palatino Linotype"/>
                <a:cs typeface="Palatino Linotype"/>
              </a:rPr>
              <a:t>discovering patterns </a:t>
            </a:r>
            <a:r>
              <a:rPr sz="1000" i="1" spc="10" dirty="0">
                <a:latin typeface="Palatino Linotype"/>
                <a:cs typeface="Palatino Linotype"/>
              </a:rPr>
              <a:t>in</a:t>
            </a:r>
            <a:r>
              <a:rPr sz="1000" i="1" spc="15" dirty="0">
                <a:latin typeface="Palatino Linotype"/>
                <a:cs typeface="Palatino Linotype"/>
              </a:rPr>
              <a:t> </a:t>
            </a:r>
            <a:r>
              <a:rPr sz="1000" i="1" spc="5" dirty="0">
                <a:latin typeface="Palatino Linotype"/>
                <a:cs typeface="Palatino Linotype"/>
              </a:rPr>
              <a:t>large  </a:t>
            </a:r>
            <a:r>
              <a:rPr sz="1000" i="1" spc="30" dirty="0">
                <a:latin typeface="Palatino Linotype"/>
                <a:cs typeface="Palatino Linotype"/>
              </a:rPr>
              <a:t>data </a:t>
            </a:r>
            <a:r>
              <a:rPr sz="1000" i="1" spc="20" dirty="0">
                <a:latin typeface="Palatino Linotype"/>
                <a:cs typeface="Palatino Linotype"/>
              </a:rPr>
              <a:t>sets </a:t>
            </a:r>
            <a:r>
              <a:rPr sz="1000" i="1" spc="-5" dirty="0">
                <a:latin typeface="Palatino Linotype"/>
                <a:cs typeface="Palatino Linotype"/>
              </a:rPr>
              <a:t>involving </a:t>
            </a:r>
            <a:r>
              <a:rPr sz="1000" i="1" dirty="0">
                <a:latin typeface="Palatino Linotype"/>
                <a:cs typeface="Palatino Linotype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methods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30" dirty="0">
                <a:latin typeface="Palatino Linotype"/>
                <a:cs typeface="Palatino Linotype"/>
              </a:rPr>
              <a:t>at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the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intersection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45" dirty="0">
                <a:latin typeface="Palatino Linotype"/>
                <a:cs typeface="Palatino Linotype"/>
              </a:rPr>
              <a:t>of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30" dirty="0">
                <a:latin typeface="Palatino Linotype"/>
                <a:cs typeface="Palatino Linotype"/>
              </a:rPr>
              <a:t>machine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learning,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statistics,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and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database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systems.</a:t>
            </a:r>
            <a:r>
              <a:rPr sz="1000" i="1" spc="210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Data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5" dirty="0">
                <a:latin typeface="Palatino Linotype"/>
                <a:cs typeface="Palatino Linotype"/>
              </a:rPr>
              <a:t>mining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is </a:t>
            </a:r>
            <a:r>
              <a:rPr sz="1000" i="1" spc="20" dirty="0">
                <a:latin typeface="Palatino Linotype"/>
                <a:cs typeface="Palatino Linotype"/>
              </a:rPr>
              <a:t> </a:t>
            </a:r>
            <a:r>
              <a:rPr sz="1000" i="1" spc="30" dirty="0">
                <a:latin typeface="Palatino Linotype"/>
                <a:cs typeface="Palatino Linotype"/>
              </a:rPr>
              <a:t>an </a:t>
            </a:r>
            <a:r>
              <a:rPr sz="1000" i="1" spc="15" dirty="0">
                <a:latin typeface="Palatino Linotype"/>
                <a:cs typeface="Palatino Linotype"/>
              </a:rPr>
              <a:t>interdisciplinary</a:t>
            </a:r>
            <a:r>
              <a:rPr sz="1000" i="1" spc="2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subfield</a:t>
            </a:r>
            <a:r>
              <a:rPr sz="1000" i="1" spc="5" dirty="0">
                <a:latin typeface="Palatino Linotype"/>
                <a:cs typeface="Palatino Linotype"/>
              </a:rPr>
              <a:t> </a:t>
            </a:r>
            <a:r>
              <a:rPr sz="1000" i="1" spc="45" dirty="0">
                <a:latin typeface="Palatino Linotype"/>
                <a:cs typeface="Palatino Linotype"/>
              </a:rPr>
              <a:t>of </a:t>
            </a:r>
            <a:r>
              <a:rPr sz="1000" i="1" spc="20" dirty="0">
                <a:latin typeface="Palatino Linotype"/>
                <a:cs typeface="Palatino Linotype"/>
              </a:rPr>
              <a:t>computer</a:t>
            </a:r>
            <a:r>
              <a:rPr sz="1000" i="1" spc="25" dirty="0">
                <a:latin typeface="Palatino Linotype"/>
                <a:cs typeface="Palatino Linotype"/>
              </a:rPr>
              <a:t> </a:t>
            </a:r>
            <a:r>
              <a:rPr sz="1000" i="1" spc="30" dirty="0">
                <a:latin typeface="Palatino Linotype"/>
                <a:cs typeface="Palatino Linotype"/>
              </a:rPr>
              <a:t>science </a:t>
            </a:r>
            <a:r>
              <a:rPr sz="1000" i="1" spc="25" dirty="0">
                <a:latin typeface="Palatino Linotype"/>
                <a:cs typeface="Palatino Linotype"/>
              </a:rPr>
              <a:t>and</a:t>
            </a:r>
            <a:r>
              <a:rPr sz="1000" i="1" spc="30" dirty="0">
                <a:latin typeface="Palatino Linotype"/>
                <a:cs typeface="Palatino Linotype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statistics</a:t>
            </a:r>
            <a:r>
              <a:rPr sz="1000" i="1" spc="20" dirty="0">
                <a:latin typeface="Palatino Linotype"/>
                <a:cs typeface="Palatino Linotype"/>
              </a:rPr>
              <a:t> </a:t>
            </a:r>
            <a:r>
              <a:rPr sz="1000" i="1" spc="-10" dirty="0">
                <a:latin typeface="Palatino Linotype"/>
                <a:cs typeface="Palatino Linotype"/>
              </a:rPr>
              <a:t>with</a:t>
            </a:r>
            <a:r>
              <a:rPr sz="1000" i="1" spc="-5" dirty="0">
                <a:latin typeface="Palatino Linotype"/>
                <a:cs typeface="Palatino Linotype"/>
              </a:rPr>
              <a:t> </a:t>
            </a:r>
            <a:r>
              <a:rPr sz="1000" i="1" spc="30" dirty="0">
                <a:latin typeface="Palatino Linotype"/>
                <a:cs typeface="Palatino Linotype"/>
              </a:rPr>
              <a:t>an </a:t>
            </a:r>
            <a:r>
              <a:rPr sz="1000" i="1" spc="15" dirty="0">
                <a:latin typeface="Palatino Linotype"/>
                <a:cs typeface="Palatino Linotype"/>
              </a:rPr>
              <a:t>overall</a:t>
            </a:r>
            <a:r>
              <a:rPr sz="1000" i="1" spc="2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goal</a:t>
            </a:r>
            <a:r>
              <a:rPr sz="1000" i="1" spc="5" dirty="0">
                <a:latin typeface="Palatino Linotype"/>
                <a:cs typeface="Palatino Linotype"/>
              </a:rPr>
              <a:t> </a:t>
            </a:r>
            <a:r>
              <a:rPr sz="1000" i="1" spc="45" dirty="0">
                <a:latin typeface="Palatino Linotype"/>
                <a:cs typeface="Palatino Linotype"/>
              </a:rPr>
              <a:t>of </a:t>
            </a:r>
            <a:r>
              <a:rPr sz="1000" i="1" spc="5" dirty="0">
                <a:latin typeface="Palatino Linotype"/>
                <a:cs typeface="Palatino Linotype"/>
              </a:rPr>
              <a:t>extracting </a:t>
            </a:r>
            <a:r>
              <a:rPr sz="1000" i="1" spc="-235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information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5" dirty="0">
                <a:latin typeface="Palatino Linotype"/>
                <a:cs typeface="Palatino Linotype"/>
              </a:rPr>
              <a:t>(with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intelligent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methods)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from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65" dirty="0">
                <a:latin typeface="Palatino Linotype"/>
                <a:cs typeface="Palatino Linotype"/>
              </a:rPr>
              <a:t>a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30" dirty="0">
                <a:latin typeface="Palatino Linotype"/>
                <a:cs typeface="Palatino Linotype"/>
              </a:rPr>
              <a:t>data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set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and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transforming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the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information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into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65" dirty="0">
                <a:latin typeface="Palatino Linotype"/>
                <a:cs typeface="Palatino Linotype"/>
              </a:rPr>
              <a:t>a </a:t>
            </a:r>
            <a:r>
              <a:rPr sz="1000" i="1" spc="70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comprehensible</a:t>
            </a:r>
            <a:r>
              <a:rPr sz="1000" i="1" spc="100" dirty="0">
                <a:latin typeface="Palatino Linotype"/>
                <a:cs typeface="Palatino Linotype"/>
              </a:rPr>
              <a:t> </a:t>
            </a:r>
            <a:r>
              <a:rPr sz="1000" i="1" spc="5" dirty="0">
                <a:latin typeface="Palatino Linotype"/>
                <a:cs typeface="Palatino Linotype"/>
              </a:rPr>
              <a:t>structure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35" dirty="0">
                <a:latin typeface="Palatino Linotype"/>
                <a:cs typeface="Palatino Linotype"/>
              </a:rPr>
              <a:t>for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further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use.</a:t>
            </a:r>
            <a:endParaRPr sz="1000">
              <a:latin typeface="Palatino Linotype"/>
              <a:cs typeface="Palatino Linotyp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0" name="object 10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3" name="object 13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7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35083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Data</a:t>
            </a:r>
            <a:r>
              <a:rPr spc="100" dirty="0"/>
              <a:t> </a:t>
            </a:r>
            <a:r>
              <a:rPr spc="15" dirty="0"/>
              <a:t>mining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-5" dirty="0"/>
              <a:t>knowledge</a:t>
            </a:r>
            <a:r>
              <a:rPr spc="95" dirty="0"/>
              <a:t> </a:t>
            </a:r>
            <a:r>
              <a:rPr dirty="0"/>
              <a:t>discovery</a:t>
            </a:r>
            <a:r>
              <a:rPr spc="95" dirty="0"/>
              <a:t> </a:t>
            </a:r>
            <a:r>
              <a:rPr spc="10" dirty="0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137" y="773226"/>
            <a:ext cx="1414576" cy="14657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3830" y="2332798"/>
            <a:ext cx="2381885" cy="249554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254"/>
              </a:spcBef>
            </a:pPr>
            <a:r>
              <a:rPr sz="800" spc="30" dirty="0">
                <a:latin typeface="Georgia"/>
                <a:cs typeface="Georgia"/>
              </a:rPr>
              <a:t>Data</a:t>
            </a:r>
            <a:r>
              <a:rPr sz="800" spc="80" dirty="0">
                <a:latin typeface="Georgia"/>
                <a:cs typeface="Georgia"/>
              </a:rPr>
              <a:t> </a:t>
            </a:r>
            <a:r>
              <a:rPr sz="800" spc="-5" dirty="0">
                <a:latin typeface="Georgia"/>
                <a:cs typeface="Georgia"/>
              </a:rPr>
              <a:t>mining:  </a:t>
            </a:r>
            <a:r>
              <a:rPr sz="800" dirty="0">
                <a:latin typeface="Georgia"/>
                <a:cs typeface="Georgia"/>
              </a:rPr>
              <a:t>searching</a:t>
            </a:r>
            <a:r>
              <a:rPr sz="800" spc="85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for</a:t>
            </a:r>
            <a:r>
              <a:rPr sz="800" spc="8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knowledge</a:t>
            </a:r>
            <a:r>
              <a:rPr sz="800" spc="85" dirty="0">
                <a:latin typeface="Georgia"/>
                <a:cs typeface="Georgia"/>
              </a:rPr>
              <a:t> </a:t>
            </a:r>
            <a:r>
              <a:rPr sz="800" spc="5" dirty="0">
                <a:latin typeface="Georgia"/>
                <a:cs typeface="Georgia"/>
              </a:rPr>
              <a:t>(interesting </a:t>
            </a:r>
            <a:r>
              <a:rPr sz="800" spc="-180" dirty="0">
                <a:latin typeface="Georgia"/>
                <a:cs typeface="Georgia"/>
              </a:rPr>
              <a:t> </a:t>
            </a:r>
            <a:r>
              <a:rPr sz="800" spc="15" dirty="0">
                <a:latin typeface="Georgia"/>
                <a:cs typeface="Georgia"/>
              </a:rPr>
              <a:t>patterns)</a:t>
            </a:r>
            <a:r>
              <a:rPr sz="800" spc="8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from</a:t>
            </a:r>
            <a:r>
              <a:rPr sz="800" spc="85" dirty="0">
                <a:latin typeface="Georgia"/>
                <a:cs typeface="Georgia"/>
              </a:rPr>
              <a:t> </a:t>
            </a:r>
            <a:r>
              <a:rPr sz="800" spc="25" dirty="0">
                <a:latin typeface="Georgia"/>
                <a:cs typeface="Georgia"/>
              </a:rPr>
              <a:t>data</a:t>
            </a:r>
            <a:r>
              <a:rPr sz="800" spc="85" dirty="0">
                <a:latin typeface="Georgia"/>
                <a:cs typeface="Georgia"/>
              </a:rPr>
              <a:t> </a:t>
            </a:r>
            <a:r>
              <a:rPr sz="800" spc="-20" dirty="0">
                <a:latin typeface="Georgia"/>
                <a:cs typeface="Georgia"/>
                <a:hlinkClick r:id="rId3" action="ppaction://hlinksldjump"/>
              </a:rPr>
              <a:t>[1]</a:t>
            </a:r>
            <a:endParaRPr sz="8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47567" y="381507"/>
            <a:ext cx="1684324" cy="232074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25075" y="2800158"/>
            <a:ext cx="15271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10" dirty="0">
                <a:latin typeface="Georgia"/>
                <a:cs typeface="Georgia"/>
              </a:rPr>
              <a:t>Knowledge</a:t>
            </a:r>
            <a:r>
              <a:rPr sz="800" spc="60" dirty="0">
                <a:latin typeface="Georgia"/>
                <a:cs typeface="Georgia"/>
              </a:rPr>
              <a:t> </a:t>
            </a:r>
            <a:r>
              <a:rPr sz="800" spc="5" dirty="0">
                <a:latin typeface="Georgia"/>
                <a:cs typeface="Georgia"/>
              </a:rPr>
              <a:t>discovery</a:t>
            </a:r>
            <a:r>
              <a:rPr sz="800" spc="6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process</a:t>
            </a:r>
            <a:r>
              <a:rPr sz="800" spc="65" dirty="0">
                <a:latin typeface="Georgia"/>
                <a:cs typeface="Georgia"/>
              </a:rPr>
              <a:t> </a:t>
            </a:r>
            <a:r>
              <a:rPr sz="800" spc="-20" dirty="0">
                <a:latin typeface="Georgia"/>
                <a:cs typeface="Georgia"/>
                <a:hlinkClick r:id="rId3" action="ppaction://hlinksldjump"/>
              </a:rPr>
              <a:t>[1]</a:t>
            </a:r>
            <a:endParaRPr sz="800">
              <a:latin typeface="Georgia"/>
              <a:cs typeface="Georg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8" name="object 8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1" name="object 11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5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5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8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14490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" dirty="0"/>
              <a:t>CRISP–DM</a:t>
            </a:r>
            <a:r>
              <a:rPr spc="50" dirty="0"/>
              <a:t> </a:t>
            </a:r>
            <a:r>
              <a:rPr spc="15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69115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6668" y="1132319"/>
          <a:ext cx="97790" cy="9233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1540">
                <a:tc>
                  <a:txBody>
                    <a:bodyPr/>
                    <a:lstStyle/>
                    <a:p>
                      <a:pPr marR="13970" algn="r">
                        <a:lnSpc>
                          <a:spcPts val="795"/>
                        </a:lnSpc>
                      </a:pPr>
                      <a:r>
                        <a:rPr sz="80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8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055"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800">
                        <a:latin typeface="Georgia"/>
                        <a:cs typeface="Georgia"/>
                      </a:endParaRPr>
                    </a:p>
                  </a:txBody>
                  <a:tcPr marL="0" marR="0" marT="12065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061"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800">
                        <a:latin typeface="Georgia"/>
                        <a:cs typeface="Georgia"/>
                      </a:endParaRPr>
                    </a:p>
                  </a:txBody>
                  <a:tcPr marL="0" marR="0" marT="12065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061"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800">
                        <a:latin typeface="Georgia"/>
                        <a:cs typeface="Georgia"/>
                      </a:endParaRPr>
                    </a:p>
                  </a:txBody>
                  <a:tcPr marL="0" marR="0" marT="12065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061"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800">
                        <a:latin typeface="Georgia"/>
                        <a:cs typeface="Georgia"/>
                      </a:endParaRPr>
                    </a:p>
                  </a:txBody>
                  <a:tcPr marL="0" marR="0" marT="12065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546">
                <a:tc>
                  <a:txBody>
                    <a:bodyPr/>
                    <a:lstStyle/>
                    <a:p>
                      <a:pPr marR="13970" algn="r">
                        <a:lnSpc>
                          <a:spcPts val="835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6</a:t>
                      </a:r>
                      <a:endParaRPr sz="800">
                        <a:latin typeface="Georgia"/>
                        <a:cs typeface="Georgia"/>
                      </a:endParaRPr>
                    </a:p>
                  </a:txBody>
                  <a:tcPr marL="0" marR="0" marT="12065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333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54177" y="599552"/>
            <a:ext cx="5129530" cy="208915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1120"/>
              </a:lnSpc>
              <a:spcBef>
                <a:spcPts val="295"/>
              </a:spcBef>
            </a:pPr>
            <a:r>
              <a:rPr sz="1100" spc="5" dirty="0">
                <a:latin typeface="Georgia"/>
                <a:cs typeface="Georgia"/>
              </a:rPr>
              <a:t>The </a:t>
            </a:r>
            <a:r>
              <a:rPr sz="1100" b="1" spc="-45" dirty="0">
                <a:latin typeface="Georgia"/>
                <a:cs typeface="Georgia"/>
              </a:rPr>
              <a:t>cr</a:t>
            </a:r>
            <a:r>
              <a:rPr sz="1100" spc="-45" dirty="0">
                <a:latin typeface="Georgia"/>
                <a:cs typeface="Georgia"/>
              </a:rPr>
              <a:t>oss–</a:t>
            </a:r>
            <a:r>
              <a:rPr sz="1100" b="1" spc="-45" dirty="0">
                <a:latin typeface="Georgia"/>
                <a:cs typeface="Georgia"/>
              </a:rPr>
              <a:t>i</a:t>
            </a:r>
            <a:r>
              <a:rPr sz="1100" spc="-45" dirty="0">
                <a:latin typeface="Georgia"/>
                <a:cs typeface="Georgia"/>
              </a:rPr>
              <a:t>ndustry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s</a:t>
            </a:r>
            <a:r>
              <a:rPr sz="1100" spc="-30" dirty="0">
                <a:latin typeface="Georgia"/>
                <a:cs typeface="Georgia"/>
              </a:rPr>
              <a:t>tandard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p</a:t>
            </a:r>
            <a:r>
              <a:rPr sz="1100" spc="-40" dirty="0">
                <a:latin typeface="Georgia"/>
                <a:cs typeface="Georgia"/>
              </a:rPr>
              <a:t>rocess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for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d</a:t>
            </a:r>
            <a:r>
              <a:rPr sz="1100" spc="-10" dirty="0">
                <a:latin typeface="Georgia"/>
                <a:cs typeface="Georgia"/>
              </a:rPr>
              <a:t>ata </a:t>
            </a:r>
            <a:r>
              <a:rPr sz="1100" b="1" spc="-40" dirty="0">
                <a:latin typeface="Georgia"/>
                <a:cs typeface="Georgia"/>
              </a:rPr>
              <a:t>m</a:t>
            </a:r>
            <a:r>
              <a:rPr sz="1100" spc="-40" dirty="0">
                <a:latin typeface="Georgia"/>
                <a:cs typeface="Georgia"/>
              </a:rPr>
              <a:t>ining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15" dirty="0">
                <a:latin typeface="Georgia"/>
                <a:cs typeface="Georgia"/>
              </a:rPr>
              <a:t>(</a:t>
            </a:r>
            <a:r>
              <a:rPr sz="1100" b="1" spc="15" dirty="0">
                <a:latin typeface="Georgia"/>
                <a:cs typeface="Georgia"/>
              </a:rPr>
              <a:t>CRISP–DM</a:t>
            </a:r>
            <a:r>
              <a:rPr sz="1100" spc="15" dirty="0">
                <a:latin typeface="Georgia"/>
                <a:cs typeface="Georgia"/>
              </a:rPr>
              <a:t>) </a:t>
            </a:r>
            <a:r>
              <a:rPr sz="1100" spc="-40" dirty="0">
                <a:latin typeface="Georgia"/>
                <a:cs typeface="Georgia"/>
              </a:rPr>
              <a:t>is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 </a:t>
            </a:r>
            <a:r>
              <a:rPr sz="1100" spc="-40" dirty="0">
                <a:latin typeface="Georgia"/>
                <a:cs typeface="Georgia"/>
              </a:rPr>
              <a:t>process 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model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serves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base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for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science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process.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has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six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sequential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phases:</a:t>
            </a:r>
            <a:endParaRPr sz="1100">
              <a:latin typeface="Georgia"/>
              <a:cs typeface="Georgia"/>
            </a:endParaRPr>
          </a:p>
          <a:p>
            <a:pPr marL="289560" marR="3529329">
              <a:lnSpc>
                <a:spcPct val="108300"/>
              </a:lnSpc>
              <a:spcBef>
                <a:spcPts val="1195"/>
              </a:spcBef>
            </a:pPr>
            <a:r>
              <a:rPr sz="1000" spc="-25" dirty="0">
                <a:latin typeface="Georgia"/>
                <a:cs typeface="Georgia"/>
              </a:rPr>
              <a:t>Business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understanding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Data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understanding 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Data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preparation 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Modeling</a:t>
            </a:r>
            <a:endParaRPr sz="1000">
              <a:latin typeface="Georgia"/>
              <a:cs typeface="Georgia"/>
            </a:endParaRPr>
          </a:p>
          <a:p>
            <a:pPr marL="289560" marR="4169410">
              <a:lnSpc>
                <a:spcPct val="108300"/>
              </a:lnSpc>
            </a:pPr>
            <a:r>
              <a:rPr sz="1000" spc="-15" dirty="0">
                <a:latin typeface="Georgia"/>
                <a:cs typeface="Georgia"/>
              </a:rPr>
              <a:t>Evaluation </a:t>
            </a:r>
            <a:r>
              <a:rPr sz="1000" spc="-1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Depl</a:t>
            </a:r>
            <a:r>
              <a:rPr sz="1000" spc="-50" dirty="0">
                <a:latin typeface="Georgia"/>
                <a:cs typeface="Georgia"/>
              </a:rPr>
              <a:t>o</a:t>
            </a:r>
            <a:r>
              <a:rPr sz="1000" spc="-30" dirty="0">
                <a:latin typeface="Georgia"/>
                <a:cs typeface="Georgia"/>
              </a:rPr>
              <a:t>yme</a:t>
            </a:r>
            <a:r>
              <a:rPr sz="1000" spc="-55" dirty="0">
                <a:latin typeface="Georgia"/>
                <a:cs typeface="Georgia"/>
              </a:rPr>
              <a:t>n</a:t>
            </a:r>
            <a:r>
              <a:rPr sz="1000" spc="40" dirty="0">
                <a:latin typeface="Georgia"/>
                <a:cs typeface="Georgia"/>
              </a:rPr>
              <a:t>t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eorgia"/>
              <a:cs typeface="Georgia"/>
            </a:endParaRPr>
          </a:p>
          <a:p>
            <a:pPr marL="12700" marR="92075">
              <a:lnSpc>
                <a:spcPts val="1150"/>
              </a:lnSpc>
            </a:pPr>
            <a:r>
              <a:rPr sz="1100" spc="-20" dirty="0">
                <a:latin typeface="Georgia"/>
                <a:cs typeface="Georgia"/>
              </a:rPr>
              <a:t>Published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1999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to </a:t>
            </a:r>
            <a:r>
              <a:rPr sz="1100" spc="-25" dirty="0">
                <a:latin typeface="Georgia"/>
                <a:cs typeface="Georgia"/>
              </a:rPr>
              <a:t>standardize </a:t>
            </a:r>
            <a:r>
              <a:rPr sz="1100" spc="-5" dirty="0">
                <a:latin typeface="Georgia"/>
                <a:cs typeface="Georgia"/>
              </a:rPr>
              <a:t>data </a:t>
            </a:r>
            <a:r>
              <a:rPr sz="1100" spc="-40" dirty="0">
                <a:latin typeface="Georgia"/>
                <a:cs typeface="Georgia"/>
              </a:rPr>
              <a:t>mining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processes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across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industries, 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CRISP–DM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has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since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become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most</a:t>
            </a:r>
            <a:r>
              <a:rPr sz="1100" b="1" spc="140" dirty="0">
                <a:latin typeface="Georgia"/>
                <a:cs typeface="Georgia"/>
              </a:rPr>
              <a:t> </a:t>
            </a:r>
            <a:r>
              <a:rPr sz="1100" b="1" spc="-75" dirty="0">
                <a:latin typeface="Georgia"/>
                <a:cs typeface="Georgia"/>
              </a:rPr>
              <a:t>common</a:t>
            </a:r>
            <a:r>
              <a:rPr sz="1100" b="1" spc="-60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methodology</a:t>
            </a:r>
            <a:r>
              <a:rPr sz="1100" b="1" spc="10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for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mining,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analytics,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science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projects.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7972" y="229609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8" name="object 8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1" name="object 11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9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8267"/>
            <a:ext cx="15373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30" dirty="0">
                <a:solidFill>
                  <a:srgbClr val="CC0000"/>
                </a:solidFill>
                <a:latin typeface="Times New Roman"/>
                <a:cs typeface="Times New Roman"/>
              </a:rPr>
              <a:t>CRISP–DM</a:t>
            </a:r>
            <a:r>
              <a:rPr sz="1400" spc="5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10" dirty="0">
                <a:solidFill>
                  <a:srgbClr val="CC0000"/>
                </a:solidFill>
                <a:latin typeface="Times New Roman"/>
                <a:cs typeface="Times New Roman"/>
              </a:rPr>
              <a:t>process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679" y="568007"/>
            <a:ext cx="2425700" cy="223837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5" name="object 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8" name="object 8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10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34696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" dirty="0"/>
              <a:t>CRISP–DM</a:t>
            </a:r>
            <a:r>
              <a:rPr spc="105" dirty="0"/>
              <a:t> </a:t>
            </a:r>
            <a:r>
              <a:rPr spc="25" dirty="0"/>
              <a:t>phase</a:t>
            </a:r>
            <a:r>
              <a:rPr spc="105" dirty="0"/>
              <a:t> </a:t>
            </a:r>
            <a:r>
              <a:rPr spc="-20" dirty="0"/>
              <a:t>1:</a:t>
            </a:r>
            <a:r>
              <a:rPr spc="260" dirty="0"/>
              <a:t> </a:t>
            </a:r>
            <a:r>
              <a:rPr spc="10" dirty="0"/>
              <a:t>Business</a:t>
            </a:r>
            <a:r>
              <a:rPr spc="114" dirty="0"/>
              <a:t> </a:t>
            </a:r>
            <a:r>
              <a:rPr spc="35" dirty="0"/>
              <a:t>understanding</a:t>
            </a:r>
          </a:p>
        </p:txBody>
      </p:sp>
      <p:sp>
        <p:nvSpPr>
          <p:cNvPr id="3" name="object 3"/>
          <p:cNvSpPr/>
          <p:nvPr/>
        </p:nvSpPr>
        <p:spPr>
          <a:xfrm>
            <a:off x="299567" y="877442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567" y="1443177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9567" y="2008911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567" y="2574658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7088" y="448791"/>
            <a:ext cx="5273040" cy="243522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150"/>
              </a:lnSpc>
              <a:spcBef>
                <a:spcPts val="270"/>
              </a:spcBef>
            </a:pPr>
            <a:r>
              <a:rPr sz="1100" spc="-5" dirty="0">
                <a:latin typeface="Georgia"/>
                <a:cs typeface="Georgia"/>
              </a:rPr>
              <a:t>This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phase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focuses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understanding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objectives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requirements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project.</a:t>
            </a:r>
            <a:r>
              <a:rPr sz="1100" spc="22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It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includes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four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tasks:</a:t>
            </a:r>
            <a:endParaRPr sz="11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72727"/>
              <a:buFont typeface="Georgia"/>
              <a:buAutoNum type="arabicPlain"/>
              <a:tabLst>
                <a:tab pos="290195" algn="l"/>
              </a:tabLst>
            </a:pPr>
            <a:r>
              <a:rPr sz="1100" b="1" spc="-40" dirty="0">
                <a:latin typeface="Georgia"/>
                <a:cs typeface="Georgia"/>
              </a:rPr>
              <a:t>Determine</a:t>
            </a:r>
            <a:r>
              <a:rPr sz="1100" b="1" spc="130" dirty="0">
                <a:latin typeface="Georgia"/>
                <a:cs typeface="Georgia"/>
              </a:rPr>
              <a:t> </a:t>
            </a:r>
            <a:r>
              <a:rPr sz="1100" b="1" spc="-65" dirty="0">
                <a:latin typeface="Georgia"/>
                <a:cs typeface="Georgia"/>
              </a:rPr>
              <a:t>business</a:t>
            </a:r>
            <a:r>
              <a:rPr sz="1100" b="1" spc="12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objectives</a:t>
            </a:r>
            <a:r>
              <a:rPr sz="1100" spc="-3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172720">
              <a:lnSpc>
                <a:spcPts val="1019"/>
              </a:lnSpc>
              <a:spcBef>
                <a:spcPts val="459"/>
              </a:spcBef>
            </a:pPr>
            <a:r>
              <a:rPr sz="1000" spc="-20" dirty="0">
                <a:latin typeface="Georgia"/>
                <a:cs typeface="Georgia"/>
              </a:rPr>
              <a:t>thoroughly</a:t>
            </a:r>
            <a:r>
              <a:rPr sz="1000" spc="10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understand,</a:t>
            </a:r>
            <a:r>
              <a:rPr sz="1000" spc="10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from</a:t>
            </a:r>
            <a:r>
              <a:rPr sz="1000" spc="10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</a:t>
            </a:r>
            <a:r>
              <a:rPr sz="1000" spc="10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business</a:t>
            </a:r>
            <a:r>
              <a:rPr sz="1000" spc="10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perspective,</a:t>
            </a:r>
            <a:r>
              <a:rPr sz="1000" spc="10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what</a:t>
            </a:r>
            <a:r>
              <a:rPr sz="1000" spc="10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10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customer/company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really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wants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accomplish,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then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define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business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success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criteria.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635"/>
              </a:spcBef>
              <a:buClr>
                <a:srgbClr val="FFFFFF"/>
              </a:buClr>
              <a:buSzPct val="72727"/>
              <a:buFont typeface="Georgia"/>
              <a:buAutoNum type="arabicPlain" startAt="2"/>
              <a:tabLst>
                <a:tab pos="290195" algn="l"/>
              </a:tabLst>
            </a:pPr>
            <a:r>
              <a:rPr sz="1100" b="1" spc="-45" dirty="0">
                <a:latin typeface="Georgia"/>
                <a:cs typeface="Georgia"/>
              </a:rPr>
              <a:t>Assess</a:t>
            </a:r>
            <a:r>
              <a:rPr sz="1100" b="1" spc="100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situation</a:t>
            </a:r>
            <a:r>
              <a:rPr sz="1100" spc="-4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8890">
              <a:lnSpc>
                <a:spcPts val="1019"/>
              </a:lnSpc>
              <a:spcBef>
                <a:spcPts val="459"/>
              </a:spcBef>
            </a:pPr>
            <a:r>
              <a:rPr sz="1000" spc="-30" dirty="0">
                <a:latin typeface="Georgia"/>
                <a:cs typeface="Georgia"/>
              </a:rPr>
              <a:t>determine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resources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availability,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project</a:t>
            </a:r>
            <a:r>
              <a:rPr sz="1000" spc="10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requirements,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assess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risks</a:t>
            </a:r>
            <a:r>
              <a:rPr sz="1000" spc="10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contingencies, </a:t>
            </a:r>
            <a:r>
              <a:rPr sz="1000" spc="-25" dirty="0">
                <a:latin typeface="Georgia"/>
                <a:cs typeface="Georgia"/>
              </a:rPr>
              <a:t> and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conduct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cost–benefit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analysis.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635"/>
              </a:spcBef>
              <a:buClr>
                <a:srgbClr val="FFFFFF"/>
              </a:buClr>
              <a:buSzPct val="72727"/>
              <a:buFont typeface="Georgia"/>
              <a:buAutoNum type="arabicPlain" startAt="3"/>
              <a:tabLst>
                <a:tab pos="290195" algn="l"/>
              </a:tabLst>
            </a:pPr>
            <a:r>
              <a:rPr sz="1100" b="1" spc="-40" dirty="0">
                <a:latin typeface="Georgia"/>
                <a:cs typeface="Georgia"/>
              </a:rPr>
              <a:t>Determine</a:t>
            </a:r>
            <a:r>
              <a:rPr sz="1100" b="1" spc="12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data</a:t>
            </a:r>
            <a:r>
              <a:rPr sz="1100" b="1" spc="130" dirty="0">
                <a:latin typeface="Georgia"/>
                <a:cs typeface="Georgia"/>
              </a:rPr>
              <a:t> </a:t>
            </a:r>
            <a:r>
              <a:rPr sz="1100" b="1" spc="-60" dirty="0">
                <a:latin typeface="Georgia"/>
                <a:cs typeface="Georgia"/>
              </a:rPr>
              <a:t>mining</a:t>
            </a:r>
            <a:r>
              <a:rPr sz="1100" b="1" spc="125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goals</a:t>
            </a:r>
            <a:r>
              <a:rPr sz="1100" spc="-5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120014">
              <a:lnSpc>
                <a:spcPts val="1019"/>
              </a:lnSpc>
              <a:spcBef>
                <a:spcPts val="459"/>
              </a:spcBef>
            </a:pPr>
            <a:r>
              <a:rPr sz="1000" spc="-30" dirty="0">
                <a:latin typeface="Georgia"/>
                <a:cs typeface="Georgia"/>
              </a:rPr>
              <a:t>in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addition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defining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business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objectives,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you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should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also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define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what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success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looks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like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from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technical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mining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perspective.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630"/>
              </a:spcBef>
              <a:buClr>
                <a:srgbClr val="FFFFFF"/>
              </a:buClr>
              <a:buSzPct val="72727"/>
              <a:buFont typeface="Georgia"/>
              <a:buAutoNum type="arabicPlain" startAt="4"/>
              <a:tabLst>
                <a:tab pos="290195" algn="l"/>
              </a:tabLst>
            </a:pPr>
            <a:r>
              <a:rPr sz="1100" b="1" spc="-35" dirty="0">
                <a:latin typeface="Georgia"/>
                <a:cs typeface="Georgia"/>
              </a:rPr>
              <a:t>Produce</a:t>
            </a:r>
            <a:r>
              <a:rPr sz="1100" b="1" spc="120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project</a:t>
            </a:r>
            <a:r>
              <a:rPr sz="1100" b="1" spc="120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plan</a:t>
            </a:r>
            <a:r>
              <a:rPr sz="1100" spc="-5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>
              <a:lnSpc>
                <a:spcPct val="100000"/>
              </a:lnSpc>
              <a:spcBef>
                <a:spcPts val="280"/>
              </a:spcBef>
            </a:pPr>
            <a:r>
              <a:rPr sz="1000" spc="-20" dirty="0">
                <a:latin typeface="Georgia"/>
                <a:cs typeface="Georgia"/>
              </a:rPr>
              <a:t>select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technologies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tools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define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detailed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plans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for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each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project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phase.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9" name="object 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2" name="object 12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11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31965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" dirty="0"/>
              <a:t>CRISP–DM</a:t>
            </a:r>
            <a:r>
              <a:rPr spc="100" dirty="0"/>
              <a:t> </a:t>
            </a:r>
            <a:r>
              <a:rPr spc="25" dirty="0"/>
              <a:t>phase</a:t>
            </a:r>
            <a:r>
              <a:rPr spc="105" dirty="0"/>
              <a:t> </a:t>
            </a:r>
            <a:r>
              <a:rPr spc="-20" dirty="0"/>
              <a:t>2:</a:t>
            </a:r>
            <a:r>
              <a:rPr spc="260" dirty="0"/>
              <a:t> </a:t>
            </a:r>
            <a:r>
              <a:rPr spc="70" dirty="0"/>
              <a:t>Data</a:t>
            </a:r>
            <a:r>
              <a:rPr spc="110" dirty="0"/>
              <a:t> </a:t>
            </a:r>
            <a:r>
              <a:rPr spc="35" dirty="0"/>
              <a:t>understanding</a:t>
            </a:r>
          </a:p>
        </p:txBody>
      </p:sp>
      <p:sp>
        <p:nvSpPr>
          <p:cNvPr id="3" name="object 3"/>
          <p:cNvSpPr/>
          <p:nvPr/>
        </p:nvSpPr>
        <p:spPr>
          <a:xfrm>
            <a:off x="299567" y="926249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567" y="1362938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9567" y="1928672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567" y="2494407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7088" y="497597"/>
            <a:ext cx="5261610" cy="230632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150"/>
              </a:lnSpc>
              <a:spcBef>
                <a:spcPts val="270"/>
              </a:spcBef>
            </a:pPr>
            <a:r>
              <a:rPr sz="1100" spc="-5" dirty="0">
                <a:latin typeface="Georgia"/>
                <a:cs typeface="Georgia"/>
              </a:rPr>
              <a:t>This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phase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drives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focus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to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identify,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collect,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and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analyze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sets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that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can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help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you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accomplish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project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goals.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This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phase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also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has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four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tasks:</a:t>
            </a:r>
            <a:endParaRPr sz="11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72727"/>
              <a:buFont typeface="Georgia"/>
              <a:buAutoNum type="arabicPlain"/>
              <a:tabLst>
                <a:tab pos="290195" algn="l"/>
              </a:tabLst>
            </a:pPr>
            <a:r>
              <a:rPr sz="1100" b="1" spc="-15" dirty="0">
                <a:latin typeface="Georgia"/>
                <a:cs typeface="Georgia"/>
              </a:rPr>
              <a:t>Collect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initial</a:t>
            </a:r>
            <a:r>
              <a:rPr sz="1100" b="1" spc="120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data</a:t>
            </a:r>
            <a:r>
              <a:rPr sz="1100" spc="-3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>
              <a:lnSpc>
                <a:spcPct val="100000"/>
              </a:lnSpc>
              <a:spcBef>
                <a:spcPts val="275"/>
              </a:spcBef>
            </a:pPr>
            <a:r>
              <a:rPr sz="1000" spc="-30" dirty="0">
                <a:latin typeface="Georgia"/>
                <a:cs typeface="Georgia"/>
              </a:rPr>
              <a:t>acquire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necessary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(if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necessary)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load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10" dirty="0">
                <a:latin typeface="Georgia"/>
                <a:cs typeface="Georgia"/>
              </a:rPr>
              <a:t>it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into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your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analysis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tool.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SzPct val="72727"/>
              <a:buFont typeface="Georgia"/>
              <a:buAutoNum type="arabicPlain" startAt="2"/>
              <a:tabLst>
                <a:tab pos="290195" algn="l"/>
              </a:tabLst>
            </a:pPr>
            <a:r>
              <a:rPr sz="1100" b="1" spc="-35" dirty="0">
                <a:latin typeface="Georgia"/>
                <a:cs typeface="Georgia"/>
              </a:rPr>
              <a:t>Describe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data</a:t>
            </a:r>
            <a:r>
              <a:rPr sz="1100" spc="-35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127635">
              <a:lnSpc>
                <a:spcPts val="1019"/>
              </a:lnSpc>
              <a:spcBef>
                <a:spcPts val="465"/>
              </a:spcBef>
            </a:pPr>
            <a:r>
              <a:rPr sz="1000" spc="-25" dirty="0">
                <a:latin typeface="Georgia"/>
                <a:cs typeface="Georgia"/>
              </a:rPr>
              <a:t>examine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document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its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surface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properties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like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format,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number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of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records,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or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field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identities.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630"/>
              </a:spcBef>
              <a:buClr>
                <a:srgbClr val="FFFFFF"/>
              </a:buClr>
              <a:buSzPct val="72727"/>
              <a:buFont typeface="Georgia"/>
              <a:buAutoNum type="arabicPlain" startAt="3"/>
              <a:tabLst>
                <a:tab pos="290195" algn="l"/>
              </a:tabLst>
            </a:pPr>
            <a:r>
              <a:rPr sz="1100" b="1" spc="-40" dirty="0">
                <a:latin typeface="Georgia"/>
                <a:cs typeface="Georgia"/>
              </a:rPr>
              <a:t>Explore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data</a:t>
            </a:r>
            <a:r>
              <a:rPr sz="1100" spc="-3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14604">
              <a:lnSpc>
                <a:spcPts val="1019"/>
              </a:lnSpc>
              <a:spcBef>
                <a:spcPts val="465"/>
              </a:spcBef>
            </a:pPr>
            <a:r>
              <a:rPr sz="1000" spc="-20" dirty="0">
                <a:latin typeface="Georgia"/>
                <a:cs typeface="Georgia"/>
              </a:rPr>
              <a:t>dig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deeper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into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data.</a:t>
            </a:r>
            <a:r>
              <a:rPr sz="1000" spc="21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Query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it,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visualize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it,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identify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relationships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among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 </a:t>
            </a:r>
            <a:r>
              <a:rPr sz="1000" spc="-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630"/>
              </a:spcBef>
              <a:buClr>
                <a:srgbClr val="FFFFFF"/>
              </a:buClr>
              <a:buSzPct val="72727"/>
              <a:buFont typeface="Georgia"/>
              <a:buAutoNum type="arabicPlain" startAt="4"/>
              <a:tabLst>
                <a:tab pos="290195" algn="l"/>
              </a:tabLst>
            </a:pPr>
            <a:r>
              <a:rPr sz="1100" b="1" spc="-30" dirty="0">
                <a:latin typeface="Georgia"/>
                <a:cs typeface="Georgia"/>
              </a:rPr>
              <a:t>Verify</a:t>
            </a:r>
            <a:r>
              <a:rPr sz="1100" b="1" spc="110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data</a:t>
            </a:r>
            <a:r>
              <a:rPr sz="1100" b="1" spc="110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quality</a:t>
            </a:r>
            <a:r>
              <a:rPr sz="1100" spc="-3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>
              <a:lnSpc>
                <a:spcPct val="100000"/>
              </a:lnSpc>
              <a:spcBef>
                <a:spcPts val="280"/>
              </a:spcBef>
            </a:pPr>
            <a:r>
              <a:rPr sz="1000" spc="-40" dirty="0">
                <a:latin typeface="Georgia"/>
                <a:cs typeface="Georgia"/>
              </a:rPr>
              <a:t>how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clean/dirty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is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data?</a:t>
            </a:r>
            <a:r>
              <a:rPr sz="1000" spc="204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Document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any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quality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issues.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9" name="object 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2" name="object 12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12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29933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" dirty="0"/>
              <a:t>CRISP–DM</a:t>
            </a:r>
            <a:r>
              <a:rPr spc="100" dirty="0"/>
              <a:t> </a:t>
            </a:r>
            <a:r>
              <a:rPr spc="25" dirty="0"/>
              <a:t>phase</a:t>
            </a:r>
            <a:r>
              <a:rPr spc="100" dirty="0"/>
              <a:t> </a:t>
            </a:r>
            <a:r>
              <a:rPr spc="-20" dirty="0"/>
              <a:t>3:</a:t>
            </a:r>
            <a:r>
              <a:rPr spc="254" dirty="0"/>
              <a:t> </a:t>
            </a:r>
            <a:r>
              <a:rPr spc="70" dirty="0"/>
              <a:t>Data</a:t>
            </a:r>
            <a:r>
              <a:rPr spc="105" dirty="0"/>
              <a:t> </a:t>
            </a:r>
            <a:r>
              <a:rPr spc="40" dirty="0"/>
              <a:t>preparation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299567" y="612089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567" y="1019124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9567" y="1684273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567" y="2220366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9567" y="2627414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7088" y="305382"/>
            <a:ext cx="5321935" cy="275209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100" spc="-5" dirty="0">
                <a:latin typeface="Georgia"/>
                <a:cs typeface="Georgia"/>
              </a:rPr>
              <a:t>This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phase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prepares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final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for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modeling.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has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five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tasks:</a:t>
            </a:r>
            <a:endParaRPr sz="11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265"/>
              </a:spcBef>
              <a:buClr>
                <a:srgbClr val="FFFFFF"/>
              </a:buClr>
              <a:buSzPct val="72727"/>
              <a:buFont typeface="Georgia"/>
              <a:buAutoNum type="arabicPlain"/>
              <a:tabLst>
                <a:tab pos="290195" algn="l"/>
              </a:tabLst>
            </a:pPr>
            <a:r>
              <a:rPr sz="1100" b="1" spc="-35" dirty="0">
                <a:latin typeface="Georgia"/>
                <a:cs typeface="Georgia"/>
              </a:rPr>
              <a:t>Select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data</a:t>
            </a:r>
            <a:r>
              <a:rPr sz="1100" spc="-3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>
              <a:lnSpc>
                <a:spcPct val="100000"/>
              </a:lnSpc>
              <a:spcBef>
                <a:spcPts val="210"/>
              </a:spcBef>
            </a:pPr>
            <a:r>
              <a:rPr sz="1000" spc="-30" dirty="0">
                <a:latin typeface="Georgia"/>
                <a:cs typeface="Georgia"/>
              </a:rPr>
              <a:t>determine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which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sets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will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be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used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document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reasons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for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inclusion/exclusion.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475"/>
              </a:spcBef>
              <a:buClr>
                <a:srgbClr val="FFFFFF"/>
              </a:buClr>
              <a:buSzPct val="72727"/>
              <a:buFont typeface="Georgia"/>
              <a:buAutoNum type="arabicPlain" startAt="2"/>
              <a:tabLst>
                <a:tab pos="290195" algn="l"/>
              </a:tabLst>
            </a:pPr>
            <a:r>
              <a:rPr sz="1100" b="1" spc="-20" dirty="0">
                <a:latin typeface="Georgia"/>
                <a:cs typeface="Georgia"/>
              </a:rPr>
              <a:t>Clean</a:t>
            </a:r>
            <a:r>
              <a:rPr sz="1100" b="1" spc="8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data</a:t>
            </a:r>
            <a:r>
              <a:rPr sz="1100" spc="-3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85090">
              <a:lnSpc>
                <a:spcPts val="1019"/>
              </a:lnSpc>
              <a:spcBef>
                <a:spcPts val="395"/>
              </a:spcBef>
            </a:pPr>
            <a:r>
              <a:rPr sz="1000" spc="-25" dirty="0">
                <a:latin typeface="Georgia"/>
                <a:cs typeface="Georgia"/>
              </a:rPr>
              <a:t>often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this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is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lengthiest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task.</a:t>
            </a:r>
            <a:r>
              <a:rPr sz="1000" spc="204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Without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it,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you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will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likely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fall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victim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garbage-in, 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garbage-out.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75" dirty="0">
                <a:latin typeface="Georgia"/>
                <a:cs typeface="Georgia"/>
              </a:rPr>
              <a:t>A </a:t>
            </a:r>
            <a:r>
              <a:rPr sz="1000" spc="-40" dirty="0">
                <a:latin typeface="Georgia"/>
                <a:cs typeface="Georgia"/>
              </a:rPr>
              <a:t>common</a:t>
            </a:r>
            <a:r>
              <a:rPr sz="1000" spc="-3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practice</a:t>
            </a:r>
            <a:r>
              <a:rPr sz="1000" spc="-1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during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this</a:t>
            </a:r>
            <a:r>
              <a:rPr sz="1000" spc="-10" dirty="0">
                <a:latin typeface="Georgia"/>
                <a:cs typeface="Georgia"/>
              </a:rPr>
              <a:t> task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is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 </a:t>
            </a:r>
            <a:r>
              <a:rPr sz="1000" spc="-15" dirty="0">
                <a:latin typeface="Georgia"/>
                <a:cs typeface="Georgia"/>
              </a:rPr>
              <a:t>correct,</a:t>
            </a:r>
            <a:r>
              <a:rPr sz="1000" spc="-1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impute,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or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remove </a:t>
            </a:r>
            <a:r>
              <a:rPr sz="1000" spc="-35" dirty="0">
                <a:latin typeface="Georgia"/>
                <a:cs typeface="Georgia"/>
              </a:rPr>
              <a:t> erroneous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values.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459"/>
              </a:spcBef>
              <a:buClr>
                <a:srgbClr val="FFFFFF"/>
              </a:buClr>
              <a:buSzPct val="72727"/>
              <a:buFont typeface="Georgia"/>
              <a:buAutoNum type="arabicPlain" startAt="3"/>
              <a:tabLst>
                <a:tab pos="290195" algn="l"/>
              </a:tabLst>
            </a:pPr>
            <a:r>
              <a:rPr sz="1100" b="1" spc="-20" dirty="0">
                <a:latin typeface="Georgia"/>
                <a:cs typeface="Georgia"/>
              </a:rPr>
              <a:t>Construct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data</a:t>
            </a:r>
            <a:r>
              <a:rPr sz="1100" spc="-3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66675">
              <a:lnSpc>
                <a:spcPts val="1019"/>
              </a:lnSpc>
              <a:spcBef>
                <a:spcPts val="395"/>
              </a:spcBef>
            </a:pPr>
            <a:r>
              <a:rPr sz="1000" spc="-25" dirty="0">
                <a:latin typeface="Georgia"/>
                <a:cs typeface="Georgia"/>
              </a:rPr>
              <a:t>derive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new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attributes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that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will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be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helpful.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For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example,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derive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someone’s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body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mass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index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from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height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weight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fields.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465"/>
              </a:spcBef>
              <a:buClr>
                <a:srgbClr val="FFFFFF"/>
              </a:buClr>
              <a:buSzPct val="72727"/>
              <a:buFont typeface="Georgia"/>
              <a:buAutoNum type="arabicPlain" startAt="4"/>
              <a:tabLst>
                <a:tab pos="290195" algn="l"/>
              </a:tabLst>
            </a:pPr>
            <a:r>
              <a:rPr sz="1100" b="1" spc="-35" dirty="0">
                <a:latin typeface="Georgia"/>
                <a:cs typeface="Georgia"/>
              </a:rPr>
              <a:t>Integrate</a:t>
            </a:r>
            <a:r>
              <a:rPr sz="1100" b="1" spc="100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data</a:t>
            </a:r>
            <a:r>
              <a:rPr sz="1100" spc="-3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>
              <a:lnSpc>
                <a:spcPct val="100000"/>
              </a:lnSpc>
              <a:spcBef>
                <a:spcPts val="215"/>
              </a:spcBef>
            </a:pPr>
            <a:r>
              <a:rPr sz="1000" spc="-15" dirty="0">
                <a:latin typeface="Georgia"/>
                <a:cs typeface="Georgia"/>
              </a:rPr>
              <a:t>create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new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sets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by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combining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from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multiple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sources.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470"/>
              </a:spcBef>
              <a:buClr>
                <a:srgbClr val="FFFFFF"/>
              </a:buClr>
              <a:buSzPct val="72727"/>
              <a:buFont typeface="Georgia"/>
              <a:buAutoNum type="arabicPlain" startAt="5"/>
              <a:tabLst>
                <a:tab pos="290195" algn="l"/>
              </a:tabLst>
            </a:pPr>
            <a:r>
              <a:rPr sz="1100" b="1" spc="-50" dirty="0">
                <a:latin typeface="Georgia"/>
                <a:cs typeface="Georgia"/>
              </a:rPr>
              <a:t>Format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data</a:t>
            </a:r>
            <a:r>
              <a:rPr sz="1100" spc="-3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60960">
              <a:lnSpc>
                <a:spcPts val="1019"/>
              </a:lnSpc>
              <a:spcBef>
                <a:spcPts val="400"/>
              </a:spcBef>
            </a:pPr>
            <a:r>
              <a:rPr sz="1000" spc="-30" dirty="0">
                <a:latin typeface="Georgia"/>
                <a:cs typeface="Georgia"/>
              </a:rPr>
              <a:t>re-format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as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necessary.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For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example,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you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might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convert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string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values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that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store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numbers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numeric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values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45" dirty="0">
                <a:latin typeface="Georgia"/>
                <a:cs typeface="Georgia"/>
              </a:rPr>
              <a:t>so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that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you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can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perform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mathematical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operations.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0" name="object 10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3" name="object 13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13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2388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" dirty="0"/>
              <a:t>CRISP–DM</a:t>
            </a:r>
            <a:r>
              <a:rPr spc="90" dirty="0"/>
              <a:t> </a:t>
            </a:r>
            <a:r>
              <a:rPr spc="25" dirty="0"/>
              <a:t>phase</a:t>
            </a:r>
            <a:r>
              <a:rPr spc="90" dirty="0"/>
              <a:t> </a:t>
            </a:r>
            <a:r>
              <a:rPr spc="-20" dirty="0"/>
              <a:t>4:</a:t>
            </a:r>
            <a:r>
              <a:rPr spc="245" dirty="0"/>
              <a:t> </a:t>
            </a:r>
            <a:r>
              <a:rPr spc="5" dirty="0"/>
              <a:t>Modeling</a:t>
            </a:r>
          </a:p>
        </p:txBody>
      </p:sp>
      <p:sp>
        <p:nvSpPr>
          <p:cNvPr id="3" name="object 3"/>
          <p:cNvSpPr/>
          <p:nvPr/>
        </p:nvSpPr>
        <p:spPr>
          <a:xfrm>
            <a:off x="299567" y="825817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567" y="1262494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9567" y="1828241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567" y="2393975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7088" y="397165"/>
            <a:ext cx="5405755" cy="256413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165100">
              <a:lnSpc>
                <a:spcPts val="1150"/>
              </a:lnSpc>
              <a:spcBef>
                <a:spcPts val="270"/>
              </a:spcBef>
            </a:pPr>
            <a:r>
              <a:rPr sz="1100" spc="-45" dirty="0">
                <a:latin typeface="Georgia"/>
                <a:cs typeface="Georgia"/>
              </a:rPr>
              <a:t>In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phase,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you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will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likely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build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assess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various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models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based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on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several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different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modeling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techniques.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This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phase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has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four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tasks:</a:t>
            </a:r>
            <a:endParaRPr sz="11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72727"/>
              <a:buFont typeface="Georgia"/>
              <a:buAutoNum type="arabicPlain"/>
              <a:tabLst>
                <a:tab pos="290195" algn="l"/>
              </a:tabLst>
            </a:pPr>
            <a:r>
              <a:rPr sz="1100" b="1" spc="-35" dirty="0">
                <a:latin typeface="Georgia"/>
                <a:cs typeface="Georgia"/>
              </a:rPr>
              <a:t>Select</a:t>
            </a:r>
            <a:r>
              <a:rPr sz="1100" b="1" spc="130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modeling</a:t>
            </a:r>
            <a:r>
              <a:rPr sz="1100" b="1" spc="130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techniques</a:t>
            </a:r>
            <a:r>
              <a:rPr sz="1100" spc="-55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>
              <a:lnSpc>
                <a:spcPct val="100000"/>
              </a:lnSpc>
              <a:spcBef>
                <a:spcPts val="275"/>
              </a:spcBef>
            </a:pPr>
            <a:r>
              <a:rPr sz="1000" spc="-30" dirty="0">
                <a:latin typeface="Georgia"/>
                <a:cs typeface="Georgia"/>
              </a:rPr>
              <a:t>determine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which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algorithms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15" dirty="0">
                <a:latin typeface="Georgia"/>
                <a:cs typeface="Georgia"/>
              </a:rPr>
              <a:t>try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(e.g.,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logistic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regression,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random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forest,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neural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nets).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SzPct val="72727"/>
              <a:buFont typeface="Georgia"/>
              <a:buAutoNum type="arabicPlain" startAt="2"/>
              <a:tabLst>
                <a:tab pos="290195" algn="l"/>
              </a:tabLst>
            </a:pPr>
            <a:r>
              <a:rPr sz="1100" b="1" spc="-35" dirty="0">
                <a:latin typeface="Georgia"/>
                <a:cs typeface="Georgia"/>
              </a:rPr>
              <a:t>Generate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test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design</a:t>
            </a:r>
            <a:r>
              <a:rPr sz="1100" spc="-5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88265">
              <a:lnSpc>
                <a:spcPts val="1019"/>
              </a:lnSpc>
              <a:spcBef>
                <a:spcPts val="465"/>
              </a:spcBef>
            </a:pPr>
            <a:r>
              <a:rPr sz="1000" spc="-25" dirty="0">
                <a:latin typeface="Georgia"/>
                <a:cs typeface="Georgia"/>
              </a:rPr>
              <a:t>pending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your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modeling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approach,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you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might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need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split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into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training,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test,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validation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sets.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630"/>
              </a:spcBef>
              <a:buClr>
                <a:srgbClr val="FFFFFF"/>
              </a:buClr>
              <a:buSzPct val="72727"/>
              <a:buFont typeface="Georgia"/>
              <a:buAutoNum type="arabicPlain" startAt="3"/>
              <a:tabLst>
                <a:tab pos="290195" algn="l"/>
              </a:tabLst>
            </a:pPr>
            <a:r>
              <a:rPr sz="1100" b="1" spc="-25" dirty="0">
                <a:latin typeface="Georgia"/>
                <a:cs typeface="Georgia"/>
              </a:rPr>
              <a:t>Build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model</a:t>
            </a:r>
            <a:r>
              <a:rPr sz="1100" spc="-55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127000">
              <a:lnSpc>
                <a:spcPts val="1019"/>
              </a:lnSpc>
              <a:spcBef>
                <a:spcPts val="465"/>
              </a:spcBef>
            </a:pPr>
            <a:r>
              <a:rPr sz="1000" spc="-20" dirty="0">
                <a:latin typeface="Georgia"/>
                <a:cs typeface="Georgia"/>
              </a:rPr>
              <a:t>select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(hyper)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parameters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train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your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models.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This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might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just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be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executing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few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lines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code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like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80" dirty="0">
                <a:latin typeface="Georgia"/>
                <a:cs typeface="Georgia"/>
              </a:rPr>
              <a:t>“</a:t>
            </a:r>
            <a:r>
              <a:rPr sz="1000" spc="-160" dirty="0">
                <a:latin typeface="Georgia"/>
                <a:cs typeface="Georgia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reg_model</a:t>
            </a:r>
            <a:r>
              <a:rPr sz="1000" spc="225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=</a:t>
            </a:r>
            <a:r>
              <a:rPr sz="1000" spc="220" dirty="0">
                <a:latin typeface="Trebuchet MS"/>
                <a:cs typeface="Trebuchet MS"/>
              </a:rPr>
              <a:t> </a:t>
            </a:r>
            <a:r>
              <a:rPr sz="1000" spc="75" dirty="0">
                <a:latin typeface="Trebuchet MS"/>
                <a:cs typeface="Trebuchet MS"/>
              </a:rPr>
              <a:t>LinearRegression().fit(X,</a:t>
            </a:r>
            <a:r>
              <a:rPr sz="1000" spc="225" dirty="0">
                <a:latin typeface="Trebuchet MS"/>
                <a:cs typeface="Trebuchet MS"/>
              </a:rPr>
              <a:t> </a:t>
            </a:r>
            <a:r>
              <a:rPr sz="1000" spc="25" dirty="0">
                <a:latin typeface="Trebuchet MS"/>
                <a:cs typeface="Trebuchet MS"/>
              </a:rPr>
              <a:t>y)</a:t>
            </a:r>
            <a:r>
              <a:rPr sz="1000" spc="25" dirty="0">
                <a:latin typeface="Georgia"/>
                <a:cs typeface="Georgia"/>
              </a:rPr>
              <a:t>”.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630"/>
              </a:spcBef>
              <a:buClr>
                <a:srgbClr val="FFFFFF"/>
              </a:buClr>
              <a:buSzPct val="72727"/>
              <a:buFont typeface="Georgia"/>
              <a:buAutoNum type="arabicPlain" startAt="4"/>
              <a:tabLst>
                <a:tab pos="290195" algn="l"/>
              </a:tabLst>
            </a:pPr>
            <a:r>
              <a:rPr sz="1100" b="1" spc="-45" dirty="0">
                <a:latin typeface="Georgia"/>
                <a:cs typeface="Georgia"/>
              </a:rPr>
              <a:t>Assess</a:t>
            </a:r>
            <a:r>
              <a:rPr sz="1100" b="1" spc="105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model</a:t>
            </a:r>
            <a:r>
              <a:rPr sz="1100" spc="-55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234315">
              <a:lnSpc>
                <a:spcPts val="1019"/>
              </a:lnSpc>
              <a:spcBef>
                <a:spcPts val="465"/>
              </a:spcBef>
            </a:pPr>
            <a:r>
              <a:rPr sz="1000" spc="-30" dirty="0">
                <a:latin typeface="Georgia"/>
                <a:cs typeface="Georgia"/>
              </a:rPr>
              <a:t>generally,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multiple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are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competing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against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each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other,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scientist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needs</a:t>
            </a:r>
            <a:r>
              <a:rPr sz="1000" spc="-3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 </a:t>
            </a:r>
            <a:r>
              <a:rPr sz="1000" spc="-20" dirty="0">
                <a:latin typeface="Georgia"/>
                <a:cs typeface="Georgia"/>
              </a:rPr>
              <a:t>interpret</a:t>
            </a:r>
            <a:r>
              <a:rPr sz="1000" spc="-15" dirty="0">
                <a:latin typeface="Georgia"/>
                <a:cs typeface="Georgia"/>
              </a:rPr>
              <a:t> the </a:t>
            </a:r>
            <a:r>
              <a:rPr sz="1000" spc="-30" dirty="0">
                <a:latin typeface="Georgia"/>
                <a:cs typeface="Georgia"/>
              </a:rPr>
              <a:t>model</a:t>
            </a:r>
            <a:r>
              <a:rPr sz="1000" spc="-25" dirty="0">
                <a:latin typeface="Georgia"/>
                <a:cs typeface="Georgia"/>
              </a:rPr>
              <a:t> results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based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-45" dirty="0">
                <a:latin typeface="Georgia"/>
                <a:cs typeface="Georgia"/>
              </a:rPr>
              <a:t>on</a:t>
            </a:r>
            <a:r>
              <a:rPr sz="1000" spc="-4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domain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knowledge,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 </a:t>
            </a:r>
            <a:r>
              <a:rPr sz="1000" spc="-35" dirty="0">
                <a:latin typeface="Georgia"/>
                <a:cs typeface="Georgia"/>
              </a:rPr>
              <a:t>pre-defined </a:t>
            </a:r>
            <a:r>
              <a:rPr sz="1000" spc="-30" dirty="0">
                <a:latin typeface="Georgia"/>
                <a:cs typeface="Georgia"/>
              </a:rPr>
              <a:t> success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criteria,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test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design.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9" name="object 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2" name="object 12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14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25019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" dirty="0"/>
              <a:t>CRISP–DM</a:t>
            </a:r>
            <a:r>
              <a:rPr spc="90" dirty="0"/>
              <a:t> </a:t>
            </a:r>
            <a:r>
              <a:rPr spc="25" dirty="0"/>
              <a:t>phase</a:t>
            </a:r>
            <a:r>
              <a:rPr spc="90" dirty="0"/>
              <a:t> </a:t>
            </a:r>
            <a:r>
              <a:rPr spc="-20" dirty="0"/>
              <a:t>5:</a:t>
            </a:r>
            <a:r>
              <a:rPr spc="240" dirty="0"/>
              <a:t> </a:t>
            </a:r>
            <a:r>
              <a:rPr spc="30" dirty="0"/>
              <a:t>Evaluation</a:t>
            </a:r>
          </a:p>
        </p:txBody>
      </p:sp>
      <p:sp>
        <p:nvSpPr>
          <p:cNvPr id="3" name="object 3"/>
          <p:cNvSpPr/>
          <p:nvPr/>
        </p:nvSpPr>
        <p:spPr>
          <a:xfrm>
            <a:off x="299567" y="1139875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567" y="1705610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9567" y="2271344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7088" y="564958"/>
            <a:ext cx="5406390" cy="214503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198120">
              <a:lnSpc>
                <a:spcPts val="1150"/>
              </a:lnSpc>
              <a:spcBef>
                <a:spcPts val="270"/>
              </a:spcBef>
            </a:pPr>
            <a:r>
              <a:rPr sz="1100" spc="-30" dirty="0">
                <a:latin typeface="Georgia"/>
                <a:cs typeface="Georgia"/>
              </a:rPr>
              <a:t>Whereas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b="1" spc="-45" dirty="0">
                <a:latin typeface="Georgia"/>
                <a:cs typeface="Georgia"/>
              </a:rPr>
              <a:t>Assess</a:t>
            </a:r>
            <a:r>
              <a:rPr sz="1100" b="1" spc="-40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model</a:t>
            </a:r>
            <a:r>
              <a:rPr sz="1100" b="1" spc="-5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task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b="1" spc="-35" dirty="0">
                <a:latin typeface="Georgia"/>
                <a:cs typeface="Georgia"/>
              </a:rPr>
              <a:t>Modeling</a:t>
            </a:r>
            <a:r>
              <a:rPr sz="1100" b="1" spc="-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phase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focuses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on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technical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model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assessment,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b="1" spc="-35" dirty="0">
                <a:latin typeface="Georgia"/>
                <a:cs typeface="Georgia"/>
              </a:rPr>
              <a:t>Evaluation </a:t>
            </a:r>
            <a:r>
              <a:rPr sz="1100" spc="-35" dirty="0">
                <a:latin typeface="Georgia"/>
                <a:cs typeface="Georgia"/>
              </a:rPr>
              <a:t>phase</a:t>
            </a:r>
            <a:r>
              <a:rPr sz="1100" spc="-30" dirty="0">
                <a:latin typeface="Georgia"/>
                <a:cs typeface="Georgia"/>
              </a:rPr>
              <a:t> looks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more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broadly </a:t>
            </a:r>
            <a:r>
              <a:rPr sz="1100" spc="15" dirty="0">
                <a:latin typeface="Georgia"/>
                <a:cs typeface="Georgia"/>
              </a:rPr>
              <a:t>at </a:t>
            </a:r>
            <a:r>
              <a:rPr sz="1100" spc="-40" dirty="0">
                <a:latin typeface="Georgia"/>
                <a:cs typeface="Georgia"/>
              </a:rPr>
              <a:t>which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model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best </a:t>
            </a:r>
            <a:r>
              <a:rPr sz="1100" spc="-35" dirty="0">
                <a:latin typeface="Georgia"/>
                <a:cs typeface="Georgia"/>
              </a:rPr>
              <a:t>meets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the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business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what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do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next.</a:t>
            </a:r>
            <a:r>
              <a:rPr sz="1100" spc="21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This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phase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has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three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tasks:</a:t>
            </a:r>
            <a:endParaRPr sz="11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72727"/>
              <a:buFont typeface="Georgia"/>
              <a:buAutoNum type="arabicPlain"/>
              <a:tabLst>
                <a:tab pos="290195" algn="l"/>
              </a:tabLst>
            </a:pPr>
            <a:r>
              <a:rPr sz="1100" b="1" spc="-30" dirty="0">
                <a:latin typeface="Georgia"/>
                <a:cs typeface="Georgia"/>
              </a:rPr>
              <a:t>Evaluate</a:t>
            </a:r>
            <a:r>
              <a:rPr sz="1100" b="1" spc="105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results</a:t>
            </a:r>
            <a:r>
              <a:rPr sz="1100" spc="-5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55880">
              <a:lnSpc>
                <a:spcPts val="1019"/>
              </a:lnSpc>
              <a:spcBef>
                <a:spcPts val="464"/>
              </a:spcBef>
            </a:pPr>
            <a:r>
              <a:rPr sz="1000" spc="-35" dirty="0">
                <a:latin typeface="Georgia"/>
                <a:cs typeface="Georgia"/>
              </a:rPr>
              <a:t>do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meet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business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success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criteria?</a:t>
            </a:r>
            <a:r>
              <a:rPr sz="1000" spc="21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Which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one(s)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should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45" dirty="0">
                <a:latin typeface="Georgia"/>
                <a:cs typeface="Georgia"/>
              </a:rPr>
              <a:t>we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approve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for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business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based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5" dirty="0">
                <a:latin typeface="Georgia"/>
                <a:cs typeface="Georgia"/>
              </a:rPr>
              <a:t>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“real”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tests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like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45" dirty="0">
                <a:latin typeface="Georgia"/>
                <a:cs typeface="Georgia"/>
              </a:rPr>
              <a:t>A/B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testing?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630"/>
              </a:spcBef>
              <a:buClr>
                <a:srgbClr val="FFFFFF"/>
              </a:buClr>
              <a:buSzPct val="72727"/>
              <a:buFont typeface="Georgia"/>
              <a:buAutoNum type="arabicPlain" startAt="2"/>
              <a:tabLst>
                <a:tab pos="290195" algn="l"/>
              </a:tabLst>
            </a:pPr>
            <a:r>
              <a:rPr sz="1100" b="1" spc="-25" dirty="0">
                <a:latin typeface="Georgia"/>
                <a:cs typeface="Georgia"/>
              </a:rPr>
              <a:t>Review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process</a:t>
            </a:r>
            <a:r>
              <a:rPr sz="1100" spc="-55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300990">
              <a:lnSpc>
                <a:spcPts val="1019"/>
              </a:lnSpc>
              <a:spcBef>
                <a:spcPts val="464"/>
              </a:spcBef>
            </a:pPr>
            <a:r>
              <a:rPr sz="1000" spc="-25" dirty="0">
                <a:latin typeface="Georgia"/>
                <a:cs typeface="Georgia"/>
              </a:rPr>
              <a:t>review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work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accomplished.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Was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anything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overlooked?</a:t>
            </a:r>
            <a:r>
              <a:rPr sz="100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Were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all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steps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properly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executed?</a:t>
            </a:r>
            <a:r>
              <a:rPr sz="1000" spc="20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Summarize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findings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correct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anything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if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needed.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630"/>
              </a:spcBef>
              <a:buClr>
                <a:srgbClr val="FFFFFF"/>
              </a:buClr>
              <a:buSzPct val="72727"/>
              <a:buFont typeface="Georgia"/>
              <a:buAutoNum type="arabicPlain" startAt="3"/>
              <a:tabLst>
                <a:tab pos="290195" algn="l"/>
              </a:tabLst>
            </a:pPr>
            <a:r>
              <a:rPr sz="1100" b="1" spc="-40" dirty="0">
                <a:latin typeface="Georgia"/>
                <a:cs typeface="Georgia"/>
              </a:rPr>
              <a:t>Determine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next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steps</a:t>
            </a:r>
            <a:r>
              <a:rPr sz="1100" spc="-45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5080">
              <a:lnSpc>
                <a:spcPts val="1019"/>
              </a:lnSpc>
              <a:spcBef>
                <a:spcPts val="459"/>
              </a:spcBef>
            </a:pPr>
            <a:r>
              <a:rPr sz="1000" spc="-25" dirty="0">
                <a:latin typeface="Georgia"/>
                <a:cs typeface="Georgia"/>
              </a:rPr>
              <a:t>based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45" dirty="0">
                <a:latin typeface="Georgia"/>
                <a:cs typeface="Georgia"/>
              </a:rPr>
              <a:t>on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previous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three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tasks,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determine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whether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proceed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deployment,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iterate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further,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or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initiate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new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projects.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8" name="object 8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1" name="object 11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15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2594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" dirty="0"/>
              <a:t>CRISP–DM</a:t>
            </a:r>
            <a:r>
              <a:rPr spc="90" dirty="0"/>
              <a:t> </a:t>
            </a:r>
            <a:r>
              <a:rPr spc="25" dirty="0"/>
              <a:t>phase</a:t>
            </a:r>
            <a:r>
              <a:rPr spc="95" dirty="0"/>
              <a:t> </a:t>
            </a:r>
            <a:r>
              <a:rPr spc="-20" dirty="0"/>
              <a:t>6:</a:t>
            </a:r>
            <a:r>
              <a:rPr spc="245" dirty="0"/>
              <a:t> </a:t>
            </a:r>
            <a:r>
              <a:rPr spc="20" dirty="0"/>
              <a:t>Deployment</a:t>
            </a:r>
          </a:p>
        </p:txBody>
      </p:sp>
      <p:sp>
        <p:nvSpPr>
          <p:cNvPr id="3" name="object 3"/>
          <p:cNvSpPr/>
          <p:nvPr/>
        </p:nvSpPr>
        <p:spPr>
          <a:xfrm>
            <a:off x="299567" y="877442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567" y="1314119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9567" y="1879853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567" y="2445600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7088" y="448791"/>
            <a:ext cx="5231765" cy="243522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311785">
              <a:lnSpc>
                <a:spcPts val="1150"/>
              </a:lnSpc>
              <a:spcBef>
                <a:spcPts val="270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model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is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not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particularly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useful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unless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customer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can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access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its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results.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The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complexity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phase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varies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widely.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This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final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phase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has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four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tasks:</a:t>
            </a:r>
            <a:endParaRPr sz="11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72727"/>
              <a:buFont typeface="Georgia"/>
              <a:buAutoNum type="arabicPlain"/>
              <a:tabLst>
                <a:tab pos="290195" algn="l"/>
              </a:tabLst>
            </a:pPr>
            <a:r>
              <a:rPr sz="1100" b="1" spc="-20" dirty="0">
                <a:latin typeface="Georgia"/>
                <a:cs typeface="Georgia"/>
              </a:rPr>
              <a:t>Plan</a:t>
            </a:r>
            <a:r>
              <a:rPr sz="1100" b="1" spc="110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deployment</a:t>
            </a:r>
            <a:r>
              <a:rPr sz="1100" spc="-5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>
              <a:lnSpc>
                <a:spcPct val="100000"/>
              </a:lnSpc>
              <a:spcBef>
                <a:spcPts val="275"/>
              </a:spcBef>
            </a:pPr>
            <a:r>
              <a:rPr sz="1000" spc="-25" dirty="0">
                <a:latin typeface="Georgia"/>
                <a:cs typeface="Georgia"/>
              </a:rPr>
              <a:t>develop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document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plan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for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deploying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model.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SzPct val="72727"/>
              <a:buFont typeface="Georgia"/>
              <a:buAutoNum type="arabicPlain" startAt="2"/>
              <a:tabLst>
                <a:tab pos="290195" algn="l"/>
              </a:tabLst>
            </a:pPr>
            <a:r>
              <a:rPr sz="1100" b="1" spc="-20" dirty="0">
                <a:latin typeface="Georgia"/>
                <a:cs typeface="Georgia"/>
              </a:rPr>
              <a:t>Plan</a:t>
            </a:r>
            <a:r>
              <a:rPr sz="1100" b="1" spc="130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monitoring</a:t>
            </a:r>
            <a:r>
              <a:rPr sz="1100" b="1" spc="135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and</a:t>
            </a:r>
            <a:r>
              <a:rPr sz="1100" b="1" spc="130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maintenance</a:t>
            </a:r>
            <a:r>
              <a:rPr sz="1100" spc="-55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226060">
              <a:lnSpc>
                <a:spcPts val="1019"/>
              </a:lnSpc>
              <a:spcBef>
                <a:spcPts val="465"/>
              </a:spcBef>
            </a:pPr>
            <a:r>
              <a:rPr sz="1000" spc="-25" dirty="0">
                <a:latin typeface="Georgia"/>
                <a:cs typeface="Georgia"/>
              </a:rPr>
              <a:t>develop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thorough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monitoring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maintenance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plan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avoid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issues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during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operational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phase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(or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post-project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phase)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model.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630"/>
              </a:spcBef>
              <a:buClr>
                <a:srgbClr val="FFFFFF"/>
              </a:buClr>
              <a:buSzPct val="72727"/>
              <a:buFont typeface="Georgia"/>
              <a:buAutoNum type="arabicPlain" startAt="3"/>
              <a:tabLst>
                <a:tab pos="290195" algn="l"/>
              </a:tabLst>
            </a:pPr>
            <a:r>
              <a:rPr sz="1100" b="1" spc="-35" dirty="0">
                <a:latin typeface="Georgia"/>
                <a:cs typeface="Georgia"/>
              </a:rPr>
              <a:t>Produce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60" dirty="0">
                <a:latin typeface="Georgia"/>
                <a:cs typeface="Georgia"/>
              </a:rPr>
              <a:t>final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report</a:t>
            </a:r>
            <a:r>
              <a:rPr sz="1100" spc="-4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99695">
              <a:lnSpc>
                <a:spcPts val="1019"/>
              </a:lnSpc>
              <a:spcBef>
                <a:spcPts val="465"/>
              </a:spcBef>
            </a:pPr>
            <a:r>
              <a:rPr sz="1000" spc="-15" dirty="0">
                <a:latin typeface="Georgia"/>
                <a:cs typeface="Georgia"/>
              </a:rPr>
              <a:t>the </a:t>
            </a:r>
            <a:r>
              <a:rPr sz="1000" spc="-5" dirty="0">
                <a:latin typeface="Georgia"/>
                <a:cs typeface="Georgia"/>
              </a:rPr>
              <a:t>project </a:t>
            </a:r>
            <a:r>
              <a:rPr sz="1000" spc="-20" dirty="0">
                <a:latin typeface="Georgia"/>
                <a:cs typeface="Georgia"/>
              </a:rPr>
              <a:t>team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documents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 </a:t>
            </a:r>
            <a:r>
              <a:rPr sz="1000" spc="-25" dirty="0">
                <a:latin typeface="Georgia"/>
                <a:cs typeface="Georgia"/>
              </a:rPr>
              <a:t>summary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 </a:t>
            </a:r>
            <a:r>
              <a:rPr sz="1000" spc="-5" dirty="0">
                <a:latin typeface="Georgia"/>
                <a:cs typeface="Georgia"/>
              </a:rPr>
              <a:t>project </a:t>
            </a:r>
            <a:r>
              <a:rPr sz="1000" spc="-30" dirty="0">
                <a:latin typeface="Georgia"/>
                <a:cs typeface="Georgia"/>
              </a:rPr>
              <a:t>which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might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include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 </a:t>
            </a:r>
            <a:r>
              <a:rPr sz="1000" spc="-25" dirty="0">
                <a:latin typeface="Georgia"/>
                <a:cs typeface="Georgia"/>
              </a:rPr>
              <a:t>final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presentation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mining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results.</a:t>
            </a:r>
            <a:endParaRPr sz="1000">
              <a:latin typeface="Georgia"/>
              <a:cs typeface="Georgia"/>
            </a:endParaRPr>
          </a:p>
          <a:p>
            <a:pPr marL="289560" indent="-146050">
              <a:lnSpc>
                <a:spcPct val="100000"/>
              </a:lnSpc>
              <a:spcBef>
                <a:spcPts val="630"/>
              </a:spcBef>
              <a:buClr>
                <a:srgbClr val="FFFFFF"/>
              </a:buClr>
              <a:buSzPct val="72727"/>
              <a:buFont typeface="Georgia"/>
              <a:buAutoNum type="arabicPlain" startAt="4"/>
              <a:tabLst>
                <a:tab pos="290195" algn="l"/>
              </a:tabLst>
            </a:pPr>
            <a:r>
              <a:rPr sz="1100" b="1" spc="-25" dirty="0">
                <a:latin typeface="Georgia"/>
                <a:cs typeface="Georgia"/>
              </a:rPr>
              <a:t>Review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project</a:t>
            </a:r>
            <a:r>
              <a:rPr sz="1100" spc="-25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566420" marR="5080">
              <a:lnSpc>
                <a:spcPts val="1019"/>
              </a:lnSpc>
              <a:spcBef>
                <a:spcPts val="465"/>
              </a:spcBef>
            </a:pPr>
            <a:r>
              <a:rPr sz="1000" spc="-15" dirty="0">
                <a:latin typeface="Georgia"/>
                <a:cs typeface="Georgia"/>
              </a:rPr>
              <a:t>conduct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project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retrospective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about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what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went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well,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what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could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have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been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better,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how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improve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future.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9" name="object 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2" name="object 12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16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8267"/>
            <a:ext cx="18046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35" dirty="0">
                <a:solidFill>
                  <a:srgbClr val="CC0000"/>
                </a:solidFill>
                <a:latin typeface="Times New Roman"/>
                <a:cs typeface="Times New Roman"/>
              </a:rPr>
              <a:t>Types</a:t>
            </a:r>
            <a:r>
              <a:rPr sz="1400" spc="8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-40" dirty="0">
                <a:solidFill>
                  <a:srgbClr val="CC0000"/>
                </a:solidFill>
                <a:latin typeface="Times New Roman"/>
                <a:cs typeface="Times New Roman"/>
              </a:rPr>
              <a:t>of</a:t>
            </a:r>
            <a:r>
              <a:rPr sz="1400" spc="9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CC0000"/>
                </a:solidFill>
                <a:latin typeface="Times New Roman"/>
                <a:cs typeface="Times New Roman"/>
              </a:rPr>
              <a:t>data</a:t>
            </a:r>
            <a:r>
              <a:rPr sz="1400" spc="8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400" spc="25" dirty="0">
                <a:solidFill>
                  <a:srgbClr val="CC0000"/>
                </a:solidFill>
                <a:latin typeface="Times New Roman"/>
                <a:cs typeface="Times New Roman"/>
              </a:rPr>
              <a:t>analytics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9359" y="532650"/>
            <a:ext cx="3213658" cy="233309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5" name="object 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8" name="object 8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17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19183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Data</a:t>
            </a:r>
            <a:r>
              <a:rPr spc="95" dirty="0"/>
              <a:t> </a:t>
            </a:r>
            <a:r>
              <a:rPr spc="35" dirty="0"/>
              <a:t>types</a:t>
            </a:r>
            <a:r>
              <a:rPr spc="90" dirty="0"/>
              <a:t> </a:t>
            </a:r>
            <a:r>
              <a:rPr spc="30" dirty="0"/>
              <a:t>(by</a:t>
            </a:r>
            <a:r>
              <a:rPr spc="95" dirty="0"/>
              <a:t> </a:t>
            </a:r>
            <a:r>
              <a:rPr spc="25" dirty="0"/>
              <a:t>domains)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49944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177" y="389862"/>
            <a:ext cx="3800475" cy="2604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900"/>
              </a:lnSpc>
              <a:spcBef>
                <a:spcPts val="100"/>
              </a:spcBef>
            </a:pPr>
            <a:r>
              <a:rPr sz="1100" spc="-10" dirty="0">
                <a:latin typeface="Georgia"/>
                <a:cs typeface="Georgia"/>
              </a:rPr>
              <a:t>Retail</a:t>
            </a:r>
            <a:r>
              <a:rPr sz="1100" spc="-5" dirty="0">
                <a:latin typeface="Georgia"/>
                <a:cs typeface="Georgia"/>
              </a:rPr>
              <a:t> data</a:t>
            </a:r>
            <a:r>
              <a:rPr sz="1100" spc="254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(product</a:t>
            </a:r>
            <a:r>
              <a:rPr sz="1100" spc="2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items,</a:t>
            </a:r>
            <a:r>
              <a:rPr sz="1100" spc="21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cart,</a:t>
            </a:r>
            <a:r>
              <a:rPr sz="1100" spc="254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basket,</a:t>
            </a:r>
            <a:r>
              <a:rPr sz="1100" spc="2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transaction) 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Financial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(bank,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credit,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payment,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stock,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crypto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currency)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Telecommunication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data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20" dirty="0">
                <a:latin typeface="Georgia"/>
                <a:cs typeface="Georgia"/>
              </a:rPr>
              <a:t>(CDR,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etc.)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25" dirty="0">
                <a:latin typeface="Georgia"/>
                <a:cs typeface="Georgia"/>
              </a:rPr>
              <a:t>Transportation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30" dirty="0">
                <a:latin typeface="Georgia"/>
                <a:cs typeface="Georgia"/>
              </a:rPr>
              <a:t>Scientific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educational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30" dirty="0">
                <a:latin typeface="Georgia"/>
                <a:cs typeface="Georgia"/>
              </a:rPr>
              <a:t>Medical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biological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(x-ray,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MRI,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gene,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etc.)</a:t>
            </a:r>
            <a:endParaRPr sz="1100">
              <a:latin typeface="Georgia"/>
              <a:cs typeface="Georgia"/>
            </a:endParaRPr>
          </a:p>
          <a:p>
            <a:pPr marL="12700" marR="191135">
              <a:lnSpc>
                <a:spcPct val="109900"/>
              </a:lnSpc>
            </a:pPr>
            <a:r>
              <a:rPr sz="1100" spc="-40" dirty="0">
                <a:latin typeface="Georgia"/>
                <a:cs typeface="Georgia"/>
              </a:rPr>
              <a:t>Web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(web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pages,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web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logs,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online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user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behaviors,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etc.)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Marketing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advertising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endParaRPr sz="1100">
              <a:latin typeface="Georgia"/>
              <a:cs typeface="Georgia"/>
            </a:endParaRPr>
          </a:p>
          <a:p>
            <a:pPr marL="12700" marR="1110615">
              <a:lnSpc>
                <a:spcPct val="109900"/>
              </a:lnSpc>
            </a:pPr>
            <a:r>
              <a:rPr sz="1100" spc="-30" dirty="0">
                <a:latin typeface="Georgia"/>
                <a:cs typeface="Georgia"/>
              </a:rPr>
              <a:t>Online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social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network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social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media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IoT, </a:t>
            </a:r>
            <a:r>
              <a:rPr sz="1100" spc="-40" dirty="0">
                <a:latin typeface="Georgia"/>
                <a:cs typeface="Georgia"/>
              </a:rPr>
              <a:t>sensor,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surveillance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 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Manufacturing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endParaRPr sz="1100">
              <a:latin typeface="Georgia"/>
              <a:cs typeface="Georgia"/>
            </a:endParaRPr>
          </a:p>
          <a:p>
            <a:pPr marL="12700" marR="2149475">
              <a:lnSpc>
                <a:spcPct val="109900"/>
              </a:lnSpc>
            </a:pPr>
            <a:r>
              <a:rPr sz="1100" spc="-25" dirty="0">
                <a:latin typeface="Georgia"/>
                <a:cs typeface="Georgia"/>
              </a:rPr>
              <a:t>Map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and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spatial </a:t>
            </a:r>
            <a:r>
              <a:rPr sz="1100" spc="-5" dirty="0">
                <a:latin typeface="Georgia"/>
                <a:cs typeface="Georgia"/>
              </a:rPr>
              <a:t>data 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Software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development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5" dirty="0">
                <a:latin typeface="Georgia"/>
                <a:cs typeface="Georgia"/>
              </a:rPr>
              <a:t>Data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other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areas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(environment,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agriculture,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hydrology,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etc.)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68366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86787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05210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23633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7972" y="142054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7972" y="160477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972" y="178899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7972" y="197321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7972" y="215743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7972" y="234166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7972" y="252587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7972" y="2710103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7972" y="289432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9" name="object 19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22" name="object 22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18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33947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40" dirty="0"/>
              <a:t>Major</a:t>
            </a:r>
            <a:r>
              <a:rPr spc="95" dirty="0"/>
              <a:t> </a:t>
            </a:r>
            <a:r>
              <a:rPr spc="15" dirty="0"/>
              <a:t>problems</a:t>
            </a:r>
            <a:r>
              <a:rPr spc="95" dirty="0"/>
              <a:t> </a:t>
            </a:r>
            <a:r>
              <a:rPr spc="20" dirty="0"/>
              <a:t>in</a:t>
            </a:r>
            <a:r>
              <a:rPr spc="105" dirty="0"/>
              <a:t> </a:t>
            </a:r>
            <a:r>
              <a:rPr spc="75" dirty="0"/>
              <a:t>data</a:t>
            </a:r>
            <a:r>
              <a:rPr spc="95" dirty="0"/>
              <a:t> </a:t>
            </a:r>
            <a:r>
              <a:rPr spc="15" dirty="0"/>
              <a:t>analysis</a:t>
            </a:r>
            <a:r>
              <a:rPr spc="100" dirty="0"/>
              <a:t> </a:t>
            </a:r>
            <a:r>
              <a:rPr spc="55" dirty="0"/>
              <a:t>and</a:t>
            </a:r>
            <a:r>
              <a:rPr spc="100" dirty="0"/>
              <a:t> </a:t>
            </a:r>
            <a:r>
              <a:rPr spc="15" dirty="0"/>
              <a:t>mining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98403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177" y="820468"/>
            <a:ext cx="2234565" cy="145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11885">
              <a:lnSpc>
                <a:spcPct val="142100"/>
              </a:lnSpc>
              <a:spcBef>
                <a:spcPts val="100"/>
              </a:spcBef>
            </a:pPr>
            <a:r>
              <a:rPr sz="1100" spc="5" dirty="0">
                <a:latin typeface="Georgia"/>
                <a:cs typeface="Georgia"/>
              </a:rPr>
              <a:t>Data </a:t>
            </a:r>
            <a:r>
              <a:rPr sz="1100" spc="-25" dirty="0">
                <a:latin typeface="Georgia"/>
                <a:cs typeface="Georgia"/>
              </a:rPr>
              <a:t>classification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Regression</a:t>
            </a:r>
            <a:endParaRPr sz="1100">
              <a:latin typeface="Georgia"/>
              <a:cs typeface="Georgia"/>
            </a:endParaRPr>
          </a:p>
          <a:p>
            <a:pPr marL="12700" marR="574040">
              <a:lnSpc>
                <a:spcPct val="142100"/>
              </a:lnSpc>
            </a:pPr>
            <a:r>
              <a:rPr sz="1100" spc="5" dirty="0">
                <a:latin typeface="Georgia"/>
                <a:cs typeface="Georgia"/>
              </a:rPr>
              <a:t>Data </a:t>
            </a:r>
            <a:r>
              <a:rPr sz="1100" spc="-25" dirty="0">
                <a:latin typeface="Georgia"/>
                <a:cs typeface="Georgia"/>
              </a:rPr>
              <a:t>clustering </a:t>
            </a:r>
            <a:r>
              <a:rPr sz="1100" spc="-20" dirty="0">
                <a:latin typeface="Georgia"/>
                <a:cs typeface="Georgia"/>
              </a:rPr>
              <a:t> Association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pattern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mining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Outlier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detection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spc="-10" dirty="0">
                <a:latin typeface="Georgia"/>
                <a:cs typeface="Georgia"/>
              </a:rPr>
              <a:t>Other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application–oriented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122224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46047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69868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93691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7972" y="217512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1" name="object 11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4" name="object 14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19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3134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5" dirty="0"/>
              <a:t>Applications</a:t>
            </a:r>
            <a:r>
              <a:rPr spc="90" dirty="0"/>
              <a:t> </a:t>
            </a:r>
            <a:r>
              <a:rPr spc="-40" dirty="0"/>
              <a:t>of</a:t>
            </a:r>
            <a:r>
              <a:rPr spc="95" dirty="0"/>
              <a:t> </a:t>
            </a:r>
            <a:r>
              <a:rPr spc="75" dirty="0"/>
              <a:t>data</a:t>
            </a:r>
            <a:r>
              <a:rPr spc="95" dirty="0"/>
              <a:t> </a:t>
            </a:r>
            <a:r>
              <a:rPr spc="15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100" dirty="0"/>
              <a:t> </a:t>
            </a:r>
            <a:r>
              <a:rPr spc="15" dirty="0"/>
              <a:t>mining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507593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177" y="344028"/>
            <a:ext cx="3780154" cy="264604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spc="-25" dirty="0">
                <a:latin typeface="Georgia"/>
                <a:cs typeface="Georgia"/>
              </a:rPr>
              <a:t>Market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basket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analysis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42100"/>
              </a:lnSpc>
            </a:pPr>
            <a:r>
              <a:rPr sz="1100" spc="-30" dirty="0">
                <a:latin typeface="Georgia"/>
                <a:cs typeface="Georgia"/>
              </a:rPr>
              <a:t>Finance: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credit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scoring,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fraud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detection,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forecasting,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etc. 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Customer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analysis: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demographic,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segmentation,</a:t>
            </a:r>
            <a:r>
              <a:rPr sz="1100" spc="-25" dirty="0">
                <a:latin typeface="Georgia"/>
                <a:cs typeface="Georgia"/>
              </a:rPr>
              <a:t> intent,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etc. 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Telco: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customer</a:t>
            </a:r>
            <a:r>
              <a:rPr sz="1100" spc="-30" dirty="0">
                <a:latin typeface="Georgia"/>
                <a:cs typeface="Georgia"/>
              </a:rPr>
              <a:t> segmentation,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churn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prediction, fraud, </a:t>
            </a:r>
            <a:r>
              <a:rPr sz="1100" spc="-5" dirty="0">
                <a:latin typeface="Georgia"/>
                <a:cs typeface="Georgia"/>
              </a:rPr>
              <a:t>etc. 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Marketing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advertising: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targeting,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optimization,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etc.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Recommender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systems: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next best </a:t>
            </a:r>
            <a:r>
              <a:rPr sz="1100" spc="-35" dirty="0">
                <a:latin typeface="Georgia"/>
                <a:cs typeface="Georgia"/>
              </a:rPr>
              <a:t>offer,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cross-sell,</a:t>
            </a:r>
            <a:r>
              <a:rPr sz="1100" spc="-30" dirty="0">
                <a:latin typeface="Georgia"/>
                <a:cs typeface="Georgia"/>
              </a:rPr>
              <a:t> up-sell,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etc.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Social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network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analysis: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link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prediction,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suggestion,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etc.</a:t>
            </a:r>
            <a:endParaRPr sz="1100">
              <a:latin typeface="Georgia"/>
              <a:cs typeface="Georgia"/>
            </a:endParaRPr>
          </a:p>
          <a:p>
            <a:pPr marL="12700" marR="45720">
              <a:lnSpc>
                <a:spcPct val="142100"/>
              </a:lnSpc>
            </a:pPr>
            <a:r>
              <a:rPr sz="1100" spc="-15" dirty="0">
                <a:latin typeface="Georgia"/>
                <a:cs typeface="Georgia"/>
              </a:rPr>
              <a:t>Text/web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mining: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opinion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mining,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social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media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listening,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etc.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Data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mining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biology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medicine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spc="5" dirty="0">
                <a:latin typeface="Georgia"/>
                <a:cs typeface="Georgia"/>
              </a:rPr>
              <a:t>Data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analysis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software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development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spc="5" dirty="0">
                <a:latin typeface="Georgia"/>
                <a:cs typeface="Georgia"/>
              </a:rPr>
              <a:t>Data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mining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production,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environment,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hydrology,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etc.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74580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98403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22224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46047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7972" y="169868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7972" y="193691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972" y="217512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7972" y="241335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7972" y="265156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7972" y="288979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6" name="object 16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9" name="object 19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20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593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171615" y="646887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4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1615" y="1016812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615" y="1386751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1615" y="1751533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615" y="2116315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615" y="2481097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8556" y="596403"/>
            <a:ext cx="2301875" cy="202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9705" indent="-167640"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Data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analysis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4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mining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concepts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Georgia"/>
              <a:buAutoNum type="arabicPlain"/>
            </a:pPr>
            <a:endParaRPr sz="14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latin typeface="Georgia"/>
                <a:cs typeface="Georgia"/>
                <a:hlinkClick r:id="rId3" action="ppaction://hlinksldjump"/>
              </a:rPr>
              <a:t>Course</a:t>
            </a:r>
            <a:r>
              <a:rPr sz="1100" spc="90" dirty="0"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45" dirty="0">
                <a:latin typeface="Georgia"/>
                <a:cs typeface="Georgia"/>
                <a:hlinkClick r:id="rId3" action="ppaction://hlinksldjump"/>
              </a:rPr>
              <a:t>requirement</a:t>
            </a:r>
            <a:r>
              <a:rPr sz="1100" spc="90" dirty="0"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30" dirty="0">
                <a:latin typeface="Georgia"/>
                <a:cs typeface="Georgia"/>
                <a:hlinkClick r:id="rId3" action="ppaction://hlinksldjump"/>
              </a:rPr>
              <a:t>and</a:t>
            </a:r>
            <a:r>
              <a:rPr sz="1100" spc="90" dirty="0"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25" dirty="0">
                <a:latin typeface="Georgia"/>
                <a:cs typeface="Georgia"/>
                <a:hlinkClick r:id="rId3" action="ppaction://hlinksldjump"/>
              </a:rPr>
              <a:t>evaluation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Georgia"/>
              <a:buAutoNum type="arabicPlain"/>
            </a:pPr>
            <a:endParaRPr sz="14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Course</a:t>
            </a:r>
            <a:r>
              <a:rPr sz="1100" spc="80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contents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40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schedule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Course</a:t>
            </a:r>
            <a:r>
              <a:rPr sz="1100" spc="60" dirty="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1100" spc="-45" dirty="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resources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40" dirty="0">
                <a:solidFill>
                  <a:srgbClr val="CCCCCC"/>
                </a:solidFill>
                <a:latin typeface="Georgia"/>
                <a:cs typeface="Georgia"/>
                <a:hlinkClick r:id="rId6" action="ppaction://hlinksldjump"/>
              </a:rPr>
              <a:t>References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Summary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1" name="object 11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4" name="object 14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21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30499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Data</a:t>
            </a:r>
            <a:r>
              <a:rPr spc="100" dirty="0"/>
              <a:t> </a:t>
            </a:r>
            <a:r>
              <a:rPr spc="15" dirty="0"/>
              <a:t>mining</a:t>
            </a:r>
            <a:r>
              <a:rPr spc="100" dirty="0"/>
              <a:t> </a:t>
            </a:r>
            <a:r>
              <a:rPr spc="-10" dirty="0"/>
              <a:t>is</a:t>
            </a:r>
            <a:r>
              <a:rPr spc="100" dirty="0"/>
              <a:t> </a:t>
            </a:r>
            <a:r>
              <a:rPr spc="55" dirty="0"/>
              <a:t>an</a:t>
            </a:r>
            <a:r>
              <a:rPr spc="105" dirty="0"/>
              <a:t> </a:t>
            </a:r>
            <a:r>
              <a:rPr spc="25" dirty="0"/>
              <a:t>interdisciplinary</a:t>
            </a:r>
            <a:r>
              <a:rPr spc="95" dirty="0"/>
              <a:t> </a:t>
            </a:r>
            <a:r>
              <a:rPr spc="-15" dirty="0"/>
              <a:t>field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98403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177" y="820468"/>
            <a:ext cx="3233420" cy="145478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spc="-20" dirty="0">
                <a:latin typeface="Georgia"/>
                <a:cs typeface="Georgia"/>
              </a:rPr>
              <a:t>Databases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42100"/>
              </a:lnSpc>
            </a:pPr>
            <a:r>
              <a:rPr sz="1100" spc="-25" dirty="0">
                <a:latin typeface="Georgia"/>
                <a:cs typeface="Georgia"/>
              </a:rPr>
              <a:t>Mathematics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(linear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algebra,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analytics,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optimization)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statistics</a:t>
            </a:r>
            <a:endParaRPr sz="1100">
              <a:latin typeface="Georgia"/>
              <a:cs typeface="Georgia"/>
            </a:endParaRPr>
          </a:p>
          <a:p>
            <a:pPr marL="12700" marR="1433830">
              <a:lnSpc>
                <a:spcPct val="142100"/>
              </a:lnSpc>
            </a:pPr>
            <a:r>
              <a:rPr sz="1100" spc="-40" dirty="0">
                <a:latin typeface="Georgia"/>
                <a:cs typeface="Georgia"/>
              </a:rPr>
              <a:t>Machine</a:t>
            </a:r>
            <a:r>
              <a:rPr sz="1100" spc="-35" dirty="0">
                <a:latin typeface="Georgia"/>
                <a:cs typeface="Georgia"/>
              </a:rPr>
              <a:t> learning 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Visualization 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High–performance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computing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122224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46047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69868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93691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7972" y="217512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1" name="object 11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4" name="object 14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22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22961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" dirty="0"/>
              <a:t>Prerequisite</a:t>
            </a:r>
            <a:r>
              <a:rPr spc="85" dirty="0"/>
              <a:t> </a:t>
            </a:r>
            <a:r>
              <a:rPr spc="5" dirty="0"/>
              <a:t>courses</a:t>
            </a:r>
            <a:r>
              <a:rPr spc="85" dirty="0"/>
              <a:t> </a:t>
            </a:r>
            <a:r>
              <a:rPr spc="55" dirty="0"/>
              <a:t>and</a:t>
            </a:r>
            <a:r>
              <a:rPr spc="85" dirty="0"/>
              <a:t> </a:t>
            </a:r>
            <a:r>
              <a:rPr spc="-5" dirty="0"/>
              <a:t>skills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100219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119773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36279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52786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69291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93405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212959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4177" y="871030"/>
            <a:ext cx="2444750" cy="135128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100" spc="-25" dirty="0">
                <a:latin typeface="Georgia"/>
                <a:cs typeface="Georgia"/>
              </a:rPr>
              <a:t>Prerequisite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courses: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280"/>
              </a:spcBef>
            </a:pPr>
            <a:r>
              <a:rPr sz="1000" spc="-15" dirty="0">
                <a:latin typeface="Georgia"/>
                <a:cs typeface="Georgia"/>
              </a:rPr>
              <a:t>Databases</a:t>
            </a:r>
            <a:endParaRPr sz="1000">
              <a:latin typeface="Georgia"/>
              <a:cs typeface="Georgia"/>
            </a:endParaRPr>
          </a:p>
          <a:p>
            <a:pPr marL="289560" marR="409575">
              <a:lnSpc>
                <a:spcPct val="108300"/>
              </a:lnSpc>
            </a:pPr>
            <a:r>
              <a:rPr sz="1000" spc="5" dirty="0">
                <a:latin typeface="Georgia"/>
                <a:cs typeface="Georgia"/>
              </a:rPr>
              <a:t>Data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structures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algorithms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Probability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statistics </a:t>
            </a:r>
            <a:r>
              <a:rPr sz="100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Advanced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mathematics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00" spc="-35" dirty="0">
                <a:latin typeface="Georgia"/>
                <a:cs typeface="Georgia"/>
              </a:rPr>
              <a:t>Required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skills: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280"/>
              </a:spcBef>
            </a:pPr>
            <a:r>
              <a:rPr sz="1000" spc="-20" dirty="0">
                <a:latin typeface="Georgia"/>
                <a:cs typeface="Georgia"/>
              </a:rPr>
              <a:t>Programming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with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Python,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15" dirty="0">
                <a:latin typeface="Georgia"/>
                <a:cs typeface="Georgia"/>
              </a:rPr>
              <a:t>R,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or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Java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2" name="object 12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5" name="object 15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23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13798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Course</a:t>
            </a:r>
            <a:r>
              <a:rPr spc="65" dirty="0"/>
              <a:t> </a:t>
            </a:r>
            <a:r>
              <a:rPr spc="20" dirty="0"/>
              <a:t>evaluation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991133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123424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42979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59485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83598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203154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219659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4177" y="822665"/>
            <a:ext cx="1655445" cy="14668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100" spc="-10" dirty="0">
                <a:latin typeface="Georgia"/>
                <a:cs typeface="Georgia"/>
              </a:rPr>
              <a:t>Class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contributions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(10%)</a:t>
            </a:r>
            <a:endParaRPr sz="1100">
              <a:latin typeface="Georgia"/>
              <a:cs typeface="Georgia"/>
            </a:endParaRPr>
          </a:p>
          <a:p>
            <a:pPr marL="289560" marR="5080" indent="-277495">
              <a:lnSpc>
                <a:spcPct val="114700"/>
              </a:lnSpc>
              <a:spcBef>
                <a:spcPts val="400"/>
              </a:spcBef>
            </a:pPr>
            <a:r>
              <a:rPr sz="1100" spc="-30" dirty="0">
                <a:latin typeface="Georgia"/>
                <a:cs typeface="Georgia"/>
              </a:rPr>
              <a:t>Midterm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5">
                <a:latin typeface="Georgia"/>
                <a:cs typeface="Georgia"/>
              </a:rPr>
              <a:t>evaluation</a:t>
            </a:r>
            <a:r>
              <a:rPr sz="1100" spc="65">
                <a:latin typeface="Georgia"/>
                <a:cs typeface="Georgia"/>
              </a:rPr>
              <a:t> </a:t>
            </a:r>
            <a:r>
              <a:rPr sz="1100" spc="-45">
                <a:latin typeface="Georgia"/>
                <a:cs typeface="Georgia"/>
              </a:rPr>
              <a:t>(</a:t>
            </a:r>
            <a:r>
              <a:rPr lang="en-US" sz="1100" spc="-45">
                <a:latin typeface="Georgia"/>
                <a:cs typeface="Georgia"/>
              </a:rPr>
              <a:t>3</a:t>
            </a:r>
            <a:r>
              <a:rPr sz="1100" spc="-45">
                <a:latin typeface="Georgia"/>
                <a:cs typeface="Georgia"/>
              </a:rPr>
              <a:t>0</a:t>
            </a:r>
            <a:r>
              <a:rPr sz="1100" spc="-45" dirty="0">
                <a:latin typeface="Georgia"/>
                <a:cs typeface="Georgia"/>
              </a:rPr>
              <a:t>%):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Group</a:t>
            </a:r>
            <a:r>
              <a:rPr sz="1000" spc="21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projects, </a:t>
            </a:r>
            <a:r>
              <a:rPr sz="1000" spc="-35" dirty="0">
                <a:latin typeface="Georgia"/>
                <a:cs typeface="Georgia"/>
              </a:rPr>
              <a:t>or 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Group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seminar</a:t>
            </a:r>
            <a:endParaRPr sz="1000">
              <a:latin typeface="Georgia"/>
              <a:cs typeface="Georgia"/>
            </a:endParaRPr>
          </a:p>
          <a:p>
            <a:pPr marL="289560" marR="411480" indent="-277495">
              <a:lnSpc>
                <a:spcPct val="114700"/>
              </a:lnSpc>
              <a:spcBef>
                <a:spcPts val="445"/>
              </a:spcBef>
            </a:pPr>
            <a:r>
              <a:rPr sz="1100" spc="-15" dirty="0">
                <a:latin typeface="Georgia"/>
                <a:cs typeface="Georgia"/>
              </a:rPr>
              <a:t>Final </a:t>
            </a:r>
            <a:r>
              <a:rPr sz="1100" spc="-30">
                <a:latin typeface="Georgia"/>
                <a:cs typeface="Georgia"/>
              </a:rPr>
              <a:t>exam</a:t>
            </a:r>
            <a:r>
              <a:rPr sz="1100" spc="-25">
                <a:latin typeface="Georgia"/>
                <a:cs typeface="Georgia"/>
              </a:rPr>
              <a:t> </a:t>
            </a:r>
            <a:r>
              <a:rPr sz="1100" spc="-40">
                <a:latin typeface="Georgia"/>
                <a:cs typeface="Georgia"/>
              </a:rPr>
              <a:t>(</a:t>
            </a:r>
            <a:r>
              <a:rPr lang="en-US" sz="1100" spc="-40">
                <a:latin typeface="Georgia"/>
                <a:cs typeface="Georgia"/>
              </a:rPr>
              <a:t>6</a:t>
            </a:r>
            <a:r>
              <a:rPr sz="1100" spc="-40">
                <a:latin typeface="Georgia"/>
                <a:cs typeface="Georgia"/>
              </a:rPr>
              <a:t>0</a:t>
            </a:r>
            <a:r>
              <a:rPr sz="1100" spc="-40" dirty="0">
                <a:latin typeface="Georgia"/>
                <a:cs typeface="Georgia"/>
              </a:rPr>
              <a:t>%): 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Writing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exam,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or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Oral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exam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2" name="object 12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5" name="object 15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24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593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171615" y="646887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4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1615" y="1016812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615" y="1386751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1615" y="1751533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615" y="2116315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615" y="2481097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8556" y="596403"/>
            <a:ext cx="2301875" cy="202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9705" indent="-167640"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Data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analysis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4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mining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concepts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Georgia"/>
              <a:buAutoNum type="arabicPlain"/>
            </a:pPr>
            <a:endParaRPr sz="14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Course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45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requirement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and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evaluation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Georgia"/>
              <a:buAutoNum type="arabicPlain"/>
            </a:pPr>
            <a:endParaRPr sz="14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latin typeface="Georgia"/>
                <a:cs typeface="Georgia"/>
                <a:hlinkClick r:id="rId4" action="ppaction://hlinksldjump"/>
              </a:rPr>
              <a:t>Course</a:t>
            </a:r>
            <a:r>
              <a:rPr sz="1100" spc="80" dirty="0"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35" dirty="0">
                <a:latin typeface="Georgia"/>
                <a:cs typeface="Georgia"/>
                <a:hlinkClick r:id="rId4" action="ppaction://hlinksldjump"/>
              </a:rPr>
              <a:t>contents</a:t>
            </a:r>
            <a:r>
              <a:rPr sz="1100" spc="85" dirty="0"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30" dirty="0"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1100" spc="85" dirty="0"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40" dirty="0">
                <a:latin typeface="Georgia"/>
                <a:cs typeface="Georgia"/>
                <a:hlinkClick r:id="rId4" action="ppaction://hlinksldjump"/>
              </a:rPr>
              <a:t>schedule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Course</a:t>
            </a:r>
            <a:r>
              <a:rPr sz="1100" spc="60" dirty="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1100" spc="-45" dirty="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resources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40" dirty="0">
                <a:solidFill>
                  <a:srgbClr val="CCCCCC"/>
                </a:solidFill>
                <a:latin typeface="Georgia"/>
                <a:cs typeface="Georgia"/>
                <a:hlinkClick r:id="rId6" action="ppaction://hlinksldjump"/>
              </a:rPr>
              <a:t>References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Summary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1" name="object 11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4" name="object 14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25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169163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Lectures</a:t>
            </a:r>
            <a:r>
              <a:rPr spc="70" dirty="0"/>
              <a:t> </a:t>
            </a:r>
            <a:r>
              <a:rPr spc="55" dirty="0"/>
              <a:t>and</a:t>
            </a:r>
            <a:r>
              <a:rPr spc="70" dirty="0"/>
              <a:t> </a:t>
            </a:r>
            <a:r>
              <a:rPr spc="5" dirty="0"/>
              <a:t>schedule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45971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177" y="326286"/>
            <a:ext cx="2537460" cy="273050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spc="-25" dirty="0">
                <a:latin typeface="Georgia"/>
                <a:cs typeface="Georgia"/>
              </a:rPr>
              <a:t>Course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introduction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(this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one)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24100"/>
              </a:lnSpc>
            </a:pPr>
            <a:r>
              <a:rPr sz="1100" spc="-10" dirty="0">
                <a:latin typeface="Georgia"/>
                <a:cs typeface="Georgia"/>
              </a:rPr>
              <a:t>Basic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probability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statistics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(optional)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Data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understanding</a:t>
            </a:r>
            <a:endParaRPr sz="1100">
              <a:latin typeface="Georgia"/>
              <a:cs typeface="Georgia"/>
            </a:endParaRPr>
          </a:p>
          <a:p>
            <a:pPr marL="12700" marR="354965">
              <a:lnSpc>
                <a:spcPct val="124100"/>
              </a:lnSpc>
            </a:pPr>
            <a:r>
              <a:rPr sz="1100" spc="5" dirty="0">
                <a:latin typeface="Georgia"/>
                <a:cs typeface="Georgia"/>
              </a:rPr>
              <a:t>Data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preprocessing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preparation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Distance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similarity</a:t>
            </a:r>
            <a:endParaRPr sz="1100">
              <a:latin typeface="Georgia"/>
              <a:cs typeface="Georgia"/>
            </a:endParaRPr>
          </a:p>
          <a:p>
            <a:pPr marL="12700" marR="614045">
              <a:lnSpc>
                <a:spcPct val="124100"/>
              </a:lnSpc>
            </a:pPr>
            <a:r>
              <a:rPr sz="1100" spc="5" dirty="0">
                <a:latin typeface="Georgia"/>
                <a:cs typeface="Georgia"/>
              </a:rPr>
              <a:t>Data  </a:t>
            </a:r>
            <a:r>
              <a:rPr sz="1100" spc="-25" dirty="0">
                <a:latin typeface="Georgia"/>
                <a:cs typeface="Georgia"/>
              </a:rPr>
              <a:t>classification </a:t>
            </a:r>
            <a:r>
              <a:rPr sz="1100" spc="-20" dirty="0">
                <a:latin typeface="Georgia"/>
                <a:cs typeface="Georgia"/>
              </a:rPr>
              <a:t> Classification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model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assessment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Regression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(optional)</a:t>
            </a:r>
            <a:endParaRPr sz="1100">
              <a:latin typeface="Georgia"/>
              <a:cs typeface="Georgia"/>
            </a:endParaRPr>
          </a:p>
          <a:p>
            <a:pPr marL="12700" marR="876935">
              <a:lnSpc>
                <a:spcPct val="124100"/>
              </a:lnSpc>
            </a:pPr>
            <a:r>
              <a:rPr sz="1100" spc="5" dirty="0">
                <a:latin typeface="Georgia"/>
                <a:cs typeface="Georgia"/>
              </a:rPr>
              <a:t>Data </a:t>
            </a:r>
            <a:r>
              <a:rPr sz="1100" spc="27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clustering </a:t>
            </a:r>
            <a:r>
              <a:rPr sz="1100" spc="-20" dirty="0">
                <a:latin typeface="Georgia"/>
                <a:cs typeface="Georgia"/>
              </a:rPr>
              <a:t> Association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pattern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mining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Recommender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systems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100" spc="5" dirty="0">
                <a:latin typeface="Georgia"/>
                <a:cs typeface="Georgia"/>
              </a:rPr>
              <a:t>Data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visualization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(optional)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100" spc="-20" dirty="0">
                <a:latin typeface="Georgia"/>
                <a:cs typeface="Georgia"/>
              </a:rPr>
              <a:t>Group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seminar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project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presentation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66779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87585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08391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29199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7972" y="150006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7972" y="170812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972" y="191618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7972" y="212426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7972" y="233232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7972" y="2540393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7972" y="274847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7972" y="295653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8" name="object 18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21" name="object 21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50" dirty="0"/>
              <a:t>26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11442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Seminar</a:t>
            </a:r>
            <a:r>
              <a:rPr spc="40" dirty="0"/>
              <a:t> </a:t>
            </a:r>
            <a:r>
              <a:rPr spc="25" dirty="0"/>
              <a:t>topics</a:t>
            </a:r>
          </a:p>
        </p:txBody>
      </p:sp>
      <p:sp>
        <p:nvSpPr>
          <p:cNvPr id="3" name="object 3"/>
          <p:cNvSpPr/>
          <p:nvPr/>
        </p:nvSpPr>
        <p:spPr>
          <a:xfrm>
            <a:off x="299567" y="438289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567" y="645794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9567" y="853300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567" y="1060805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9567" y="1268310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9567" y="1475803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9567" y="1683308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9567" y="1890814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9567" y="2098319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9567" y="2305824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9567" y="2513329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9567" y="2720835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9567" y="2928340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98031" y="0"/>
                </a:moveTo>
                <a:lnTo>
                  <a:pt x="0" y="0"/>
                </a:lnTo>
                <a:lnTo>
                  <a:pt x="0" y="98031"/>
                </a:lnTo>
                <a:lnTo>
                  <a:pt x="98031" y="98031"/>
                </a:lnTo>
                <a:lnTo>
                  <a:pt x="9803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86867" y="326413"/>
            <a:ext cx="5013960" cy="272351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79705" indent="-146050">
              <a:lnSpc>
                <a:spcPct val="100000"/>
              </a:lnSpc>
              <a:spcBef>
                <a:spcPts val="415"/>
              </a:spcBef>
              <a:buClr>
                <a:srgbClr val="FFFFFF"/>
              </a:buClr>
              <a:buSzPct val="72727"/>
              <a:buAutoNum type="arabicPlain"/>
              <a:tabLst>
                <a:tab pos="180340" algn="l"/>
              </a:tabLst>
            </a:pPr>
            <a:r>
              <a:rPr sz="1100" spc="-30" dirty="0">
                <a:latin typeface="Georgia"/>
                <a:cs typeface="Georgia"/>
              </a:rPr>
              <a:t>Dimensionality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reduction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(Book3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15" dirty="0">
                <a:latin typeface="Georgia"/>
                <a:cs typeface="Georgia"/>
              </a:rPr>
              <a:t>Chap.11,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Book2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Chap.2–2.4.3,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Book4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Chap.7)</a:t>
            </a:r>
            <a:endParaRPr sz="1100">
              <a:latin typeface="Georgia"/>
              <a:cs typeface="Georgia"/>
            </a:endParaRPr>
          </a:p>
          <a:p>
            <a:pPr marL="179705" indent="-146050">
              <a:lnSpc>
                <a:spcPct val="100000"/>
              </a:lnSpc>
              <a:spcBef>
                <a:spcPts val="315"/>
              </a:spcBef>
              <a:buClr>
                <a:srgbClr val="FFFFFF"/>
              </a:buClr>
              <a:buSzPct val="72727"/>
              <a:buAutoNum type="arabicPlain"/>
              <a:tabLst>
                <a:tab pos="180340" algn="l"/>
              </a:tabLst>
            </a:pPr>
            <a:r>
              <a:rPr sz="1100" spc="-25" dirty="0">
                <a:latin typeface="Georgia"/>
                <a:cs typeface="Georgia"/>
              </a:rPr>
              <a:t>Advanced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classification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(Book1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Chap.9,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Book2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15" dirty="0">
                <a:latin typeface="Georgia"/>
                <a:cs typeface="Georgia"/>
              </a:rPr>
              <a:t>Chap.11)</a:t>
            </a:r>
            <a:endParaRPr sz="1100">
              <a:latin typeface="Georgia"/>
              <a:cs typeface="Georgia"/>
            </a:endParaRPr>
          </a:p>
          <a:p>
            <a:pPr marL="179705" indent="-146050">
              <a:lnSpc>
                <a:spcPct val="100000"/>
              </a:lnSpc>
              <a:spcBef>
                <a:spcPts val="310"/>
              </a:spcBef>
              <a:buClr>
                <a:srgbClr val="FFFFFF"/>
              </a:buClr>
              <a:buSzPct val="72727"/>
              <a:buAutoNum type="arabicPlain"/>
              <a:tabLst>
                <a:tab pos="180340" algn="l"/>
              </a:tabLst>
            </a:pPr>
            <a:r>
              <a:rPr sz="1100" spc="-15" dirty="0">
                <a:latin typeface="Georgia"/>
                <a:cs typeface="Georgia"/>
              </a:rPr>
              <a:t>Outlier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detection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(Book1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Chap.12,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Book2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Chap.8.9)</a:t>
            </a:r>
            <a:endParaRPr sz="1100">
              <a:latin typeface="Georgia"/>
              <a:cs typeface="Georgia"/>
            </a:endParaRPr>
          </a:p>
          <a:p>
            <a:pPr marL="179705" indent="-146050">
              <a:lnSpc>
                <a:spcPct val="100000"/>
              </a:lnSpc>
              <a:spcBef>
                <a:spcPts val="315"/>
              </a:spcBef>
              <a:buClr>
                <a:srgbClr val="FFFFFF"/>
              </a:buClr>
              <a:buSzPct val="72727"/>
              <a:buAutoNum type="arabicPlain"/>
              <a:tabLst>
                <a:tab pos="180340" algn="l"/>
              </a:tabLst>
            </a:pPr>
            <a:r>
              <a:rPr sz="1100" spc="-25" dirty="0">
                <a:latin typeface="Georgia"/>
                <a:cs typeface="Georgia"/>
              </a:rPr>
              <a:t>Finding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similar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items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(Book3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Chap.3)</a:t>
            </a:r>
            <a:endParaRPr sz="1100">
              <a:latin typeface="Georgia"/>
              <a:cs typeface="Georgia"/>
            </a:endParaRPr>
          </a:p>
          <a:p>
            <a:pPr marL="179705" indent="-146050">
              <a:lnSpc>
                <a:spcPct val="100000"/>
              </a:lnSpc>
              <a:spcBef>
                <a:spcPts val="315"/>
              </a:spcBef>
              <a:buClr>
                <a:srgbClr val="FFFFFF"/>
              </a:buClr>
              <a:buSzPct val="72727"/>
              <a:buAutoNum type="arabicPlain"/>
              <a:tabLst>
                <a:tab pos="180340" algn="l"/>
              </a:tabLst>
            </a:pPr>
            <a:r>
              <a:rPr sz="1100" spc="-35" dirty="0">
                <a:latin typeface="Georgia"/>
                <a:cs typeface="Georgia"/>
              </a:rPr>
              <a:t>Mining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text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(Book2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Chap.13)</a:t>
            </a:r>
            <a:endParaRPr sz="1100">
              <a:latin typeface="Georgia"/>
              <a:cs typeface="Georgia"/>
            </a:endParaRPr>
          </a:p>
          <a:p>
            <a:pPr marL="179705" indent="-146050">
              <a:lnSpc>
                <a:spcPct val="100000"/>
              </a:lnSpc>
              <a:spcBef>
                <a:spcPts val="315"/>
              </a:spcBef>
              <a:buClr>
                <a:srgbClr val="FFFFFF"/>
              </a:buClr>
              <a:buSzPct val="72727"/>
              <a:buAutoNum type="arabicPlain"/>
              <a:tabLst>
                <a:tab pos="180340" algn="l"/>
              </a:tabLst>
            </a:pPr>
            <a:r>
              <a:rPr sz="1100" spc="-35" dirty="0">
                <a:latin typeface="Georgia"/>
                <a:cs typeface="Georgia"/>
              </a:rPr>
              <a:t>Mining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web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(Book2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Chap.18,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Book3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Chap.5)</a:t>
            </a:r>
            <a:endParaRPr sz="1100">
              <a:latin typeface="Georgia"/>
              <a:cs typeface="Georgia"/>
            </a:endParaRPr>
          </a:p>
          <a:p>
            <a:pPr marL="179705" indent="-146050">
              <a:lnSpc>
                <a:spcPct val="100000"/>
              </a:lnSpc>
              <a:spcBef>
                <a:spcPts val="310"/>
              </a:spcBef>
              <a:buClr>
                <a:srgbClr val="FFFFFF"/>
              </a:buClr>
              <a:buSzPct val="72727"/>
              <a:buAutoNum type="arabicPlain"/>
              <a:tabLst>
                <a:tab pos="180340" algn="l"/>
              </a:tabLst>
            </a:pPr>
            <a:r>
              <a:rPr sz="1100" spc="-35" dirty="0">
                <a:latin typeface="Georgia"/>
                <a:cs typeface="Georgia"/>
              </a:rPr>
              <a:t>Mining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time-series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data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(Book2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Chap.14)</a:t>
            </a:r>
            <a:endParaRPr sz="1100">
              <a:latin typeface="Georgia"/>
              <a:cs typeface="Georgia"/>
            </a:endParaRPr>
          </a:p>
          <a:p>
            <a:pPr marL="179705" indent="-146050">
              <a:lnSpc>
                <a:spcPct val="100000"/>
              </a:lnSpc>
              <a:spcBef>
                <a:spcPts val="315"/>
              </a:spcBef>
              <a:buClr>
                <a:srgbClr val="FFFFFF"/>
              </a:buClr>
              <a:buSzPct val="72727"/>
              <a:buAutoNum type="arabicPlain"/>
              <a:tabLst>
                <a:tab pos="180340" algn="l"/>
              </a:tabLst>
            </a:pPr>
            <a:r>
              <a:rPr sz="1100" spc="-35" dirty="0">
                <a:latin typeface="Georgia"/>
                <a:cs typeface="Georgia"/>
              </a:rPr>
              <a:t>Mining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streams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(Book2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Chap.12,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Book3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Chap.4)</a:t>
            </a:r>
            <a:endParaRPr sz="1100">
              <a:latin typeface="Georgia"/>
              <a:cs typeface="Georgia"/>
            </a:endParaRPr>
          </a:p>
          <a:p>
            <a:pPr marL="179705" indent="-146050">
              <a:lnSpc>
                <a:spcPct val="100000"/>
              </a:lnSpc>
              <a:spcBef>
                <a:spcPts val="315"/>
              </a:spcBef>
              <a:buClr>
                <a:srgbClr val="FFFFFF"/>
              </a:buClr>
              <a:buSzPct val="72727"/>
              <a:buAutoNum type="arabicPlain"/>
              <a:tabLst>
                <a:tab pos="180340" algn="l"/>
              </a:tabLst>
            </a:pPr>
            <a:r>
              <a:rPr sz="1100" spc="-35" dirty="0">
                <a:latin typeface="Georgia"/>
                <a:cs typeface="Georgia"/>
              </a:rPr>
              <a:t>Mining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discrete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sequences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(Book2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Chap.15)</a:t>
            </a:r>
            <a:endParaRPr sz="11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spcBef>
                <a:spcPts val="315"/>
              </a:spcBef>
              <a:buClr>
                <a:srgbClr val="FFFFFF"/>
              </a:buClr>
              <a:buSzPct val="72727"/>
              <a:buAutoNum type="arabicPlain"/>
              <a:tabLst>
                <a:tab pos="180340" algn="l"/>
              </a:tabLst>
            </a:pPr>
            <a:r>
              <a:rPr sz="1100" spc="-35" dirty="0">
                <a:latin typeface="Georgia"/>
                <a:cs typeface="Georgia"/>
              </a:rPr>
              <a:t>Mining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spatial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(Book2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Chap.16)</a:t>
            </a:r>
            <a:endParaRPr sz="11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spcBef>
                <a:spcPts val="315"/>
              </a:spcBef>
              <a:buClr>
                <a:srgbClr val="FFFFFF"/>
              </a:buClr>
              <a:buSzPct val="72727"/>
              <a:buAutoNum type="arabicPlain"/>
              <a:tabLst>
                <a:tab pos="180340" algn="l"/>
              </a:tabLst>
            </a:pPr>
            <a:r>
              <a:rPr sz="1100" spc="-35" dirty="0">
                <a:latin typeface="Georgia"/>
                <a:cs typeface="Georgia"/>
              </a:rPr>
              <a:t>Mining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graph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(Book2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Chap.17)</a:t>
            </a:r>
            <a:endParaRPr sz="11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spcBef>
                <a:spcPts val="310"/>
              </a:spcBef>
              <a:buClr>
                <a:srgbClr val="FFFFFF"/>
              </a:buClr>
              <a:buSzPct val="72727"/>
              <a:buAutoNum type="arabicPlain"/>
              <a:tabLst>
                <a:tab pos="180340" algn="l"/>
              </a:tabLst>
            </a:pPr>
            <a:r>
              <a:rPr sz="1100" spc="-20" dirty="0">
                <a:latin typeface="Georgia"/>
                <a:cs typeface="Georgia"/>
              </a:rPr>
              <a:t>Social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network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analysis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(Book2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Chap.19,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Book3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Chap.10)</a:t>
            </a:r>
            <a:endParaRPr sz="11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spcBef>
                <a:spcPts val="315"/>
              </a:spcBef>
              <a:buClr>
                <a:srgbClr val="FFFFFF"/>
              </a:buClr>
              <a:buSzPct val="72727"/>
              <a:buAutoNum type="arabicPlain"/>
              <a:tabLst>
                <a:tab pos="180340" algn="l"/>
              </a:tabLst>
            </a:pPr>
            <a:r>
              <a:rPr sz="1100" spc="-20" dirty="0">
                <a:latin typeface="Georgia"/>
                <a:cs typeface="Georgia"/>
              </a:rPr>
              <a:t>Privacy-preserving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mining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(Book2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Chap.20)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8" name="object 18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21" name="object 21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25" dirty="0"/>
              <a:t>27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11969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Seminar</a:t>
            </a:r>
            <a:r>
              <a:rPr spc="45" dirty="0"/>
              <a:t> </a:t>
            </a:r>
            <a:r>
              <a:rPr spc="40" dirty="0"/>
              <a:t>papers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7088" y="1244255"/>
            <a:ext cx="5116195" cy="48450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algn="just">
              <a:lnSpc>
                <a:spcPts val="1150"/>
              </a:lnSpc>
              <a:spcBef>
                <a:spcPts val="270"/>
              </a:spcBef>
            </a:pPr>
            <a:r>
              <a:rPr sz="1100" spc="-5" dirty="0">
                <a:latin typeface="Georgia"/>
                <a:cs typeface="Georgia"/>
              </a:rPr>
              <a:t>Will </a:t>
            </a:r>
            <a:r>
              <a:rPr sz="1100" spc="-20" dirty="0">
                <a:latin typeface="Georgia"/>
                <a:cs typeface="Georgia"/>
              </a:rPr>
              <a:t>be updated every year.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Papers will be </a:t>
            </a:r>
            <a:r>
              <a:rPr sz="1100" spc="-30" dirty="0">
                <a:latin typeface="Georgia"/>
                <a:cs typeface="Georgia"/>
              </a:rPr>
              <a:t>selected </a:t>
            </a:r>
            <a:r>
              <a:rPr sz="1100" spc="-50" dirty="0">
                <a:latin typeface="Georgia"/>
                <a:cs typeface="Georgia"/>
              </a:rPr>
              <a:t>from </a:t>
            </a:r>
            <a:r>
              <a:rPr sz="1100" spc="-20" dirty="0">
                <a:latin typeface="Georgia"/>
                <a:cs typeface="Georgia"/>
              </a:rPr>
              <a:t>major </a:t>
            </a:r>
            <a:r>
              <a:rPr sz="1100" spc="-5" dirty="0">
                <a:latin typeface="Georgia"/>
                <a:cs typeface="Georgia"/>
              </a:rPr>
              <a:t>data </a:t>
            </a:r>
            <a:r>
              <a:rPr sz="1100" spc="-40" dirty="0">
                <a:latin typeface="Georgia"/>
                <a:cs typeface="Georgia"/>
              </a:rPr>
              <a:t>mining </a:t>
            </a:r>
            <a:r>
              <a:rPr sz="1100" spc="-25" dirty="0">
                <a:latin typeface="Georgia"/>
                <a:cs typeface="Georgia"/>
              </a:rPr>
              <a:t>related 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conferences </a:t>
            </a:r>
            <a:r>
              <a:rPr sz="1100" spc="-35" dirty="0">
                <a:latin typeface="Georgia"/>
                <a:cs typeface="Georgia"/>
              </a:rPr>
              <a:t>like </a:t>
            </a:r>
            <a:r>
              <a:rPr sz="1100" spc="10" dirty="0">
                <a:latin typeface="Georgia"/>
                <a:cs typeface="Georgia"/>
              </a:rPr>
              <a:t>SIGKDD, </a:t>
            </a:r>
            <a:r>
              <a:rPr sz="1100" spc="-5" dirty="0">
                <a:latin typeface="Georgia"/>
                <a:cs typeface="Georgia"/>
              </a:rPr>
              <a:t>WSDM, SIGIR, </a:t>
            </a:r>
            <a:r>
              <a:rPr sz="1100" spc="30" dirty="0">
                <a:latin typeface="Georgia"/>
                <a:cs typeface="Georgia"/>
              </a:rPr>
              <a:t>WWW, </a:t>
            </a:r>
            <a:r>
              <a:rPr sz="1100" dirty="0">
                <a:latin typeface="Georgia"/>
                <a:cs typeface="Georgia"/>
              </a:rPr>
              <a:t>SIGMOD, </a:t>
            </a:r>
            <a:r>
              <a:rPr sz="1100" spc="30" dirty="0">
                <a:latin typeface="Georgia"/>
                <a:cs typeface="Georgia"/>
              </a:rPr>
              <a:t>VLDB, </a:t>
            </a:r>
            <a:r>
              <a:rPr sz="1100" spc="5" dirty="0">
                <a:latin typeface="Georgia"/>
                <a:cs typeface="Georgia"/>
              </a:rPr>
              <a:t>ICDE, </a:t>
            </a:r>
            <a:r>
              <a:rPr sz="1100" dirty="0">
                <a:latin typeface="Georgia"/>
                <a:cs typeface="Georgia"/>
              </a:rPr>
              <a:t>ICML, 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35" dirty="0">
                <a:latin typeface="Georgia"/>
                <a:cs typeface="Georgia"/>
              </a:rPr>
              <a:t>AAAI,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IJCAI,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30" dirty="0">
                <a:latin typeface="Georgia"/>
                <a:cs typeface="Georgia"/>
              </a:rPr>
              <a:t>ACL,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EMNLP,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-5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5" name="object 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8" name="object 8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25" dirty="0"/>
              <a:t>28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34950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Seminar</a:t>
            </a:r>
            <a:r>
              <a:rPr spc="95" dirty="0"/>
              <a:t> </a:t>
            </a:r>
            <a:r>
              <a:rPr spc="40" dirty="0"/>
              <a:t>papers</a:t>
            </a:r>
            <a:r>
              <a:rPr spc="95" dirty="0"/>
              <a:t> </a:t>
            </a:r>
            <a:r>
              <a:rPr spc="15" dirty="0"/>
              <a:t>(for</a:t>
            </a:r>
            <a:r>
              <a:rPr spc="95" dirty="0"/>
              <a:t> </a:t>
            </a:r>
            <a:r>
              <a:rPr spc="60" dirty="0"/>
              <a:t>term</a:t>
            </a:r>
            <a:r>
              <a:rPr spc="95" dirty="0"/>
              <a:t> </a:t>
            </a:r>
            <a:r>
              <a:rPr spc="-20" dirty="0"/>
              <a:t>1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100" dirty="0"/>
              <a:t> </a:t>
            </a:r>
            <a:r>
              <a:rPr dirty="0"/>
              <a:t>2,</a:t>
            </a:r>
            <a:r>
              <a:rPr spc="95" dirty="0"/>
              <a:t> </a:t>
            </a:r>
            <a:r>
              <a:rPr spc="-15" dirty="0"/>
              <a:t>2023-2024)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120528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72" y="144349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7972" y="168172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91993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215816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7088" y="738452"/>
            <a:ext cx="5308600" cy="1748789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150"/>
              </a:lnSpc>
              <a:spcBef>
                <a:spcPts val="270"/>
              </a:spcBef>
            </a:pPr>
            <a:r>
              <a:rPr sz="1100" spc="-35" dirty="0">
                <a:latin typeface="Georgia"/>
                <a:cs typeface="Georgia"/>
              </a:rPr>
              <a:t>If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students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do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not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pick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any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seminar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topic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(book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chapters)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from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slide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Calibri"/>
                <a:cs typeface="Calibri"/>
              </a:rPr>
              <a:t>26</a:t>
            </a:r>
            <a:r>
              <a:rPr sz="1100" spc="-10" dirty="0">
                <a:latin typeface="Georgia"/>
                <a:cs typeface="Georgia"/>
              </a:rPr>
              <a:t>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can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select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any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paper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from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following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conferences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for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group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seminar:</a:t>
            </a:r>
            <a:endParaRPr sz="1100">
              <a:latin typeface="Georgia"/>
              <a:cs typeface="Georgia"/>
            </a:endParaRPr>
          </a:p>
          <a:p>
            <a:pPr marL="289560" marR="1127760">
              <a:lnSpc>
                <a:spcPts val="1880"/>
              </a:lnSpc>
              <a:spcBef>
                <a:spcPts val="70"/>
              </a:spcBef>
            </a:pPr>
            <a:r>
              <a:rPr sz="1100" spc="-15" dirty="0">
                <a:latin typeface="Georgia"/>
                <a:cs typeface="Georgia"/>
              </a:rPr>
              <a:t>Accepted </a:t>
            </a:r>
            <a:r>
              <a:rPr sz="1100" spc="-30" dirty="0">
                <a:latin typeface="Georgia"/>
                <a:cs typeface="Georgia"/>
              </a:rPr>
              <a:t>papers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from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KDD-2021, </a:t>
            </a:r>
            <a:r>
              <a:rPr sz="1100" spc="-40" dirty="0">
                <a:latin typeface="Georgia"/>
                <a:cs typeface="Georgia"/>
              </a:rPr>
              <a:t>KDD-2022,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KDD-2023. 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Accepted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papers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from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WSDM-2021,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WSDM-2022,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WSDM-2023.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Accepted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papers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from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SIGIR-2021,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SIGIR-2022,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SIGIR-2023.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390"/>
              </a:spcBef>
            </a:pPr>
            <a:r>
              <a:rPr sz="1100" spc="-15" dirty="0">
                <a:latin typeface="Georgia"/>
                <a:cs typeface="Georgia"/>
              </a:rPr>
              <a:t>Accepted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papers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from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WWW-2021,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WWW-2022,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WWW-2023.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555"/>
              </a:spcBef>
            </a:pPr>
            <a:r>
              <a:rPr sz="1100" spc="5" dirty="0">
                <a:latin typeface="Georgia"/>
                <a:cs typeface="Georgia"/>
              </a:rPr>
              <a:t>Any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mining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related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papers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from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SIGMOD,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30" dirty="0">
                <a:latin typeface="Georgia"/>
                <a:cs typeface="Georgia"/>
              </a:rPr>
              <a:t>VLDB,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ICDE,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35" dirty="0">
                <a:latin typeface="Georgia"/>
                <a:cs typeface="Georgia"/>
              </a:rPr>
              <a:t>AAAI,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IJCAI,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etc.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100" spc="5" dirty="0">
                <a:latin typeface="Georgia"/>
                <a:cs typeface="Georgia"/>
              </a:rPr>
              <a:t>The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selected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papers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must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be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approved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by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lecturer.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0" name="object 10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3" name="object 13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25" dirty="0"/>
              <a:t>29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593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171615" y="646887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4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1615" y="1016812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615" y="1386751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1615" y="1751533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615" y="2116315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615" y="2481097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8556" y="596403"/>
            <a:ext cx="2301875" cy="202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9705" indent="-167640"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Data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analysis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4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mining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concepts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Georgia"/>
              <a:buAutoNum type="arabicPlain"/>
            </a:pPr>
            <a:endParaRPr sz="14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Course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45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requirement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and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evaluation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Georgia"/>
              <a:buAutoNum type="arabicPlain"/>
            </a:pPr>
            <a:endParaRPr sz="14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Course</a:t>
            </a:r>
            <a:r>
              <a:rPr sz="1100" spc="80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contents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40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schedule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latin typeface="Georgia"/>
                <a:cs typeface="Georgia"/>
                <a:hlinkClick r:id="rId5" action="ppaction://hlinksldjump"/>
              </a:rPr>
              <a:t>Course</a:t>
            </a:r>
            <a:r>
              <a:rPr sz="1100" spc="60" dirty="0"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1100" spc="-45" dirty="0">
                <a:latin typeface="Georgia"/>
                <a:cs typeface="Georgia"/>
                <a:hlinkClick r:id="rId5" action="ppaction://hlinksldjump"/>
              </a:rPr>
              <a:t>resources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40" dirty="0">
                <a:solidFill>
                  <a:srgbClr val="CCCCCC"/>
                </a:solidFill>
                <a:latin typeface="Georgia"/>
                <a:cs typeface="Georgia"/>
                <a:hlinkClick r:id="rId6" action="ppaction://hlinksldjump"/>
              </a:rPr>
              <a:t>References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Summary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1" name="object 11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4" name="object 14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25" dirty="0"/>
              <a:t>30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19450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5" dirty="0"/>
              <a:t>Textbooks</a:t>
            </a:r>
            <a:r>
              <a:rPr spc="75" dirty="0"/>
              <a:t> </a:t>
            </a:r>
            <a:r>
              <a:rPr spc="55" dirty="0"/>
              <a:t>and</a:t>
            </a:r>
            <a:r>
              <a:rPr spc="80" dirty="0"/>
              <a:t> </a:t>
            </a:r>
            <a:r>
              <a:rPr spc="5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75868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95422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111928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360423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55596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172102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188608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7972" y="212722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0229" y="232276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0229" y="248782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4177" y="627520"/>
            <a:ext cx="5051425" cy="19532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100" b="1" spc="-30" dirty="0">
                <a:latin typeface="Georgia"/>
                <a:cs typeface="Georgia"/>
              </a:rPr>
              <a:t>Textbooks</a:t>
            </a:r>
            <a:r>
              <a:rPr sz="1100" spc="-3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280"/>
              </a:spcBef>
            </a:pPr>
            <a:r>
              <a:rPr sz="1000" i="1" spc="20" dirty="0">
                <a:latin typeface="Palatino Linotype"/>
                <a:cs typeface="Palatino Linotype"/>
              </a:rPr>
              <a:t>Data</a:t>
            </a:r>
            <a:r>
              <a:rPr sz="1000" i="1" spc="10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Mining:</a:t>
            </a:r>
            <a:r>
              <a:rPr sz="1000" i="1" spc="200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Concepts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and</a:t>
            </a:r>
            <a:r>
              <a:rPr sz="1000" i="1" spc="100" dirty="0">
                <a:latin typeface="Palatino Linotype"/>
                <a:cs typeface="Palatino Linotype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Techniques</a:t>
            </a:r>
            <a:r>
              <a:rPr sz="1000" i="1" spc="155" dirty="0">
                <a:latin typeface="Palatino Linotype"/>
                <a:cs typeface="Palatino Linotype"/>
              </a:rPr>
              <a:t> </a:t>
            </a:r>
            <a:r>
              <a:rPr sz="1000" spc="-25" dirty="0">
                <a:latin typeface="Georgia"/>
                <a:cs typeface="Georgia"/>
              </a:rPr>
              <a:t>[</a:t>
            </a:r>
            <a:r>
              <a:rPr sz="1000" spc="-25" dirty="0">
                <a:solidFill>
                  <a:srgbClr val="FF0000"/>
                </a:solidFill>
                <a:latin typeface="Georgia"/>
                <a:cs typeface="Georgia"/>
              </a:rPr>
              <a:t>Book1</a:t>
            </a:r>
            <a:r>
              <a:rPr sz="1000" spc="-25" dirty="0">
                <a:latin typeface="Georgia"/>
                <a:cs typeface="Georgia"/>
              </a:rPr>
              <a:t>]</a:t>
            </a:r>
            <a:endParaRPr sz="10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100"/>
              </a:spcBef>
            </a:pPr>
            <a:r>
              <a:rPr sz="1000" i="1" spc="20" dirty="0">
                <a:latin typeface="Palatino Linotype"/>
                <a:cs typeface="Palatino Linotype"/>
              </a:rPr>
              <a:t>Data</a:t>
            </a:r>
            <a:r>
              <a:rPr sz="1000" i="1" spc="100" dirty="0">
                <a:latin typeface="Palatino Linotype"/>
                <a:cs typeface="Palatino Linotype"/>
              </a:rPr>
              <a:t> </a:t>
            </a:r>
            <a:r>
              <a:rPr sz="1000" i="1" dirty="0">
                <a:latin typeface="Palatino Linotype"/>
                <a:cs typeface="Palatino Linotype"/>
              </a:rPr>
              <a:t>Mining:</a:t>
            </a:r>
            <a:r>
              <a:rPr sz="1000" i="1" spc="204" dirty="0">
                <a:latin typeface="Palatino Linotype"/>
                <a:cs typeface="Palatino Linotype"/>
              </a:rPr>
              <a:t> </a:t>
            </a:r>
            <a:r>
              <a:rPr sz="1000" i="1" spc="55" dirty="0">
                <a:latin typeface="Palatino Linotype"/>
                <a:cs typeface="Palatino Linotype"/>
              </a:rPr>
              <a:t>The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5" dirty="0">
                <a:latin typeface="Palatino Linotype"/>
                <a:cs typeface="Palatino Linotype"/>
              </a:rPr>
              <a:t>Textbook</a:t>
            </a:r>
            <a:r>
              <a:rPr sz="1000" i="1" spc="185" dirty="0">
                <a:latin typeface="Palatino Linotype"/>
                <a:cs typeface="Palatino Linotype"/>
              </a:rPr>
              <a:t> </a:t>
            </a:r>
            <a:r>
              <a:rPr sz="1000" spc="-45" dirty="0">
                <a:latin typeface="Georgia"/>
                <a:cs typeface="Georgia"/>
              </a:rPr>
              <a:t>[</a:t>
            </a:r>
            <a:r>
              <a:rPr sz="1000" spc="-45" dirty="0">
                <a:solidFill>
                  <a:srgbClr val="FF0000"/>
                </a:solidFill>
                <a:latin typeface="Georgia"/>
                <a:cs typeface="Georgia"/>
              </a:rPr>
              <a:t>Book2</a:t>
            </a:r>
            <a:r>
              <a:rPr sz="1000" spc="-45" dirty="0">
                <a:latin typeface="Georgia"/>
                <a:cs typeface="Georgia"/>
              </a:rPr>
              <a:t>]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00" b="1" spc="-50" dirty="0">
                <a:latin typeface="Georgia"/>
                <a:cs typeface="Georgia"/>
              </a:rPr>
              <a:t>Further</a:t>
            </a:r>
            <a:r>
              <a:rPr sz="1100" b="1" spc="100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reading</a:t>
            </a:r>
            <a:r>
              <a:rPr sz="1100" spc="-5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280"/>
              </a:spcBef>
            </a:pPr>
            <a:r>
              <a:rPr sz="1000" i="1" spc="-5" dirty="0">
                <a:latin typeface="Palatino Linotype"/>
                <a:cs typeface="Palatino Linotype"/>
              </a:rPr>
              <a:t>Mining</a:t>
            </a:r>
            <a:r>
              <a:rPr sz="1000" i="1" spc="90" dirty="0">
                <a:latin typeface="Palatino Linotype"/>
                <a:cs typeface="Palatino Linotype"/>
              </a:rPr>
              <a:t> </a:t>
            </a:r>
            <a:r>
              <a:rPr sz="1000" i="1" spc="45" dirty="0">
                <a:latin typeface="Palatino Linotype"/>
                <a:cs typeface="Palatino Linotype"/>
              </a:rPr>
              <a:t>of</a:t>
            </a:r>
            <a:r>
              <a:rPr sz="1000" i="1" spc="95" dirty="0">
                <a:latin typeface="Palatino Linotype"/>
                <a:cs typeface="Palatino Linotype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Massive</a:t>
            </a:r>
            <a:r>
              <a:rPr sz="1000" i="1" spc="95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Datasets</a:t>
            </a:r>
            <a:r>
              <a:rPr sz="1000" i="1" spc="145" dirty="0">
                <a:latin typeface="Palatino Linotype"/>
                <a:cs typeface="Palatino Linotype"/>
              </a:rPr>
              <a:t> </a:t>
            </a:r>
            <a:r>
              <a:rPr sz="1000" spc="-45" dirty="0">
                <a:latin typeface="Georgia"/>
                <a:cs typeface="Georgia"/>
              </a:rPr>
              <a:t>[</a:t>
            </a:r>
            <a:r>
              <a:rPr sz="1000" spc="-45" dirty="0">
                <a:solidFill>
                  <a:srgbClr val="FF0000"/>
                </a:solidFill>
                <a:latin typeface="Georgia"/>
                <a:cs typeface="Georgia"/>
              </a:rPr>
              <a:t>Book3</a:t>
            </a:r>
            <a:r>
              <a:rPr sz="1000" spc="-45" dirty="0">
                <a:latin typeface="Georgia"/>
                <a:cs typeface="Georgia"/>
              </a:rPr>
              <a:t>]</a:t>
            </a:r>
            <a:endParaRPr sz="10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100"/>
              </a:spcBef>
            </a:pPr>
            <a:r>
              <a:rPr sz="1000" i="1" spc="20" dirty="0">
                <a:latin typeface="Palatino Linotype"/>
                <a:cs typeface="Palatino Linotype"/>
              </a:rPr>
              <a:t>Data</a:t>
            </a:r>
            <a:r>
              <a:rPr sz="1000" i="1" spc="100" dirty="0">
                <a:latin typeface="Palatino Linotype"/>
                <a:cs typeface="Palatino Linotype"/>
              </a:rPr>
              <a:t> </a:t>
            </a:r>
            <a:r>
              <a:rPr sz="1000" i="1" spc="-5" dirty="0">
                <a:latin typeface="Palatino Linotype"/>
                <a:cs typeface="Palatino Linotype"/>
              </a:rPr>
              <a:t>Mining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and</a:t>
            </a:r>
            <a:r>
              <a:rPr sz="1000" i="1" spc="100" dirty="0">
                <a:latin typeface="Palatino Linotype"/>
                <a:cs typeface="Palatino Linotype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Analysis:</a:t>
            </a:r>
            <a:r>
              <a:rPr sz="1000" i="1" spc="204" dirty="0">
                <a:latin typeface="Palatino Linotype"/>
                <a:cs typeface="Palatino Linotype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Fundamental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Concepts</a:t>
            </a:r>
            <a:r>
              <a:rPr sz="1000" i="1" spc="100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and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Algorithms</a:t>
            </a:r>
            <a:r>
              <a:rPr sz="1000" i="1" spc="155" dirty="0">
                <a:latin typeface="Palatino Linotype"/>
                <a:cs typeface="Palatino Linotype"/>
              </a:rPr>
              <a:t> </a:t>
            </a:r>
            <a:r>
              <a:rPr sz="1000" spc="-45" dirty="0">
                <a:latin typeface="Georgia"/>
                <a:cs typeface="Georgia"/>
              </a:rPr>
              <a:t>[</a:t>
            </a:r>
            <a:r>
              <a:rPr sz="1000" spc="-45" dirty="0">
                <a:solidFill>
                  <a:srgbClr val="FF0000"/>
                </a:solidFill>
                <a:latin typeface="Georgia"/>
                <a:cs typeface="Georgia"/>
              </a:rPr>
              <a:t>Book4</a:t>
            </a:r>
            <a:r>
              <a:rPr sz="1000" spc="-45" dirty="0">
                <a:latin typeface="Georgia"/>
                <a:cs typeface="Georgia"/>
              </a:rPr>
              <a:t>]</a:t>
            </a:r>
            <a:endParaRPr sz="10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95"/>
              </a:spcBef>
            </a:pPr>
            <a:r>
              <a:rPr sz="1000" i="1" spc="15" dirty="0">
                <a:latin typeface="Palatino Linotype"/>
                <a:cs typeface="Palatino Linotype"/>
              </a:rPr>
              <a:t>Networks,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Crowds,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and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Markets:</a:t>
            </a:r>
            <a:r>
              <a:rPr sz="1000" i="1" spc="210" dirty="0">
                <a:latin typeface="Palatino Linotype"/>
                <a:cs typeface="Palatino Linotype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Reasoning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-10" dirty="0">
                <a:latin typeface="Palatino Linotype"/>
                <a:cs typeface="Palatino Linotype"/>
              </a:rPr>
              <a:t>About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65" dirty="0">
                <a:latin typeface="Palatino Linotype"/>
                <a:cs typeface="Palatino Linotype"/>
              </a:rPr>
              <a:t>a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-15" dirty="0">
                <a:latin typeface="Palatino Linotype"/>
                <a:cs typeface="Palatino Linotype"/>
              </a:rPr>
              <a:t>Highly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Connected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World</a:t>
            </a:r>
            <a:r>
              <a:rPr sz="1000" i="1" spc="175" dirty="0">
                <a:latin typeface="Palatino Linotype"/>
                <a:cs typeface="Palatino Linotype"/>
              </a:rPr>
              <a:t> </a:t>
            </a:r>
            <a:r>
              <a:rPr sz="1000" spc="-40" dirty="0">
                <a:latin typeface="Georgia"/>
                <a:cs typeface="Georgia"/>
              </a:rPr>
              <a:t>[</a:t>
            </a:r>
            <a:r>
              <a:rPr sz="1000" spc="-40" dirty="0">
                <a:solidFill>
                  <a:srgbClr val="FF0000"/>
                </a:solidFill>
                <a:latin typeface="Georgia"/>
                <a:cs typeface="Georgia"/>
              </a:rPr>
              <a:t>Book5</a:t>
            </a:r>
            <a:r>
              <a:rPr sz="1000" spc="-40" dirty="0">
                <a:latin typeface="Georgia"/>
                <a:cs typeface="Georgia"/>
              </a:rPr>
              <a:t>]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00" b="1" spc="-40" dirty="0">
                <a:latin typeface="Georgia"/>
                <a:cs typeface="Georgia"/>
              </a:rPr>
              <a:t>Books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65" dirty="0">
                <a:latin typeface="Georgia"/>
                <a:cs typeface="Georgia"/>
              </a:rPr>
              <a:t>for</a:t>
            </a:r>
            <a:r>
              <a:rPr sz="1100" b="1" spc="120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practice</a:t>
            </a:r>
            <a:r>
              <a:rPr sz="1100" spc="-40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280"/>
              </a:spcBef>
            </a:pPr>
            <a:r>
              <a:rPr sz="1000" i="1" spc="20" dirty="0">
                <a:latin typeface="Palatino Linotype"/>
                <a:cs typeface="Palatino Linotype"/>
              </a:rPr>
              <a:t>Python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Data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30" dirty="0">
                <a:latin typeface="Palatino Linotype"/>
                <a:cs typeface="Palatino Linotype"/>
              </a:rPr>
              <a:t>Science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Handbook:</a:t>
            </a:r>
            <a:r>
              <a:rPr sz="1000" i="1" spc="210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Essential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Tools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35" dirty="0">
                <a:latin typeface="Palatino Linotype"/>
                <a:cs typeface="Palatino Linotype"/>
              </a:rPr>
              <a:t>for</a:t>
            </a:r>
            <a:r>
              <a:rPr sz="1000" i="1" spc="114" dirty="0">
                <a:latin typeface="Palatino Linotype"/>
                <a:cs typeface="Palatino Linotype"/>
              </a:rPr>
              <a:t> </a:t>
            </a:r>
            <a:r>
              <a:rPr sz="1000" i="1" spc="10" dirty="0">
                <a:latin typeface="Palatino Linotype"/>
                <a:cs typeface="Palatino Linotype"/>
              </a:rPr>
              <a:t>Working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-10" dirty="0">
                <a:latin typeface="Palatino Linotype"/>
                <a:cs typeface="Palatino Linotype"/>
              </a:rPr>
              <a:t>with</a:t>
            </a:r>
            <a:r>
              <a:rPr sz="1000" i="1" spc="110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Data</a:t>
            </a:r>
            <a:r>
              <a:rPr sz="1000" i="1" spc="160" dirty="0">
                <a:latin typeface="Palatino Linotype"/>
                <a:cs typeface="Palatino Linotype"/>
              </a:rPr>
              <a:t> </a:t>
            </a:r>
            <a:r>
              <a:rPr sz="1000" spc="-45" dirty="0">
                <a:latin typeface="Georgia"/>
                <a:cs typeface="Georgia"/>
              </a:rPr>
              <a:t>[</a:t>
            </a:r>
            <a:r>
              <a:rPr sz="1000" spc="-45" dirty="0">
                <a:solidFill>
                  <a:srgbClr val="FF0000"/>
                </a:solidFill>
                <a:latin typeface="Georgia"/>
                <a:cs typeface="Georgia"/>
              </a:rPr>
              <a:t>Book6</a:t>
            </a:r>
            <a:r>
              <a:rPr sz="1000" spc="-45" dirty="0">
                <a:latin typeface="Georgia"/>
                <a:cs typeface="Georgia"/>
              </a:rPr>
              <a:t>]</a:t>
            </a:r>
            <a:endParaRPr sz="10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100"/>
              </a:spcBef>
            </a:pPr>
            <a:r>
              <a:rPr sz="1000" i="1" spc="20" dirty="0">
                <a:latin typeface="Palatino Linotype"/>
                <a:cs typeface="Palatino Linotype"/>
              </a:rPr>
              <a:t>Data</a:t>
            </a:r>
            <a:r>
              <a:rPr sz="1000" i="1" spc="100" dirty="0">
                <a:latin typeface="Palatino Linotype"/>
                <a:cs typeface="Palatino Linotype"/>
              </a:rPr>
              <a:t> </a:t>
            </a:r>
            <a:r>
              <a:rPr sz="1000" i="1" spc="30" dirty="0">
                <a:latin typeface="Palatino Linotype"/>
                <a:cs typeface="Palatino Linotype"/>
              </a:rPr>
              <a:t>Science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from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Scratch:</a:t>
            </a:r>
            <a:r>
              <a:rPr sz="1000" i="1" spc="204" dirty="0">
                <a:latin typeface="Palatino Linotype"/>
                <a:cs typeface="Palatino Linotype"/>
              </a:rPr>
              <a:t> </a:t>
            </a:r>
            <a:r>
              <a:rPr sz="1000" i="1" spc="30" dirty="0">
                <a:latin typeface="Palatino Linotype"/>
                <a:cs typeface="Palatino Linotype"/>
              </a:rPr>
              <a:t>First</a:t>
            </a:r>
            <a:r>
              <a:rPr sz="1000" i="1" spc="100" dirty="0">
                <a:latin typeface="Palatino Linotype"/>
                <a:cs typeface="Palatino Linotype"/>
              </a:rPr>
              <a:t> </a:t>
            </a:r>
            <a:r>
              <a:rPr sz="1000" i="1" spc="25" dirty="0">
                <a:latin typeface="Palatino Linotype"/>
                <a:cs typeface="Palatino Linotype"/>
              </a:rPr>
              <a:t>Principles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-10" dirty="0">
                <a:latin typeface="Palatino Linotype"/>
                <a:cs typeface="Palatino Linotype"/>
              </a:rPr>
              <a:t>with</a:t>
            </a:r>
            <a:r>
              <a:rPr sz="1000" i="1" spc="105" dirty="0">
                <a:latin typeface="Palatino Linotype"/>
                <a:cs typeface="Palatino Linotype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Python</a:t>
            </a:r>
            <a:r>
              <a:rPr sz="1000" i="1" spc="150" dirty="0">
                <a:latin typeface="Palatino Linotype"/>
                <a:cs typeface="Palatino Linotype"/>
              </a:rPr>
              <a:t> </a:t>
            </a:r>
            <a:r>
              <a:rPr sz="1000" spc="-35" dirty="0">
                <a:latin typeface="Georgia"/>
                <a:cs typeface="Georgia"/>
              </a:rPr>
              <a:t>[</a:t>
            </a:r>
            <a:r>
              <a:rPr sz="1000" spc="-35" dirty="0">
                <a:solidFill>
                  <a:srgbClr val="FF0000"/>
                </a:solidFill>
                <a:latin typeface="Georgia"/>
                <a:cs typeface="Georgia"/>
              </a:rPr>
              <a:t>Book7</a:t>
            </a:r>
            <a:r>
              <a:rPr sz="1000" spc="-35" dirty="0">
                <a:latin typeface="Georgia"/>
                <a:cs typeface="Georgia"/>
              </a:rPr>
              <a:t>]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5" name="object 1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8" name="object 18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25" dirty="0"/>
              <a:t>31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20986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Software</a:t>
            </a:r>
            <a:r>
              <a:rPr spc="90" dirty="0"/>
              <a:t> </a:t>
            </a:r>
            <a:r>
              <a:rPr spc="20" dirty="0"/>
              <a:t>libraries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0" dirty="0"/>
              <a:t> </a:t>
            </a:r>
            <a:r>
              <a:rPr spc="20" dirty="0"/>
              <a:t>tools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58698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177" y="477415"/>
            <a:ext cx="4021454" cy="2420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10030">
              <a:lnSpc>
                <a:spcPct val="109900"/>
              </a:lnSpc>
              <a:spcBef>
                <a:spcPts val="100"/>
              </a:spcBef>
            </a:pPr>
            <a:r>
              <a:rPr sz="1100" spc="-35" dirty="0">
                <a:latin typeface="Georgia"/>
                <a:cs typeface="Georgia"/>
              </a:rPr>
              <a:t>Scikit–learn: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Machine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learning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Python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Weka: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Data </a:t>
            </a:r>
            <a:r>
              <a:rPr sz="1100" spc="-40" dirty="0">
                <a:latin typeface="Georgia"/>
                <a:cs typeface="Georgia"/>
              </a:rPr>
              <a:t>mining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software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Java 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H2O: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Fast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scalable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machine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learning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09900"/>
              </a:lnSpc>
            </a:pPr>
            <a:r>
              <a:rPr sz="1100" spc="-20" dirty="0">
                <a:latin typeface="Georgia"/>
                <a:cs typeface="Georgia"/>
              </a:rPr>
              <a:t>Apache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Mahout: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Scalable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machine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learning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 </a:t>
            </a:r>
            <a:r>
              <a:rPr sz="1100" spc="-40" dirty="0">
                <a:latin typeface="Georgia"/>
                <a:cs typeface="Georgia"/>
              </a:rPr>
              <a:t>mining </a:t>
            </a:r>
            <a:r>
              <a:rPr sz="1100" spc="-35" dirty="0">
                <a:latin typeface="Georgia"/>
                <a:cs typeface="Georgia"/>
              </a:rPr>
              <a:t> TensorFlow: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Open </a:t>
            </a:r>
            <a:r>
              <a:rPr sz="1100" spc="-40" dirty="0">
                <a:latin typeface="Georgia"/>
                <a:cs typeface="Georgia"/>
              </a:rPr>
              <a:t>source</a:t>
            </a:r>
            <a:r>
              <a:rPr sz="1100" spc="-35" dirty="0">
                <a:latin typeface="Georgia"/>
                <a:cs typeface="Georgia"/>
              </a:rPr>
              <a:t> software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library </a:t>
            </a:r>
            <a:r>
              <a:rPr sz="1100" spc="-40" dirty="0">
                <a:latin typeface="Georgia"/>
                <a:cs typeface="Georgia"/>
              </a:rPr>
              <a:t>for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machine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intelligence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Torch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PyTorch</a:t>
            </a:r>
            <a:endParaRPr sz="1100">
              <a:latin typeface="Georgia"/>
              <a:cs typeface="Georgia"/>
            </a:endParaRPr>
          </a:p>
          <a:p>
            <a:pPr marL="12700" marR="1734185">
              <a:lnSpc>
                <a:spcPct val="109900"/>
              </a:lnSpc>
            </a:pPr>
            <a:r>
              <a:rPr sz="1100" spc="-25" dirty="0">
                <a:latin typeface="Georgia"/>
                <a:cs typeface="Georgia"/>
              </a:rPr>
              <a:t>Keras:</a:t>
            </a:r>
            <a:r>
              <a:rPr sz="1100" spc="-20" dirty="0">
                <a:latin typeface="Georgia"/>
                <a:cs typeface="Georgia"/>
              </a:rPr>
              <a:t> the </a:t>
            </a:r>
            <a:r>
              <a:rPr sz="1100" dirty="0">
                <a:latin typeface="Georgia"/>
                <a:cs typeface="Georgia"/>
              </a:rPr>
              <a:t>Python </a:t>
            </a:r>
            <a:r>
              <a:rPr sz="1100" spc="-40" dirty="0">
                <a:latin typeface="Georgia"/>
                <a:cs typeface="Georgia"/>
              </a:rPr>
              <a:t>deep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learning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30" dirty="0">
                <a:latin typeface="Georgia"/>
                <a:cs typeface="Georgia"/>
              </a:rPr>
              <a:t>API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Dato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Open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Source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(GraphLab)</a:t>
            </a:r>
            <a:endParaRPr sz="1100">
              <a:latin typeface="Georgia"/>
              <a:cs typeface="Georgia"/>
            </a:endParaRPr>
          </a:p>
          <a:p>
            <a:pPr marL="12700" marR="907415">
              <a:lnSpc>
                <a:spcPct val="109900"/>
              </a:lnSpc>
            </a:pPr>
            <a:r>
              <a:rPr sz="1100" spc="-20" dirty="0">
                <a:latin typeface="Georgia"/>
                <a:cs typeface="Georgia"/>
              </a:rPr>
              <a:t>MLPack: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A </a:t>
            </a:r>
            <a:r>
              <a:rPr sz="1100" spc="-25" dirty="0">
                <a:latin typeface="Georgia"/>
                <a:cs typeface="Georgia"/>
              </a:rPr>
              <a:t>scalable </a:t>
            </a:r>
            <a:r>
              <a:rPr sz="1100" spc="110" dirty="0">
                <a:latin typeface="Georgia"/>
                <a:cs typeface="Georgia"/>
              </a:rPr>
              <a:t>C++ </a:t>
            </a:r>
            <a:r>
              <a:rPr sz="1100" spc="-45" dirty="0">
                <a:latin typeface="Georgia"/>
                <a:cs typeface="Georgia"/>
              </a:rPr>
              <a:t>machine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learning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library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NLTK: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Natural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toolkit</a:t>
            </a:r>
            <a:endParaRPr sz="1100">
              <a:latin typeface="Georgia"/>
              <a:cs typeface="Georgia"/>
            </a:endParaRPr>
          </a:p>
          <a:p>
            <a:pPr marL="12700" marR="1424305">
              <a:lnSpc>
                <a:spcPct val="109900"/>
              </a:lnSpc>
            </a:pPr>
            <a:r>
              <a:rPr sz="1100" spc="5" dirty="0">
                <a:latin typeface="Georgia"/>
                <a:cs typeface="Georgia"/>
              </a:rPr>
              <a:t>OpenCV: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Open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source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for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computer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vision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R: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25" dirty="0">
                <a:latin typeface="Georgia"/>
                <a:cs typeface="Georgia"/>
              </a:rPr>
              <a:t>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project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for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statistical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computing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-5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77119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95542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13964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32386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7972" y="150808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7972" y="169231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972" y="187653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7972" y="206075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7972" y="224497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7972" y="242920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7972" y="261341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7972" y="279764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8" name="object 18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21" name="object 21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25" dirty="0"/>
              <a:t>32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29483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Data</a:t>
            </a:r>
            <a:r>
              <a:rPr spc="100" dirty="0"/>
              <a:t> </a:t>
            </a:r>
            <a:r>
              <a:rPr spc="15" dirty="0"/>
              <a:t>mining</a:t>
            </a:r>
            <a:r>
              <a:rPr spc="95" dirty="0"/>
              <a:t> </a:t>
            </a:r>
            <a:r>
              <a:rPr spc="10" dirty="0"/>
              <a:t>forums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100" dirty="0"/>
              <a:t> </a:t>
            </a:r>
            <a:r>
              <a:rPr spc="20" dirty="0"/>
              <a:t>organizations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89824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46990" marR="5080">
              <a:lnSpc>
                <a:spcPts val="1150"/>
              </a:lnSpc>
              <a:spcBef>
                <a:spcPts val="270"/>
              </a:spcBef>
            </a:pPr>
            <a:r>
              <a:rPr spc="30" dirty="0"/>
              <a:t>ACM</a:t>
            </a:r>
            <a:r>
              <a:rPr spc="90" dirty="0"/>
              <a:t> </a:t>
            </a:r>
            <a:r>
              <a:rPr spc="5" dirty="0"/>
              <a:t>SIGKDD:</a:t>
            </a:r>
            <a:r>
              <a:rPr spc="95" dirty="0"/>
              <a:t> </a:t>
            </a:r>
            <a:r>
              <a:rPr spc="30" dirty="0"/>
              <a:t>ACM</a:t>
            </a:r>
            <a:r>
              <a:rPr spc="90" dirty="0"/>
              <a:t> </a:t>
            </a:r>
            <a:r>
              <a:rPr spc="-20" dirty="0"/>
              <a:t>Special</a:t>
            </a:r>
            <a:r>
              <a:rPr spc="95" dirty="0"/>
              <a:t> </a:t>
            </a:r>
            <a:r>
              <a:rPr spc="-30" dirty="0"/>
              <a:t>Interest</a:t>
            </a:r>
            <a:r>
              <a:rPr spc="90" dirty="0"/>
              <a:t> </a:t>
            </a:r>
            <a:r>
              <a:rPr spc="-20" dirty="0"/>
              <a:t>Group</a:t>
            </a:r>
            <a:r>
              <a:rPr spc="95" dirty="0"/>
              <a:t> </a:t>
            </a:r>
            <a:r>
              <a:rPr spc="-50" dirty="0"/>
              <a:t>on</a:t>
            </a:r>
            <a:r>
              <a:rPr spc="95" dirty="0"/>
              <a:t> </a:t>
            </a:r>
            <a:r>
              <a:rPr spc="-30" dirty="0"/>
              <a:t>Knowledge</a:t>
            </a:r>
            <a:r>
              <a:rPr spc="90" dirty="0"/>
              <a:t> </a:t>
            </a:r>
            <a:r>
              <a:rPr spc="-25" dirty="0"/>
              <a:t>Discovery</a:t>
            </a:r>
            <a:r>
              <a:rPr spc="95" dirty="0"/>
              <a:t> </a:t>
            </a:r>
            <a:r>
              <a:rPr spc="-30" dirty="0"/>
              <a:t>and</a:t>
            </a:r>
            <a:r>
              <a:rPr spc="90" dirty="0"/>
              <a:t> </a:t>
            </a:r>
            <a:r>
              <a:rPr spc="5" dirty="0"/>
              <a:t>Data </a:t>
            </a:r>
            <a:r>
              <a:rPr spc="-250" dirty="0"/>
              <a:t> </a:t>
            </a:r>
            <a:r>
              <a:rPr spc="-35" dirty="0"/>
              <a:t>Mining</a:t>
            </a:r>
            <a:r>
              <a:rPr spc="90" dirty="0"/>
              <a:t> </a:t>
            </a:r>
            <a:r>
              <a:rPr spc="-25" dirty="0"/>
              <a:t>(www.sigkdd.org)</a:t>
            </a:r>
          </a:p>
          <a:p>
            <a:pPr marL="46990" marR="922019">
              <a:lnSpc>
                <a:spcPts val="1150"/>
              </a:lnSpc>
              <a:spcBef>
                <a:spcPts val="300"/>
              </a:spcBef>
            </a:pPr>
            <a:r>
              <a:rPr spc="-20" dirty="0"/>
              <a:t>KDnuggets:</a:t>
            </a:r>
            <a:r>
              <a:rPr spc="215" dirty="0"/>
              <a:t> </a:t>
            </a:r>
            <a:r>
              <a:rPr spc="5" dirty="0"/>
              <a:t>Data</a:t>
            </a:r>
            <a:r>
              <a:rPr spc="100" dirty="0"/>
              <a:t> </a:t>
            </a:r>
            <a:r>
              <a:rPr spc="-30" dirty="0"/>
              <a:t>Mining,</a:t>
            </a:r>
            <a:r>
              <a:rPr spc="100" dirty="0"/>
              <a:t> </a:t>
            </a:r>
            <a:r>
              <a:rPr spc="-5" dirty="0"/>
              <a:t>Analytics,</a:t>
            </a:r>
            <a:r>
              <a:rPr spc="95" dirty="0"/>
              <a:t> </a:t>
            </a:r>
            <a:r>
              <a:rPr dirty="0"/>
              <a:t>Big</a:t>
            </a:r>
            <a:r>
              <a:rPr spc="100" dirty="0"/>
              <a:t> </a:t>
            </a:r>
            <a:r>
              <a:rPr spc="5" dirty="0"/>
              <a:t>Data,</a:t>
            </a:r>
            <a:r>
              <a:rPr spc="100" dirty="0"/>
              <a:t> </a:t>
            </a:r>
            <a:r>
              <a:rPr spc="-30" dirty="0"/>
              <a:t>and</a:t>
            </a:r>
            <a:r>
              <a:rPr spc="95" dirty="0"/>
              <a:t> </a:t>
            </a:r>
            <a:r>
              <a:rPr spc="5" dirty="0"/>
              <a:t>Data</a:t>
            </a:r>
            <a:r>
              <a:rPr spc="100" dirty="0"/>
              <a:t> </a:t>
            </a:r>
            <a:r>
              <a:rPr spc="-35" dirty="0"/>
              <a:t>Science </a:t>
            </a:r>
            <a:r>
              <a:rPr spc="-250" dirty="0"/>
              <a:t> </a:t>
            </a:r>
            <a:r>
              <a:rPr spc="-25" dirty="0"/>
              <a:t>(www.kdnuggets.com)</a:t>
            </a:r>
          </a:p>
          <a:p>
            <a:pPr marL="46990">
              <a:lnSpc>
                <a:spcPct val="100000"/>
              </a:lnSpc>
              <a:spcBef>
                <a:spcPts val="125"/>
              </a:spcBef>
            </a:pPr>
            <a:r>
              <a:rPr dirty="0"/>
              <a:t>IEEE</a:t>
            </a:r>
            <a:r>
              <a:rPr spc="90" dirty="0"/>
              <a:t> </a:t>
            </a:r>
            <a:r>
              <a:rPr dirty="0"/>
              <a:t>Big</a:t>
            </a:r>
            <a:r>
              <a:rPr spc="90" dirty="0"/>
              <a:t> </a:t>
            </a:r>
            <a:r>
              <a:rPr spc="-5" dirty="0"/>
              <a:t>Data:</a:t>
            </a:r>
            <a:r>
              <a:rPr spc="210" dirty="0"/>
              <a:t> </a:t>
            </a:r>
            <a:r>
              <a:rPr spc="-25" dirty="0"/>
              <a:t>bigdata.ieee.org</a:t>
            </a:r>
          </a:p>
          <a:p>
            <a:pPr marL="46990" marR="1788160">
              <a:lnSpc>
                <a:spcPct val="109900"/>
              </a:lnSpc>
            </a:pPr>
            <a:r>
              <a:rPr spc="5" dirty="0"/>
              <a:t>Data </a:t>
            </a:r>
            <a:r>
              <a:rPr spc="-35" dirty="0"/>
              <a:t>Science</a:t>
            </a:r>
            <a:r>
              <a:rPr spc="-30" dirty="0"/>
              <a:t> </a:t>
            </a:r>
            <a:r>
              <a:rPr spc="-20" dirty="0"/>
              <a:t>Central:</a:t>
            </a:r>
            <a:r>
              <a:rPr spc="-15" dirty="0"/>
              <a:t> </a:t>
            </a:r>
            <a:r>
              <a:rPr spc="-25" dirty="0">
                <a:hlinkClick r:id="rId2"/>
              </a:rPr>
              <a:t>www.datasciencecentral.com </a:t>
            </a:r>
            <a:r>
              <a:rPr spc="-260" dirty="0"/>
              <a:t> </a:t>
            </a:r>
            <a:r>
              <a:rPr dirty="0"/>
              <a:t>Big</a:t>
            </a:r>
            <a:r>
              <a:rPr spc="90" dirty="0"/>
              <a:t> </a:t>
            </a:r>
            <a:r>
              <a:rPr dirty="0"/>
              <a:t>Data</a:t>
            </a:r>
            <a:r>
              <a:rPr spc="95" dirty="0"/>
              <a:t> </a:t>
            </a:r>
            <a:r>
              <a:rPr spc="-25" dirty="0"/>
              <a:t>University:  bigdatauniversity.com</a:t>
            </a:r>
          </a:p>
          <a:p>
            <a:pPr marL="4699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Data</a:t>
            </a:r>
            <a:r>
              <a:rPr spc="95" dirty="0"/>
              <a:t> </a:t>
            </a:r>
            <a:r>
              <a:rPr spc="-35" dirty="0"/>
              <a:t>Science</a:t>
            </a:r>
            <a:r>
              <a:rPr spc="95" dirty="0"/>
              <a:t> </a:t>
            </a:r>
            <a:r>
              <a:rPr spc="-25" dirty="0"/>
              <a:t>Community:</a:t>
            </a:r>
            <a:r>
              <a:rPr spc="-15" dirty="0"/>
              <a:t> </a:t>
            </a:r>
            <a:r>
              <a:rPr spc="-30" dirty="0"/>
              <a:t>datascience.community</a:t>
            </a:r>
          </a:p>
          <a:p>
            <a:pPr marL="46990">
              <a:lnSpc>
                <a:spcPct val="100000"/>
              </a:lnSpc>
              <a:spcBef>
                <a:spcPts val="130"/>
              </a:spcBef>
            </a:pPr>
            <a:r>
              <a:rPr spc="-15" dirty="0"/>
              <a:t>Kaggle:</a:t>
            </a:r>
            <a:r>
              <a:rPr spc="220" dirty="0"/>
              <a:t> </a:t>
            </a:r>
            <a:r>
              <a:rPr spc="-45" dirty="0"/>
              <a:t>machine</a:t>
            </a:r>
            <a:r>
              <a:rPr spc="95" dirty="0"/>
              <a:t> </a:t>
            </a:r>
            <a:r>
              <a:rPr spc="-30" dirty="0"/>
              <a:t>learning</a:t>
            </a:r>
            <a:r>
              <a:rPr spc="100" dirty="0"/>
              <a:t> </a:t>
            </a:r>
            <a:r>
              <a:rPr spc="-30" dirty="0"/>
              <a:t>and</a:t>
            </a:r>
            <a:r>
              <a:rPr spc="100" dirty="0"/>
              <a:t> </a:t>
            </a:r>
            <a:r>
              <a:rPr spc="-5" dirty="0"/>
              <a:t>data</a:t>
            </a:r>
            <a:r>
              <a:rPr spc="100" dirty="0"/>
              <a:t> </a:t>
            </a:r>
            <a:r>
              <a:rPr spc="-40" dirty="0"/>
              <a:t>science</a:t>
            </a:r>
            <a:r>
              <a:rPr spc="95" dirty="0"/>
              <a:t> </a:t>
            </a:r>
            <a:r>
              <a:rPr spc="-35" dirty="0"/>
              <a:t>community</a:t>
            </a:r>
            <a:r>
              <a:rPr spc="100" dirty="0"/>
              <a:t> </a:t>
            </a:r>
            <a:r>
              <a:rPr spc="-30" dirty="0"/>
              <a:t>(kaggle.com)</a:t>
            </a:r>
          </a:p>
        </p:txBody>
      </p:sp>
      <p:sp>
        <p:nvSpPr>
          <p:cNvPr id="5" name="object 5"/>
          <p:cNvSpPr/>
          <p:nvPr/>
        </p:nvSpPr>
        <p:spPr>
          <a:xfrm>
            <a:off x="337972" y="122873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55921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743443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92766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7972" y="211188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7972" y="229610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2" name="object 12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5" name="object 15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3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25" dirty="0"/>
              <a:t>33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28854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Data</a:t>
            </a:r>
            <a:r>
              <a:rPr spc="105" dirty="0"/>
              <a:t> </a:t>
            </a:r>
            <a:r>
              <a:rPr spc="15" dirty="0"/>
              <a:t>mining</a:t>
            </a:r>
            <a:r>
              <a:rPr spc="105" dirty="0"/>
              <a:t> </a:t>
            </a:r>
            <a:r>
              <a:rPr dirty="0"/>
              <a:t>conferences</a:t>
            </a:r>
            <a:r>
              <a:rPr spc="100" dirty="0"/>
              <a:t> </a:t>
            </a:r>
            <a:r>
              <a:rPr spc="55" dirty="0"/>
              <a:t>and</a:t>
            </a:r>
            <a:r>
              <a:rPr spc="105" dirty="0"/>
              <a:t> </a:t>
            </a:r>
            <a:r>
              <a:rPr spc="20" dirty="0"/>
              <a:t>journals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60605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229" y="80159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229" y="96666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29" y="113170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229" y="129677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229" y="146183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229" y="162689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29" y="179195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972" y="2033092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0229" y="222863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0229" y="239369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0229" y="255874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0229" y="272380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54457" y="0"/>
                </a:moveTo>
                <a:lnTo>
                  <a:pt x="0" y="0"/>
                </a:lnTo>
                <a:lnTo>
                  <a:pt x="0" y="54457"/>
                </a:lnTo>
                <a:lnTo>
                  <a:pt x="54457" y="54457"/>
                </a:lnTo>
                <a:lnTo>
                  <a:pt x="5445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4177" y="474891"/>
            <a:ext cx="4982210" cy="234188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100" spc="-35" dirty="0">
                <a:latin typeface="Georgia"/>
                <a:cs typeface="Georgia"/>
              </a:rPr>
              <a:t>Conferences:</a:t>
            </a:r>
            <a:endParaRPr sz="1100">
              <a:latin typeface="Georgia"/>
              <a:cs typeface="Georgia"/>
            </a:endParaRPr>
          </a:p>
          <a:p>
            <a:pPr marL="289560" marR="5080">
              <a:lnSpc>
                <a:spcPct val="108300"/>
              </a:lnSpc>
              <a:spcBef>
                <a:spcPts val="180"/>
              </a:spcBef>
            </a:pPr>
            <a:r>
              <a:rPr sz="1000" spc="35" dirty="0">
                <a:latin typeface="Georgia"/>
                <a:cs typeface="Georgia"/>
              </a:rPr>
              <a:t>ACM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10" dirty="0">
                <a:latin typeface="Georgia"/>
                <a:cs typeface="Georgia"/>
              </a:rPr>
              <a:t>SIGKDD: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International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Conference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45" dirty="0">
                <a:latin typeface="Georgia"/>
                <a:cs typeface="Georgia"/>
              </a:rPr>
              <a:t>on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Knowledge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Discovery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Data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Mining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WSDM: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35" dirty="0">
                <a:latin typeface="Georgia"/>
                <a:cs typeface="Georgia"/>
              </a:rPr>
              <a:t>ACM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International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Conference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45" dirty="0">
                <a:latin typeface="Georgia"/>
                <a:cs typeface="Georgia"/>
              </a:rPr>
              <a:t>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Web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Search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Data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Mining</a:t>
            </a:r>
            <a:endParaRPr sz="10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100"/>
              </a:spcBef>
            </a:pPr>
            <a:r>
              <a:rPr sz="1000" spc="5" dirty="0">
                <a:latin typeface="Georgia"/>
                <a:cs typeface="Georgia"/>
              </a:rPr>
              <a:t>SIAM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International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Conference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45" dirty="0">
                <a:latin typeface="Georgia"/>
                <a:cs typeface="Georgia"/>
              </a:rPr>
              <a:t>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Data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Mining</a:t>
            </a:r>
            <a:endParaRPr sz="1000">
              <a:latin typeface="Georgia"/>
              <a:cs typeface="Georgia"/>
            </a:endParaRPr>
          </a:p>
          <a:p>
            <a:pPr marL="289560" marR="1275715">
              <a:lnSpc>
                <a:spcPct val="108300"/>
              </a:lnSpc>
            </a:pPr>
            <a:r>
              <a:rPr sz="1000" spc="10" dirty="0">
                <a:latin typeface="Georgia"/>
                <a:cs typeface="Georgia"/>
              </a:rPr>
              <a:t>IEEE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ICDM: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10" dirty="0">
                <a:latin typeface="Georgia"/>
                <a:cs typeface="Georgia"/>
              </a:rPr>
              <a:t>IEEE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International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Conference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5" dirty="0">
                <a:latin typeface="Georgia"/>
                <a:cs typeface="Georgia"/>
              </a:rPr>
              <a:t>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Data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Mining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Big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Data:</a:t>
            </a:r>
            <a:r>
              <a:rPr sz="1000" spc="20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International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Conference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45" dirty="0">
                <a:latin typeface="Georgia"/>
                <a:cs typeface="Georgia"/>
              </a:rPr>
              <a:t>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Big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Data</a:t>
            </a:r>
            <a:endParaRPr sz="1000">
              <a:latin typeface="Georgia"/>
              <a:cs typeface="Georgia"/>
            </a:endParaRPr>
          </a:p>
          <a:p>
            <a:pPr marL="289560" marR="459105">
              <a:lnSpc>
                <a:spcPct val="108300"/>
              </a:lnSpc>
            </a:pPr>
            <a:r>
              <a:rPr sz="1000" spc="25" dirty="0">
                <a:latin typeface="Georgia"/>
                <a:cs typeface="Georgia"/>
              </a:rPr>
              <a:t>PKDD: </a:t>
            </a:r>
            <a:r>
              <a:rPr sz="1000" spc="-15" dirty="0">
                <a:latin typeface="Georgia"/>
                <a:cs typeface="Georgia"/>
              </a:rPr>
              <a:t>Principles</a:t>
            </a:r>
            <a:r>
              <a:rPr sz="1000" spc="-1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Practice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Knowledge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Discovery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in</a:t>
            </a:r>
            <a:r>
              <a:rPr sz="1000" spc="18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Databases </a:t>
            </a:r>
            <a:r>
              <a:rPr sz="1000" spc="-10" dirty="0">
                <a:latin typeface="Georgia"/>
                <a:cs typeface="Georgia"/>
              </a:rPr>
              <a:t> </a:t>
            </a:r>
            <a:r>
              <a:rPr sz="1000" spc="15" dirty="0">
                <a:latin typeface="Georgia"/>
                <a:cs typeface="Georgia"/>
              </a:rPr>
              <a:t>PAKDD: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Pacific-Asia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Conference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45" dirty="0">
                <a:latin typeface="Georgia"/>
                <a:cs typeface="Georgia"/>
              </a:rPr>
              <a:t>on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Knowledge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Discovery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Data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Mining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00" spc="-40" dirty="0">
                <a:latin typeface="Georgia"/>
                <a:cs typeface="Georgia"/>
              </a:rPr>
              <a:t>Journals:</a:t>
            </a:r>
            <a:endParaRPr sz="1100">
              <a:latin typeface="Georgia"/>
              <a:cs typeface="Georgia"/>
            </a:endParaRPr>
          </a:p>
          <a:p>
            <a:pPr marL="289560">
              <a:lnSpc>
                <a:spcPct val="100000"/>
              </a:lnSpc>
              <a:spcBef>
                <a:spcPts val="280"/>
              </a:spcBef>
            </a:pPr>
            <a:r>
              <a:rPr sz="1000" spc="5" dirty="0">
                <a:latin typeface="Georgia"/>
                <a:cs typeface="Georgia"/>
              </a:rPr>
              <a:t>Data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Mining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Knowledge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Discovery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(Springer)</a:t>
            </a:r>
            <a:endParaRPr sz="1000">
              <a:latin typeface="Georgia"/>
              <a:cs typeface="Georgia"/>
            </a:endParaRPr>
          </a:p>
          <a:p>
            <a:pPr marL="289560" marR="1047750">
              <a:lnSpc>
                <a:spcPct val="108300"/>
              </a:lnSpc>
            </a:pPr>
            <a:r>
              <a:rPr sz="1000" spc="10" dirty="0">
                <a:latin typeface="Georgia"/>
                <a:cs typeface="Georgia"/>
              </a:rPr>
              <a:t>IEEE </a:t>
            </a:r>
            <a:r>
              <a:rPr sz="1000" spc="-25" dirty="0">
                <a:latin typeface="Georgia"/>
                <a:cs typeface="Georgia"/>
              </a:rPr>
              <a:t>Transactions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-45" dirty="0">
                <a:latin typeface="Georgia"/>
                <a:cs typeface="Georgia"/>
              </a:rPr>
              <a:t>on</a:t>
            </a:r>
            <a:r>
              <a:rPr sz="1000" spc="-4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Knowledge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Data </a:t>
            </a:r>
            <a:r>
              <a:rPr sz="1000" spc="-25" dirty="0">
                <a:latin typeface="Georgia"/>
                <a:cs typeface="Georgia"/>
              </a:rPr>
              <a:t>Engineering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35" dirty="0">
                <a:latin typeface="Georgia"/>
                <a:cs typeface="Georgia"/>
              </a:rPr>
              <a:t>(TKDE)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35" dirty="0">
                <a:latin typeface="Georgia"/>
                <a:cs typeface="Georgia"/>
              </a:rPr>
              <a:t>ACM </a:t>
            </a:r>
            <a:r>
              <a:rPr sz="1000" spc="-25" dirty="0">
                <a:latin typeface="Georgia"/>
                <a:cs typeface="Georgia"/>
              </a:rPr>
              <a:t>Transactions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-45" dirty="0">
                <a:latin typeface="Georgia"/>
                <a:cs typeface="Georgia"/>
              </a:rPr>
              <a:t>on</a:t>
            </a:r>
            <a:r>
              <a:rPr sz="1000" spc="-4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Knowledge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Discovery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from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Data </a:t>
            </a:r>
            <a:r>
              <a:rPr sz="1000" spc="30" dirty="0">
                <a:latin typeface="Georgia"/>
                <a:cs typeface="Georgia"/>
              </a:rPr>
              <a:t>(TKDD) 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30" dirty="0">
                <a:latin typeface="Georgia"/>
                <a:cs typeface="Georgia"/>
              </a:rPr>
              <a:t>KDD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Explorations.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8" name="object 18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21" name="object 21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25" dirty="0"/>
              <a:t>34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24663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Data</a:t>
            </a:r>
            <a:r>
              <a:rPr spc="95" dirty="0"/>
              <a:t> </a:t>
            </a:r>
            <a:r>
              <a:rPr spc="15" dirty="0"/>
              <a:t>mining</a:t>
            </a:r>
            <a:r>
              <a:rPr spc="95" dirty="0"/>
              <a:t> </a:t>
            </a:r>
            <a:r>
              <a:rPr spc="40" dirty="0"/>
              <a:t>related</a:t>
            </a:r>
            <a:r>
              <a:rPr spc="90" dirty="0"/>
              <a:t> </a:t>
            </a:r>
            <a:r>
              <a:rPr dirty="0"/>
              <a:t>conferences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110721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177" y="997633"/>
            <a:ext cx="4932680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54050">
              <a:lnSpc>
                <a:spcPct val="109900"/>
              </a:lnSpc>
              <a:spcBef>
                <a:spcPts val="100"/>
              </a:spcBef>
            </a:pPr>
            <a:r>
              <a:rPr sz="1100" spc="-20" dirty="0">
                <a:latin typeface="Georgia"/>
                <a:cs typeface="Georgia"/>
              </a:rPr>
              <a:t>Databases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204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Data </a:t>
            </a:r>
            <a:r>
              <a:rPr sz="1100" spc="-35" dirty="0">
                <a:latin typeface="Georgia"/>
                <a:cs typeface="Georgia"/>
              </a:rPr>
              <a:t>Engineering: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SIGMOD, </a:t>
            </a:r>
            <a:r>
              <a:rPr sz="1100" spc="30" dirty="0">
                <a:latin typeface="Georgia"/>
                <a:cs typeface="Georgia"/>
              </a:rPr>
              <a:t>VLDB, </a:t>
            </a:r>
            <a:r>
              <a:rPr sz="1100" spc="5" dirty="0">
                <a:latin typeface="Georgia"/>
                <a:cs typeface="Georgia"/>
              </a:rPr>
              <a:t>ICDE, </a:t>
            </a:r>
            <a:r>
              <a:rPr sz="1100" i="1" spc="-5" dirty="0">
                <a:latin typeface="Arial"/>
                <a:cs typeface="Arial"/>
              </a:rPr>
              <a:t>. . . 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spc="-30" dirty="0">
                <a:latin typeface="Georgia"/>
                <a:cs typeface="Georgia"/>
              </a:rPr>
              <a:t>Ma</a:t>
            </a:r>
            <a:r>
              <a:rPr sz="1100" spc="-50" dirty="0">
                <a:latin typeface="Georgia"/>
                <a:cs typeface="Georgia"/>
              </a:rPr>
              <a:t>c</a:t>
            </a:r>
            <a:r>
              <a:rPr sz="1100" spc="-40" dirty="0">
                <a:latin typeface="Georgia"/>
                <a:cs typeface="Georgia"/>
              </a:rPr>
              <a:t>hine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Learning: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NeurIPS,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ICML,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ICLR</a:t>
            </a:r>
            <a:r>
              <a:rPr sz="1100" spc="5" dirty="0">
                <a:latin typeface="Georgia"/>
                <a:cs typeface="Georgia"/>
              </a:rPr>
              <a:t>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40" dirty="0">
                <a:latin typeface="Georgia"/>
                <a:cs typeface="Georgia"/>
              </a:rPr>
              <a:t>CO</a:t>
            </a:r>
            <a:r>
              <a:rPr sz="1100" spc="-60" dirty="0">
                <a:latin typeface="Georgia"/>
                <a:cs typeface="Georgia"/>
              </a:rPr>
              <a:t>L</a:t>
            </a:r>
            <a:r>
              <a:rPr sz="1100" spc="50" dirty="0">
                <a:latin typeface="Georgia"/>
                <a:cs typeface="Georgia"/>
              </a:rPr>
              <a:t>T,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5" dirty="0">
                <a:latin typeface="Georgia"/>
                <a:cs typeface="Georgia"/>
              </a:rPr>
              <a:t>ECML,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35" dirty="0">
                <a:latin typeface="Georgia"/>
                <a:cs typeface="Georgia"/>
              </a:rPr>
              <a:t>A</a:t>
            </a:r>
            <a:r>
              <a:rPr sz="1100" spc="15" dirty="0">
                <a:latin typeface="Georgia"/>
                <a:cs typeface="Georgia"/>
              </a:rPr>
              <a:t>CML,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-5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.  </a:t>
            </a:r>
            <a:r>
              <a:rPr sz="1100" spc="-10" dirty="0">
                <a:latin typeface="Georgia"/>
                <a:cs typeface="Georgia"/>
              </a:rPr>
              <a:t>IR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W</a:t>
            </a:r>
            <a:r>
              <a:rPr sz="1100" spc="-40" dirty="0">
                <a:latin typeface="Georgia"/>
                <a:cs typeface="Georgia"/>
              </a:rPr>
              <a:t>eb: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spc="35" dirty="0">
                <a:latin typeface="Georgia"/>
                <a:cs typeface="Georgia"/>
              </a:rPr>
              <a:t>A</a:t>
            </a:r>
            <a:r>
              <a:rPr sz="1100" spc="25" dirty="0">
                <a:latin typeface="Georgia"/>
                <a:cs typeface="Georgia"/>
              </a:rPr>
              <a:t>CM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SIGIR,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30" dirty="0">
                <a:latin typeface="Georgia"/>
                <a:cs typeface="Georgia"/>
              </a:rPr>
              <a:t>WWW,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25" dirty="0">
                <a:latin typeface="Georgia"/>
                <a:cs typeface="Georgia"/>
              </a:rPr>
              <a:t>ICEC</a:t>
            </a:r>
            <a:r>
              <a:rPr sz="1100" spc="10" dirty="0">
                <a:latin typeface="Georgia"/>
                <a:cs typeface="Georgia"/>
              </a:rPr>
              <a:t>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5" dirty="0">
                <a:latin typeface="Georgia"/>
                <a:cs typeface="Georgia"/>
              </a:rPr>
              <a:t>ECIR,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-5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ts val="1150"/>
              </a:lnSpc>
              <a:spcBef>
                <a:spcPts val="310"/>
              </a:spcBef>
            </a:pPr>
            <a:r>
              <a:rPr sz="1100" spc="15" dirty="0">
                <a:latin typeface="Georgia"/>
                <a:cs typeface="Georgia"/>
              </a:rPr>
              <a:t>NLP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Text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Mining: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35" dirty="0">
                <a:latin typeface="Georgia"/>
                <a:cs typeface="Georgia"/>
              </a:rPr>
              <a:t>ACL,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30" dirty="0">
                <a:latin typeface="Georgia"/>
                <a:cs typeface="Georgia"/>
              </a:rPr>
              <a:t>NAACL,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EMNLP,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HLT,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CoNLL,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5" dirty="0">
                <a:latin typeface="Georgia"/>
                <a:cs typeface="Georgia"/>
              </a:rPr>
              <a:t>COLING,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30" dirty="0">
                <a:latin typeface="Georgia"/>
                <a:cs typeface="Georgia"/>
              </a:rPr>
              <a:t>EACL,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IJCNLP,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PACLING,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20" dirty="0">
                <a:latin typeface="Georgia"/>
                <a:cs typeface="Georgia"/>
              </a:rPr>
              <a:t>PACLIC,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-5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latin typeface="Georgia"/>
                <a:cs typeface="Georgia"/>
              </a:rPr>
              <a:t>Artificial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Intelligence: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IJCAI,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35" dirty="0">
                <a:latin typeface="Georgia"/>
                <a:cs typeface="Georgia"/>
              </a:rPr>
              <a:t>AAAI,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AISTATS,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UAI,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-5" dirty="0">
                <a:latin typeface="Arial"/>
                <a:cs typeface="Arial"/>
              </a:rPr>
              <a:t>.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129143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47565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1659877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199036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0" name="object 10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3" name="object 13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25" dirty="0"/>
              <a:t>35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593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171615" y="646887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4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1615" y="1016812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615" y="1386751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1615" y="1751533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615" y="2116315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615" y="2481097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8556" y="596403"/>
            <a:ext cx="2301875" cy="202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9705" indent="-167640"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Data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analysis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4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mining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concepts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Georgia"/>
              <a:buAutoNum type="arabicPlain"/>
            </a:pPr>
            <a:endParaRPr sz="14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Course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45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requirement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and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evaluation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Georgia"/>
              <a:buAutoNum type="arabicPlain"/>
            </a:pPr>
            <a:endParaRPr sz="14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Course</a:t>
            </a:r>
            <a:r>
              <a:rPr sz="1100" spc="80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contents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40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schedule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Course</a:t>
            </a:r>
            <a:r>
              <a:rPr sz="1100" spc="60" dirty="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1100" spc="-45" dirty="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resources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40" dirty="0">
                <a:latin typeface="Georgia"/>
                <a:cs typeface="Georgia"/>
                <a:hlinkClick r:id="rId6" action="ppaction://hlinksldjump"/>
              </a:rPr>
              <a:t>References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7" action="ppaction://hlinksldjump"/>
              </a:rPr>
              <a:t>Summary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1" name="object 11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4" name="object 14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25" dirty="0"/>
              <a:t>36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82359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5973" y="587805"/>
            <a:ext cx="5161280" cy="217487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27329" marR="10160" indent="-215265">
              <a:lnSpc>
                <a:spcPts val="1150"/>
              </a:lnSpc>
              <a:spcBef>
                <a:spcPts val="270"/>
              </a:spcBef>
              <a:buFont typeface="Georgia"/>
              <a:buAutoNum type="arabicPlain"/>
              <a:tabLst>
                <a:tab pos="227965" algn="l"/>
              </a:tabLst>
            </a:pPr>
            <a:r>
              <a:rPr sz="1100" spc="-10" dirty="0">
                <a:latin typeface="Georgia"/>
                <a:cs typeface="Georgia"/>
              </a:rPr>
              <a:t>J. </a:t>
            </a:r>
            <a:r>
              <a:rPr sz="1100" spc="-35" dirty="0">
                <a:latin typeface="Georgia"/>
                <a:cs typeface="Georgia"/>
              </a:rPr>
              <a:t>Han,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M.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Kamber,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J. Pei.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Data </a:t>
            </a:r>
            <a:r>
              <a:rPr sz="1100" i="1" spc="-5" dirty="0">
                <a:latin typeface="Palatino Linotype"/>
                <a:cs typeface="Palatino Linotype"/>
              </a:rPr>
              <a:t>Mining:</a:t>
            </a:r>
            <a:r>
              <a:rPr sz="1100" i="1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Concepts </a:t>
            </a:r>
            <a:r>
              <a:rPr sz="1100" i="1" spc="20" dirty="0">
                <a:latin typeface="Palatino Linotype"/>
                <a:cs typeface="Palatino Linotype"/>
              </a:rPr>
              <a:t>and </a:t>
            </a:r>
            <a:r>
              <a:rPr sz="1100" i="1" spc="10" dirty="0">
                <a:latin typeface="Palatino Linotype"/>
                <a:cs typeface="Palatino Linotype"/>
              </a:rPr>
              <a:t>Techniques</a:t>
            </a:r>
            <a:r>
              <a:rPr sz="1100" spc="10" dirty="0">
                <a:latin typeface="Georgia"/>
                <a:cs typeface="Georgia"/>
              </a:rPr>
              <a:t>.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Morgan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Kaufmann,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Elsevier,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2012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[</a:t>
            </a:r>
            <a:r>
              <a:rPr sz="1100" spc="-25" dirty="0">
                <a:solidFill>
                  <a:srgbClr val="FF0000"/>
                </a:solidFill>
                <a:latin typeface="Georgia"/>
                <a:cs typeface="Georgia"/>
              </a:rPr>
              <a:t>Book1</a:t>
            </a:r>
            <a:r>
              <a:rPr sz="1100" spc="-25" dirty="0">
                <a:latin typeface="Georgia"/>
                <a:cs typeface="Georgia"/>
              </a:rPr>
              <a:t>].</a:t>
            </a:r>
            <a:endParaRPr sz="1100">
              <a:latin typeface="Georgia"/>
              <a:cs typeface="Georgia"/>
            </a:endParaRPr>
          </a:p>
          <a:p>
            <a:pPr marL="227329" indent="-215265">
              <a:lnSpc>
                <a:spcPct val="100000"/>
              </a:lnSpc>
              <a:spcBef>
                <a:spcPts val="120"/>
              </a:spcBef>
              <a:buFont typeface="Georgia"/>
              <a:buAutoNum type="arabicPlain"/>
              <a:tabLst>
                <a:tab pos="227965" algn="l"/>
              </a:tabLst>
            </a:pPr>
            <a:r>
              <a:rPr sz="1100" spc="40" dirty="0">
                <a:latin typeface="Georgia"/>
                <a:cs typeface="Georgia"/>
              </a:rPr>
              <a:t>C.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Aggarwal.</a:t>
            </a:r>
            <a:r>
              <a:rPr sz="1100" spc="225" dirty="0">
                <a:latin typeface="Georgia"/>
                <a:cs typeface="Georgia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Data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-5" dirty="0">
                <a:latin typeface="Palatino Linotype"/>
                <a:cs typeface="Palatino Linotype"/>
              </a:rPr>
              <a:t>Mining:</a:t>
            </a:r>
            <a:r>
              <a:rPr sz="1100" i="1" spc="229" dirty="0">
                <a:latin typeface="Palatino Linotype"/>
                <a:cs typeface="Palatino Linotype"/>
              </a:rPr>
              <a:t> </a:t>
            </a:r>
            <a:r>
              <a:rPr sz="1100" i="1" spc="50" dirty="0">
                <a:latin typeface="Palatino Linotype"/>
                <a:cs typeface="Palatino Linotype"/>
              </a:rPr>
              <a:t>The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Textbook</a:t>
            </a:r>
            <a:r>
              <a:rPr sz="1100" dirty="0">
                <a:latin typeface="Georgia"/>
                <a:cs typeface="Georgia"/>
              </a:rPr>
              <a:t>.</a:t>
            </a:r>
            <a:r>
              <a:rPr sz="1100" spc="2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Springer,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2015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[</a:t>
            </a:r>
            <a:r>
              <a:rPr sz="1100" spc="-45" dirty="0">
                <a:solidFill>
                  <a:srgbClr val="FF0000"/>
                </a:solidFill>
                <a:latin typeface="Georgia"/>
                <a:cs typeface="Georgia"/>
              </a:rPr>
              <a:t>Book2</a:t>
            </a:r>
            <a:r>
              <a:rPr sz="1100" spc="-45" dirty="0">
                <a:latin typeface="Georgia"/>
                <a:cs typeface="Georgia"/>
              </a:rPr>
              <a:t>].</a:t>
            </a:r>
            <a:endParaRPr sz="1100">
              <a:latin typeface="Georgia"/>
              <a:cs typeface="Georgia"/>
            </a:endParaRPr>
          </a:p>
          <a:p>
            <a:pPr marL="227329" marR="354965" indent="-215265">
              <a:lnSpc>
                <a:spcPts val="1150"/>
              </a:lnSpc>
              <a:spcBef>
                <a:spcPts val="310"/>
              </a:spcBef>
              <a:buAutoNum type="arabicPlain"/>
              <a:tabLst>
                <a:tab pos="227965" algn="l"/>
              </a:tabLst>
            </a:pPr>
            <a:r>
              <a:rPr sz="1100" spc="-10" dirty="0">
                <a:latin typeface="Georgia"/>
                <a:cs typeface="Georgia"/>
              </a:rPr>
              <a:t>J.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Leskovec,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35" dirty="0">
                <a:latin typeface="Georgia"/>
                <a:cs typeface="Georgia"/>
              </a:rPr>
              <a:t>A.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Rajaraman,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J.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D.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Ullman.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i="1" spc="-15" dirty="0">
                <a:latin typeface="Palatino Linotype"/>
                <a:cs typeface="Palatino Linotype"/>
              </a:rPr>
              <a:t>Mining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45" dirty="0">
                <a:latin typeface="Palatino Linotype"/>
                <a:cs typeface="Palatino Linotype"/>
              </a:rPr>
              <a:t>of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Massive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Datasets</a:t>
            </a:r>
            <a:r>
              <a:rPr sz="1100" spc="15" dirty="0">
                <a:latin typeface="Georgia"/>
                <a:cs typeface="Georgia"/>
              </a:rPr>
              <a:t>.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Cambridge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University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Press,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2014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[</a:t>
            </a:r>
            <a:r>
              <a:rPr sz="1100" spc="-45" dirty="0">
                <a:solidFill>
                  <a:srgbClr val="FF0000"/>
                </a:solidFill>
                <a:latin typeface="Georgia"/>
                <a:cs typeface="Georgia"/>
              </a:rPr>
              <a:t>Book3</a:t>
            </a:r>
            <a:r>
              <a:rPr sz="1100" spc="-45" dirty="0">
                <a:latin typeface="Georgia"/>
                <a:cs typeface="Georgia"/>
              </a:rPr>
              <a:t>].</a:t>
            </a:r>
            <a:endParaRPr sz="1100">
              <a:latin typeface="Georgia"/>
              <a:cs typeface="Georgia"/>
            </a:endParaRPr>
          </a:p>
          <a:p>
            <a:pPr marL="227329" marR="5080" indent="-215265">
              <a:lnSpc>
                <a:spcPts val="1150"/>
              </a:lnSpc>
              <a:spcBef>
                <a:spcPts val="305"/>
              </a:spcBef>
              <a:buAutoNum type="arabicPlain"/>
              <a:tabLst>
                <a:tab pos="227965" algn="l"/>
              </a:tabLst>
            </a:pPr>
            <a:r>
              <a:rPr sz="1100" spc="-15" dirty="0">
                <a:latin typeface="Georgia"/>
                <a:cs typeface="Georgia"/>
              </a:rPr>
              <a:t>M.</a:t>
            </a:r>
            <a:r>
              <a:rPr sz="1100" spc="-10" dirty="0">
                <a:latin typeface="Georgia"/>
                <a:cs typeface="Georgia"/>
              </a:rPr>
              <a:t> J. </a:t>
            </a:r>
            <a:r>
              <a:rPr sz="1100" spc="-20" dirty="0">
                <a:latin typeface="Georgia"/>
                <a:cs typeface="Georgia"/>
              </a:rPr>
              <a:t>Zaki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20" dirty="0">
                <a:latin typeface="Georgia"/>
                <a:cs typeface="Georgia"/>
              </a:rPr>
              <a:t>W. </a:t>
            </a:r>
            <a:r>
              <a:rPr sz="1100" spc="-15" dirty="0">
                <a:latin typeface="Georgia"/>
                <a:cs typeface="Georgia"/>
              </a:rPr>
              <a:t>M.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Jr.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Data </a:t>
            </a:r>
            <a:r>
              <a:rPr sz="1100" i="1" spc="-15" dirty="0">
                <a:latin typeface="Palatino Linotype"/>
                <a:cs typeface="Palatino Linotype"/>
              </a:rPr>
              <a:t>Mining</a:t>
            </a:r>
            <a:r>
              <a:rPr sz="1100" i="1" spc="-10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and </a:t>
            </a:r>
            <a:r>
              <a:rPr sz="1100" i="1" spc="5" dirty="0">
                <a:latin typeface="Palatino Linotype"/>
                <a:cs typeface="Palatino Linotype"/>
              </a:rPr>
              <a:t>Analysis:</a:t>
            </a:r>
            <a:r>
              <a:rPr sz="1100" i="1" spc="10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Fundamental Concepts </a:t>
            </a:r>
            <a:r>
              <a:rPr sz="1100" i="1" spc="20" dirty="0">
                <a:latin typeface="Palatino Linotype"/>
                <a:cs typeface="Palatino Linotype"/>
              </a:rPr>
              <a:t>and </a:t>
            </a:r>
            <a:r>
              <a:rPr sz="1100" i="1" spc="-26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Algorithms</a:t>
            </a:r>
            <a:r>
              <a:rPr sz="1100" dirty="0">
                <a:latin typeface="Georgia"/>
                <a:cs typeface="Georgia"/>
              </a:rPr>
              <a:t>.</a:t>
            </a:r>
            <a:r>
              <a:rPr sz="1100" spc="2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Cambridge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University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Press,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2013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[</a:t>
            </a:r>
            <a:r>
              <a:rPr sz="1100" spc="-45" dirty="0">
                <a:solidFill>
                  <a:srgbClr val="FF0000"/>
                </a:solidFill>
                <a:latin typeface="Georgia"/>
                <a:cs typeface="Georgia"/>
              </a:rPr>
              <a:t>Book4</a:t>
            </a:r>
            <a:r>
              <a:rPr sz="1100" spc="-45" dirty="0">
                <a:latin typeface="Georgia"/>
                <a:cs typeface="Georgia"/>
              </a:rPr>
              <a:t>].</a:t>
            </a:r>
            <a:endParaRPr sz="1100">
              <a:latin typeface="Georgia"/>
              <a:cs typeface="Georgia"/>
            </a:endParaRPr>
          </a:p>
          <a:p>
            <a:pPr marL="227329" marR="55880" indent="-215265">
              <a:lnSpc>
                <a:spcPts val="1150"/>
              </a:lnSpc>
              <a:spcBef>
                <a:spcPts val="300"/>
              </a:spcBef>
              <a:buAutoNum type="arabicPlain"/>
              <a:tabLst>
                <a:tab pos="227965" algn="l"/>
              </a:tabLst>
            </a:pPr>
            <a:r>
              <a:rPr sz="1100" dirty="0">
                <a:latin typeface="Georgia"/>
                <a:cs typeface="Georgia"/>
              </a:rPr>
              <a:t>D.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Easley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J.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Kleinberg.</a:t>
            </a:r>
            <a:r>
              <a:rPr sz="1100" spc="220" dirty="0">
                <a:latin typeface="Georgia"/>
                <a:cs typeface="Georgia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Networks,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Crowds,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and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Markets:</a:t>
            </a:r>
            <a:r>
              <a:rPr sz="1100" i="1" spc="225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Reasoning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-15" dirty="0">
                <a:latin typeface="Palatino Linotype"/>
                <a:cs typeface="Palatino Linotype"/>
              </a:rPr>
              <a:t>About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0" dirty="0">
                <a:latin typeface="Palatino Linotype"/>
                <a:cs typeface="Palatino Linotype"/>
              </a:rPr>
              <a:t>a </a:t>
            </a:r>
            <a:r>
              <a:rPr sz="1100" i="1" spc="-260" dirty="0">
                <a:latin typeface="Palatino Linotype"/>
                <a:cs typeface="Palatino Linotype"/>
              </a:rPr>
              <a:t> </a:t>
            </a:r>
            <a:r>
              <a:rPr sz="1100" i="1" spc="-25" dirty="0">
                <a:latin typeface="Palatino Linotype"/>
                <a:cs typeface="Palatino Linotype"/>
              </a:rPr>
              <a:t>Highly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Connected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World</a:t>
            </a:r>
            <a:r>
              <a:rPr sz="1100" dirty="0">
                <a:latin typeface="Georgia"/>
                <a:cs typeface="Georgia"/>
              </a:rPr>
              <a:t>.</a:t>
            </a:r>
            <a:r>
              <a:rPr sz="1100" spc="2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Cambridge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University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Press,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70" dirty="0">
                <a:latin typeface="Georgia"/>
                <a:cs typeface="Georgia"/>
              </a:rPr>
              <a:t>2010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[</a:t>
            </a:r>
            <a:r>
              <a:rPr sz="1100" spc="-40" dirty="0">
                <a:solidFill>
                  <a:srgbClr val="FF0000"/>
                </a:solidFill>
                <a:latin typeface="Georgia"/>
                <a:cs typeface="Georgia"/>
              </a:rPr>
              <a:t>Book5</a:t>
            </a:r>
            <a:r>
              <a:rPr sz="1100" spc="-40" dirty="0">
                <a:latin typeface="Georgia"/>
                <a:cs typeface="Georgia"/>
              </a:rPr>
              <a:t>].</a:t>
            </a:r>
            <a:endParaRPr sz="1100">
              <a:latin typeface="Georgia"/>
              <a:cs typeface="Georgia"/>
            </a:endParaRPr>
          </a:p>
          <a:p>
            <a:pPr marL="227329" marR="36830" indent="-215265">
              <a:lnSpc>
                <a:spcPts val="1150"/>
              </a:lnSpc>
              <a:spcBef>
                <a:spcPts val="305"/>
              </a:spcBef>
              <a:buAutoNum type="arabicPlain"/>
              <a:tabLst>
                <a:tab pos="227965" algn="l"/>
              </a:tabLst>
            </a:pPr>
            <a:r>
              <a:rPr sz="1100" spc="-10" dirty="0">
                <a:latin typeface="Georgia"/>
                <a:cs typeface="Georgia"/>
              </a:rPr>
              <a:t>J.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VanderPlas.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Python</a:t>
            </a:r>
            <a:r>
              <a:rPr sz="1100" i="1" spc="125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Data</a:t>
            </a:r>
            <a:r>
              <a:rPr sz="1100" i="1" spc="125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Science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Handbook:</a:t>
            </a:r>
            <a:r>
              <a:rPr sz="1100" i="1" spc="240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Essential</a:t>
            </a:r>
            <a:r>
              <a:rPr sz="1100" i="1" spc="125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Tools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spc="35" dirty="0">
                <a:latin typeface="Palatino Linotype"/>
                <a:cs typeface="Palatino Linotype"/>
              </a:rPr>
              <a:t>for</a:t>
            </a:r>
            <a:r>
              <a:rPr sz="1100" i="1" spc="12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Working</a:t>
            </a:r>
            <a:r>
              <a:rPr sz="1100" i="1" spc="125" dirty="0">
                <a:latin typeface="Palatino Linotype"/>
                <a:cs typeface="Palatino Linotype"/>
              </a:rPr>
              <a:t> </a:t>
            </a:r>
            <a:r>
              <a:rPr sz="1100" i="1" spc="-15" dirty="0">
                <a:latin typeface="Palatino Linotype"/>
                <a:cs typeface="Palatino Linotype"/>
              </a:rPr>
              <a:t>with </a:t>
            </a:r>
            <a:r>
              <a:rPr sz="1100" i="1" spc="-260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Data</a:t>
            </a:r>
            <a:r>
              <a:rPr sz="1100" spc="10" dirty="0">
                <a:latin typeface="Georgia"/>
                <a:cs typeface="Georgia"/>
              </a:rPr>
              <a:t>.</a:t>
            </a:r>
            <a:r>
              <a:rPr sz="1100" spc="2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O’Reilly,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90" dirty="0">
                <a:latin typeface="Georgia"/>
                <a:cs typeface="Georgia"/>
              </a:rPr>
              <a:t>2023</a:t>
            </a:r>
            <a:r>
              <a:rPr sz="1100" spc="-8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[</a:t>
            </a:r>
            <a:r>
              <a:rPr sz="1100" spc="-45" dirty="0">
                <a:solidFill>
                  <a:srgbClr val="FF0000"/>
                </a:solidFill>
                <a:latin typeface="Georgia"/>
                <a:cs typeface="Georgia"/>
              </a:rPr>
              <a:t>Book6</a:t>
            </a:r>
            <a:r>
              <a:rPr sz="1100" spc="-45" dirty="0">
                <a:latin typeface="Georgia"/>
                <a:cs typeface="Georgia"/>
              </a:rPr>
              <a:t>].</a:t>
            </a:r>
            <a:endParaRPr sz="1100">
              <a:latin typeface="Georgia"/>
              <a:cs typeface="Georgia"/>
            </a:endParaRPr>
          </a:p>
          <a:p>
            <a:pPr marL="227329" marR="20320" indent="-215265">
              <a:lnSpc>
                <a:spcPts val="1150"/>
              </a:lnSpc>
              <a:spcBef>
                <a:spcPts val="300"/>
              </a:spcBef>
              <a:buAutoNum type="arabicPlain"/>
              <a:tabLst>
                <a:tab pos="227965" algn="l"/>
              </a:tabLst>
            </a:pPr>
            <a:r>
              <a:rPr sz="1100" spc="-10" dirty="0">
                <a:latin typeface="Georgia"/>
                <a:cs typeface="Georgia"/>
              </a:rPr>
              <a:t>J.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Grus.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Data </a:t>
            </a:r>
            <a:r>
              <a:rPr sz="1100" i="1" spc="20" dirty="0">
                <a:latin typeface="Palatino Linotype"/>
                <a:cs typeface="Palatino Linotype"/>
              </a:rPr>
              <a:t>Science from Scratch:</a:t>
            </a:r>
            <a:r>
              <a:rPr sz="1100" i="1" spc="25" dirty="0">
                <a:latin typeface="Palatino Linotype"/>
                <a:cs typeface="Palatino Linotype"/>
              </a:rPr>
              <a:t> </a:t>
            </a:r>
            <a:r>
              <a:rPr sz="1100" i="1" spc="30" dirty="0">
                <a:latin typeface="Palatino Linotype"/>
                <a:cs typeface="Palatino Linotype"/>
              </a:rPr>
              <a:t>First </a:t>
            </a:r>
            <a:r>
              <a:rPr sz="1100" i="1" spc="20" dirty="0">
                <a:latin typeface="Palatino Linotype"/>
                <a:cs typeface="Palatino Linotype"/>
              </a:rPr>
              <a:t>Principles </a:t>
            </a:r>
            <a:r>
              <a:rPr sz="1100" i="1" spc="-15" dirty="0">
                <a:latin typeface="Palatino Linotype"/>
                <a:cs typeface="Palatino Linotype"/>
              </a:rPr>
              <a:t>with</a:t>
            </a:r>
            <a:r>
              <a:rPr sz="1100" i="1" spc="-10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Python</a:t>
            </a:r>
            <a:r>
              <a:rPr sz="1100" spc="10" dirty="0">
                <a:latin typeface="Georgia"/>
                <a:cs typeface="Georgia"/>
              </a:rPr>
              <a:t>.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O’Reilly,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2019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[</a:t>
            </a:r>
            <a:r>
              <a:rPr sz="1100" spc="-35" dirty="0">
                <a:solidFill>
                  <a:srgbClr val="FF0000"/>
                </a:solidFill>
                <a:latin typeface="Georgia"/>
                <a:cs typeface="Georgia"/>
              </a:rPr>
              <a:t>Book7</a:t>
            </a:r>
            <a:r>
              <a:rPr sz="1100" spc="-35" dirty="0">
                <a:latin typeface="Georgia"/>
                <a:cs typeface="Georgia"/>
              </a:rPr>
              <a:t>].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5" name="object 5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8" name="object 8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25" dirty="0"/>
              <a:t>37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593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171615" y="646887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4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1615" y="1016812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615" y="1386751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1615" y="1751533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615" y="2116315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615" y="2481097"/>
            <a:ext cx="122555" cy="122555"/>
          </a:xfrm>
          <a:custGeom>
            <a:avLst/>
            <a:gdLst/>
            <a:ahLst/>
            <a:cxnLst/>
            <a:rect l="l" t="t" r="r" b="b"/>
            <a:pathLst>
              <a:path w="122554" h="122555">
                <a:moveTo>
                  <a:pt x="122542" y="0"/>
                </a:moveTo>
                <a:lnTo>
                  <a:pt x="0" y="0"/>
                </a:lnTo>
                <a:lnTo>
                  <a:pt x="0" y="122542"/>
                </a:lnTo>
                <a:lnTo>
                  <a:pt x="122542" y="122542"/>
                </a:lnTo>
                <a:lnTo>
                  <a:pt x="12254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8556" y="596403"/>
            <a:ext cx="2301875" cy="202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9705" indent="-167640"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Data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analysis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4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mining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2" action="ppaction://hlinksldjump"/>
              </a:rPr>
              <a:t>concepts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Georgia"/>
              <a:buAutoNum type="arabicPlain"/>
            </a:pPr>
            <a:endParaRPr sz="14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Course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45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requirement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and</a:t>
            </a:r>
            <a:r>
              <a:rPr sz="1100" spc="90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3" action="ppaction://hlinksldjump"/>
              </a:rPr>
              <a:t>evaluation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Georgia"/>
              <a:buAutoNum type="arabicPlain"/>
            </a:pPr>
            <a:endParaRPr sz="140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Course</a:t>
            </a:r>
            <a:r>
              <a:rPr sz="1100" spc="80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contents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1100" spc="85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100" spc="-40" dirty="0">
                <a:solidFill>
                  <a:srgbClr val="CCCCCC"/>
                </a:solidFill>
                <a:latin typeface="Georgia"/>
                <a:cs typeface="Georgia"/>
                <a:hlinkClick r:id="rId4" action="ppaction://hlinksldjump"/>
              </a:rPr>
              <a:t>schedule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25" dirty="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Course</a:t>
            </a:r>
            <a:r>
              <a:rPr sz="1100" spc="60" dirty="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1100" spc="-45" dirty="0">
                <a:solidFill>
                  <a:srgbClr val="CCCCCC"/>
                </a:solidFill>
                <a:latin typeface="Georgia"/>
                <a:cs typeface="Georgia"/>
                <a:hlinkClick r:id="rId5" action="ppaction://hlinksldjump"/>
              </a:rPr>
              <a:t>resources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40" dirty="0">
                <a:solidFill>
                  <a:srgbClr val="CCCCCC"/>
                </a:solidFill>
                <a:latin typeface="Georgia"/>
                <a:cs typeface="Georgia"/>
                <a:hlinkClick r:id="rId6" action="ppaction://hlinksldjump"/>
              </a:rPr>
              <a:t>References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Georgia"/>
              <a:buAutoNum type="arabicPlain"/>
            </a:pPr>
            <a:endParaRPr sz="1350">
              <a:latin typeface="Georgia"/>
              <a:cs typeface="Georgia"/>
            </a:endParaRPr>
          </a:p>
          <a:p>
            <a:pPr marL="179705" indent="-167640">
              <a:lnSpc>
                <a:spcPct val="100000"/>
              </a:lnSpc>
              <a:buClr>
                <a:srgbClr val="FFFFFF"/>
              </a:buClr>
              <a:buSzPct val="90909"/>
              <a:buAutoNum type="arabicPlain"/>
              <a:tabLst>
                <a:tab pos="180340" algn="l"/>
              </a:tabLst>
            </a:pPr>
            <a:r>
              <a:rPr sz="1100" spc="-30" dirty="0">
                <a:latin typeface="Georgia"/>
                <a:cs typeface="Georgia"/>
                <a:hlinkClick r:id="rId7" action="ppaction://hlinksldjump"/>
              </a:rPr>
              <a:t>Summary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1" name="object 11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4" name="object 14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8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25" dirty="0"/>
              <a:t>38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8267"/>
            <a:ext cx="7531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5" dirty="0"/>
              <a:t>Summary</a:t>
            </a:r>
          </a:p>
        </p:txBody>
      </p:sp>
      <p:sp>
        <p:nvSpPr>
          <p:cNvPr id="3" name="object 3"/>
          <p:cNvSpPr/>
          <p:nvPr/>
        </p:nvSpPr>
        <p:spPr>
          <a:xfrm>
            <a:off x="337972" y="903808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177" y="812201"/>
            <a:ext cx="4897755" cy="158369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150"/>
              </a:lnSpc>
              <a:spcBef>
                <a:spcPts val="270"/>
              </a:spcBef>
            </a:pPr>
            <a:r>
              <a:rPr sz="1100" spc="-25" dirty="0">
                <a:latin typeface="Georgia"/>
                <a:cs typeface="Georgia"/>
              </a:rPr>
              <a:t>Important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concepts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mining: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definition,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mining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process,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CRISP–DM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model,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types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 </a:t>
            </a:r>
            <a:r>
              <a:rPr sz="1100" spc="-10" dirty="0">
                <a:latin typeface="Georgia"/>
                <a:cs typeface="Georgia"/>
              </a:rPr>
              <a:t>analytics, </a:t>
            </a:r>
            <a:r>
              <a:rPr sz="1100" spc="-20" dirty="0">
                <a:latin typeface="Georgia"/>
                <a:cs typeface="Georgia"/>
              </a:rPr>
              <a:t>major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 </a:t>
            </a:r>
            <a:r>
              <a:rPr sz="1100" spc="-40" dirty="0">
                <a:latin typeface="Georgia"/>
                <a:cs typeface="Georgia"/>
              </a:rPr>
              <a:t>mining</a:t>
            </a:r>
            <a:r>
              <a:rPr sz="1100" spc="-35" dirty="0">
                <a:latin typeface="Georgia"/>
                <a:cs typeface="Georgia"/>
              </a:rPr>
              <a:t> problems,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 </a:t>
            </a:r>
            <a:r>
              <a:rPr sz="1100" spc="-10" dirty="0">
                <a:latin typeface="Georgia"/>
                <a:cs typeface="Georgia"/>
              </a:rPr>
              <a:t>types, </a:t>
            </a:r>
            <a:r>
              <a:rPr sz="1100" spc="-30" dirty="0">
                <a:latin typeface="Georgia"/>
                <a:cs typeface="Georgia"/>
              </a:rPr>
              <a:t>and 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real–world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applications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data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mining.</a:t>
            </a:r>
            <a:endParaRPr sz="1100">
              <a:latin typeface="Georgia"/>
              <a:cs typeface="Georgia"/>
            </a:endParaRPr>
          </a:p>
          <a:p>
            <a:pPr marL="12700" marR="142240">
              <a:lnSpc>
                <a:spcPts val="1150"/>
              </a:lnSpc>
              <a:spcBef>
                <a:spcPts val="730"/>
              </a:spcBef>
            </a:pPr>
            <a:r>
              <a:rPr sz="1100" spc="-25" dirty="0">
                <a:latin typeface="Georgia"/>
                <a:cs typeface="Georgia"/>
              </a:rPr>
              <a:t>Course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requirements: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prerequisite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-25" dirty="0">
                <a:latin typeface="Georgia"/>
                <a:cs typeface="Georgia"/>
              </a:rPr>
              <a:t> related </a:t>
            </a:r>
            <a:r>
              <a:rPr sz="1100" spc="-40" dirty="0">
                <a:latin typeface="Georgia"/>
                <a:cs typeface="Georgia"/>
              </a:rPr>
              <a:t>courses,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project </a:t>
            </a:r>
            <a:r>
              <a:rPr sz="1100" spc="-40" dirty="0">
                <a:latin typeface="Georgia"/>
                <a:cs typeface="Georgia"/>
              </a:rPr>
              <a:t>or</a:t>
            </a:r>
            <a:r>
              <a:rPr sz="1100" spc="-35" dirty="0">
                <a:latin typeface="Georgia"/>
                <a:cs typeface="Georgia"/>
              </a:rPr>
              <a:t> seminar,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course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evaluation,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final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exam,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etc.</a:t>
            </a:r>
            <a:endParaRPr sz="1100">
              <a:latin typeface="Georgia"/>
              <a:cs typeface="Georgia"/>
            </a:endParaRPr>
          </a:p>
          <a:p>
            <a:pPr marL="12700" marR="3514725">
              <a:lnSpc>
                <a:spcPts val="1880"/>
              </a:lnSpc>
              <a:spcBef>
                <a:spcPts val="140"/>
              </a:spcBef>
            </a:pPr>
            <a:r>
              <a:rPr sz="1100" spc="-25" dirty="0">
                <a:latin typeface="Georgia"/>
                <a:cs typeface="Georgia"/>
              </a:rPr>
              <a:t>Lectures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schedule.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Seminar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topics.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100" spc="-20" dirty="0">
                <a:latin typeface="Georgia"/>
                <a:cs typeface="Georgia"/>
              </a:rPr>
              <a:t>Related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resources: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conferences,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journals,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forums,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software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tools.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972" y="1434553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972" y="1819033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972" y="205726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7972" y="229547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639" y="0"/>
                </a:moveTo>
                <a:lnTo>
                  <a:pt x="0" y="0"/>
                </a:lnTo>
                <a:lnTo>
                  <a:pt x="0" y="59639"/>
                </a:lnTo>
                <a:lnTo>
                  <a:pt x="59639" y="59639"/>
                </a:lnTo>
                <a:lnTo>
                  <a:pt x="5963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3121545"/>
            <a:ext cx="5760085" cy="118745"/>
            <a:chOff x="0" y="3121545"/>
            <a:chExt cx="5760085" cy="118745"/>
          </a:xfrm>
        </p:grpSpPr>
        <p:sp>
          <p:nvSpPr>
            <p:cNvPr id="10" name="object 10"/>
            <p:cNvSpPr/>
            <p:nvPr/>
          </p:nvSpPr>
          <p:spPr>
            <a:xfrm>
              <a:off x="0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80004" y="3121545"/>
              <a:ext cx="2880360" cy="118745"/>
            </a:xfrm>
            <a:custGeom>
              <a:avLst/>
              <a:gdLst/>
              <a:ahLst/>
              <a:cxnLst/>
              <a:rect l="l" t="t" r="r" b="b"/>
              <a:pathLst>
                <a:path w="2880360" h="118744">
                  <a:moveTo>
                    <a:pt x="2880004" y="0"/>
                  </a:moveTo>
                  <a:lnTo>
                    <a:pt x="0" y="0"/>
                  </a:lnTo>
                  <a:lnTo>
                    <a:pt x="0" y="118452"/>
                  </a:lnTo>
                  <a:lnTo>
                    <a:pt x="2880004" y="118452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622528" y="3118867"/>
            <a:ext cx="2162810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60" dirty="0"/>
              <a:t>data</a:t>
            </a:r>
            <a:r>
              <a:rPr spc="95" dirty="0"/>
              <a:t> </a:t>
            </a:r>
            <a:r>
              <a:rPr spc="50" dirty="0"/>
              <a:t>analysis</a:t>
            </a:r>
            <a:r>
              <a:rPr spc="95" dirty="0"/>
              <a:t> </a:t>
            </a:r>
            <a:r>
              <a:rPr spc="55" dirty="0"/>
              <a:t>and</a:t>
            </a:r>
            <a:r>
              <a:rPr spc="95" dirty="0"/>
              <a:t> </a:t>
            </a:r>
            <a:r>
              <a:rPr spc="45"/>
              <a:t>mining</a:t>
            </a:r>
            <a:r>
              <a:rPr spc="95"/>
              <a:t> </a:t>
            </a:r>
            <a:r>
              <a:rPr lang="en-US" spc="40"/>
              <a:t> </a:t>
            </a:r>
            <a:endParaRPr spc="70" dirty="0"/>
          </a:p>
        </p:txBody>
      </p:sp>
      <p:sp>
        <p:nvSpPr>
          <p:cNvPr id="13" name="object 13"/>
          <p:cNvSpPr txBox="1"/>
          <p:nvPr/>
        </p:nvSpPr>
        <p:spPr>
          <a:xfrm>
            <a:off x="2975305" y="3118867"/>
            <a:ext cx="814069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00" spc="40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course</a:t>
            </a:r>
            <a:r>
              <a:rPr sz="600" spc="7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7A0000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25" dirty="0"/>
              <a:t>39</a:t>
            </a:fld>
            <a:r>
              <a:rPr spc="-25" dirty="0"/>
              <a:t> </a:t>
            </a:r>
            <a:r>
              <a:rPr spc="80" dirty="0"/>
              <a:t>/</a:t>
            </a:r>
            <a:r>
              <a:rPr spc="-25" dirty="0"/>
              <a:t> </a:t>
            </a:r>
            <a:r>
              <a:rPr spc="20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3046</Words>
  <Application>Microsoft Office PowerPoint</Application>
  <PresentationFormat>Custom</PresentationFormat>
  <Paragraphs>406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Georgia</vt:lpstr>
      <vt:lpstr>Palatino Linotype</vt:lpstr>
      <vt:lpstr>Times New Roman</vt:lpstr>
      <vt:lpstr>Trebuchet MS</vt:lpstr>
      <vt:lpstr>Office Theme</vt:lpstr>
      <vt:lpstr>Data analysis and mining</vt:lpstr>
      <vt:lpstr>Expected lesson learning outcomes (LLOs)</vt:lpstr>
      <vt:lpstr>Outline</vt:lpstr>
      <vt:lpstr>Outline</vt:lpstr>
      <vt:lpstr>PowerPoint Presentation</vt:lpstr>
      <vt:lpstr>PowerPoint Presentation</vt:lpstr>
      <vt:lpstr>What is data mining?</vt:lpstr>
      <vt:lpstr>Data mining and knowledge discovery process</vt:lpstr>
      <vt:lpstr>CRISP–DM model</vt:lpstr>
      <vt:lpstr>PowerPoint Presentation</vt:lpstr>
      <vt:lpstr>CRISP–DM phase 1: Business understanding</vt:lpstr>
      <vt:lpstr>CRISP–DM phase 2: Data understanding</vt:lpstr>
      <vt:lpstr>CRISP–DM phase 3: Data preparation</vt:lpstr>
      <vt:lpstr>CRISP–DM phase 4: Modeling</vt:lpstr>
      <vt:lpstr>CRISP–DM phase 5: Evaluation</vt:lpstr>
      <vt:lpstr>CRISP–DM phase 6: Deployment</vt:lpstr>
      <vt:lpstr>PowerPoint Presentation</vt:lpstr>
      <vt:lpstr>Data types (by domains)</vt:lpstr>
      <vt:lpstr>Major problems in data analysis and mining</vt:lpstr>
      <vt:lpstr>Applications of data analysis and mining</vt:lpstr>
      <vt:lpstr>Outline</vt:lpstr>
      <vt:lpstr>Data mining is an interdisciplinary field</vt:lpstr>
      <vt:lpstr>Prerequisite courses and skills</vt:lpstr>
      <vt:lpstr>Course evaluation</vt:lpstr>
      <vt:lpstr>Outline</vt:lpstr>
      <vt:lpstr>Lectures and schedule</vt:lpstr>
      <vt:lpstr>Seminar topics</vt:lpstr>
      <vt:lpstr>Seminar papers</vt:lpstr>
      <vt:lpstr>Seminar papers (for term 1 and 2, 2023-2024)</vt:lpstr>
      <vt:lpstr>Outline</vt:lpstr>
      <vt:lpstr>Textbooks and references</vt:lpstr>
      <vt:lpstr>Software libraries and tools</vt:lpstr>
      <vt:lpstr>Data mining forums and organizations</vt:lpstr>
      <vt:lpstr>Data mining conferences and journals</vt:lpstr>
      <vt:lpstr>Data mining related conferences</vt:lpstr>
      <vt:lpstr>Outline</vt:lpstr>
      <vt:lpstr>References</vt:lpstr>
      <vt:lpstr>Outline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and mining</dc:title>
  <dc:creator>Xuan–Hieu Phan</dc:creator>
  <cp:lastModifiedBy>Tran Hong-Viet</cp:lastModifiedBy>
  <cp:revision>4</cp:revision>
  <dcterms:created xsi:type="dcterms:W3CDTF">2024-08-30T04:14:33Z</dcterms:created>
  <dcterms:modified xsi:type="dcterms:W3CDTF">2026-09-08T06:52:35Z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2024-02-01T00:00:00Z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2024-08-30T00:00:00Z</vt:filetime>
  </property>
</Properties>
</file>